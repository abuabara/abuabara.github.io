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2"/>
  </p:notesMasterIdLst>
  <p:sldIdLst>
    <p:sldId id="256" r:id="rId2"/>
    <p:sldId id="280" r:id="rId3"/>
    <p:sldId id="281" r:id="rId4"/>
    <p:sldId id="257" r:id="rId5"/>
    <p:sldId id="292" r:id="rId6"/>
    <p:sldId id="299" r:id="rId7"/>
    <p:sldId id="300" r:id="rId8"/>
    <p:sldId id="294" r:id="rId9"/>
    <p:sldId id="260" r:id="rId10"/>
    <p:sldId id="261" r:id="rId11"/>
    <p:sldId id="259" r:id="rId12"/>
    <p:sldId id="262" r:id="rId13"/>
    <p:sldId id="263" r:id="rId14"/>
    <p:sldId id="264" r:id="rId15"/>
    <p:sldId id="265" r:id="rId16"/>
    <p:sldId id="266" r:id="rId17"/>
    <p:sldId id="267" r:id="rId18"/>
    <p:sldId id="293" r:id="rId19"/>
    <p:sldId id="291" r:id="rId20"/>
    <p:sldId id="268" r:id="rId21"/>
    <p:sldId id="283" r:id="rId22"/>
    <p:sldId id="269" r:id="rId23"/>
    <p:sldId id="270" r:id="rId24"/>
    <p:sldId id="284" r:id="rId25"/>
    <p:sldId id="285" r:id="rId26"/>
    <p:sldId id="287" r:id="rId27"/>
    <p:sldId id="286" r:id="rId28"/>
    <p:sldId id="288" r:id="rId29"/>
    <p:sldId id="271" r:id="rId30"/>
    <p:sldId id="272" r:id="rId31"/>
    <p:sldId id="289" r:id="rId32"/>
    <p:sldId id="273" r:id="rId33"/>
    <p:sldId id="282" r:id="rId34"/>
    <p:sldId id="274" r:id="rId35"/>
    <p:sldId id="275" r:id="rId36"/>
    <p:sldId id="276" r:id="rId37"/>
    <p:sldId id="295" r:id="rId38"/>
    <p:sldId id="296" r:id="rId39"/>
    <p:sldId id="297" r:id="rId40"/>
    <p:sldId id="298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CD3"/>
    <a:srgbClr val="FFD8AC"/>
    <a:srgbClr val="4B1211"/>
    <a:srgbClr val="F2F2F2"/>
    <a:srgbClr val="FFEBE2"/>
    <a:srgbClr val="FFCD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3"/>
    <p:restoredTop sz="96018"/>
  </p:normalViewPr>
  <p:slideViewPr>
    <p:cSldViewPr snapToGrid="0">
      <p:cViewPr varScale="1">
        <p:scale>
          <a:sx n="92" d="100"/>
          <a:sy n="92" d="100"/>
        </p:scale>
        <p:origin x="117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FA349-295A-9648-AC81-268E9C74AF3D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13196-D6CC-4148-993F-EDD11FE55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3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70913-1F13-4744-B94A-DD1167A56E7D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5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163F-7EC9-5B47-A192-CB50DE612FED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2BC-3CB7-1146-A19E-4D5E63F3B742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1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1693-1844-8848-86CC-F923317986AD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5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DF2-3CCE-3449-B48D-F4595C3D57FE}" type="datetime1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6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FDB3-FCD2-A24F-8241-8DA72B16D6B1}" type="datetime1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C91C-CE34-DA4E-B4C2-6B29BDE88023}" type="datetime1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4E1-3786-E644-95CD-0EC484282321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75EC-C44D-6048-B3A9-C5F04F3202FD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7D1-F120-9444-A8E9-CC8E63B024C0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0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6640-3593-E045-822D-D104552937CC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6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CE539-832A-BA41-9408-4A63384D7065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c.com/2025/12/08/how-recent-grads-are-dealing-with-the-shrinking-pool-of-entry-level-jobs.html" TargetMode="External"/><Relationship Id="rId2" Type="http://schemas.openxmlformats.org/officeDocument/2006/relationships/hyperlink" Target="https://fortune.com/article/why-are-companies-firing-gen-z-employees-workplace-bosses-workers-job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buabara.github.io/DAEN459F26/Template%20-%20Project%20Charter%20Template%202026-2027.docx" TargetMode="External"/><Relationship Id="rId2" Type="http://schemas.openxmlformats.org/officeDocument/2006/relationships/hyperlink" Target="https://abuabara.github.io/DAEN459F26/Template%20-%20Meeting%20Report%20with%20Project%20Sponsor%202026-2027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buabara.github.io/DAEN459F26/Projects_copy2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lazygeniuscollective.com/blog/how-to-bullet-journal" TargetMode="External"/><Relationship Id="rId2" Type="http://schemas.openxmlformats.org/officeDocument/2006/relationships/hyperlink" Target="https://youtu.be/z8jHFk0uLlk?si=qXPD1feeKFoWX0w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k.org/thetechnium/amish-hackers-a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careercloset.tamu.ed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mailto:abuabara@tamu.edu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3C3F-1404-17C0-C624-2093CA988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Phase 1 Discover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3F7C0-3B00-9922-4283-570E4A6CA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DAEN 459/460 Capstone Senior Design</a:t>
            </a:r>
          </a:p>
          <a:p>
            <a:r>
              <a:rPr lang="en-US" sz="1800" dirty="0">
                <a:solidFill>
                  <a:srgbClr val="4B1211"/>
                </a:solidFill>
              </a:rPr>
              <a:t>Alexander Abuabara</a:t>
            </a:r>
          </a:p>
          <a:p>
            <a:r>
              <a:rPr lang="en-US" sz="1800" dirty="0">
                <a:solidFill>
                  <a:srgbClr val="4B1211"/>
                </a:solidFill>
              </a:rPr>
              <a:t>Fall 2026</a:t>
            </a:r>
          </a:p>
        </p:txBody>
      </p:sp>
      <p:pic>
        <p:nvPicPr>
          <p:cNvPr id="7" name="Picture 6" descr="A black background with red letters&#10;&#10;AI-generated content may be incorrect.">
            <a:extLst>
              <a:ext uri="{FF2B5EF4-FFF2-40B4-BE49-F238E27FC236}">
                <a16:creationId xmlns:a16="http://schemas.microsoft.com/office/drawing/2014/main" id="{7B844F80-89B7-0A8B-956D-1507C8E5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5257800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rectangular bars&#10;&#10;AI-generated content may be incorrect.">
            <a:extLst>
              <a:ext uri="{FF2B5EF4-FFF2-40B4-BE49-F238E27FC236}">
                <a16:creationId xmlns:a16="http://schemas.microsoft.com/office/drawing/2014/main" id="{5F5E825B-64D5-0A1A-6047-6EC897F82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117600"/>
            <a:ext cx="6350000" cy="4622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4BA5E-674B-5246-43F3-B01CA45D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4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26B2-6BD3-A096-730D-E5D9E1B5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6763-6FE1-B4D7-29FC-3E283733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Bosses are firing Gen Z grads just months after hiring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0F43E-9007-1D8B-9348-D42473D0E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After two years of complaints, employers are now </a:t>
            </a:r>
            <a:r>
              <a:rPr lang="en-US" sz="2000" i="1" dirty="0"/>
              <a:t>acting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Many are terminating Gen Z hires within months of onboarding.</a:t>
            </a:r>
          </a:p>
          <a:p>
            <a:r>
              <a:rPr lang="en-US" sz="2000" b="1" dirty="0"/>
              <a:t>Top concern?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73D0D-2CA1-49E6-A905-C4DEDB98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1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AC1B-0933-1C97-DAB1-995D89DA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Bosses are firing Gen Z grads just months after hiring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48647-A6E5-C726-04F1-8D5822F62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After two years of complaints, employers are now </a:t>
            </a:r>
            <a:r>
              <a:rPr lang="en-US" sz="2000" i="1" dirty="0"/>
              <a:t>acting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Many are terminating Gen Z hires within months of onboarding.</a:t>
            </a:r>
          </a:p>
          <a:p>
            <a:r>
              <a:rPr lang="en-US" sz="2000" b="1" dirty="0"/>
              <a:t>Top concern?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accent5"/>
                </a:solidFill>
                <a:highlight>
                  <a:srgbClr val="FFFF00"/>
                </a:highlight>
              </a:rPr>
              <a:t>Lack of motivation and initiative</a:t>
            </a:r>
            <a:br>
              <a:rPr lang="en-US" sz="2000" dirty="0">
                <a:highlight>
                  <a:srgbClr val="FFFF00"/>
                </a:highlight>
              </a:rPr>
            </a:br>
            <a:r>
              <a:rPr lang="en-US" sz="2000" dirty="0"/>
              <a:t>(50% of managers cite as the primary reason for termination)</a:t>
            </a:r>
          </a:p>
          <a:p>
            <a:r>
              <a:rPr lang="en-US" sz="2000" dirty="0"/>
              <a:t>Other major issues reported:</a:t>
            </a:r>
          </a:p>
          <a:p>
            <a:pPr lvl="1"/>
            <a:r>
              <a:rPr lang="en-US" sz="2000" dirty="0"/>
              <a:t>Unprofessional behavior,</a:t>
            </a:r>
          </a:p>
          <a:p>
            <a:pPr lvl="1"/>
            <a:r>
              <a:rPr lang="en-US" sz="2000" dirty="0"/>
              <a:t>Poor organization,</a:t>
            </a:r>
          </a:p>
          <a:p>
            <a:pPr lvl="1"/>
            <a:r>
              <a:rPr lang="en-US" sz="2000" dirty="0"/>
              <a:t>Weak communication skills.</a:t>
            </a:r>
          </a:p>
          <a:p>
            <a:r>
              <a:rPr lang="en-US" sz="2000" dirty="0"/>
              <a:t>Practical workplace challenges include:</a:t>
            </a:r>
          </a:p>
          <a:p>
            <a:pPr lvl="1"/>
            <a:r>
              <a:rPr lang="en-US" sz="2000" dirty="0"/>
              <a:t>Frequent lateness to work and meetings,</a:t>
            </a:r>
          </a:p>
          <a:p>
            <a:pPr lvl="1"/>
            <a:r>
              <a:rPr lang="en-US" sz="2000" dirty="0"/>
              <a:t>Inappropriate office attire,</a:t>
            </a:r>
          </a:p>
          <a:p>
            <a:pPr lvl="1"/>
            <a:r>
              <a:rPr lang="en-US" sz="2000" dirty="0"/>
              <a:t>Use of unsuitable language in professional settings.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3C936-069C-8756-0946-94D75903F0B5}"/>
              </a:ext>
            </a:extLst>
          </p:cNvPr>
          <p:cNvSpPr txBox="1"/>
          <p:nvPr/>
        </p:nvSpPr>
        <p:spPr>
          <a:xfrm>
            <a:off x="628650" y="6284005"/>
            <a:ext cx="686598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Ref.:</a:t>
            </a: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https://fortune.com/article/why-are-companies-firing-gen-z-employees-workplace-bosses-workers-jobs/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https://www.cnbc.com/2025/12/08/how-recent-grads-are-dealing-with-the-shrinking-pool-of-entry-level-jobs.html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AEECC-E927-7AA2-3AE6-675D5083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2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8B6E-329F-38D2-90F0-602E0D884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60825"/>
            <a:ext cx="8135340" cy="3116138"/>
          </a:xfrm>
        </p:spPr>
        <p:txBody>
          <a:bodyPr>
            <a:noAutofit/>
          </a:bodyPr>
          <a:lstStyle/>
          <a:p>
            <a:r>
              <a:rPr lang="en-US" sz="2200" dirty="0"/>
              <a:t>Critique your own project against </a:t>
            </a:r>
            <a:r>
              <a:rPr lang="en-US" sz="2200" b="1" dirty="0"/>
              <a:t>learning goals </a:t>
            </a:r>
            <a:r>
              <a:rPr lang="en-US" sz="2200" dirty="0"/>
              <a:t>rather than </a:t>
            </a:r>
            <a:r>
              <a:rPr lang="en-US" sz="2200" u="sng" dirty="0"/>
              <a:t>technical checklists only</a:t>
            </a:r>
            <a:r>
              <a:rPr lang="en-US" sz="2200" dirty="0"/>
              <a:t>!</a:t>
            </a:r>
          </a:p>
          <a:p>
            <a:r>
              <a:rPr lang="en-US" sz="2200" dirty="0"/>
              <a:t>You are not being graded on reproducing a solution but</a:t>
            </a:r>
            <a:br>
              <a:rPr lang="en-US" sz="2200" dirty="0"/>
            </a:br>
            <a:r>
              <a:rPr lang="en-US" sz="2200" dirty="0"/>
              <a:t>on the </a:t>
            </a:r>
            <a:r>
              <a:rPr lang="en-US" sz="2200" b="1" dirty="0"/>
              <a:t>quality of your thinking and decisions</a:t>
            </a:r>
            <a:r>
              <a:rPr lang="en-US" sz="2200" dirty="0"/>
              <a:t>!</a:t>
            </a:r>
          </a:p>
          <a:p>
            <a:r>
              <a:rPr lang="en-US" sz="2200" dirty="0"/>
              <a:t>Peers are not parallel workers, but as part of a </a:t>
            </a:r>
            <a:r>
              <a:rPr lang="en-US" sz="2200" b="1" dirty="0"/>
              <a:t>shared system</a:t>
            </a:r>
            <a:r>
              <a:rPr lang="en-US" sz="2200" dirty="0"/>
              <a:t>. Shift the culture from individual performance to collective responsibility and make </a:t>
            </a:r>
            <a:r>
              <a:rPr lang="en-US" sz="2200" b="1" dirty="0"/>
              <a:t>collaboration</a:t>
            </a:r>
            <a:r>
              <a:rPr lang="en-US" sz="2200" dirty="0"/>
              <a:t> (not cooperation only)!</a:t>
            </a:r>
          </a:p>
          <a:p>
            <a:r>
              <a:rPr lang="en-US" sz="2200" b="1" dirty="0"/>
              <a:t>Metacognition</a:t>
            </a:r>
            <a:r>
              <a:rPr lang="en-US" sz="2200" dirty="0"/>
              <a:t> ...</a:t>
            </a:r>
            <a:br>
              <a:rPr lang="en-US" sz="2200" dirty="0"/>
            </a:br>
            <a:r>
              <a:rPr lang="en-US" sz="2200" dirty="0"/>
              <a:t>why I'm thinking what I'm thinking </a:t>
            </a:r>
            <a:r>
              <a:rPr lang="en-US" sz="2200" dirty="0">
                <a:sym typeface="Wingdings" pitchFamily="2" charset="2"/>
              </a:rPr>
              <a:t> m</a:t>
            </a:r>
            <a:r>
              <a:rPr lang="en-US" sz="2200" dirty="0"/>
              <a:t>ake the invisible visible!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F7177-E4F2-112D-C5DE-580CC5F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A person drawing a staircase with words&#10;&#10;AI-generated content may be incorrect.">
            <a:extLst>
              <a:ext uri="{FF2B5EF4-FFF2-40B4-BE49-F238E27FC236}">
                <a16:creationId xmlns:a16="http://schemas.microsoft.com/office/drawing/2014/main" id="{61D8DED4-5A3F-05B2-A499-861BE7FAD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30" y="185738"/>
            <a:ext cx="4046339" cy="269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1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A4A1-CFFA-B06C-3452-A64C7060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 </a:t>
            </a:r>
            <a:r>
              <a:rPr lang="en-US" baseline="30000" dirty="0"/>
              <a:t>(of templates and more)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05088-0080-3480-C09E-48FE657DA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Meeting Report with Project </a:t>
            </a:r>
            <a:r>
              <a:rPr lang="en-US" dirty="0" err="1">
                <a:hlinkClick r:id="rId2"/>
              </a:rPr>
              <a:t>Sponsor.docx</a:t>
            </a:r>
            <a:endParaRPr lang="en-US" dirty="0"/>
          </a:p>
          <a:p>
            <a:r>
              <a:rPr lang="en-US" dirty="0">
                <a:hlinkClick r:id="rId3"/>
              </a:rPr>
              <a:t>Project Charter Template.docx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Points of Contact of the Projects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779CC-66AD-515E-8D6E-3EC88C32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0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0FFF8-62C5-210E-8975-C66D34DA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94BD-65EB-B701-10F4-A8BEBABB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 for Wed and Friday Lab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A1031-1ADB-CB92-8DAF-3398B462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Five Dysfunctions of a Team</a:t>
            </a:r>
            <a:br>
              <a:rPr lang="en-US" dirty="0"/>
            </a:br>
            <a:r>
              <a:rPr lang="en-US" sz="2400" dirty="0">
                <a:hlinkClick r:id="rId2"/>
              </a:rPr>
              <a:t>https://youtu.be/z8jHFk0uLlk?si=qXPD1feeKFoWX0wP</a:t>
            </a:r>
            <a:endParaRPr lang="en-US" sz="2400" dirty="0"/>
          </a:p>
          <a:p>
            <a:r>
              <a:rPr lang="en-US" dirty="0"/>
              <a:t>Bullet Journal</a:t>
            </a:r>
            <a:br>
              <a:rPr lang="en-US" dirty="0"/>
            </a:br>
            <a:r>
              <a:rPr lang="en-US" sz="1800" dirty="0">
                <a:hlinkClick r:id="rId3"/>
              </a:rPr>
              <a:t>https://www.thelazygeniuscollective.com/blog/how-to-bullet-journal</a:t>
            </a:r>
            <a:endParaRPr lang="en-US" sz="1800" dirty="0"/>
          </a:p>
          <a:p>
            <a:r>
              <a:rPr lang="en-US" dirty="0"/>
              <a:t>Amish Hackers </a:t>
            </a:r>
            <a:r>
              <a:rPr lang="en-US" dirty="0">
                <a:hlinkClick r:id="rId4"/>
              </a:rPr>
              <a:t>https://kk.org/thetechnium/amish-hackers-a/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04AFB-635D-2B70-4BDD-D1840A64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98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8F8F-645A-C33F-CC75-225B58B0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Charter</a:t>
            </a:r>
            <a:br>
              <a:rPr lang="en-US" b="1" dirty="0"/>
            </a:br>
            <a:r>
              <a:rPr lang="en-US" sz="4000" dirty="0"/>
              <a:t>Capture Clear, Actionable Project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4388-6F72-88FC-D39F-00C34753E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After the 1st meeting with sponsor ...</a:t>
            </a:r>
          </a:p>
          <a:p>
            <a:r>
              <a:rPr lang="en-US" dirty="0"/>
              <a:t>Draft project plan −→ initial charter outline</a:t>
            </a:r>
          </a:p>
          <a:p>
            <a:r>
              <a:rPr lang="en-US" dirty="0"/>
              <a:t>Identify gaps in requirements, assumptions, and constraints</a:t>
            </a:r>
          </a:p>
          <a:p>
            <a:r>
              <a:rPr lang="en-US" dirty="0"/>
              <a:t>Re-assign roles? (notetaker, lead, etc.)</a:t>
            </a:r>
          </a:p>
          <a:p>
            <a:r>
              <a:rPr lang="en-US" dirty="0"/>
              <a:t>Estimate resources, best/educated guess</a:t>
            </a:r>
            <a:br>
              <a:rPr lang="en-US" dirty="0"/>
            </a:br>
            <a:r>
              <a:rPr lang="en-US" dirty="0"/>
              <a:t>(Brainstorm, plan scenarios for time, skills, any type of cost)</a:t>
            </a:r>
          </a:p>
          <a:p>
            <a:r>
              <a:rPr lang="en-US" dirty="0"/>
              <a:t>Draft a sequence of activities and a project schedule framework (set of tools, processes, and methods for developing and controlling a project's timeline)</a:t>
            </a:r>
          </a:p>
          <a:p>
            <a:r>
              <a:rPr lang="en-US" dirty="0"/>
              <a:t>Get started identifying risks and planning mitigations</a:t>
            </a:r>
          </a:p>
          <a:p>
            <a:r>
              <a:rPr lang="en-US" dirty="0"/>
              <a:t>Finalize first project charter draft</a:t>
            </a:r>
            <a:br>
              <a:rPr lang="en-US" dirty="0"/>
            </a:br>
            <a:r>
              <a:rPr lang="en-US" dirty="0"/>
              <a:t>(next week, in parallel to the project management plan</a:t>
            </a:r>
            <a:br>
              <a:rPr lang="en-US" dirty="0"/>
            </a:br>
            <a:r>
              <a:rPr lang="en-US" dirty="0"/>
              <a:t>if possible)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475D6-FDA4-7FE4-7F35-89EFE4DC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0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23D8-D9A8-32EA-EFE7-7963938F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50A8-F7B0-50A8-618A-78B7637A8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81521" cy="4351338"/>
          </a:xfrm>
        </p:spPr>
        <p:txBody>
          <a:bodyPr>
            <a:normAutofit fontScale="92500"/>
          </a:bodyPr>
          <a:lstStyle/>
          <a:p>
            <a:pPr marL="2460625" indent="-168275">
              <a:buNone/>
            </a:pPr>
            <a:r>
              <a:rPr lang="en-US" sz="2400" b="1" dirty="0"/>
              <a:t>Be prepared</a:t>
            </a:r>
          </a:p>
          <a:p>
            <a:pPr marL="2460625" indent="-168275"/>
            <a:r>
              <a:rPr lang="en-US" sz="2000" dirty="0"/>
              <a:t>Agenda prepared and sent </a:t>
            </a:r>
            <a:r>
              <a:rPr lang="en-US" sz="2000" u="sng" dirty="0"/>
              <a:t>ahead of time</a:t>
            </a:r>
          </a:p>
          <a:p>
            <a:pPr marL="2460625" indent="-168275"/>
            <a:r>
              <a:rPr lang="en-US" sz="2000" dirty="0"/>
              <a:t>Questions prepared</a:t>
            </a:r>
          </a:p>
          <a:p>
            <a:pPr marL="2460625" indent="-168275"/>
            <a:r>
              <a:rPr lang="en-US" sz="2000" dirty="0"/>
              <a:t>Team knows who will speak and on what topic</a:t>
            </a:r>
          </a:p>
          <a:p>
            <a:pPr marL="2460625" indent="-168275"/>
            <a:r>
              <a:rPr lang="en-US" sz="2000" dirty="0"/>
              <a:t>Team members assigned to take notes</a:t>
            </a:r>
            <a:br>
              <a:rPr lang="en-US" sz="2000" dirty="0"/>
            </a:br>
            <a:r>
              <a:rPr lang="en-US" sz="2000" dirty="0"/>
              <a:t>(record audio/video </a:t>
            </a:r>
            <a:r>
              <a:rPr lang="en-US" sz="2000" b="1" u="sng" dirty="0"/>
              <a:t>only</a:t>
            </a:r>
            <a:r>
              <a:rPr lang="en-US" sz="2000" dirty="0"/>
              <a:t> and </a:t>
            </a:r>
            <a:r>
              <a:rPr lang="en-US" sz="2000" b="1" u="sng" dirty="0"/>
              <a:t>only if</a:t>
            </a:r>
            <a:r>
              <a:rPr lang="en-US" sz="2000" dirty="0"/>
              <a:t> sponsor agrees)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Listen more than you speak</a:t>
            </a:r>
          </a:p>
          <a:p>
            <a:r>
              <a:rPr lang="en-US" sz="2000" dirty="0"/>
              <a:t>Wait for sponsor to answer questions,</a:t>
            </a:r>
            <a:br>
              <a:rPr lang="en-US" sz="2000" dirty="0"/>
            </a:br>
            <a:r>
              <a:rPr lang="en-US" sz="2000" b="1" dirty="0"/>
              <a:t>don’t interrupt with additional questions</a:t>
            </a:r>
          </a:p>
          <a:p>
            <a:r>
              <a:rPr lang="en-US" sz="2000" dirty="0"/>
              <a:t>Don’t try to provide </a:t>
            </a:r>
            <a:r>
              <a:rPr lang="en-US" sz="2000" u="sng" dirty="0"/>
              <a:t>immediate</a:t>
            </a:r>
            <a:r>
              <a:rPr lang="en-US" sz="2000" dirty="0"/>
              <a:t> solutions,</a:t>
            </a:r>
            <a:br>
              <a:rPr lang="en-US" sz="2000" dirty="0"/>
            </a:br>
            <a:r>
              <a:rPr lang="en-US" sz="2000" b="1" dirty="0"/>
              <a:t>this is still a 2-semester long project!</a:t>
            </a:r>
          </a:p>
        </p:txBody>
      </p:sp>
      <p:pic>
        <p:nvPicPr>
          <p:cNvPr id="5" name="Picture 4" descr="A red sign with white text&#10;&#10;AI-generated content may be incorrect.">
            <a:extLst>
              <a:ext uri="{FF2B5EF4-FFF2-40B4-BE49-F238E27FC236}">
                <a16:creationId xmlns:a16="http://schemas.microsoft.com/office/drawing/2014/main" id="{FAC8DA26-FB8D-17F9-A0EC-0C48D5D3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61" y="1825625"/>
            <a:ext cx="2024239" cy="23616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BC1E8-06A0-4839-F4EF-F487B818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22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1A75E-4917-9F7B-79B7-F7FE43BA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0019-AD09-0F29-77E6-E22A3C3A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34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Ask for clarification on anything you don't understand</a:t>
            </a:r>
          </a:p>
          <a:p>
            <a:r>
              <a:rPr lang="en-US" sz="2000" dirty="0"/>
              <a:t>Ask for meaning of any terms or acronyms the sponsor uses!</a:t>
            </a:r>
            <a:br>
              <a:rPr lang="en-US" sz="2000" dirty="0"/>
            </a:br>
            <a:r>
              <a:rPr lang="en-US" sz="2000" b="1" dirty="0"/>
              <a:t>Don’t assume your teammates will know!</a:t>
            </a:r>
          </a:p>
          <a:p>
            <a:r>
              <a:rPr lang="en-US" sz="2000" dirty="0"/>
              <a:t>Don't pretend to understand something you don’t.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End the meeting with plans</a:t>
            </a:r>
          </a:p>
          <a:p>
            <a:pPr marL="3887788" indent="-225425"/>
            <a:r>
              <a:rPr lang="en-US" sz="2000" b="1" dirty="0"/>
              <a:t>Action items </a:t>
            </a:r>
            <a:r>
              <a:rPr lang="en-US" sz="2000" dirty="0"/>
              <a:t>for team</a:t>
            </a:r>
            <a:br>
              <a:rPr lang="en-US" sz="2000" dirty="0"/>
            </a:br>
            <a:r>
              <a:rPr lang="en-US" sz="2000" dirty="0"/>
              <a:t>or sponsor with target dates.</a:t>
            </a:r>
          </a:p>
          <a:p>
            <a:pPr marL="3887788" indent="-225425"/>
            <a:r>
              <a:rPr lang="en-US" sz="2000" dirty="0"/>
              <a:t>Next meeting date set</a:t>
            </a:r>
            <a:br>
              <a:rPr lang="en-US" sz="2000" dirty="0"/>
            </a:br>
            <a:r>
              <a:rPr lang="en-US" sz="2000" dirty="0"/>
              <a:t>or </a:t>
            </a:r>
            <a:r>
              <a:rPr lang="en-US" sz="2000" u="sng" dirty="0"/>
              <a:t>proposed</a:t>
            </a:r>
            <a:r>
              <a:rPr lang="en-US" sz="2000" dirty="0"/>
              <a:t>.</a:t>
            </a:r>
          </a:p>
        </p:txBody>
      </p:sp>
      <p:pic>
        <p:nvPicPr>
          <p:cNvPr id="5" name="Picture 4" descr="A clipboard with a notepad and a note&#10;&#10;AI-generated content may be incorrect.">
            <a:extLst>
              <a:ext uri="{FF2B5EF4-FFF2-40B4-BE49-F238E27FC236}">
                <a16:creationId xmlns:a16="http://schemas.microsoft.com/office/drawing/2014/main" id="{E589B0CF-5E83-84F7-16B8-7595E17B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04" y="4141649"/>
            <a:ext cx="3446085" cy="19199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E33FC-4D18-1408-4E83-1B6B6EAD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9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olorful speech bubbles&#10;&#10;AI-generated content may be incorrect.">
            <a:extLst>
              <a:ext uri="{FF2B5EF4-FFF2-40B4-BE49-F238E27FC236}">
                <a16:creationId xmlns:a16="http://schemas.microsoft.com/office/drawing/2014/main" id="{144E2B02-3D58-3164-2571-718023407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474" y="4250909"/>
            <a:ext cx="4569052" cy="30460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F0ECEC-9F3B-D9F8-92C7-B1CDBFFB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094BB-DB6E-B45D-50B7-D79BC31B7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9486"/>
            <a:ext cx="8123464" cy="4667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Already thinking ahead … after the meeting: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What went well?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What do you wish you'd done prior to the meeting that you did not?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Did all the team get to introduce themselves?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Were your expectations met for the next meeting?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Did you identify some needed information and establish a target date?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Did you set a follow-up meeting or recurring meeting?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What can be improved?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24BE3-84B7-6CA0-7E90-5E7D306D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07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rain and a heart with a wire&#10;&#10;AI-generated content may be incorrect.">
            <a:extLst>
              <a:ext uri="{FF2B5EF4-FFF2-40B4-BE49-F238E27FC236}">
                <a16:creationId xmlns:a16="http://schemas.microsoft.com/office/drawing/2014/main" id="{01327E16-8601-998E-5BD1-3C023E607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365126"/>
            <a:ext cx="2235200" cy="223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5B9239-974E-E43D-DA3A-D30875F9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393D-1C6E-B6F1-E74D-DF148FAF2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Remain positive</a:t>
            </a:r>
            <a:br>
              <a:rPr lang="en-US" sz="2400" b="1" dirty="0"/>
            </a:br>
            <a:r>
              <a:rPr lang="en-US" sz="2400" b="1" dirty="0"/>
              <a:t>and upbeat throughout the project</a:t>
            </a:r>
          </a:p>
          <a:p>
            <a:r>
              <a:rPr lang="en-US" sz="2000" dirty="0"/>
              <a:t>Not everything will go perfectly,</a:t>
            </a:r>
            <a:br>
              <a:rPr lang="en-US" sz="2000" dirty="0"/>
            </a:br>
            <a:r>
              <a:rPr lang="en-US" sz="2000" dirty="0"/>
              <a:t>don't expect it to and don't get down when it doesn’t.</a:t>
            </a:r>
          </a:p>
          <a:p>
            <a:r>
              <a:rPr lang="en-US" sz="2000" dirty="0"/>
              <a:t>Never talk bad about anyone;</a:t>
            </a:r>
            <a:br>
              <a:rPr lang="en-US" sz="2000" dirty="0"/>
            </a:br>
            <a:r>
              <a:rPr lang="en-US" sz="2000" dirty="0"/>
              <a:t>sponsor, team member, instructors (especially).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If someone needs to miss a meeting</a:t>
            </a:r>
          </a:p>
          <a:p>
            <a:r>
              <a:rPr lang="en-US" sz="2000" dirty="0"/>
              <a:t>Make sure the sponsor knows why,</a:t>
            </a:r>
            <a:br>
              <a:rPr lang="en-US" sz="2000" dirty="0"/>
            </a:br>
            <a:r>
              <a:rPr lang="en-US" sz="2000" dirty="0"/>
              <a:t>explain at the start of the meeting that </a:t>
            </a:r>
            <a:r>
              <a:rPr lang="en-US" sz="2000" i="1" dirty="0"/>
              <a:t>…</a:t>
            </a:r>
            <a:r>
              <a:rPr lang="en-US" sz="2000" dirty="0"/>
              <a:t> </a:t>
            </a:r>
            <a:r>
              <a:rPr lang="en-US" sz="2000" i="1" dirty="0"/>
              <a:t>can't make it because …</a:t>
            </a:r>
          </a:p>
          <a:p>
            <a:r>
              <a:rPr lang="en-US" sz="2000" dirty="0"/>
              <a:t>Make sure to follow up with person that missed to distribute information and/or action items!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3A12-7342-CF1D-5143-DCA6D770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35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clock with arms and hands&#10;&#10;AI-generated content may be incorrect.">
            <a:extLst>
              <a:ext uri="{FF2B5EF4-FFF2-40B4-BE49-F238E27FC236}">
                <a16:creationId xmlns:a16="http://schemas.microsoft.com/office/drawing/2014/main" id="{D2181F65-8A87-6E43-A822-ED8F0E55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02" r="16138"/>
          <a:stretch>
            <a:fillRect/>
          </a:stretch>
        </p:blipFill>
        <p:spPr>
          <a:xfrm>
            <a:off x="6457243" y="562770"/>
            <a:ext cx="2686757" cy="2273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196124-3A68-24DE-F035-EFC970C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1120-DAB2-414D-6C59-A53C57021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34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Ensure meetings don't go longer than allotted</a:t>
            </a:r>
          </a:p>
          <a:p>
            <a:r>
              <a:rPr lang="en-US" sz="2000" dirty="0"/>
              <a:t>Listen for </a:t>
            </a:r>
            <a:r>
              <a:rPr lang="en-US" sz="2000" u="sng" dirty="0"/>
              <a:t>clues</a:t>
            </a:r>
            <a:r>
              <a:rPr lang="en-US" sz="2000" dirty="0"/>
              <a:t> sponsor needs to go</a:t>
            </a:r>
            <a:br>
              <a:rPr lang="en-US" sz="2000" dirty="0"/>
            </a:br>
            <a:r>
              <a:rPr lang="en-US" sz="2000" dirty="0"/>
              <a:t>(“well, that about wraps it up…”,</a:t>
            </a:r>
            <a:br>
              <a:rPr lang="en-US" sz="2000" dirty="0"/>
            </a:br>
            <a:r>
              <a:rPr lang="en-US" sz="2000" dirty="0"/>
              <a:t>“OK, if there isn't anything else…”, etc.)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Don't be afraid to call the sponsor if emails are not answered and you need answers</a:t>
            </a:r>
          </a:p>
          <a:p>
            <a:r>
              <a:rPr lang="en-US" sz="2000" dirty="0"/>
              <a:t>Set target dates for required information and follow up,</a:t>
            </a:r>
          </a:p>
          <a:p>
            <a:r>
              <a:rPr lang="en-US" sz="2000" dirty="0"/>
              <a:t>If you call and they don't answer, leave a voicemail.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5D923-D066-BAC2-EEB2-40ECFFEB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08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CDA1-7B5F-5C35-A9AA-615326AC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               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4A7DF-ED39-28CF-2564-CBE816EA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Dress </a:t>
            </a:r>
            <a:r>
              <a:rPr lang="en-US" sz="2400" b="1" dirty="0"/>
              <a:t>appropriately</a:t>
            </a:r>
            <a:r>
              <a:rPr lang="en-US" sz="2400" dirty="0"/>
              <a:t> (</a:t>
            </a:r>
            <a:r>
              <a:rPr lang="en-US" sz="2400" i="1" dirty="0"/>
              <a:t>ask if in doubt</a:t>
            </a:r>
            <a:r>
              <a:rPr lang="en-US" sz="2400" dirty="0"/>
              <a:t>) </a:t>
            </a:r>
            <a:r>
              <a:rPr lang="en-US" sz="1400" dirty="0">
                <a:hlinkClick r:id="rId2"/>
              </a:rPr>
              <a:t>https://careercloset.tamu.edu/</a:t>
            </a:r>
            <a:endParaRPr lang="en-US" sz="2400" dirty="0"/>
          </a:p>
          <a:p>
            <a:r>
              <a:rPr lang="en-US" sz="2400" dirty="0"/>
              <a:t>Phone on </a:t>
            </a:r>
            <a:r>
              <a:rPr lang="en-US" sz="2400" b="1" dirty="0"/>
              <a:t>silent mode </a:t>
            </a:r>
            <a:r>
              <a:rPr lang="en-US" sz="2400" dirty="0"/>
              <a:t>and simply </a:t>
            </a:r>
            <a:r>
              <a:rPr lang="en-US" sz="2400" b="1" dirty="0"/>
              <a:t>don't use it!!</a:t>
            </a:r>
            <a:endParaRPr lang="en-US" sz="2400" dirty="0"/>
          </a:p>
          <a:p>
            <a:r>
              <a:rPr lang="en-US" sz="2400" dirty="0"/>
              <a:t>Follow all </a:t>
            </a:r>
            <a:r>
              <a:rPr lang="en-US" sz="2400" b="1" dirty="0"/>
              <a:t>safety rules</a:t>
            </a:r>
            <a:r>
              <a:rPr lang="en-US" sz="2400" dirty="0"/>
              <a:t> (and instructions),</a:t>
            </a:r>
          </a:p>
          <a:p>
            <a:r>
              <a:rPr lang="en-US" sz="2400" b="1" dirty="0"/>
              <a:t>Ask</a:t>
            </a:r>
            <a:r>
              <a:rPr lang="en-US" sz="2400" dirty="0"/>
              <a:t> before taking photos or videos,</a:t>
            </a:r>
          </a:p>
          <a:p>
            <a:r>
              <a:rPr lang="en-US" sz="2400" b="1" dirty="0"/>
              <a:t>Document</a:t>
            </a:r>
            <a:r>
              <a:rPr lang="en-US" sz="2400" dirty="0"/>
              <a:t> who you meet with,</a:t>
            </a:r>
          </a:p>
          <a:p>
            <a:r>
              <a:rPr lang="en-US" sz="2400" dirty="0"/>
              <a:t>You are representing </a:t>
            </a:r>
            <a:r>
              <a:rPr lang="en-US" sz="2400" b="1" dirty="0">
                <a:solidFill>
                  <a:srgbClr val="4B1211"/>
                </a:solidFill>
              </a:rPr>
              <a:t>Texas A&amp;M</a:t>
            </a:r>
            <a:r>
              <a:rPr lang="en-US" sz="2400" dirty="0"/>
              <a:t>, be a good example!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2BE6D-F2D6-C53E-4199-C4EB9E66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A hand with a middle finger pointing up&#10;&#10;AI-generated content may be incorrect.">
            <a:extLst>
              <a:ext uri="{FF2B5EF4-FFF2-40B4-BE49-F238E27FC236}">
                <a16:creationId xmlns:a16="http://schemas.microsoft.com/office/drawing/2014/main" id="{DA17D347-EDF3-70BB-70CB-0DD1A9D07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635" y="4390248"/>
            <a:ext cx="2377440" cy="2377440"/>
          </a:xfrm>
          <a:prstGeom prst="rect">
            <a:avLst/>
          </a:prstGeom>
        </p:spPr>
      </p:pic>
      <p:pic>
        <p:nvPicPr>
          <p:cNvPr id="8" name="Picture 7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707C931-7103-E57B-1E63-D25844A53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134" y="5937748"/>
            <a:ext cx="1371600" cy="647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3B971D-EED0-06C4-9E6D-0AF044012822}"/>
              </a:ext>
            </a:extLst>
          </p:cNvPr>
          <p:cNvSpPr txBox="1"/>
          <p:nvPr/>
        </p:nvSpPr>
        <p:spPr>
          <a:xfrm>
            <a:off x="5685899" y="692240"/>
            <a:ext cx="1449102" cy="671334"/>
          </a:xfrm>
          <a:prstGeom prst="roundRect">
            <a:avLst>
              <a:gd name="adj" fmla="val 6703"/>
            </a:avLst>
          </a:prstGeom>
          <a:solidFill>
            <a:schemeClr val="accent5">
              <a:lumMod val="20000"/>
              <a:lumOff val="80000"/>
              <a:alpha val="5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5">
                    <a:lumMod val="75000"/>
                  </a:schemeClr>
                </a:solidFill>
              </a:rPr>
              <a:t>You'll be surprised by the doors this can open...</a:t>
            </a:r>
          </a:p>
        </p:txBody>
      </p:sp>
    </p:spTree>
    <p:extLst>
      <p:ext uri="{BB962C8B-B14F-4D97-AF65-F5344CB8AC3E}">
        <p14:creationId xmlns:p14="http://schemas.microsoft.com/office/powerpoint/2010/main" val="2499487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F16AD53B-4C9D-70B6-CA5C-19D4613C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855" y="4610345"/>
            <a:ext cx="3440289" cy="2247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18058D-DACC-536A-4149-A67F37F2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2BC8F-C8A3-D2BE-FAFB-112682AEC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You are called a team for a reason</a:t>
            </a:r>
          </a:p>
          <a:p>
            <a:r>
              <a:rPr lang="en-US" sz="2000" dirty="0"/>
              <a:t>You have the same goals</a:t>
            </a:r>
          </a:p>
          <a:p>
            <a:r>
              <a:rPr lang="en-US" sz="2000" dirty="0"/>
              <a:t>You each have skills and abilities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2. Share the load</a:t>
            </a:r>
          </a:p>
          <a:p>
            <a:r>
              <a:rPr lang="en-US" sz="2000" dirty="0"/>
              <a:t>No one gets a free pass</a:t>
            </a:r>
          </a:p>
          <a:p>
            <a:r>
              <a:rPr lang="en-US" sz="2000" dirty="0"/>
              <a:t>Work independently but together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C9F83-D95A-BA31-AAEA-B79D0AEB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45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7F7E-C98E-4DAF-D69C-30DF8501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CAC33-E176-705C-D2C7-73A86020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Recognize and acknowledge differences</a:t>
            </a:r>
          </a:p>
          <a:p>
            <a:r>
              <a:rPr lang="en-US" sz="2000" dirty="0"/>
              <a:t>Compromise</a:t>
            </a:r>
          </a:p>
          <a:p>
            <a:r>
              <a:rPr lang="en-US" sz="2000" dirty="0"/>
              <a:t>Use individual strengths to make the team better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4. If you have difficulty</a:t>
            </a:r>
          </a:p>
          <a:p>
            <a:r>
              <a:rPr lang="en-US" sz="2000" dirty="0"/>
              <a:t>Try to work things out together (don't talk bad about anyone!)</a:t>
            </a:r>
          </a:p>
          <a:p>
            <a:r>
              <a:rPr lang="en-US" sz="2000" dirty="0"/>
              <a:t>Contact instructor team for assistance only if you can't work it out</a:t>
            </a:r>
          </a:p>
        </p:txBody>
      </p:sp>
      <p:pic>
        <p:nvPicPr>
          <p:cNvPr id="4" name="Picture 3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D4230907-E682-3147-7FF4-72B876A4E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855" y="4610345"/>
            <a:ext cx="3440289" cy="224765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F6C51-2220-9949-1A2F-DDDA57A1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1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FDE3-7FEA-E3B3-E369-5324C6A12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b="1" dirty="0"/>
              <a:t>Faculty Advisor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A165-DE8C-ED87-E697-2FAAB6D90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will have to identify a potential faculty advisor,</a:t>
            </a:r>
            <a:br>
              <a:rPr lang="en-US" sz="2400" dirty="0"/>
            </a:br>
            <a:r>
              <a:rPr lang="en-US" sz="2400" dirty="0"/>
              <a:t>do it ASAP!</a:t>
            </a:r>
          </a:p>
          <a:p>
            <a:r>
              <a:rPr lang="en-US" sz="2400" dirty="0"/>
              <a:t>For areas of research interest/expertise, consult the ISEN website, follow research tab to Research Fields.</a:t>
            </a:r>
          </a:p>
          <a:p>
            <a:r>
              <a:rPr lang="en-US" sz="2400" dirty="0"/>
              <a:t>Your project does not need to perfectly align with a professor's research field, but they are more likely to accept if it is something that interests them.</a:t>
            </a:r>
          </a:p>
        </p:txBody>
      </p:sp>
      <p:pic>
        <p:nvPicPr>
          <p:cNvPr id="4" name="Picture 3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8A330E22-B0E5-34B4-15C8-B270B7032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855" y="4610345"/>
            <a:ext cx="3440289" cy="224765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BF981-F9E8-5691-B5CA-D9A791AF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17</a:t>
            </a:fld>
            <a:endParaRPr lang="en-US"/>
          </a:p>
        </p:txBody>
      </p:sp>
      <p:pic>
        <p:nvPicPr>
          <p:cNvPr id="14" name="Picture 13" descr="A black and white image of a smiley face&#10;&#10;AI-generated content may be incorrect.">
            <a:extLst>
              <a:ext uri="{FF2B5EF4-FFF2-40B4-BE49-F238E27FC236}">
                <a16:creationId xmlns:a16="http://schemas.microsoft.com/office/drawing/2014/main" id="{B71B3CF2-3229-DBA5-7FE8-9E8A17341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9" y="288977"/>
            <a:ext cx="1828800" cy="146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90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103E-7E49-A845-35CE-3F4EC8FA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Advisors</a:t>
            </a:r>
            <a:br>
              <a:rPr lang="en-US" sz="4000" dirty="0"/>
            </a:br>
            <a:r>
              <a:rPr lang="en-US" sz="4000" dirty="0"/>
              <a:t>Identifying and Approaching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5CCAB-C6EE-F37E-2197-EBE781A2C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Review potential matches</a:t>
            </a:r>
          </a:p>
          <a:p>
            <a:pPr lvl="1"/>
            <a:r>
              <a:rPr lang="en-US" dirty="0"/>
              <a:t>Check ISEN faculty research areas</a:t>
            </a:r>
          </a:p>
          <a:p>
            <a:pPr lvl="1"/>
            <a:r>
              <a:rPr lang="en-US" dirty="0"/>
              <a:t>Reflect on your project's needs and interests</a:t>
            </a:r>
          </a:p>
          <a:p>
            <a:r>
              <a:rPr lang="en-US" dirty="0"/>
              <a:t>Reach out professionally</a:t>
            </a:r>
          </a:p>
          <a:p>
            <a:pPr lvl="1"/>
            <a:r>
              <a:rPr lang="en-US" dirty="0"/>
              <a:t>Draft a concise introductory email (project topic, goals, timeline)</a:t>
            </a:r>
          </a:p>
          <a:p>
            <a:pPr lvl="1"/>
            <a:r>
              <a:rPr lang="en-US" dirty="0"/>
              <a:t>Request a brief meeting to discuss mutual fit</a:t>
            </a:r>
          </a:p>
          <a:p>
            <a:r>
              <a:rPr lang="en-US" dirty="0"/>
              <a:t>Prepare for meetings</a:t>
            </a:r>
          </a:p>
          <a:p>
            <a:pPr lvl="1"/>
            <a:r>
              <a:rPr lang="en-US" dirty="0"/>
              <a:t>Be ready to explain your project vision</a:t>
            </a:r>
          </a:p>
          <a:p>
            <a:pPr lvl="1"/>
            <a:r>
              <a:rPr lang="en-US" dirty="0"/>
              <a:t>Bring initial notes from your first meeting</a:t>
            </a:r>
          </a:p>
          <a:p>
            <a:r>
              <a:rPr lang="en-US" dirty="0"/>
              <a:t>Confirm commitment</a:t>
            </a:r>
          </a:p>
          <a:p>
            <a:pPr lvl="1"/>
            <a:r>
              <a:rPr lang="en-US" dirty="0"/>
              <a:t>Secure agreement and establish possible meeting cadence</a:t>
            </a:r>
          </a:p>
          <a:p>
            <a:pPr lvl="1"/>
            <a:r>
              <a:rPr lang="en-US" dirty="0"/>
              <a:t>Inform me and Nathan once advisor is confirmed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BCF27-5DBA-ACD5-B664-B5B56B62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56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819C7-A0A1-298D-B848-D2C44755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 descr="A cartoon character with hands up&#10;&#10;AI-generated content may be incorrect.">
            <a:extLst>
              <a:ext uri="{FF2B5EF4-FFF2-40B4-BE49-F238E27FC236}">
                <a16:creationId xmlns:a16="http://schemas.microsoft.com/office/drawing/2014/main" id="{410C6075-504F-C6FF-1AE0-8184AC833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1" y="1600200"/>
            <a:ext cx="507999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84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types of business&#10;&#10;AI-generated content may be incorrect.">
            <a:extLst>
              <a:ext uri="{FF2B5EF4-FFF2-40B4-BE49-F238E27FC236}">
                <a16:creationId xmlns:a16="http://schemas.microsoft.com/office/drawing/2014/main" id="{FF5AC72A-668C-BB55-018A-4A6D8823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9" t="9887" r="2909" b="6675"/>
          <a:stretch>
            <a:fillRect/>
          </a:stretch>
        </p:blipFill>
        <p:spPr>
          <a:xfrm>
            <a:off x="1085696" y="3018154"/>
            <a:ext cx="6972607" cy="3474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74BFF9-149A-853E-D4D3-7EBAE96E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Discover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ECA0-EEE9-B546-F915-34E7A306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Phase 1 will </a:t>
            </a:r>
            <a:r>
              <a:rPr lang="en-US" sz="2400" b="1" dirty="0"/>
              <a:t>set the direction </a:t>
            </a:r>
            <a:r>
              <a:rPr lang="en-US" sz="2400" dirty="0"/>
              <a:t>for your project.</a:t>
            </a:r>
          </a:p>
          <a:p>
            <a:r>
              <a:rPr lang="en-US" sz="2400" dirty="0"/>
              <a:t>Phase 1 is </a:t>
            </a:r>
            <a:r>
              <a:rPr lang="en-US" sz="2400" b="1" dirty="0"/>
              <a:t>not about solutions;</a:t>
            </a:r>
            <a:br>
              <a:rPr lang="en-US" sz="2400" dirty="0"/>
            </a:br>
            <a:r>
              <a:rPr lang="en-US" sz="2400" dirty="0"/>
              <a:t>it is about the problem/opportunity.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EF076CC-8A2E-57F7-EF39-4EB0D80A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23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ECB7-426B-20BF-2EA8-DC6D07C6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B1D85F-E2AD-3BF0-0181-A845355FE223}"/>
              </a:ext>
            </a:extLst>
          </p:cNvPr>
          <p:cNvSpPr txBox="1">
            <a:spLocks/>
          </p:cNvSpPr>
          <p:nvPr/>
        </p:nvSpPr>
        <p:spPr>
          <a:xfrm>
            <a:off x="628649" y="3462867"/>
            <a:ext cx="7886701" cy="1431881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b="1" dirty="0"/>
              <a:t>Information gathering,</a:t>
            </a:r>
          </a:p>
          <a:p>
            <a:pPr lvl="1"/>
            <a:r>
              <a:rPr lang="en-US" sz="2000" b="1" dirty="0"/>
              <a:t>Problem definition,</a:t>
            </a:r>
          </a:p>
          <a:p>
            <a:pPr lvl="1"/>
            <a:endParaRPr lang="en-US" sz="2000" b="1" dirty="0"/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Client needs identification,</a:t>
            </a:r>
          </a:p>
          <a:p>
            <a:pPr lvl="1"/>
            <a:r>
              <a:rPr lang="en-US" sz="2000" b="1" dirty="0"/>
              <a:t>Technical objectives development.</a:t>
            </a:r>
          </a:p>
        </p:txBody>
      </p:sp>
      <p:pic>
        <p:nvPicPr>
          <p:cNvPr id="6" name="Picture 5" descr="A drawing of two people with tangled lines&#10;&#10;AI-generated content may be incorrect.">
            <a:extLst>
              <a:ext uri="{FF2B5EF4-FFF2-40B4-BE49-F238E27FC236}">
                <a16:creationId xmlns:a16="http://schemas.microsoft.com/office/drawing/2014/main" id="{97F83E83-236C-2A4B-881C-B0DD1184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91" y="4791290"/>
            <a:ext cx="3904016" cy="2066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F34F64-760E-EE7D-D9E6-4B9B6C87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Discover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6B8D0F-979B-ED39-80EB-94678315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0D79-B53A-A296-ABBA-2E4B2C207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20239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Phase 1 will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set the direction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for your project.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Phase 1 is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not about solutions;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it is about the problem/opportunity.</a:t>
            </a:r>
          </a:p>
          <a:p>
            <a:r>
              <a:rPr lang="en-US" sz="2400" dirty="0"/>
              <a:t>Some </a:t>
            </a:r>
            <a:r>
              <a:rPr lang="en-US" sz="2400" b="1" dirty="0">
                <a:solidFill>
                  <a:srgbClr val="C00000"/>
                </a:solidFill>
              </a:rPr>
              <a:t>primary goals </a:t>
            </a:r>
            <a:r>
              <a:rPr lang="en-US" sz="2400" dirty="0"/>
              <a:t>for Phase 1 include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Establishing </a:t>
            </a:r>
            <a:r>
              <a:rPr lang="en-US" sz="2400" u="sng" dirty="0"/>
              <a:t>good/effective communication </a:t>
            </a:r>
            <a:r>
              <a:rPr lang="en-US" sz="2400" dirty="0"/>
              <a:t>is also a goal!</a:t>
            </a:r>
          </a:p>
        </p:txBody>
      </p:sp>
    </p:spTree>
    <p:extLst>
      <p:ext uri="{BB962C8B-B14F-4D97-AF65-F5344CB8AC3E}">
        <p14:creationId xmlns:p14="http://schemas.microsoft.com/office/powerpoint/2010/main" val="1045953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71F1-3662-8338-9401-F2605A9D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Information Gathering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6EFD8-4547-F2B4-D26B-8211E9169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3464" cy="4351338"/>
          </a:xfrm>
        </p:spPr>
        <p:txBody>
          <a:bodyPr>
            <a:noAutofit/>
          </a:bodyPr>
          <a:lstStyle/>
          <a:p>
            <a:r>
              <a:rPr lang="en-US" sz="2000" dirty="0"/>
              <a:t>Will occur continuously throughout the project,</a:t>
            </a:r>
            <a:br>
              <a:rPr lang="en-US" sz="2000" dirty="0"/>
            </a:br>
            <a:r>
              <a:rPr lang="en-US" sz="2000" dirty="0"/>
              <a:t>but critical at beginning.</a:t>
            </a:r>
          </a:p>
          <a:p>
            <a:r>
              <a:rPr lang="en-US" sz="2000" dirty="0"/>
              <a:t>Necessary for defining parameters and scope of project.</a:t>
            </a:r>
          </a:p>
          <a:p>
            <a:r>
              <a:rPr lang="en-US" sz="2000" dirty="0"/>
              <a:t>Information can include (but not limited to)</a:t>
            </a:r>
          </a:p>
          <a:p>
            <a:pPr lvl="1"/>
            <a:r>
              <a:rPr lang="en-US" sz="1800" dirty="0"/>
              <a:t>Sponsor company,</a:t>
            </a:r>
          </a:p>
          <a:p>
            <a:pPr lvl="1"/>
            <a:r>
              <a:rPr lang="en-US" sz="1800" dirty="0"/>
              <a:t>Industry/market,</a:t>
            </a:r>
          </a:p>
          <a:p>
            <a:pPr lvl="1"/>
            <a:r>
              <a:rPr lang="en-US" sz="1800" dirty="0"/>
              <a:t>Competitors,</a:t>
            </a:r>
          </a:p>
          <a:p>
            <a:pPr lvl="1"/>
            <a:r>
              <a:rPr lang="en-US" sz="1800" b="1" dirty="0"/>
              <a:t>Standards/Constraints </a:t>
            </a:r>
            <a:r>
              <a:rPr lang="en-US" sz="1800" dirty="0"/>
              <a:t>that guide or limit the solution (ABET).</a:t>
            </a:r>
          </a:p>
          <a:p>
            <a:r>
              <a:rPr lang="en-US" sz="2000" dirty="0"/>
              <a:t>Sources can include</a:t>
            </a:r>
          </a:p>
          <a:p>
            <a:pPr lvl="1"/>
            <a:r>
              <a:rPr lang="en-US" sz="1800" dirty="0"/>
              <a:t>Sponsor, trade publications or other public published material, internet.</a:t>
            </a:r>
          </a:p>
          <a:p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The goal of Phase 1 is to gather as much information as possible</a:t>
            </a:r>
            <a:r>
              <a:rPr lang="en-US" sz="2000" b="1" dirty="0">
                <a:solidFill>
                  <a:srgbClr val="C00000"/>
                </a:solidFill>
              </a:rPr>
              <a:t>,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dirty="0"/>
              <a:t>even if you're not sure it's relevant.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42C7D-C1C6-6E03-7BE8-93EAF53B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16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F471-75C1-BA88-3F00-EB010F52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4F20C-AF40-5319-2ADA-6E6FF673B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075289"/>
            <a:ext cx="7886700" cy="2101674"/>
          </a:xfrm>
        </p:spPr>
        <p:txBody>
          <a:bodyPr>
            <a:noAutofit/>
          </a:bodyPr>
          <a:lstStyle/>
          <a:p>
            <a:r>
              <a:rPr lang="en-US" sz="2000" dirty="0"/>
              <a:t>Should be a </a:t>
            </a:r>
            <a:r>
              <a:rPr lang="en-US" sz="2000" b="1" dirty="0"/>
              <a:t>concise statement </a:t>
            </a:r>
            <a:r>
              <a:rPr lang="en-US" sz="2000" dirty="0"/>
              <a:t>of the problem facing your sponsor</a:t>
            </a:r>
          </a:p>
          <a:p>
            <a:pPr lvl="1"/>
            <a:r>
              <a:rPr lang="en-US" sz="2000" dirty="0"/>
              <a:t>Focus on the </a:t>
            </a:r>
            <a:r>
              <a:rPr lang="en-US" sz="2000" u="sng" dirty="0"/>
              <a:t>source of the problem</a:t>
            </a:r>
            <a:r>
              <a:rPr lang="en-US" sz="2000" dirty="0"/>
              <a:t>,</a:t>
            </a:r>
            <a:br>
              <a:rPr lang="en-US" sz="2000" dirty="0"/>
            </a:br>
            <a:r>
              <a:rPr lang="en-US" sz="2000" dirty="0"/>
              <a:t>not the symptoms or solution,</a:t>
            </a:r>
          </a:p>
          <a:p>
            <a:pPr lvl="1"/>
            <a:r>
              <a:rPr lang="en-US" sz="2000" dirty="0"/>
              <a:t>Keep the language simple, avoid technical jargon,</a:t>
            </a:r>
          </a:p>
          <a:p>
            <a:pPr lvl="1"/>
            <a:r>
              <a:rPr lang="en-US" sz="2000" dirty="0"/>
              <a:t>Avoid detail, that will be fleshed out with customer needs.</a:t>
            </a:r>
          </a:p>
          <a:p>
            <a:r>
              <a:rPr lang="en-US" sz="2000" dirty="0"/>
              <a:t>Done </a:t>
            </a:r>
            <a:r>
              <a:rPr lang="en-US" sz="2000" b="1" dirty="0"/>
              <a:t>in conjunction </a:t>
            </a:r>
            <a:r>
              <a:rPr lang="en-US" sz="2000" dirty="0"/>
              <a:t>with </a:t>
            </a:r>
            <a:r>
              <a:rPr lang="en-US" sz="2000" i="1" dirty="0"/>
              <a:t>Information Gathering</a:t>
            </a:r>
            <a:r>
              <a:rPr lang="en-US" sz="2000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EA021-8BB7-C3C5-4537-2ED2B0BF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 descr="A person in a purple suit&#10;&#10;AI-generated content may be incorrect.">
            <a:extLst>
              <a:ext uri="{FF2B5EF4-FFF2-40B4-BE49-F238E27FC236}">
                <a16:creationId xmlns:a16="http://schemas.microsoft.com/office/drawing/2014/main" id="{D4F1CE43-DD88-76E5-FF11-8117CAE8B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867" y="1420111"/>
            <a:ext cx="2472265" cy="247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12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0CC3-E946-0281-F540-DC159B29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A4DE-B772-8A1F-F1D4-D7307A29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Definition </a:t>
            </a:r>
            <a:r>
              <a:rPr lang="en-US" baseline="30000" dirty="0"/>
              <a:t>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7626-49E4-E7D3-370D-64034F35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Should be a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concise statement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the problem facing your sponsor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Focus on the source of the problem,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not the symptoms or solution,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Keep the language simple, avoid technical jargon,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Avoid detail, that will be fleshed out with customer needs.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Done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in conjunction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with Information Gathering.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Good:</a:t>
            </a:r>
            <a:br>
              <a:rPr lang="en-US" sz="2000" dirty="0"/>
            </a:br>
            <a:r>
              <a:rPr lang="en-US" sz="1800" dirty="0">
                <a:solidFill>
                  <a:schemeClr val="accent3"/>
                </a:solidFill>
              </a:rPr>
              <a:t>The Radiology Department at Texas A&amp;M Hospital experiences prolonged imaging turnaround times due to inefficiencies in the order processing workflow, resulting in delayed clinical decision-making.</a:t>
            </a:r>
            <a:endParaRPr lang="en-US" sz="20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Not so good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br>
              <a:rPr lang="en-US" sz="2000" dirty="0"/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The Radiology Department at Texas A&amp;M Hospital has many problems with imaging, staff availability, communication between departments, patient flow, and rising costs, which together negatively impact hospital efficiency and patient satisfaction.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04DD4-5301-879A-AABE-A694B83A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47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6111-E223-E7E5-5F4C-3AC115E9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Why this is stronger?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1BA1F-93DE-FA1D-D4C6-E5CEC1D5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25</a:t>
            </a:fld>
            <a:endParaRPr lang="en-US"/>
          </a:p>
        </p:txBody>
      </p:sp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937C5996-AC9B-6052-4A95-D7C97A7A6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301660"/>
            <a:ext cx="7772400" cy="1195753"/>
          </a:xfrm>
          <a:prstGeom prst="rect">
            <a:avLst/>
          </a:prstGeom>
        </p:spPr>
      </p:pic>
      <p:pic>
        <p:nvPicPr>
          <p:cNvPr id="12" name="Picture 11" descr="A hand with a thumb up&#10;&#10;AI-generated content may be incorrect.">
            <a:extLst>
              <a:ext uri="{FF2B5EF4-FFF2-40B4-BE49-F238E27FC236}">
                <a16:creationId xmlns:a16="http://schemas.microsoft.com/office/drawing/2014/main" id="{DB98A25D-AD7A-E968-2CF2-724F886F66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7217" y="4243308"/>
            <a:ext cx="2249566" cy="224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08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342E-D559-C42C-AA9C-50357E08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2C2A-3A19-5F41-F3D2-7DE430BC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Why this is stronger?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50541-7129-8203-DFDF-87E609ABB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627223"/>
            <a:ext cx="8120239" cy="3549740"/>
          </a:xfrm>
        </p:spPr>
        <p:txBody>
          <a:bodyPr>
            <a:normAutofit/>
          </a:bodyPr>
          <a:lstStyle/>
          <a:p>
            <a:r>
              <a:rPr lang="en-US" sz="2000" b="1" dirty="0"/>
              <a:t>Focuses</a:t>
            </a:r>
            <a:r>
              <a:rPr lang="en-US" sz="2000" dirty="0"/>
              <a:t> on a single, primary process (order processing workflow)</a:t>
            </a:r>
          </a:p>
          <a:p>
            <a:r>
              <a:rPr lang="en-US" sz="2000" dirty="0"/>
              <a:t>Names one </a:t>
            </a:r>
            <a:r>
              <a:rPr lang="en-US" sz="2000" b="1" dirty="0"/>
              <a:t>measurable</a:t>
            </a:r>
            <a:r>
              <a:rPr lang="en-US" sz="2000" dirty="0"/>
              <a:t> outcome (imaging turnaround time)</a:t>
            </a:r>
          </a:p>
          <a:p>
            <a:r>
              <a:rPr lang="en-US" sz="2000" b="1" dirty="0"/>
              <a:t>Avoids mixing </a:t>
            </a:r>
            <a:r>
              <a:rPr lang="en-US" sz="2000" dirty="0"/>
              <a:t>staffing, length of stay, and cost into the core problem</a:t>
            </a:r>
          </a:p>
          <a:p>
            <a:r>
              <a:rPr lang="en-US" sz="2000" dirty="0"/>
              <a:t>Creates a </a:t>
            </a:r>
            <a:r>
              <a:rPr lang="en-US" sz="2000" b="1" dirty="0"/>
              <a:t>clear target </a:t>
            </a:r>
            <a:r>
              <a:rPr lang="en-US" sz="2000" dirty="0"/>
              <a:t>for data collection and pipeline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15728-0986-E01E-CA6C-0442170A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F113EA02-A560-BCFA-5704-BC9B4D0B5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301660"/>
            <a:ext cx="7772400" cy="1195753"/>
          </a:xfrm>
          <a:prstGeom prst="rect">
            <a:avLst/>
          </a:prstGeom>
        </p:spPr>
      </p:pic>
      <p:pic>
        <p:nvPicPr>
          <p:cNvPr id="8" name="Picture 7" descr="A hand with a thumb up&#10;&#10;AI-generated content may be incorrect.">
            <a:extLst>
              <a:ext uri="{FF2B5EF4-FFF2-40B4-BE49-F238E27FC236}">
                <a16:creationId xmlns:a16="http://schemas.microsoft.com/office/drawing/2014/main" id="{C82D08F6-3B05-03BC-E984-3C02B703160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7217" y="4243308"/>
            <a:ext cx="2249566" cy="224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48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5484-4A25-5F11-F215-4505555F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170CCAB1-5FE0-5CA4-E45F-A42B46DE7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301660"/>
            <a:ext cx="7772400" cy="1295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F6F88-2003-9F4C-FFDF-CDA26D3B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Why this is "not so good"?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F6485-990A-FD2D-E37F-50785444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27</a:t>
            </a:fld>
            <a:endParaRPr lang="en-US"/>
          </a:p>
        </p:txBody>
      </p:sp>
      <p:pic>
        <p:nvPicPr>
          <p:cNvPr id="10" name="Picture 9" descr="A hand with a thumb up&#10;&#10;AI-generated content may be incorrect.">
            <a:extLst>
              <a:ext uri="{FF2B5EF4-FFF2-40B4-BE49-F238E27FC236}">
                <a16:creationId xmlns:a16="http://schemas.microsoft.com/office/drawing/2014/main" id="{F4C7667D-6458-249D-68BD-F3FF70A95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316126" flipV="1">
            <a:off x="3447216" y="3650792"/>
            <a:ext cx="2249566" cy="224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08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7F0A-47BF-3B84-2A59-D776BA613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with a thumb up&#10;&#10;AI-generated content may be incorrect.">
            <a:extLst>
              <a:ext uri="{FF2B5EF4-FFF2-40B4-BE49-F238E27FC236}">
                <a16:creationId xmlns:a16="http://schemas.microsoft.com/office/drawing/2014/main" id="{6C696AE2-C9E7-C005-C804-D76D9FA894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316126" flipV="1">
            <a:off x="3447216" y="3650792"/>
            <a:ext cx="2249566" cy="2249566"/>
          </a:xfrm>
          <a:prstGeom prst="rect">
            <a:avLst/>
          </a:prstGeom>
        </p:spPr>
      </p:pic>
      <p:pic>
        <p:nvPicPr>
          <p:cNvPr id="6" name="Picture 5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AFB1599F-D7D2-2AE9-CED7-D5F31DD5D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301660"/>
            <a:ext cx="7772400" cy="1295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5EE410-BDA8-01E1-87FB-929E1756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Why this is "not so good"?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149D-CB64-15A3-5703-E3C4317B8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98043"/>
            <a:ext cx="7886700" cy="3478919"/>
          </a:xfrm>
        </p:spPr>
        <p:txBody>
          <a:bodyPr>
            <a:normAutofit/>
          </a:bodyPr>
          <a:lstStyle/>
          <a:p>
            <a:r>
              <a:rPr lang="en-US" sz="2000" b="1" dirty="0"/>
              <a:t>Too broad:</a:t>
            </a:r>
            <a:r>
              <a:rPr lang="en-US" sz="2000" dirty="0"/>
              <a:t> bundles multiple domains (staffing, communication, flow, cost, satisfaction)</a:t>
            </a:r>
          </a:p>
          <a:p>
            <a:r>
              <a:rPr lang="en-US" sz="2000" b="1" dirty="0"/>
              <a:t>No clear process focus:</a:t>
            </a:r>
            <a:r>
              <a:rPr lang="en-US" sz="2000" dirty="0"/>
              <a:t> unclear what system or workflow should be instrumented</a:t>
            </a:r>
          </a:p>
          <a:p>
            <a:r>
              <a:rPr lang="en-US" sz="2000" b="1" dirty="0"/>
              <a:t>No measurable primary metric:</a:t>
            </a:r>
            <a:r>
              <a:rPr lang="en-US" sz="2000" dirty="0"/>
              <a:t> nothing specific to optimize or monitor</a:t>
            </a:r>
          </a:p>
          <a:p>
            <a:r>
              <a:rPr lang="en-US" sz="2000" b="1" dirty="0"/>
              <a:t>Hard to translate into a data pipeline:</a:t>
            </a:r>
            <a:r>
              <a:rPr lang="en-US" sz="2000" dirty="0"/>
              <a:t> unclear what data to collect, where, or why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This kind of statement is </a:t>
            </a:r>
            <a:r>
              <a:rPr lang="en-US" sz="2000" u="sng" dirty="0">
                <a:solidFill>
                  <a:schemeClr val="accent5"/>
                </a:solidFill>
              </a:rPr>
              <a:t>common in practice</a:t>
            </a:r>
            <a:r>
              <a:rPr lang="en-US" sz="2000" dirty="0">
                <a:solidFill>
                  <a:schemeClr val="accent5"/>
                </a:solidFill>
              </a:rPr>
              <a:t>.</a:t>
            </a:r>
            <a:br>
              <a:rPr lang="en-US" sz="2000" dirty="0">
                <a:solidFill>
                  <a:schemeClr val="accent5"/>
                </a:solidFill>
              </a:rPr>
            </a:br>
            <a:r>
              <a:rPr lang="en-US" sz="2000" dirty="0">
                <a:solidFill>
                  <a:schemeClr val="accent5"/>
                </a:solidFill>
              </a:rPr>
              <a:t>And it's exactly what makes data projects drift or fail.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1152B-3564-C8C5-24BA-C83FE883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26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541B-EDA2-FDB2-FA06-9345CAFF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CA1C3-B54B-F0D2-FF7F-8261D54B9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20239" cy="4351338"/>
          </a:xfrm>
        </p:spPr>
        <p:txBody>
          <a:bodyPr>
            <a:noAutofit/>
          </a:bodyPr>
          <a:lstStyle/>
          <a:p>
            <a:r>
              <a:rPr lang="en-US" sz="2000" dirty="0"/>
              <a:t>Likely discovered as part of problem definition development,</a:t>
            </a:r>
            <a:br>
              <a:rPr lang="en-US" sz="2000" dirty="0"/>
            </a:br>
            <a:r>
              <a:rPr lang="en-US" sz="2000" dirty="0"/>
              <a:t>but this allows you to expand on the problem definition with </a:t>
            </a:r>
            <a:r>
              <a:rPr lang="en-US" sz="2000" b="1" dirty="0"/>
              <a:t>statements of specific needs</a:t>
            </a:r>
          </a:p>
          <a:p>
            <a:r>
              <a:rPr lang="en-US" sz="2000" dirty="0"/>
              <a:t>Should be a </a:t>
            </a:r>
            <a:r>
              <a:rPr lang="en-US" sz="2000" b="1" dirty="0"/>
              <a:t>list of things </a:t>
            </a:r>
            <a:r>
              <a:rPr lang="en-US" sz="2000" dirty="0"/>
              <a:t>in clear, unambiguous, non-technical terms</a:t>
            </a:r>
          </a:p>
          <a:p>
            <a:r>
              <a:rPr lang="en-US" sz="2000" dirty="0"/>
              <a:t>May be </a:t>
            </a:r>
            <a:r>
              <a:rPr lang="en-US" sz="2000" b="1" dirty="0"/>
              <a:t>provided directly by the sponsor </a:t>
            </a:r>
            <a:r>
              <a:rPr lang="en-US" sz="2000" dirty="0"/>
              <a:t>or you may need to solicit and/or </a:t>
            </a:r>
            <a:r>
              <a:rPr lang="en-US" sz="2000" b="1" dirty="0"/>
              <a:t>interpret them from conversations </a:t>
            </a:r>
            <a:r>
              <a:rPr lang="en-US" sz="2000" dirty="0"/>
              <a:t>and other research</a:t>
            </a:r>
          </a:p>
          <a:p>
            <a:r>
              <a:rPr lang="en-US" sz="2000" dirty="0"/>
              <a:t>Number client needs for identification in </a:t>
            </a:r>
            <a:r>
              <a:rPr lang="en-US" sz="2000" b="1" dirty="0"/>
              <a:t>traceability</a:t>
            </a:r>
            <a:r>
              <a:rPr lang="en-US" sz="2000" dirty="0"/>
              <a:t> matrix</a:t>
            </a:r>
          </a:p>
          <a:p>
            <a:r>
              <a:rPr lang="en-US" sz="2000" dirty="0">
                <a:solidFill>
                  <a:srgbClr val="0070C0"/>
                </a:solidFill>
              </a:rPr>
              <a:t>The client needs...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N1</a:t>
            </a:r>
            <a:r>
              <a:rPr lang="en-US" sz="1800" dirty="0">
                <a:solidFill>
                  <a:srgbClr val="0070C0"/>
                </a:solidFill>
              </a:rPr>
              <a:t>: Awareness of data quality, security, and compliance risks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N2</a:t>
            </a:r>
            <a:r>
              <a:rPr lang="en-US" sz="1800" dirty="0">
                <a:solidFill>
                  <a:srgbClr val="0070C0"/>
                </a:solidFill>
              </a:rPr>
              <a:t>: Limited exposure to corrupted, incomplete, or inconsistent data in production systems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N3</a:t>
            </a:r>
            <a:r>
              <a:rPr lang="en-US" sz="1800" dirty="0">
                <a:solidFill>
                  <a:srgbClr val="0070C0"/>
                </a:solidFill>
              </a:rPr>
              <a:t>: A standardized process to increase adoption and correct usage of data pipelines and tools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N4</a:t>
            </a:r>
            <a:r>
              <a:rPr lang="en-US" sz="1800" dirty="0">
                <a:solidFill>
                  <a:srgbClr val="0070C0"/>
                </a:solidFill>
              </a:rPr>
              <a:t>: Fewer system and pipeline failures, reducing operational downtime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8642D-276C-988D-1526-79E65B64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67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A822-4C57-7C8F-BB9C-A795349E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66B7D-6F21-6544-E8AF-9271A2B00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34350" cy="4351338"/>
          </a:xfrm>
        </p:spPr>
        <p:txBody>
          <a:bodyPr>
            <a:noAutofit/>
          </a:bodyPr>
          <a:lstStyle/>
          <a:p>
            <a:r>
              <a:rPr lang="en-US" sz="2000" dirty="0"/>
              <a:t>Technical objectives should translate the customer needs and problem definition into actionable, measurable goals.</a:t>
            </a:r>
          </a:p>
          <a:p>
            <a:r>
              <a:rPr lang="en-US" sz="2000" dirty="0"/>
              <a:t>Each objective should be </a:t>
            </a:r>
            <a:r>
              <a:rPr lang="en-US" sz="2000" b="1" dirty="0"/>
              <a:t>Specific</a:t>
            </a:r>
            <a:r>
              <a:rPr lang="en-US" sz="2000" dirty="0"/>
              <a:t>, </a:t>
            </a:r>
            <a:r>
              <a:rPr lang="en-US" sz="2000" b="1" dirty="0"/>
              <a:t>Measurable</a:t>
            </a:r>
            <a:r>
              <a:rPr lang="en-US" sz="2000" dirty="0"/>
              <a:t>, </a:t>
            </a:r>
            <a:r>
              <a:rPr lang="en-US" sz="2000" b="1" dirty="0"/>
              <a:t>Achievable</a:t>
            </a:r>
            <a:r>
              <a:rPr lang="en-US" sz="2000" dirty="0"/>
              <a:t>, </a:t>
            </a:r>
            <a:r>
              <a:rPr lang="en-US" sz="2000" b="1" dirty="0"/>
              <a:t>Relevant</a:t>
            </a:r>
            <a:r>
              <a:rPr lang="en-US" sz="2000" dirty="0"/>
              <a:t>, and </a:t>
            </a:r>
            <a:r>
              <a:rPr lang="en-US" sz="2000" b="1" dirty="0"/>
              <a:t>Time-bound </a:t>
            </a:r>
            <a:r>
              <a:rPr lang="en-US" sz="2000" dirty="0"/>
              <a:t>(SMART).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780C6-F010-1DF7-0513-1C27EB54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 descr="A person wiping his face with a tissue&#10;&#10;AI-generated content may be incorrect.">
            <a:extLst>
              <a:ext uri="{FF2B5EF4-FFF2-40B4-BE49-F238E27FC236}">
                <a16:creationId xmlns:a16="http://schemas.microsoft.com/office/drawing/2014/main" id="{87B18A39-3A22-D9B3-B291-12366E449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32" y="3014311"/>
            <a:ext cx="2283435" cy="316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15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CB63C-DDCD-0946-5B1B-74F15245D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ping his face with a tissue&#10;&#10;AI-generated content may be incorrect.">
            <a:extLst>
              <a:ext uri="{FF2B5EF4-FFF2-40B4-BE49-F238E27FC236}">
                <a16:creationId xmlns:a16="http://schemas.microsoft.com/office/drawing/2014/main" id="{B96AC3DE-13A0-06BC-1C6B-889A438F15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5316232" y="3014311"/>
            <a:ext cx="2283435" cy="3162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86957F-A572-45E1-0574-14EBD3FD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B7992-5236-F06A-6AA6-0121BFCF0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34350" cy="4351338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Technical objectives should translate the customer needs and problem definition into actionable, measurable goals.</a:t>
            </a:r>
          </a:p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Each objective should be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Specific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Measurable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Achievable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Relevant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and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Time-bound 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(SMART).</a:t>
            </a:r>
          </a:p>
          <a:p>
            <a:r>
              <a:rPr lang="en-US" sz="2000" dirty="0"/>
              <a:t>Number TO's for </a:t>
            </a:r>
            <a:r>
              <a:rPr lang="en-US" sz="2000" b="1" dirty="0"/>
              <a:t>traceability </a:t>
            </a:r>
            <a:r>
              <a:rPr lang="en-US" sz="2000" dirty="0"/>
              <a:t>purposes.</a:t>
            </a:r>
          </a:p>
          <a:p>
            <a:r>
              <a:rPr lang="en-US" sz="2000" dirty="0"/>
              <a:t>Technical objectives </a:t>
            </a:r>
            <a:r>
              <a:rPr lang="en-US" sz="2000" b="1" dirty="0"/>
              <a:t>should address </a:t>
            </a:r>
            <a:r>
              <a:rPr lang="en-US" sz="2000" dirty="0"/>
              <a:t>how the project will solve the defined problem and satisfy the customer needs.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TO1</a:t>
            </a:r>
            <a:r>
              <a:rPr lang="en-US" sz="1800" dirty="0">
                <a:solidFill>
                  <a:srgbClr val="0070C0"/>
                </a:solidFill>
              </a:rPr>
              <a:t>: Reduce data pipeline failure rates (by xx%)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TO2</a:t>
            </a:r>
            <a:r>
              <a:rPr lang="en-US" sz="1800" dirty="0">
                <a:solidFill>
                  <a:srgbClr val="0070C0"/>
                </a:solidFill>
              </a:rPr>
              <a:t>: Increase engineer awareness of data quality and reliability risks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TO3</a:t>
            </a:r>
            <a:r>
              <a:rPr lang="en-US" sz="1800" dirty="0">
                <a:solidFill>
                  <a:srgbClr val="0070C0"/>
                </a:solidFill>
              </a:rPr>
              <a:t>: Improve automated workflow orchestration activation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TO4</a:t>
            </a:r>
            <a:r>
              <a:rPr lang="en-US" sz="1800" dirty="0">
                <a:solidFill>
                  <a:srgbClr val="0070C0"/>
                </a:solidFill>
              </a:rPr>
              <a:t>: Decrease system downtime (to less than xx)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TO5</a:t>
            </a:r>
            <a:r>
              <a:rPr lang="en-US" sz="1800" dirty="0">
                <a:solidFill>
                  <a:srgbClr val="0070C0"/>
                </a:solidFill>
              </a:rPr>
              <a:t>: Eliminate identified data leakage and schema integrity issues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/>
              <a:t>At this point your TO's may not have defined performance indicators, but </a:t>
            </a:r>
            <a:r>
              <a:rPr lang="en-US" sz="2000" b="1" dirty="0"/>
              <a:t>they will evolve as the project moves forward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2414-4560-E8F3-F864-83F43161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24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0A38-FAC9-CCC9-D87F-4AA222AE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Technical Objectives</a:t>
            </a:r>
            <a:br>
              <a:rPr lang="en-US" dirty="0"/>
            </a:br>
            <a:r>
              <a:rPr lang="en-US" dirty="0"/>
              <a:t>for Open-ended Research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5CF0D-6795-0E93-7D2C-FD5D359B9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Your goals should center around developing </a:t>
            </a:r>
            <a:r>
              <a:rPr lang="en-US" sz="2000" b="1" dirty="0"/>
              <a:t>knowledge</a:t>
            </a:r>
            <a:r>
              <a:rPr lang="en-US" sz="2000" dirty="0"/>
              <a:t>, </a:t>
            </a:r>
            <a:r>
              <a:rPr lang="en-US" sz="2000" b="1" dirty="0"/>
              <a:t>frameworks</a:t>
            </a:r>
            <a:r>
              <a:rPr lang="en-US" sz="2000" dirty="0"/>
              <a:t>, and </a:t>
            </a:r>
            <a:r>
              <a:rPr lang="en-US" sz="2000" b="1" dirty="0"/>
              <a:t>methodologies</a:t>
            </a:r>
            <a:r>
              <a:rPr lang="en-US" sz="2000" dirty="0"/>
              <a:t> that help </a:t>
            </a:r>
            <a:r>
              <a:rPr lang="en-US" sz="2000" u="sng" dirty="0"/>
              <a:t>answer</a:t>
            </a:r>
            <a:r>
              <a:rPr lang="en-US" sz="2000" dirty="0"/>
              <a:t> key questions or </a:t>
            </a:r>
            <a:r>
              <a:rPr lang="en-US" sz="2000" u="sng" dirty="0"/>
              <a:t>inform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decision-making</a:t>
            </a:r>
            <a:r>
              <a:rPr lang="en-US" sz="2000" dirty="0"/>
              <a:t>.</a:t>
            </a:r>
          </a:p>
          <a:p>
            <a:r>
              <a:rPr lang="en-US" sz="2000" dirty="0"/>
              <a:t>If your project is more research-focused, your objectives </a:t>
            </a:r>
            <a:r>
              <a:rPr lang="en-US" sz="2000" b="1" dirty="0"/>
              <a:t>may not have </a:t>
            </a:r>
            <a:r>
              <a:rPr lang="en-US" sz="2000" dirty="0"/>
              <a:t>quantifiable performance improvement criteria.</a:t>
            </a:r>
          </a:p>
          <a:p>
            <a:r>
              <a:rPr lang="en-US" sz="2000" dirty="0"/>
              <a:t>For research-driven projects, technical objectives should:</a:t>
            </a:r>
          </a:p>
          <a:p>
            <a:pPr lvl="1"/>
            <a:r>
              <a:rPr lang="en-US" sz="1600" b="1" dirty="0"/>
              <a:t>Define Key Questions</a:t>
            </a: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What are you trying to </a:t>
            </a:r>
            <a:r>
              <a:rPr lang="en-US" sz="1600" b="1" dirty="0">
                <a:solidFill>
                  <a:schemeClr val="accent5"/>
                </a:solidFill>
              </a:rPr>
              <a:t>discover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b="1" dirty="0">
                <a:solidFill>
                  <a:schemeClr val="accent5"/>
                </a:solidFill>
              </a:rPr>
              <a:t>validate</a:t>
            </a:r>
            <a:r>
              <a:rPr lang="en-US" sz="1600" dirty="0">
                <a:solidFill>
                  <a:schemeClr val="accent5"/>
                </a:solidFill>
              </a:rPr>
              <a:t>, or </a:t>
            </a:r>
            <a:r>
              <a:rPr lang="en-US" sz="1600" b="1" dirty="0">
                <a:solidFill>
                  <a:schemeClr val="accent5"/>
                </a:solidFill>
              </a:rPr>
              <a:t>understand</a:t>
            </a:r>
            <a:r>
              <a:rPr lang="en-US" sz="1600" dirty="0">
                <a:solidFill>
                  <a:schemeClr val="accent5"/>
                </a:solidFill>
              </a:rPr>
              <a:t>?</a:t>
            </a:r>
          </a:p>
          <a:p>
            <a:pPr lvl="1"/>
            <a:r>
              <a:rPr lang="en-US" sz="1600" b="1" dirty="0"/>
              <a:t>Establish Analytical Frameworks</a:t>
            </a: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What </a:t>
            </a:r>
            <a:r>
              <a:rPr lang="en-US" sz="1600" b="1" dirty="0">
                <a:solidFill>
                  <a:schemeClr val="accent5"/>
                </a:solidFill>
              </a:rPr>
              <a:t>methods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b="1" dirty="0">
                <a:solidFill>
                  <a:schemeClr val="accent5"/>
                </a:solidFill>
              </a:rPr>
              <a:t>models</a:t>
            </a:r>
            <a:r>
              <a:rPr lang="en-US" sz="1600" dirty="0">
                <a:solidFill>
                  <a:schemeClr val="accent5"/>
                </a:solidFill>
              </a:rPr>
              <a:t>, or </a:t>
            </a:r>
            <a:r>
              <a:rPr lang="en-US" sz="1600" b="1" dirty="0">
                <a:solidFill>
                  <a:schemeClr val="accent5"/>
                </a:solidFill>
              </a:rPr>
              <a:t>simulations</a:t>
            </a:r>
            <a:r>
              <a:rPr lang="en-US" sz="1600" dirty="0">
                <a:solidFill>
                  <a:schemeClr val="accent5"/>
                </a:solidFill>
              </a:rPr>
              <a:t> will you develop?</a:t>
            </a:r>
          </a:p>
          <a:p>
            <a:pPr lvl="1"/>
            <a:r>
              <a:rPr lang="en-US" sz="1600" b="1" dirty="0"/>
              <a:t>Characterize System Relationships</a:t>
            </a: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How do the </a:t>
            </a:r>
            <a:r>
              <a:rPr lang="en-US" sz="1600" b="1" dirty="0">
                <a:solidFill>
                  <a:schemeClr val="accent5"/>
                </a:solidFill>
              </a:rPr>
              <a:t>key factors </a:t>
            </a:r>
            <a:r>
              <a:rPr lang="en-US" sz="1600" dirty="0">
                <a:solidFill>
                  <a:schemeClr val="accent5"/>
                </a:solidFill>
              </a:rPr>
              <a:t>of your problem/system interact?</a:t>
            </a:r>
          </a:p>
          <a:p>
            <a:pPr lvl="1"/>
            <a:r>
              <a:rPr lang="en-US" sz="1600" b="1" dirty="0"/>
              <a:t>Develop Conceptual or Qualitative Deliverables</a:t>
            </a: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What </a:t>
            </a:r>
            <a:r>
              <a:rPr lang="en-US" sz="1600" b="1" dirty="0">
                <a:solidFill>
                  <a:schemeClr val="accent5"/>
                </a:solidFill>
              </a:rPr>
              <a:t>frameworks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b="1" dirty="0">
                <a:solidFill>
                  <a:schemeClr val="accent5"/>
                </a:solidFill>
              </a:rPr>
              <a:t>decision-support tools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b="1" dirty="0">
                <a:solidFill>
                  <a:schemeClr val="accent5"/>
                </a:solidFill>
              </a:rPr>
              <a:t>methodologies</a:t>
            </a:r>
            <a:r>
              <a:rPr lang="en-US" sz="1600" dirty="0">
                <a:solidFill>
                  <a:schemeClr val="accent5"/>
                </a:solidFill>
              </a:rPr>
              <a:t>, or </a:t>
            </a:r>
            <a:r>
              <a:rPr lang="en-US" sz="1600" b="1" dirty="0">
                <a:solidFill>
                  <a:schemeClr val="accent5"/>
                </a:solidFill>
              </a:rPr>
              <a:t>documentation</a:t>
            </a:r>
            <a:r>
              <a:rPr lang="en-US" sz="1600" dirty="0">
                <a:solidFill>
                  <a:schemeClr val="accent5"/>
                </a:solidFill>
              </a:rPr>
              <a:t> will </a:t>
            </a:r>
            <a:r>
              <a:rPr lang="en-US" sz="1600" u="sng" dirty="0">
                <a:solidFill>
                  <a:schemeClr val="accent5"/>
                </a:solidFill>
              </a:rPr>
              <a:t>your team generate</a:t>
            </a:r>
            <a:r>
              <a:rPr lang="en-US" sz="1600" dirty="0">
                <a:solidFill>
                  <a:schemeClr val="accent5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2000" dirty="0"/>
              <a:t>See the document posted on Canvas for examples.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D0E05-A75D-C10D-B92A-49CBD9AA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00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B5DA-3199-4699-A99F-8B2739E9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106C-7539-C4F2-4CE2-975709C5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  <a:br>
              <a:rPr lang="en-US" dirty="0"/>
            </a:br>
            <a:r>
              <a:rPr lang="en-US" sz="2700" dirty="0">
                <a:solidFill>
                  <a:schemeClr val="accent5"/>
                </a:solidFill>
              </a:rPr>
              <a:t>Research-Oriented Data Engineering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4D766-37A3-9B8E-05A8-84FA9ED2B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23312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Suppose your team is studying </a:t>
            </a:r>
            <a:r>
              <a:rPr lang="en-US" sz="1800" u="sng" dirty="0"/>
              <a:t>data pipeline reliability </a:t>
            </a:r>
            <a:r>
              <a:rPr lang="en-US" sz="1800" dirty="0"/>
              <a:t>in large-scale streaming systems. Your technical objectives might be:</a:t>
            </a:r>
          </a:p>
          <a:p>
            <a:r>
              <a:rPr lang="en-US" sz="1800" b="1" dirty="0"/>
              <a:t>Key Questions</a:t>
            </a:r>
            <a:br>
              <a:rPr lang="en-US" sz="1600" dirty="0"/>
            </a:br>
            <a:r>
              <a:rPr lang="en-US" sz="1400" b="1" dirty="0">
                <a:solidFill>
                  <a:schemeClr val="accent5"/>
                </a:solidFill>
              </a:rPr>
              <a:t>– What factors </a:t>
            </a:r>
            <a:r>
              <a:rPr lang="en-US" sz="1400" dirty="0">
                <a:solidFill>
                  <a:schemeClr val="accent5"/>
                </a:solidFill>
              </a:rPr>
              <a:t>most strongly influence end-to-end latency and data loss in a real-time streaming  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dirty="0">
                <a:solidFill>
                  <a:schemeClr val="accent5"/>
                </a:solidFill>
              </a:rPr>
              <a:t>   pipeline?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b="1" dirty="0">
                <a:solidFill>
                  <a:schemeClr val="accent5"/>
                </a:solidFill>
              </a:rPr>
              <a:t>– How do different </a:t>
            </a:r>
            <a:r>
              <a:rPr lang="en-US" sz="1400" dirty="0">
                <a:solidFill>
                  <a:schemeClr val="accent5"/>
                </a:solidFill>
              </a:rPr>
              <a:t>buffering strategies affect system stability under peak load?</a:t>
            </a:r>
          </a:p>
          <a:p>
            <a:r>
              <a:rPr lang="en-US" sz="1800" b="1" dirty="0"/>
              <a:t>Analytical Frameworks</a:t>
            </a:r>
            <a:br>
              <a:rPr lang="en-US" sz="1600" b="1" dirty="0"/>
            </a:br>
            <a:r>
              <a:rPr lang="en-US" sz="1400" b="1" dirty="0">
                <a:solidFill>
                  <a:schemeClr val="accent5"/>
                </a:solidFill>
              </a:rPr>
              <a:t>– Develop a benchmarking framework </a:t>
            </a:r>
            <a:r>
              <a:rPr lang="en-US" sz="1400" dirty="0">
                <a:solidFill>
                  <a:schemeClr val="accent5"/>
                </a:solidFill>
              </a:rPr>
              <a:t>to simulate varying data arrival rates and system loads.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b="1" dirty="0">
                <a:solidFill>
                  <a:schemeClr val="accent5"/>
                </a:solidFill>
              </a:rPr>
              <a:t>– Design experiments </a:t>
            </a:r>
            <a:r>
              <a:rPr lang="en-US" sz="1400" dirty="0">
                <a:solidFill>
                  <a:schemeClr val="accent5"/>
                </a:solidFill>
              </a:rPr>
              <a:t>using controlled workloads to compare multiple pipeline architectures.</a:t>
            </a:r>
          </a:p>
          <a:p>
            <a:r>
              <a:rPr lang="en-US" sz="1800" b="1" dirty="0"/>
              <a:t>System Relationships</a:t>
            </a:r>
            <a:br>
              <a:rPr lang="en-US" sz="1600" b="1" dirty="0"/>
            </a:br>
            <a:r>
              <a:rPr lang="en-US" sz="1400" b="1" dirty="0">
                <a:solidFill>
                  <a:schemeClr val="accent5"/>
                </a:solidFill>
              </a:rPr>
              <a:t>– Analyze how </a:t>
            </a:r>
            <a:r>
              <a:rPr lang="en-US" sz="1400" dirty="0">
                <a:solidFill>
                  <a:schemeClr val="accent5"/>
                </a:solidFill>
              </a:rPr>
              <a:t>ingestion rate, buffer size, and processing throughput interact to produce bottlenecks.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b="1" dirty="0">
                <a:solidFill>
                  <a:schemeClr val="accent5"/>
                </a:solidFill>
              </a:rPr>
              <a:t>– Model the relationship between </a:t>
            </a:r>
            <a:r>
              <a:rPr lang="en-US" sz="1400" dirty="0">
                <a:solidFill>
                  <a:schemeClr val="accent5"/>
                </a:solidFill>
              </a:rPr>
              <a:t>fault frequency and recovery time.</a:t>
            </a:r>
          </a:p>
          <a:p>
            <a:r>
              <a:rPr lang="en-US" sz="1800" b="1" dirty="0"/>
              <a:t>Conceptual or Qualitative Deliverables</a:t>
            </a:r>
            <a:br>
              <a:rPr lang="en-US" sz="1600" b="1" dirty="0"/>
            </a:br>
            <a:r>
              <a:rPr lang="en-US" sz="1400" b="1" dirty="0">
                <a:solidFill>
                  <a:schemeClr val="accent5"/>
                </a:solidFill>
              </a:rPr>
              <a:t>– Produce a decision framework that guides engineers </a:t>
            </a:r>
            <a:r>
              <a:rPr lang="en-US" sz="1400" dirty="0">
                <a:solidFill>
                  <a:schemeClr val="accent5"/>
                </a:solidFill>
              </a:rPr>
              <a:t>in selecting buffering and checkpointing strategies.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b="1" dirty="0">
                <a:solidFill>
                  <a:schemeClr val="accent5"/>
                </a:solidFill>
              </a:rPr>
              <a:t>– Create documentation that outlines best practices </a:t>
            </a:r>
            <a:r>
              <a:rPr lang="en-US" sz="1400" dirty="0">
                <a:solidFill>
                  <a:schemeClr val="accent5"/>
                </a:solidFill>
              </a:rPr>
              <a:t>for designing resilient streaming pipelines.</a:t>
            </a:r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A4232-5F1E-154B-65CF-1D7F32BB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711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382E-80C5-8469-B864-22B464A2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A7B34-5E12-5445-6E86-3AEB5C966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024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Traceability will ensure that your project is </a:t>
            </a:r>
            <a:r>
              <a:rPr lang="en-US" sz="2000" b="1" dirty="0"/>
              <a:t>on track </a:t>
            </a:r>
            <a:r>
              <a:rPr lang="en-US" sz="2000" dirty="0"/>
              <a:t>to meet your technical objectives.</a:t>
            </a:r>
          </a:p>
          <a:p>
            <a:r>
              <a:rPr lang="en-US" sz="2000" dirty="0"/>
              <a:t>At this point you should connect defined client needs to technical objectives in a </a:t>
            </a:r>
            <a:r>
              <a:rPr lang="en-US" sz="2000" b="1" dirty="0"/>
              <a:t>traceability matrix</a:t>
            </a:r>
            <a:r>
              <a:rPr lang="en-US" sz="2000" dirty="0"/>
              <a:t>.</a:t>
            </a:r>
          </a:p>
          <a:p>
            <a:r>
              <a:rPr lang="en-US" sz="2000" dirty="0"/>
              <a:t>Client needs will likely not map one-to-one to technical objectives,</a:t>
            </a:r>
            <a:br>
              <a:rPr lang="en-US" sz="2000" dirty="0"/>
            </a:br>
            <a:r>
              <a:rPr lang="en-US" sz="2000" dirty="0"/>
              <a:t>but </a:t>
            </a:r>
            <a:r>
              <a:rPr lang="en-US" sz="2000" b="1" dirty="0"/>
              <a:t>all client needs should map to at least one technical objective</a:t>
            </a:r>
            <a:r>
              <a:rPr lang="en-US" sz="2000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9870FA-8298-B701-ADA3-7E1C98A9F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68002"/>
              </p:ext>
            </p:extLst>
          </p:nvPr>
        </p:nvGraphicFramePr>
        <p:xfrm>
          <a:off x="1737360" y="4001294"/>
          <a:ext cx="566928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1379062338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838242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Client Needs 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Technical Objectives (TO)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6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N1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TO1, TO3, TO6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377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N2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TO2, TO4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92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22387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2CBD4-C6D7-1663-E9E7-297B1644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96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DCC6-C290-7279-A8CB-CF53450E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55F72-E6FE-0180-D884-3C0707E02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404514" cy="4351338"/>
          </a:xfrm>
        </p:spPr>
        <p:txBody>
          <a:bodyPr>
            <a:noAutofit/>
          </a:bodyPr>
          <a:lstStyle/>
          <a:p>
            <a:r>
              <a:rPr lang="en-US" sz="2200" dirty="0"/>
              <a:t>Let's try to make a short presentation: </a:t>
            </a:r>
            <a:r>
              <a:rPr lang="en-US" sz="2200" dirty="0">
                <a:highlight>
                  <a:srgbClr val="FFFF00"/>
                </a:highlight>
              </a:rPr>
              <a:t>Fri Sep 11 and/or Fri Sep 18</a:t>
            </a:r>
            <a:r>
              <a:rPr lang="en-US" sz="2200" dirty="0"/>
              <a:t>?</a:t>
            </a:r>
          </a:p>
          <a:p>
            <a:r>
              <a:rPr lang="en-US" sz="2200" dirty="0"/>
              <a:t>Teams can practice and we all (instructor + classmates) can provide input/feedback</a:t>
            </a:r>
          </a:p>
          <a:p>
            <a:r>
              <a:rPr lang="en-US" sz="2200" dirty="0"/>
              <a:t>Do not try to present everything you've learned so far</a:t>
            </a:r>
            <a:br>
              <a:rPr lang="en-US" sz="2200" dirty="0"/>
            </a:br>
            <a:r>
              <a:rPr lang="en-US" sz="2000" b="1" dirty="0"/>
              <a:t>(time is limited).</a:t>
            </a:r>
          </a:p>
          <a:p>
            <a:r>
              <a:rPr lang="en-US" sz="2200" dirty="0"/>
              <a:t>Appendix is for information you've gathered that might be relevant:</a:t>
            </a:r>
          </a:p>
          <a:p>
            <a:pPr lvl="1"/>
            <a:r>
              <a:rPr lang="en-US" sz="2000" dirty="0"/>
              <a:t>Reference information as necessary in presentation,</a:t>
            </a:r>
          </a:p>
          <a:p>
            <a:pPr lvl="1"/>
            <a:r>
              <a:rPr lang="en-US" sz="2000" dirty="0"/>
              <a:t>Don't present appendix slides,</a:t>
            </a:r>
          </a:p>
          <a:p>
            <a:pPr lvl="1"/>
            <a:r>
              <a:rPr lang="en-US" sz="2000" dirty="0"/>
              <a:t>Technical grade for Information Gathering </a:t>
            </a:r>
            <a:r>
              <a:rPr lang="en-US" sz="2000" b="1" dirty="0"/>
              <a:t>will be</a:t>
            </a:r>
            <a:r>
              <a:rPr lang="en-US" sz="2000" dirty="0"/>
              <a:t> partially based on appendix content.</a:t>
            </a:r>
          </a:p>
          <a:p>
            <a:r>
              <a:rPr lang="en-US" sz="2200" b="1" dirty="0"/>
              <a:t>Practice</a:t>
            </a:r>
            <a:r>
              <a:rPr lang="en-US" sz="2200" dirty="0"/>
              <a:t> your presentation, both individual parts and as a team!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53D59-56A0-7DD2-F9D3-339DF7B0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54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05B6-7097-454B-4524-591EEC67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Presentation Rubric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017F-9E99-6BFC-C0D5-B101597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5030786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Problem Definition &amp; Motivation</a:t>
            </a:r>
            <a:r>
              <a:rPr lang="en-US" sz="2400" dirty="0"/>
              <a:t>: Clearly defines the capstone problem, explains why it matters, and identifies the intended users, stakeholders, or business impact.</a:t>
            </a:r>
          </a:p>
          <a:p>
            <a:r>
              <a:rPr lang="en-US" sz="2400" b="1" dirty="0"/>
              <a:t>Project Scope &amp; Objectives</a:t>
            </a:r>
            <a:r>
              <a:rPr lang="en-US" sz="2400" dirty="0"/>
              <a:t>: Establishes realistic Phase 1 goals, specific deliverables, and clear boundaries for what is and is not included in the project.</a:t>
            </a:r>
          </a:p>
          <a:p>
            <a:r>
              <a:rPr lang="en-US" sz="2400" b="1" dirty="0"/>
              <a:t>Proposed Approach</a:t>
            </a:r>
            <a:r>
              <a:rPr lang="en-US" sz="2400" dirty="0"/>
              <a:t>: Presents a logical technical approach, including anticipated data sources, tools, methods, architecture, or analytical techniques.</a:t>
            </a:r>
          </a:p>
          <a:p>
            <a:r>
              <a:rPr lang="en-US" sz="2400" b="1" dirty="0"/>
              <a:t>Feasibility &amp; Planning</a:t>
            </a:r>
            <a:r>
              <a:rPr lang="en-US" sz="2400" dirty="0"/>
              <a:t>: Demonstrates that the project is achievable within the available time and resources, with appropriate milestones, responsibilities, and identified risks.</a:t>
            </a:r>
          </a:p>
          <a:p>
            <a:r>
              <a:rPr lang="en-US" sz="2400" b="1" dirty="0"/>
              <a:t>Presentation Quality</a:t>
            </a:r>
            <a:r>
              <a:rPr lang="en-US" sz="2400" dirty="0"/>
              <a:t>: Communicates the project clearly and professionally, with effective visuals, organized content, and the ability to respond thoughtfully to questions.</a:t>
            </a:r>
          </a:p>
        </p:txBody>
      </p:sp>
      <p:pic>
        <p:nvPicPr>
          <p:cNvPr id="5" name="Picture 4" descr="A calendar with a rubric&#10;&#10;AI-generated content may be incorrect.">
            <a:extLst>
              <a:ext uri="{FF2B5EF4-FFF2-40B4-BE49-F238E27FC236}">
                <a16:creationId xmlns:a16="http://schemas.microsoft.com/office/drawing/2014/main" id="{3A2653F3-562A-7B33-74CF-D15BB8398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106" y="173657"/>
            <a:ext cx="1750930" cy="151703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93B6-7C28-5048-DE75-79570E3C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391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FA57-AF27-EBFE-B489-3703F235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Drafting Questions &amp;</a:t>
            </a:r>
            <a:br>
              <a:rPr lang="en-US" dirty="0"/>
            </a:br>
            <a:r>
              <a:rPr lang="en-US" dirty="0"/>
              <a:t>Follow-up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28437-C1EA-2AB3-26AE-19CCE3EBD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specific and concise</a:t>
            </a:r>
            <a:br>
              <a:rPr lang="en-US" dirty="0"/>
            </a:br>
            <a:r>
              <a:rPr lang="en-US" dirty="0"/>
              <a:t>("What format should the dataset use?")</a:t>
            </a:r>
          </a:p>
          <a:p>
            <a:r>
              <a:rPr lang="en-US" dirty="0"/>
              <a:t>Prioritize by urgency and impact</a:t>
            </a:r>
            <a:br>
              <a:rPr lang="en-US" dirty="0"/>
            </a:br>
            <a:r>
              <a:rPr lang="en-US" dirty="0"/>
              <a:t>(critical path first)</a:t>
            </a:r>
          </a:p>
          <a:p>
            <a:r>
              <a:rPr lang="en-US" dirty="0"/>
              <a:t>Avoid assumptions;</a:t>
            </a:r>
            <a:br>
              <a:rPr lang="en-US" dirty="0"/>
            </a:br>
            <a:r>
              <a:rPr lang="en-US" dirty="0"/>
              <a:t>confirm facts ("</a:t>
            </a:r>
            <a:r>
              <a:rPr lang="en-US" i="1" dirty="0"/>
              <a:t>Can we assume ...?</a:t>
            </a:r>
            <a:r>
              <a:rPr lang="en-US" dirty="0"/>
              <a:t>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9AEDB-2C19-BE59-4D43-395098D2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9220-3286-3738-3F78-4B85FAF2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4BA95-04EB-D65A-00A3-8F7B43A3E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Greeting</a:t>
            </a:r>
            <a:r>
              <a:rPr lang="en-US" dirty="0"/>
              <a:t> – Address sponsor respectfully</a:t>
            </a:r>
          </a:p>
          <a:p>
            <a:r>
              <a:rPr lang="en-US" b="1" dirty="0"/>
              <a:t>Thank You </a:t>
            </a:r>
            <a:r>
              <a:rPr lang="en-US" dirty="0"/>
              <a:t>– Acknowledge time and input</a:t>
            </a:r>
          </a:p>
          <a:p>
            <a:r>
              <a:rPr lang="en-US" b="1" dirty="0"/>
              <a:t>Summary</a:t>
            </a:r>
            <a:r>
              <a:rPr lang="en-US" dirty="0"/>
              <a:t> – Recap key points from last meeting</a:t>
            </a:r>
          </a:p>
          <a:p>
            <a:r>
              <a:rPr lang="en-US" b="1" dirty="0"/>
              <a:t>Action Items </a:t>
            </a:r>
            <a:r>
              <a:rPr lang="en-US" dirty="0"/>
              <a:t>– List clarifications or next steps</a:t>
            </a:r>
          </a:p>
          <a:p>
            <a:r>
              <a:rPr lang="en-US" b="1" dirty="0"/>
              <a:t>Next Meeting Proposal </a:t>
            </a:r>
            <a:r>
              <a:rPr lang="en-US" dirty="0"/>
              <a:t>– Offer times/dates or request confirmation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48AC0-0993-83B8-690D-4D90F821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4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38775-8845-F746-32C3-A152DD7A7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C5B0-6C76-BCD4-3427-82D3438C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F243-5759-1D4C-F188-D705D5A00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single team email thread or project board</a:t>
            </a:r>
          </a:p>
          <a:p>
            <a:r>
              <a:rPr lang="en-US" dirty="0"/>
              <a:t>Confirm receipt and agreements in writing</a:t>
            </a:r>
          </a:p>
          <a:p>
            <a:r>
              <a:rPr lang="en-US" dirty="0"/>
              <a:t>Update faculty advisor on major changes or risks</a:t>
            </a:r>
          </a:p>
          <a:p>
            <a:r>
              <a:rPr lang="en-US" dirty="0"/>
              <a:t>Always cc-me </a:t>
            </a:r>
            <a:r>
              <a:rPr lang="en-US" dirty="0">
                <a:hlinkClick r:id="rId2"/>
              </a:rPr>
              <a:t>abuabara@tamu.edu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346FF-82D0-8628-88F3-1B4093E6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35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2ECF-6D84-DC72-B92C-82924E43E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15AD1-34CF-A3E2-2453-DB55CC6B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"Least But Not Last"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20605-5CA6-272F-397E-931BD67CD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keep meetings on track:</a:t>
            </a:r>
          </a:p>
          <a:p>
            <a:r>
              <a:rPr lang="en-US" dirty="0"/>
              <a:t>Group leaders will also be hosts on Zoom,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and they must remove anyone who does not behave appropriately.</a:t>
            </a:r>
          </a:p>
          <a:p>
            <a:r>
              <a:rPr lang="en-US" dirty="0"/>
              <a:t>Discuss within your group what the </a:t>
            </a:r>
            <a:r>
              <a:rPr lang="en-US" u="sng" dirty="0"/>
              <a:t>minimum expectations</a:t>
            </a:r>
            <a:r>
              <a:rPr lang="en-US" dirty="0"/>
              <a:t> should be, as this will affect everyone in the team!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D78CC-F8D7-E45A-F150-BAC98876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1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625</TotalTime>
  <Words>2762</Words>
  <Application>Microsoft Macintosh PowerPoint</Application>
  <PresentationFormat>On-screen Show (4:3)</PresentationFormat>
  <Paragraphs>305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Wingdings</vt:lpstr>
      <vt:lpstr>Office Theme</vt:lpstr>
      <vt:lpstr>Phase 1 Discover</vt:lpstr>
      <vt:lpstr>PowerPoint Presentation</vt:lpstr>
      <vt:lpstr>Bosses are firing Gen Z grads just months after hiring them</vt:lpstr>
      <vt:lpstr>Bosses are firing Gen Z grads just months after hiring them</vt:lpstr>
      <vt:lpstr>PowerPoint Presentation</vt:lpstr>
      <vt:lpstr>Reminder (of templates and more)</vt:lpstr>
      <vt:lpstr>Readings for Wed and Friday Lab</vt:lpstr>
      <vt:lpstr>Project Charter Capture Clear, Actionable Project Needs</vt:lpstr>
      <vt:lpstr>Sponsor Meeting Tips</vt:lpstr>
      <vt:lpstr>Sponsor Meeting Tips</vt:lpstr>
      <vt:lpstr>Sponsor Meeting Tips</vt:lpstr>
      <vt:lpstr>Sponsor Meeting Tips</vt:lpstr>
      <vt:lpstr>Sponsor Meeting Tips</vt:lpstr>
      <vt:lpstr>Sponsor Meeting Tips                !</vt:lpstr>
      <vt:lpstr>Team Dynamics</vt:lpstr>
      <vt:lpstr>Team Dynamics</vt:lpstr>
      <vt:lpstr>            Faculty Advisor</vt:lpstr>
      <vt:lpstr>Advisors Identifying and Approaching</vt:lpstr>
      <vt:lpstr>PowerPoint Presentation</vt:lpstr>
      <vt:lpstr>Phase 1 Discover</vt:lpstr>
      <vt:lpstr>Phase 1 Discover</vt:lpstr>
      <vt:lpstr>Information Gathering</vt:lpstr>
      <vt:lpstr>Problem Definition</vt:lpstr>
      <vt:lpstr>Problem Definition (Example)</vt:lpstr>
      <vt:lpstr>Why this is stronger?</vt:lpstr>
      <vt:lpstr>Why this is stronger?</vt:lpstr>
      <vt:lpstr>Why this is "not so good"?</vt:lpstr>
      <vt:lpstr>Why this is "not so good"?</vt:lpstr>
      <vt:lpstr>Client Needs</vt:lpstr>
      <vt:lpstr>Technical Objectives</vt:lpstr>
      <vt:lpstr>Technical Objectives</vt:lpstr>
      <vt:lpstr>Technical Objectives for Open-ended Research Projects</vt:lpstr>
      <vt:lpstr>Example Research-Oriented Data Engineering Project Objectives</vt:lpstr>
      <vt:lpstr>Traceability</vt:lpstr>
      <vt:lpstr>Short Presentation</vt:lpstr>
      <vt:lpstr>Phase 1 Presentation Rubric</vt:lpstr>
      <vt:lpstr>Drafting Questions &amp; Follow-up Messages</vt:lpstr>
      <vt:lpstr>Message Template</vt:lpstr>
      <vt:lpstr>Best Practices</vt:lpstr>
      <vt:lpstr>"Least But Not Last"</vt:lpstr>
    </vt:vector>
  </TitlesOfParts>
  <Manager/>
  <Company>TAMU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subject>DAEN 460</dc:subject>
  <dc:creator>Alexander Abuabara</dc:creator>
  <cp:keywords/>
  <dc:description/>
  <cp:lastModifiedBy>Alexander Abuabara</cp:lastModifiedBy>
  <cp:revision>84</cp:revision>
  <dcterms:created xsi:type="dcterms:W3CDTF">2026-01-26T19:08:04Z</dcterms:created>
  <dcterms:modified xsi:type="dcterms:W3CDTF">2026-09-02T13:57:42Z</dcterms:modified>
  <cp:category/>
</cp:coreProperties>
</file>