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69" r:id="rId2"/>
    <p:sldId id="264" r:id="rId3"/>
    <p:sldId id="267" r:id="rId4"/>
    <p:sldId id="271" r:id="rId5"/>
    <p:sldId id="261" r:id="rId6"/>
    <p:sldId id="25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04"/>
    <p:restoredTop sz="95037"/>
  </p:normalViewPr>
  <p:slideViewPr>
    <p:cSldViewPr>
      <p:cViewPr varScale="1">
        <p:scale>
          <a:sx n="88" d="100"/>
          <a:sy n="88" d="100"/>
        </p:scale>
        <p:origin x="9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047CF-CEAD-904A-BA0C-EFFB769BE3D3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6DEA2-95C8-DC45-9766-3765BAFE0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03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journey</a:t>
            </a:r>
          </a:p>
          <a:p>
            <a:r>
              <a:rPr lang="en-US" dirty="0"/>
              <a:t>- love happens</a:t>
            </a:r>
          </a:p>
          <a:p>
            <a:r>
              <a:rPr lang="en-US" dirty="0"/>
              <a:t>- 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7DB073-D0FA-5042-87CA-C19A442594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2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7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2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0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9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8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C308C-9ACA-584F-84FE-8669F1B216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4CFAA-3190-C248-BCC6-78580297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6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openxmlformats.org/officeDocument/2006/relationships/image" Target="../media/image3.jp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person standing next to a tree&#10;&#10;AI-generated content may be incorrect.">
            <a:extLst>
              <a:ext uri="{FF2B5EF4-FFF2-40B4-BE49-F238E27FC236}">
                <a16:creationId xmlns:a16="http://schemas.microsoft.com/office/drawing/2014/main" id="{A25FE8AC-5FE6-ED4C-CDB8-B5D477471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137" y="4455633"/>
            <a:ext cx="1660284" cy="2213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F59930-2DD0-7616-C254-B601AD1C4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0356" r="11139" b="22453"/>
          <a:stretch/>
        </p:blipFill>
        <p:spPr>
          <a:xfrm>
            <a:off x="7132320" y="4214655"/>
            <a:ext cx="2011680" cy="2643345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837052C7-FC66-4733-B8C1-33970718A588}"/>
              </a:ext>
            </a:extLst>
          </p:cNvPr>
          <p:cNvSpPr/>
          <p:nvPr/>
        </p:nvSpPr>
        <p:spPr>
          <a:xfrm rot="10800000">
            <a:off x="4393402" y="211430"/>
            <a:ext cx="361508" cy="6581553"/>
          </a:xfrm>
          <a:prstGeom prst="downArrow">
            <a:avLst>
              <a:gd name="adj1" fmla="val 50000"/>
              <a:gd name="adj2" fmla="val 7784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08A53-89AE-55C2-F284-5B3BE51651C4}"/>
              </a:ext>
            </a:extLst>
          </p:cNvPr>
          <p:cNvSpPr txBox="1"/>
          <p:nvPr/>
        </p:nvSpPr>
        <p:spPr>
          <a:xfrm>
            <a:off x="4567687" y="6519446"/>
            <a:ext cx="1962410" cy="338554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600" dirty="0"/>
              <a:t>born in Rio, 1976</a:t>
            </a:r>
          </a:p>
        </p:txBody>
      </p:sp>
      <p:pic>
        <p:nvPicPr>
          <p:cNvPr id="9" name="Picture 8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4661BBE4-E8ED-A509-5ECD-018931D75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9452" y="5199387"/>
            <a:ext cx="1985782" cy="1489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 descr="A person holding a baby&#10;&#10;AI-generated content may be incorrect.">
            <a:extLst>
              <a:ext uri="{FF2B5EF4-FFF2-40B4-BE49-F238E27FC236}">
                <a16:creationId xmlns:a16="http://schemas.microsoft.com/office/drawing/2014/main" id="{B40AED17-00E4-8DCD-FD54-F2B3B755C4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327" t="8788"/>
          <a:stretch/>
        </p:blipFill>
        <p:spPr>
          <a:xfrm>
            <a:off x="2741042" y="2352587"/>
            <a:ext cx="1554480" cy="24554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Picture 12" descr="A person and child taking a selfie&#10;&#10;AI-generated content may be incorrect.">
            <a:extLst>
              <a:ext uri="{FF2B5EF4-FFF2-40B4-BE49-F238E27FC236}">
                <a16:creationId xmlns:a16="http://schemas.microsoft.com/office/drawing/2014/main" id="{D2308FA0-D6C5-EAC5-AEB1-1752B89FD7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432" y="266663"/>
            <a:ext cx="1920240" cy="1920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14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7907390A-32CF-220E-3417-A8D2FFCAAED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764" r="11921" b="16826"/>
          <a:stretch/>
        </p:blipFill>
        <p:spPr>
          <a:xfrm>
            <a:off x="5922335" y="207197"/>
            <a:ext cx="2926080" cy="23917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550E95-C3A0-2DF7-A764-DC2B63D36DCA}"/>
              </a:ext>
            </a:extLst>
          </p:cNvPr>
          <p:cNvSpPr txBox="1"/>
          <p:nvPr/>
        </p:nvSpPr>
        <p:spPr>
          <a:xfrm>
            <a:off x="4567687" y="4317134"/>
            <a:ext cx="2923954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/>
              <a:t>move to </a:t>
            </a:r>
            <a:r>
              <a:rPr lang="en-US" sz="1200" b="1" dirty="0"/>
              <a:t>College Station</a:t>
            </a:r>
            <a:r>
              <a:rPr lang="en-US" sz="1200" dirty="0"/>
              <a:t>, 2007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BAD1AC-63F2-904D-2F07-F5D2B548E0CF}"/>
              </a:ext>
            </a:extLst>
          </p:cNvPr>
          <p:cNvSpPr txBox="1"/>
          <p:nvPr/>
        </p:nvSpPr>
        <p:spPr>
          <a:xfrm>
            <a:off x="4567687" y="3555932"/>
            <a:ext cx="4392180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/>
              <a:t>start </a:t>
            </a:r>
            <a:r>
              <a:rPr lang="en-US" sz="1200" b="1" dirty="0"/>
              <a:t>teaching research methods, statistics, and GIS.</a:t>
            </a:r>
            <a:r>
              <a:rPr lang="en-US" sz="1200" dirty="0"/>
              <a:t> 2017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F9A14-9E22-D2A4-64BC-CCACFEE2FC86}"/>
              </a:ext>
            </a:extLst>
          </p:cNvPr>
          <p:cNvSpPr txBox="1"/>
          <p:nvPr/>
        </p:nvSpPr>
        <p:spPr>
          <a:xfrm>
            <a:off x="4567687" y="5736355"/>
            <a:ext cx="2923954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graduate in </a:t>
            </a:r>
            <a:r>
              <a:rPr lang="en-US" sz="1200" b="1" dirty="0">
                <a:solidFill>
                  <a:srgbClr val="C00000"/>
                </a:solidFill>
              </a:rPr>
              <a:t>Civil Engineering</a:t>
            </a:r>
            <a:r>
              <a:rPr lang="en-US" sz="1200" dirty="0">
                <a:solidFill>
                  <a:srgbClr val="C00000"/>
                </a:solidFill>
              </a:rPr>
              <a:t>. 2001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69320-FB1E-CC59-C4B8-74CB41E8F482}"/>
              </a:ext>
            </a:extLst>
          </p:cNvPr>
          <p:cNvSpPr txBox="1"/>
          <p:nvPr/>
        </p:nvSpPr>
        <p:spPr>
          <a:xfrm>
            <a:off x="4567687" y="3238255"/>
            <a:ext cx="4392181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PhD in </a:t>
            </a:r>
            <a:r>
              <a:rPr lang="en-US" sz="1200" b="1" dirty="0">
                <a:solidFill>
                  <a:srgbClr val="C00000"/>
                </a:solidFill>
              </a:rPr>
              <a:t>Urban and Regional Science</a:t>
            </a:r>
            <a:r>
              <a:rPr lang="en-US" sz="1200" dirty="0">
                <a:solidFill>
                  <a:srgbClr val="C00000"/>
                </a:solidFill>
              </a:rPr>
              <a:t>. 2022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8D91E-69A1-A11E-4192-6EE9E6AFAC2D}"/>
              </a:ext>
            </a:extLst>
          </p:cNvPr>
          <p:cNvSpPr txBox="1"/>
          <p:nvPr/>
        </p:nvSpPr>
        <p:spPr>
          <a:xfrm>
            <a:off x="4567687" y="4656123"/>
            <a:ext cx="4392179" cy="461665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master in </a:t>
            </a:r>
            <a:r>
              <a:rPr lang="en-US" sz="1200" b="1" dirty="0">
                <a:solidFill>
                  <a:srgbClr val="C00000"/>
                </a:solidFill>
              </a:rPr>
              <a:t>Industrial Production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Engineering</a:t>
            </a:r>
            <a:r>
              <a:rPr lang="en-US" sz="1200" dirty="0">
                <a:solidFill>
                  <a:srgbClr val="C00000"/>
                </a:solidFill>
              </a:rPr>
              <a:t>. 2006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0BE25-948F-68DB-9557-9DAB0C0E4E26}"/>
              </a:ext>
            </a:extLst>
          </p:cNvPr>
          <p:cNvSpPr txBox="1"/>
          <p:nvPr/>
        </p:nvSpPr>
        <p:spPr>
          <a:xfrm>
            <a:off x="4567687" y="5199387"/>
            <a:ext cx="2298058" cy="461665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/>
              <a:t>work with </a:t>
            </a:r>
            <a:r>
              <a:rPr lang="en-US" sz="1200" b="1" dirty="0">
                <a:highlight>
                  <a:srgbClr val="FFFF00"/>
                </a:highlight>
              </a:rPr>
              <a:t>forecast models and logistics</a:t>
            </a:r>
            <a:r>
              <a:rPr lang="en-US" sz="1200" dirty="0"/>
              <a:t>. 2002-2005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BC6247-7826-01D9-C4C0-3396FB3F7B4B}"/>
              </a:ext>
            </a:extLst>
          </p:cNvPr>
          <p:cNvSpPr txBox="1"/>
          <p:nvPr/>
        </p:nvSpPr>
        <p:spPr>
          <a:xfrm>
            <a:off x="4567687" y="3873608"/>
            <a:ext cx="4392180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/>
              <a:t>start working with </a:t>
            </a:r>
            <a:r>
              <a:rPr lang="en-US" sz="1200" b="1" dirty="0"/>
              <a:t>hurricane evacuation studies</a:t>
            </a:r>
            <a:r>
              <a:rPr lang="en-US" sz="1200" dirty="0"/>
              <a:t>, 2015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1CEB0A-EE64-3614-6990-CC2D345A0AA3}"/>
              </a:ext>
            </a:extLst>
          </p:cNvPr>
          <p:cNvCxnSpPr>
            <a:cxnSpLocks/>
          </p:cNvCxnSpPr>
          <p:nvPr/>
        </p:nvCxnSpPr>
        <p:spPr>
          <a:xfrm flipH="1" flipV="1">
            <a:off x="4109776" y="5430219"/>
            <a:ext cx="457912" cy="1"/>
          </a:xfrm>
          <a:prstGeom prst="line">
            <a:avLst/>
          </a:prstGeom>
          <a:ln>
            <a:head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3109C50-B38E-5483-650F-AEEDBF681E78}"/>
              </a:ext>
            </a:extLst>
          </p:cNvPr>
          <p:cNvCxnSpPr>
            <a:cxnSpLocks/>
          </p:cNvCxnSpPr>
          <p:nvPr/>
        </p:nvCxnSpPr>
        <p:spPr>
          <a:xfrm flipH="1">
            <a:off x="4295553" y="3838352"/>
            <a:ext cx="272135" cy="0"/>
          </a:xfrm>
          <a:prstGeom prst="line">
            <a:avLst/>
          </a:prstGeom>
          <a:ln>
            <a:head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2747976-AEF8-C53A-E8B9-5EED47B29DCC}"/>
              </a:ext>
            </a:extLst>
          </p:cNvPr>
          <p:cNvCxnSpPr>
            <a:cxnSpLocks/>
          </p:cNvCxnSpPr>
          <p:nvPr/>
        </p:nvCxnSpPr>
        <p:spPr>
          <a:xfrm flipH="1">
            <a:off x="4576313" y="2598978"/>
            <a:ext cx="1346022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Down Arrow 36">
            <a:extLst>
              <a:ext uri="{FF2B5EF4-FFF2-40B4-BE49-F238E27FC236}">
                <a16:creationId xmlns:a16="http://schemas.microsoft.com/office/drawing/2014/main" id="{64749B3D-4FAA-B174-7F40-03A906808903}"/>
              </a:ext>
            </a:extLst>
          </p:cNvPr>
          <p:cNvSpPr/>
          <p:nvPr/>
        </p:nvSpPr>
        <p:spPr>
          <a:xfrm rot="10800000">
            <a:off x="4395559" y="209992"/>
            <a:ext cx="357195" cy="1907013"/>
          </a:xfrm>
          <a:prstGeom prst="downArrow">
            <a:avLst>
              <a:gd name="adj1" fmla="val 50000"/>
              <a:gd name="adj2" fmla="val 778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763B40-1091-BABC-69F4-8DC3D7A90375}"/>
              </a:ext>
            </a:extLst>
          </p:cNvPr>
          <p:cNvSpPr txBox="1"/>
          <p:nvPr/>
        </p:nvSpPr>
        <p:spPr>
          <a:xfrm>
            <a:off x="1940312" y="1014811"/>
            <a:ext cx="2639165" cy="830997"/>
          </a:xfrm>
          <a:prstGeom prst="rect">
            <a:avLst/>
          </a:prstGeom>
          <a:noFill/>
        </p:spPr>
        <p:txBody>
          <a:bodyPr wrap="square" lIns="182880" rIns="182880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finish a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marathon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not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algn="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prepare/publish my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textbook</a:t>
            </a:r>
            <a:b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become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fantastic professor</a:t>
            </a:r>
          </a:p>
          <a:p>
            <a:pPr algn="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see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 son grow up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E3F29C-F049-9C55-9182-745D38703C8E}"/>
              </a:ext>
            </a:extLst>
          </p:cNvPr>
          <p:cNvCxnSpPr>
            <a:cxnSpLocks/>
          </p:cNvCxnSpPr>
          <p:nvPr/>
        </p:nvCxnSpPr>
        <p:spPr>
          <a:xfrm flipH="1">
            <a:off x="2142751" y="2186903"/>
            <a:ext cx="2431404" cy="0"/>
          </a:xfrm>
          <a:prstGeom prst="line">
            <a:avLst/>
          </a:prstGeom>
          <a:ln>
            <a:head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person and person standing in front of a car&#10;&#10;AI-generated content may be incorrect.">
            <a:extLst>
              <a:ext uri="{FF2B5EF4-FFF2-40B4-BE49-F238E27FC236}">
                <a16:creationId xmlns:a16="http://schemas.microsoft.com/office/drawing/2014/main" id="{6C0DBC71-226D-5413-0DFE-F0708179A8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21259" t="12108" r="29581" b="18857"/>
          <a:stretch/>
        </p:blipFill>
        <p:spPr>
          <a:xfrm>
            <a:off x="473177" y="2455613"/>
            <a:ext cx="1920240" cy="1792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643FCB-B0E2-27B0-CAAD-353BE6821DAB}"/>
              </a:ext>
            </a:extLst>
          </p:cNvPr>
          <p:cNvSpPr txBox="1"/>
          <p:nvPr/>
        </p:nvSpPr>
        <p:spPr>
          <a:xfrm>
            <a:off x="4567687" y="2708824"/>
            <a:ext cx="4392181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b="1" dirty="0"/>
              <a:t>Instructional Assistant Professor</a:t>
            </a:r>
            <a:r>
              <a:rPr lang="en-US" sz="1200" dirty="0"/>
              <a:t>, </a:t>
            </a:r>
            <a:r>
              <a:rPr lang="en-US" sz="1200" b="1" dirty="0"/>
              <a:t>faculty senator</a:t>
            </a:r>
            <a:r>
              <a:rPr lang="en-US" sz="1200" dirty="0"/>
              <a:t>.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00E0C-AE1F-257E-6311-8509119EC0E0}"/>
              </a:ext>
            </a:extLst>
          </p:cNvPr>
          <p:cNvSpPr txBox="1"/>
          <p:nvPr/>
        </p:nvSpPr>
        <p:spPr>
          <a:xfrm>
            <a:off x="4567686" y="2968795"/>
            <a:ext cx="4392180" cy="276999"/>
          </a:xfrm>
          <a:prstGeom prst="rect">
            <a:avLst/>
          </a:prstGeom>
          <a:noFill/>
        </p:spPr>
        <p:txBody>
          <a:bodyPr wrap="square" lIns="182880" rtlCol="0">
            <a:spAutoFit/>
          </a:bodyPr>
          <a:lstStyle/>
          <a:p>
            <a:r>
              <a:rPr lang="en-US" sz="1200" dirty="0"/>
              <a:t>postdoc TAMU/NIST Risk Community Planning 2002-2023</a:t>
            </a:r>
          </a:p>
        </p:txBody>
      </p:sp>
    </p:spTree>
    <p:extLst>
      <p:ext uri="{BB962C8B-B14F-4D97-AF65-F5344CB8AC3E}">
        <p14:creationId xmlns:p14="http://schemas.microsoft.com/office/powerpoint/2010/main" val="212996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playing a game of backgammon&#10;&#10;AI-generated content may be incorrect.">
            <a:extLst>
              <a:ext uri="{FF2B5EF4-FFF2-40B4-BE49-F238E27FC236}">
                <a16:creationId xmlns:a16="http://schemas.microsoft.com/office/drawing/2014/main" id="{3C868EA5-B53E-17F3-2DE3-AF00127F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89000"/>
            <a:ext cx="7620000" cy="50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6B02C-7092-FE03-A0E7-AC89FFF00AFB}"/>
              </a:ext>
            </a:extLst>
          </p:cNvPr>
          <p:cNvSpPr txBox="1"/>
          <p:nvPr/>
        </p:nvSpPr>
        <p:spPr>
          <a:xfrm>
            <a:off x="762000" y="5969000"/>
            <a:ext cx="2610586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r>
              <a:rPr lang="en-US" sz="1200" dirty="0"/>
              <a:t>Street Games, </a:t>
            </a:r>
            <a:r>
              <a:rPr lang="en-US" sz="1200" dirty="0" err="1"/>
              <a:t>Echmiadzin</a:t>
            </a:r>
            <a:r>
              <a:rPr lang="en-US" sz="1200" dirty="0"/>
              <a:t>, Armenia</a:t>
            </a:r>
            <a:br>
              <a:rPr lang="en-US" sz="1200" dirty="0"/>
            </a:br>
            <a:r>
              <a:rPr lang="en-US" sz="1200" dirty="0"/>
              <a:t>Maciej </a:t>
            </a:r>
            <a:r>
              <a:rPr lang="en-US" sz="1200" dirty="0" err="1"/>
              <a:t>Dakowicz</a:t>
            </a:r>
            <a:r>
              <a:rPr lang="en-US" sz="1200" dirty="0"/>
              <a:t> 2017.07.06</a:t>
            </a:r>
          </a:p>
        </p:txBody>
      </p:sp>
    </p:spTree>
    <p:extLst>
      <p:ext uri="{BB962C8B-B14F-4D97-AF65-F5344CB8AC3E}">
        <p14:creationId xmlns:p14="http://schemas.microsoft.com/office/powerpoint/2010/main" val="263992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6802-CDF2-26F4-E019-51041CFD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playing a game of backgammon&#10;&#10;AI-generated content may be incorrect.">
            <a:extLst>
              <a:ext uri="{FF2B5EF4-FFF2-40B4-BE49-F238E27FC236}">
                <a16:creationId xmlns:a16="http://schemas.microsoft.com/office/drawing/2014/main" id="{7F8DEC8C-245D-259F-D546-2304312E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89000"/>
            <a:ext cx="7620000" cy="5080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CC06D03-3D0D-B4EB-2B38-91E69F7F0CD9}"/>
              </a:ext>
            </a:extLst>
          </p:cNvPr>
          <p:cNvSpPr/>
          <p:nvPr/>
        </p:nvSpPr>
        <p:spPr>
          <a:xfrm rot="1698551">
            <a:off x="2999755" y="3247054"/>
            <a:ext cx="2274277" cy="2773883"/>
          </a:xfrm>
          <a:custGeom>
            <a:avLst/>
            <a:gdLst>
              <a:gd name="csX0" fmla="*/ 0 w 2274277"/>
              <a:gd name="csY0" fmla="*/ 1386942 h 2773883"/>
              <a:gd name="csX1" fmla="*/ 1137139 w 2274277"/>
              <a:gd name="csY1" fmla="*/ 0 h 2773883"/>
              <a:gd name="csX2" fmla="*/ 2274278 w 2274277"/>
              <a:gd name="csY2" fmla="*/ 1386942 h 2773883"/>
              <a:gd name="csX3" fmla="*/ 1137139 w 2274277"/>
              <a:gd name="csY3" fmla="*/ 2773884 h 2773883"/>
              <a:gd name="csX4" fmla="*/ 0 w 2274277"/>
              <a:gd name="csY4" fmla="*/ 1386942 h 2773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4277" h="2773883" extrusionOk="0">
                <a:moveTo>
                  <a:pt x="0" y="1386942"/>
                </a:moveTo>
                <a:cubicBezTo>
                  <a:pt x="-46605" y="592208"/>
                  <a:pt x="484419" y="9269"/>
                  <a:pt x="1137139" y="0"/>
                </a:cubicBezTo>
                <a:cubicBezTo>
                  <a:pt x="1960829" y="41192"/>
                  <a:pt x="2148898" y="624942"/>
                  <a:pt x="2274278" y="1386942"/>
                </a:cubicBezTo>
                <a:cubicBezTo>
                  <a:pt x="2156441" y="2268003"/>
                  <a:pt x="1749506" y="2860429"/>
                  <a:pt x="1137139" y="2773884"/>
                </a:cubicBezTo>
                <a:cubicBezTo>
                  <a:pt x="333426" y="2677761"/>
                  <a:pt x="193478" y="2245374"/>
                  <a:pt x="0" y="1386942"/>
                </a:cubicBezTo>
                <a:close/>
              </a:path>
            </a:pathLst>
          </a:custGeom>
          <a:noFill/>
          <a:ln w="38100">
            <a:solidFill>
              <a:srgbClr val="C00000">
                <a:alpha val="69804"/>
              </a:srgb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421AB-2F00-3D3C-8D53-3BD69A8FF43D}"/>
              </a:ext>
            </a:extLst>
          </p:cNvPr>
          <p:cNvSpPr txBox="1"/>
          <p:nvPr/>
        </p:nvSpPr>
        <p:spPr>
          <a:xfrm>
            <a:off x="2465922" y="2810469"/>
            <a:ext cx="2821477" cy="492443"/>
          </a:xfrm>
          <a:prstGeom prst="rect">
            <a:avLst/>
          </a:prstGeom>
          <a:solidFill>
            <a:srgbClr val="7F7F7F">
              <a:alpha val="29804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PROBABILITIES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927ED-1918-CACA-36FD-504673BFC13D}"/>
              </a:ext>
            </a:extLst>
          </p:cNvPr>
          <p:cNvSpPr txBox="1"/>
          <p:nvPr/>
        </p:nvSpPr>
        <p:spPr>
          <a:xfrm>
            <a:off x="3069376" y="4449329"/>
            <a:ext cx="1021241" cy="369332"/>
          </a:xfrm>
          <a:prstGeom prst="rect">
            <a:avLst/>
          </a:prstGeom>
          <a:solidFill>
            <a:srgbClr val="7F7F7F">
              <a:alpha val="29804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6D06-CEB9-7F80-D3F5-E1262207F149}"/>
              </a:ext>
            </a:extLst>
          </p:cNvPr>
          <p:cNvSpPr txBox="1"/>
          <p:nvPr/>
        </p:nvSpPr>
        <p:spPr>
          <a:xfrm>
            <a:off x="2199074" y="889000"/>
            <a:ext cx="1891543" cy="492443"/>
          </a:xfrm>
          <a:prstGeom prst="rect">
            <a:avLst/>
          </a:prstGeom>
          <a:solidFill>
            <a:srgbClr val="7F7F7F">
              <a:alpha val="29804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THINKING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B80E5-2E77-414E-BB51-EEBE36BFF5A5}"/>
              </a:ext>
            </a:extLst>
          </p:cNvPr>
          <p:cNvSpPr txBox="1"/>
          <p:nvPr/>
        </p:nvSpPr>
        <p:spPr>
          <a:xfrm>
            <a:off x="6081986" y="899815"/>
            <a:ext cx="2295500" cy="492443"/>
          </a:xfrm>
          <a:prstGeom prst="rect">
            <a:avLst/>
          </a:prstGeom>
          <a:solidFill>
            <a:srgbClr val="7F7F7F">
              <a:alpha val="29804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INTRIGUING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57E8D-EE66-8250-E85D-16A570B026FE}"/>
              </a:ext>
            </a:extLst>
          </p:cNvPr>
          <p:cNvSpPr txBox="1"/>
          <p:nvPr/>
        </p:nvSpPr>
        <p:spPr>
          <a:xfrm>
            <a:off x="933690" y="3302912"/>
            <a:ext cx="2047740" cy="738664"/>
          </a:xfrm>
          <a:prstGeom prst="rect">
            <a:avLst/>
          </a:prstGeom>
          <a:solidFill>
            <a:srgbClr val="7F7F7F">
              <a:alpha val="29804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STORIES,</a:t>
            </a:r>
            <a:br>
              <a:rPr lang="en-US" sz="2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GENERATIONS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90F06-0D02-F329-B86C-A01968106E02}"/>
              </a:ext>
            </a:extLst>
          </p:cNvPr>
          <p:cNvSpPr txBox="1"/>
          <p:nvPr/>
        </p:nvSpPr>
        <p:spPr>
          <a:xfrm>
            <a:off x="762000" y="5969000"/>
            <a:ext cx="2610586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r>
              <a:rPr lang="en-US" sz="1200" dirty="0"/>
              <a:t>Street Games, </a:t>
            </a:r>
            <a:r>
              <a:rPr lang="en-US" sz="1200" dirty="0" err="1"/>
              <a:t>Echmiadzin</a:t>
            </a:r>
            <a:r>
              <a:rPr lang="en-US" sz="1200" dirty="0"/>
              <a:t>, Armenia</a:t>
            </a:r>
            <a:br>
              <a:rPr lang="en-US" sz="1200" dirty="0"/>
            </a:br>
            <a:r>
              <a:rPr lang="en-US" sz="1200" dirty="0"/>
              <a:t>Maciej </a:t>
            </a:r>
            <a:r>
              <a:rPr lang="en-US" sz="1200" dirty="0" err="1"/>
              <a:t>Dakowicz</a:t>
            </a:r>
            <a:r>
              <a:rPr lang="en-US" sz="1200" dirty="0"/>
              <a:t> 2017.07.06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0FC1E-CE3E-993E-A58C-D0AC8B737B89}"/>
              </a:ext>
            </a:extLst>
          </p:cNvPr>
          <p:cNvSpPr txBox="1"/>
          <p:nvPr/>
        </p:nvSpPr>
        <p:spPr>
          <a:xfrm>
            <a:off x="3144846" y="158447"/>
            <a:ext cx="285430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PARADIGMS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213BF3-239A-0A5F-0A95-9D5EB8B7C046}"/>
              </a:ext>
            </a:extLst>
          </p:cNvPr>
          <p:cNvSpPr txBox="1"/>
          <p:nvPr/>
        </p:nvSpPr>
        <p:spPr>
          <a:xfrm>
            <a:off x="5999154" y="235390"/>
            <a:ext cx="249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assumptions, concepts,</a:t>
            </a:r>
            <a:br>
              <a:rPr lang="en-US" sz="1200" dirty="0">
                <a:solidFill>
                  <a:srgbClr val="C00000"/>
                </a:solidFill>
              </a:rPr>
            </a:br>
            <a:r>
              <a:rPr lang="en-US" sz="1200" dirty="0">
                <a:solidFill>
                  <a:srgbClr val="C00000"/>
                </a:solidFill>
              </a:rPr>
              <a:t>values, and practices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B435B25-02B7-8979-F4D0-47D348ED1A81}"/>
              </a:ext>
            </a:extLst>
          </p:cNvPr>
          <p:cNvSpPr/>
          <p:nvPr/>
        </p:nvSpPr>
        <p:spPr>
          <a:xfrm rot="5400000">
            <a:off x="4434048" y="-3186166"/>
            <a:ext cx="275904" cy="8046723"/>
          </a:xfrm>
          <a:custGeom>
            <a:avLst/>
            <a:gdLst>
              <a:gd name="csX0" fmla="*/ 275904 w 275904"/>
              <a:gd name="csY0" fmla="*/ 8046723 h 8046723"/>
              <a:gd name="csX1" fmla="*/ 137952 w 275904"/>
              <a:gd name="csY1" fmla="*/ 8023732 h 8046723"/>
              <a:gd name="csX2" fmla="*/ 137952 w 275904"/>
              <a:gd name="csY2" fmla="*/ 7400609 h 8046723"/>
              <a:gd name="csX3" fmla="*/ 137952 w 275904"/>
              <a:gd name="csY3" fmla="*/ 6857034 h 8046723"/>
              <a:gd name="csX4" fmla="*/ 137952 w 275904"/>
              <a:gd name="csY4" fmla="*/ 6114590 h 8046723"/>
              <a:gd name="csX5" fmla="*/ 137952 w 275904"/>
              <a:gd name="csY5" fmla="*/ 5451694 h 8046723"/>
              <a:gd name="csX6" fmla="*/ 137952 w 275904"/>
              <a:gd name="csY6" fmla="*/ 4709250 h 8046723"/>
              <a:gd name="csX7" fmla="*/ 137952 w 275904"/>
              <a:gd name="csY7" fmla="*/ 4046353 h 8046723"/>
              <a:gd name="csX8" fmla="*/ 0 w 275904"/>
              <a:gd name="csY8" fmla="*/ 4023362 h 8046723"/>
              <a:gd name="csX9" fmla="*/ 137952 w 275904"/>
              <a:gd name="csY9" fmla="*/ 4000371 h 8046723"/>
              <a:gd name="csX10" fmla="*/ 137952 w 275904"/>
              <a:gd name="csY10" fmla="*/ 3337474 h 8046723"/>
              <a:gd name="csX11" fmla="*/ 137952 w 275904"/>
              <a:gd name="csY11" fmla="*/ 2793899 h 8046723"/>
              <a:gd name="csX12" fmla="*/ 137952 w 275904"/>
              <a:gd name="csY12" fmla="*/ 2091229 h 8046723"/>
              <a:gd name="csX13" fmla="*/ 137952 w 275904"/>
              <a:gd name="csY13" fmla="*/ 1547653 h 8046723"/>
              <a:gd name="csX14" fmla="*/ 137952 w 275904"/>
              <a:gd name="csY14" fmla="*/ 884757 h 8046723"/>
              <a:gd name="csX15" fmla="*/ 137952 w 275904"/>
              <a:gd name="csY15" fmla="*/ 22991 h 8046723"/>
              <a:gd name="csX16" fmla="*/ 275904 w 275904"/>
              <a:gd name="csY16" fmla="*/ 0 h 80467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5904" h="8046723" stroke="0" extrusionOk="0">
                <a:moveTo>
                  <a:pt x="275904" y="8046723"/>
                </a:moveTo>
                <a:cubicBezTo>
                  <a:pt x="198650" y="8046066"/>
                  <a:pt x="135841" y="8037222"/>
                  <a:pt x="137952" y="8023732"/>
                </a:cubicBezTo>
                <a:cubicBezTo>
                  <a:pt x="139800" y="7769942"/>
                  <a:pt x="174224" y="7600568"/>
                  <a:pt x="137952" y="7281288"/>
                </a:cubicBezTo>
                <a:cubicBezTo>
                  <a:pt x="101680" y="6962008"/>
                  <a:pt x="116860" y="6801569"/>
                  <a:pt x="137952" y="6658165"/>
                </a:cubicBezTo>
                <a:cubicBezTo>
                  <a:pt x="159044" y="6514761"/>
                  <a:pt x="128835" y="6352025"/>
                  <a:pt x="137952" y="6074816"/>
                </a:cubicBezTo>
                <a:cubicBezTo>
                  <a:pt x="147069" y="5797607"/>
                  <a:pt x="136484" y="5709232"/>
                  <a:pt x="137952" y="5372146"/>
                </a:cubicBezTo>
                <a:cubicBezTo>
                  <a:pt x="139421" y="5035060"/>
                  <a:pt x="141138" y="4952907"/>
                  <a:pt x="137952" y="4749023"/>
                </a:cubicBezTo>
                <a:cubicBezTo>
                  <a:pt x="134766" y="4545139"/>
                  <a:pt x="111619" y="4219745"/>
                  <a:pt x="137952" y="4046353"/>
                </a:cubicBezTo>
                <a:cubicBezTo>
                  <a:pt x="137077" y="4025310"/>
                  <a:pt x="69694" y="4032388"/>
                  <a:pt x="0" y="4023362"/>
                </a:cubicBezTo>
                <a:cubicBezTo>
                  <a:pt x="77139" y="4023894"/>
                  <a:pt x="140531" y="4013689"/>
                  <a:pt x="137952" y="4000371"/>
                </a:cubicBezTo>
                <a:cubicBezTo>
                  <a:pt x="140370" y="3832139"/>
                  <a:pt x="105784" y="3535158"/>
                  <a:pt x="137952" y="3257927"/>
                </a:cubicBezTo>
                <a:cubicBezTo>
                  <a:pt x="170120" y="2980696"/>
                  <a:pt x="167369" y="2893005"/>
                  <a:pt x="137952" y="2555256"/>
                </a:cubicBezTo>
                <a:cubicBezTo>
                  <a:pt x="108535" y="2217507"/>
                  <a:pt x="142093" y="2132591"/>
                  <a:pt x="137952" y="2011681"/>
                </a:cubicBezTo>
                <a:cubicBezTo>
                  <a:pt x="133811" y="1890771"/>
                  <a:pt x="149691" y="1510701"/>
                  <a:pt x="137952" y="1348784"/>
                </a:cubicBezTo>
                <a:cubicBezTo>
                  <a:pt x="126213" y="1186867"/>
                  <a:pt x="154465" y="938682"/>
                  <a:pt x="137952" y="685888"/>
                </a:cubicBezTo>
                <a:cubicBezTo>
                  <a:pt x="121439" y="433094"/>
                  <a:pt x="156391" y="259770"/>
                  <a:pt x="137952" y="22991"/>
                </a:cubicBezTo>
                <a:cubicBezTo>
                  <a:pt x="135730" y="10135"/>
                  <a:pt x="194138" y="-11368"/>
                  <a:pt x="275904" y="0"/>
                </a:cubicBezTo>
                <a:cubicBezTo>
                  <a:pt x="250068" y="193353"/>
                  <a:pt x="248383" y="450419"/>
                  <a:pt x="275904" y="590093"/>
                </a:cubicBezTo>
                <a:cubicBezTo>
                  <a:pt x="303425" y="729767"/>
                  <a:pt x="289501" y="894166"/>
                  <a:pt x="275904" y="1019252"/>
                </a:cubicBezTo>
                <a:cubicBezTo>
                  <a:pt x="262307" y="1144338"/>
                  <a:pt x="255867" y="1316478"/>
                  <a:pt x="275904" y="1528877"/>
                </a:cubicBezTo>
                <a:cubicBezTo>
                  <a:pt x="295941" y="1741276"/>
                  <a:pt x="257309" y="1976806"/>
                  <a:pt x="275904" y="2279905"/>
                </a:cubicBezTo>
                <a:cubicBezTo>
                  <a:pt x="294499" y="2583004"/>
                  <a:pt x="291034" y="2728564"/>
                  <a:pt x="275904" y="2869998"/>
                </a:cubicBezTo>
                <a:cubicBezTo>
                  <a:pt x="260774" y="3011432"/>
                  <a:pt x="297640" y="3170472"/>
                  <a:pt x="275904" y="3379624"/>
                </a:cubicBezTo>
                <a:cubicBezTo>
                  <a:pt x="254168" y="3588776"/>
                  <a:pt x="238853" y="3977299"/>
                  <a:pt x="275904" y="4130651"/>
                </a:cubicBezTo>
                <a:cubicBezTo>
                  <a:pt x="312955" y="4284003"/>
                  <a:pt x="244908" y="4630538"/>
                  <a:pt x="275904" y="4801211"/>
                </a:cubicBezTo>
                <a:cubicBezTo>
                  <a:pt x="306900" y="4971884"/>
                  <a:pt x="259106" y="5335725"/>
                  <a:pt x="275904" y="5471772"/>
                </a:cubicBezTo>
                <a:cubicBezTo>
                  <a:pt x="292702" y="5607819"/>
                  <a:pt x="265949" y="6135390"/>
                  <a:pt x="275904" y="6303266"/>
                </a:cubicBezTo>
                <a:cubicBezTo>
                  <a:pt x="285859" y="6471142"/>
                  <a:pt x="276177" y="6874051"/>
                  <a:pt x="275904" y="7054294"/>
                </a:cubicBezTo>
                <a:cubicBezTo>
                  <a:pt x="275631" y="7234537"/>
                  <a:pt x="322881" y="7647923"/>
                  <a:pt x="275904" y="8046723"/>
                </a:cubicBezTo>
                <a:close/>
              </a:path>
              <a:path w="275904" h="8046723" fill="none" extrusionOk="0">
                <a:moveTo>
                  <a:pt x="275904" y="8046723"/>
                </a:moveTo>
                <a:cubicBezTo>
                  <a:pt x="200334" y="8046829"/>
                  <a:pt x="136286" y="8037039"/>
                  <a:pt x="137952" y="8023732"/>
                </a:cubicBezTo>
                <a:cubicBezTo>
                  <a:pt x="119221" y="7792501"/>
                  <a:pt x="107301" y="7698886"/>
                  <a:pt x="137952" y="7400609"/>
                </a:cubicBezTo>
                <a:cubicBezTo>
                  <a:pt x="168603" y="7102332"/>
                  <a:pt x="117954" y="7020218"/>
                  <a:pt x="137952" y="6857034"/>
                </a:cubicBezTo>
                <a:cubicBezTo>
                  <a:pt x="157950" y="6693851"/>
                  <a:pt x="151159" y="6279935"/>
                  <a:pt x="137952" y="6114590"/>
                </a:cubicBezTo>
                <a:cubicBezTo>
                  <a:pt x="124745" y="5949245"/>
                  <a:pt x="134651" y="5671287"/>
                  <a:pt x="137952" y="5451694"/>
                </a:cubicBezTo>
                <a:cubicBezTo>
                  <a:pt x="141253" y="5232101"/>
                  <a:pt x="152115" y="5001418"/>
                  <a:pt x="137952" y="4709250"/>
                </a:cubicBezTo>
                <a:cubicBezTo>
                  <a:pt x="123789" y="4417082"/>
                  <a:pt x="144806" y="4179111"/>
                  <a:pt x="137952" y="4046353"/>
                </a:cubicBezTo>
                <a:cubicBezTo>
                  <a:pt x="129331" y="4024417"/>
                  <a:pt x="87561" y="4032519"/>
                  <a:pt x="0" y="4023362"/>
                </a:cubicBezTo>
                <a:cubicBezTo>
                  <a:pt x="74206" y="4023916"/>
                  <a:pt x="136481" y="4013585"/>
                  <a:pt x="137952" y="4000371"/>
                </a:cubicBezTo>
                <a:cubicBezTo>
                  <a:pt x="151329" y="3797610"/>
                  <a:pt x="110082" y="3487051"/>
                  <a:pt x="137952" y="3337474"/>
                </a:cubicBezTo>
                <a:cubicBezTo>
                  <a:pt x="165822" y="3187897"/>
                  <a:pt x="138574" y="2995892"/>
                  <a:pt x="137952" y="2793899"/>
                </a:cubicBezTo>
                <a:cubicBezTo>
                  <a:pt x="137330" y="2591907"/>
                  <a:pt x="134872" y="2401992"/>
                  <a:pt x="137952" y="2091229"/>
                </a:cubicBezTo>
                <a:cubicBezTo>
                  <a:pt x="141033" y="1780466"/>
                  <a:pt x="118213" y="1713208"/>
                  <a:pt x="137952" y="1547653"/>
                </a:cubicBezTo>
                <a:cubicBezTo>
                  <a:pt x="157691" y="1382098"/>
                  <a:pt x="124350" y="1047092"/>
                  <a:pt x="137952" y="884757"/>
                </a:cubicBezTo>
                <a:cubicBezTo>
                  <a:pt x="151554" y="722422"/>
                  <a:pt x="144509" y="388686"/>
                  <a:pt x="137952" y="22991"/>
                </a:cubicBezTo>
                <a:cubicBezTo>
                  <a:pt x="136783" y="13212"/>
                  <a:pt x="187621" y="2906"/>
                  <a:pt x="275904" y="0"/>
                </a:cubicBezTo>
              </a:path>
              <a:path w="275904" h="8046723" fill="none" stroke="0" extrusionOk="0">
                <a:moveTo>
                  <a:pt x="275904" y="8046723"/>
                </a:moveTo>
                <a:cubicBezTo>
                  <a:pt x="198294" y="8047035"/>
                  <a:pt x="137799" y="8036908"/>
                  <a:pt x="137952" y="8023732"/>
                </a:cubicBezTo>
                <a:cubicBezTo>
                  <a:pt x="157252" y="7891998"/>
                  <a:pt x="122251" y="7660310"/>
                  <a:pt x="137952" y="7480157"/>
                </a:cubicBezTo>
                <a:cubicBezTo>
                  <a:pt x="153653" y="7300005"/>
                  <a:pt x="142470" y="6918721"/>
                  <a:pt x="137952" y="6777487"/>
                </a:cubicBezTo>
                <a:cubicBezTo>
                  <a:pt x="133435" y="6636253"/>
                  <a:pt x="139260" y="6404847"/>
                  <a:pt x="137952" y="6154364"/>
                </a:cubicBezTo>
                <a:cubicBezTo>
                  <a:pt x="136644" y="5903881"/>
                  <a:pt x="159859" y="5800142"/>
                  <a:pt x="137952" y="5491467"/>
                </a:cubicBezTo>
                <a:cubicBezTo>
                  <a:pt x="116045" y="5182792"/>
                  <a:pt x="168731" y="4930337"/>
                  <a:pt x="137952" y="4749023"/>
                </a:cubicBezTo>
                <a:cubicBezTo>
                  <a:pt x="107173" y="4567709"/>
                  <a:pt x="149461" y="4293323"/>
                  <a:pt x="137952" y="4046353"/>
                </a:cubicBezTo>
                <a:cubicBezTo>
                  <a:pt x="137496" y="4032168"/>
                  <a:pt x="78335" y="4023430"/>
                  <a:pt x="0" y="4023362"/>
                </a:cubicBezTo>
                <a:cubicBezTo>
                  <a:pt x="78364" y="4025616"/>
                  <a:pt x="139464" y="4014517"/>
                  <a:pt x="137952" y="4000371"/>
                </a:cubicBezTo>
                <a:cubicBezTo>
                  <a:pt x="157789" y="3758258"/>
                  <a:pt x="126071" y="3526080"/>
                  <a:pt x="137952" y="3377248"/>
                </a:cubicBezTo>
                <a:cubicBezTo>
                  <a:pt x="149833" y="3228416"/>
                  <a:pt x="144016" y="2963914"/>
                  <a:pt x="137952" y="2833673"/>
                </a:cubicBezTo>
                <a:cubicBezTo>
                  <a:pt x="131888" y="2703432"/>
                  <a:pt x="146349" y="2415922"/>
                  <a:pt x="137952" y="2170776"/>
                </a:cubicBezTo>
                <a:cubicBezTo>
                  <a:pt x="129555" y="1925630"/>
                  <a:pt x="162192" y="1748557"/>
                  <a:pt x="137952" y="1587427"/>
                </a:cubicBezTo>
                <a:cubicBezTo>
                  <a:pt x="113712" y="1426297"/>
                  <a:pt x="155635" y="1216443"/>
                  <a:pt x="137952" y="924530"/>
                </a:cubicBezTo>
                <a:cubicBezTo>
                  <a:pt x="120269" y="632617"/>
                  <a:pt x="110481" y="314090"/>
                  <a:pt x="137952" y="22991"/>
                </a:cubicBezTo>
                <a:cubicBezTo>
                  <a:pt x="148117" y="-706"/>
                  <a:pt x="208931" y="11330"/>
                  <a:pt x="275904" y="0"/>
                </a:cubicBezTo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5FB5F-6CEA-23B6-95DF-4F46DE1FFD22}"/>
              </a:ext>
            </a:extLst>
          </p:cNvPr>
          <p:cNvSpPr txBox="1"/>
          <p:nvPr/>
        </p:nvSpPr>
        <p:spPr>
          <a:xfrm>
            <a:off x="2231923" y="5424834"/>
            <a:ext cx="624566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By interpreting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from different perspectives,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we transform mere </a:t>
            </a:r>
            <a:r>
              <a:rPr lang="en-US" b="1" dirty="0">
                <a:solidFill>
                  <a:srgbClr val="C00000"/>
                </a:solidFill>
              </a:rPr>
              <a:t>information</a:t>
            </a:r>
            <a:r>
              <a:rPr lang="en-US" dirty="0">
                <a:solidFill>
                  <a:srgbClr val="C00000"/>
                </a:solidFill>
              </a:rPr>
              <a:t> into wisdom,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allowing us to </a:t>
            </a:r>
            <a:r>
              <a:rPr lang="en-US" b="1" dirty="0">
                <a:solidFill>
                  <a:srgbClr val="C00000"/>
                </a:solidFill>
              </a:rPr>
              <a:t>model </a:t>
            </a:r>
            <a:r>
              <a:rPr lang="en-US" dirty="0">
                <a:solidFill>
                  <a:srgbClr val="C00000"/>
                </a:solidFill>
              </a:rPr>
              <a:t>the future with </a:t>
            </a:r>
            <a:r>
              <a:rPr lang="en-US" b="1" dirty="0">
                <a:solidFill>
                  <a:srgbClr val="C00000"/>
                </a:solidFill>
              </a:rPr>
              <a:t>clarity</a:t>
            </a:r>
            <a:r>
              <a:rPr lang="en-US" dirty="0">
                <a:solidFill>
                  <a:srgbClr val="C00000"/>
                </a:solidFill>
              </a:rPr>
              <a:t> and </a:t>
            </a:r>
            <a:r>
              <a:rPr lang="en-US" b="1" dirty="0">
                <a:solidFill>
                  <a:srgbClr val="C00000"/>
                </a:solidFill>
              </a:rPr>
              <a:t>intention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75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124C-5F61-072B-9646-C25D3B51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not problem-solving?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65F85-938D-EC2E-44DB-E055D82F9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92563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in lists of key </a:t>
            </a:r>
            <a:r>
              <a:rPr lang="en-US" i="1" dirty="0"/>
              <a:t>employability skills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problem solving </a:t>
            </a:r>
            <a:r>
              <a:rPr lang="en-US" dirty="0"/>
              <a:t>usually appears </a:t>
            </a:r>
            <a:br>
              <a:rPr lang="en-US" dirty="0"/>
            </a:br>
            <a:r>
              <a:rPr lang="en-US" dirty="0"/>
              <a:t>					</a:t>
            </a:r>
            <a:r>
              <a:rPr lang="en-US" b="1" dirty="0"/>
              <a:t>at the top </a:t>
            </a:r>
            <a:r>
              <a:rPr lang="en-US" baseline="30000" dirty="0"/>
              <a:t>(that makes sense)</a:t>
            </a:r>
            <a:endParaRPr lang="en-US" dirty="0"/>
          </a:p>
          <a:p>
            <a:r>
              <a:rPr lang="en-US" dirty="0"/>
              <a:t>what is the difference between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problem-solving</a:t>
            </a:r>
            <a:r>
              <a:rPr lang="en-US" dirty="0"/>
              <a:t> and </a:t>
            </a:r>
            <a:r>
              <a:rPr lang="en-US" b="1" dirty="0"/>
              <a:t>problem-structuring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r>
              <a:rPr lang="en-US" dirty="0"/>
              <a:t>the key to answering this question is not in a protracted wrangle about the differences but in examining the nature of problems</a:t>
            </a:r>
          </a:p>
          <a:p>
            <a:r>
              <a:rPr lang="en-US" i="1" dirty="0"/>
              <a:t>problem-structuring </a:t>
            </a:r>
            <a:r>
              <a:rPr lang="en-US" dirty="0"/>
              <a:t>involves </a:t>
            </a:r>
            <a:r>
              <a:rPr lang="en-US" b="1" dirty="0"/>
              <a:t>defining</a:t>
            </a:r>
            <a:r>
              <a:rPr lang="en-US" dirty="0"/>
              <a:t>, </a:t>
            </a:r>
            <a:r>
              <a:rPr lang="en-US" b="1" dirty="0"/>
              <a:t>organizing</a:t>
            </a:r>
            <a:r>
              <a:rPr lang="en-US" dirty="0"/>
              <a:t>, and </a:t>
            </a:r>
            <a:r>
              <a:rPr lang="en-US" b="1" dirty="0"/>
              <a:t>clarifying </a:t>
            </a:r>
            <a:r>
              <a:rPr lang="en-US" dirty="0"/>
              <a:t>a problem </a:t>
            </a:r>
            <a:r>
              <a:rPr lang="en-US" b="1" dirty="0"/>
              <a:t>before</a:t>
            </a:r>
            <a:r>
              <a:rPr lang="en-US" dirty="0"/>
              <a:t> attempting to solve it, ensuring a </a:t>
            </a:r>
            <a:r>
              <a:rPr lang="en-US" u="sng" dirty="0"/>
              <a:t>more effective 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3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3511-7697-4B78-3076-CA1FEED9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 i making you data engineer?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FA2DAE-BB15-51EB-2A4A-C975A06CE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275" y="1825625"/>
            <a:ext cx="42174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6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12A029-F095-77A8-72A2-168FCA57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30" y="1391450"/>
            <a:ext cx="8490140" cy="40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8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745</TotalTime>
  <Words>263</Words>
  <Application>Microsoft Macintosh PowerPoint</Application>
  <PresentationFormat>On-screen Show (4:3)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why not problem-solving?</vt:lpstr>
      <vt:lpstr>am i making you data engineer?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Abuabara</dc:creator>
  <cp:lastModifiedBy>Alexander Abuabara</cp:lastModifiedBy>
  <cp:revision>12</cp:revision>
  <dcterms:created xsi:type="dcterms:W3CDTF">2026-08-22T17:38:00Z</dcterms:created>
  <dcterms:modified xsi:type="dcterms:W3CDTF">2026-08-23T06:03:31Z</dcterms:modified>
</cp:coreProperties>
</file>