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72" r:id="rId14"/>
    <p:sldId id="268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CD3"/>
    <a:srgbClr val="FFD8AC"/>
    <a:srgbClr val="4B1211"/>
    <a:srgbClr val="F2F2F2"/>
    <a:srgbClr val="FFEBE2"/>
    <a:srgbClr val="FFC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19"/>
    <p:restoredTop sz="96018"/>
  </p:normalViewPr>
  <p:slideViewPr>
    <p:cSldViewPr snapToGrid="0">
      <p:cViewPr varScale="1">
        <p:scale>
          <a:sx n="116" d="100"/>
          <a:sy n="116" d="100"/>
        </p:scale>
        <p:origin x="29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328C73-E2FC-D14E-8E81-34A51465A2B4}" type="doc">
      <dgm:prSet loTypeId="urn:microsoft.com/office/officeart/2005/8/layout/process1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855BE18-11BF-9345-BA9D-F2A2A11B0213}">
      <dgm:prSet phldrT="[Text]"/>
      <dgm:spPr/>
      <dgm:t>
        <a:bodyPr/>
        <a:lstStyle/>
        <a:p>
          <a:r>
            <a:rPr lang="en-US" b="1" dirty="0"/>
            <a:t>CONTEXT</a:t>
          </a:r>
        </a:p>
      </dgm:t>
    </dgm:pt>
    <dgm:pt modelId="{741409C7-5E4E-F449-9E45-1C56C8C7907F}" type="parTrans" cxnId="{13D0D265-ED7B-9C46-891A-F24126EFF3D9}">
      <dgm:prSet/>
      <dgm:spPr/>
      <dgm:t>
        <a:bodyPr/>
        <a:lstStyle/>
        <a:p>
          <a:endParaRPr lang="en-US" b="1"/>
        </a:p>
      </dgm:t>
    </dgm:pt>
    <dgm:pt modelId="{2889FAEF-B5F4-5E44-9978-572A21F1E619}" type="sibTrans" cxnId="{13D0D265-ED7B-9C46-891A-F24126EFF3D9}">
      <dgm:prSet/>
      <dgm:spPr/>
      <dgm:t>
        <a:bodyPr/>
        <a:lstStyle/>
        <a:p>
          <a:endParaRPr lang="en-US" b="1"/>
        </a:p>
      </dgm:t>
    </dgm:pt>
    <dgm:pt modelId="{7B3452C3-D6C9-D149-8C60-70203CAEF442}">
      <dgm:prSet phldrT="[Text]"/>
      <dgm:spPr/>
      <dgm:t>
        <a:bodyPr/>
        <a:lstStyle/>
        <a:p>
          <a:r>
            <a:rPr lang="en-US" b="1" dirty="0"/>
            <a:t>EPISODE</a:t>
          </a:r>
        </a:p>
      </dgm:t>
    </dgm:pt>
    <dgm:pt modelId="{F6F32219-F26F-F642-AD41-BF35344E92E3}" type="parTrans" cxnId="{AC7DA2A8-DBAC-2445-829F-B421B590455A}">
      <dgm:prSet/>
      <dgm:spPr/>
      <dgm:t>
        <a:bodyPr/>
        <a:lstStyle/>
        <a:p>
          <a:endParaRPr lang="en-US" b="1"/>
        </a:p>
      </dgm:t>
    </dgm:pt>
    <dgm:pt modelId="{8FA9E1E5-598E-1944-8A22-8A2E2DAC7AE8}" type="sibTrans" cxnId="{AC7DA2A8-DBAC-2445-829F-B421B590455A}">
      <dgm:prSet/>
      <dgm:spPr/>
      <dgm:t>
        <a:bodyPr/>
        <a:lstStyle/>
        <a:p>
          <a:endParaRPr lang="en-US" b="1"/>
        </a:p>
      </dgm:t>
    </dgm:pt>
    <dgm:pt modelId="{EE851372-E667-B048-985D-1AABB049BCA7}">
      <dgm:prSet phldrT="[Text]"/>
      <dgm:spPr/>
      <dgm:t>
        <a:bodyPr/>
        <a:lstStyle/>
        <a:p>
          <a:r>
            <a:rPr lang="en-US" b="1" dirty="0"/>
            <a:t>PROBE</a:t>
          </a:r>
        </a:p>
      </dgm:t>
    </dgm:pt>
    <dgm:pt modelId="{FD3BE65B-91CA-E64D-91D0-CAF60C5EB5E6}" type="parTrans" cxnId="{27E3D2B2-8072-CC40-A653-EA4AC2A4C0FA}">
      <dgm:prSet/>
      <dgm:spPr/>
      <dgm:t>
        <a:bodyPr/>
        <a:lstStyle/>
        <a:p>
          <a:endParaRPr lang="en-US" b="1"/>
        </a:p>
      </dgm:t>
    </dgm:pt>
    <dgm:pt modelId="{3EF7F8BB-6EC5-6C4E-9024-9D8339418865}" type="sibTrans" cxnId="{27E3D2B2-8072-CC40-A653-EA4AC2A4C0FA}">
      <dgm:prSet/>
      <dgm:spPr/>
      <dgm:t>
        <a:bodyPr/>
        <a:lstStyle/>
        <a:p>
          <a:endParaRPr lang="en-US" b="1"/>
        </a:p>
      </dgm:t>
    </dgm:pt>
    <dgm:pt modelId="{46852647-60F4-EB43-97AB-3BC7B1E63B01}">
      <dgm:prSet phldrT="[Text]"/>
      <dgm:spPr/>
      <dgm:t>
        <a:bodyPr/>
        <a:lstStyle/>
        <a:p>
          <a:r>
            <a:rPr lang="en-US" b="1" dirty="0"/>
            <a:t>REFLECT</a:t>
          </a:r>
        </a:p>
      </dgm:t>
    </dgm:pt>
    <dgm:pt modelId="{89091C04-65C2-C945-8457-241A7FC6442E}" type="parTrans" cxnId="{3C4AB30F-78E4-8648-BD3D-C5BE83FEB64E}">
      <dgm:prSet/>
      <dgm:spPr/>
      <dgm:t>
        <a:bodyPr/>
        <a:lstStyle/>
        <a:p>
          <a:endParaRPr lang="en-US" b="1"/>
        </a:p>
      </dgm:t>
    </dgm:pt>
    <dgm:pt modelId="{B15301FE-689A-B647-8BBF-28068079F136}" type="sibTrans" cxnId="{3C4AB30F-78E4-8648-BD3D-C5BE83FEB64E}">
      <dgm:prSet/>
      <dgm:spPr/>
      <dgm:t>
        <a:bodyPr/>
        <a:lstStyle/>
        <a:p>
          <a:endParaRPr lang="en-US" b="1"/>
        </a:p>
      </dgm:t>
    </dgm:pt>
    <dgm:pt modelId="{89E81576-CC05-B44B-9F1B-CCC086303364}">
      <dgm:prSet phldrT="[Text]"/>
      <dgm:spPr/>
      <dgm:t>
        <a:bodyPr/>
        <a:lstStyle/>
        <a:p>
          <a:r>
            <a:rPr lang="en-US" b="1" dirty="0"/>
            <a:t>CLOSE</a:t>
          </a:r>
        </a:p>
      </dgm:t>
    </dgm:pt>
    <dgm:pt modelId="{DA351329-0179-BE47-9BE2-64159F8C0C99}" type="parTrans" cxnId="{EA76AA31-A3FB-514E-B971-76ABF1214678}">
      <dgm:prSet/>
      <dgm:spPr/>
      <dgm:t>
        <a:bodyPr/>
        <a:lstStyle/>
        <a:p>
          <a:endParaRPr lang="en-US" b="1"/>
        </a:p>
      </dgm:t>
    </dgm:pt>
    <dgm:pt modelId="{B3F17BEB-3ABD-5641-990A-7E06FA261D12}" type="sibTrans" cxnId="{EA76AA31-A3FB-514E-B971-76ABF1214678}">
      <dgm:prSet/>
      <dgm:spPr/>
      <dgm:t>
        <a:bodyPr/>
        <a:lstStyle/>
        <a:p>
          <a:endParaRPr lang="en-US" b="1"/>
        </a:p>
      </dgm:t>
    </dgm:pt>
    <dgm:pt modelId="{F19F9EBD-0ACF-6B4D-A7CE-755A77BF4D7D}" type="pres">
      <dgm:prSet presAssocID="{C9328C73-E2FC-D14E-8E81-34A51465A2B4}" presName="Name0" presStyleCnt="0">
        <dgm:presLayoutVars>
          <dgm:dir/>
          <dgm:resizeHandles val="exact"/>
        </dgm:presLayoutVars>
      </dgm:prSet>
      <dgm:spPr/>
    </dgm:pt>
    <dgm:pt modelId="{6CEB8D73-F3F1-CD4C-BA1D-4F1964EFEDEB}" type="pres">
      <dgm:prSet presAssocID="{A855BE18-11BF-9345-BA9D-F2A2A11B0213}" presName="node" presStyleLbl="node1" presStyleIdx="0" presStyleCnt="5">
        <dgm:presLayoutVars>
          <dgm:bulletEnabled val="1"/>
        </dgm:presLayoutVars>
      </dgm:prSet>
      <dgm:spPr/>
    </dgm:pt>
    <dgm:pt modelId="{D4B92207-7701-DD43-940C-4070C08434D6}" type="pres">
      <dgm:prSet presAssocID="{2889FAEF-B5F4-5E44-9978-572A21F1E619}" presName="sibTrans" presStyleLbl="sibTrans2D1" presStyleIdx="0" presStyleCnt="4"/>
      <dgm:spPr/>
    </dgm:pt>
    <dgm:pt modelId="{79FA96E3-8A83-7442-AD85-38B87E514F3B}" type="pres">
      <dgm:prSet presAssocID="{2889FAEF-B5F4-5E44-9978-572A21F1E619}" presName="connectorText" presStyleLbl="sibTrans2D1" presStyleIdx="0" presStyleCnt="4"/>
      <dgm:spPr/>
    </dgm:pt>
    <dgm:pt modelId="{754DF3C8-5CF3-5E4C-8E9D-6836FBCE87CA}" type="pres">
      <dgm:prSet presAssocID="{7B3452C3-D6C9-D149-8C60-70203CAEF442}" presName="node" presStyleLbl="node1" presStyleIdx="1" presStyleCnt="5">
        <dgm:presLayoutVars>
          <dgm:bulletEnabled val="1"/>
        </dgm:presLayoutVars>
      </dgm:prSet>
      <dgm:spPr/>
    </dgm:pt>
    <dgm:pt modelId="{2335C7C4-5C31-9C4D-B8F1-C61E398FE4BA}" type="pres">
      <dgm:prSet presAssocID="{8FA9E1E5-598E-1944-8A22-8A2E2DAC7AE8}" presName="sibTrans" presStyleLbl="sibTrans2D1" presStyleIdx="1" presStyleCnt="4"/>
      <dgm:spPr/>
    </dgm:pt>
    <dgm:pt modelId="{BF6A4269-2041-6640-B180-2C40C21C45C6}" type="pres">
      <dgm:prSet presAssocID="{8FA9E1E5-598E-1944-8A22-8A2E2DAC7AE8}" presName="connectorText" presStyleLbl="sibTrans2D1" presStyleIdx="1" presStyleCnt="4"/>
      <dgm:spPr/>
    </dgm:pt>
    <dgm:pt modelId="{9B9C6819-C857-D149-A55A-0A803E15FCDF}" type="pres">
      <dgm:prSet presAssocID="{EE851372-E667-B048-985D-1AABB049BCA7}" presName="node" presStyleLbl="node1" presStyleIdx="2" presStyleCnt="5">
        <dgm:presLayoutVars>
          <dgm:bulletEnabled val="1"/>
        </dgm:presLayoutVars>
      </dgm:prSet>
      <dgm:spPr/>
    </dgm:pt>
    <dgm:pt modelId="{6372425A-59E6-674A-BABC-C7309F24DF49}" type="pres">
      <dgm:prSet presAssocID="{3EF7F8BB-6EC5-6C4E-9024-9D8339418865}" presName="sibTrans" presStyleLbl="sibTrans2D1" presStyleIdx="2" presStyleCnt="4"/>
      <dgm:spPr/>
    </dgm:pt>
    <dgm:pt modelId="{A1808F7B-9648-A146-B973-D930ABDD0ABE}" type="pres">
      <dgm:prSet presAssocID="{3EF7F8BB-6EC5-6C4E-9024-9D8339418865}" presName="connectorText" presStyleLbl="sibTrans2D1" presStyleIdx="2" presStyleCnt="4"/>
      <dgm:spPr/>
    </dgm:pt>
    <dgm:pt modelId="{A0126337-8DE1-124C-ACED-492AFD94C9D9}" type="pres">
      <dgm:prSet presAssocID="{46852647-60F4-EB43-97AB-3BC7B1E63B01}" presName="node" presStyleLbl="node1" presStyleIdx="3" presStyleCnt="5">
        <dgm:presLayoutVars>
          <dgm:bulletEnabled val="1"/>
        </dgm:presLayoutVars>
      </dgm:prSet>
      <dgm:spPr/>
    </dgm:pt>
    <dgm:pt modelId="{5B016F8A-A8FE-9D46-9825-A3A56764EE8D}" type="pres">
      <dgm:prSet presAssocID="{B15301FE-689A-B647-8BBF-28068079F136}" presName="sibTrans" presStyleLbl="sibTrans2D1" presStyleIdx="3" presStyleCnt="4"/>
      <dgm:spPr/>
    </dgm:pt>
    <dgm:pt modelId="{801B4A90-0E3A-6143-9418-7F535F94BDAB}" type="pres">
      <dgm:prSet presAssocID="{B15301FE-689A-B647-8BBF-28068079F136}" presName="connectorText" presStyleLbl="sibTrans2D1" presStyleIdx="3" presStyleCnt="4"/>
      <dgm:spPr/>
    </dgm:pt>
    <dgm:pt modelId="{AC17A9D2-68F7-9D48-9B67-1632131CF543}" type="pres">
      <dgm:prSet presAssocID="{89E81576-CC05-B44B-9F1B-CCC086303364}" presName="node" presStyleLbl="node1" presStyleIdx="4" presStyleCnt="5">
        <dgm:presLayoutVars>
          <dgm:bulletEnabled val="1"/>
        </dgm:presLayoutVars>
      </dgm:prSet>
      <dgm:spPr/>
    </dgm:pt>
  </dgm:ptLst>
  <dgm:cxnLst>
    <dgm:cxn modelId="{3C4AB30F-78E4-8648-BD3D-C5BE83FEB64E}" srcId="{C9328C73-E2FC-D14E-8E81-34A51465A2B4}" destId="{46852647-60F4-EB43-97AB-3BC7B1E63B01}" srcOrd="3" destOrd="0" parTransId="{89091C04-65C2-C945-8457-241A7FC6442E}" sibTransId="{B15301FE-689A-B647-8BBF-28068079F136}"/>
    <dgm:cxn modelId="{8EA8B217-201C-1844-8DC0-12828046CC46}" type="presOf" srcId="{3EF7F8BB-6EC5-6C4E-9024-9D8339418865}" destId="{6372425A-59E6-674A-BABC-C7309F24DF49}" srcOrd="0" destOrd="0" presId="urn:microsoft.com/office/officeart/2005/8/layout/process1"/>
    <dgm:cxn modelId="{8441A019-702A-6345-97BC-71FF5C0BBFBE}" type="presOf" srcId="{2889FAEF-B5F4-5E44-9978-572A21F1E619}" destId="{79FA96E3-8A83-7442-AD85-38B87E514F3B}" srcOrd="1" destOrd="0" presId="urn:microsoft.com/office/officeart/2005/8/layout/process1"/>
    <dgm:cxn modelId="{EA76AA31-A3FB-514E-B971-76ABF1214678}" srcId="{C9328C73-E2FC-D14E-8E81-34A51465A2B4}" destId="{89E81576-CC05-B44B-9F1B-CCC086303364}" srcOrd="4" destOrd="0" parTransId="{DA351329-0179-BE47-9BE2-64159F8C0C99}" sibTransId="{B3F17BEB-3ABD-5641-990A-7E06FA261D12}"/>
    <dgm:cxn modelId="{E5165A36-149E-9645-AEDA-CEA71B66C6EF}" type="presOf" srcId="{8FA9E1E5-598E-1944-8A22-8A2E2DAC7AE8}" destId="{BF6A4269-2041-6640-B180-2C40C21C45C6}" srcOrd="1" destOrd="0" presId="urn:microsoft.com/office/officeart/2005/8/layout/process1"/>
    <dgm:cxn modelId="{8DAFCA3E-B989-2146-A5D7-0F14FE9AB02E}" type="presOf" srcId="{EE851372-E667-B048-985D-1AABB049BCA7}" destId="{9B9C6819-C857-D149-A55A-0A803E15FCDF}" srcOrd="0" destOrd="0" presId="urn:microsoft.com/office/officeart/2005/8/layout/process1"/>
    <dgm:cxn modelId="{FFE99562-4D07-484D-AF5C-E58BE7C4A18F}" type="presOf" srcId="{C9328C73-E2FC-D14E-8E81-34A51465A2B4}" destId="{F19F9EBD-0ACF-6B4D-A7CE-755A77BF4D7D}" srcOrd="0" destOrd="0" presId="urn:microsoft.com/office/officeart/2005/8/layout/process1"/>
    <dgm:cxn modelId="{13D0D265-ED7B-9C46-891A-F24126EFF3D9}" srcId="{C9328C73-E2FC-D14E-8E81-34A51465A2B4}" destId="{A855BE18-11BF-9345-BA9D-F2A2A11B0213}" srcOrd="0" destOrd="0" parTransId="{741409C7-5E4E-F449-9E45-1C56C8C7907F}" sibTransId="{2889FAEF-B5F4-5E44-9978-572A21F1E619}"/>
    <dgm:cxn modelId="{CE50716E-1CCC-9244-9CE5-AAD08008F40A}" type="presOf" srcId="{89E81576-CC05-B44B-9F1B-CCC086303364}" destId="{AC17A9D2-68F7-9D48-9B67-1632131CF543}" srcOrd="0" destOrd="0" presId="urn:microsoft.com/office/officeart/2005/8/layout/process1"/>
    <dgm:cxn modelId="{53031A77-2E57-5A44-82F0-E25006AF4316}" type="presOf" srcId="{B15301FE-689A-B647-8BBF-28068079F136}" destId="{801B4A90-0E3A-6143-9418-7F535F94BDAB}" srcOrd="1" destOrd="0" presId="urn:microsoft.com/office/officeart/2005/8/layout/process1"/>
    <dgm:cxn modelId="{81A93677-BC91-C342-9D45-57A618CAF2D7}" type="presOf" srcId="{B15301FE-689A-B647-8BBF-28068079F136}" destId="{5B016F8A-A8FE-9D46-9825-A3A56764EE8D}" srcOrd="0" destOrd="0" presId="urn:microsoft.com/office/officeart/2005/8/layout/process1"/>
    <dgm:cxn modelId="{DB317E7A-ECBC-1F43-8637-2CAB2CD5CA7E}" type="presOf" srcId="{3EF7F8BB-6EC5-6C4E-9024-9D8339418865}" destId="{A1808F7B-9648-A146-B973-D930ABDD0ABE}" srcOrd="1" destOrd="0" presId="urn:microsoft.com/office/officeart/2005/8/layout/process1"/>
    <dgm:cxn modelId="{31515C97-B445-2546-BA17-ADC2AD7A68C2}" type="presOf" srcId="{2889FAEF-B5F4-5E44-9978-572A21F1E619}" destId="{D4B92207-7701-DD43-940C-4070C08434D6}" srcOrd="0" destOrd="0" presId="urn:microsoft.com/office/officeart/2005/8/layout/process1"/>
    <dgm:cxn modelId="{E1D12E9E-E138-974F-870D-304F7068FC8D}" type="presOf" srcId="{46852647-60F4-EB43-97AB-3BC7B1E63B01}" destId="{A0126337-8DE1-124C-ACED-492AFD94C9D9}" srcOrd="0" destOrd="0" presId="urn:microsoft.com/office/officeart/2005/8/layout/process1"/>
    <dgm:cxn modelId="{AC7DA2A8-DBAC-2445-829F-B421B590455A}" srcId="{C9328C73-E2FC-D14E-8E81-34A51465A2B4}" destId="{7B3452C3-D6C9-D149-8C60-70203CAEF442}" srcOrd="1" destOrd="0" parTransId="{F6F32219-F26F-F642-AD41-BF35344E92E3}" sibTransId="{8FA9E1E5-598E-1944-8A22-8A2E2DAC7AE8}"/>
    <dgm:cxn modelId="{62ABDCAE-AA0B-9E40-9443-C1D00A3B87EF}" type="presOf" srcId="{A855BE18-11BF-9345-BA9D-F2A2A11B0213}" destId="{6CEB8D73-F3F1-CD4C-BA1D-4F1964EFEDEB}" srcOrd="0" destOrd="0" presId="urn:microsoft.com/office/officeart/2005/8/layout/process1"/>
    <dgm:cxn modelId="{27E3D2B2-8072-CC40-A653-EA4AC2A4C0FA}" srcId="{C9328C73-E2FC-D14E-8E81-34A51465A2B4}" destId="{EE851372-E667-B048-985D-1AABB049BCA7}" srcOrd="2" destOrd="0" parTransId="{FD3BE65B-91CA-E64D-91D0-CAF60C5EB5E6}" sibTransId="{3EF7F8BB-6EC5-6C4E-9024-9D8339418865}"/>
    <dgm:cxn modelId="{98873CBB-F19E-684C-8AB6-12E757E2CA4F}" type="presOf" srcId="{8FA9E1E5-598E-1944-8A22-8A2E2DAC7AE8}" destId="{2335C7C4-5C31-9C4D-B8F1-C61E398FE4BA}" srcOrd="0" destOrd="0" presId="urn:microsoft.com/office/officeart/2005/8/layout/process1"/>
    <dgm:cxn modelId="{B6CA4AEA-3E7E-0A49-AF43-B0B848397EC2}" type="presOf" srcId="{7B3452C3-D6C9-D149-8C60-70203CAEF442}" destId="{754DF3C8-5CF3-5E4C-8E9D-6836FBCE87CA}" srcOrd="0" destOrd="0" presId="urn:microsoft.com/office/officeart/2005/8/layout/process1"/>
    <dgm:cxn modelId="{67CC6926-3356-EB4E-9ED5-21BF121A79A0}" type="presParOf" srcId="{F19F9EBD-0ACF-6B4D-A7CE-755A77BF4D7D}" destId="{6CEB8D73-F3F1-CD4C-BA1D-4F1964EFEDEB}" srcOrd="0" destOrd="0" presId="urn:microsoft.com/office/officeart/2005/8/layout/process1"/>
    <dgm:cxn modelId="{AEB6703E-C5D9-6E4C-BA3C-D2B403988B82}" type="presParOf" srcId="{F19F9EBD-0ACF-6B4D-A7CE-755A77BF4D7D}" destId="{D4B92207-7701-DD43-940C-4070C08434D6}" srcOrd="1" destOrd="0" presId="urn:microsoft.com/office/officeart/2005/8/layout/process1"/>
    <dgm:cxn modelId="{2EB1898A-E2F1-2341-910C-842EE7ED5C9B}" type="presParOf" srcId="{D4B92207-7701-DD43-940C-4070C08434D6}" destId="{79FA96E3-8A83-7442-AD85-38B87E514F3B}" srcOrd="0" destOrd="0" presId="urn:microsoft.com/office/officeart/2005/8/layout/process1"/>
    <dgm:cxn modelId="{214C33F4-5C59-4646-B2FA-7ED35329013E}" type="presParOf" srcId="{F19F9EBD-0ACF-6B4D-A7CE-755A77BF4D7D}" destId="{754DF3C8-5CF3-5E4C-8E9D-6836FBCE87CA}" srcOrd="2" destOrd="0" presId="urn:microsoft.com/office/officeart/2005/8/layout/process1"/>
    <dgm:cxn modelId="{5C6F6323-335A-AF40-B14F-49B36CE35B85}" type="presParOf" srcId="{F19F9EBD-0ACF-6B4D-A7CE-755A77BF4D7D}" destId="{2335C7C4-5C31-9C4D-B8F1-C61E398FE4BA}" srcOrd="3" destOrd="0" presId="urn:microsoft.com/office/officeart/2005/8/layout/process1"/>
    <dgm:cxn modelId="{DC9C2DCC-F296-BD42-A478-277C9884F2D0}" type="presParOf" srcId="{2335C7C4-5C31-9C4D-B8F1-C61E398FE4BA}" destId="{BF6A4269-2041-6640-B180-2C40C21C45C6}" srcOrd="0" destOrd="0" presId="urn:microsoft.com/office/officeart/2005/8/layout/process1"/>
    <dgm:cxn modelId="{36C637D8-DF21-3D45-A67A-D4E6F8457C99}" type="presParOf" srcId="{F19F9EBD-0ACF-6B4D-A7CE-755A77BF4D7D}" destId="{9B9C6819-C857-D149-A55A-0A803E15FCDF}" srcOrd="4" destOrd="0" presId="urn:microsoft.com/office/officeart/2005/8/layout/process1"/>
    <dgm:cxn modelId="{A21173DA-530A-BF45-B04E-49091E7C46A3}" type="presParOf" srcId="{F19F9EBD-0ACF-6B4D-A7CE-755A77BF4D7D}" destId="{6372425A-59E6-674A-BABC-C7309F24DF49}" srcOrd="5" destOrd="0" presId="urn:microsoft.com/office/officeart/2005/8/layout/process1"/>
    <dgm:cxn modelId="{E8299554-FD9B-4E42-A3A2-D4ADC5FFF231}" type="presParOf" srcId="{6372425A-59E6-674A-BABC-C7309F24DF49}" destId="{A1808F7B-9648-A146-B973-D930ABDD0ABE}" srcOrd="0" destOrd="0" presId="urn:microsoft.com/office/officeart/2005/8/layout/process1"/>
    <dgm:cxn modelId="{A8585C1D-72B3-A149-8003-A5CAED360F49}" type="presParOf" srcId="{F19F9EBD-0ACF-6B4D-A7CE-755A77BF4D7D}" destId="{A0126337-8DE1-124C-ACED-492AFD94C9D9}" srcOrd="6" destOrd="0" presId="urn:microsoft.com/office/officeart/2005/8/layout/process1"/>
    <dgm:cxn modelId="{9F827633-050B-434C-8736-992236FCF635}" type="presParOf" srcId="{F19F9EBD-0ACF-6B4D-A7CE-755A77BF4D7D}" destId="{5B016F8A-A8FE-9D46-9825-A3A56764EE8D}" srcOrd="7" destOrd="0" presId="urn:microsoft.com/office/officeart/2005/8/layout/process1"/>
    <dgm:cxn modelId="{CCEF273C-3EBC-4C4F-99C0-12EC761002C7}" type="presParOf" srcId="{5B016F8A-A8FE-9D46-9825-A3A56764EE8D}" destId="{801B4A90-0E3A-6143-9418-7F535F94BDAB}" srcOrd="0" destOrd="0" presId="urn:microsoft.com/office/officeart/2005/8/layout/process1"/>
    <dgm:cxn modelId="{A0FF2034-9462-6047-8FEF-A80116328C8E}" type="presParOf" srcId="{F19F9EBD-0ACF-6B4D-A7CE-755A77BF4D7D}" destId="{AC17A9D2-68F7-9D48-9B67-1632131CF54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EB8D73-F3F1-CD4C-BA1D-4F1964EFEDEB}">
      <dsp:nvSpPr>
        <dsp:cNvPr id="0" name=""/>
        <dsp:cNvSpPr/>
      </dsp:nvSpPr>
      <dsp:spPr>
        <a:xfrm>
          <a:off x="3850" y="1061798"/>
          <a:ext cx="1193787" cy="71627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CONTEXT</a:t>
          </a:r>
        </a:p>
      </dsp:txBody>
      <dsp:txXfrm>
        <a:off x="24829" y="1082777"/>
        <a:ext cx="1151829" cy="674314"/>
      </dsp:txXfrm>
    </dsp:sp>
    <dsp:sp modelId="{D4B92207-7701-DD43-940C-4070C08434D6}">
      <dsp:nvSpPr>
        <dsp:cNvPr id="0" name=""/>
        <dsp:cNvSpPr/>
      </dsp:nvSpPr>
      <dsp:spPr>
        <a:xfrm>
          <a:off x="1317017" y="1271905"/>
          <a:ext cx="253082" cy="296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/>
        </a:p>
      </dsp:txBody>
      <dsp:txXfrm>
        <a:off x="1317017" y="1331117"/>
        <a:ext cx="177157" cy="177635"/>
      </dsp:txXfrm>
    </dsp:sp>
    <dsp:sp modelId="{754DF3C8-5CF3-5E4C-8E9D-6836FBCE87CA}">
      <dsp:nvSpPr>
        <dsp:cNvPr id="0" name=""/>
        <dsp:cNvSpPr/>
      </dsp:nvSpPr>
      <dsp:spPr>
        <a:xfrm>
          <a:off x="1675153" y="1061798"/>
          <a:ext cx="1193787" cy="71627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EPISODE</a:t>
          </a:r>
        </a:p>
      </dsp:txBody>
      <dsp:txXfrm>
        <a:off x="1696132" y="1082777"/>
        <a:ext cx="1151829" cy="674314"/>
      </dsp:txXfrm>
    </dsp:sp>
    <dsp:sp modelId="{2335C7C4-5C31-9C4D-B8F1-C61E398FE4BA}">
      <dsp:nvSpPr>
        <dsp:cNvPr id="0" name=""/>
        <dsp:cNvSpPr/>
      </dsp:nvSpPr>
      <dsp:spPr>
        <a:xfrm>
          <a:off x="2988319" y="1271905"/>
          <a:ext cx="253082" cy="296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/>
        </a:p>
      </dsp:txBody>
      <dsp:txXfrm>
        <a:off x="2988319" y="1331117"/>
        <a:ext cx="177157" cy="177635"/>
      </dsp:txXfrm>
    </dsp:sp>
    <dsp:sp modelId="{9B9C6819-C857-D149-A55A-0A803E15FCDF}">
      <dsp:nvSpPr>
        <dsp:cNvPr id="0" name=""/>
        <dsp:cNvSpPr/>
      </dsp:nvSpPr>
      <dsp:spPr>
        <a:xfrm>
          <a:off x="3346455" y="1061798"/>
          <a:ext cx="1193787" cy="71627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PROBE</a:t>
          </a:r>
        </a:p>
      </dsp:txBody>
      <dsp:txXfrm>
        <a:off x="3367434" y="1082777"/>
        <a:ext cx="1151829" cy="674314"/>
      </dsp:txXfrm>
    </dsp:sp>
    <dsp:sp modelId="{6372425A-59E6-674A-BABC-C7309F24DF49}">
      <dsp:nvSpPr>
        <dsp:cNvPr id="0" name=""/>
        <dsp:cNvSpPr/>
      </dsp:nvSpPr>
      <dsp:spPr>
        <a:xfrm>
          <a:off x="4659621" y="1271905"/>
          <a:ext cx="253082" cy="296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/>
        </a:p>
      </dsp:txBody>
      <dsp:txXfrm>
        <a:off x="4659621" y="1331117"/>
        <a:ext cx="177157" cy="177635"/>
      </dsp:txXfrm>
    </dsp:sp>
    <dsp:sp modelId="{A0126337-8DE1-124C-ACED-492AFD94C9D9}">
      <dsp:nvSpPr>
        <dsp:cNvPr id="0" name=""/>
        <dsp:cNvSpPr/>
      </dsp:nvSpPr>
      <dsp:spPr>
        <a:xfrm>
          <a:off x="5017758" y="1061798"/>
          <a:ext cx="1193787" cy="71627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REFLECT</a:t>
          </a:r>
        </a:p>
      </dsp:txBody>
      <dsp:txXfrm>
        <a:off x="5038737" y="1082777"/>
        <a:ext cx="1151829" cy="674314"/>
      </dsp:txXfrm>
    </dsp:sp>
    <dsp:sp modelId="{5B016F8A-A8FE-9D46-9825-A3A56764EE8D}">
      <dsp:nvSpPr>
        <dsp:cNvPr id="0" name=""/>
        <dsp:cNvSpPr/>
      </dsp:nvSpPr>
      <dsp:spPr>
        <a:xfrm>
          <a:off x="6330924" y="1271905"/>
          <a:ext cx="253082" cy="2960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/>
        </a:p>
      </dsp:txBody>
      <dsp:txXfrm>
        <a:off x="6330924" y="1331117"/>
        <a:ext cx="177157" cy="177635"/>
      </dsp:txXfrm>
    </dsp:sp>
    <dsp:sp modelId="{AC17A9D2-68F7-9D48-9B67-1632131CF543}">
      <dsp:nvSpPr>
        <dsp:cNvPr id="0" name=""/>
        <dsp:cNvSpPr/>
      </dsp:nvSpPr>
      <dsp:spPr>
        <a:xfrm>
          <a:off x="6689060" y="1061798"/>
          <a:ext cx="1193787" cy="71627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CLOSE</a:t>
          </a:r>
        </a:p>
      </dsp:txBody>
      <dsp:txXfrm>
        <a:off x="6710039" y="1082777"/>
        <a:ext cx="1151829" cy="674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FA349-295A-9648-AC81-268E9C74AF3D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13196-D6CC-4148-993F-EDD11FE55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3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70913-1F13-4744-B94A-DD1167A56E7D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5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163F-7EC9-5B47-A192-CB50DE612FED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2BC-3CB7-1146-A19E-4D5E63F3B742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1693-1844-8848-86CC-F923317986AD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5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DF2-3CCE-3449-B48D-F4595C3D57FE}" type="datetime1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FDB3-FCD2-A24F-8241-8DA72B16D6B1}" type="datetime1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C91C-CE34-DA4E-B4C2-6B29BDE88023}" type="datetime1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4E1-3786-E644-95CD-0EC484282321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75EC-C44D-6048-B3A9-C5F04F3202FD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7D1-F120-9444-A8E9-CC8E63B024C0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0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6640-3593-E045-822D-D104552937CC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CE539-832A-BA41-9408-4A63384D7065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3C3F-1404-17C0-C624-2093CA988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4B1211"/>
                </a:solidFill>
              </a:rPr>
              <a:t>Sponsor Engagement</a:t>
            </a:r>
            <a:br>
              <a:rPr lang="en-US" sz="4800" b="1" dirty="0">
                <a:solidFill>
                  <a:srgbClr val="4B1211"/>
                </a:solidFill>
              </a:rPr>
            </a:br>
            <a:r>
              <a:rPr lang="en-US" sz="4800" b="1" dirty="0">
                <a:solidFill>
                  <a:srgbClr val="4B1211"/>
                </a:solidFill>
              </a:rPr>
              <a:t>Stakeholder Analysis</a:t>
            </a:r>
            <a:br>
              <a:rPr lang="en-US" sz="4800" b="1" dirty="0">
                <a:solidFill>
                  <a:srgbClr val="4B1211"/>
                </a:solidFill>
              </a:rPr>
            </a:br>
            <a:r>
              <a:rPr lang="en-US" sz="4800" b="1" dirty="0">
                <a:solidFill>
                  <a:srgbClr val="4B1211"/>
                </a:solidFill>
              </a:rPr>
              <a:t>Effective Interviewing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3F7C0-3B00-9922-4283-570E4A6CA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DAEN 459/460 Capstone Senior Design</a:t>
            </a:r>
          </a:p>
          <a:p>
            <a:r>
              <a:rPr lang="en-US" sz="1800" dirty="0">
                <a:solidFill>
                  <a:srgbClr val="4B1211"/>
                </a:solidFill>
              </a:rPr>
              <a:t>Alexander Abuabara</a:t>
            </a:r>
          </a:p>
          <a:p>
            <a:r>
              <a:rPr lang="en-US" sz="1800" dirty="0">
                <a:solidFill>
                  <a:srgbClr val="4B1211"/>
                </a:solidFill>
              </a:rPr>
              <a:t>Fall 2026</a:t>
            </a:r>
          </a:p>
        </p:txBody>
      </p:sp>
      <p:pic>
        <p:nvPicPr>
          <p:cNvPr id="7" name="Picture 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7B844F80-89B7-0A8B-956D-1507C8E5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5257800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E662-7A09-F851-8F71-EA6337AE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Goal is: </a:t>
            </a:r>
            <a:r>
              <a:rPr lang="en-US" b="1" u="sng" dirty="0"/>
              <a:t>Shared Confidence</a:t>
            </a:r>
            <a:br>
              <a:rPr lang="en-US" dirty="0"/>
            </a:br>
            <a:r>
              <a:rPr lang="en-US" sz="3200" dirty="0"/>
              <a:t>Not Just Frequent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6A58-9808-0C73-BF05-10740CA7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Set a sponsor cadence that produces decisions</a:t>
            </a:r>
          </a:p>
          <a:p>
            <a:r>
              <a:rPr lang="en-US" sz="2400" dirty="0"/>
              <a:t>Identify </a:t>
            </a:r>
            <a:r>
              <a:rPr lang="en-US" sz="2400" u="sng" dirty="0"/>
              <a:t>whose</a:t>
            </a:r>
            <a:r>
              <a:rPr lang="en-US" sz="2400" dirty="0"/>
              <a:t> needs can reshape the solution</a:t>
            </a:r>
          </a:p>
          <a:p>
            <a:r>
              <a:rPr lang="en-US" sz="2400" dirty="0"/>
              <a:t>Run conversation/interviews that reveal </a:t>
            </a:r>
            <a:r>
              <a:rPr lang="en-US" sz="2400" b="1" dirty="0"/>
              <a:t>workflow</a:t>
            </a:r>
            <a:r>
              <a:rPr lang="en-US" sz="2400" dirty="0"/>
              <a:t>, </a:t>
            </a:r>
            <a:r>
              <a:rPr lang="en-US" sz="2400" b="1" dirty="0"/>
              <a:t>constraints</a:t>
            </a:r>
            <a:r>
              <a:rPr lang="en-US" sz="2400" dirty="0"/>
              <a:t>, and </a:t>
            </a:r>
            <a:r>
              <a:rPr lang="en-US" sz="2400" b="1" dirty="0"/>
              <a:t>evidence</a:t>
            </a:r>
          </a:p>
          <a:p>
            <a:r>
              <a:rPr lang="en-US" sz="2400" dirty="0"/>
              <a:t>Convert conversations into </a:t>
            </a:r>
            <a:r>
              <a:rPr lang="en-US" sz="2400" u="sng" dirty="0"/>
              <a:t>testable requirements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 useful sponsor meeting ends with:</a:t>
            </a:r>
          </a:p>
          <a:p>
            <a:pPr marL="0" indent="0">
              <a:buNone/>
            </a:pPr>
            <a:r>
              <a:rPr lang="en-US" sz="2400" dirty="0"/>
              <a:t>1)  Decisions</a:t>
            </a:r>
          </a:p>
          <a:p>
            <a:pPr marL="0" indent="0">
              <a:buNone/>
            </a:pPr>
            <a:r>
              <a:rPr lang="en-US" sz="2400" dirty="0"/>
              <a:t>2)  Owners</a:t>
            </a:r>
          </a:p>
          <a:p>
            <a:pPr marL="0" indent="0">
              <a:buNone/>
            </a:pPr>
            <a:r>
              <a:rPr lang="en-US" sz="2400" dirty="0"/>
              <a:t>3)  Evidence needed</a:t>
            </a:r>
          </a:p>
          <a:p>
            <a:pPr marL="0" indent="0">
              <a:buNone/>
            </a:pPr>
            <a:r>
              <a:rPr lang="en-US" sz="2400" dirty="0"/>
              <a:t>4)  Next checkpoint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7C4BD-DB37-3B10-747F-1E8DBACD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</a:t>
            </a:fld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3E82315A-AA99-3AEE-7210-CF4E4A53F5E2}"/>
              </a:ext>
            </a:extLst>
          </p:cNvPr>
          <p:cNvSpPr/>
          <p:nvPr/>
        </p:nvSpPr>
        <p:spPr>
          <a:xfrm>
            <a:off x="2206127" y="3668617"/>
            <a:ext cx="743639" cy="685216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8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1B82-1027-4322-35CA-4937FB4B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  <a:br>
              <a:rPr lang="en-US" dirty="0"/>
            </a:br>
            <a:r>
              <a:rPr lang="en-US" sz="3200" dirty="0"/>
              <a:t>Riverton Public Works (Sponsor)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7688-131C-A74F-1085-2E9491F39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Case</a:t>
            </a:r>
            <a:br>
              <a:rPr lang="en-US" b="1" dirty="0"/>
            </a:br>
            <a:r>
              <a:rPr lang="en-US" sz="2400" dirty="0"/>
              <a:t>Reduce missed pickups without creating surveillance</a:t>
            </a:r>
          </a:p>
          <a:p>
            <a:r>
              <a:rPr lang="en-US" dirty="0"/>
              <a:t>Use service-request, route, and weather data to help supervisors anticipate missed pickups.</a:t>
            </a:r>
          </a:p>
          <a:p>
            <a:r>
              <a:rPr lang="en-US" b="1" dirty="0"/>
              <a:t>First request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"</a:t>
            </a:r>
            <a:r>
              <a:rPr lang="en-US" i="1" dirty="0"/>
              <a:t>Build us a dashboard that predicts tomorrow's problem routes.</a:t>
            </a:r>
            <a:r>
              <a:rPr lang="en-US" dirty="0"/>
              <a:t>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36D76-AA89-13BD-125C-2F380FE57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6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D5F6-72F0-77B0-7EDA-823F902E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Still Unknown?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81A7-AB3F-233B-FD18-95C37E78A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acts on a prediction?</a:t>
            </a:r>
          </a:p>
          <a:p>
            <a:r>
              <a:rPr lang="en-US" dirty="0"/>
              <a:t>What counts as a "miss"?</a:t>
            </a:r>
          </a:p>
          <a:p>
            <a:r>
              <a:rPr lang="en-US" dirty="0"/>
              <a:t>Which errors are unacceptable?</a:t>
            </a:r>
          </a:p>
          <a:p>
            <a:r>
              <a:rPr lang="en-US" dirty="0"/>
              <a:t>What data can legally be used?</a:t>
            </a:r>
          </a:p>
          <a:p>
            <a:r>
              <a:rPr lang="en-US" dirty="0"/>
              <a:t>How will success be judged?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205-2079-3B51-2FD4-9D92170CD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41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4DF0-B051-D659-4013-1428DAF6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Use Sponsor Time to Reduce Uncertainty in Stages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BA41F-224E-5BE5-873B-BAADB033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5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D9C671-0CF6-958C-C4F0-7CEB7310ECAF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7283450" cy="45719"/>
          </a:xfrm>
          <a:prstGeom prst="rect">
            <a:avLst/>
          </a:prstGeom>
          <a:solidFill>
            <a:srgbClr val="BCC5C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1421F6-2599-9F6A-E76D-A6A78F723F45}"/>
              </a:ext>
            </a:extLst>
          </p:cNvPr>
          <p:cNvSpPr>
            <a:spLocks noGrp="1"/>
          </p:cNvSpPr>
          <p:nvPr/>
        </p:nvSpPr>
        <p:spPr>
          <a:xfrm>
            <a:off x="628650" y="2629534"/>
            <a:ext cx="228600" cy="228600"/>
          </a:xfrm>
          <a:prstGeom prst="ellipse">
            <a:avLst/>
          </a:prstGeom>
          <a:solidFill>
            <a:srgbClr val="1F78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1F457D-561D-8742-8B14-E4918BB48EB0}"/>
              </a:ext>
            </a:extLst>
          </p:cNvPr>
          <p:cNvSpPr>
            <a:spLocks noGrp="1"/>
          </p:cNvSpPr>
          <p:nvPr/>
        </p:nvSpPr>
        <p:spPr>
          <a:xfrm>
            <a:off x="628650" y="1693862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1F78D1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F78D1"/>
                </a:solidFill>
                <a:latin typeface="Arial"/>
                <a:ea typeface="Arial"/>
                <a:cs typeface="Arial"/>
              </a:rPr>
              <a:t>ALIGN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E9E016-CBDC-C8AF-9D55-BC60142C7F27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2126404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20000"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Problem,</a:t>
            </a:r>
            <a:b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</a:b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utcomes,</a:t>
            </a:r>
            <a:b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</a:b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7BED6E-416B-894B-E795-22418371A0F0}"/>
              </a:ext>
            </a:extLst>
          </p:cNvPr>
          <p:cNvSpPr>
            <a:spLocks noGrp="1"/>
          </p:cNvSpPr>
          <p:nvPr/>
        </p:nvSpPr>
        <p:spPr>
          <a:xfrm>
            <a:off x="628650" y="2974022"/>
            <a:ext cx="228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Kickoff + </a:t>
            </a:r>
            <a:br>
              <a:rPr lang="en-US"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</a:b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weekly decision log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C6B7882-3B3D-FE61-17BC-06DFFB53C8D5}"/>
              </a:ext>
            </a:extLst>
          </p:cNvPr>
          <p:cNvSpPr>
            <a:spLocks noGrp="1"/>
          </p:cNvSpPr>
          <p:nvPr/>
        </p:nvSpPr>
        <p:spPr>
          <a:xfrm>
            <a:off x="2705100" y="2624137"/>
            <a:ext cx="228600" cy="228600"/>
          </a:xfrm>
          <a:prstGeom prst="ellipse">
            <a:avLst/>
          </a:prstGeom>
          <a:solidFill>
            <a:srgbClr val="1F78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2A296F-9564-BC7E-9EE9-68E986294B38}"/>
              </a:ext>
            </a:extLst>
          </p:cNvPr>
          <p:cNvSpPr>
            <a:spLocks noGrp="1"/>
          </p:cNvSpPr>
          <p:nvPr/>
        </p:nvSpPr>
        <p:spPr>
          <a:xfrm>
            <a:off x="2634403" y="1693862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1F78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78D1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AAF79C-2A71-BCFA-A1CD-E218D1E11DB4}"/>
              </a:ext>
            </a:extLst>
          </p:cNvPr>
          <p:cNvSpPr>
            <a:spLocks noGrp="1"/>
          </p:cNvSpPr>
          <p:nvPr/>
        </p:nvSpPr>
        <p:spPr>
          <a:xfrm>
            <a:off x="2634403" y="2000250"/>
            <a:ext cx="181398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20000"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Workflows,</a:t>
            </a:r>
            <a:b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</a:b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ata,</a:t>
            </a:r>
            <a:b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</a:b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onstraints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8B7F1B-949A-00DB-8425-94564895D988}"/>
              </a:ext>
            </a:extLst>
          </p:cNvPr>
          <p:cNvSpPr>
            <a:spLocks noGrp="1"/>
          </p:cNvSpPr>
          <p:nvPr/>
        </p:nvSpPr>
        <p:spPr>
          <a:xfrm>
            <a:off x="2634403" y="2974022"/>
            <a:ext cx="228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1</a:t>
            </a: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2</a:t>
            </a: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 interviews/</a:t>
            </a:r>
            <a:r>
              <a:rPr lang="en-US"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month</a:t>
            </a:r>
            <a:endParaRPr sz="1500" b="0" dirty="0">
              <a:solidFill>
                <a:srgbClr val="5F6B7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1019011-8C09-BB4A-0E32-C3902B6FF280}"/>
              </a:ext>
            </a:extLst>
          </p:cNvPr>
          <p:cNvSpPr>
            <a:spLocks noGrp="1"/>
          </p:cNvSpPr>
          <p:nvPr/>
        </p:nvSpPr>
        <p:spPr>
          <a:xfrm>
            <a:off x="4640156" y="2624137"/>
            <a:ext cx="228600" cy="228600"/>
          </a:xfrm>
          <a:prstGeom prst="ellipse">
            <a:avLst/>
          </a:prstGeom>
          <a:solidFill>
            <a:srgbClr val="1F78D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602900-C6EB-40B4-0859-79930A7456FA}"/>
              </a:ext>
            </a:extLst>
          </p:cNvPr>
          <p:cNvSpPr>
            <a:spLocks noGrp="1"/>
          </p:cNvSpPr>
          <p:nvPr/>
        </p:nvSpPr>
        <p:spPr>
          <a:xfrm>
            <a:off x="4640156" y="1693862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1F78D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78D1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16FC20-24C7-1C66-F66B-04FAD237F69E}"/>
              </a:ext>
            </a:extLst>
          </p:cNvPr>
          <p:cNvSpPr>
            <a:spLocks noGrp="1"/>
          </p:cNvSpPr>
          <p:nvPr/>
        </p:nvSpPr>
        <p:spPr>
          <a:xfrm>
            <a:off x="4560146" y="1998662"/>
            <a:ext cx="181398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20000"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Assumptions, </a:t>
            </a: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rototype, </a:t>
            </a: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radeoffs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241715-C2A5-6078-ED66-1E86602B3DCD}"/>
              </a:ext>
            </a:extLst>
          </p:cNvPr>
          <p:cNvSpPr>
            <a:spLocks noGrp="1"/>
          </p:cNvSpPr>
          <p:nvPr/>
        </p:nvSpPr>
        <p:spPr>
          <a:xfrm>
            <a:off x="4571153" y="2974022"/>
            <a:ext cx="228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Biweekly demo</a:t>
            </a:r>
            <a:br>
              <a:rPr lang="en-US"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</a:b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with users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00E223-D8FF-1DC7-B5F2-DF8BA809DB46}"/>
              </a:ext>
            </a:extLst>
          </p:cNvPr>
          <p:cNvSpPr>
            <a:spLocks noGrp="1"/>
          </p:cNvSpPr>
          <p:nvPr/>
        </p:nvSpPr>
        <p:spPr>
          <a:xfrm>
            <a:off x="6716606" y="2609850"/>
            <a:ext cx="228600" cy="228600"/>
          </a:xfrm>
          <a:prstGeom prst="ellipse">
            <a:avLst/>
          </a:prstGeom>
          <a:solidFill>
            <a:srgbClr val="2E8B5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AE08A4-CE3A-D587-4C77-462D38F3102D}"/>
              </a:ext>
            </a:extLst>
          </p:cNvPr>
          <p:cNvSpPr>
            <a:spLocks noGrp="1"/>
          </p:cNvSpPr>
          <p:nvPr/>
        </p:nvSpPr>
        <p:spPr>
          <a:xfrm>
            <a:off x="6645910" y="1703387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2E8B57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16257E0-DAB0-8C8E-8CA3-68B0C2EB61CA}"/>
              </a:ext>
            </a:extLst>
          </p:cNvPr>
          <p:cNvSpPr>
            <a:spLocks noGrp="1"/>
          </p:cNvSpPr>
          <p:nvPr/>
        </p:nvSpPr>
        <p:spPr>
          <a:xfrm>
            <a:off x="6645910" y="1997074"/>
            <a:ext cx="138049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000" lnSpcReduction="20000"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Adoption, </a:t>
            </a: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wnership, </a:t>
            </a:r>
            <a:r>
              <a:rPr lang="en-US"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</a:t>
            </a:r>
            <a:r>
              <a:rPr sz="16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andoff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FDE08F-DDB8-44C3-3386-4A64726F0A36}"/>
              </a:ext>
            </a:extLst>
          </p:cNvPr>
          <p:cNvSpPr>
            <a:spLocks noGrp="1"/>
          </p:cNvSpPr>
          <p:nvPr/>
        </p:nvSpPr>
        <p:spPr>
          <a:xfrm>
            <a:off x="6645910" y="2974022"/>
            <a:ext cx="2286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Runbook + </a:t>
            </a:r>
            <a:br>
              <a:rPr lang="en-US"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</a:br>
            <a:r>
              <a:rPr sz="1500" b="0" dirty="0">
                <a:solidFill>
                  <a:srgbClr val="5F6B7A"/>
                </a:solidFill>
                <a:latin typeface="Arial"/>
                <a:ea typeface="Arial"/>
                <a:cs typeface="Arial"/>
              </a:rPr>
              <a:t>adoption check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D7E598-48D0-A8E6-8387-97BE0852DE30}"/>
              </a:ext>
            </a:extLst>
          </p:cNvPr>
          <p:cNvSpPr txBox="1"/>
          <p:nvPr/>
        </p:nvSpPr>
        <p:spPr>
          <a:xfrm>
            <a:off x="628650" y="3926522"/>
            <a:ext cx="78867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Rule</a:t>
            </a:r>
          </a:p>
          <a:p>
            <a:r>
              <a:rPr lang="en-US" sz="2800" b="1" dirty="0"/>
              <a:t>Every interaction should close an </a:t>
            </a:r>
            <a:r>
              <a:rPr lang="en-US" sz="2800" b="1" u="sng" dirty="0"/>
              <a:t>uncertainty</a:t>
            </a:r>
            <a:r>
              <a:rPr lang="en-US" sz="2800" b="1" dirty="0"/>
              <a:t>, confirm a </a:t>
            </a:r>
            <a:r>
              <a:rPr lang="en-US" sz="2800" b="1" u="sng" dirty="0"/>
              <a:t>decision</a:t>
            </a:r>
            <a:r>
              <a:rPr lang="en-US" sz="2800" b="1" dirty="0"/>
              <a:t>, or expose a </a:t>
            </a:r>
            <a:r>
              <a:rPr lang="en-US" sz="2800" b="1" u="sng" dirty="0"/>
              <a:t>new risk</a:t>
            </a:r>
            <a:r>
              <a:rPr lang="en-US" sz="2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588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BD8F-42D6-2E6F-C2E5-F842A26F6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Agree on the "Working Contract"</a:t>
            </a:r>
            <a:r>
              <a:rPr lang="en-US" sz="4000" dirty="0"/>
              <a:t> </a:t>
            </a:r>
            <a:r>
              <a:rPr lang="en-US" sz="3200" dirty="0"/>
              <a:t>Before the Work Accelerates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1E240B2-BF69-FF78-9DF3-D382D313C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059954"/>
              </p:ext>
            </p:extLst>
          </p:nvPr>
        </p:nvGraphicFramePr>
        <p:xfrm>
          <a:off x="628650" y="1825625"/>
          <a:ext cx="797013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91029">
                  <a:extLst>
                    <a:ext uri="{9D8B030D-6E8A-4147-A177-3AD203B41FA5}">
                      <a16:colId xmlns:a16="http://schemas.microsoft.com/office/drawing/2014/main" val="430266184"/>
                    </a:ext>
                  </a:extLst>
                </a:gridCol>
                <a:gridCol w="5579110">
                  <a:extLst>
                    <a:ext uri="{9D8B030D-6E8A-4147-A177-3AD203B41FA5}">
                      <a16:colId xmlns:a16="http://schemas.microsoft.com/office/drawing/2014/main" val="2533049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DECISION RIGHTS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can the team decide?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746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AVAILABILITY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 joins which meeting? Who may be the backup?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07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FEEDBACK WINDOW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is silence treated as approval?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49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ESCALATION PATH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happens when scope, data, or access stalls?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3421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91850-E2CD-22B9-23A2-4BDD737D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2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F51F-8EAF-66C5-4C40-86AA0CBD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Map Influence x Impact</a:t>
            </a:r>
            <a:br>
              <a:rPr lang="en-US" sz="4000" dirty="0"/>
            </a:br>
            <a:r>
              <a:rPr lang="en-US" sz="3200" dirty="0"/>
              <a:t>(Then Plan Distinct Engagement)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3F7BF-CBE6-7A26-DEB2-16624E3CE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u="sng" dirty="0"/>
              <a:t>each</a:t>
            </a:r>
            <a:r>
              <a:rPr lang="en-US" dirty="0"/>
              <a:t> stakeholder:</a:t>
            </a:r>
          </a:p>
          <a:p>
            <a:r>
              <a:rPr lang="en-US" dirty="0"/>
              <a:t>Desired outcome</a:t>
            </a:r>
          </a:p>
          <a:p>
            <a:r>
              <a:rPr lang="en-US" dirty="0"/>
              <a:t>Fears / constraints</a:t>
            </a:r>
          </a:p>
          <a:p>
            <a:r>
              <a:rPr lang="en-US" dirty="0"/>
              <a:t>Evidence they trust</a:t>
            </a:r>
          </a:p>
          <a:p>
            <a:r>
              <a:rPr lang="en-US" dirty="0"/>
              <a:t>Decision power</a:t>
            </a:r>
          </a:p>
          <a:p>
            <a:r>
              <a:rPr lang="en-US" dirty="0"/>
              <a:t>Best channel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2C316-55F8-21E2-F7B6-3E796516B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1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B02E-BC21-6B71-9CC3-F7E94063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A Stakeholder Register Turns a Map</a:t>
            </a:r>
            <a:b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into an Engagement Plan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FB0BA0-72BD-9DF7-6045-2EE93EC4C7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408748"/>
              </p:ext>
            </p:extLst>
          </p:nvPr>
        </p:nvGraphicFramePr>
        <p:xfrm>
          <a:off x="628650" y="1690689"/>
          <a:ext cx="7886700" cy="44551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44921757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78032897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2898092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87240976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238045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Stakeholder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What They Need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Project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Evidence to 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Engagement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299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Public Works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Fewer complaints; defensible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Dashboard optimizes the wrong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Definition of success; decision thresholds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Bi-monthly decision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418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Route Supervisors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Fewer complaints; defensible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Alerts arrive too late or lack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Daily workflow; override reasons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Co-design + prototype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468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Fair, feasible assignments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Model penalizes crews for bad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Exception patterns; route realities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Short interviews; ride-along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5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Residents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Reliable service;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Sensitive data used without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Complaint journey; acceptable data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Survey + representative interviews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20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IT /Privacy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Secure, supportable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Unauthorized data or unsupported 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Access rules; retention;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Gate 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2905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B4277-D4D0-CBFA-6234-22ADEF75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A6BC-40EB-DD03-CDEF-0EA52E39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Interview for Decisions and Behavior</a:t>
            </a:r>
            <a:br>
              <a:rPr lang="en-US" sz="4000" b="1" dirty="0"/>
            </a:br>
            <a:r>
              <a:rPr lang="en-US" sz="3200" dirty="0"/>
              <a:t>(Not Feature Votes)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B4BB-ADD6-E26C-3A3E-D294F3F0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6429"/>
            <a:ext cx="7886700" cy="459053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Weak</a:t>
            </a:r>
          </a:p>
          <a:p>
            <a:r>
              <a:rPr lang="en-US" dirty="0"/>
              <a:t>"</a:t>
            </a:r>
            <a:r>
              <a:rPr lang="en-US" i="1" dirty="0"/>
              <a:t>Would a predictive dashboard help you?</a:t>
            </a:r>
            <a:r>
              <a:rPr lang="en-US" dirty="0"/>
              <a:t>"</a:t>
            </a:r>
          </a:p>
          <a:p>
            <a:pPr marL="457200" lvl="1" indent="0">
              <a:buNone/>
            </a:pPr>
            <a:r>
              <a:rPr lang="en-US" b="1" dirty="0"/>
              <a:t>Invites politeness and speculation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</a:rPr>
              <a:t>Better</a:t>
            </a:r>
          </a:p>
          <a:p>
            <a:r>
              <a:rPr lang="en-US" dirty="0"/>
              <a:t>"</a:t>
            </a:r>
            <a:r>
              <a:rPr lang="en-US" i="1" dirty="0"/>
              <a:t>Walk me through the last missed pickup you handled.</a:t>
            </a:r>
            <a:r>
              <a:rPr lang="en-US" dirty="0"/>
              <a:t>"</a:t>
            </a:r>
          </a:p>
          <a:p>
            <a:pPr marL="457200" lvl="1" indent="0">
              <a:buNone/>
            </a:pPr>
            <a:r>
              <a:rPr lang="en-US" b="1" dirty="0"/>
              <a:t>Reveals actual workflow and evidence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DAC15-A8E2-73EF-DD34-70E15891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E9E49-E0D8-E695-C089-32D4CAF16187}"/>
              </a:ext>
            </a:extLst>
          </p:cNvPr>
          <p:cNvSpPr txBox="1"/>
          <p:nvPr/>
        </p:nvSpPr>
        <p:spPr>
          <a:xfrm>
            <a:off x="820820" y="4938305"/>
            <a:ext cx="7502359" cy="138499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Target:</a:t>
            </a:r>
            <a:b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Concrete Episodes → Observed Constraints → Decision Criteria → Testable Requirements</a:t>
            </a:r>
          </a:p>
        </p:txBody>
      </p:sp>
    </p:spTree>
    <p:extLst>
      <p:ext uri="{BB962C8B-B14F-4D97-AF65-F5344CB8AC3E}">
        <p14:creationId xmlns:p14="http://schemas.microsoft.com/office/powerpoint/2010/main" val="358740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6A546-9561-9A74-2968-335231B4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Strong Interviews Follow the Story</a:t>
            </a:r>
            <a:br>
              <a:rPr lang="en-US" sz="4000" dirty="0"/>
            </a:br>
            <a:r>
              <a:rPr lang="en-US" sz="4000" b="1" dirty="0"/>
              <a:t>Before Testing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DD937-23C6-7CCD-61CB-3D25E6A4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B482504F-D12B-4574-D65F-89D5589A45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4642782"/>
              </p:ext>
            </p:extLst>
          </p:nvPr>
        </p:nvGraphicFramePr>
        <p:xfrm>
          <a:off x="628649" y="1131889"/>
          <a:ext cx="7886699" cy="2839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C65AD659-4D5F-48D0-F03B-F5BB0BE78945}"/>
              </a:ext>
            </a:extLst>
          </p:cNvPr>
          <p:cNvSpPr>
            <a:spLocks noGrp="1"/>
          </p:cNvSpPr>
          <p:nvPr/>
        </p:nvSpPr>
        <p:spPr>
          <a:xfrm>
            <a:off x="628647" y="2873874"/>
            <a:ext cx="1847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latin typeface="Arial"/>
                <a:ea typeface="Arial"/>
                <a:cs typeface="Arial"/>
              </a:rPr>
              <a:t>Role, goals, environment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3D125A-2FB7-DCB9-76B5-CFFA0F606646}"/>
              </a:ext>
            </a:extLst>
          </p:cNvPr>
          <p:cNvSpPr>
            <a:spLocks noGrp="1"/>
          </p:cNvSpPr>
          <p:nvPr/>
        </p:nvSpPr>
        <p:spPr>
          <a:xfrm>
            <a:off x="2245894" y="2873874"/>
            <a:ext cx="1847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latin typeface="Arial"/>
                <a:ea typeface="Arial"/>
                <a:cs typeface="Arial"/>
              </a:rPr>
              <a:t>Last real event, step by step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ADBE63-1DA0-BE1D-ADBE-C5CEF414B861}"/>
              </a:ext>
            </a:extLst>
          </p:cNvPr>
          <p:cNvSpPr>
            <a:spLocks noGrp="1"/>
          </p:cNvSpPr>
          <p:nvPr/>
        </p:nvSpPr>
        <p:spPr>
          <a:xfrm>
            <a:off x="3895724" y="2873874"/>
            <a:ext cx="1847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latin typeface="Arial"/>
                <a:ea typeface="Arial"/>
                <a:cs typeface="Arial"/>
              </a:rPr>
              <a:t>Why? What changed? Show me.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CBB49D-9821-1B57-73EC-DE1410523471}"/>
              </a:ext>
            </a:extLst>
          </p:cNvPr>
          <p:cNvSpPr>
            <a:spLocks noGrp="1"/>
          </p:cNvSpPr>
          <p:nvPr/>
        </p:nvSpPr>
        <p:spPr>
          <a:xfrm>
            <a:off x="5624763" y="2873874"/>
            <a:ext cx="1847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latin typeface="Arial"/>
                <a:ea typeface="Arial"/>
                <a:cs typeface="Arial"/>
              </a:rPr>
              <a:t>Tradeoffs, workarounds, trust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E9307F-05C4-B36A-600B-4A23F1421AD2}"/>
              </a:ext>
            </a:extLst>
          </p:cNvPr>
          <p:cNvSpPr>
            <a:spLocks noGrp="1"/>
          </p:cNvSpPr>
          <p:nvPr/>
        </p:nvSpPr>
        <p:spPr>
          <a:xfrm>
            <a:off x="7296150" y="2873874"/>
            <a:ext cx="1575134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latin typeface="Arial"/>
                <a:ea typeface="Arial"/>
                <a:cs typeface="Arial"/>
              </a:rPr>
              <a:t>Missing voices, artifacts, follow-up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35C8AB-85D8-9089-7AF7-387FF5BDC516}"/>
              </a:ext>
            </a:extLst>
          </p:cNvPr>
          <p:cNvSpPr txBox="1"/>
          <p:nvPr/>
        </p:nvSpPr>
        <p:spPr>
          <a:xfrm>
            <a:off x="1325683" y="4106057"/>
            <a:ext cx="6492629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Listen for verbs, exceptions, handoffs, artifacts, and consequences.</a:t>
            </a:r>
          </a:p>
        </p:txBody>
      </p:sp>
    </p:spTree>
    <p:extLst>
      <p:ext uri="{BB962C8B-B14F-4D97-AF65-F5344CB8AC3E}">
        <p14:creationId xmlns:p14="http://schemas.microsoft.com/office/powerpoint/2010/main" val="3702143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E258-54A1-2451-BA1D-CA40B8CE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Use a question ladder to move</a:t>
            </a:r>
            <a:br>
              <a:rPr lang="en-US" sz="3200" dirty="0"/>
            </a:br>
            <a:r>
              <a:rPr lang="en-US" sz="4000" dirty="0"/>
              <a:t>from </a:t>
            </a:r>
            <a:r>
              <a:rPr lang="en-US" sz="4000" b="1" dirty="0"/>
              <a:t>story</a:t>
            </a:r>
            <a:r>
              <a:rPr lang="en-US" sz="4000" dirty="0"/>
              <a:t> to </a:t>
            </a:r>
            <a:r>
              <a:rPr lang="en-US" sz="4000" b="1" dirty="0"/>
              <a:t>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98CC9-A543-5605-BC6F-DB9672892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8147050" cy="448627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OPEN</a:t>
            </a:r>
            <a:br>
              <a:rPr lang="en-US" sz="2400" dirty="0"/>
            </a:br>
            <a:r>
              <a:rPr lang="en-US" sz="2000" dirty="0"/>
              <a:t>Tell me about the last missed pickup.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SEQUENCE</a:t>
            </a:r>
            <a:br>
              <a:rPr lang="en-US" sz="2400" dirty="0"/>
            </a:br>
            <a:r>
              <a:rPr lang="en-US" sz="2000" dirty="0"/>
              <a:t>What happened first? Then what?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PROBE</a:t>
            </a:r>
            <a:br>
              <a:rPr lang="en-US" sz="2400" dirty="0"/>
            </a:br>
            <a:r>
              <a:rPr lang="en-US" sz="2000" dirty="0"/>
              <a:t>What information did you use? What was missing?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EXCEPTION</a:t>
            </a:r>
            <a:br>
              <a:rPr lang="en-US" sz="2400" dirty="0"/>
            </a:br>
            <a:r>
              <a:rPr lang="en-US" sz="2000" dirty="0"/>
              <a:t>When does this process break down?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CRITERION</a:t>
            </a:r>
            <a:br>
              <a:rPr lang="en-US" sz="2400" dirty="0"/>
            </a:br>
            <a:r>
              <a:rPr lang="en-US" sz="2000" dirty="0"/>
              <a:t>What would make an alert trustworthy enough to act on?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A9C85-7BC6-DA65-5E32-F1DAEC95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8A4FA0-AAFA-AEFA-2642-43858D1AF93A}"/>
              </a:ext>
            </a:extLst>
          </p:cNvPr>
          <p:cNvSpPr>
            <a:spLocks noGrp="1"/>
          </p:cNvSpPr>
          <p:nvPr/>
        </p:nvSpPr>
        <p:spPr>
          <a:xfrm>
            <a:off x="628650" y="5462591"/>
            <a:ext cx="7886700" cy="8937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Avoid: Leading Questions • Stacked Questions • Jargon • </a:t>
            </a: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Defending </a:t>
            </a:r>
            <a:r>
              <a:rPr lang="en-US" sz="2800" i="1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the</a:t>
            </a:r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Solution</a:t>
            </a:r>
            <a:endParaRPr sz="2800" dirty="0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9751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92C9-CAE5-6A69-FB85-72BE9CE8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</a:t>
            </a:r>
            <a:br>
              <a:rPr lang="en-US" dirty="0"/>
            </a:br>
            <a:r>
              <a:rPr lang="en-US" sz="3600" b="1" dirty="0"/>
              <a:t>One answer changes the product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79D3D-7A94-6E33-5C32-4CE19C8F1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7500"/>
            <a:ext cx="7886700" cy="4589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Interview Excerpt</a:t>
            </a:r>
          </a:p>
          <a:p>
            <a:pPr marL="0" indent="0">
              <a:buNone/>
            </a:pPr>
            <a:r>
              <a:rPr lang="en-US" sz="2000" dirty="0"/>
              <a:t>Supervisor: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</a:rPr>
              <a:t>By the time I see the complaint report, the truck is already across town. I usually call the driver because the route system does not show blocked alleys.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"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6F13D-E8A1-1966-41E6-166D7EBD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1E2FB7-29B2-978F-0FE8-75C46FED1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202245"/>
              </p:ext>
            </p:extLst>
          </p:nvPr>
        </p:nvGraphicFramePr>
        <p:xfrm>
          <a:off x="628650" y="3033534"/>
          <a:ext cx="78867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4622">
                  <a:extLst>
                    <a:ext uri="{9D8B030D-6E8A-4147-A177-3AD203B41FA5}">
                      <a16:colId xmlns:a16="http://schemas.microsoft.com/office/drawing/2014/main" val="3056702138"/>
                    </a:ext>
                  </a:extLst>
                </a:gridCol>
                <a:gridCol w="5192078">
                  <a:extLst>
                    <a:ext uri="{9D8B030D-6E8A-4147-A177-3AD203B41FA5}">
                      <a16:colId xmlns:a16="http://schemas.microsoft.com/office/drawing/2014/main" val="3352682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SIGNAL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Complaint report is delayed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78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WORKAROUND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Supervisor calls the driver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522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HIDDEN CONTEXT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Blocked alleys are absent from route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32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REQUIREMENT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Surface operational exceptions before dispatch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513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TEST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a supervisor act in under 2 minutes?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7799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82398DA-8ABA-CDE1-B98F-CDA6FAFFBFDB}"/>
              </a:ext>
            </a:extLst>
          </p:cNvPr>
          <p:cNvSpPr txBox="1"/>
          <p:nvPr/>
        </p:nvSpPr>
        <p:spPr>
          <a:xfrm>
            <a:off x="1694321" y="5113418"/>
            <a:ext cx="5755358" cy="11387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/>
                </a:solidFill>
              </a:rPr>
              <a:t>The pivot:</a:t>
            </a:r>
          </a:p>
          <a:p>
            <a:r>
              <a:rPr lang="en-US" sz="2400" b="1" u="sng" dirty="0">
                <a:solidFill>
                  <a:schemeClr val="accent5"/>
                </a:solidFill>
              </a:rPr>
              <a:t>From</a:t>
            </a:r>
            <a:r>
              <a:rPr lang="en-US" sz="2400" b="1" dirty="0">
                <a:solidFill>
                  <a:schemeClr val="accent5"/>
                </a:solidFill>
              </a:rPr>
              <a:t> predicting problem routes</a:t>
            </a:r>
          </a:p>
          <a:p>
            <a:r>
              <a:rPr lang="en-US" sz="2400" b="1" u="sng" dirty="0">
                <a:solidFill>
                  <a:schemeClr val="accent5"/>
                </a:solidFill>
              </a:rPr>
              <a:t>To</a:t>
            </a:r>
            <a:r>
              <a:rPr lang="en-US" sz="2400" b="1" dirty="0">
                <a:solidFill>
                  <a:schemeClr val="accent5"/>
                </a:solidFill>
              </a:rPr>
              <a:t> supporting exception-aware dispatch</a:t>
            </a:r>
          </a:p>
        </p:txBody>
      </p:sp>
    </p:spTree>
    <p:extLst>
      <p:ext uri="{BB962C8B-B14F-4D97-AF65-F5344CB8AC3E}">
        <p14:creationId xmlns:p14="http://schemas.microsoft.com/office/powerpoint/2010/main" val="2692384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201B-EA05-287C-F087-3E971F1C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EEDA-2099-069D-3F63-D7CCDF95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Synthesize Immediately:</a:t>
            </a:r>
            <a:br>
              <a:rPr lang="en-US" sz="3200" dirty="0"/>
            </a:br>
            <a:r>
              <a:rPr lang="en-US" b="1" dirty="0"/>
              <a:t>Evidence, Interpretation, 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64C87-668B-797A-7DB6-54909284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13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15479-ACC2-D3B3-78C6-6AA65850F8EE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1F78D1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F78D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F73BC-A4AC-6ADD-B45B-33D75BD58DFC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2468880" cy="2190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r>
              <a:rPr lang="en-US" b="1" dirty="0"/>
              <a:t>Exact observation</a:t>
            </a:r>
            <a:br>
              <a:rPr lang="en-US" b="1" dirty="0"/>
            </a:br>
            <a:r>
              <a:rPr lang="en-US" b="1" dirty="0"/>
              <a:t>or short quote</a:t>
            </a:r>
          </a:p>
          <a:p>
            <a:r>
              <a:rPr lang="en-US" b="1" dirty="0"/>
              <a:t>+ source and date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F8D32-53C4-3D41-3247-3C63DA50C0C8}"/>
              </a:ext>
            </a:extLst>
          </p:cNvPr>
          <p:cNvSpPr>
            <a:spLocks noGrp="1"/>
          </p:cNvSpPr>
          <p:nvPr/>
        </p:nvSpPr>
        <p:spPr>
          <a:xfrm>
            <a:off x="333756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1F78D1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F78D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F9AFC7-EFFE-04B9-81B5-4867C5BF86AB}"/>
              </a:ext>
            </a:extLst>
          </p:cNvPr>
          <p:cNvSpPr>
            <a:spLocks noGrp="1"/>
          </p:cNvSpPr>
          <p:nvPr/>
        </p:nvSpPr>
        <p:spPr>
          <a:xfrm>
            <a:off x="3337560" y="2057400"/>
            <a:ext cx="2468880" cy="2190750"/>
          </a:xfrm>
          <a:prstGeom prst="rect">
            <a:avLst/>
          </a:prstGeom>
          <a:solidFill>
            <a:srgbClr val="DDF2FC"/>
          </a:solidFill>
          <a:ln w="0">
            <a:noFill/>
            <a:prstDash val="solid"/>
          </a:ln>
        </p:spPr>
        <p:txBody>
          <a:bodyPr/>
          <a:lstStyle/>
          <a:p>
            <a:r>
              <a:rPr lang="en-US" b="1" dirty="0"/>
              <a:t>Pattern, tension,</a:t>
            </a:r>
            <a:br>
              <a:rPr lang="en-US" b="1" dirty="0"/>
            </a:br>
            <a:r>
              <a:rPr lang="en-US" b="1" dirty="0"/>
              <a:t>or unmet need</a:t>
            </a:r>
          </a:p>
          <a:p>
            <a:r>
              <a:rPr lang="en-US" b="1" dirty="0"/>
              <a:t>+ confidence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B6ABA2-7662-FBED-FF24-D854378072F4}"/>
              </a:ext>
            </a:extLst>
          </p:cNvPr>
          <p:cNvSpPr>
            <a:spLocks noGrp="1"/>
          </p:cNvSpPr>
          <p:nvPr/>
        </p:nvSpPr>
        <p:spPr>
          <a:xfrm>
            <a:off x="666750" y="43529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C95656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C95656"/>
                </a:solidFill>
                <a:latin typeface="Arial"/>
                <a:ea typeface="Arial"/>
                <a:cs typeface="Arial"/>
              </a:rPr>
              <a:t>Do not jump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697A26-996D-2725-C084-CC604B949EBD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00" lnSpcReduction="10000"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Quote → feature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42AEE3-A96A-5274-2342-F2703FD6D42D}"/>
              </a:ext>
            </a:extLst>
          </p:cNvPr>
          <p:cNvSpPr>
            <a:spLocks noGrp="1"/>
          </p:cNvSpPr>
          <p:nvPr/>
        </p:nvSpPr>
        <p:spPr>
          <a:xfrm>
            <a:off x="3337560" y="4395789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2E8B57"/>
                </a:solidFill>
                <a:latin typeface="Arial"/>
                <a:ea typeface="Arial"/>
                <a:cs typeface="Arial"/>
              </a:rPr>
              <a:t>Build the chain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7A94A3-5C07-EDD2-F35E-57E84BF05CF7}"/>
              </a:ext>
            </a:extLst>
          </p:cNvPr>
          <p:cNvSpPr>
            <a:spLocks noGrp="1"/>
          </p:cNvSpPr>
          <p:nvPr/>
        </p:nvSpPr>
        <p:spPr>
          <a:xfrm>
            <a:off x="3337560" y="4657728"/>
            <a:ext cx="513969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000" lnSpcReduction="10000"/>
          </a:bodyPr>
          <a:lstStyle/>
          <a:p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Evidence → insight → decision → 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25713-49FD-353E-590F-BFE2BDA2BB42}"/>
              </a:ext>
            </a:extLst>
          </p:cNvPr>
          <p:cNvSpPr>
            <a:spLocks noGrp="1"/>
          </p:cNvSpPr>
          <p:nvPr/>
        </p:nvSpPr>
        <p:spPr>
          <a:xfrm>
            <a:off x="600837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1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2E8B57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C258BD-7AAC-8155-0579-E49ED8B08409}"/>
              </a:ext>
            </a:extLst>
          </p:cNvPr>
          <p:cNvSpPr>
            <a:spLocks noGrp="1"/>
          </p:cNvSpPr>
          <p:nvPr/>
        </p:nvSpPr>
        <p:spPr>
          <a:xfrm>
            <a:off x="6008370" y="2057400"/>
            <a:ext cx="2468880" cy="2190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r>
              <a:rPr lang="en-US" b="1" dirty="0"/>
              <a:t>Requirement, experiment, or question</a:t>
            </a:r>
          </a:p>
          <a:p>
            <a:r>
              <a:rPr lang="en-US" b="1" dirty="0"/>
              <a:t>+ owner and deadline</a:t>
            </a:r>
          </a:p>
        </p:txBody>
      </p:sp>
    </p:spTree>
    <p:extLst>
      <p:ext uri="{BB962C8B-B14F-4D97-AF65-F5344CB8AC3E}">
        <p14:creationId xmlns:p14="http://schemas.microsoft.com/office/powerpoint/2010/main" val="1538371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B10D-1FA2-4FB6-192C-0A6517B3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Practice:</a:t>
            </a:r>
            <a:br>
              <a:rPr lang="en-US" dirty="0"/>
            </a:br>
            <a:r>
              <a:rPr lang="en-US" b="1" dirty="0"/>
              <a:t>Interview the Route Supervisor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3E2D3-BCFF-18FD-C6B3-8C356566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758FA-02A2-C8C0-CDE4-AEFB7BC4B714}"/>
              </a:ext>
            </a:extLst>
          </p:cNvPr>
          <p:cNvSpPr txBox="1"/>
          <p:nvPr/>
        </p:nvSpPr>
        <p:spPr>
          <a:xfrm>
            <a:off x="1596788" y="4609753"/>
            <a:ext cx="6339044" cy="138499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Debrief:</a:t>
            </a:r>
          </a:p>
          <a:p>
            <a:pPr algn="ctr"/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What changed in your understanding?</a:t>
            </a:r>
          </a:p>
          <a:p>
            <a:pPr algn="ctr"/>
            <a:r>
              <a:rPr lang="en-U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What requirement can you now test?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04712-1DC7-76A1-325C-021D82F9706D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>
              <a:defRPr sz="1125" b="1">
                <a:solidFill>
                  <a:srgbClr val="1F78D1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>
                <a:solidFill>
                  <a:srgbClr val="1F78D1"/>
                </a:solidFill>
                <a:latin typeface="Arial"/>
                <a:ea typeface="Arial"/>
                <a:cs typeface="Arial"/>
              </a:rPr>
              <a:t>INTERVIEWER</a:t>
            </a:r>
            <a:endParaRPr sz="1125" b="1" dirty="0">
              <a:solidFill>
                <a:srgbClr val="1F78D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747D54-E9AD-6976-B1BE-A922426DF04D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2468880" cy="2190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r>
              <a:rPr lang="en-US" b="1" dirty="0"/>
              <a:t>Use the five-step arc. Ask for one real episode.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34ADE-63FB-1606-8009-F86FC0925E08}"/>
              </a:ext>
            </a:extLst>
          </p:cNvPr>
          <p:cNvSpPr>
            <a:spLocks noGrp="1"/>
          </p:cNvSpPr>
          <p:nvPr/>
        </p:nvSpPr>
        <p:spPr>
          <a:xfrm>
            <a:off x="333756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>
              <a:defRPr sz="1125" b="1">
                <a:solidFill>
                  <a:srgbClr val="1F78D1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>
                <a:solidFill>
                  <a:srgbClr val="1F78D1"/>
                </a:solidFill>
                <a:latin typeface="Arial"/>
                <a:ea typeface="Arial"/>
                <a:cs typeface="Arial"/>
              </a:rPr>
              <a:t>SUPERVISOR</a:t>
            </a:r>
            <a:endParaRPr sz="1125" b="1" dirty="0">
              <a:solidFill>
                <a:srgbClr val="1F78D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43856-0ABB-011B-6030-6CA2A8FF4BCF}"/>
              </a:ext>
            </a:extLst>
          </p:cNvPr>
          <p:cNvSpPr>
            <a:spLocks noGrp="1"/>
          </p:cNvSpPr>
          <p:nvPr/>
        </p:nvSpPr>
        <p:spPr>
          <a:xfrm>
            <a:off x="3337560" y="2057400"/>
            <a:ext cx="2468880" cy="2190750"/>
          </a:xfrm>
          <a:prstGeom prst="rect">
            <a:avLst/>
          </a:prstGeom>
          <a:solidFill>
            <a:srgbClr val="DDF2FC"/>
          </a:solidFill>
          <a:ln w="0">
            <a:noFill/>
            <a:prstDash val="solid"/>
          </a:ln>
        </p:spPr>
        <p:txBody>
          <a:bodyPr/>
          <a:lstStyle/>
          <a:p>
            <a:r>
              <a:rPr lang="en-US" b="1" dirty="0"/>
              <a:t>You distrust alerts without route context. Reveal this only if probed.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3E74CA-7482-807D-BC8C-B9EF64A32B52}"/>
              </a:ext>
            </a:extLst>
          </p:cNvPr>
          <p:cNvSpPr>
            <a:spLocks noGrp="1"/>
          </p:cNvSpPr>
          <p:nvPr/>
        </p:nvSpPr>
        <p:spPr>
          <a:xfrm>
            <a:off x="600837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611" lnSpcReduction="10000"/>
          </a:bodyPr>
          <a:lstStyle/>
          <a:p>
            <a:pPr>
              <a:defRPr sz="1125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lang="en-US" sz="1125" b="1" dirty="0">
                <a:solidFill>
                  <a:srgbClr val="2E8B57"/>
                </a:solidFill>
                <a:latin typeface="Arial"/>
                <a:ea typeface="Arial"/>
                <a:cs typeface="Arial"/>
              </a:rPr>
              <a:t>OBSERVER</a:t>
            </a:r>
            <a:endParaRPr sz="1125" b="1" dirty="0">
              <a:solidFill>
                <a:srgbClr val="2E8B5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776F37-6599-5E48-599F-B7F5C263EFD7}"/>
              </a:ext>
            </a:extLst>
          </p:cNvPr>
          <p:cNvSpPr>
            <a:spLocks noGrp="1"/>
          </p:cNvSpPr>
          <p:nvPr/>
        </p:nvSpPr>
        <p:spPr>
          <a:xfrm>
            <a:off x="6008370" y="2057400"/>
            <a:ext cx="2468880" cy="2190750"/>
          </a:xfrm>
          <a:prstGeom prst="rect">
            <a:avLst/>
          </a:prstGeom>
          <a:solidFill>
            <a:srgbClr val="EEF2F5"/>
          </a:solidFill>
          <a:ln w="0">
            <a:noFill/>
            <a:prstDash val="solid"/>
          </a:ln>
        </p:spPr>
        <p:txBody>
          <a:bodyPr/>
          <a:lstStyle/>
          <a:p>
            <a:r>
              <a:rPr lang="en-US" b="1" dirty="0"/>
              <a:t>Track leading questions, follow-ups, and usable evidence.</a:t>
            </a:r>
          </a:p>
        </p:txBody>
      </p:sp>
    </p:spTree>
    <p:extLst>
      <p:ext uri="{BB962C8B-B14F-4D97-AF65-F5344CB8AC3E}">
        <p14:creationId xmlns:p14="http://schemas.microsoft.com/office/powerpoint/2010/main" val="360116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F09D-E5DE-C13D-EC19-10AB560B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Next Sponsor Meeting:</a:t>
            </a:r>
            <a:br>
              <a:rPr lang="en-US" dirty="0"/>
            </a:br>
            <a:r>
              <a:rPr lang="en-US" b="1" dirty="0"/>
              <a:t>Leave with Four 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64612-F824-41A1-273F-337CEEC6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Working Contract</a:t>
            </a:r>
            <a:br>
              <a:rPr lang="en-US" dirty="0"/>
            </a:br>
            <a:r>
              <a:rPr lang="en-US" dirty="0"/>
              <a:t>Decision rights, cadence, feedback, escalation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Stakeholder Register</a:t>
            </a:r>
            <a:br>
              <a:rPr lang="en-US" dirty="0"/>
            </a:br>
            <a:r>
              <a:rPr lang="en-US" dirty="0"/>
              <a:t>Influence, impact, needs, evidence, channel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Interview Guide</a:t>
            </a:r>
            <a:br>
              <a:rPr lang="en-US" dirty="0"/>
            </a:br>
            <a:r>
              <a:rPr lang="en-US" dirty="0"/>
              <a:t>Purpose, arc, probes, closing questions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Decision Log</a:t>
            </a:r>
            <a:br>
              <a:rPr lang="en-US" dirty="0"/>
            </a:br>
            <a:r>
              <a:rPr lang="en-US" dirty="0"/>
              <a:t>Evidence, decision, owner, due date!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B6DFE-C2A2-7383-5796-CFD5333D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B3C7BF-F964-CFC7-56C2-F753F3B4AAF5}"/>
              </a:ext>
            </a:extLst>
          </p:cNvPr>
          <p:cNvSpPr>
            <a:spLocks noGrp="1"/>
          </p:cNvSpPr>
          <p:nvPr/>
        </p:nvSpPr>
        <p:spPr>
          <a:xfrm>
            <a:off x="628650" y="5473705"/>
            <a:ext cx="7886700" cy="5286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Evidence →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nsight →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ecision →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r>
              <a:rPr sz="2800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</a:rPr>
              <a:t>est</a:t>
            </a:r>
          </a:p>
        </p:txBody>
      </p:sp>
    </p:spTree>
    <p:extLst>
      <p:ext uri="{BB962C8B-B14F-4D97-AF65-F5344CB8AC3E}">
        <p14:creationId xmlns:p14="http://schemas.microsoft.com/office/powerpoint/2010/main" val="237839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785</TotalTime>
  <Words>930</Words>
  <Application>Microsoft Macintosh PowerPoint</Application>
  <PresentationFormat>On-screen Show (4:3)</PresentationFormat>
  <Paragraphs>175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Sponsor Engagement Stakeholder Analysis Effective Interviewing</vt:lpstr>
      <vt:lpstr>The Goal is: Shared Confidence Not Just Frequent Contact</vt:lpstr>
      <vt:lpstr>Example Riverton Public Works (Sponsor)</vt:lpstr>
      <vt:lpstr>What is Still Unknown?</vt:lpstr>
      <vt:lpstr>Use Sponsor Time to Reduce Uncertainty in Stages</vt:lpstr>
      <vt:lpstr>Agree on the "Working Contract" Before the Work Accelerates</vt:lpstr>
      <vt:lpstr>Map Influence x Impact (Then Plan Distinct Engagement)</vt:lpstr>
      <vt:lpstr>A Stakeholder Register Turns a Map into an Engagement Plan</vt:lpstr>
      <vt:lpstr>Interview for Decisions and Behavior (Not Feature Votes)</vt:lpstr>
      <vt:lpstr>Strong Interviews Follow the Story Before Testing Solutions</vt:lpstr>
      <vt:lpstr>Use a question ladder to move from story to requirement</vt:lpstr>
      <vt:lpstr>Example: One answer changes the product concept</vt:lpstr>
      <vt:lpstr>Synthesize Immediately: Evidence, Interpretation, Decision</vt:lpstr>
      <vt:lpstr>Practice: Interview the Route Supervisor</vt:lpstr>
      <vt:lpstr>Next Sponsor Meeting: Leave with Four Artifacts</vt:lpstr>
    </vt:vector>
  </TitlesOfParts>
  <Manager/>
  <Company>TAMU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subject>DAEN 460</dc:subject>
  <dc:creator>Alexander Abuabara</dc:creator>
  <cp:keywords/>
  <dc:description/>
  <cp:lastModifiedBy>Alexander Abuabara</cp:lastModifiedBy>
  <cp:revision>131</cp:revision>
  <dcterms:created xsi:type="dcterms:W3CDTF">2026-01-26T19:08:04Z</dcterms:created>
  <dcterms:modified xsi:type="dcterms:W3CDTF">2026-09-09T04:05:07Z</dcterms:modified>
  <cp:category/>
</cp:coreProperties>
</file>