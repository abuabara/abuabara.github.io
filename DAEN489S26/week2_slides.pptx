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9"/>
  </p:notesMasterIdLst>
  <p:sldIdLst>
    <p:sldId id="256" r:id="rId2"/>
    <p:sldId id="259" r:id="rId3"/>
    <p:sldId id="260" r:id="rId4"/>
    <p:sldId id="275" r:id="rId5"/>
    <p:sldId id="277" r:id="rId6"/>
    <p:sldId id="306" r:id="rId7"/>
    <p:sldId id="286" r:id="rId8"/>
    <p:sldId id="309" r:id="rId9"/>
    <p:sldId id="278" r:id="rId10"/>
    <p:sldId id="311" r:id="rId11"/>
    <p:sldId id="257" r:id="rId12"/>
    <p:sldId id="307" r:id="rId13"/>
    <p:sldId id="313" r:id="rId14"/>
    <p:sldId id="315" r:id="rId15"/>
    <p:sldId id="316" r:id="rId16"/>
    <p:sldId id="317" r:id="rId17"/>
    <p:sldId id="318" r:id="rId18"/>
    <p:sldId id="319" r:id="rId19"/>
    <p:sldId id="320" r:id="rId20"/>
    <p:sldId id="314" r:id="rId21"/>
    <p:sldId id="321" r:id="rId22"/>
    <p:sldId id="322" r:id="rId23"/>
    <p:sldId id="261" r:id="rId24"/>
    <p:sldId id="268" r:id="rId25"/>
    <p:sldId id="279" r:id="rId26"/>
    <p:sldId id="266" r:id="rId27"/>
    <p:sldId id="281" r:id="rId28"/>
    <p:sldId id="270" r:id="rId29"/>
    <p:sldId id="282" r:id="rId30"/>
    <p:sldId id="272" r:id="rId31"/>
    <p:sldId id="274" r:id="rId32"/>
    <p:sldId id="262" r:id="rId33"/>
    <p:sldId id="283" r:id="rId34"/>
    <p:sldId id="324" r:id="rId35"/>
    <p:sldId id="263" r:id="rId36"/>
    <p:sldId id="284" r:id="rId37"/>
    <p:sldId id="285" r:id="rId38"/>
    <p:sldId id="264" r:id="rId39"/>
    <p:sldId id="287" r:id="rId40"/>
    <p:sldId id="323" r:id="rId41"/>
    <p:sldId id="265" r:id="rId42"/>
    <p:sldId id="294" r:id="rId43"/>
    <p:sldId id="296" r:id="rId44"/>
    <p:sldId id="297" r:id="rId45"/>
    <p:sldId id="303" r:id="rId46"/>
    <p:sldId id="298" r:id="rId47"/>
    <p:sldId id="305" r:id="rId48"/>
    <p:sldId id="300" r:id="rId49"/>
    <p:sldId id="304" r:id="rId50"/>
    <p:sldId id="302" r:id="rId51"/>
    <p:sldId id="308" r:id="rId52"/>
    <p:sldId id="301" r:id="rId53"/>
    <p:sldId id="292" r:id="rId54"/>
    <p:sldId id="288" r:id="rId55"/>
    <p:sldId id="290" r:id="rId56"/>
    <p:sldId id="289" r:id="rId57"/>
    <p:sldId id="291"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3232"/>
    <a:srgbClr val="444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34"/>
    <p:restoredTop sz="96018"/>
  </p:normalViewPr>
  <p:slideViewPr>
    <p:cSldViewPr snapToGrid="0">
      <p:cViewPr varScale="1">
        <p:scale>
          <a:sx n="124" d="100"/>
          <a:sy n="124" d="100"/>
        </p:scale>
        <p:origin x="1512" y="168"/>
      </p:cViewPr>
      <p:guideLst>
        <p:guide pos="36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89108-C277-F143-B801-EB0C1F747A0D}" type="datetimeFigureOut">
              <a:rPr lang="en-US" smtClean="0"/>
              <a:t>1/29/26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60A50-D8C8-3044-B12D-4CB82C33C077}" type="slidenum">
              <a:rPr lang="en-US" smtClean="0"/>
              <a:t>‹#›</a:t>
            </a:fld>
            <a:endParaRPr lang="en-US"/>
          </a:p>
        </p:txBody>
      </p:sp>
    </p:spTree>
    <p:extLst>
      <p:ext uri="{BB962C8B-B14F-4D97-AF65-F5344CB8AC3E}">
        <p14:creationId xmlns:p14="http://schemas.microsoft.com/office/powerpoint/2010/main" val="175807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2E7E5E-97B6-C845-AB07-AA6308AD4B55}"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D3709-BB92-2C48-8E79-2DF916E566E8}"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5E2309-84AF-464E-9606-EA1DC5ECE8CB}"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E926C3-C97B-FE48-BA40-F5BC1B01E531}" type="datetime1">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505075"/>
            <a:ext cx="404098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40576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E3A36A-7CDE-E14A-A354-8818A68E5D62}" type="datetime1">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782D31-0AFE-E544-8C7B-24A356F05664}" type="datetime1">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68432-01B9-8643-8594-3EE4C5266373}" type="datetime1">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BCE9B-9677-9142-924B-F2418F452FF4}" type="datetime1">
              <a:rPr lang="en-US" smtClean="0"/>
              <a:t>1/29/26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olorbrewer2.org/"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tnris.org/stratmap/land-parcels.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Geographic Data</a:t>
            </a:r>
            <a:br>
              <a:rPr lang="en-US" dirty="0"/>
            </a:br>
            <a:r>
              <a:rPr lang="en-US" dirty="0"/>
              <a:t>and Spatial ETL</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normAutofit/>
          </a:bodyPr>
          <a:lstStyle/>
          <a:p>
            <a:r>
              <a:rPr lang="en-US" i="1" dirty="0"/>
              <a:t>Attribute Operations, Pre-processing, Workflows</a:t>
            </a:r>
          </a:p>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7B028A02-0EA1-9C8B-87E6-9FAA651FFE8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
        <p:nvSpPr>
          <p:cNvPr id="5" name="Slide Number Placeholder 4">
            <a:extLst>
              <a:ext uri="{FF2B5EF4-FFF2-40B4-BE49-F238E27FC236}">
                <a16:creationId xmlns:a16="http://schemas.microsoft.com/office/drawing/2014/main" id="{5C1A5AF8-5F84-A103-9300-DA89117A8DBA}"/>
              </a:ext>
            </a:extLst>
          </p:cNvPr>
          <p:cNvSpPr>
            <a:spLocks noGrp="1"/>
          </p:cNvSpPr>
          <p:nvPr>
            <p:ph type="sldNum" sz="quarter" idx="12"/>
          </p:nvPr>
        </p:nvSpPr>
        <p:spPr/>
        <p:txBody>
          <a:bodyPr/>
          <a:lstStyle/>
          <a:p>
            <a:fld id="{C0343C75-1924-D247-85A3-0CB62E67E5D1}" type="slidenum">
              <a:rPr lang="en-US" smtClean="0"/>
              <a:t>1</a:t>
            </a:fld>
            <a:endParaRPr lang="en-US"/>
          </a:p>
        </p:txBody>
      </p:sp>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A6E-E398-40C2-CADA-51157C6DF68A}"/>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0B8B1B72-3EC2-62D1-21CB-A357877FF9B9}"/>
              </a:ext>
            </a:extLst>
          </p:cNvPr>
          <p:cNvSpPr>
            <a:spLocks noGrp="1"/>
          </p:cNvSpPr>
          <p:nvPr>
            <p:ph idx="1"/>
          </p:nvPr>
        </p:nvSpPr>
        <p:spPr/>
        <p:txBody>
          <a:bodyPr/>
          <a:lstStyle/>
          <a:p>
            <a:pPr marL="457200" indent="-457200">
              <a:buFont typeface="+mj-lt"/>
              <a:buAutoNum type="arabicPeriod"/>
            </a:pPr>
            <a:r>
              <a:rPr lang="en-US" dirty="0"/>
              <a:t>Previously</a:t>
            </a:r>
          </a:p>
          <a:p>
            <a:pPr marL="457200" indent="-457200">
              <a:buFont typeface="+mj-lt"/>
              <a:buAutoNum type="arabicPeriod"/>
            </a:pPr>
            <a:r>
              <a:rPr lang="en-US" dirty="0"/>
              <a:t>Attribute Data in Spatial ETL</a:t>
            </a:r>
          </a:p>
          <a:p>
            <a:pPr lvl="1"/>
            <a:r>
              <a:rPr lang="en-US" dirty="0"/>
              <a:t>Intro to Thematic Maps</a:t>
            </a:r>
          </a:p>
          <a:p>
            <a:pPr marL="457200" indent="-457200">
              <a:buFont typeface="+mj-lt"/>
              <a:buAutoNum type="arabicPeriod"/>
            </a:pPr>
            <a:r>
              <a:rPr lang="en-US" dirty="0"/>
              <a:t>Vector Attribute Operations</a:t>
            </a:r>
          </a:p>
          <a:p>
            <a:pPr marL="457200" indent="-457200">
              <a:buFont typeface="+mj-lt"/>
              <a:buAutoNum type="arabicPeriod"/>
            </a:pPr>
            <a:r>
              <a:rPr lang="en-US" dirty="0"/>
              <a:t>Raster Attribute Operations</a:t>
            </a:r>
          </a:p>
          <a:p>
            <a:pPr marL="457200" indent="-457200">
              <a:buFont typeface="+mj-lt"/>
              <a:buAutoNum type="arabicPeriod"/>
            </a:pPr>
            <a:r>
              <a:rPr lang="en-US" dirty="0"/>
              <a:t>Pre-Processing Workflows in Spatial ETL</a:t>
            </a:r>
          </a:p>
          <a:p>
            <a:pPr marL="457200" indent="-457200">
              <a:buFont typeface="+mj-lt"/>
              <a:buAutoNum type="arabicPeriod"/>
            </a:pPr>
            <a:r>
              <a:rPr lang="en-US" dirty="0"/>
              <a:t>Questions to Practice</a:t>
            </a:r>
          </a:p>
          <a:p>
            <a:pPr marL="457200" indent="-457200">
              <a:buFont typeface="+mj-lt"/>
              <a:buAutoNum type="arabicPeriod"/>
            </a:pPr>
            <a:r>
              <a:rPr lang="en-US" dirty="0"/>
              <a:t>Assignment #2</a:t>
            </a:r>
          </a:p>
        </p:txBody>
      </p:sp>
      <p:sp>
        <p:nvSpPr>
          <p:cNvPr id="4" name="Slide Number Placeholder 3">
            <a:extLst>
              <a:ext uri="{FF2B5EF4-FFF2-40B4-BE49-F238E27FC236}">
                <a16:creationId xmlns:a16="http://schemas.microsoft.com/office/drawing/2014/main" id="{B34DF6E0-ECB4-229F-AABC-958B799A14BB}"/>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101414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9709-0A9B-1335-4F38-7A6A157D27E1}"/>
              </a:ext>
            </a:extLst>
          </p:cNvPr>
          <p:cNvSpPr>
            <a:spLocks noGrp="1"/>
          </p:cNvSpPr>
          <p:nvPr>
            <p:ph type="title"/>
          </p:nvPr>
        </p:nvSpPr>
        <p:spPr/>
        <p:txBody>
          <a:bodyPr/>
          <a:lstStyle/>
          <a:p>
            <a:r>
              <a:rPr lang="en-US" dirty="0"/>
              <a:t>Previously</a:t>
            </a:r>
          </a:p>
        </p:txBody>
      </p:sp>
      <p:sp>
        <p:nvSpPr>
          <p:cNvPr id="3" name="Content Placeholder 2">
            <a:extLst>
              <a:ext uri="{FF2B5EF4-FFF2-40B4-BE49-F238E27FC236}">
                <a16:creationId xmlns:a16="http://schemas.microsoft.com/office/drawing/2014/main" id="{68C3B69A-6E9F-F056-230C-611F69D88948}"/>
              </a:ext>
            </a:extLst>
          </p:cNvPr>
          <p:cNvSpPr>
            <a:spLocks noGrp="1"/>
          </p:cNvSpPr>
          <p:nvPr>
            <p:ph idx="1"/>
          </p:nvPr>
        </p:nvSpPr>
        <p:spPr/>
        <p:txBody>
          <a:bodyPr/>
          <a:lstStyle/>
          <a:p>
            <a:pPr marL="0" indent="0">
              <a:buNone/>
            </a:pPr>
            <a:r>
              <a:rPr lang="en-US" dirty="0"/>
              <a:t>Spatial Data Models</a:t>
            </a:r>
          </a:p>
          <a:p>
            <a:r>
              <a:rPr lang="en-US" dirty="0"/>
              <a:t>Vector vs Raster</a:t>
            </a:r>
          </a:p>
          <a:p>
            <a:r>
              <a:rPr lang="en-US" dirty="0"/>
              <a:t>Coordinate reference systems (CRS)</a:t>
            </a:r>
          </a:p>
          <a:p>
            <a:endParaRPr lang="en-US" dirty="0"/>
          </a:p>
          <a:p>
            <a:pPr marL="0" indent="0">
              <a:buNone/>
            </a:pPr>
            <a:r>
              <a:rPr lang="en-US" dirty="0"/>
              <a:t>Spatial Objects</a:t>
            </a:r>
          </a:p>
          <a:p>
            <a:r>
              <a:rPr lang="en-US" dirty="0">
                <a:solidFill>
                  <a:srgbClr val="C00000"/>
                </a:solidFill>
                <a:latin typeface="OSAKA-MONO" panose="020B0600000000000000" pitchFamily="34" charset="-128"/>
                <a:ea typeface="OSAKA-MONO" panose="020B0600000000000000" pitchFamily="34" charset="-128"/>
                <a:cs typeface="Fira Code" panose="020B0809050000020004" pitchFamily="34" charset="0"/>
              </a:rPr>
              <a:t>sf</a:t>
            </a:r>
            <a:r>
              <a:rPr lang="en-US" dirty="0">
                <a:latin typeface="OSAKA-MONO" panose="020B0600000000000000" pitchFamily="34" charset="-128"/>
                <a:ea typeface="OSAKA-MONO" panose="020B0600000000000000" pitchFamily="34" charset="-128"/>
              </a:rPr>
              <a:t> </a:t>
            </a:r>
            <a:r>
              <a:rPr lang="en-US" dirty="0"/>
              <a:t>objects: geometry + attributes</a:t>
            </a:r>
          </a:p>
          <a:p>
            <a:r>
              <a:rPr lang="en-US" dirty="0">
                <a:solidFill>
                  <a:srgbClr val="C00000"/>
                </a:solidFill>
                <a:latin typeface="OSAKA-MONO" panose="020B0600000000000000" pitchFamily="34" charset="-128"/>
                <a:ea typeface="OSAKA-MONO" panose="020B0600000000000000" pitchFamily="34" charset="-128"/>
                <a:cs typeface="Cascadia Code PL SemiLight" panose="020B0609020000020004" pitchFamily="34" charset="0"/>
              </a:rPr>
              <a:t>terra</a:t>
            </a:r>
            <a:r>
              <a:rPr lang="en-US" dirty="0">
                <a:latin typeface="OSAKA-MONO" panose="020B0600000000000000" pitchFamily="34" charset="-128"/>
                <a:ea typeface="OSAKA-MONO" panose="020B0600000000000000" pitchFamily="34" charset="-128"/>
              </a:rPr>
              <a:t> </a:t>
            </a:r>
            <a:r>
              <a:rPr lang="en-US" dirty="0"/>
              <a:t>rasters: value grids with implicit spatial metadata</a:t>
            </a:r>
          </a:p>
          <a:p>
            <a:endParaRPr lang="en-US" dirty="0"/>
          </a:p>
        </p:txBody>
      </p:sp>
      <p:sp>
        <p:nvSpPr>
          <p:cNvPr id="5" name="Slide Number Placeholder 4">
            <a:extLst>
              <a:ext uri="{FF2B5EF4-FFF2-40B4-BE49-F238E27FC236}">
                <a16:creationId xmlns:a16="http://schemas.microsoft.com/office/drawing/2014/main" id="{859381AD-8E71-4DBB-2FD8-C48802AFE341}"/>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255268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61E444-3A38-D9AA-1CD2-75A38AA9BAE0}"/>
              </a:ext>
            </a:extLst>
          </p:cNvPr>
          <p:cNvSpPr>
            <a:spLocks noGrp="1"/>
          </p:cNvSpPr>
          <p:nvPr>
            <p:ph type="title"/>
          </p:nvPr>
        </p:nvSpPr>
        <p:spPr/>
        <p:txBody>
          <a:bodyPr/>
          <a:lstStyle/>
          <a:p>
            <a:r>
              <a:rPr lang="en-US" dirty="0"/>
              <a:t>Spatial Data Models</a:t>
            </a:r>
          </a:p>
        </p:txBody>
      </p:sp>
      <p:sp>
        <p:nvSpPr>
          <p:cNvPr id="3" name="Content Placeholder 2">
            <a:extLst>
              <a:ext uri="{FF2B5EF4-FFF2-40B4-BE49-F238E27FC236}">
                <a16:creationId xmlns:a16="http://schemas.microsoft.com/office/drawing/2014/main" id="{41835B0C-A665-A4DF-F71A-95627BDDF092}"/>
              </a:ext>
            </a:extLst>
          </p:cNvPr>
          <p:cNvSpPr>
            <a:spLocks noGrp="1"/>
          </p:cNvSpPr>
          <p:nvPr>
            <p:ph sz="half" idx="1"/>
          </p:nvPr>
        </p:nvSpPr>
        <p:spPr/>
        <p:txBody>
          <a:bodyPr/>
          <a:lstStyle/>
          <a:p>
            <a:pPr marL="0" indent="0">
              <a:buNone/>
            </a:pPr>
            <a:r>
              <a:rPr lang="en-US" b="1" dirty="0"/>
              <a:t>Vector</a:t>
            </a:r>
          </a:p>
          <a:p>
            <a:r>
              <a:rPr lang="en-US" dirty="0"/>
              <a:t>Points, Lines, Polygons</a:t>
            </a:r>
          </a:p>
          <a:p>
            <a:r>
              <a:rPr lang="en-US" dirty="0"/>
              <a:t>Discrete features with attributes</a:t>
            </a:r>
          </a:p>
          <a:p>
            <a:r>
              <a:rPr lang="en-US" dirty="0">
                <a:latin typeface="OSAKA-MONO" panose="020B0600000000000000" pitchFamily="34" charset="-128"/>
                <a:ea typeface="OSAKA-MONO" panose="020B0600000000000000" pitchFamily="34" charset="-128"/>
              </a:rPr>
              <a:t>sf</a:t>
            </a:r>
            <a:r>
              <a:rPr lang="en-US" dirty="0"/>
              <a:t> package</a:t>
            </a:r>
          </a:p>
          <a:p>
            <a:endParaRPr lang="en-US" dirty="0"/>
          </a:p>
        </p:txBody>
      </p:sp>
      <p:sp>
        <p:nvSpPr>
          <p:cNvPr id="5" name="Content Placeholder 4">
            <a:extLst>
              <a:ext uri="{FF2B5EF4-FFF2-40B4-BE49-F238E27FC236}">
                <a16:creationId xmlns:a16="http://schemas.microsoft.com/office/drawing/2014/main" id="{B4A8CCF3-4A87-C994-6397-E3FFB5E7D79F}"/>
              </a:ext>
            </a:extLst>
          </p:cNvPr>
          <p:cNvSpPr>
            <a:spLocks noGrp="1"/>
          </p:cNvSpPr>
          <p:nvPr>
            <p:ph sz="half" idx="2"/>
          </p:nvPr>
        </p:nvSpPr>
        <p:spPr/>
        <p:txBody>
          <a:bodyPr/>
          <a:lstStyle/>
          <a:p>
            <a:pPr marL="0" indent="0">
              <a:buNone/>
            </a:pPr>
            <a:r>
              <a:rPr lang="en-US" b="1" dirty="0"/>
              <a:t>Raster</a:t>
            </a:r>
          </a:p>
          <a:p>
            <a:r>
              <a:rPr lang="en-US" dirty="0"/>
              <a:t>Grid cells with values</a:t>
            </a:r>
          </a:p>
          <a:p>
            <a:r>
              <a:rPr lang="en-US" dirty="0"/>
              <a:t>Continuous surfaces</a:t>
            </a:r>
          </a:p>
          <a:p>
            <a:r>
              <a:rPr lang="en-US" dirty="0">
                <a:latin typeface="OSAKA-MONO" panose="020B0600000000000000" pitchFamily="34" charset="-128"/>
                <a:ea typeface="OSAKA-MONO" panose="020B0600000000000000" pitchFamily="34" charset="-128"/>
              </a:rPr>
              <a:t>terra</a:t>
            </a:r>
            <a:r>
              <a:rPr lang="en-US" dirty="0"/>
              <a:t> package</a:t>
            </a:r>
          </a:p>
        </p:txBody>
      </p:sp>
      <p:sp>
        <p:nvSpPr>
          <p:cNvPr id="6" name="Slide Number Placeholder 5">
            <a:extLst>
              <a:ext uri="{FF2B5EF4-FFF2-40B4-BE49-F238E27FC236}">
                <a16:creationId xmlns:a16="http://schemas.microsoft.com/office/drawing/2014/main" id="{39DC623B-3D4C-B7FF-8E2D-2468C8B53310}"/>
              </a:ext>
            </a:extLst>
          </p:cNvPr>
          <p:cNvSpPr>
            <a:spLocks noGrp="1"/>
          </p:cNvSpPr>
          <p:nvPr>
            <p:ph type="sldNum" sz="quarter" idx="12"/>
          </p:nvPr>
        </p:nvSpPr>
        <p:spPr/>
        <p:txBody>
          <a:bodyPr/>
          <a:lstStyle/>
          <a:p>
            <a:fld id="{C0343C75-1924-D247-85A3-0CB62E67E5D1}" type="slidenum">
              <a:rPr lang="en-US" smtClean="0"/>
              <a:t>4</a:t>
            </a:fld>
            <a:endParaRPr lang="en-US"/>
          </a:p>
        </p:txBody>
      </p:sp>
    </p:spTree>
    <p:extLst>
      <p:ext uri="{BB962C8B-B14F-4D97-AF65-F5344CB8AC3E}">
        <p14:creationId xmlns:p14="http://schemas.microsoft.com/office/powerpoint/2010/main" val="113869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CA7E26-423E-3504-8BC9-319D197233F6}"/>
              </a:ext>
            </a:extLst>
          </p:cNvPr>
          <p:cNvSpPr>
            <a:spLocks noGrp="1"/>
          </p:cNvSpPr>
          <p:nvPr>
            <p:ph type="title"/>
          </p:nvPr>
        </p:nvSpPr>
        <p:spPr/>
        <p:txBody>
          <a:bodyPr/>
          <a:lstStyle/>
          <a:p>
            <a:r>
              <a:rPr lang="en-US" dirty="0"/>
              <a:t>Coordinate Reference Systems (CRS)</a:t>
            </a:r>
          </a:p>
        </p:txBody>
      </p:sp>
      <p:sp>
        <p:nvSpPr>
          <p:cNvPr id="7" name="Slide Number Placeholder 6">
            <a:extLst>
              <a:ext uri="{FF2B5EF4-FFF2-40B4-BE49-F238E27FC236}">
                <a16:creationId xmlns:a16="http://schemas.microsoft.com/office/drawing/2014/main" id="{C691F072-0824-7A07-DDFE-2FBFF214F574}"/>
              </a:ext>
            </a:extLst>
          </p:cNvPr>
          <p:cNvSpPr>
            <a:spLocks noGrp="1"/>
          </p:cNvSpPr>
          <p:nvPr>
            <p:ph type="sldNum" sz="quarter" idx="12"/>
          </p:nvPr>
        </p:nvSpPr>
        <p:spPr/>
        <p:txBody>
          <a:bodyPr/>
          <a:lstStyle/>
          <a:p>
            <a:fld id="{C0343C75-1924-D247-85A3-0CB62E67E5D1}" type="slidenum">
              <a:rPr lang="en-US" smtClean="0"/>
              <a:t>5</a:t>
            </a:fld>
            <a:endParaRPr lang="en-US"/>
          </a:p>
        </p:txBody>
      </p:sp>
      <p:sp>
        <p:nvSpPr>
          <p:cNvPr id="4" name="TextBox 3">
            <a:extLst>
              <a:ext uri="{FF2B5EF4-FFF2-40B4-BE49-F238E27FC236}">
                <a16:creationId xmlns:a16="http://schemas.microsoft.com/office/drawing/2014/main" id="{96817751-6C7E-EC40-CD29-A118B4394BE4}"/>
              </a:ext>
            </a:extLst>
          </p:cNvPr>
          <p:cNvSpPr txBox="1"/>
          <p:nvPr/>
        </p:nvSpPr>
        <p:spPr>
          <a:xfrm>
            <a:off x="571500" y="5829625"/>
            <a:ext cx="8083068" cy="523220"/>
          </a:xfrm>
          <a:prstGeom prst="rect">
            <a:avLst/>
          </a:prstGeom>
          <a:noFill/>
        </p:spPr>
        <p:txBody>
          <a:bodyPr wrap="square" rtlCol="0">
            <a:spAutoFit/>
          </a:bodyPr>
          <a:lstStyle/>
          <a:p>
            <a:pPr algn="ctr"/>
            <a:r>
              <a:rPr lang="en-US" sz="1400" dirty="0"/>
              <a:t>Geocentric and local geodetic datums shown on top of a geoid (in false color and the vertical exaggeration by 10,000 scale factor). Image of the geoid is adapted from the work of Ince et al. (2019).</a:t>
            </a:r>
          </a:p>
        </p:txBody>
      </p:sp>
      <p:pic>
        <p:nvPicPr>
          <p:cNvPr id="10" name="Content Placeholder 9" descr="Geocentric and local geodetic datums shown on top of a geoid (in false color and the vertical exaggeration by 10,000 scale factor). Image of the geoid is adapted from the work of Ince et al. (2019).">
            <a:extLst>
              <a:ext uri="{FF2B5EF4-FFF2-40B4-BE49-F238E27FC236}">
                <a16:creationId xmlns:a16="http://schemas.microsoft.com/office/drawing/2014/main" id="{9E99094F-C96B-E66A-5C2F-0B3FCDFF2914}"/>
              </a:ext>
            </a:extLst>
          </p:cNvPr>
          <p:cNvPicPr>
            <a:picLocks noGrp="1" noChangeAspect="1"/>
          </p:cNvPicPr>
          <p:nvPr>
            <p:ph idx="1"/>
          </p:nvPr>
        </p:nvPicPr>
        <p:blipFill>
          <a:blip r:embed="rId2"/>
          <a:stretch>
            <a:fillRect/>
          </a:stretch>
        </p:blipFill>
        <p:spPr>
          <a:xfrm>
            <a:off x="774700" y="1943100"/>
            <a:ext cx="7594600" cy="3886200"/>
          </a:xfrm>
        </p:spPr>
      </p:pic>
    </p:spTree>
    <p:extLst>
      <p:ext uri="{BB962C8B-B14F-4D97-AF65-F5344CB8AC3E}">
        <p14:creationId xmlns:p14="http://schemas.microsoft.com/office/powerpoint/2010/main" val="206213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E9BB2-5C29-1A92-E651-1BACEC5608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F95B02-B8F4-1696-6F32-7862F2A521F4}"/>
              </a:ext>
            </a:extLst>
          </p:cNvPr>
          <p:cNvSpPr>
            <a:spLocks noGrp="1"/>
          </p:cNvSpPr>
          <p:nvPr>
            <p:ph type="title"/>
          </p:nvPr>
        </p:nvSpPr>
        <p:spPr/>
        <p:txBody>
          <a:bodyPr/>
          <a:lstStyle/>
          <a:p>
            <a:r>
              <a:rPr lang="en-US" dirty="0"/>
              <a:t>Coordinate Reference Systems (CRS)</a:t>
            </a:r>
          </a:p>
        </p:txBody>
      </p:sp>
      <p:pic>
        <p:nvPicPr>
          <p:cNvPr id="3" name="Content Placeholder 2" descr="Examples of geographic (WGS 84; left) and projected (NAD83 / UTM zone 12N; right) coordinate systems for a vector data type.">
            <a:extLst>
              <a:ext uri="{FF2B5EF4-FFF2-40B4-BE49-F238E27FC236}">
                <a16:creationId xmlns:a16="http://schemas.microsoft.com/office/drawing/2014/main" id="{7CB3BB87-0BA3-790A-5172-8FA71F1C7190}"/>
              </a:ext>
            </a:extLst>
          </p:cNvPr>
          <p:cNvPicPr>
            <a:picLocks noGrp="1" noChangeAspect="1"/>
          </p:cNvPicPr>
          <p:nvPr>
            <p:ph idx="1"/>
          </p:nvPr>
        </p:nvPicPr>
        <p:blipFill>
          <a:blip r:embed="rId2"/>
          <a:stretch>
            <a:fillRect/>
          </a:stretch>
        </p:blipFill>
        <p:spPr>
          <a:xfrm>
            <a:off x="489431" y="1416684"/>
            <a:ext cx="8165138" cy="4572000"/>
          </a:xfrm>
        </p:spPr>
      </p:pic>
      <p:sp>
        <p:nvSpPr>
          <p:cNvPr id="7" name="Slide Number Placeholder 6">
            <a:extLst>
              <a:ext uri="{FF2B5EF4-FFF2-40B4-BE49-F238E27FC236}">
                <a16:creationId xmlns:a16="http://schemas.microsoft.com/office/drawing/2014/main" id="{D485C14A-CF1B-DF84-C862-54ACECFA20C9}"/>
              </a:ext>
            </a:extLst>
          </p:cNvPr>
          <p:cNvSpPr>
            <a:spLocks noGrp="1"/>
          </p:cNvSpPr>
          <p:nvPr>
            <p:ph type="sldNum" sz="quarter" idx="12"/>
          </p:nvPr>
        </p:nvSpPr>
        <p:spPr/>
        <p:txBody>
          <a:bodyPr/>
          <a:lstStyle/>
          <a:p>
            <a:fld id="{C0343C75-1924-D247-85A3-0CB62E67E5D1}" type="slidenum">
              <a:rPr lang="en-US" smtClean="0"/>
              <a:t>6</a:t>
            </a:fld>
            <a:endParaRPr lang="en-US"/>
          </a:p>
        </p:txBody>
      </p:sp>
      <p:sp>
        <p:nvSpPr>
          <p:cNvPr id="4" name="TextBox 3">
            <a:extLst>
              <a:ext uri="{FF2B5EF4-FFF2-40B4-BE49-F238E27FC236}">
                <a16:creationId xmlns:a16="http://schemas.microsoft.com/office/drawing/2014/main" id="{503EA546-0EF0-F980-F881-728B63522EB7}"/>
              </a:ext>
            </a:extLst>
          </p:cNvPr>
          <p:cNvSpPr txBox="1"/>
          <p:nvPr/>
        </p:nvSpPr>
        <p:spPr>
          <a:xfrm>
            <a:off x="571500" y="5829625"/>
            <a:ext cx="8083068" cy="523220"/>
          </a:xfrm>
          <a:prstGeom prst="rect">
            <a:avLst/>
          </a:prstGeom>
          <a:noFill/>
        </p:spPr>
        <p:txBody>
          <a:bodyPr wrap="square" rtlCol="0">
            <a:spAutoFit/>
          </a:bodyPr>
          <a:lstStyle/>
          <a:p>
            <a:pPr algn="ctr"/>
            <a:r>
              <a:rPr lang="en-US" sz="1400" dirty="0"/>
              <a:t>Examples of geographic (WGS 84; left) and projected (NAD83 / UTM zone 12N; right) coordinate systems for a vector data type.</a:t>
            </a:r>
          </a:p>
        </p:txBody>
      </p:sp>
    </p:spTree>
    <p:extLst>
      <p:ext uri="{BB962C8B-B14F-4D97-AF65-F5344CB8AC3E}">
        <p14:creationId xmlns:p14="http://schemas.microsoft.com/office/powerpoint/2010/main" val="351405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D1A2F3F8-A4F3-9E15-FCAC-303B4E47B5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3CB890-FB5C-E1E3-8F41-A37BB21A200F}"/>
              </a:ext>
            </a:extLst>
          </p:cNvPr>
          <p:cNvSpPr>
            <a:spLocks noGrp="1"/>
          </p:cNvSpPr>
          <p:nvPr>
            <p:ph type="title"/>
          </p:nvPr>
        </p:nvSpPr>
        <p:spPr/>
        <p:txBody>
          <a:bodyPr>
            <a:normAutofit/>
          </a:bodyPr>
          <a:lstStyle/>
          <a:p>
            <a:r>
              <a:rPr lang="en-US" dirty="0"/>
              <a:t>Some Essential R Packages</a:t>
            </a:r>
          </a:p>
        </p:txBody>
      </p:sp>
      <p:sp>
        <p:nvSpPr>
          <p:cNvPr id="6" name="Content Placeholder 5">
            <a:extLst>
              <a:ext uri="{FF2B5EF4-FFF2-40B4-BE49-F238E27FC236}">
                <a16:creationId xmlns:a16="http://schemas.microsoft.com/office/drawing/2014/main" id="{B8F78C41-D4AF-3EA4-EB9A-1F8A3E7FD7F2}"/>
              </a:ext>
            </a:extLst>
          </p:cNvPr>
          <p:cNvSpPr>
            <a:spLocks noGrp="1"/>
          </p:cNvSpPr>
          <p:nvPr>
            <p:ph idx="1"/>
          </p:nvPr>
        </p:nvSpPr>
        <p:spPr/>
        <p:txBody>
          <a:bodyPr numCol="2">
            <a:normAutofit/>
          </a:bodyPr>
          <a:lstStyle/>
          <a:p>
            <a:pPr marL="0" indent="0">
              <a:buNone/>
            </a:pPr>
            <a:r>
              <a:rPr lang="en-US" sz="1600" b="1" dirty="0" err="1">
                <a:latin typeface="OSAKA-MONO" panose="020B0600000000000000" pitchFamily="34" charset="-128"/>
                <a:ea typeface="OSAKA-MONO" panose="020B0600000000000000" pitchFamily="34" charset="-128"/>
              </a:rPr>
              <a:t>dplyr</a:t>
            </a:r>
            <a:endParaRPr lang="en-US" sz="1600" b="1" dirty="0">
              <a:latin typeface="OSAKA-MONO" panose="020B0600000000000000" pitchFamily="34" charset="-128"/>
              <a:ea typeface="OSAKA-MONO" panose="020B0600000000000000" pitchFamily="34" charset="-128"/>
            </a:endParaRPr>
          </a:p>
          <a:p>
            <a:r>
              <a:rPr lang="en-US" sz="1600" dirty="0"/>
              <a:t>Pipe operators (</a:t>
            </a:r>
            <a:r>
              <a:rPr lang="en-US" sz="1600" dirty="0">
                <a:latin typeface="OSAKA-MONO" panose="020B0600000000000000" pitchFamily="34" charset="-128"/>
                <a:ea typeface="OSAKA-MONO" panose="020B0600000000000000" pitchFamily="34" charset="-128"/>
              </a:rPr>
              <a:t>%&gt;%</a:t>
            </a:r>
            <a:r>
              <a:rPr lang="en-US" sz="1600" dirty="0"/>
              <a:t>)</a:t>
            </a:r>
          </a:p>
          <a:p>
            <a:r>
              <a:rPr lang="en-US" sz="1600" dirty="0">
                <a:latin typeface="OSAKA-MONO" panose="020B0600000000000000" pitchFamily="34" charset="-128"/>
                <a:ea typeface="OSAKA-MONO" panose="020B0600000000000000" pitchFamily="34" charset="-128"/>
              </a:rPr>
              <a:t>filter()</a:t>
            </a:r>
            <a:r>
              <a:rPr lang="en-US" sz="1600" dirty="0"/>
              <a:t>, </a:t>
            </a:r>
            <a:r>
              <a:rPr lang="en-US" sz="1600" dirty="0">
                <a:latin typeface="OSAKA-MONO" panose="020B0600000000000000" pitchFamily="34" charset="-128"/>
                <a:ea typeface="OSAKA-MONO" panose="020B0600000000000000" pitchFamily="34" charset="-128"/>
              </a:rPr>
              <a:t>select()</a:t>
            </a:r>
            <a:r>
              <a:rPr lang="en-US" sz="1600" dirty="0"/>
              <a:t>, </a:t>
            </a:r>
            <a:r>
              <a:rPr lang="en-US" sz="1600" dirty="0">
                <a:latin typeface="OSAKA-MONO" panose="020B0600000000000000" pitchFamily="34" charset="-128"/>
                <a:ea typeface="OSAKA-MONO" panose="020B0600000000000000" pitchFamily="34" charset="-128"/>
              </a:rPr>
              <a:t>mutate()</a:t>
            </a:r>
          </a:p>
          <a:p>
            <a:r>
              <a:rPr lang="en-US" sz="1600" dirty="0" err="1">
                <a:latin typeface="OSAKA-MONO" panose="020B0600000000000000" pitchFamily="34" charset="-128"/>
                <a:ea typeface="OSAKA-MONO" panose="020B0600000000000000" pitchFamily="34" charset="-128"/>
              </a:rPr>
              <a:t>group_by</a:t>
            </a:r>
            <a:r>
              <a:rPr lang="en-US" sz="1600" dirty="0">
                <a:latin typeface="OSAKA-MONO" panose="020B0600000000000000" pitchFamily="34" charset="-128"/>
                <a:ea typeface="OSAKA-MONO" panose="020B0600000000000000" pitchFamily="34" charset="-128"/>
              </a:rPr>
              <a:t>()</a:t>
            </a:r>
            <a:r>
              <a:rPr lang="en-US" sz="1600" dirty="0"/>
              <a:t>, </a:t>
            </a:r>
            <a:r>
              <a:rPr lang="en-US" sz="1600" dirty="0">
                <a:latin typeface="OSAKA-MONO" panose="020B0600000000000000" pitchFamily="34" charset="-128"/>
                <a:ea typeface="OSAKA-MONO" panose="020B0600000000000000" pitchFamily="34" charset="-128"/>
              </a:rPr>
              <a:t>summarize()</a:t>
            </a:r>
          </a:p>
          <a:p>
            <a:r>
              <a:rPr lang="en-US" sz="1600" dirty="0"/>
              <a:t>Works with sf objects</a:t>
            </a:r>
          </a:p>
          <a:p>
            <a:pPr marL="0" indent="0">
              <a:buNone/>
            </a:pPr>
            <a:r>
              <a:rPr lang="en-US" sz="1600" b="1" dirty="0">
                <a:latin typeface="OSAKA-MONO" panose="020B0600000000000000" pitchFamily="34" charset="-128"/>
                <a:ea typeface="OSAKA-MONO" panose="020B0600000000000000" pitchFamily="34" charset="-128"/>
              </a:rPr>
              <a:t>sf</a:t>
            </a:r>
          </a:p>
          <a:p>
            <a:r>
              <a:rPr lang="en-US" sz="1600" dirty="0"/>
              <a:t>Vector data handling</a:t>
            </a:r>
          </a:p>
          <a:p>
            <a:r>
              <a:rPr lang="en-US" sz="1600" dirty="0"/>
              <a:t>Integrates with </a:t>
            </a:r>
            <a:r>
              <a:rPr lang="en-US" sz="1600" dirty="0" err="1">
                <a:latin typeface="OSAKA-MONO" panose="020B0600000000000000" pitchFamily="34" charset="-128"/>
                <a:ea typeface="OSAKA-MONO" panose="020B0600000000000000" pitchFamily="34" charset="-128"/>
              </a:rPr>
              <a:t>tidyverse</a:t>
            </a:r>
            <a:endParaRPr lang="en-US" sz="1600" dirty="0">
              <a:latin typeface="OSAKA-MONO" panose="020B0600000000000000" pitchFamily="34" charset="-128"/>
              <a:ea typeface="OSAKA-MONO" panose="020B0600000000000000" pitchFamily="34" charset="-128"/>
            </a:endParaRPr>
          </a:p>
          <a:p>
            <a:r>
              <a:rPr lang="en-US" sz="1600" dirty="0"/>
              <a:t>Sticky geometry column</a:t>
            </a:r>
          </a:p>
          <a:p>
            <a:r>
              <a:rPr lang="en-US" sz="1600" dirty="0"/>
              <a:t>Fast spatial operations</a:t>
            </a:r>
          </a:p>
          <a:p>
            <a:pPr marL="0" indent="0">
              <a:buNone/>
            </a:pPr>
            <a:r>
              <a:rPr lang="en-US" sz="1600" b="1" dirty="0" err="1">
                <a:latin typeface="OSAKA-MONO" panose="020B0600000000000000" pitchFamily="34" charset="-128"/>
                <a:ea typeface="OSAKA-MONO" panose="020B0600000000000000" pitchFamily="34" charset="-128"/>
              </a:rPr>
              <a:t>spData</a:t>
            </a:r>
            <a:endParaRPr lang="en-US" sz="1600" b="1" dirty="0">
              <a:latin typeface="OSAKA-MONO" panose="020B0600000000000000" pitchFamily="34" charset="-128"/>
              <a:ea typeface="OSAKA-MONO" panose="020B0600000000000000" pitchFamily="34" charset="-128"/>
            </a:endParaRPr>
          </a:p>
          <a:p>
            <a:r>
              <a:rPr lang="en-US" sz="1600" dirty="0"/>
              <a:t>Datasets for Spatial Analysis</a:t>
            </a:r>
          </a:p>
          <a:p>
            <a:endParaRPr lang="en-US" sz="1600" dirty="0"/>
          </a:p>
          <a:p>
            <a:pPr marL="0" indent="0">
              <a:buNone/>
            </a:pPr>
            <a:r>
              <a:rPr lang="en-US" sz="1600" b="1" dirty="0">
                <a:latin typeface="OSAKA-MONO" panose="020B0600000000000000" pitchFamily="34" charset="-128"/>
                <a:ea typeface="OSAKA-MONO" panose="020B0600000000000000" pitchFamily="34" charset="-128"/>
              </a:rPr>
              <a:t>units</a:t>
            </a:r>
          </a:p>
          <a:p>
            <a:r>
              <a:rPr lang="en-US" sz="1600" dirty="0">
                <a:latin typeface="OSAKA-MONO" panose="020B0600000000000000" pitchFamily="34" charset="-128"/>
                <a:ea typeface="OSAKA-MONO" panose="020B0600000000000000" pitchFamily="34" charset="-128"/>
              </a:rPr>
              <a:t>sf</a:t>
            </a:r>
            <a:r>
              <a:rPr lang="en-US" sz="1600" dirty="0"/>
              <a:t> objects have native support for </a:t>
            </a:r>
            <a:r>
              <a:rPr lang="en-US" sz="1600" dirty="0">
                <a:latin typeface="OSAKA-MONO" panose="020B0600000000000000" pitchFamily="34" charset="-128"/>
                <a:ea typeface="OSAKA-MONO" panose="020B0600000000000000" pitchFamily="34" charset="-128"/>
              </a:rPr>
              <a:t>units</a:t>
            </a:r>
          </a:p>
          <a:p>
            <a:endParaRPr lang="en-US" sz="1600" dirty="0"/>
          </a:p>
          <a:p>
            <a:endParaRPr lang="en-US" sz="1600" dirty="0"/>
          </a:p>
          <a:p>
            <a:endParaRPr lang="en-US" sz="1600" dirty="0"/>
          </a:p>
          <a:p>
            <a:pPr marL="0" indent="0">
              <a:buNone/>
            </a:pPr>
            <a:r>
              <a:rPr lang="en-US" sz="1600" b="1" dirty="0">
                <a:latin typeface="OSAKA-MONO" panose="020B0600000000000000" pitchFamily="34" charset="-128"/>
                <a:ea typeface="OSAKA-MONO" panose="020B0600000000000000" pitchFamily="34" charset="-128"/>
              </a:rPr>
              <a:t>terra</a:t>
            </a:r>
          </a:p>
          <a:p>
            <a:r>
              <a:rPr lang="en-US" sz="1600" dirty="0"/>
              <a:t>Raster data handling</a:t>
            </a:r>
          </a:p>
          <a:p>
            <a:r>
              <a:rPr lang="en-US" sz="1600" dirty="0"/>
              <a:t>Fast computation</a:t>
            </a:r>
          </a:p>
          <a:p>
            <a:r>
              <a:rPr lang="en-US" sz="1600" dirty="0"/>
              <a:t>Multi-layer support</a:t>
            </a:r>
          </a:p>
          <a:p>
            <a:r>
              <a:rPr lang="en-US" sz="1600" dirty="0"/>
              <a:t>Memory efficient</a:t>
            </a:r>
          </a:p>
        </p:txBody>
      </p:sp>
      <p:sp>
        <p:nvSpPr>
          <p:cNvPr id="2" name="Slide Number Placeholder 1">
            <a:extLst>
              <a:ext uri="{FF2B5EF4-FFF2-40B4-BE49-F238E27FC236}">
                <a16:creationId xmlns:a16="http://schemas.microsoft.com/office/drawing/2014/main" id="{F490C8DC-693F-D119-D650-05C46948F87C}"/>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179589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EB993-9335-A11B-3023-80BA1985D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EA444-13D1-9735-CDD7-5C57D003A610}"/>
              </a:ext>
            </a:extLst>
          </p:cNvPr>
          <p:cNvSpPr>
            <a:spLocks noGrp="1"/>
          </p:cNvSpPr>
          <p:nvPr>
            <p:ph type="title"/>
          </p:nvPr>
        </p:nvSpPr>
        <p:spPr/>
        <p:txBody>
          <a:bodyPr/>
          <a:lstStyle/>
          <a:p>
            <a:r>
              <a:rPr lang="en-US" dirty="0"/>
              <a:t>Features and Attribute Data</a:t>
            </a:r>
          </a:p>
        </p:txBody>
      </p:sp>
      <p:sp>
        <p:nvSpPr>
          <p:cNvPr id="4" name="Slide Number Placeholder 3">
            <a:extLst>
              <a:ext uri="{FF2B5EF4-FFF2-40B4-BE49-F238E27FC236}">
                <a16:creationId xmlns:a16="http://schemas.microsoft.com/office/drawing/2014/main" id="{703F0F1F-1308-A8CC-6F0F-7DD99BA7BBC0}"/>
              </a:ext>
            </a:extLst>
          </p:cNvPr>
          <p:cNvSpPr>
            <a:spLocks noGrp="1"/>
          </p:cNvSpPr>
          <p:nvPr>
            <p:ph type="sldNum" sz="quarter" idx="12"/>
          </p:nvPr>
        </p:nvSpPr>
        <p:spPr/>
        <p:txBody>
          <a:bodyPr/>
          <a:lstStyle/>
          <a:p>
            <a:fld id="{C0343C75-1924-D247-85A3-0CB62E67E5D1}" type="slidenum">
              <a:rPr lang="en-US" smtClean="0"/>
              <a:t>8</a:t>
            </a:fld>
            <a:endParaRPr lang="en-US"/>
          </a:p>
        </p:txBody>
      </p:sp>
      <p:sp>
        <p:nvSpPr>
          <p:cNvPr id="6" name="Content Placeholder 5">
            <a:extLst>
              <a:ext uri="{FF2B5EF4-FFF2-40B4-BE49-F238E27FC236}">
                <a16:creationId xmlns:a16="http://schemas.microsoft.com/office/drawing/2014/main" id="{9D877F02-0027-197A-54F8-750C7A6DBF78}"/>
              </a:ext>
            </a:extLst>
          </p:cNvPr>
          <p:cNvSpPr>
            <a:spLocks noGrp="1"/>
          </p:cNvSpPr>
          <p:nvPr>
            <p:ph idx="1"/>
          </p:nvPr>
        </p:nvSpPr>
        <p:spPr>
          <a:xfrm>
            <a:off x="457200" y="1600517"/>
            <a:ext cx="5123089" cy="4572000"/>
          </a:xfrm>
        </p:spPr>
        <p:txBody>
          <a:bodyPr>
            <a:normAutofit/>
          </a:bodyPr>
          <a:lstStyle/>
          <a:p>
            <a:r>
              <a:rPr lang="en-US" b="1" dirty="0"/>
              <a:t>Features</a:t>
            </a:r>
            <a:r>
              <a:rPr lang="en-US" dirty="0"/>
              <a:t> are real world things such as roads, property boundaries, sites and so on.</a:t>
            </a:r>
          </a:p>
          <a:p>
            <a:r>
              <a:rPr lang="en-US" dirty="0"/>
              <a:t>A feature has a:</a:t>
            </a:r>
          </a:p>
          <a:p>
            <a:pPr lvl="1"/>
            <a:r>
              <a:rPr lang="en-US" sz="2400" b="1" dirty="0"/>
              <a:t>Geometry</a:t>
            </a:r>
            <a:br>
              <a:rPr lang="en-US" sz="2400" dirty="0"/>
            </a:br>
            <a:r>
              <a:rPr lang="en-US" sz="2400" dirty="0"/>
              <a:t>(which determines if it is a point, polyline or polygon)</a:t>
            </a:r>
          </a:p>
          <a:p>
            <a:pPr lvl="1"/>
            <a:r>
              <a:rPr lang="en-US" sz="2400" b="1" dirty="0"/>
              <a:t>Attributes</a:t>
            </a:r>
            <a:br>
              <a:rPr lang="en-US" sz="2400" dirty="0"/>
            </a:br>
            <a:r>
              <a:rPr lang="en-US" sz="2400" dirty="0"/>
              <a:t>(which describe the feature).</a:t>
            </a:r>
          </a:p>
        </p:txBody>
      </p:sp>
      <p:grpSp>
        <p:nvGrpSpPr>
          <p:cNvPr id="7" name="Group 6" descr="Diagram showing the relation between feature, geometry, and attributes.">
            <a:extLst>
              <a:ext uri="{FF2B5EF4-FFF2-40B4-BE49-F238E27FC236}">
                <a16:creationId xmlns:a16="http://schemas.microsoft.com/office/drawing/2014/main" id="{260C89E8-C50A-BB7E-5822-68AD8FDA4AB5}"/>
              </a:ext>
              <a:ext uri="{C183D7F6-B498-43B3-948B-1728B52AA6E4}">
                <adec:decorative xmlns:adec="http://schemas.microsoft.com/office/drawing/2017/decorative" val="0"/>
              </a:ext>
            </a:extLst>
          </p:cNvPr>
          <p:cNvGrpSpPr/>
          <p:nvPr/>
        </p:nvGrpSpPr>
        <p:grpSpPr>
          <a:xfrm>
            <a:off x="5015138" y="1600517"/>
            <a:ext cx="3228523" cy="3806701"/>
            <a:chOff x="4572000" y="1825625"/>
            <a:chExt cx="3228523" cy="3806701"/>
          </a:xfrm>
        </p:grpSpPr>
        <p:sp>
          <p:nvSpPr>
            <p:cNvPr id="8" name="Rectangle 7">
              <a:extLst>
                <a:ext uri="{FF2B5EF4-FFF2-40B4-BE49-F238E27FC236}">
                  <a16:creationId xmlns:a16="http://schemas.microsoft.com/office/drawing/2014/main" id="{8F1BA66D-E2D6-A280-110A-C3DC4AA89493}"/>
                </a:ext>
              </a:extLst>
            </p:cNvPr>
            <p:cNvSpPr/>
            <p:nvPr/>
          </p:nvSpPr>
          <p:spPr>
            <a:xfrm>
              <a:off x="6120496" y="1825625"/>
              <a:ext cx="1099457" cy="4898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chemeClr val="bg1"/>
                  </a:solidFill>
                </a:rPr>
                <a:t>Feature</a:t>
              </a:r>
            </a:p>
          </p:txBody>
        </p:sp>
        <p:sp>
          <p:nvSpPr>
            <p:cNvPr id="9" name="Rectangle 8">
              <a:extLst>
                <a:ext uri="{FF2B5EF4-FFF2-40B4-BE49-F238E27FC236}">
                  <a16:creationId xmlns:a16="http://schemas.microsoft.com/office/drawing/2014/main" id="{2B30F3FF-AFEE-C6A4-6D50-BA96B0CECD0C}"/>
                </a:ext>
              </a:extLst>
            </p:cNvPr>
            <p:cNvSpPr/>
            <p:nvPr/>
          </p:nvSpPr>
          <p:spPr>
            <a:xfrm>
              <a:off x="5486400"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Geometry</a:t>
              </a:r>
            </a:p>
          </p:txBody>
        </p:sp>
        <p:sp>
          <p:nvSpPr>
            <p:cNvPr id="10" name="Rectangle 9">
              <a:extLst>
                <a:ext uri="{FF2B5EF4-FFF2-40B4-BE49-F238E27FC236}">
                  <a16:creationId xmlns:a16="http://schemas.microsoft.com/office/drawing/2014/main" id="{3925B8F7-7D6D-28E9-6CDD-DBEADF87C8DA}"/>
                </a:ext>
              </a:extLst>
            </p:cNvPr>
            <p:cNvSpPr/>
            <p:nvPr/>
          </p:nvSpPr>
          <p:spPr>
            <a:xfrm>
              <a:off x="6701066"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Attributes</a:t>
              </a:r>
            </a:p>
          </p:txBody>
        </p:sp>
        <p:cxnSp>
          <p:nvCxnSpPr>
            <p:cNvPr id="11" name="Straight Arrow Connector 10">
              <a:extLst>
                <a:ext uri="{FF2B5EF4-FFF2-40B4-BE49-F238E27FC236}">
                  <a16:creationId xmlns:a16="http://schemas.microsoft.com/office/drawing/2014/main" id="{9FFE1490-2FFC-C38B-2DAC-8B82F92C67C7}"/>
                </a:ext>
              </a:extLst>
            </p:cNvPr>
            <p:cNvCxnSpPr>
              <a:cxnSpLocks/>
              <a:stCxn id="8" idx="2"/>
              <a:endCxn id="9" idx="0"/>
            </p:cNvCxnSpPr>
            <p:nvPr/>
          </p:nvCxnSpPr>
          <p:spPr>
            <a:xfrm flipH="1">
              <a:off x="6036129" y="2315482"/>
              <a:ext cx="634096"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65C222F-6835-D903-9A5A-9BCD93DEE6DE}"/>
                </a:ext>
              </a:extLst>
            </p:cNvPr>
            <p:cNvCxnSpPr>
              <a:cxnSpLocks/>
              <a:stCxn id="8" idx="2"/>
              <a:endCxn id="10" idx="0"/>
            </p:cNvCxnSpPr>
            <p:nvPr/>
          </p:nvCxnSpPr>
          <p:spPr>
            <a:xfrm>
              <a:off x="6670225" y="2315482"/>
              <a:ext cx="580570"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ED577076-5477-2B68-3750-801D2FE84ECD}"/>
                </a:ext>
              </a:extLst>
            </p:cNvPr>
            <p:cNvSpPr/>
            <p:nvPr/>
          </p:nvSpPr>
          <p:spPr>
            <a:xfrm>
              <a:off x="4572000" y="5142469"/>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Point</a:t>
              </a:r>
            </a:p>
          </p:txBody>
        </p:sp>
        <p:sp>
          <p:nvSpPr>
            <p:cNvPr id="14" name="Rectangle 13">
              <a:extLst>
                <a:ext uri="{FF2B5EF4-FFF2-40B4-BE49-F238E27FC236}">
                  <a16:creationId xmlns:a16="http://schemas.microsoft.com/office/drawing/2014/main" id="{A967ECF3-34EC-D7DB-F3CD-D67AA843B366}"/>
                </a:ext>
              </a:extLst>
            </p:cNvPr>
            <p:cNvSpPr/>
            <p:nvPr/>
          </p:nvSpPr>
          <p:spPr>
            <a:xfrm>
              <a:off x="5594351" y="5142417"/>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Polyline</a:t>
              </a:r>
            </a:p>
          </p:txBody>
        </p:sp>
        <p:sp>
          <p:nvSpPr>
            <p:cNvPr id="15" name="Rectangle 14">
              <a:extLst>
                <a:ext uri="{FF2B5EF4-FFF2-40B4-BE49-F238E27FC236}">
                  <a16:creationId xmlns:a16="http://schemas.microsoft.com/office/drawing/2014/main" id="{75323B3E-3366-DC46-7568-2596D6C71844}"/>
                </a:ext>
              </a:extLst>
            </p:cNvPr>
            <p:cNvSpPr/>
            <p:nvPr/>
          </p:nvSpPr>
          <p:spPr>
            <a:xfrm>
              <a:off x="6616702" y="5142416"/>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Polygon</a:t>
              </a:r>
            </a:p>
          </p:txBody>
        </p:sp>
        <p:cxnSp>
          <p:nvCxnSpPr>
            <p:cNvPr id="16" name="Straight Arrow Connector 15">
              <a:extLst>
                <a:ext uri="{FF2B5EF4-FFF2-40B4-BE49-F238E27FC236}">
                  <a16:creationId xmlns:a16="http://schemas.microsoft.com/office/drawing/2014/main" id="{1760B8C8-1D25-F2AF-EF54-D99CD205BDF6}"/>
                </a:ext>
              </a:extLst>
            </p:cNvPr>
            <p:cNvCxnSpPr>
              <a:cxnSpLocks/>
              <a:stCxn id="9" idx="2"/>
              <a:endCxn id="13" idx="0"/>
            </p:cNvCxnSpPr>
            <p:nvPr/>
          </p:nvCxnSpPr>
          <p:spPr>
            <a:xfrm flipH="1">
              <a:off x="5029200" y="3973877"/>
              <a:ext cx="1006929" cy="1168592"/>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B9B7FD1-A51D-9AC3-1B45-8AF2BBBCDFEF}"/>
                </a:ext>
              </a:extLst>
            </p:cNvPr>
            <p:cNvCxnSpPr>
              <a:cxnSpLocks/>
              <a:stCxn id="9" idx="2"/>
              <a:endCxn id="14" idx="0"/>
            </p:cNvCxnSpPr>
            <p:nvPr/>
          </p:nvCxnSpPr>
          <p:spPr>
            <a:xfrm>
              <a:off x="6036129" y="3973877"/>
              <a:ext cx="15422" cy="1168540"/>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E710CC60-C10C-4335-4826-98AD34BC031D}"/>
                </a:ext>
              </a:extLst>
            </p:cNvPr>
            <p:cNvCxnSpPr>
              <a:cxnSpLocks/>
              <a:stCxn id="9" idx="2"/>
              <a:endCxn id="15" idx="0"/>
            </p:cNvCxnSpPr>
            <p:nvPr/>
          </p:nvCxnSpPr>
          <p:spPr>
            <a:xfrm>
              <a:off x="6036129" y="3973877"/>
              <a:ext cx="1037773" cy="1168539"/>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348300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B891D-7B15-03F9-E1A6-D1B217307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7B6FC-A9AD-1C7F-FD7A-A0A7232B404B}"/>
              </a:ext>
            </a:extLst>
          </p:cNvPr>
          <p:cNvSpPr>
            <a:spLocks noGrp="1"/>
          </p:cNvSpPr>
          <p:nvPr>
            <p:ph type="title"/>
          </p:nvPr>
        </p:nvSpPr>
        <p:spPr/>
        <p:txBody>
          <a:bodyPr/>
          <a:lstStyle/>
          <a:p>
            <a:r>
              <a:rPr lang="en-US" dirty="0"/>
              <a:t>Attribute Data</a:t>
            </a:r>
          </a:p>
        </p:txBody>
      </p:sp>
      <p:sp>
        <p:nvSpPr>
          <p:cNvPr id="3" name="Content Placeholder 2">
            <a:extLst>
              <a:ext uri="{FF2B5EF4-FFF2-40B4-BE49-F238E27FC236}">
                <a16:creationId xmlns:a16="http://schemas.microsoft.com/office/drawing/2014/main" id="{D32F85AE-537D-35A2-7A90-4E537FD5DD0E}"/>
              </a:ext>
            </a:extLst>
          </p:cNvPr>
          <p:cNvSpPr>
            <a:spLocks noGrp="1"/>
          </p:cNvSpPr>
          <p:nvPr>
            <p:ph idx="1"/>
          </p:nvPr>
        </p:nvSpPr>
        <p:spPr/>
        <p:txBody>
          <a:bodyPr>
            <a:normAutofit/>
          </a:bodyPr>
          <a:lstStyle/>
          <a:p>
            <a:pPr marL="0" indent="0">
              <a:buNone/>
            </a:pPr>
            <a:r>
              <a:rPr lang="en-US" b="1" dirty="0"/>
              <a:t>What are attributes?</a:t>
            </a:r>
          </a:p>
          <a:p>
            <a:r>
              <a:rPr lang="en-US" dirty="0"/>
              <a:t>Non-spatial data </a:t>
            </a:r>
            <a:r>
              <a:rPr lang="en-US" u="sng" dirty="0"/>
              <a:t>combined</a:t>
            </a:r>
            <a:r>
              <a:rPr lang="en-US" dirty="0"/>
              <a:t> with spatial features</a:t>
            </a:r>
            <a:br>
              <a:rPr lang="en-US" dirty="0"/>
            </a:br>
            <a:r>
              <a:rPr lang="en-US" sz="1600" dirty="0"/>
              <a:t>(Examples: bus stop </a:t>
            </a:r>
            <a:r>
              <a:rPr lang="en-US" sz="1600" b="1" dirty="0"/>
              <a:t>name</a:t>
            </a:r>
            <a:r>
              <a:rPr lang="en-US" sz="1600" dirty="0"/>
              <a:t>, population </a:t>
            </a:r>
            <a:r>
              <a:rPr lang="en-US" sz="1600" b="1" dirty="0"/>
              <a:t>count</a:t>
            </a:r>
            <a:r>
              <a:rPr lang="en-US" sz="1600" dirty="0"/>
              <a:t>, elevation </a:t>
            </a:r>
            <a:r>
              <a:rPr lang="en-US" sz="1600" b="1" dirty="0"/>
              <a:t>value</a:t>
            </a:r>
            <a:r>
              <a:rPr lang="en-US" sz="1600" dirty="0"/>
              <a:t>, land use </a:t>
            </a:r>
            <a:r>
              <a:rPr lang="en-US" sz="1600" b="1" dirty="0"/>
              <a:t>category</a:t>
            </a:r>
            <a:r>
              <a:rPr lang="en-US" sz="1600" dirty="0"/>
              <a:t>)</a:t>
            </a:r>
          </a:p>
          <a:p>
            <a:pPr marL="0" indent="0">
              <a:buNone/>
            </a:pPr>
            <a:r>
              <a:rPr lang="en-US" b="1" dirty="0"/>
              <a:t>Difference between geometry and attribute data</a:t>
            </a:r>
          </a:p>
          <a:p>
            <a:r>
              <a:rPr lang="en-US" dirty="0"/>
              <a:t>Geometry data defines the </a:t>
            </a:r>
            <a:r>
              <a:rPr lang="en-US" u="sng" dirty="0"/>
              <a:t>spatial location and shape</a:t>
            </a:r>
            <a:r>
              <a:rPr lang="en-US" dirty="0"/>
              <a:t> of features using coordinates, answering “where” an object is.</a:t>
            </a:r>
          </a:p>
          <a:p>
            <a:r>
              <a:rPr lang="en-US" dirty="0"/>
              <a:t>Attribute data describes the </a:t>
            </a:r>
            <a:r>
              <a:rPr lang="en-US" u="sng" dirty="0"/>
              <a:t>non-spatial</a:t>
            </a:r>
            <a:r>
              <a:rPr lang="en-US" dirty="0"/>
              <a:t>, qualitative, or quantitative </a:t>
            </a:r>
            <a:r>
              <a:rPr lang="en-US" u="sng" dirty="0"/>
              <a:t>characteristics</a:t>
            </a:r>
            <a:r>
              <a:rPr lang="en-US" dirty="0"/>
              <a:t> of those features, such as names, types, or values, answering “what” the object is.</a:t>
            </a:r>
          </a:p>
          <a:p>
            <a:r>
              <a:rPr lang="en-US" dirty="0"/>
              <a:t>They are </a:t>
            </a:r>
            <a:r>
              <a:rPr lang="en-US" u="sng" dirty="0"/>
              <a:t>linked</a:t>
            </a:r>
            <a:r>
              <a:rPr lang="en-US" dirty="0"/>
              <a:t> by </a:t>
            </a:r>
            <a:r>
              <a:rPr lang="en-US" u="sng" dirty="0"/>
              <a:t>unique identifiers</a:t>
            </a:r>
            <a:r>
              <a:rPr lang="en-US" dirty="0"/>
              <a:t> in GIS.</a:t>
            </a:r>
          </a:p>
        </p:txBody>
      </p:sp>
      <p:sp>
        <p:nvSpPr>
          <p:cNvPr id="4" name="Slide Number Placeholder 3">
            <a:extLst>
              <a:ext uri="{FF2B5EF4-FFF2-40B4-BE49-F238E27FC236}">
                <a16:creationId xmlns:a16="http://schemas.microsoft.com/office/drawing/2014/main" id="{1E1F6997-A779-750B-5E85-9672CC8CA6BE}"/>
              </a:ext>
            </a:extLst>
          </p:cNvPr>
          <p:cNvSpPr>
            <a:spLocks noGrp="1"/>
          </p:cNvSpPr>
          <p:nvPr>
            <p:ph type="sldNum" sz="quarter" idx="12"/>
          </p:nvPr>
        </p:nvSpPr>
        <p:spPr/>
        <p:txBody>
          <a:bodyPr/>
          <a:lstStyle/>
          <a:p>
            <a:fld id="{C0343C75-1924-D247-85A3-0CB62E67E5D1}" type="slidenum">
              <a:rPr lang="en-US" smtClean="0"/>
              <a:t>9</a:t>
            </a:fld>
            <a:endParaRPr lang="en-US"/>
          </a:p>
        </p:txBody>
      </p:sp>
    </p:spTree>
    <p:extLst>
      <p:ext uri="{BB962C8B-B14F-4D97-AF65-F5344CB8AC3E}">
        <p14:creationId xmlns:p14="http://schemas.microsoft.com/office/powerpoint/2010/main" val="25500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ACB159-F17B-5C80-72EC-616499267162}"/>
              </a:ext>
            </a:extLst>
          </p:cNvPr>
          <p:cNvSpPr>
            <a:spLocks noGrp="1"/>
          </p:cNvSpPr>
          <p:nvPr>
            <p:ph type="title"/>
          </p:nvPr>
        </p:nvSpPr>
        <p:spPr/>
        <p:txBody>
          <a:bodyPr/>
          <a:lstStyle/>
          <a:p>
            <a:r>
              <a:rPr lang="en-US" dirty="0"/>
              <a:t>Attribute Table</a:t>
            </a:r>
          </a:p>
        </p:txBody>
      </p:sp>
      <p:sp>
        <p:nvSpPr>
          <p:cNvPr id="2" name="Slide Number Placeholder 1">
            <a:extLst>
              <a:ext uri="{FF2B5EF4-FFF2-40B4-BE49-F238E27FC236}">
                <a16:creationId xmlns:a16="http://schemas.microsoft.com/office/drawing/2014/main" id="{43FD49E9-EE61-E615-DDCB-74274323FE62}"/>
              </a:ext>
            </a:extLst>
          </p:cNvPr>
          <p:cNvSpPr>
            <a:spLocks noGrp="1"/>
          </p:cNvSpPr>
          <p:nvPr>
            <p:ph type="sldNum" sz="quarter" idx="12"/>
          </p:nvPr>
        </p:nvSpPr>
        <p:spPr/>
        <p:txBody>
          <a:bodyPr/>
          <a:lstStyle/>
          <a:p>
            <a:fld id="{C0343C75-1924-D247-85A3-0CB62E67E5D1}" type="slidenum">
              <a:rPr lang="en-US" smtClean="0"/>
              <a:t>10</a:t>
            </a:fld>
            <a:endParaRPr lang="en-US"/>
          </a:p>
        </p:txBody>
      </p:sp>
      <p:pic>
        <p:nvPicPr>
          <p:cNvPr id="3" name="Picture 2" descr="Example of attribute table from the Census.">
            <a:extLst>
              <a:ext uri="{FF2B5EF4-FFF2-40B4-BE49-F238E27FC236}">
                <a16:creationId xmlns:a16="http://schemas.microsoft.com/office/drawing/2014/main" id="{29FF1339-DFBD-690F-AD50-2F79A7EFEC6E}"/>
              </a:ext>
            </a:extLst>
          </p:cNvPr>
          <p:cNvPicPr>
            <a:picLocks noChangeAspect="1"/>
          </p:cNvPicPr>
          <p:nvPr/>
        </p:nvPicPr>
        <p:blipFill>
          <a:blip r:embed="rId2"/>
          <a:stretch>
            <a:fillRect/>
          </a:stretch>
        </p:blipFill>
        <p:spPr>
          <a:xfrm>
            <a:off x="1247359" y="1682523"/>
            <a:ext cx="6680105" cy="4589461"/>
          </a:xfrm>
          <a:prstGeom prst="rect">
            <a:avLst/>
          </a:prstGeom>
        </p:spPr>
      </p:pic>
      <p:pic>
        <p:nvPicPr>
          <p:cNvPr id="5" name="Picture 4">
            <a:extLst>
              <a:ext uri="{FF2B5EF4-FFF2-40B4-BE49-F238E27FC236}">
                <a16:creationId xmlns:a16="http://schemas.microsoft.com/office/drawing/2014/main" id="{56A184C7-2D89-6032-BFE1-386F02B253F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16536" y="1766890"/>
            <a:ext cx="6680105" cy="4589461"/>
          </a:xfrm>
          <a:prstGeom prst="rect">
            <a:avLst/>
          </a:prstGeom>
        </p:spPr>
      </p:pic>
      <p:grpSp>
        <p:nvGrpSpPr>
          <p:cNvPr id="6" name="Group 5">
            <a:extLst>
              <a:ext uri="{FF2B5EF4-FFF2-40B4-BE49-F238E27FC236}">
                <a16:creationId xmlns:a16="http://schemas.microsoft.com/office/drawing/2014/main" id="{B0A202CC-BDA7-4D02-AE56-4E0871F90DA3}"/>
              </a:ext>
              <a:ext uri="{C183D7F6-B498-43B3-948B-1728B52AA6E4}">
                <adec:decorative xmlns:adec="http://schemas.microsoft.com/office/drawing/2017/decorative" val="1"/>
              </a:ext>
            </a:extLst>
          </p:cNvPr>
          <p:cNvGrpSpPr/>
          <p:nvPr/>
        </p:nvGrpSpPr>
        <p:grpSpPr>
          <a:xfrm>
            <a:off x="3987800" y="1289684"/>
            <a:ext cx="1177161" cy="5086351"/>
            <a:chOff x="4053436" y="409897"/>
            <a:chExt cx="1282174" cy="5668871"/>
          </a:xfrm>
        </p:grpSpPr>
        <p:sp>
          <p:nvSpPr>
            <p:cNvPr id="7" name="Rounded Rectangle 6">
              <a:extLst>
                <a:ext uri="{FF2B5EF4-FFF2-40B4-BE49-F238E27FC236}">
                  <a16:creationId xmlns:a16="http://schemas.microsoft.com/office/drawing/2014/main" id="{D7CC0FC0-134F-82CB-69EE-8A461C98D376}"/>
                </a:ext>
              </a:extLst>
            </p:cNvPr>
            <p:cNvSpPr/>
            <p:nvPr/>
          </p:nvSpPr>
          <p:spPr>
            <a:xfrm>
              <a:off x="4053436" y="779229"/>
              <a:ext cx="1282174" cy="5299539"/>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2E9780-CCB2-B84A-EC2F-818C2D0261D2}"/>
                </a:ext>
              </a:extLst>
            </p:cNvPr>
            <p:cNvSpPr txBox="1"/>
            <p:nvPr/>
          </p:nvSpPr>
          <p:spPr>
            <a:xfrm>
              <a:off x="4136677" y="409897"/>
              <a:ext cx="1115691" cy="369332"/>
            </a:xfrm>
            <a:prstGeom prst="rect">
              <a:avLst/>
            </a:prstGeom>
            <a:noFill/>
          </p:spPr>
          <p:txBody>
            <a:bodyPr wrap="none" rtlCol="0">
              <a:spAutoFit/>
            </a:bodyPr>
            <a:lstStyle/>
            <a:p>
              <a:pPr algn="ctr"/>
              <a:r>
                <a:rPr lang="en-US" b="1" dirty="0">
                  <a:solidFill>
                    <a:srgbClr val="C00000"/>
                  </a:solidFill>
                </a:rPr>
                <a:t>Attribute</a:t>
              </a:r>
            </a:p>
          </p:txBody>
        </p:sp>
      </p:grpSp>
      <p:grpSp>
        <p:nvGrpSpPr>
          <p:cNvPr id="9" name="Group 8">
            <a:extLst>
              <a:ext uri="{FF2B5EF4-FFF2-40B4-BE49-F238E27FC236}">
                <a16:creationId xmlns:a16="http://schemas.microsoft.com/office/drawing/2014/main" id="{296AFC19-B009-78D9-2A3E-52D19FAC7CF9}"/>
              </a:ext>
              <a:ext uri="{C183D7F6-B498-43B3-948B-1728B52AA6E4}">
                <adec:decorative xmlns:adec="http://schemas.microsoft.com/office/drawing/2017/decorative" val="1"/>
              </a:ext>
            </a:extLst>
          </p:cNvPr>
          <p:cNvGrpSpPr/>
          <p:nvPr/>
        </p:nvGrpSpPr>
        <p:grpSpPr>
          <a:xfrm>
            <a:off x="306423" y="1955233"/>
            <a:ext cx="7621041" cy="330756"/>
            <a:chOff x="261141" y="3960734"/>
            <a:chExt cx="8266410" cy="513020"/>
          </a:xfrm>
        </p:grpSpPr>
        <p:sp>
          <p:nvSpPr>
            <p:cNvPr id="10" name="Rounded Rectangle 9">
              <a:extLst>
                <a:ext uri="{FF2B5EF4-FFF2-40B4-BE49-F238E27FC236}">
                  <a16:creationId xmlns:a16="http://schemas.microsoft.com/office/drawing/2014/main" id="{1FFBC37F-7C27-A486-D726-6655324C9E27}"/>
                </a:ext>
              </a:extLst>
            </p:cNvPr>
            <p:cNvSpPr/>
            <p:nvPr/>
          </p:nvSpPr>
          <p:spPr>
            <a:xfrm>
              <a:off x="1171254" y="4068194"/>
              <a:ext cx="7356297" cy="405560"/>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40426E-B98D-2D42-90C4-AAA1947C3326}"/>
                </a:ext>
              </a:extLst>
            </p:cNvPr>
            <p:cNvSpPr txBox="1"/>
            <p:nvPr/>
          </p:nvSpPr>
          <p:spPr>
            <a:xfrm>
              <a:off x="261141" y="3960734"/>
              <a:ext cx="935513" cy="369334"/>
            </a:xfrm>
            <a:prstGeom prst="rect">
              <a:avLst/>
            </a:prstGeom>
            <a:noFill/>
          </p:spPr>
          <p:txBody>
            <a:bodyPr wrap="none" rtlCol="0">
              <a:spAutoFit/>
            </a:bodyPr>
            <a:lstStyle/>
            <a:p>
              <a:pPr algn="ctr"/>
              <a:r>
                <a:rPr lang="en-US" b="1" dirty="0">
                  <a:solidFill>
                    <a:srgbClr val="C00000"/>
                  </a:solidFill>
                </a:rPr>
                <a:t>Record</a:t>
              </a:r>
            </a:p>
          </p:txBody>
        </p:sp>
      </p:grpSp>
    </p:spTree>
    <p:extLst>
      <p:ext uri="{BB962C8B-B14F-4D97-AF65-F5344CB8AC3E}">
        <p14:creationId xmlns:p14="http://schemas.microsoft.com/office/powerpoint/2010/main" val="3987394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9FB8-7CBD-2DDC-AC6D-C3994DC44AED}"/>
              </a:ext>
            </a:extLst>
          </p:cNvPr>
          <p:cNvSpPr>
            <a:spLocks noGrp="1"/>
          </p:cNvSpPr>
          <p:nvPr>
            <p:ph type="title"/>
          </p:nvPr>
        </p:nvSpPr>
        <p:spPr/>
        <p:txBody>
          <a:bodyPr/>
          <a:lstStyle/>
          <a:p>
            <a:r>
              <a:rPr lang="en-US" dirty="0"/>
              <a:t>Attribute Data</a:t>
            </a:r>
            <a:br>
              <a:rPr lang="en-US" dirty="0"/>
            </a:br>
            <a:r>
              <a:rPr lang="en-US" dirty="0"/>
              <a:t>Extract, Transform, Load</a:t>
            </a:r>
          </a:p>
        </p:txBody>
      </p:sp>
      <p:sp>
        <p:nvSpPr>
          <p:cNvPr id="3" name="Content Placeholder 2">
            <a:extLst>
              <a:ext uri="{FF2B5EF4-FFF2-40B4-BE49-F238E27FC236}">
                <a16:creationId xmlns:a16="http://schemas.microsoft.com/office/drawing/2014/main" id="{B5C650A1-52F0-4C36-0C0C-6E2EF9EBF79D}"/>
              </a:ext>
            </a:extLst>
          </p:cNvPr>
          <p:cNvSpPr>
            <a:spLocks noGrp="1"/>
          </p:cNvSpPr>
          <p:nvPr>
            <p:ph idx="1"/>
          </p:nvPr>
        </p:nvSpPr>
        <p:spPr/>
        <p:txBody>
          <a:bodyPr>
            <a:normAutofit/>
          </a:bodyPr>
          <a:lstStyle/>
          <a:p>
            <a:pPr marL="0" indent="0">
              <a:buNone/>
            </a:pPr>
            <a:r>
              <a:rPr lang="en-US" b="1" dirty="0"/>
              <a:t>Why attribute operations are central to ETL</a:t>
            </a:r>
          </a:p>
          <a:p>
            <a:r>
              <a:rPr lang="en-US" dirty="0"/>
              <a:t>Essential for </a:t>
            </a:r>
            <a:r>
              <a:rPr lang="en-US" u="sng" dirty="0"/>
              <a:t>filtering</a:t>
            </a:r>
            <a:r>
              <a:rPr lang="en-US" dirty="0"/>
              <a:t>, </a:t>
            </a:r>
            <a:r>
              <a:rPr lang="en-US" u="sng" dirty="0"/>
              <a:t>merging</a:t>
            </a:r>
            <a:r>
              <a:rPr lang="en-US" dirty="0"/>
              <a:t>, </a:t>
            </a:r>
            <a:r>
              <a:rPr lang="en-US" u="sng" dirty="0"/>
              <a:t>aggregating</a:t>
            </a:r>
            <a:r>
              <a:rPr lang="en-US" dirty="0"/>
              <a:t>,</a:t>
            </a:r>
            <a:br>
              <a:rPr lang="en-US" dirty="0"/>
            </a:br>
            <a:r>
              <a:rPr lang="en-US" dirty="0"/>
              <a:t>and </a:t>
            </a:r>
            <a:r>
              <a:rPr lang="en-US" u="sng" dirty="0"/>
              <a:t>reshaping</a:t>
            </a:r>
            <a:r>
              <a:rPr lang="en-US" dirty="0"/>
              <a:t> datasets</a:t>
            </a:r>
          </a:p>
          <a:p>
            <a:r>
              <a:rPr lang="en-US" dirty="0"/>
              <a:t>Direct impact on analytics outcomes</a:t>
            </a:r>
          </a:p>
        </p:txBody>
      </p:sp>
      <p:sp>
        <p:nvSpPr>
          <p:cNvPr id="5" name="Slide Number Placeholder 4">
            <a:extLst>
              <a:ext uri="{FF2B5EF4-FFF2-40B4-BE49-F238E27FC236}">
                <a16:creationId xmlns:a16="http://schemas.microsoft.com/office/drawing/2014/main" id="{97BF6C55-3D67-6C2E-7D18-2F29F3BC6BB8}"/>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322078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624D-F393-E90C-BB91-54CCF4DB1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CE424-05F2-2724-D5EB-66A35C0AE94E}"/>
              </a:ext>
            </a:extLst>
          </p:cNvPr>
          <p:cNvSpPr>
            <a:spLocks noGrp="1"/>
          </p:cNvSpPr>
          <p:nvPr>
            <p:ph type="title"/>
          </p:nvPr>
        </p:nvSpPr>
        <p:spPr/>
        <p:txBody>
          <a:bodyPr/>
          <a:lstStyle/>
          <a:p>
            <a:r>
              <a:rPr lang="en-US" dirty="0"/>
              <a:t>Attribute Data Workflow</a:t>
            </a:r>
          </a:p>
        </p:txBody>
      </p:sp>
      <p:sp>
        <p:nvSpPr>
          <p:cNvPr id="5" name="Slide Number Placeholder 4">
            <a:extLst>
              <a:ext uri="{FF2B5EF4-FFF2-40B4-BE49-F238E27FC236}">
                <a16:creationId xmlns:a16="http://schemas.microsoft.com/office/drawing/2014/main" id="{6236ED31-D2AD-2496-540A-171B07913D09}"/>
              </a:ext>
            </a:extLst>
          </p:cNvPr>
          <p:cNvSpPr>
            <a:spLocks noGrp="1"/>
          </p:cNvSpPr>
          <p:nvPr>
            <p:ph type="sldNum" sz="quarter" idx="12"/>
          </p:nvPr>
        </p:nvSpPr>
        <p:spPr/>
        <p:txBody>
          <a:bodyPr/>
          <a:lstStyle/>
          <a:p>
            <a:fld id="{C0343C75-1924-D247-85A3-0CB62E67E5D1}" type="slidenum">
              <a:rPr lang="en-US" smtClean="0"/>
              <a:t>12</a:t>
            </a:fld>
            <a:endParaRPr lang="en-US"/>
          </a:p>
        </p:txBody>
      </p:sp>
      <p:pic>
        <p:nvPicPr>
          <p:cNvPr id="9" name="Content Placeholder 8" descr="Basic idea of a spatial join of attribute data.">
            <a:extLst>
              <a:ext uri="{FF2B5EF4-FFF2-40B4-BE49-F238E27FC236}">
                <a16:creationId xmlns:a16="http://schemas.microsoft.com/office/drawing/2014/main" id="{4FE740E4-4ADE-6ADD-9557-5C0F1F23A0A3}"/>
              </a:ext>
            </a:extLst>
          </p:cNvPr>
          <p:cNvPicPr>
            <a:picLocks noGrp="1" noChangeAspect="1"/>
          </p:cNvPicPr>
          <p:nvPr>
            <p:ph idx="1"/>
          </p:nvPr>
        </p:nvPicPr>
        <p:blipFill>
          <a:blip r:embed="rId2"/>
          <a:stretch>
            <a:fillRect/>
          </a:stretch>
        </p:blipFill>
        <p:spPr>
          <a:xfrm>
            <a:off x="658283" y="1416684"/>
            <a:ext cx="7827433" cy="4665060"/>
          </a:xfrm>
        </p:spPr>
      </p:pic>
    </p:spTree>
    <p:extLst>
      <p:ext uri="{BB962C8B-B14F-4D97-AF65-F5344CB8AC3E}">
        <p14:creationId xmlns:p14="http://schemas.microsoft.com/office/powerpoint/2010/main" val="238650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C3EF-1B4D-C6E1-D549-543E3B5C8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3F2C7-E7B9-E9D6-FF29-F0A74AFBBC79}"/>
              </a:ext>
            </a:extLst>
          </p:cNvPr>
          <p:cNvSpPr>
            <a:spLocks noGrp="1"/>
          </p:cNvSpPr>
          <p:nvPr>
            <p:ph type="title"/>
          </p:nvPr>
        </p:nvSpPr>
        <p:spPr/>
        <p:txBody>
          <a:bodyPr/>
          <a:lstStyle/>
          <a:p>
            <a:r>
              <a:rPr lang="en-US" dirty="0"/>
              <a:t>Statistical Maps &amp; Thematic Mapping</a:t>
            </a:r>
          </a:p>
        </p:txBody>
      </p:sp>
      <p:sp>
        <p:nvSpPr>
          <p:cNvPr id="3" name="Content Placeholder 2">
            <a:extLst>
              <a:ext uri="{FF2B5EF4-FFF2-40B4-BE49-F238E27FC236}">
                <a16:creationId xmlns:a16="http://schemas.microsoft.com/office/drawing/2014/main" id="{062A22CC-DB31-47CF-69BD-9C7E1C7DD209}"/>
              </a:ext>
            </a:extLst>
          </p:cNvPr>
          <p:cNvSpPr>
            <a:spLocks noGrp="1"/>
          </p:cNvSpPr>
          <p:nvPr>
            <p:ph idx="1"/>
          </p:nvPr>
        </p:nvSpPr>
        <p:spPr>
          <a:xfrm>
            <a:off x="457199" y="1600517"/>
            <a:ext cx="8229599" cy="4572000"/>
          </a:xfrm>
        </p:spPr>
        <p:txBody>
          <a:bodyPr>
            <a:normAutofit lnSpcReduction="10000"/>
          </a:bodyPr>
          <a:lstStyle/>
          <a:p>
            <a:r>
              <a:rPr lang="en-US" dirty="0"/>
              <a:t>A </a:t>
            </a:r>
            <a:r>
              <a:rPr lang="en-US" b="1" dirty="0"/>
              <a:t>thematic map</a:t>
            </a:r>
            <a:r>
              <a:rPr lang="en-US" dirty="0"/>
              <a:t> is used to show </a:t>
            </a:r>
            <a:r>
              <a:rPr lang="en-US" b="1" dirty="0"/>
              <a:t>spatial patterns</a:t>
            </a:r>
            <a:r>
              <a:rPr lang="en-US" dirty="0"/>
              <a:t>.</a:t>
            </a:r>
          </a:p>
          <a:p>
            <a:r>
              <a:rPr lang="en-US" dirty="0"/>
              <a:t>Data is </a:t>
            </a:r>
            <a:r>
              <a:rPr lang="en-US" b="1" dirty="0"/>
              <a:t>aggregated</a:t>
            </a:r>
            <a:r>
              <a:rPr lang="en-US" dirty="0"/>
              <a:t> by predefined spatial units</a:t>
            </a:r>
            <a:br>
              <a:rPr lang="en-US" dirty="0"/>
            </a:br>
            <a:r>
              <a:rPr lang="en-US" dirty="0"/>
              <a:t>(e.g., countries, states, districts).</a:t>
            </a:r>
          </a:p>
          <a:p>
            <a:r>
              <a:rPr lang="en-US" dirty="0"/>
              <a:t>Thematic maps include types such as </a:t>
            </a:r>
            <a:r>
              <a:rPr lang="en-US" b="1" dirty="0"/>
              <a:t>choropleth</a:t>
            </a:r>
            <a:r>
              <a:rPr lang="en-US" dirty="0"/>
              <a:t>, </a:t>
            </a:r>
            <a:r>
              <a:rPr lang="en-US" b="1" dirty="0"/>
              <a:t>dot density</a:t>
            </a:r>
            <a:r>
              <a:rPr lang="en-US" dirty="0"/>
              <a:t>, </a:t>
            </a:r>
            <a:r>
              <a:rPr lang="en-US" b="1" dirty="0"/>
              <a:t>proportional symbol</a:t>
            </a:r>
            <a:r>
              <a:rPr lang="en-US" dirty="0"/>
              <a:t>, and </a:t>
            </a:r>
            <a:r>
              <a:rPr lang="en-US" b="1" dirty="0"/>
              <a:t>isopleth maps</a:t>
            </a:r>
            <a:r>
              <a:rPr lang="en-US" dirty="0"/>
              <a:t>.</a:t>
            </a:r>
          </a:p>
          <a:p>
            <a:r>
              <a:rPr lang="en-US" dirty="0"/>
              <a:t>They display the </a:t>
            </a:r>
            <a:r>
              <a:rPr lang="en-US" b="1" dirty="0"/>
              <a:t>spatial distribution </a:t>
            </a:r>
            <a:r>
              <a:rPr lang="en-US" dirty="0"/>
              <a:t>of one or more data themes across selected geographic areas.</a:t>
            </a:r>
          </a:p>
          <a:p>
            <a:r>
              <a:rPr lang="en-US" dirty="0"/>
              <a:t>Data can be:</a:t>
            </a:r>
          </a:p>
          <a:p>
            <a:pPr lvl="1"/>
            <a:r>
              <a:rPr lang="en-US" dirty="0"/>
              <a:t>Quantitative (e.g., population change, income levels)</a:t>
            </a:r>
          </a:p>
          <a:p>
            <a:pPr lvl="1"/>
            <a:r>
              <a:rPr lang="en-US" dirty="0"/>
              <a:t>Qualitative  (e.g., soil types, land use)</a:t>
            </a:r>
          </a:p>
          <a:p>
            <a:r>
              <a:rPr lang="en-US" dirty="0"/>
              <a:t>To create a </a:t>
            </a:r>
            <a:r>
              <a:rPr lang="en-US" b="1" dirty="0"/>
              <a:t>vector thematic map</a:t>
            </a:r>
            <a:r>
              <a:rPr lang="en-US" dirty="0"/>
              <a:t>, select the </a:t>
            </a:r>
            <a:r>
              <a:rPr lang="en-US" b="1" dirty="0"/>
              <a:t>attribute field</a:t>
            </a:r>
            <a:r>
              <a:rPr lang="en-US" dirty="0"/>
              <a:t> in the map layer that represents the data to be mapped.</a:t>
            </a:r>
          </a:p>
        </p:txBody>
      </p:sp>
      <p:sp>
        <p:nvSpPr>
          <p:cNvPr id="4" name="Slide Number Placeholder 3">
            <a:extLst>
              <a:ext uri="{FF2B5EF4-FFF2-40B4-BE49-F238E27FC236}">
                <a16:creationId xmlns:a16="http://schemas.microsoft.com/office/drawing/2014/main" id="{D8675F2F-6944-4746-272E-EFD57CC35E25}"/>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2968461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F0C2-FCF2-5FB0-346E-B5D18AFAD50E}"/>
              </a:ext>
            </a:extLst>
          </p:cNvPr>
          <p:cNvSpPr>
            <a:spLocks noGrp="1"/>
          </p:cNvSpPr>
          <p:nvPr>
            <p:ph type="title"/>
          </p:nvPr>
        </p:nvSpPr>
        <p:spPr/>
        <p:txBody>
          <a:bodyPr/>
          <a:lstStyle/>
          <a:p>
            <a:r>
              <a:rPr lang="en-US" dirty="0"/>
              <a:t>Distribution Maps</a:t>
            </a:r>
          </a:p>
        </p:txBody>
      </p:sp>
      <p:sp>
        <p:nvSpPr>
          <p:cNvPr id="3" name="Content Placeholder 2">
            <a:extLst>
              <a:ext uri="{FF2B5EF4-FFF2-40B4-BE49-F238E27FC236}">
                <a16:creationId xmlns:a16="http://schemas.microsoft.com/office/drawing/2014/main" id="{93020475-A6F8-6386-4A12-587B0690444B}"/>
              </a:ext>
            </a:extLst>
          </p:cNvPr>
          <p:cNvSpPr>
            <a:spLocks noGrp="1"/>
          </p:cNvSpPr>
          <p:nvPr>
            <p:ph idx="1"/>
          </p:nvPr>
        </p:nvSpPr>
        <p:spPr>
          <a:xfrm>
            <a:off x="457200" y="3428999"/>
            <a:ext cx="8229600" cy="2743517"/>
          </a:xfrm>
        </p:spPr>
        <p:txBody>
          <a:bodyPr>
            <a:normAutofit/>
          </a:bodyPr>
          <a:lstStyle/>
          <a:p>
            <a:pPr marL="0" indent="0">
              <a:buNone/>
            </a:pPr>
            <a:r>
              <a:rPr lang="en-US" sz="2000" dirty="0"/>
              <a:t>Example of a continuous color scheme applied to a choropleth map.</a:t>
            </a:r>
          </a:p>
          <a:p>
            <a:pPr marL="0" indent="0">
              <a:buNone/>
            </a:pPr>
            <a:r>
              <a:rPr lang="en-US" sz="2000" dirty="0"/>
              <a:t>Such a map (continuous) may not be as informative as one would like it to be.</a:t>
            </a:r>
          </a:p>
          <a:p>
            <a:pPr marL="0" indent="0">
              <a:buNone/>
            </a:pPr>
            <a:r>
              <a:rPr lang="en-US" sz="2000" dirty="0"/>
              <a:t>In statistics, we seek to reduce large sets of continuous values to discrete entities to help us better “handle” the data.</a:t>
            </a:r>
          </a:p>
        </p:txBody>
      </p:sp>
      <p:sp>
        <p:nvSpPr>
          <p:cNvPr id="4" name="Slide Number Placeholder 3">
            <a:extLst>
              <a:ext uri="{FF2B5EF4-FFF2-40B4-BE49-F238E27FC236}">
                <a16:creationId xmlns:a16="http://schemas.microsoft.com/office/drawing/2014/main" id="{A9FF03BE-DD41-FED9-62D9-C6947FCCB6DA}"/>
              </a:ext>
            </a:extLst>
          </p:cNvPr>
          <p:cNvSpPr>
            <a:spLocks noGrp="1"/>
          </p:cNvSpPr>
          <p:nvPr>
            <p:ph type="sldNum" sz="quarter" idx="12"/>
          </p:nvPr>
        </p:nvSpPr>
        <p:spPr/>
        <p:txBody>
          <a:bodyPr/>
          <a:lstStyle/>
          <a:p>
            <a:fld id="{C0343C75-1924-D247-85A3-0CB62E67E5D1}" type="slidenum">
              <a:rPr lang="en-US" smtClean="0"/>
              <a:t>14</a:t>
            </a:fld>
            <a:endParaRPr lang="en-US" dirty="0"/>
          </a:p>
        </p:txBody>
      </p:sp>
      <p:pic>
        <p:nvPicPr>
          <p:cNvPr id="5" name="Content Placeholder 4" descr="A map of massachusetts with green squares&#10;&#10;AI-generated content may be incorrect.">
            <a:extLst>
              <a:ext uri="{FF2B5EF4-FFF2-40B4-BE49-F238E27FC236}">
                <a16:creationId xmlns:a16="http://schemas.microsoft.com/office/drawing/2014/main" id="{4B5FA225-7A28-2286-BA79-E67BF9393B2A}"/>
              </a:ext>
            </a:extLst>
          </p:cNvPr>
          <p:cNvPicPr>
            <a:picLocks noChangeAspect="1"/>
          </p:cNvPicPr>
          <p:nvPr/>
        </p:nvPicPr>
        <p:blipFill>
          <a:blip r:embed="rId2"/>
          <a:stretch>
            <a:fillRect/>
          </a:stretch>
        </p:blipFill>
        <p:spPr>
          <a:xfrm>
            <a:off x="2194560" y="1416683"/>
            <a:ext cx="4754880" cy="1828800"/>
          </a:xfrm>
          <a:prstGeom prst="rect">
            <a:avLst/>
          </a:prstGeom>
        </p:spPr>
      </p:pic>
    </p:spTree>
    <p:extLst>
      <p:ext uri="{BB962C8B-B14F-4D97-AF65-F5344CB8AC3E}">
        <p14:creationId xmlns:p14="http://schemas.microsoft.com/office/powerpoint/2010/main" val="3847127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0FC43-6E8D-AB57-986B-B73533893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AA6E9-7BB1-26D0-544E-840C6C2EA3F3}"/>
              </a:ext>
            </a:extLst>
          </p:cNvPr>
          <p:cNvSpPr>
            <a:spLocks noGrp="1"/>
          </p:cNvSpPr>
          <p:nvPr>
            <p:ph type="title"/>
          </p:nvPr>
        </p:nvSpPr>
        <p:spPr/>
        <p:txBody>
          <a:bodyPr/>
          <a:lstStyle/>
          <a:p>
            <a:r>
              <a:rPr lang="en-US" dirty="0"/>
              <a:t>Equal Interval</a:t>
            </a:r>
          </a:p>
        </p:txBody>
      </p:sp>
      <p:sp>
        <p:nvSpPr>
          <p:cNvPr id="3" name="Content Placeholder 2">
            <a:extLst>
              <a:ext uri="{FF2B5EF4-FFF2-40B4-BE49-F238E27FC236}">
                <a16:creationId xmlns:a16="http://schemas.microsoft.com/office/drawing/2014/main" id="{F1F87459-A3A1-D81A-472D-9540E7171B3A}"/>
              </a:ext>
            </a:extLst>
          </p:cNvPr>
          <p:cNvSpPr>
            <a:spLocks noGrp="1"/>
          </p:cNvSpPr>
          <p:nvPr>
            <p:ph idx="1"/>
          </p:nvPr>
        </p:nvSpPr>
        <p:spPr>
          <a:xfrm>
            <a:off x="457200" y="3428999"/>
            <a:ext cx="8229600" cy="2743517"/>
          </a:xfrm>
        </p:spPr>
        <p:txBody>
          <a:bodyPr>
            <a:normAutofit/>
          </a:bodyPr>
          <a:lstStyle/>
          <a:p>
            <a:pPr marL="0" indent="0">
              <a:buNone/>
            </a:pPr>
            <a:r>
              <a:rPr lang="en-US" sz="2000" dirty="0"/>
              <a:t>An equal interval choropleth map using 10 bins.</a:t>
            </a:r>
          </a:p>
          <a:p>
            <a:pPr marL="0" indent="0">
              <a:buNone/>
            </a:pPr>
            <a:r>
              <a:rPr lang="en-US" sz="2000" dirty="0"/>
              <a:t>In the field of statistics, discretization of values can take on the form of a histogram where values are assigned to one of several equal width bins.</a:t>
            </a:r>
          </a:p>
          <a:p>
            <a:pPr marL="0" indent="0">
              <a:buNone/>
            </a:pPr>
            <a:r>
              <a:rPr lang="en-US" sz="2000" dirty="0"/>
              <a:t>A choropleth map classification equivalent is the equal interval classification scheme.</a:t>
            </a:r>
          </a:p>
        </p:txBody>
      </p:sp>
      <p:sp>
        <p:nvSpPr>
          <p:cNvPr id="4" name="Slide Number Placeholder 3">
            <a:extLst>
              <a:ext uri="{FF2B5EF4-FFF2-40B4-BE49-F238E27FC236}">
                <a16:creationId xmlns:a16="http://schemas.microsoft.com/office/drawing/2014/main" id="{2E5CC26A-4445-4879-DE2E-FE6CFEBB5539}"/>
              </a:ext>
            </a:extLst>
          </p:cNvPr>
          <p:cNvSpPr>
            <a:spLocks noGrp="1"/>
          </p:cNvSpPr>
          <p:nvPr>
            <p:ph type="sldNum" sz="quarter" idx="12"/>
          </p:nvPr>
        </p:nvSpPr>
        <p:spPr/>
        <p:txBody>
          <a:bodyPr/>
          <a:lstStyle/>
          <a:p>
            <a:fld id="{C0343C75-1924-D247-85A3-0CB62E67E5D1}" type="slidenum">
              <a:rPr lang="en-US" smtClean="0"/>
              <a:t>15</a:t>
            </a:fld>
            <a:endParaRPr lang="en-US" dirty="0"/>
          </a:p>
        </p:txBody>
      </p:sp>
      <p:pic>
        <p:nvPicPr>
          <p:cNvPr id="5" name="Content Placeholder 4">
            <a:extLst>
              <a:ext uri="{FF2B5EF4-FFF2-40B4-BE49-F238E27FC236}">
                <a16:creationId xmlns:a16="http://schemas.microsoft.com/office/drawing/2014/main" id="{7B2FC209-8510-1226-BF01-59AC81D95C38}"/>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156082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D7299-683C-006A-9AA9-7F027BEE6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01EFA-56AB-4238-63EC-854CBAA48E08}"/>
              </a:ext>
            </a:extLst>
          </p:cNvPr>
          <p:cNvSpPr>
            <a:spLocks noGrp="1"/>
          </p:cNvSpPr>
          <p:nvPr>
            <p:ph type="title"/>
          </p:nvPr>
        </p:nvSpPr>
        <p:spPr/>
        <p:txBody>
          <a:bodyPr/>
          <a:lstStyle/>
          <a:p>
            <a:r>
              <a:rPr lang="en-US" dirty="0"/>
              <a:t>Quantile Map</a:t>
            </a:r>
          </a:p>
        </p:txBody>
      </p:sp>
      <p:sp>
        <p:nvSpPr>
          <p:cNvPr id="3" name="Content Placeholder 2">
            <a:extLst>
              <a:ext uri="{FF2B5EF4-FFF2-40B4-BE49-F238E27FC236}">
                <a16:creationId xmlns:a16="http://schemas.microsoft.com/office/drawing/2014/main" id="{06F23AA2-5372-F013-1AE4-1838771DE029}"/>
              </a:ext>
            </a:extLst>
          </p:cNvPr>
          <p:cNvSpPr>
            <a:spLocks noGrp="1"/>
          </p:cNvSpPr>
          <p:nvPr>
            <p:ph idx="1"/>
          </p:nvPr>
        </p:nvSpPr>
        <p:spPr>
          <a:xfrm>
            <a:off x="457200" y="3428999"/>
            <a:ext cx="8229600" cy="2743517"/>
          </a:xfrm>
        </p:spPr>
        <p:txBody>
          <a:bodyPr>
            <a:normAutofit/>
          </a:bodyPr>
          <a:lstStyle/>
          <a:p>
            <a:pPr marL="0" indent="0">
              <a:buNone/>
            </a:pPr>
            <a:r>
              <a:rPr lang="en-US" sz="2000" dirty="0"/>
              <a:t>While an equal interval map benefits from its intuitiveness, it may not be well suited for data that are not uniformly distributed across their range. </a:t>
            </a:r>
          </a:p>
          <a:p>
            <a:pPr marL="0" indent="0">
              <a:buNone/>
            </a:pPr>
            <a:r>
              <a:rPr lang="en-US" sz="2000" dirty="0"/>
              <a:t>Quantiles define ranges of values that have equal number of observations.</a:t>
            </a:r>
          </a:p>
          <a:p>
            <a:pPr marL="0" indent="0">
              <a:buNone/>
            </a:pPr>
            <a:r>
              <a:rPr lang="en-US" sz="2000" dirty="0"/>
              <a:t>Six quantiles with each quantile representing the same number of observations.</a:t>
            </a:r>
          </a:p>
        </p:txBody>
      </p:sp>
      <p:sp>
        <p:nvSpPr>
          <p:cNvPr id="4" name="Slide Number Placeholder 3">
            <a:extLst>
              <a:ext uri="{FF2B5EF4-FFF2-40B4-BE49-F238E27FC236}">
                <a16:creationId xmlns:a16="http://schemas.microsoft.com/office/drawing/2014/main" id="{6D5FE7D4-D868-E95F-8EB3-DBEBE559DBAA}"/>
              </a:ext>
            </a:extLst>
          </p:cNvPr>
          <p:cNvSpPr>
            <a:spLocks noGrp="1"/>
          </p:cNvSpPr>
          <p:nvPr>
            <p:ph type="sldNum" sz="quarter" idx="12"/>
          </p:nvPr>
        </p:nvSpPr>
        <p:spPr/>
        <p:txBody>
          <a:bodyPr/>
          <a:lstStyle/>
          <a:p>
            <a:fld id="{C0343C75-1924-D247-85A3-0CB62E67E5D1}" type="slidenum">
              <a:rPr lang="en-US" smtClean="0"/>
              <a:t>16</a:t>
            </a:fld>
            <a:endParaRPr lang="en-US" dirty="0"/>
          </a:p>
        </p:txBody>
      </p:sp>
      <p:pic>
        <p:nvPicPr>
          <p:cNvPr id="5" name="Content Placeholder 4">
            <a:extLst>
              <a:ext uri="{FF2B5EF4-FFF2-40B4-BE49-F238E27FC236}">
                <a16:creationId xmlns:a16="http://schemas.microsoft.com/office/drawing/2014/main" id="{3C6DDC84-1C01-250B-9886-B45DEE8A100A}"/>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22099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5348-9101-01AC-A6FC-B819C3978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C4013-C8B0-693E-4EAC-5F3DEC377790}"/>
              </a:ext>
            </a:extLst>
          </p:cNvPr>
          <p:cNvSpPr>
            <a:spLocks noGrp="1"/>
          </p:cNvSpPr>
          <p:nvPr>
            <p:ph type="title"/>
          </p:nvPr>
        </p:nvSpPr>
        <p:spPr/>
        <p:txBody>
          <a:bodyPr/>
          <a:lstStyle/>
          <a:p>
            <a:r>
              <a:rPr lang="en-US" dirty="0"/>
              <a:t>Boxplot Map</a:t>
            </a:r>
          </a:p>
        </p:txBody>
      </p:sp>
      <p:sp>
        <p:nvSpPr>
          <p:cNvPr id="3" name="Content Placeholder 2">
            <a:extLst>
              <a:ext uri="{FF2B5EF4-FFF2-40B4-BE49-F238E27FC236}">
                <a16:creationId xmlns:a16="http://schemas.microsoft.com/office/drawing/2014/main" id="{353D9643-1892-905A-3223-8B81BB48687B}"/>
              </a:ext>
            </a:extLst>
          </p:cNvPr>
          <p:cNvSpPr>
            <a:spLocks noGrp="1"/>
          </p:cNvSpPr>
          <p:nvPr>
            <p:ph idx="1"/>
          </p:nvPr>
        </p:nvSpPr>
        <p:spPr>
          <a:xfrm>
            <a:off x="457200" y="3428999"/>
            <a:ext cx="8229600" cy="2743517"/>
          </a:xfrm>
        </p:spPr>
        <p:txBody>
          <a:bodyPr>
            <a:normAutofit/>
          </a:bodyPr>
          <a:lstStyle/>
          <a:p>
            <a:pPr marL="0" indent="0">
              <a:buNone/>
            </a:pPr>
            <a:r>
              <a:rPr lang="en-US" sz="2000" dirty="0"/>
              <a:t>The discretization of continuous values can also include measures of centrality (e.g. the mean and the median) and measures of spread (e.g. standard deviation units) with the goal of understanding the nature of the distribution such as its shape (e.g. symmetrical, skewed, normal) and range.</a:t>
            </a:r>
          </a:p>
        </p:txBody>
      </p:sp>
      <p:sp>
        <p:nvSpPr>
          <p:cNvPr id="4" name="Slide Number Placeholder 3">
            <a:extLst>
              <a:ext uri="{FF2B5EF4-FFF2-40B4-BE49-F238E27FC236}">
                <a16:creationId xmlns:a16="http://schemas.microsoft.com/office/drawing/2014/main" id="{DC946931-D7E3-8FBA-3C46-7FF1F2FFEBA6}"/>
              </a:ext>
            </a:extLst>
          </p:cNvPr>
          <p:cNvSpPr>
            <a:spLocks noGrp="1"/>
          </p:cNvSpPr>
          <p:nvPr>
            <p:ph type="sldNum" sz="quarter" idx="12"/>
          </p:nvPr>
        </p:nvSpPr>
        <p:spPr/>
        <p:txBody>
          <a:bodyPr/>
          <a:lstStyle/>
          <a:p>
            <a:fld id="{C0343C75-1924-D247-85A3-0CB62E67E5D1}" type="slidenum">
              <a:rPr lang="en-US" smtClean="0"/>
              <a:t>17</a:t>
            </a:fld>
            <a:endParaRPr lang="en-US" dirty="0"/>
          </a:p>
        </p:txBody>
      </p:sp>
      <p:pic>
        <p:nvPicPr>
          <p:cNvPr id="5" name="Content Placeholder 4">
            <a:extLst>
              <a:ext uri="{FF2B5EF4-FFF2-40B4-BE49-F238E27FC236}">
                <a16:creationId xmlns:a16="http://schemas.microsoft.com/office/drawing/2014/main" id="{B875AA0B-BB77-71D2-1AAC-FE44BE461B45}"/>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72017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FB095-05A8-E125-46CB-BA8F47780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42BF-8E6E-D734-A09A-60AB02B22841}"/>
              </a:ext>
            </a:extLst>
          </p:cNvPr>
          <p:cNvSpPr>
            <a:spLocks noGrp="1"/>
          </p:cNvSpPr>
          <p:nvPr>
            <p:ph type="title"/>
          </p:nvPr>
        </p:nvSpPr>
        <p:spPr/>
        <p:txBody>
          <a:bodyPr/>
          <a:lstStyle/>
          <a:p>
            <a:r>
              <a:rPr lang="en-US" dirty="0"/>
              <a:t>IQR Map</a:t>
            </a:r>
          </a:p>
        </p:txBody>
      </p:sp>
      <p:sp>
        <p:nvSpPr>
          <p:cNvPr id="3" name="Content Placeholder 2">
            <a:extLst>
              <a:ext uri="{FF2B5EF4-FFF2-40B4-BE49-F238E27FC236}">
                <a16:creationId xmlns:a16="http://schemas.microsoft.com/office/drawing/2014/main" id="{756AD9D0-74ED-2494-C6D9-DEC32C357A57}"/>
              </a:ext>
            </a:extLst>
          </p:cNvPr>
          <p:cNvSpPr>
            <a:spLocks noGrp="1"/>
          </p:cNvSpPr>
          <p:nvPr>
            <p:ph idx="1"/>
          </p:nvPr>
        </p:nvSpPr>
        <p:spPr>
          <a:xfrm>
            <a:off x="457200" y="3428999"/>
            <a:ext cx="8229600" cy="2743517"/>
          </a:xfrm>
        </p:spPr>
        <p:txBody>
          <a:bodyPr>
            <a:normAutofit/>
          </a:bodyPr>
          <a:lstStyle/>
          <a:p>
            <a:pPr marL="0" indent="0">
              <a:buNone/>
            </a:pPr>
            <a:r>
              <a:rPr lang="en-US" sz="2000" dirty="0"/>
              <a:t>The IQR map is a reduction of the boxplot map whereby we reduce the classes to just three: the interquartile range (IQR) and the upper and lower extremes.</a:t>
            </a:r>
          </a:p>
        </p:txBody>
      </p:sp>
      <p:sp>
        <p:nvSpPr>
          <p:cNvPr id="4" name="Slide Number Placeholder 3">
            <a:extLst>
              <a:ext uri="{FF2B5EF4-FFF2-40B4-BE49-F238E27FC236}">
                <a16:creationId xmlns:a16="http://schemas.microsoft.com/office/drawing/2014/main" id="{5B04DC81-99FC-9E6B-1535-71CB14ECFB53}"/>
              </a:ext>
            </a:extLst>
          </p:cNvPr>
          <p:cNvSpPr>
            <a:spLocks noGrp="1"/>
          </p:cNvSpPr>
          <p:nvPr>
            <p:ph type="sldNum" sz="quarter" idx="12"/>
          </p:nvPr>
        </p:nvSpPr>
        <p:spPr/>
        <p:txBody>
          <a:bodyPr/>
          <a:lstStyle/>
          <a:p>
            <a:fld id="{C0343C75-1924-D247-85A3-0CB62E67E5D1}" type="slidenum">
              <a:rPr lang="en-US" smtClean="0"/>
              <a:t>18</a:t>
            </a:fld>
            <a:endParaRPr lang="en-US" dirty="0"/>
          </a:p>
        </p:txBody>
      </p:sp>
      <p:pic>
        <p:nvPicPr>
          <p:cNvPr id="5" name="Content Placeholder 4">
            <a:extLst>
              <a:ext uri="{FF2B5EF4-FFF2-40B4-BE49-F238E27FC236}">
                <a16:creationId xmlns:a16="http://schemas.microsoft.com/office/drawing/2014/main" id="{0B4DA54E-D708-718B-304B-21AE287FC242}"/>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71171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B7B1-DFEB-403A-BE03-612675EF5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2352E-2384-211B-0E22-10BABFDEDC95}"/>
              </a:ext>
            </a:extLst>
          </p:cNvPr>
          <p:cNvSpPr>
            <a:spLocks noGrp="1"/>
          </p:cNvSpPr>
          <p:nvPr>
            <p:ph type="title"/>
          </p:nvPr>
        </p:nvSpPr>
        <p:spPr/>
        <p:txBody>
          <a:bodyPr/>
          <a:lstStyle/>
          <a:p>
            <a:r>
              <a:rPr lang="en-US" dirty="0"/>
              <a:t>Standard Deviation Map</a:t>
            </a:r>
          </a:p>
        </p:txBody>
      </p:sp>
      <p:sp>
        <p:nvSpPr>
          <p:cNvPr id="3" name="Content Placeholder 2">
            <a:extLst>
              <a:ext uri="{FF2B5EF4-FFF2-40B4-BE49-F238E27FC236}">
                <a16:creationId xmlns:a16="http://schemas.microsoft.com/office/drawing/2014/main" id="{34078521-D11C-9909-E620-28B9B3A99823}"/>
              </a:ext>
            </a:extLst>
          </p:cNvPr>
          <p:cNvSpPr>
            <a:spLocks noGrp="1"/>
          </p:cNvSpPr>
          <p:nvPr>
            <p:ph idx="1"/>
          </p:nvPr>
        </p:nvSpPr>
        <p:spPr>
          <a:xfrm>
            <a:off x="457200" y="3428999"/>
            <a:ext cx="8229600" cy="2743517"/>
          </a:xfrm>
        </p:spPr>
        <p:txBody>
          <a:bodyPr>
            <a:normAutofit/>
          </a:bodyPr>
          <a:lstStyle/>
          <a:p>
            <a:pPr marL="0" indent="0">
              <a:buNone/>
            </a:pPr>
            <a:r>
              <a:rPr lang="en-US" sz="2000" dirty="0"/>
              <a:t>Note from the figure that the income data do not follow a normal distribution exactly; they have a slight skew toward higher values.</a:t>
            </a:r>
          </a:p>
          <a:p>
            <a:pPr marL="0" indent="0">
              <a:buNone/>
            </a:pPr>
            <a:r>
              <a:rPr lang="en-US" sz="2000" dirty="0"/>
              <a:t>This results in more polygons being assigned higher class breaks than lower ones.</a:t>
            </a:r>
          </a:p>
        </p:txBody>
      </p:sp>
      <p:sp>
        <p:nvSpPr>
          <p:cNvPr id="4" name="Slide Number Placeholder 3">
            <a:extLst>
              <a:ext uri="{FF2B5EF4-FFF2-40B4-BE49-F238E27FC236}">
                <a16:creationId xmlns:a16="http://schemas.microsoft.com/office/drawing/2014/main" id="{1A6D77B7-6070-9C35-605B-52789C2342A5}"/>
              </a:ext>
            </a:extLst>
          </p:cNvPr>
          <p:cNvSpPr>
            <a:spLocks noGrp="1"/>
          </p:cNvSpPr>
          <p:nvPr>
            <p:ph type="sldNum" sz="quarter" idx="12"/>
          </p:nvPr>
        </p:nvSpPr>
        <p:spPr/>
        <p:txBody>
          <a:bodyPr/>
          <a:lstStyle/>
          <a:p>
            <a:fld id="{C0343C75-1924-D247-85A3-0CB62E67E5D1}" type="slidenum">
              <a:rPr lang="en-US" smtClean="0"/>
              <a:t>19</a:t>
            </a:fld>
            <a:endParaRPr lang="en-US" dirty="0"/>
          </a:p>
        </p:txBody>
      </p:sp>
      <p:pic>
        <p:nvPicPr>
          <p:cNvPr id="5" name="Content Placeholder 4">
            <a:extLst>
              <a:ext uri="{FF2B5EF4-FFF2-40B4-BE49-F238E27FC236}">
                <a16:creationId xmlns:a16="http://schemas.microsoft.com/office/drawing/2014/main" id="{724E2BA9-5954-44F8-FE66-20727C47D5E7}"/>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709654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BDDB-E636-F7CF-BABC-0BA4EBF4E51D}"/>
              </a:ext>
            </a:extLst>
          </p:cNvPr>
          <p:cNvSpPr>
            <a:spLocks noGrp="1"/>
          </p:cNvSpPr>
          <p:nvPr>
            <p:ph type="title"/>
          </p:nvPr>
        </p:nvSpPr>
        <p:spPr/>
        <p:txBody>
          <a:bodyPr/>
          <a:lstStyle/>
          <a:p>
            <a:r>
              <a:rPr lang="en-US" dirty="0"/>
              <a:t>Color Ramps</a:t>
            </a:r>
          </a:p>
        </p:txBody>
      </p:sp>
      <p:sp>
        <p:nvSpPr>
          <p:cNvPr id="4" name="Slide Number Placeholder 3">
            <a:extLst>
              <a:ext uri="{FF2B5EF4-FFF2-40B4-BE49-F238E27FC236}">
                <a16:creationId xmlns:a16="http://schemas.microsoft.com/office/drawing/2014/main" id="{7719C949-39A5-EC4A-0C9E-6B76DBBD597F}"/>
              </a:ext>
            </a:extLst>
          </p:cNvPr>
          <p:cNvSpPr>
            <a:spLocks noGrp="1"/>
          </p:cNvSpPr>
          <p:nvPr>
            <p:ph type="sldNum" sz="quarter" idx="12"/>
          </p:nvPr>
        </p:nvSpPr>
        <p:spPr/>
        <p:txBody>
          <a:bodyPr/>
          <a:lstStyle/>
          <a:p>
            <a:fld id="{C0343C75-1924-D247-85A3-0CB62E67E5D1}" type="slidenum">
              <a:rPr lang="en-US" smtClean="0"/>
              <a:t>20</a:t>
            </a:fld>
            <a:endParaRPr lang="en-US"/>
          </a:p>
        </p:txBody>
      </p:sp>
      <p:pic>
        <p:nvPicPr>
          <p:cNvPr id="5" name="Content Placeholder 4" descr="A row of different colored squares">
            <a:extLst>
              <a:ext uri="{FF2B5EF4-FFF2-40B4-BE49-F238E27FC236}">
                <a16:creationId xmlns:a16="http://schemas.microsoft.com/office/drawing/2014/main" id="{A8A4BFFD-B4FA-B7C6-2F88-193831F5824B}"/>
              </a:ext>
            </a:extLst>
          </p:cNvPr>
          <p:cNvPicPr>
            <a:picLocks noGrp="1" noChangeAspect="1"/>
          </p:cNvPicPr>
          <p:nvPr>
            <p:ph idx="1"/>
          </p:nvPr>
        </p:nvPicPr>
        <p:blipFill>
          <a:blip r:embed="rId2"/>
          <a:stretch>
            <a:fillRect/>
          </a:stretch>
        </p:blipFill>
        <p:spPr>
          <a:xfrm>
            <a:off x="1728766" y="1416684"/>
            <a:ext cx="4900634" cy="3017520"/>
          </a:xfrm>
          <a:prstGeom prst="rect">
            <a:avLst/>
          </a:prstGeom>
        </p:spPr>
      </p:pic>
      <p:sp>
        <p:nvSpPr>
          <p:cNvPr id="6" name="TextBox 5">
            <a:extLst>
              <a:ext uri="{FF2B5EF4-FFF2-40B4-BE49-F238E27FC236}">
                <a16:creationId xmlns:a16="http://schemas.microsoft.com/office/drawing/2014/main" id="{3A966EF7-2300-DFAA-0CE0-9FB5B8E2DB3B}"/>
              </a:ext>
            </a:extLst>
          </p:cNvPr>
          <p:cNvSpPr txBox="1"/>
          <p:nvPr/>
        </p:nvSpPr>
        <p:spPr>
          <a:xfrm>
            <a:off x="804494" y="5071984"/>
            <a:ext cx="7535011" cy="369332"/>
          </a:xfrm>
          <a:prstGeom prst="rect">
            <a:avLst/>
          </a:prstGeom>
          <a:noFill/>
        </p:spPr>
        <p:txBody>
          <a:bodyPr wrap="none" rtlCol="0">
            <a:spAutoFit/>
          </a:bodyPr>
          <a:lstStyle/>
          <a:p>
            <a:pPr algn="ctr"/>
            <a:r>
              <a:rPr lang="en-US" dirty="0"/>
              <a:t>COLORBREWER - color advice for cartography at </a:t>
            </a:r>
            <a:r>
              <a:rPr lang="en-US" dirty="0">
                <a:hlinkClick r:id="rId3"/>
              </a:rPr>
              <a:t>https://colorbrewer2.org/</a:t>
            </a:r>
            <a:endParaRPr lang="en-US" dirty="0"/>
          </a:p>
        </p:txBody>
      </p:sp>
    </p:spTree>
    <p:extLst>
      <p:ext uri="{BB962C8B-B14F-4D97-AF65-F5344CB8AC3E}">
        <p14:creationId xmlns:p14="http://schemas.microsoft.com/office/powerpoint/2010/main" val="417966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CEE2B-8521-28A6-9F5A-2EC5EFF4B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03936-7F5E-0D10-C110-815053DE1397}"/>
              </a:ext>
            </a:extLst>
          </p:cNvPr>
          <p:cNvSpPr>
            <a:spLocks noGrp="1"/>
          </p:cNvSpPr>
          <p:nvPr>
            <p:ph type="title"/>
          </p:nvPr>
        </p:nvSpPr>
        <p:spPr/>
        <p:txBody>
          <a:bodyPr/>
          <a:lstStyle/>
          <a:p>
            <a:r>
              <a:rPr lang="en-US" dirty="0"/>
              <a:t>Color Ramps Best Practices</a:t>
            </a:r>
          </a:p>
        </p:txBody>
      </p:sp>
      <p:sp>
        <p:nvSpPr>
          <p:cNvPr id="4" name="Slide Number Placeholder 3">
            <a:extLst>
              <a:ext uri="{FF2B5EF4-FFF2-40B4-BE49-F238E27FC236}">
                <a16:creationId xmlns:a16="http://schemas.microsoft.com/office/drawing/2014/main" id="{EFD15606-8D46-E21E-39ED-47D9F52F798D}"/>
              </a:ext>
            </a:extLst>
          </p:cNvPr>
          <p:cNvSpPr>
            <a:spLocks noGrp="1"/>
          </p:cNvSpPr>
          <p:nvPr>
            <p:ph type="sldNum" sz="quarter" idx="12"/>
          </p:nvPr>
        </p:nvSpPr>
        <p:spPr/>
        <p:txBody>
          <a:bodyPr/>
          <a:lstStyle/>
          <a:p>
            <a:fld id="{C0343C75-1924-D247-85A3-0CB62E67E5D1}" type="slidenum">
              <a:rPr lang="en-US" smtClean="0"/>
              <a:t>21</a:t>
            </a:fld>
            <a:endParaRPr lang="en-US"/>
          </a:p>
        </p:txBody>
      </p:sp>
      <p:sp>
        <p:nvSpPr>
          <p:cNvPr id="6" name="Content Placeholder 5">
            <a:extLst>
              <a:ext uri="{FF2B5EF4-FFF2-40B4-BE49-F238E27FC236}">
                <a16:creationId xmlns:a16="http://schemas.microsoft.com/office/drawing/2014/main" id="{BDF2E010-3F4E-85F8-622C-4CB4FC3A6E20}"/>
              </a:ext>
            </a:extLst>
          </p:cNvPr>
          <p:cNvSpPr>
            <a:spLocks noGrp="1"/>
          </p:cNvSpPr>
          <p:nvPr>
            <p:ph idx="1"/>
          </p:nvPr>
        </p:nvSpPr>
        <p:spPr/>
        <p:txBody>
          <a:bodyPr>
            <a:normAutofit/>
          </a:bodyPr>
          <a:lstStyle/>
          <a:p>
            <a:pPr marL="0" indent="0">
              <a:buNone/>
            </a:pPr>
            <a:r>
              <a:rPr lang="en-US" sz="2000" b="1" dirty="0"/>
              <a:t>Categorical palettes</a:t>
            </a:r>
          </a:p>
          <a:p>
            <a:r>
              <a:rPr lang="en-US" sz="1400" dirty="0"/>
              <a:t>Consist of </a:t>
            </a:r>
            <a:r>
              <a:rPr lang="en-US" sz="1400" u="sng" dirty="0"/>
              <a:t>easily distinguishable</a:t>
            </a:r>
            <a:r>
              <a:rPr lang="en-US" sz="1400" dirty="0"/>
              <a:t> colors and are most appropriate for categorical data </a:t>
            </a:r>
            <a:r>
              <a:rPr lang="en-US" sz="1400" u="sng" dirty="0"/>
              <a:t>without any particular order</a:t>
            </a:r>
            <a:r>
              <a:rPr lang="en-US" sz="1400" dirty="0"/>
              <a:t> such as state names or land cover classes.</a:t>
            </a:r>
          </a:p>
          <a:p>
            <a:r>
              <a:rPr lang="en-US" sz="1400" u="sng" dirty="0"/>
              <a:t>Colors should be intuitive</a:t>
            </a:r>
            <a:r>
              <a:rPr lang="en-US" sz="1400" dirty="0"/>
              <a:t>: rivers should be blue, for example, and pastures green.</a:t>
            </a:r>
          </a:p>
          <a:p>
            <a:r>
              <a:rPr lang="en-US" sz="1400" u="sng" dirty="0"/>
              <a:t>Avoid too many categories</a:t>
            </a:r>
            <a:r>
              <a:rPr lang="en-US" sz="1400" dirty="0"/>
              <a:t>: maps with large legends and many colors can be uninterpretable.</a:t>
            </a:r>
          </a:p>
          <a:p>
            <a:pPr marL="0" indent="0">
              <a:buNone/>
            </a:pPr>
            <a:r>
              <a:rPr lang="en-US" sz="2000" b="1" dirty="0"/>
              <a:t>Sequential palettes</a:t>
            </a:r>
          </a:p>
          <a:p>
            <a:r>
              <a:rPr lang="en-US" sz="1400" dirty="0"/>
              <a:t>Follow a </a:t>
            </a:r>
            <a:r>
              <a:rPr lang="en-US" sz="1400" u="sng" dirty="0"/>
              <a:t>gradient</a:t>
            </a:r>
            <a:r>
              <a:rPr lang="en-US" sz="1400" dirty="0"/>
              <a:t>, for example from light to dark colors (light colors often tend to represent lower values), and are appropriate for continuous (numeric) variables.</a:t>
            </a:r>
          </a:p>
          <a:p>
            <a:r>
              <a:rPr lang="en-US" sz="1400" dirty="0"/>
              <a:t>Sequential palettes can be </a:t>
            </a:r>
            <a:r>
              <a:rPr lang="en-US" sz="1400" u="sng" dirty="0"/>
              <a:t>single</a:t>
            </a:r>
            <a:r>
              <a:rPr lang="en-US" sz="1400" dirty="0"/>
              <a:t> (greens goes from light to dark green, for example) or </a:t>
            </a:r>
            <a:r>
              <a:rPr lang="en-US" sz="1400" u="sng" dirty="0"/>
              <a:t>multi-color/hue</a:t>
            </a:r>
            <a:r>
              <a:rPr lang="en-US" sz="1400" dirty="0"/>
              <a:t>.</a:t>
            </a:r>
          </a:p>
          <a:p>
            <a:pPr marL="0" indent="0">
              <a:buNone/>
            </a:pPr>
            <a:r>
              <a:rPr lang="en-US" sz="2000" b="1" dirty="0"/>
              <a:t>Diverging palettes</a:t>
            </a:r>
          </a:p>
          <a:p>
            <a:r>
              <a:rPr lang="en-US" sz="1400" dirty="0"/>
              <a:t>Typically </a:t>
            </a:r>
            <a:r>
              <a:rPr lang="en-US" sz="1400" u="sng" dirty="0"/>
              <a:t>range</a:t>
            </a:r>
            <a:r>
              <a:rPr lang="en-US" sz="1400" dirty="0"/>
              <a:t> between three distinct colors (purple-white-green) and are usually created by joining two single-color sequential palettes with the darker colors at each end.</a:t>
            </a:r>
          </a:p>
          <a:p>
            <a:r>
              <a:rPr lang="en-US" sz="1400" dirty="0"/>
              <a:t>Their main purpose is to visualize the </a:t>
            </a:r>
            <a:r>
              <a:rPr lang="en-US" sz="1400" u="sng" dirty="0"/>
              <a:t>difference from an important reference point</a:t>
            </a:r>
            <a:r>
              <a:rPr lang="en-US" sz="1400" dirty="0"/>
              <a:t>, e.g., a certain temperature, the median household income or the mean probability for a drought event.</a:t>
            </a:r>
          </a:p>
        </p:txBody>
      </p:sp>
    </p:spTree>
    <p:extLst>
      <p:ext uri="{BB962C8B-B14F-4D97-AF65-F5344CB8AC3E}">
        <p14:creationId xmlns:p14="http://schemas.microsoft.com/office/powerpoint/2010/main" val="569399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D63C8-EDD1-85B6-CE01-4C2541E6B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2C80B-E711-449D-512D-4A85B22AE5FF}"/>
              </a:ext>
            </a:extLst>
          </p:cNvPr>
          <p:cNvSpPr>
            <a:spLocks noGrp="1"/>
          </p:cNvSpPr>
          <p:nvPr>
            <p:ph type="title"/>
          </p:nvPr>
        </p:nvSpPr>
        <p:spPr/>
        <p:txBody>
          <a:bodyPr/>
          <a:lstStyle/>
          <a:p>
            <a:r>
              <a:rPr lang="en-US" dirty="0"/>
              <a:t>Color Ramp Example</a:t>
            </a:r>
          </a:p>
        </p:txBody>
      </p:sp>
      <p:sp>
        <p:nvSpPr>
          <p:cNvPr id="4" name="Slide Number Placeholder 3">
            <a:extLst>
              <a:ext uri="{FF2B5EF4-FFF2-40B4-BE49-F238E27FC236}">
                <a16:creationId xmlns:a16="http://schemas.microsoft.com/office/drawing/2014/main" id="{8C8376C0-C011-9B7E-D57E-7D100A4FBD76}"/>
              </a:ext>
            </a:extLst>
          </p:cNvPr>
          <p:cNvSpPr>
            <a:spLocks noGrp="1"/>
          </p:cNvSpPr>
          <p:nvPr>
            <p:ph type="sldNum" sz="quarter" idx="12"/>
          </p:nvPr>
        </p:nvSpPr>
        <p:spPr/>
        <p:txBody>
          <a:bodyPr/>
          <a:lstStyle/>
          <a:p>
            <a:fld id="{C0343C75-1924-D247-85A3-0CB62E67E5D1}" type="slidenum">
              <a:rPr lang="en-US" smtClean="0"/>
              <a:t>22</a:t>
            </a:fld>
            <a:endParaRPr lang="en-US"/>
          </a:p>
        </p:txBody>
      </p:sp>
      <p:pic>
        <p:nvPicPr>
          <p:cNvPr id="7" name="Picture 6" descr="A map of the united states&#10;&#10;AI-generated content may be incorrect.">
            <a:extLst>
              <a:ext uri="{FF2B5EF4-FFF2-40B4-BE49-F238E27FC236}">
                <a16:creationId xmlns:a16="http://schemas.microsoft.com/office/drawing/2014/main" id="{B8706EE5-F67F-1CEC-93D9-A15A378518FD}"/>
              </a:ext>
            </a:extLst>
          </p:cNvPr>
          <p:cNvPicPr>
            <a:picLocks noChangeAspect="1"/>
          </p:cNvPicPr>
          <p:nvPr/>
        </p:nvPicPr>
        <p:blipFill>
          <a:blip r:embed="rId2"/>
          <a:srcRect l="10563" t="11263" r="8650" b="15646"/>
          <a:stretch>
            <a:fillRect/>
          </a:stretch>
        </p:blipFill>
        <p:spPr>
          <a:xfrm>
            <a:off x="1153801" y="1416684"/>
            <a:ext cx="6836398" cy="4375918"/>
          </a:xfrm>
          <a:prstGeom prst="rect">
            <a:avLst/>
          </a:prstGeom>
        </p:spPr>
      </p:pic>
    </p:spTree>
    <p:extLst>
      <p:ext uri="{BB962C8B-B14F-4D97-AF65-F5344CB8AC3E}">
        <p14:creationId xmlns:p14="http://schemas.microsoft.com/office/powerpoint/2010/main" val="3499326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3D4DB-41E9-3579-6CC2-63D564856BBE}"/>
              </a:ext>
            </a:extLst>
          </p:cNvPr>
          <p:cNvSpPr>
            <a:spLocks noGrp="1"/>
          </p:cNvSpPr>
          <p:nvPr>
            <p:ph type="title"/>
          </p:nvPr>
        </p:nvSpPr>
        <p:spPr/>
        <p:txBody>
          <a:bodyPr/>
          <a:lstStyle/>
          <a:p>
            <a:r>
              <a:rPr lang="en-US" dirty="0"/>
              <a:t>Vector Attribute Operations 1</a:t>
            </a:r>
          </a:p>
        </p:txBody>
      </p:sp>
      <p:sp>
        <p:nvSpPr>
          <p:cNvPr id="3" name="Content Placeholder 2">
            <a:extLst>
              <a:ext uri="{FF2B5EF4-FFF2-40B4-BE49-F238E27FC236}">
                <a16:creationId xmlns:a16="http://schemas.microsoft.com/office/drawing/2014/main" id="{FD6B5E08-2FDE-DD68-7DFD-B514B57A7A87}"/>
              </a:ext>
            </a:extLst>
          </p:cNvPr>
          <p:cNvSpPr>
            <a:spLocks noGrp="1"/>
          </p:cNvSpPr>
          <p:nvPr>
            <p:ph idx="1"/>
          </p:nvPr>
        </p:nvSpPr>
        <p:spPr/>
        <p:txBody>
          <a:bodyPr/>
          <a:lstStyle/>
          <a:p>
            <a:pPr marL="0" indent="0">
              <a:buNone/>
            </a:pPr>
            <a:r>
              <a:rPr lang="en-US" b="1" dirty="0"/>
              <a:t>Subsetting</a:t>
            </a:r>
          </a:p>
          <a:p>
            <a:r>
              <a:rPr lang="en-US" dirty="0"/>
              <a:t>Row filtering with </a:t>
            </a:r>
            <a:r>
              <a:rPr lang="en-US" dirty="0">
                <a:latin typeface="OSAKA-MONO" panose="020B0600000000000000" pitchFamily="34" charset="-128"/>
                <a:ea typeface="OSAKA-MONO" panose="020B0600000000000000" pitchFamily="34" charset="-128"/>
              </a:rPr>
              <a:t>filter()</a:t>
            </a:r>
          </a:p>
          <a:p>
            <a:r>
              <a:rPr lang="en-US" dirty="0"/>
              <a:t>Column selection with </a:t>
            </a:r>
            <a:r>
              <a:rPr lang="en-US" dirty="0">
                <a:latin typeface="OSAKA-MONO" panose="020B0600000000000000" pitchFamily="34" charset="-128"/>
                <a:ea typeface="OSAKA-MONO" panose="020B0600000000000000" pitchFamily="34" charset="-128"/>
              </a:rPr>
              <a:t>select()</a:t>
            </a:r>
          </a:p>
          <a:p>
            <a:r>
              <a:rPr lang="en-US" dirty="0"/>
              <a:t>Base </a:t>
            </a:r>
            <a:r>
              <a:rPr lang="en-US" dirty="0">
                <a:latin typeface="OSAKA-MONO" panose="020B0600000000000000" pitchFamily="34" charset="-128"/>
                <a:ea typeface="OSAKA-MONO" panose="020B0600000000000000" pitchFamily="34" charset="-128"/>
              </a:rPr>
              <a:t>R</a:t>
            </a:r>
            <a:r>
              <a:rPr lang="en-US" dirty="0"/>
              <a:t> vs </a:t>
            </a:r>
            <a:r>
              <a:rPr lang="en-US" dirty="0" err="1">
                <a:latin typeface="OSAKA-MONO" panose="020B0600000000000000" pitchFamily="34" charset="-128"/>
                <a:ea typeface="OSAKA-MONO" panose="020B0600000000000000" pitchFamily="34" charset="-128"/>
              </a:rPr>
              <a:t>tidyverse</a:t>
            </a:r>
            <a:r>
              <a:rPr lang="en-US" dirty="0"/>
              <a:t> approaches</a:t>
            </a:r>
          </a:p>
        </p:txBody>
      </p:sp>
      <p:sp>
        <p:nvSpPr>
          <p:cNvPr id="7" name="Slide Number Placeholder 6">
            <a:extLst>
              <a:ext uri="{FF2B5EF4-FFF2-40B4-BE49-F238E27FC236}">
                <a16:creationId xmlns:a16="http://schemas.microsoft.com/office/drawing/2014/main" id="{AA3927CA-D2FE-9624-FF3C-D5514A7AE932}"/>
              </a:ext>
            </a:extLst>
          </p:cNvPr>
          <p:cNvSpPr>
            <a:spLocks noGrp="1"/>
          </p:cNvSpPr>
          <p:nvPr>
            <p:ph type="sldNum" sz="quarter" idx="12"/>
          </p:nvPr>
        </p:nvSpPr>
        <p:spPr/>
        <p:txBody>
          <a:bodyPr/>
          <a:lstStyle/>
          <a:p>
            <a:fld id="{C0343C75-1924-D247-85A3-0CB62E67E5D1}" type="slidenum">
              <a:rPr lang="en-US" smtClean="0"/>
              <a:t>23</a:t>
            </a:fld>
            <a:endParaRPr lang="en-US"/>
          </a:p>
        </p:txBody>
      </p:sp>
    </p:spTree>
    <p:extLst>
      <p:ext uri="{BB962C8B-B14F-4D97-AF65-F5344CB8AC3E}">
        <p14:creationId xmlns:p14="http://schemas.microsoft.com/office/powerpoint/2010/main" val="1368995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B845-CB2F-4070-FFBD-C1AB71757C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EAAF54-16E4-EC28-C842-F1D3F493CC4F}"/>
              </a:ext>
            </a:extLst>
          </p:cNvPr>
          <p:cNvSpPr txBox="1"/>
          <p:nvPr/>
        </p:nvSpPr>
        <p:spPr>
          <a:xfrm>
            <a:off x="457200" y="1416520"/>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Base R Approach</a:t>
            </a:r>
          </a:p>
        </p:txBody>
      </p:sp>
      <p:sp>
        <p:nvSpPr>
          <p:cNvPr id="2" name="TextBox 1">
            <a:extLst>
              <a:ext uri="{FF2B5EF4-FFF2-40B4-BE49-F238E27FC236}">
                <a16:creationId xmlns:a16="http://schemas.microsoft.com/office/drawing/2014/main" id="{44836964-97C8-595F-B35C-B8C5479F0FAB}"/>
              </a:ext>
            </a:extLst>
          </p:cNvPr>
          <p:cNvSpPr txBox="1"/>
          <p:nvPr/>
        </p:nvSpPr>
        <p:spPr>
          <a:xfrm>
            <a:off x="45720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select(world, name, 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 rows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area_km2 &lt; 10000)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223C6F1D-1E71-E7D0-3437-D896DAC10CB9}"/>
              </a:ext>
            </a:extLst>
          </p:cNvPr>
          <p:cNvSpPr txBox="1"/>
          <p:nvPr/>
        </p:nvSpPr>
        <p:spPr>
          <a:xfrm>
            <a:off x="4572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Subset rows &amp;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world[1:5,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Logical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subsetting</a:t>
            </a:r>
            <a:endPar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small = 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world$area</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&lt; 10000,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05679373-49B4-C58D-5B4F-7FAE01EECA1F}"/>
              </a:ext>
            </a:extLst>
          </p:cNvPr>
          <p:cNvSpPr txBox="1"/>
          <p:nvPr/>
        </p:nvSpPr>
        <p:spPr>
          <a:xfrm>
            <a:off x="4572000" y="1416684"/>
            <a:ext cx="3301340" cy="369332"/>
          </a:xfrm>
          <a:prstGeom prst="rect">
            <a:avLst/>
          </a:prstGeom>
          <a:noFill/>
        </p:spPr>
        <p:txBody>
          <a:bodyPr wrap="square" rtlCol="0">
            <a:spAutoFit/>
          </a:bodyPr>
          <a:lstStyle/>
          <a:p>
            <a:r>
              <a:rPr lang="en-US" b="1" dirty="0" err="1">
                <a:ea typeface="OSAKA-MONO" panose="020B0600000000000000" pitchFamily="34" charset="-128"/>
                <a:cs typeface="Menlo" panose="020B0609030804020204" pitchFamily="49" charset="0"/>
              </a:rPr>
              <a:t>tidyverse</a:t>
            </a:r>
            <a:r>
              <a:rPr lang="en-US" b="1" dirty="0">
                <a:ea typeface="OSAKA-MONO" panose="020B0600000000000000" pitchFamily="34" charset="-128"/>
                <a:cs typeface="Menlo" panose="020B0609030804020204" pitchFamily="49" charset="0"/>
              </a:rPr>
              <a:t> Approach</a:t>
            </a:r>
          </a:p>
        </p:txBody>
      </p:sp>
      <p:sp>
        <p:nvSpPr>
          <p:cNvPr id="6" name="TextBox 5">
            <a:extLst>
              <a:ext uri="{FF2B5EF4-FFF2-40B4-BE49-F238E27FC236}">
                <a16:creationId xmlns:a16="http://schemas.microsoft.com/office/drawing/2014/main" id="{892AD604-89E1-2148-86BB-22A979B8B061}"/>
              </a:ext>
            </a:extLst>
          </p:cNvPr>
          <p:cNvSpPr txBox="1"/>
          <p:nvPr/>
        </p:nvSpPr>
        <p:spPr>
          <a:xfrm>
            <a:off x="457200" y="1788054"/>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a:solidFill>
                  <a:srgbClr val="00B050"/>
                </a:solidFill>
                <a:latin typeface="OSAKA-MONO" panose="020B0600000000000000" pitchFamily="34" charset="-128"/>
                <a:ea typeface="OSAKA-MONO" panose="020B0600000000000000" pitchFamily="34" charset="-128"/>
                <a:cs typeface="Menlo" panose="020B0609030804020204" pitchFamily="49" charset="0"/>
              </a:rPr>
              <a:t>[ ]</a:t>
            </a:r>
            <a:r>
              <a:rPr lang="en-US" dirty="0">
                <a:solidFill>
                  <a:srgbClr val="00B050"/>
                </a:solidFill>
                <a:ea typeface="OSAKA-MONO" panose="020B0600000000000000" pitchFamily="34" charset="-128"/>
                <a:cs typeface="Menlo" panose="020B0609030804020204" pitchFamily="49" charset="0"/>
              </a:rPr>
              <a:t> operator:</a:t>
            </a:r>
          </a:p>
        </p:txBody>
      </p:sp>
      <p:sp>
        <p:nvSpPr>
          <p:cNvPr id="7" name="TextBox 6">
            <a:extLst>
              <a:ext uri="{FF2B5EF4-FFF2-40B4-BE49-F238E27FC236}">
                <a16:creationId xmlns:a16="http://schemas.microsoft.com/office/drawing/2014/main" id="{5F4DFDDB-435A-27E4-30F8-B4B79AC9F11D}"/>
              </a:ext>
            </a:extLst>
          </p:cNvPr>
          <p:cNvSpPr txBox="1"/>
          <p:nvPr/>
        </p:nvSpPr>
        <p:spPr>
          <a:xfrm>
            <a:off x="4572000" y="1785689"/>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err="1">
                <a:solidFill>
                  <a:srgbClr val="00B050"/>
                </a:solidFill>
                <a:latin typeface="OSAKA-MONO" panose="020B0600000000000000" pitchFamily="34" charset="-128"/>
                <a:ea typeface="OSAKA-MONO" panose="020B0600000000000000" pitchFamily="34" charset="-128"/>
                <a:cs typeface="Menlo" panose="020B0609030804020204" pitchFamily="49" charset="0"/>
              </a:rPr>
              <a:t>dplyr</a:t>
            </a:r>
            <a:r>
              <a:rPr lang="en-US" dirty="0">
                <a:solidFill>
                  <a:srgbClr val="00B050"/>
                </a:solidFill>
                <a:ea typeface="OSAKA-MONO" panose="020B0600000000000000" pitchFamily="34" charset="-128"/>
                <a:cs typeface="Menlo" panose="020B0609030804020204" pitchFamily="49" charset="0"/>
              </a:rPr>
              <a:t> verbs:</a:t>
            </a:r>
          </a:p>
        </p:txBody>
      </p:sp>
      <p:sp>
        <p:nvSpPr>
          <p:cNvPr id="8" name="TextBox 7">
            <a:extLst>
              <a:ext uri="{FF2B5EF4-FFF2-40B4-BE49-F238E27FC236}">
                <a16:creationId xmlns:a16="http://schemas.microsoft.com/office/drawing/2014/main" id="{90DB0495-D318-D15C-0503-85DF22736A6D}"/>
              </a:ext>
            </a:extLst>
          </p:cNvPr>
          <p:cNvSpPr txBox="1"/>
          <p:nvPr/>
        </p:nvSpPr>
        <p:spPr>
          <a:xfrm>
            <a:off x="457200" y="4281044"/>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Functions</a:t>
            </a:r>
          </a:p>
        </p:txBody>
      </p:sp>
      <p:graphicFrame>
        <p:nvGraphicFramePr>
          <p:cNvPr id="10" name="Table 9">
            <a:extLst>
              <a:ext uri="{FF2B5EF4-FFF2-40B4-BE49-F238E27FC236}">
                <a16:creationId xmlns:a16="http://schemas.microsoft.com/office/drawing/2014/main" id="{7874B27A-E1CB-F2B9-598A-B2DB29B9EB6F}"/>
              </a:ext>
            </a:extLst>
          </p:cNvPr>
          <p:cNvGraphicFramePr>
            <a:graphicFrameLocks noGrp="1"/>
          </p:cNvGraphicFramePr>
          <p:nvPr>
            <p:extLst>
              <p:ext uri="{D42A27DB-BD31-4B8C-83A1-F6EECF244321}">
                <p14:modId xmlns:p14="http://schemas.microsoft.com/office/powerpoint/2010/main" val="1396475640"/>
              </p:ext>
            </p:extLst>
          </p:nvPr>
        </p:nvGraphicFramePr>
        <p:xfrm>
          <a:off x="457200" y="4650376"/>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select()</a:t>
                      </a:r>
                    </a:p>
                  </a:txBody>
                  <a:tcPr marR="0" marT="0" marB="0"/>
                </a:tc>
                <a:tc>
                  <a:txBody>
                    <a:bodyPr/>
                    <a:lstStyle/>
                    <a:p>
                      <a:r>
                        <a:rPr lang="en-US" dirty="0"/>
                        <a:t>choose columns</a:t>
                      </a:r>
                    </a:p>
                  </a:txBody>
                  <a:tcPr marR="0" marT="0" marB="0"/>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filter()</a:t>
                      </a:r>
                    </a:p>
                  </a:txBody>
                  <a:tcPr marR="0" marT="0" marB="0"/>
                </a:tc>
                <a:tc>
                  <a:txBody>
                    <a:bodyPr/>
                    <a:lstStyle/>
                    <a:p>
                      <a:r>
                        <a:rPr lang="en-US" dirty="0"/>
                        <a:t>subset rows by condition</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slice()</a:t>
                      </a:r>
                    </a:p>
                  </a:txBody>
                  <a:tcPr marR="0" marT="0" marB="0"/>
                </a:tc>
                <a:tc>
                  <a:txBody>
                    <a:bodyPr/>
                    <a:lstStyle/>
                    <a:p>
                      <a:r>
                        <a:rPr lang="en-US" dirty="0"/>
                        <a:t>select rows by position</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pull()</a:t>
                      </a:r>
                    </a:p>
                  </a:txBody>
                  <a:tcPr marR="0" marT="0" marB="0"/>
                </a:tc>
                <a:tc>
                  <a:txBody>
                    <a:bodyPr/>
                    <a:lstStyle/>
                    <a:p>
                      <a:r>
                        <a:rPr lang="en-US" dirty="0"/>
                        <a:t>extract single column as vector</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30B6EDBA-EE1E-17E8-A6FA-A289700D0845}"/>
              </a:ext>
            </a:extLst>
          </p:cNvPr>
          <p:cNvSpPr>
            <a:spLocks noGrp="1"/>
          </p:cNvSpPr>
          <p:nvPr>
            <p:ph type="title"/>
          </p:nvPr>
        </p:nvSpPr>
        <p:spPr/>
        <p:txBody>
          <a:bodyPr/>
          <a:lstStyle/>
          <a:p>
            <a:r>
              <a:rPr lang="en-US" dirty="0"/>
              <a:t>Subsetting</a:t>
            </a:r>
          </a:p>
        </p:txBody>
      </p:sp>
      <p:sp>
        <p:nvSpPr>
          <p:cNvPr id="12" name="Slide Number Placeholder 11">
            <a:extLst>
              <a:ext uri="{FF2B5EF4-FFF2-40B4-BE49-F238E27FC236}">
                <a16:creationId xmlns:a16="http://schemas.microsoft.com/office/drawing/2014/main" id="{137749B0-17FC-E5A0-4AED-7C199E365239}"/>
              </a:ext>
            </a:extLst>
          </p:cNvPr>
          <p:cNvSpPr>
            <a:spLocks noGrp="1"/>
          </p:cNvSpPr>
          <p:nvPr>
            <p:ph type="sldNum" sz="quarter" idx="12"/>
          </p:nvPr>
        </p:nvSpPr>
        <p:spPr/>
        <p:txBody>
          <a:bodyPr/>
          <a:lstStyle/>
          <a:p>
            <a:fld id="{C0343C75-1924-D247-85A3-0CB62E67E5D1}" type="slidenum">
              <a:rPr lang="en-US" smtClean="0"/>
              <a:t>24</a:t>
            </a:fld>
            <a:endParaRPr lang="en-US"/>
          </a:p>
        </p:txBody>
      </p:sp>
    </p:spTree>
    <p:extLst>
      <p:ext uri="{BB962C8B-B14F-4D97-AF65-F5344CB8AC3E}">
        <p14:creationId xmlns:p14="http://schemas.microsoft.com/office/powerpoint/2010/main" val="162646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AD8CC90-9E4B-9972-8EAD-F146B40064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BAFDD4-1810-D433-734B-099F19E2C308}"/>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The pipe operator enables expressive, readable code</a:t>
            </a:r>
          </a:p>
        </p:txBody>
      </p:sp>
      <p:sp>
        <p:nvSpPr>
          <p:cNvPr id="2" name="TextBox 1">
            <a:extLst>
              <a:ext uri="{FF2B5EF4-FFF2-40B4-BE49-F238E27FC236}">
                <a16:creationId xmlns:a16="http://schemas.microsoft.com/office/drawing/2014/main" id="{5A6BAD60-E6C8-9F55-3B78-9EAA65688DC2}"/>
              </a:ext>
            </a:extLst>
          </p:cNvPr>
          <p:cNvSpPr txBox="1"/>
          <p:nvPr/>
        </p:nvSpPr>
        <p:spPr>
          <a:xfrm>
            <a:off x="4572000" y="2154695"/>
            <a:ext cx="4114800" cy="1477328"/>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 'Asia')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select(name, 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14E82DE0-3668-BDB5-F975-9F52D2571BE0}"/>
              </a:ext>
            </a:extLst>
          </p:cNvPr>
          <p:cNvSpPr txBox="1"/>
          <p:nvPr/>
        </p:nvSpPr>
        <p:spPr>
          <a:xfrm>
            <a:off x="457201" y="2154857"/>
            <a:ext cx="4114799"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slice(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continent=='Asia'),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name, continent),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4D51089-F202-0C85-8582-CEF35335F17C}"/>
              </a:ext>
            </a:extLst>
          </p:cNvPr>
          <p:cNvSpPr txBox="1"/>
          <p:nvPr/>
        </p:nvSpPr>
        <p:spPr>
          <a:xfrm>
            <a:off x="457200" y="1785567"/>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Without Pipes (Nested)</a:t>
            </a:r>
          </a:p>
        </p:txBody>
      </p:sp>
      <p:sp>
        <p:nvSpPr>
          <p:cNvPr id="7" name="TextBox 6">
            <a:extLst>
              <a:ext uri="{FF2B5EF4-FFF2-40B4-BE49-F238E27FC236}">
                <a16:creationId xmlns:a16="http://schemas.microsoft.com/office/drawing/2014/main" id="{1CADDCD8-ECEF-2501-1C65-B7CBF2A88E24}"/>
              </a:ext>
            </a:extLst>
          </p:cNvPr>
          <p:cNvSpPr txBox="1"/>
          <p:nvPr/>
        </p:nvSpPr>
        <p:spPr>
          <a:xfrm>
            <a:off x="4572000" y="1785689"/>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With Pipes (</a:t>
            </a:r>
            <a:r>
              <a:rPr lang="en-US" b="1" dirty="0">
                <a:solidFill>
                  <a:srgbClr val="0070C0"/>
                </a:solidFill>
                <a:latin typeface="OSAKA-MONO" panose="020B0600000000000000" pitchFamily="34" charset="-128"/>
                <a:ea typeface="OSAKA-MONO" panose="020B0600000000000000" pitchFamily="34" charset="-128"/>
                <a:cs typeface="Menlo" panose="020B0609030804020204" pitchFamily="49" charset="0"/>
              </a:rPr>
              <a:t>|&gt;</a:t>
            </a:r>
            <a:r>
              <a:rPr lang="en-US" b="1" dirty="0">
                <a:ea typeface="OSAKA-MONO" panose="020B0600000000000000" pitchFamily="34" charset="-128"/>
                <a:cs typeface="Menlo" panose="020B0609030804020204" pitchFamily="49" charset="0"/>
              </a:rPr>
              <a:t> or </a:t>
            </a:r>
            <a:r>
              <a:rPr lang="en-US" b="1" dirty="0">
                <a:solidFill>
                  <a:srgbClr val="0070C0"/>
                </a:solidFill>
                <a:latin typeface="OSAKA-MONO" panose="020B0600000000000000" pitchFamily="34" charset="-128"/>
                <a:ea typeface="OSAKA-MONO" panose="020B0600000000000000" pitchFamily="34" charset="-128"/>
                <a:cs typeface="Menlo" panose="020B0609030804020204" pitchFamily="49" charset="0"/>
              </a:rPr>
              <a:t>%&gt;%</a:t>
            </a:r>
            <a:r>
              <a:rPr lang="en-US" b="1" dirty="0">
                <a:ea typeface="OSAKA-MONO" panose="020B0600000000000000" pitchFamily="34" charset="-128"/>
                <a:cs typeface="Menlo" panose="020B0609030804020204" pitchFamily="49" charset="0"/>
              </a:rPr>
              <a:t>)</a:t>
            </a:r>
          </a:p>
        </p:txBody>
      </p:sp>
      <p:sp>
        <p:nvSpPr>
          <p:cNvPr id="8" name="TextBox 7">
            <a:extLst>
              <a:ext uri="{FF2B5EF4-FFF2-40B4-BE49-F238E27FC236}">
                <a16:creationId xmlns:a16="http://schemas.microsoft.com/office/drawing/2014/main" id="{2D8F81A1-E67A-7643-03A6-CEB8E9406D53}"/>
              </a:ext>
            </a:extLst>
          </p:cNvPr>
          <p:cNvSpPr txBox="1"/>
          <p:nvPr/>
        </p:nvSpPr>
        <p:spPr>
          <a:xfrm>
            <a:off x="457200" y="4278269"/>
            <a:ext cx="8229600" cy="1754326"/>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Benefits of Piping</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No intermediate variable names needed</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Easy to add/remove steps</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Works with RStudio keyboard shortcuts</a:t>
            </a:r>
          </a:p>
          <a:p>
            <a:pPr marL="742950" lvl="1" indent="-285750">
              <a:buFont typeface="Arial" panose="020B0604020202020204" pitchFamily="34" charset="0"/>
              <a:buChar char="•"/>
            </a:pPr>
            <a:r>
              <a:rPr lang="en-US" dirty="0">
                <a:latin typeface="OSAKA-MONO" panose="020B0600000000000000" pitchFamily="34" charset="-128"/>
                <a:ea typeface="OSAKA-MONO" panose="020B0600000000000000" pitchFamily="34" charset="-128"/>
                <a:cs typeface="Menlo" panose="020B0609030804020204" pitchFamily="49" charset="0"/>
              </a:rPr>
              <a:t>Ctrl + Shift + M </a:t>
            </a:r>
            <a:r>
              <a:rPr lang="en-US" dirty="0">
                <a:ea typeface="OSAKA-MONO" panose="020B0600000000000000" pitchFamily="34" charset="-128"/>
                <a:cs typeface="Menlo" panose="020B0609030804020204" pitchFamily="49" charset="0"/>
              </a:rPr>
              <a:t>on Windows/Linux</a:t>
            </a:r>
          </a:p>
          <a:p>
            <a:pPr marL="742950" lvl="1" indent="-285750">
              <a:buFont typeface="Arial" panose="020B0604020202020204" pitchFamily="34" charset="0"/>
              <a:buChar char="•"/>
            </a:pPr>
            <a:r>
              <a:rPr lang="en-US" dirty="0" err="1">
                <a:latin typeface="OSAKA-MONO" panose="020B0600000000000000" pitchFamily="34" charset="-128"/>
                <a:ea typeface="OSAKA-MONO" panose="020B0600000000000000" pitchFamily="34" charset="-128"/>
                <a:cs typeface="Menlo" panose="020B0609030804020204" pitchFamily="49" charset="0"/>
              </a:rPr>
              <a:t>Cmd</a:t>
            </a:r>
            <a:r>
              <a:rPr lang="en-US" dirty="0">
                <a:latin typeface="OSAKA-MONO" panose="020B0600000000000000" pitchFamily="34" charset="-128"/>
                <a:ea typeface="OSAKA-MONO" panose="020B0600000000000000" pitchFamily="34" charset="-128"/>
                <a:cs typeface="Menlo" panose="020B0609030804020204" pitchFamily="49" charset="0"/>
              </a:rPr>
              <a:t> + Shift + M </a:t>
            </a:r>
            <a:r>
              <a:rPr lang="en-US" dirty="0">
                <a:ea typeface="OSAKA-MONO" panose="020B0600000000000000" pitchFamily="34" charset="-128"/>
                <a:cs typeface="Menlo" panose="020B0609030804020204" pitchFamily="49" charset="0"/>
              </a:rPr>
              <a:t>on Mac</a:t>
            </a:r>
          </a:p>
        </p:txBody>
      </p:sp>
      <p:sp>
        <p:nvSpPr>
          <p:cNvPr id="11" name="Title 10">
            <a:extLst>
              <a:ext uri="{FF2B5EF4-FFF2-40B4-BE49-F238E27FC236}">
                <a16:creationId xmlns:a16="http://schemas.microsoft.com/office/drawing/2014/main" id="{0F867236-8C8D-452E-7435-04E726E67100}"/>
              </a:ext>
            </a:extLst>
          </p:cNvPr>
          <p:cNvSpPr>
            <a:spLocks noGrp="1"/>
          </p:cNvSpPr>
          <p:nvPr>
            <p:ph type="title"/>
          </p:nvPr>
        </p:nvSpPr>
        <p:spPr/>
        <p:txBody>
          <a:bodyPr/>
          <a:lstStyle/>
          <a:p>
            <a:r>
              <a:rPr lang="en-US" dirty="0"/>
              <a:t>Chaining Operations with Pipes (Ref.)</a:t>
            </a:r>
          </a:p>
        </p:txBody>
      </p:sp>
      <p:sp>
        <p:nvSpPr>
          <p:cNvPr id="12" name="TextBox 11">
            <a:extLst>
              <a:ext uri="{FF2B5EF4-FFF2-40B4-BE49-F238E27FC236}">
                <a16:creationId xmlns:a16="http://schemas.microsoft.com/office/drawing/2014/main" id="{C50FA1E6-D30B-AEC2-0C89-3F1CD67BA5EE}"/>
              </a:ext>
            </a:extLst>
          </p:cNvPr>
          <p:cNvSpPr txBox="1"/>
          <p:nvPr/>
        </p:nvSpPr>
        <p:spPr>
          <a:xfrm>
            <a:off x="1581652" y="3755091"/>
            <a:ext cx="1865895" cy="400110"/>
          </a:xfrm>
          <a:prstGeom prst="rect">
            <a:avLst/>
          </a:prstGeom>
          <a:noFill/>
        </p:spPr>
        <p:txBody>
          <a:bodyPr wrap="none" rtlCol="0">
            <a:spAutoFit/>
          </a:bodyPr>
          <a:lstStyle/>
          <a:p>
            <a:pPr algn="ctr"/>
            <a:r>
              <a:rPr lang="en-US" sz="2000" dirty="0">
                <a:solidFill>
                  <a:srgbClr val="FF0000"/>
                </a:solidFill>
              </a:rPr>
              <a:t>❌ Hard to read</a:t>
            </a:r>
          </a:p>
        </p:txBody>
      </p:sp>
      <p:sp>
        <p:nvSpPr>
          <p:cNvPr id="13" name="TextBox 12">
            <a:extLst>
              <a:ext uri="{FF2B5EF4-FFF2-40B4-BE49-F238E27FC236}">
                <a16:creationId xmlns:a16="http://schemas.microsoft.com/office/drawing/2014/main" id="{96619D13-B565-052D-B7BA-EAD5A09B3544}"/>
              </a:ext>
            </a:extLst>
          </p:cNvPr>
          <p:cNvSpPr txBox="1"/>
          <p:nvPr/>
        </p:nvSpPr>
        <p:spPr>
          <a:xfrm>
            <a:off x="5439651" y="3709086"/>
            <a:ext cx="2379498" cy="400110"/>
          </a:xfrm>
          <a:prstGeom prst="rect">
            <a:avLst/>
          </a:prstGeom>
          <a:noFill/>
        </p:spPr>
        <p:txBody>
          <a:bodyPr wrap="none" rtlCol="0">
            <a:spAutoFit/>
          </a:bodyPr>
          <a:lstStyle/>
          <a:p>
            <a:pPr algn="ctr"/>
            <a:r>
              <a:rPr lang="en-US" sz="2000" b="1" dirty="0">
                <a:solidFill>
                  <a:srgbClr val="00B050"/>
                </a:solidFill>
              </a:rPr>
              <a:t>✓ Clear &amp; readable</a:t>
            </a:r>
            <a:endParaRPr lang="en-US" sz="2000" dirty="0">
              <a:solidFill>
                <a:srgbClr val="00B050"/>
              </a:solidFill>
            </a:endParaRPr>
          </a:p>
        </p:txBody>
      </p:sp>
      <p:sp>
        <p:nvSpPr>
          <p:cNvPr id="14" name="Slide Number Placeholder 13">
            <a:extLst>
              <a:ext uri="{FF2B5EF4-FFF2-40B4-BE49-F238E27FC236}">
                <a16:creationId xmlns:a16="http://schemas.microsoft.com/office/drawing/2014/main" id="{9AE26DB7-CBBA-DE86-F7ED-31F975AE1039}"/>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441228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8786C-AF90-F06B-882E-E7EF407D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E89E-6063-D7BE-5387-EF30B0596B62}"/>
              </a:ext>
            </a:extLst>
          </p:cNvPr>
          <p:cNvSpPr>
            <a:spLocks noGrp="1"/>
          </p:cNvSpPr>
          <p:nvPr>
            <p:ph type="title"/>
          </p:nvPr>
        </p:nvSpPr>
        <p:spPr/>
        <p:txBody>
          <a:bodyPr/>
          <a:lstStyle/>
          <a:p>
            <a:r>
              <a:rPr lang="en-US" dirty="0"/>
              <a:t>Vector Attribute Operations 2</a:t>
            </a:r>
          </a:p>
        </p:txBody>
      </p:sp>
      <p:sp>
        <p:nvSpPr>
          <p:cNvPr id="3" name="Content Placeholder 2">
            <a:extLst>
              <a:ext uri="{FF2B5EF4-FFF2-40B4-BE49-F238E27FC236}">
                <a16:creationId xmlns:a16="http://schemas.microsoft.com/office/drawing/2014/main" id="{E3D04B6D-7D1F-B642-3465-52E8B300801C}"/>
              </a:ext>
            </a:extLst>
          </p:cNvPr>
          <p:cNvSpPr>
            <a:spLocks noGrp="1"/>
          </p:cNvSpPr>
          <p:nvPr>
            <p:ph idx="1"/>
          </p:nvPr>
        </p:nvSpPr>
        <p:spPr/>
        <p:txBody>
          <a:bodyPr/>
          <a:lstStyle/>
          <a:p>
            <a:pPr marL="0" indent="0">
              <a:buNone/>
            </a:pPr>
            <a:r>
              <a:rPr lang="en-US" b="1" dirty="0"/>
              <a:t>Aggregation techniques</a:t>
            </a:r>
          </a:p>
          <a:p>
            <a:r>
              <a:rPr lang="en-US" dirty="0"/>
              <a:t>Summarizing data by groups (e.g., all or categories)</a:t>
            </a:r>
          </a:p>
          <a:p>
            <a:r>
              <a:rPr lang="en-US" dirty="0"/>
              <a:t>Use of </a:t>
            </a:r>
            <a:r>
              <a:rPr lang="en-US" dirty="0">
                <a:latin typeface="OSAKA-MONO" panose="020B0600000000000000" pitchFamily="34" charset="-128"/>
                <a:ea typeface="OSAKA-MONO" panose="020B0600000000000000" pitchFamily="34" charset="-128"/>
              </a:rPr>
              <a:t>aggregate()</a:t>
            </a:r>
            <a:r>
              <a:rPr lang="en-US" dirty="0"/>
              <a:t>, </a:t>
            </a:r>
            <a:r>
              <a:rPr lang="en-US" dirty="0" err="1">
                <a:latin typeface="OSAKA-MONO" panose="020B0600000000000000" pitchFamily="34" charset="-128"/>
                <a:ea typeface="OSAKA-MONO" panose="020B0600000000000000" pitchFamily="34" charset="-128"/>
              </a:rPr>
              <a:t>group_by</a:t>
            </a:r>
            <a:r>
              <a:rPr lang="en-US" dirty="0">
                <a:latin typeface="OSAKA-MONO" panose="020B0600000000000000" pitchFamily="34" charset="-128"/>
                <a:ea typeface="OSAKA-MONO" panose="020B0600000000000000" pitchFamily="34" charset="-128"/>
              </a:rPr>
              <a:t>()</a:t>
            </a:r>
            <a:r>
              <a:rPr lang="en-US" dirty="0"/>
              <a:t>, </a:t>
            </a:r>
            <a:r>
              <a:rPr lang="en-US" dirty="0" err="1">
                <a:latin typeface="OSAKA-MONO" panose="020B0600000000000000" pitchFamily="34" charset="-128"/>
                <a:ea typeface="OSAKA-MONO" panose="020B0600000000000000" pitchFamily="34" charset="-128"/>
              </a:rPr>
              <a:t>summarise</a:t>
            </a:r>
            <a:r>
              <a:rPr lang="en-US" dirty="0">
                <a:latin typeface="OSAKA-MONO" panose="020B0600000000000000" pitchFamily="34" charset="-128"/>
                <a:ea typeface="OSAKA-MONO" panose="020B0600000000000000" pitchFamily="34" charset="-128"/>
              </a:rPr>
              <a:t>()</a:t>
            </a:r>
          </a:p>
          <a:p>
            <a:r>
              <a:rPr lang="en-US" dirty="0"/>
              <a:t>Handling spatial attributes in aggregation</a:t>
            </a:r>
          </a:p>
        </p:txBody>
      </p:sp>
      <p:sp>
        <p:nvSpPr>
          <p:cNvPr id="4" name="Slide Number Placeholder 3">
            <a:extLst>
              <a:ext uri="{FF2B5EF4-FFF2-40B4-BE49-F238E27FC236}">
                <a16:creationId xmlns:a16="http://schemas.microsoft.com/office/drawing/2014/main" id="{DA39CF10-1E34-17FD-95C7-EF3D10E11B74}"/>
              </a:ext>
            </a:extLst>
          </p:cNvPr>
          <p:cNvSpPr>
            <a:spLocks noGrp="1"/>
          </p:cNvSpPr>
          <p:nvPr>
            <p:ph type="sldNum" sz="quarter" idx="12"/>
          </p:nvPr>
        </p:nvSpPr>
        <p:spPr/>
        <p:txBody>
          <a:bodyPr/>
          <a:lstStyle/>
          <a:p>
            <a:fld id="{C0343C75-1924-D247-85A3-0CB62E67E5D1}" type="slidenum">
              <a:rPr lang="en-US" smtClean="0"/>
              <a:t>26</a:t>
            </a:fld>
            <a:endParaRPr lang="en-US"/>
          </a:p>
        </p:txBody>
      </p:sp>
    </p:spTree>
    <p:extLst>
      <p:ext uri="{BB962C8B-B14F-4D97-AF65-F5344CB8AC3E}">
        <p14:creationId xmlns:p14="http://schemas.microsoft.com/office/powerpoint/2010/main" val="2068804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2E77-AF0A-1068-988A-6881770046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69215A-DE9A-5BE9-595B-8D57588FE605}"/>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Summarize data with grouping variables</a:t>
            </a:r>
          </a:p>
        </p:txBody>
      </p:sp>
      <p:sp>
        <p:nvSpPr>
          <p:cNvPr id="3" name="TextBox 2">
            <a:extLst>
              <a:ext uri="{FF2B5EF4-FFF2-40B4-BE49-F238E27FC236}">
                <a16:creationId xmlns:a16="http://schemas.microsoft.com/office/drawing/2014/main" id="{11A11BF9-E526-F262-5552-D69CA60D276D}"/>
              </a:ext>
            </a:extLst>
          </p:cNvPr>
          <p:cNvSpPr txBox="1"/>
          <p:nvPr/>
        </p:nvSpPr>
        <p:spPr>
          <a:xfrm>
            <a:off x="457201" y="2154857"/>
            <a:ext cx="4114799" cy="2862322"/>
          </a:xfrm>
          <a:prstGeom prst="rect">
            <a:avLst/>
          </a:prstGeom>
          <a:noFill/>
        </p:spPr>
        <p:txBody>
          <a:bodyPr wrap="square" rtlCol="0">
            <a:spAutoFit/>
          </a:bodyPr>
          <a:lstStyle/>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group_by</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summarize(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Pop = sum(pop),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 = sum(area_km2),</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 = n()</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mutate(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Density = Pop / Area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68430A8C-950C-B54B-8837-2198009E7651}"/>
              </a:ext>
            </a:extLst>
          </p:cNvPr>
          <p:cNvSpPr txBox="1"/>
          <p:nvPr/>
        </p:nvSpPr>
        <p:spPr>
          <a:xfrm>
            <a:off x="457200" y="1785567"/>
            <a:ext cx="4114798"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Example: </a:t>
            </a:r>
            <a:r>
              <a:rPr lang="en-US" b="1" dirty="0">
                <a:solidFill>
                  <a:srgbClr val="00B050"/>
                </a:solidFill>
                <a:ea typeface="OSAKA-MONO" panose="020B0600000000000000" pitchFamily="34" charset="-128"/>
                <a:cs typeface="Menlo" panose="020B0609030804020204" pitchFamily="49" charset="0"/>
              </a:rPr>
              <a:t>Population by Continent</a:t>
            </a:r>
          </a:p>
        </p:txBody>
      </p:sp>
      <p:sp>
        <p:nvSpPr>
          <p:cNvPr id="11" name="Title 10">
            <a:extLst>
              <a:ext uri="{FF2B5EF4-FFF2-40B4-BE49-F238E27FC236}">
                <a16:creationId xmlns:a16="http://schemas.microsoft.com/office/drawing/2014/main" id="{27CFFD8B-5742-B236-BB5E-D1151F01ADB6}"/>
              </a:ext>
            </a:extLst>
          </p:cNvPr>
          <p:cNvSpPr>
            <a:spLocks noGrp="1"/>
          </p:cNvSpPr>
          <p:nvPr>
            <p:ph type="title"/>
          </p:nvPr>
        </p:nvSpPr>
        <p:spPr/>
        <p:txBody>
          <a:bodyPr/>
          <a:lstStyle/>
          <a:p>
            <a:r>
              <a:rPr lang="en-US" dirty="0"/>
              <a:t>Aggregation</a:t>
            </a:r>
          </a:p>
        </p:txBody>
      </p:sp>
      <p:sp>
        <p:nvSpPr>
          <p:cNvPr id="4" name="TextBox 3">
            <a:extLst>
              <a:ext uri="{FF2B5EF4-FFF2-40B4-BE49-F238E27FC236}">
                <a16:creationId xmlns:a16="http://schemas.microsoft.com/office/drawing/2014/main" id="{C2A06032-12D5-28E7-39D2-37C35A84E005}"/>
              </a:ext>
            </a:extLst>
          </p:cNvPr>
          <p:cNvSpPr txBox="1"/>
          <p:nvPr/>
        </p:nvSpPr>
        <p:spPr>
          <a:xfrm>
            <a:off x="4571998" y="2483401"/>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Concepts</a:t>
            </a:r>
          </a:p>
        </p:txBody>
      </p:sp>
      <p:graphicFrame>
        <p:nvGraphicFramePr>
          <p:cNvPr id="9" name="Table 8">
            <a:extLst>
              <a:ext uri="{FF2B5EF4-FFF2-40B4-BE49-F238E27FC236}">
                <a16:creationId xmlns:a16="http://schemas.microsoft.com/office/drawing/2014/main" id="{A849A975-EE22-5B4D-604C-7149F00CB347}"/>
              </a:ext>
            </a:extLst>
          </p:cNvPr>
          <p:cNvGraphicFramePr>
            <a:graphicFrameLocks noGrp="1"/>
          </p:cNvGraphicFramePr>
          <p:nvPr>
            <p:extLst>
              <p:ext uri="{D42A27DB-BD31-4B8C-83A1-F6EECF244321}">
                <p14:modId xmlns:p14="http://schemas.microsoft.com/office/powerpoint/2010/main" val="3466227613"/>
              </p:ext>
            </p:extLst>
          </p:nvPr>
        </p:nvGraphicFramePr>
        <p:xfrm>
          <a:off x="4571999" y="2852733"/>
          <a:ext cx="4114797" cy="1097280"/>
        </p:xfrm>
        <a:graphic>
          <a:graphicData uri="http://schemas.openxmlformats.org/drawingml/2006/table">
            <a:tbl>
              <a:tblPr firstRow="1" bandRow="1">
                <a:tableStyleId>{2D5ABB26-0587-4C30-8999-92F81FD0307C}</a:tableStyleId>
              </a:tblPr>
              <a:tblGrid>
                <a:gridCol w="1429151">
                  <a:extLst>
                    <a:ext uri="{9D8B030D-6E8A-4147-A177-3AD203B41FA5}">
                      <a16:colId xmlns:a16="http://schemas.microsoft.com/office/drawing/2014/main" val="476753131"/>
                    </a:ext>
                  </a:extLst>
                </a:gridCol>
                <a:gridCol w="2685646">
                  <a:extLst>
                    <a:ext uri="{9D8B030D-6E8A-4147-A177-3AD203B41FA5}">
                      <a16:colId xmlns:a16="http://schemas.microsoft.com/office/drawing/2014/main" val="2462109655"/>
                    </a:ext>
                  </a:extLst>
                </a:gridCol>
              </a:tblGrid>
              <a:tr h="271857">
                <a:tc>
                  <a:txBody>
                    <a:bodyPr/>
                    <a:lstStyle/>
                    <a:p>
                      <a:r>
                        <a:rPr lang="en-US" b="0" i="0" dirty="0" err="1">
                          <a:latin typeface="OSAKA-MONO" panose="020B0600000000000000" pitchFamily="34" charset="-128"/>
                          <a:ea typeface="OSAKA-MONO" panose="020B0600000000000000" pitchFamily="34" charset="-128"/>
                        </a:rPr>
                        <a:t>group_by</a:t>
                      </a:r>
                      <a:r>
                        <a:rPr lang="en-US" b="0" i="0" dirty="0">
                          <a:latin typeface="OSAKA-MONO" panose="020B0600000000000000" pitchFamily="34" charset="-128"/>
                          <a:ea typeface="OSAKA-MONO" panose="020B0600000000000000" pitchFamily="34" charset="-128"/>
                        </a:rPr>
                        <a:t>()</a:t>
                      </a:r>
                    </a:p>
                  </a:txBody>
                  <a:tcPr marR="0" marT="0" marB="0">
                    <a:noFill/>
                  </a:tcPr>
                </a:tc>
                <a:tc>
                  <a:txBody>
                    <a:bodyPr/>
                    <a:lstStyle/>
                    <a:p>
                      <a:r>
                        <a:rPr lang="en-US" dirty="0"/>
                        <a:t>Define grouping variable</a:t>
                      </a:r>
                    </a:p>
                  </a:txBody>
                  <a:tcPr marR="0" marT="0" marB="0">
                    <a:noFill/>
                  </a:tcPr>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summarize()</a:t>
                      </a:r>
                    </a:p>
                  </a:txBody>
                  <a:tcPr marR="0" marT="0" marB="0">
                    <a:noFill/>
                  </a:tcPr>
                </a:tc>
                <a:tc>
                  <a:txBody>
                    <a:bodyPr/>
                    <a:lstStyle/>
                    <a:p>
                      <a:r>
                        <a:rPr lang="en-US" dirty="0"/>
                        <a:t>Aggregate with functions</a:t>
                      </a:r>
                    </a:p>
                  </a:txBody>
                  <a:tcPr marR="0" marT="0" marB="0">
                    <a:noFill/>
                  </a:tcPr>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mutate()</a:t>
                      </a:r>
                    </a:p>
                  </a:txBody>
                  <a:tcPr marR="0" marT="0" marB="0">
                    <a:noFill/>
                  </a:tcPr>
                </a:tc>
                <a:tc>
                  <a:txBody>
                    <a:bodyPr/>
                    <a:lstStyle/>
                    <a:p>
                      <a:r>
                        <a:rPr lang="en-US" dirty="0"/>
                        <a:t>Create new columns</a:t>
                      </a:r>
                    </a:p>
                  </a:txBody>
                  <a:tcPr marR="0" marT="0" marB="0">
                    <a:noFill/>
                  </a:tcPr>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n()</a:t>
                      </a:r>
                    </a:p>
                  </a:txBody>
                  <a:tcPr marR="0" marT="0" marB="0">
                    <a:noFill/>
                  </a:tcPr>
                </a:tc>
                <a:tc>
                  <a:txBody>
                    <a:bodyPr/>
                    <a:lstStyle/>
                    <a:p>
                      <a:r>
                        <a:rPr lang="en-US" dirty="0"/>
                        <a:t>Count observations</a:t>
                      </a:r>
                    </a:p>
                  </a:txBody>
                  <a:tcPr marR="0" marT="0" marB="0">
                    <a:noFill/>
                  </a:tcPr>
                </a:tc>
                <a:extLst>
                  <a:ext uri="{0D108BD9-81ED-4DB2-BD59-A6C34878D82A}">
                    <a16:rowId xmlns:a16="http://schemas.microsoft.com/office/drawing/2014/main" val="1381834215"/>
                  </a:ext>
                </a:extLst>
              </a:tr>
            </a:tbl>
          </a:graphicData>
        </a:graphic>
      </p:graphicFrame>
      <p:sp>
        <p:nvSpPr>
          <p:cNvPr id="10" name="TextBox 9">
            <a:extLst>
              <a:ext uri="{FF2B5EF4-FFF2-40B4-BE49-F238E27FC236}">
                <a16:creationId xmlns:a16="http://schemas.microsoft.com/office/drawing/2014/main" id="{D3B771E9-FD62-3AB4-8413-EBDDB6870FC8}"/>
              </a:ext>
            </a:extLst>
          </p:cNvPr>
          <p:cNvSpPr txBox="1"/>
          <p:nvPr/>
        </p:nvSpPr>
        <p:spPr>
          <a:xfrm>
            <a:off x="457203" y="5022515"/>
            <a:ext cx="4114797" cy="646331"/>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Result</a:t>
            </a:r>
            <a:r>
              <a:rPr lang="en-US" dirty="0">
                <a:ea typeface="OSAKA-MONO" panose="020B0600000000000000" pitchFamily="34" charset="-128"/>
                <a:cs typeface="Menlo" panose="020B0609030804020204" pitchFamily="49" charset="0"/>
              </a:rPr>
              <a:t>: New sf object with one row per group + unified geometry</a:t>
            </a:r>
          </a:p>
        </p:txBody>
      </p:sp>
      <p:sp>
        <p:nvSpPr>
          <p:cNvPr id="15" name="Slide Number Placeholder 14">
            <a:extLst>
              <a:ext uri="{FF2B5EF4-FFF2-40B4-BE49-F238E27FC236}">
                <a16:creationId xmlns:a16="http://schemas.microsoft.com/office/drawing/2014/main" id="{B3D1E71B-32C7-A961-0C61-873896AD2C5C}"/>
              </a:ext>
            </a:extLst>
          </p:cNvPr>
          <p:cNvSpPr>
            <a:spLocks noGrp="1"/>
          </p:cNvSpPr>
          <p:nvPr>
            <p:ph type="sldNum" sz="quarter" idx="12"/>
          </p:nvPr>
        </p:nvSpPr>
        <p:spPr/>
        <p:txBody>
          <a:bodyPr/>
          <a:lstStyle/>
          <a:p>
            <a:fld id="{C0343C75-1924-D247-85A3-0CB62E67E5D1}" type="slidenum">
              <a:rPr lang="en-US" smtClean="0"/>
              <a:t>27</a:t>
            </a:fld>
            <a:endParaRPr lang="en-US"/>
          </a:p>
        </p:txBody>
      </p:sp>
    </p:spTree>
    <p:extLst>
      <p:ext uri="{BB962C8B-B14F-4D97-AF65-F5344CB8AC3E}">
        <p14:creationId xmlns:p14="http://schemas.microsoft.com/office/powerpoint/2010/main" val="2979542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7776-21A0-46AD-C8E9-EAEB21986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DCF47-F84D-8F22-3B73-2BF1652F5517}"/>
              </a:ext>
            </a:extLst>
          </p:cNvPr>
          <p:cNvSpPr>
            <a:spLocks noGrp="1"/>
          </p:cNvSpPr>
          <p:nvPr>
            <p:ph type="title"/>
          </p:nvPr>
        </p:nvSpPr>
        <p:spPr/>
        <p:txBody>
          <a:bodyPr/>
          <a:lstStyle/>
          <a:p>
            <a:r>
              <a:rPr lang="en-US" dirty="0"/>
              <a:t>Vector Attribute Operations 3</a:t>
            </a:r>
          </a:p>
        </p:txBody>
      </p:sp>
      <p:sp>
        <p:nvSpPr>
          <p:cNvPr id="3" name="Content Placeholder 2">
            <a:extLst>
              <a:ext uri="{FF2B5EF4-FFF2-40B4-BE49-F238E27FC236}">
                <a16:creationId xmlns:a16="http://schemas.microsoft.com/office/drawing/2014/main" id="{1C34015E-70DC-5F3A-3375-A6318DB2FCC4}"/>
              </a:ext>
            </a:extLst>
          </p:cNvPr>
          <p:cNvSpPr>
            <a:spLocks noGrp="1"/>
          </p:cNvSpPr>
          <p:nvPr>
            <p:ph idx="1"/>
          </p:nvPr>
        </p:nvSpPr>
        <p:spPr/>
        <p:txBody>
          <a:bodyPr/>
          <a:lstStyle/>
          <a:p>
            <a:pPr marL="0" indent="0">
              <a:buNone/>
            </a:pPr>
            <a:r>
              <a:rPr lang="en-US" b="1" dirty="0"/>
              <a:t>Attribute joins</a:t>
            </a:r>
          </a:p>
          <a:p>
            <a:r>
              <a:rPr lang="en-US" dirty="0"/>
              <a:t>Joining non-spatial tables to spatial data via </a:t>
            </a:r>
            <a:r>
              <a:rPr lang="en-US" b="1" dirty="0"/>
              <a:t>keys</a:t>
            </a:r>
          </a:p>
          <a:p>
            <a:r>
              <a:rPr lang="en-US" dirty="0"/>
              <a:t>Differences between </a:t>
            </a:r>
            <a:r>
              <a:rPr lang="en-US" u="sng" dirty="0"/>
              <a:t>relational joins</a:t>
            </a:r>
            <a:r>
              <a:rPr lang="en-US" dirty="0"/>
              <a:t> and </a:t>
            </a:r>
            <a:r>
              <a:rPr lang="en-US" u="sng" dirty="0"/>
              <a:t>spatial joins</a:t>
            </a:r>
            <a:br>
              <a:rPr lang="en-US" dirty="0"/>
            </a:br>
            <a:r>
              <a:rPr lang="en-US" dirty="0"/>
              <a:t>(spatial joins covered later in spatial operations)</a:t>
            </a:r>
          </a:p>
        </p:txBody>
      </p:sp>
      <p:sp>
        <p:nvSpPr>
          <p:cNvPr id="4" name="Slide Number Placeholder 3">
            <a:extLst>
              <a:ext uri="{FF2B5EF4-FFF2-40B4-BE49-F238E27FC236}">
                <a16:creationId xmlns:a16="http://schemas.microsoft.com/office/drawing/2014/main" id="{D38A078A-0236-9C05-7B7E-CA6804D767A1}"/>
              </a:ext>
            </a:extLst>
          </p:cNvPr>
          <p:cNvSpPr>
            <a:spLocks noGrp="1"/>
          </p:cNvSpPr>
          <p:nvPr>
            <p:ph type="sldNum" sz="quarter" idx="12"/>
          </p:nvPr>
        </p:nvSpPr>
        <p:spPr/>
        <p:txBody>
          <a:bodyPr/>
          <a:lstStyle/>
          <a:p>
            <a:fld id="{C0343C75-1924-D247-85A3-0CB62E67E5D1}" type="slidenum">
              <a:rPr lang="en-US" smtClean="0"/>
              <a:t>28</a:t>
            </a:fld>
            <a:endParaRPr lang="en-US"/>
          </a:p>
        </p:txBody>
      </p:sp>
    </p:spTree>
    <p:extLst>
      <p:ext uri="{BB962C8B-B14F-4D97-AF65-F5344CB8AC3E}">
        <p14:creationId xmlns:p14="http://schemas.microsoft.com/office/powerpoint/2010/main" val="3760690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832B-AE1A-14C8-B8A8-70FAE84628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D3D1867-C0E5-9E76-E370-170B105F22AD}"/>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Combine tables based on shared key variable</a:t>
            </a:r>
          </a:p>
        </p:txBody>
      </p:sp>
      <p:sp>
        <p:nvSpPr>
          <p:cNvPr id="6" name="TextBox 5">
            <a:extLst>
              <a:ext uri="{FF2B5EF4-FFF2-40B4-BE49-F238E27FC236}">
                <a16:creationId xmlns:a16="http://schemas.microsoft.com/office/drawing/2014/main" id="{B969DCA3-E2E7-F19A-416B-A50F64DAA288}"/>
              </a:ext>
            </a:extLst>
          </p:cNvPr>
          <p:cNvSpPr txBox="1"/>
          <p:nvPr/>
        </p:nvSpPr>
        <p:spPr>
          <a:xfrm>
            <a:off x="571500" y="1875147"/>
            <a:ext cx="5695762"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left_join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first table, add matching data from second</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11" name="Title 10">
            <a:extLst>
              <a:ext uri="{FF2B5EF4-FFF2-40B4-BE49-F238E27FC236}">
                <a16:creationId xmlns:a16="http://schemas.microsoft.com/office/drawing/2014/main" id="{4235FF87-8B4A-1A9C-8BD8-41078C9F8AB2}"/>
              </a:ext>
            </a:extLst>
          </p:cNvPr>
          <p:cNvSpPr>
            <a:spLocks noGrp="1"/>
          </p:cNvSpPr>
          <p:nvPr>
            <p:ph type="title"/>
          </p:nvPr>
        </p:nvSpPr>
        <p:spPr/>
        <p:txBody>
          <a:bodyPr/>
          <a:lstStyle/>
          <a:p>
            <a:r>
              <a:rPr lang="en-US" dirty="0"/>
              <a:t>Attribute Joins</a:t>
            </a:r>
          </a:p>
        </p:txBody>
      </p:sp>
      <p:sp>
        <p:nvSpPr>
          <p:cNvPr id="2" name="TextBox 1">
            <a:extLst>
              <a:ext uri="{FF2B5EF4-FFF2-40B4-BE49-F238E27FC236}">
                <a16:creationId xmlns:a16="http://schemas.microsoft.com/office/drawing/2014/main" id="{ABDC85E1-77C7-FA4B-1016-0FCCB2D9CDE1}"/>
              </a:ext>
            </a:extLst>
          </p:cNvPr>
          <p:cNvSpPr txBox="1"/>
          <p:nvPr/>
        </p:nvSpPr>
        <p:spPr>
          <a:xfrm>
            <a:off x="571500" y="3197045"/>
            <a:ext cx="4894183"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inner_join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only rows with matches in both tables</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inner_join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7" name="TextBox 6">
            <a:extLst>
              <a:ext uri="{FF2B5EF4-FFF2-40B4-BE49-F238E27FC236}">
                <a16:creationId xmlns:a16="http://schemas.microsoft.com/office/drawing/2014/main" id="{CEE1C4D5-3AF9-92DE-4082-5C7C8B1B153B}"/>
              </a:ext>
            </a:extLst>
          </p:cNvPr>
          <p:cNvSpPr txBox="1"/>
          <p:nvPr/>
        </p:nvSpPr>
        <p:spPr>
          <a:xfrm>
            <a:off x="571500" y="4518943"/>
            <a:ext cx="5030329"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full_join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both tables, fill NA where no match</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full_join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8" name="Slide Number Placeholder 7">
            <a:extLst>
              <a:ext uri="{FF2B5EF4-FFF2-40B4-BE49-F238E27FC236}">
                <a16:creationId xmlns:a16="http://schemas.microsoft.com/office/drawing/2014/main" id="{A17FCE7C-F47A-1F89-1A8F-C9BE79F46169}"/>
              </a:ext>
            </a:extLst>
          </p:cNvPr>
          <p:cNvSpPr>
            <a:spLocks noGrp="1"/>
          </p:cNvSpPr>
          <p:nvPr>
            <p:ph type="sldNum" sz="quarter" idx="12"/>
          </p:nvPr>
        </p:nvSpPr>
        <p:spPr/>
        <p:txBody>
          <a:bodyPr/>
          <a:lstStyle/>
          <a:p>
            <a:fld id="{C0343C75-1924-D247-85A3-0CB62E67E5D1}" type="slidenum">
              <a:rPr lang="en-US" smtClean="0"/>
              <a:t>29</a:t>
            </a:fld>
            <a:endParaRPr lang="en-US"/>
          </a:p>
        </p:txBody>
      </p:sp>
    </p:spTree>
    <p:extLst>
      <p:ext uri="{BB962C8B-B14F-4D97-AF65-F5344CB8AC3E}">
        <p14:creationId xmlns:p14="http://schemas.microsoft.com/office/powerpoint/2010/main" val="3904257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B916A-049D-CA58-366B-F7501724D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51505-5300-659C-620B-4E1A2DC64E84}"/>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EDD31BD7-9200-DF06-857F-5E1DE2B75FE3}"/>
              </a:ext>
            </a:extLst>
          </p:cNvPr>
          <p:cNvSpPr>
            <a:spLocks noGrp="1"/>
          </p:cNvSpPr>
          <p:nvPr>
            <p:ph idx="1"/>
          </p:nvPr>
        </p:nvSpPr>
        <p:spPr/>
        <p:txBody>
          <a:bodyPr/>
          <a:lstStyle/>
          <a:p>
            <a:pPr marL="0" indent="0">
              <a:buNone/>
            </a:pPr>
            <a:r>
              <a:rPr lang="en-US" b="1" dirty="0"/>
              <a:t>Creating / transforming attributes</a:t>
            </a:r>
          </a:p>
          <a:p>
            <a:r>
              <a:rPr lang="en-US" dirty="0"/>
              <a:t>Generating new metrics (e.g., density, ratios)</a:t>
            </a:r>
          </a:p>
          <a:p>
            <a:r>
              <a:rPr lang="en-US" dirty="0"/>
              <a:t>Use of </a:t>
            </a:r>
            <a:r>
              <a:rPr lang="en-US" dirty="0">
                <a:latin typeface="OSAKA-MONO" panose="020B0600000000000000" pitchFamily="34" charset="-128"/>
                <a:ea typeface="OSAKA-MONO" panose="020B0600000000000000" pitchFamily="34" charset="-128"/>
              </a:rPr>
              <a:t>mutate()</a:t>
            </a:r>
            <a:r>
              <a:rPr lang="en-US" dirty="0"/>
              <a:t>, </a:t>
            </a:r>
            <a:r>
              <a:rPr lang="en-US" dirty="0">
                <a:latin typeface="OSAKA-MONO" panose="020B0600000000000000" pitchFamily="34" charset="-128"/>
                <a:ea typeface="OSAKA-MONO" panose="020B0600000000000000" pitchFamily="34" charset="-128"/>
              </a:rPr>
              <a:t>transmute()</a:t>
            </a:r>
          </a:p>
          <a:p>
            <a:r>
              <a:rPr lang="en-US" dirty="0"/>
              <a:t>Renaming attributes with </a:t>
            </a:r>
            <a:r>
              <a:rPr lang="en-US" dirty="0">
                <a:latin typeface="OSAKA-MONO" panose="020B0600000000000000" pitchFamily="34" charset="-128"/>
                <a:ea typeface="OSAKA-MONO" panose="020B0600000000000000" pitchFamily="34" charset="-128"/>
              </a:rPr>
              <a:t>rename()</a:t>
            </a:r>
            <a:r>
              <a:rPr lang="en-US" dirty="0"/>
              <a:t>, </a:t>
            </a:r>
            <a:r>
              <a:rPr lang="en-US" dirty="0" err="1">
                <a:latin typeface="OSAKA-MONO" panose="020B0600000000000000" pitchFamily="34" charset="-128"/>
                <a:ea typeface="OSAKA-MONO" panose="020B0600000000000000" pitchFamily="34" charset="-128"/>
              </a:rPr>
              <a:t>setNames</a:t>
            </a:r>
            <a:r>
              <a:rPr lang="en-US" dirty="0">
                <a:latin typeface="OSAKA-MONO" panose="020B0600000000000000" pitchFamily="34" charset="-128"/>
                <a:ea typeface="OSAKA-MONO" panose="020B0600000000000000" pitchFamily="34" charset="-128"/>
              </a:rPr>
              <a:t>()</a:t>
            </a:r>
          </a:p>
        </p:txBody>
      </p:sp>
      <p:sp>
        <p:nvSpPr>
          <p:cNvPr id="5" name="Slide Number Placeholder 4">
            <a:extLst>
              <a:ext uri="{FF2B5EF4-FFF2-40B4-BE49-F238E27FC236}">
                <a16:creationId xmlns:a16="http://schemas.microsoft.com/office/drawing/2014/main" id="{9DC9B275-2CF3-885D-0743-A0C4B4FA8D66}"/>
              </a:ext>
            </a:extLst>
          </p:cNvPr>
          <p:cNvSpPr>
            <a:spLocks noGrp="1"/>
          </p:cNvSpPr>
          <p:nvPr>
            <p:ph type="sldNum" sz="quarter" idx="12"/>
          </p:nvPr>
        </p:nvSpPr>
        <p:spPr/>
        <p:txBody>
          <a:bodyPr/>
          <a:lstStyle/>
          <a:p>
            <a:fld id="{C0343C75-1924-D247-85A3-0CB62E67E5D1}" type="slidenum">
              <a:rPr lang="en-US" smtClean="0"/>
              <a:t>30</a:t>
            </a:fld>
            <a:endParaRPr lang="en-US"/>
          </a:p>
        </p:txBody>
      </p:sp>
    </p:spTree>
    <p:extLst>
      <p:ext uri="{BB962C8B-B14F-4D97-AF65-F5344CB8AC3E}">
        <p14:creationId xmlns:p14="http://schemas.microsoft.com/office/powerpoint/2010/main" val="2939650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B28D4-5EB4-C083-0322-9851ABD04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A5FEB-23AC-4EB7-F9F4-D2B753BABBBB}"/>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3DB13FD5-2F34-017A-70C5-A7461021C109}"/>
              </a:ext>
            </a:extLst>
          </p:cNvPr>
          <p:cNvSpPr>
            <a:spLocks noGrp="1"/>
          </p:cNvSpPr>
          <p:nvPr>
            <p:ph idx="1"/>
          </p:nvPr>
        </p:nvSpPr>
        <p:spPr/>
        <p:txBody>
          <a:bodyPr/>
          <a:lstStyle/>
          <a:p>
            <a:pPr marL="0" indent="0">
              <a:buNone/>
            </a:pPr>
            <a:r>
              <a:rPr lang="en-US" b="1" dirty="0"/>
              <a:t>Geometry retention and removal</a:t>
            </a:r>
          </a:p>
          <a:p>
            <a:r>
              <a:rPr lang="en-US" dirty="0"/>
              <a:t>How operations preserve or drop geometry</a:t>
            </a:r>
          </a:p>
          <a:p>
            <a:r>
              <a:rPr lang="en-US" dirty="0"/>
              <a:t>When to use </a:t>
            </a:r>
            <a:r>
              <a:rPr lang="en-US" dirty="0" err="1">
                <a:latin typeface="OSAKA-MONO" panose="020B0600000000000000" pitchFamily="34" charset="-128"/>
                <a:ea typeface="OSAKA-MONO" panose="020B0600000000000000" pitchFamily="34" charset="-128"/>
              </a:rPr>
              <a:t>st_drop_geometry</a:t>
            </a:r>
            <a:r>
              <a:rPr lang="en-US" dirty="0">
                <a:latin typeface="OSAKA-MONO" panose="020B0600000000000000" pitchFamily="34" charset="-128"/>
                <a:ea typeface="OSAKA-MONO" panose="020B0600000000000000" pitchFamily="34" charset="-128"/>
              </a:rPr>
              <a:t>()</a:t>
            </a:r>
            <a:br>
              <a:rPr lang="en-US" dirty="0">
                <a:latin typeface="OSAKA-MONO" panose="020B0600000000000000" pitchFamily="34" charset="-128"/>
                <a:ea typeface="OSAKA-MONO" panose="020B0600000000000000" pitchFamily="34" charset="-128"/>
              </a:rPr>
            </a:br>
            <a:r>
              <a:rPr lang="en-US" dirty="0">
                <a:ea typeface="OSAKA-MONO" panose="020B0600000000000000" pitchFamily="34" charset="-128"/>
              </a:rPr>
              <a:t>Or </a:t>
            </a:r>
            <a:r>
              <a:rPr lang="en-US" dirty="0" err="1">
                <a:latin typeface="OSAKA-MONO" panose="020B0600000000000000" pitchFamily="34" charset="-128"/>
                <a:ea typeface="OSAKA-MONO" panose="020B0600000000000000" pitchFamily="34" charset="-128"/>
              </a:rPr>
              <a:t>st_set_geometry</a:t>
            </a:r>
            <a:r>
              <a:rPr lang="en-US" dirty="0">
                <a:latin typeface="OSAKA-MONO" panose="020B0600000000000000" pitchFamily="34" charset="-128"/>
                <a:ea typeface="OSAKA-MONO" panose="020B0600000000000000" pitchFamily="34" charset="-128"/>
              </a:rPr>
              <a:t>(NULL)</a:t>
            </a:r>
          </a:p>
        </p:txBody>
      </p:sp>
      <p:sp>
        <p:nvSpPr>
          <p:cNvPr id="4" name="Slide Number Placeholder 3">
            <a:extLst>
              <a:ext uri="{FF2B5EF4-FFF2-40B4-BE49-F238E27FC236}">
                <a16:creationId xmlns:a16="http://schemas.microsoft.com/office/drawing/2014/main" id="{3902274A-EB42-A651-42C1-A88F8A0F1D39}"/>
              </a:ext>
            </a:extLst>
          </p:cNvPr>
          <p:cNvSpPr>
            <a:spLocks noGrp="1"/>
          </p:cNvSpPr>
          <p:nvPr>
            <p:ph type="sldNum" sz="quarter" idx="12"/>
          </p:nvPr>
        </p:nvSpPr>
        <p:spPr/>
        <p:txBody>
          <a:bodyPr/>
          <a:lstStyle/>
          <a:p>
            <a:fld id="{C0343C75-1924-D247-85A3-0CB62E67E5D1}" type="slidenum">
              <a:rPr lang="en-US" smtClean="0"/>
              <a:t>31</a:t>
            </a:fld>
            <a:endParaRPr lang="en-US"/>
          </a:p>
        </p:txBody>
      </p:sp>
    </p:spTree>
    <p:extLst>
      <p:ext uri="{BB962C8B-B14F-4D97-AF65-F5344CB8AC3E}">
        <p14:creationId xmlns:p14="http://schemas.microsoft.com/office/powerpoint/2010/main" val="73852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81A9-DB75-9D8D-2267-C72E85BBDD78}"/>
              </a:ext>
            </a:extLst>
          </p:cNvPr>
          <p:cNvSpPr>
            <a:spLocks noGrp="1"/>
          </p:cNvSpPr>
          <p:nvPr>
            <p:ph type="title"/>
          </p:nvPr>
        </p:nvSpPr>
        <p:spPr/>
        <p:txBody>
          <a:bodyPr/>
          <a:lstStyle/>
          <a:p>
            <a:r>
              <a:rPr lang="en-US" dirty="0"/>
              <a:t>Raster Attribute Operations</a:t>
            </a:r>
          </a:p>
        </p:txBody>
      </p:sp>
      <p:sp>
        <p:nvSpPr>
          <p:cNvPr id="3" name="Content Placeholder 2">
            <a:extLst>
              <a:ext uri="{FF2B5EF4-FFF2-40B4-BE49-F238E27FC236}">
                <a16:creationId xmlns:a16="http://schemas.microsoft.com/office/drawing/2014/main" id="{B8578042-6B93-C52C-6FF2-FD7CDFA848B8}"/>
              </a:ext>
            </a:extLst>
          </p:cNvPr>
          <p:cNvSpPr>
            <a:spLocks noGrp="1"/>
          </p:cNvSpPr>
          <p:nvPr>
            <p:ph idx="1"/>
          </p:nvPr>
        </p:nvSpPr>
        <p:spPr/>
        <p:txBody>
          <a:bodyPr/>
          <a:lstStyle/>
          <a:p>
            <a:pPr marL="0" indent="0">
              <a:buNone/>
            </a:pPr>
            <a:r>
              <a:rPr lang="en-US" b="1" dirty="0"/>
              <a:t>Raster attributes basics</a:t>
            </a:r>
          </a:p>
          <a:p>
            <a:r>
              <a:rPr lang="en-US" dirty="0"/>
              <a:t>Grid values as attributes</a:t>
            </a:r>
          </a:p>
          <a:p>
            <a:r>
              <a:rPr lang="en-US" dirty="0"/>
              <a:t>Spatial meaning of raster cell indices and resolution</a:t>
            </a:r>
          </a:p>
          <a:p>
            <a:pPr marL="0" indent="0">
              <a:buNone/>
            </a:pPr>
            <a:endParaRPr lang="en-US" dirty="0"/>
          </a:p>
          <a:p>
            <a:pPr marL="0" indent="0">
              <a:buNone/>
            </a:pPr>
            <a:r>
              <a:rPr lang="en-US" b="1" dirty="0"/>
              <a:t>Subsetting and extraction</a:t>
            </a:r>
          </a:p>
          <a:p>
            <a:r>
              <a:rPr lang="en-US" dirty="0"/>
              <a:t>Extracting cell values from layers</a:t>
            </a:r>
          </a:p>
          <a:p>
            <a:r>
              <a:rPr lang="en-US" dirty="0"/>
              <a:t>Working with continuous vs categorical rasters</a:t>
            </a:r>
          </a:p>
          <a:p>
            <a:pPr marL="0" indent="0">
              <a:buNone/>
            </a:pPr>
            <a:endParaRPr lang="en-US" dirty="0"/>
          </a:p>
          <a:p>
            <a:pPr marL="0" indent="0">
              <a:buNone/>
            </a:pPr>
            <a:r>
              <a:rPr lang="en-US" b="1" dirty="0"/>
              <a:t>Global raster operations</a:t>
            </a:r>
          </a:p>
          <a:p>
            <a:r>
              <a:rPr lang="en-US" dirty="0"/>
              <a:t>Summary statistics across full raster extents</a:t>
            </a:r>
          </a:p>
        </p:txBody>
      </p:sp>
      <p:sp>
        <p:nvSpPr>
          <p:cNvPr id="4" name="Slide Number Placeholder 3">
            <a:extLst>
              <a:ext uri="{FF2B5EF4-FFF2-40B4-BE49-F238E27FC236}">
                <a16:creationId xmlns:a16="http://schemas.microsoft.com/office/drawing/2014/main" id="{836104AE-E927-119A-18E1-73F8F1B073BD}"/>
              </a:ext>
            </a:extLst>
          </p:cNvPr>
          <p:cNvSpPr>
            <a:spLocks noGrp="1"/>
          </p:cNvSpPr>
          <p:nvPr>
            <p:ph type="sldNum" sz="quarter" idx="12"/>
          </p:nvPr>
        </p:nvSpPr>
        <p:spPr/>
        <p:txBody>
          <a:bodyPr/>
          <a:lstStyle/>
          <a:p>
            <a:fld id="{C0343C75-1924-D247-85A3-0CB62E67E5D1}" type="slidenum">
              <a:rPr lang="en-US" smtClean="0"/>
              <a:t>32</a:t>
            </a:fld>
            <a:endParaRPr lang="en-US"/>
          </a:p>
        </p:txBody>
      </p:sp>
    </p:spTree>
    <p:extLst>
      <p:ext uri="{BB962C8B-B14F-4D97-AF65-F5344CB8AC3E}">
        <p14:creationId xmlns:p14="http://schemas.microsoft.com/office/powerpoint/2010/main" val="507415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DBB11-53BA-B688-C550-013F79D3EA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A51B14-B5F1-E0E8-5650-80A9CF87561A}"/>
              </a:ext>
            </a:extLst>
          </p:cNvPr>
          <p:cNvSpPr txBox="1"/>
          <p:nvPr/>
        </p:nvSpPr>
        <p:spPr>
          <a:xfrm>
            <a:off x="4572000" y="1786015"/>
            <a:ext cx="330134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Row-column indexing</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Cell ID</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Extract all values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values(</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Modify values</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 = 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6BA2B022-0B79-5DA3-1EEA-8AB2F727CF46}"/>
              </a:ext>
            </a:extLst>
          </p:cNvPr>
          <p:cNvSpPr txBox="1"/>
          <p:nvPr/>
        </p:nvSpPr>
        <p:spPr>
          <a:xfrm>
            <a:off x="457200" y="1783977"/>
            <a:ext cx="411480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Numeric raster</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nrows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ncols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1:36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Categorical raster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factor(</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grain_char</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F7625B5B-5E27-142C-81CE-98A25AB66935}"/>
              </a:ext>
            </a:extLst>
          </p:cNvPr>
          <p:cNvSpPr txBox="1"/>
          <p:nvPr/>
        </p:nvSpPr>
        <p:spPr>
          <a:xfrm>
            <a:off x="457200" y="1418722"/>
            <a:ext cx="3301340" cy="369332"/>
          </a:xfrm>
          <a:prstGeom prst="rect">
            <a:avLst/>
          </a:prstGeom>
          <a:noFill/>
        </p:spPr>
        <p:txBody>
          <a:bodyPr wrap="square" rtlCol="0">
            <a:spAutoFit/>
          </a:bodyPr>
          <a:lstStyle/>
          <a:p>
            <a:r>
              <a:rPr lang="en-US" b="1" dirty="0">
                <a:solidFill>
                  <a:srgbClr val="00B050"/>
                </a:solidFill>
                <a:ea typeface="OSAKA-MONO" panose="020B0600000000000000" pitchFamily="34" charset="-128"/>
                <a:cs typeface="Menlo" panose="020B0609030804020204" pitchFamily="49" charset="0"/>
              </a:rPr>
              <a:t>Raster Data Operations</a:t>
            </a:r>
          </a:p>
        </p:txBody>
      </p:sp>
      <p:sp>
        <p:nvSpPr>
          <p:cNvPr id="7" name="TextBox 6">
            <a:extLst>
              <a:ext uri="{FF2B5EF4-FFF2-40B4-BE49-F238E27FC236}">
                <a16:creationId xmlns:a16="http://schemas.microsoft.com/office/drawing/2014/main" id="{324DECC4-EA42-7E1B-5ECC-BC0298B8C05B}"/>
              </a:ext>
            </a:extLst>
          </p:cNvPr>
          <p:cNvSpPr txBox="1"/>
          <p:nvPr/>
        </p:nvSpPr>
        <p:spPr>
          <a:xfrm>
            <a:off x="4572000" y="1416684"/>
            <a:ext cx="3301340" cy="369332"/>
          </a:xfrm>
          <a:prstGeom prst="rect">
            <a:avLst/>
          </a:prstGeom>
          <a:noFill/>
        </p:spPr>
        <p:txBody>
          <a:bodyPr wrap="square" rtlCol="0">
            <a:spAutoFit/>
          </a:bodyPr>
          <a:lstStyle/>
          <a:p>
            <a:r>
              <a:rPr lang="en-US" b="1" dirty="0">
                <a:solidFill>
                  <a:srgbClr val="00B050"/>
                </a:solidFill>
                <a:ea typeface="OSAKA-MONO" panose="020B0600000000000000" pitchFamily="34" charset="-128"/>
                <a:cs typeface="Menlo" panose="020B0609030804020204" pitchFamily="49" charset="0"/>
              </a:rPr>
              <a:t>Subsetting Methods</a:t>
            </a:r>
          </a:p>
        </p:txBody>
      </p:sp>
      <p:sp>
        <p:nvSpPr>
          <p:cNvPr id="8" name="TextBox 7">
            <a:extLst>
              <a:ext uri="{FF2B5EF4-FFF2-40B4-BE49-F238E27FC236}">
                <a16:creationId xmlns:a16="http://schemas.microsoft.com/office/drawing/2014/main" id="{45BC5D79-0D5B-7FC2-CC5B-A37BBEDEF3C2}"/>
              </a:ext>
            </a:extLst>
          </p:cNvPr>
          <p:cNvSpPr txBox="1"/>
          <p:nvPr/>
        </p:nvSpPr>
        <p:spPr>
          <a:xfrm>
            <a:off x="457200" y="4925336"/>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Summary Statistics</a:t>
            </a:r>
          </a:p>
        </p:txBody>
      </p:sp>
      <p:graphicFrame>
        <p:nvGraphicFramePr>
          <p:cNvPr id="10" name="Table 9">
            <a:extLst>
              <a:ext uri="{FF2B5EF4-FFF2-40B4-BE49-F238E27FC236}">
                <a16:creationId xmlns:a16="http://schemas.microsoft.com/office/drawing/2014/main" id="{FB3A1BC6-1909-4C73-8679-F75ACDF6756C}"/>
              </a:ext>
            </a:extLst>
          </p:cNvPr>
          <p:cNvGraphicFramePr>
            <a:graphicFrameLocks noGrp="1"/>
          </p:cNvGraphicFramePr>
          <p:nvPr>
            <p:extLst>
              <p:ext uri="{D42A27DB-BD31-4B8C-83A1-F6EECF244321}">
                <p14:modId xmlns:p14="http://schemas.microsoft.com/office/powerpoint/2010/main" val="3688804068"/>
              </p:ext>
            </p:extLst>
          </p:nvPr>
        </p:nvGraphicFramePr>
        <p:xfrm>
          <a:off x="457200" y="5294668"/>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global()</a:t>
                      </a:r>
                    </a:p>
                  </a:txBody>
                  <a:tcPr marR="0" marT="0" marB="0"/>
                </a:tc>
                <a:tc>
                  <a:txBody>
                    <a:bodyPr/>
                    <a:lstStyle/>
                    <a:p>
                      <a:r>
                        <a:rPr lang="en-US" dirty="0"/>
                        <a:t>Calculate statistics</a:t>
                      </a:r>
                    </a:p>
                  </a:txBody>
                  <a:tcPr marR="0" marT="0" marB="0"/>
                </a:tc>
                <a:extLst>
                  <a:ext uri="{0D108BD9-81ED-4DB2-BD59-A6C34878D82A}">
                    <a16:rowId xmlns:a16="http://schemas.microsoft.com/office/drawing/2014/main" val="4230212728"/>
                  </a:ext>
                </a:extLst>
              </a:tr>
              <a:tr h="271857">
                <a:tc>
                  <a:txBody>
                    <a:bodyPr/>
                    <a:lstStyle/>
                    <a:p>
                      <a:r>
                        <a:rPr lang="en-US" b="0" i="0" dirty="0" err="1">
                          <a:latin typeface="OSAKA-MONO" panose="020B0600000000000000" pitchFamily="34" charset="-128"/>
                          <a:ea typeface="OSAKA-MONO" panose="020B0600000000000000" pitchFamily="34" charset="-128"/>
                        </a:rPr>
                        <a:t>freq</a:t>
                      </a:r>
                      <a:r>
                        <a:rPr lang="en-US" b="0" i="0" dirty="0">
                          <a:latin typeface="OSAKA-MONO" panose="020B0600000000000000" pitchFamily="34" charset="-128"/>
                          <a:ea typeface="OSAKA-MONO" panose="020B0600000000000000" pitchFamily="34" charset="-128"/>
                        </a:rPr>
                        <a:t>()</a:t>
                      </a:r>
                    </a:p>
                  </a:txBody>
                  <a:tcPr marR="0" marT="0" marB="0"/>
                </a:tc>
                <a:tc>
                  <a:txBody>
                    <a:bodyPr/>
                    <a:lstStyle/>
                    <a:p>
                      <a:r>
                        <a:rPr lang="en-US" dirty="0"/>
                        <a:t>Frequency table</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summary()</a:t>
                      </a:r>
                    </a:p>
                  </a:txBody>
                  <a:tcPr marR="0" marT="0" marB="0"/>
                </a:tc>
                <a:tc>
                  <a:txBody>
                    <a:bodyPr/>
                    <a:lstStyle/>
                    <a:p>
                      <a:r>
                        <a:rPr lang="en-US" dirty="0"/>
                        <a:t>Quick overview</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hist()</a:t>
                      </a:r>
                    </a:p>
                  </a:txBody>
                  <a:tcPr marR="0" marT="0" marB="0"/>
                </a:tc>
                <a:tc>
                  <a:txBody>
                    <a:bodyPr/>
                    <a:lstStyle/>
                    <a:p>
                      <a:r>
                        <a:rPr lang="en-US" dirty="0"/>
                        <a:t>Visualization</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A724689F-16A6-71D3-4E22-B7893654DB95}"/>
              </a:ext>
            </a:extLst>
          </p:cNvPr>
          <p:cNvSpPr>
            <a:spLocks noGrp="1"/>
          </p:cNvSpPr>
          <p:nvPr>
            <p:ph type="title"/>
          </p:nvPr>
        </p:nvSpPr>
        <p:spPr/>
        <p:txBody>
          <a:bodyPr/>
          <a:lstStyle/>
          <a:p>
            <a:r>
              <a:rPr lang="en-US" dirty="0"/>
              <a:t>Raster Data Operations</a:t>
            </a:r>
          </a:p>
        </p:txBody>
      </p:sp>
      <p:sp>
        <p:nvSpPr>
          <p:cNvPr id="9" name="Slide Number Placeholder 8">
            <a:extLst>
              <a:ext uri="{FF2B5EF4-FFF2-40B4-BE49-F238E27FC236}">
                <a16:creationId xmlns:a16="http://schemas.microsoft.com/office/drawing/2014/main" id="{8AADCAD9-21A1-3E92-7347-EB7450D972E5}"/>
              </a:ext>
            </a:extLst>
          </p:cNvPr>
          <p:cNvSpPr>
            <a:spLocks noGrp="1"/>
          </p:cNvSpPr>
          <p:nvPr>
            <p:ph type="sldNum" sz="quarter" idx="12"/>
          </p:nvPr>
        </p:nvSpPr>
        <p:spPr/>
        <p:txBody>
          <a:bodyPr/>
          <a:lstStyle/>
          <a:p>
            <a:fld id="{C0343C75-1924-D247-85A3-0CB62E67E5D1}" type="slidenum">
              <a:rPr lang="en-US" smtClean="0"/>
              <a:t>33</a:t>
            </a:fld>
            <a:endParaRPr lang="en-US"/>
          </a:p>
        </p:txBody>
      </p:sp>
    </p:spTree>
    <p:extLst>
      <p:ext uri="{BB962C8B-B14F-4D97-AF65-F5344CB8AC3E}">
        <p14:creationId xmlns:p14="http://schemas.microsoft.com/office/powerpoint/2010/main" val="1406563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03F52D-A22F-8F9F-AE55-332F0D8A20CB}"/>
              </a:ext>
            </a:extLst>
          </p:cNvPr>
          <p:cNvSpPr>
            <a:spLocks noGrp="1"/>
          </p:cNvSpPr>
          <p:nvPr>
            <p:ph type="title"/>
          </p:nvPr>
        </p:nvSpPr>
        <p:spPr/>
        <p:txBody>
          <a:bodyPr/>
          <a:lstStyle/>
          <a:p>
            <a:r>
              <a:rPr lang="en-US" dirty="0"/>
              <a:t>Map Algebra</a:t>
            </a:r>
            <a:br>
              <a:rPr lang="en-US" dirty="0"/>
            </a:br>
            <a:r>
              <a:rPr lang="en-US" dirty="0"/>
              <a:t>(More Later in Raster Analysis)</a:t>
            </a:r>
          </a:p>
        </p:txBody>
      </p:sp>
      <p:sp>
        <p:nvSpPr>
          <p:cNvPr id="10" name="Content Placeholder 9">
            <a:extLst>
              <a:ext uri="{FF2B5EF4-FFF2-40B4-BE49-F238E27FC236}">
                <a16:creationId xmlns:a16="http://schemas.microsoft.com/office/drawing/2014/main" id="{6503188D-002D-DE7B-B281-42968377ECA8}"/>
              </a:ext>
            </a:extLst>
          </p:cNvPr>
          <p:cNvSpPr>
            <a:spLocks noGrp="1"/>
          </p:cNvSpPr>
          <p:nvPr>
            <p:ph idx="1"/>
          </p:nvPr>
        </p:nvSpPr>
        <p:spPr/>
        <p:txBody>
          <a:bodyPr/>
          <a:lstStyle/>
          <a:p>
            <a:r>
              <a:rPr lang="en-US" dirty="0"/>
              <a:t>Cell-by-cell combination of raster data layers</a:t>
            </a:r>
          </a:p>
          <a:p>
            <a:r>
              <a:rPr lang="en-US" dirty="0"/>
              <a:t>Each cell has a value</a:t>
            </a:r>
          </a:p>
          <a:p>
            <a:r>
              <a:rPr lang="en-US" dirty="0"/>
              <a:t>Simple operations can be applied to values</a:t>
            </a:r>
          </a:p>
          <a:p>
            <a:pPr lvl="1"/>
            <a:r>
              <a:rPr lang="en-US" dirty="0"/>
              <a:t>Unary operations apply to one layer</a:t>
            </a:r>
          </a:p>
          <a:p>
            <a:pPr lvl="1"/>
            <a:r>
              <a:rPr lang="en-US" dirty="0"/>
              <a:t>Binary operations apply to two data layers</a:t>
            </a:r>
          </a:p>
          <a:p>
            <a:pPr lvl="1"/>
            <a:r>
              <a:rPr lang="en-US" dirty="0"/>
              <a:t>More complex operations apply to many layers</a:t>
            </a:r>
          </a:p>
        </p:txBody>
      </p:sp>
      <p:sp>
        <p:nvSpPr>
          <p:cNvPr id="3" name="Slide Number Placeholder 2">
            <a:extLst>
              <a:ext uri="{FF2B5EF4-FFF2-40B4-BE49-F238E27FC236}">
                <a16:creationId xmlns:a16="http://schemas.microsoft.com/office/drawing/2014/main" id="{0CF37CF1-DF0A-613E-D0AD-B7CF2FB7DFBF}"/>
              </a:ext>
            </a:extLst>
          </p:cNvPr>
          <p:cNvSpPr>
            <a:spLocks noGrp="1"/>
          </p:cNvSpPr>
          <p:nvPr>
            <p:ph type="sldNum" sz="quarter" idx="12"/>
          </p:nvPr>
        </p:nvSpPr>
        <p:spPr/>
        <p:txBody>
          <a:bodyPr/>
          <a:lstStyle/>
          <a:p>
            <a:fld id="{C0343C75-1924-D247-85A3-0CB62E67E5D1}" type="slidenum">
              <a:rPr lang="en-US" smtClean="0"/>
              <a:t>34</a:t>
            </a:fld>
            <a:endParaRPr lang="en-US"/>
          </a:p>
        </p:txBody>
      </p:sp>
      <p:sp>
        <p:nvSpPr>
          <p:cNvPr id="4" name="AutoShape 3">
            <a:extLst>
              <a:ext uri="{FF2B5EF4-FFF2-40B4-BE49-F238E27FC236}">
                <a16:creationId xmlns:a16="http://schemas.microsoft.com/office/drawing/2014/main" id="{73C78D0E-2EFF-05FC-31B6-48337846F265}"/>
              </a:ext>
            </a:extLst>
          </p:cNvPr>
          <p:cNvSpPr>
            <a:spLocks noChangeArrowheads="1"/>
          </p:cNvSpPr>
          <p:nvPr/>
        </p:nvSpPr>
        <p:spPr bwMode="auto">
          <a:xfrm>
            <a:off x="2968574"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sp>
        <p:nvSpPr>
          <p:cNvPr id="5" name="AutoShape 5">
            <a:extLst>
              <a:ext uri="{FF2B5EF4-FFF2-40B4-BE49-F238E27FC236}">
                <a16:creationId xmlns:a16="http://schemas.microsoft.com/office/drawing/2014/main" id="{5FC81540-179A-D6D0-6363-150FAA04EDCC}"/>
              </a:ext>
            </a:extLst>
          </p:cNvPr>
          <p:cNvSpPr>
            <a:spLocks noChangeArrowheads="1"/>
          </p:cNvSpPr>
          <p:nvPr/>
        </p:nvSpPr>
        <p:spPr bwMode="auto">
          <a:xfrm>
            <a:off x="5616525"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graphicFrame>
        <p:nvGraphicFramePr>
          <p:cNvPr id="6" name="Group 6">
            <a:extLst>
              <a:ext uri="{FF2B5EF4-FFF2-40B4-BE49-F238E27FC236}">
                <a16:creationId xmlns:a16="http://schemas.microsoft.com/office/drawing/2014/main" id="{9A583F52-58E3-B5C8-F913-35C68C0AB1F5}"/>
              </a:ext>
            </a:extLst>
          </p:cNvPr>
          <p:cNvGraphicFramePr>
            <a:graphicFrameLocks noGrp="1"/>
          </p:cNvGraphicFramePr>
          <p:nvPr>
            <p:extLst>
              <p:ext uri="{D42A27DB-BD31-4B8C-83A1-F6EECF244321}">
                <p14:modId xmlns:p14="http://schemas.microsoft.com/office/powerpoint/2010/main" val="2795307562"/>
              </p:ext>
            </p:extLst>
          </p:nvPr>
        </p:nvGraphicFramePr>
        <p:xfrm>
          <a:off x="6370587" y="4088295"/>
          <a:ext cx="2028825" cy="2079625"/>
        </p:xfrm>
        <a:graphic>
          <a:graphicData uri="http://schemas.openxmlformats.org/drawingml/2006/table">
            <a:tbl>
              <a:tblPr/>
              <a:tblGrid>
                <a:gridCol w="317500">
                  <a:extLst>
                    <a:ext uri="{9D8B030D-6E8A-4147-A177-3AD203B41FA5}">
                      <a16:colId xmlns:a16="http://schemas.microsoft.com/office/drawing/2014/main" val="1322409711"/>
                    </a:ext>
                  </a:extLst>
                </a:gridCol>
                <a:gridCol w="342900">
                  <a:extLst>
                    <a:ext uri="{9D8B030D-6E8A-4147-A177-3AD203B41FA5}">
                      <a16:colId xmlns:a16="http://schemas.microsoft.com/office/drawing/2014/main" val="2161882137"/>
                    </a:ext>
                  </a:extLst>
                </a:gridCol>
                <a:gridCol w="341313">
                  <a:extLst>
                    <a:ext uri="{9D8B030D-6E8A-4147-A177-3AD203B41FA5}">
                      <a16:colId xmlns:a16="http://schemas.microsoft.com/office/drawing/2014/main" val="3152919888"/>
                    </a:ext>
                  </a:extLst>
                </a:gridCol>
                <a:gridCol w="342900">
                  <a:extLst>
                    <a:ext uri="{9D8B030D-6E8A-4147-A177-3AD203B41FA5}">
                      <a16:colId xmlns:a16="http://schemas.microsoft.com/office/drawing/2014/main" val="1862778386"/>
                    </a:ext>
                  </a:extLst>
                </a:gridCol>
                <a:gridCol w="341312">
                  <a:extLst>
                    <a:ext uri="{9D8B030D-6E8A-4147-A177-3AD203B41FA5}">
                      <a16:colId xmlns:a16="http://schemas.microsoft.com/office/drawing/2014/main" val="3055494739"/>
                    </a:ext>
                  </a:extLst>
                </a:gridCol>
                <a:gridCol w="342900">
                  <a:extLst>
                    <a:ext uri="{9D8B030D-6E8A-4147-A177-3AD203B41FA5}">
                      <a16:colId xmlns:a16="http://schemas.microsoft.com/office/drawing/2014/main" val="2106736115"/>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65065003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997889332"/>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884706948"/>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61093009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20288014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417111078"/>
                  </a:ext>
                </a:extLst>
              </a:tr>
            </a:tbl>
          </a:graphicData>
        </a:graphic>
      </p:graphicFrame>
      <p:graphicFrame>
        <p:nvGraphicFramePr>
          <p:cNvPr id="7" name="Group 57">
            <a:extLst>
              <a:ext uri="{FF2B5EF4-FFF2-40B4-BE49-F238E27FC236}">
                <a16:creationId xmlns:a16="http://schemas.microsoft.com/office/drawing/2014/main" id="{9F128E17-1BC4-7CD3-BD9E-022800DE0DC8}"/>
              </a:ext>
            </a:extLst>
          </p:cNvPr>
          <p:cNvGraphicFramePr>
            <a:graphicFrameLocks noGrp="1"/>
          </p:cNvGraphicFramePr>
          <p:nvPr>
            <p:extLst>
              <p:ext uri="{D42A27DB-BD31-4B8C-83A1-F6EECF244321}">
                <p14:modId xmlns:p14="http://schemas.microsoft.com/office/powerpoint/2010/main" val="937077972"/>
              </p:ext>
            </p:extLst>
          </p:nvPr>
        </p:nvGraphicFramePr>
        <p:xfrm>
          <a:off x="717500" y="4027969"/>
          <a:ext cx="2028825" cy="2079625"/>
        </p:xfrm>
        <a:graphic>
          <a:graphicData uri="http://schemas.openxmlformats.org/drawingml/2006/table">
            <a:tbl>
              <a:tblPr/>
              <a:tblGrid>
                <a:gridCol w="317500">
                  <a:extLst>
                    <a:ext uri="{9D8B030D-6E8A-4147-A177-3AD203B41FA5}">
                      <a16:colId xmlns:a16="http://schemas.microsoft.com/office/drawing/2014/main" val="2788028510"/>
                    </a:ext>
                  </a:extLst>
                </a:gridCol>
                <a:gridCol w="342900">
                  <a:extLst>
                    <a:ext uri="{9D8B030D-6E8A-4147-A177-3AD203B41FA5}">
                      <a16:colId xmlns:a16="http://schemas.microsoft.com/office/drawing/2014/main" val="2954516400"/>
                    </a:ext>
                  </a:extLst>
                </a:gridCol>
                <a:gridCol w="341312">
                  <a:extLst>
                    <a:ext uri="{9D8B030D-6E8A-4147-A177-3AD203B41FA5}">
                      <a16:colId xmlns:a16="http://schemas.microsoft.com/office/drawing/2014/main" val="62345426"/>
                    </a:ext>
                  </a:extLst>
                </a:gridCol>
                <a:gridCol w="342900">
                  <a:extLst>
                    <a:ext uri="{9D8B030D-6E8A-4147-A177-3AD203B41FA5}">
                      <a16:colId xmlns:a16="http://schemas.microsoft.com/office/drawing/2014/main" val="865129576"/>
                    </a:ext>
                  </a:extLst>
                </a:gridCol>
                <a:gridCol w="341313">
                  <a:extLst>
                    <a:ext uri="{9D8B030D-6E8A-4147-A177-3AD203B41FA5}">
                      <a16:colId xmlns:a16="http://schemas.microsoft.com/office/drawing/2014/main" val="670017151"/>
                    </a:ext>
                  </a:extLst>
                </a:gridCol>
                <a:gridCol w="342900">
                  <a:extLst>
                    <a:ext uri="{9D8B030D-6E8A-4147-A177-3AD203B41FA5}">
                      <a16:colId xmlns:a16="http://schemas.microsoft.com/office/drawing/2014/main" val="3375024444"/>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25606427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3870682556"/>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2475702069"/>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2474764523"/>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6473440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642428809"/>
                  </a:ext>
                </a:extLst>
              </a:tr>
            </a:tbl>
          </a:graphicData>
        </a:graphic>
      </p:graphicFrame>
      <p:sp>
        <p:nvSpPr>
          <p:cNvPr id="8" name="Text Box 4">
            <a:extLst>
              <a:ext uri="{FF2B5EF4-FFF2-40B4-BE49-F238E27FC236}">
                <a16:creationId xmlns:a16="http://schemas.microsoft.com/office/drawing/2014/main" id="{3F745139-81A0-FF04-D216-E35CAB0A947C}"/>
              </a:ext>
            </a:extLst>
          </p:cNvPr>
          <p:cNvSpPr txBox="1">
            <a:spLocks noChangeArrowheads="1"/>
          </p:cNvSpPr>
          <p:nvPr/>
        </p:nvSpPr>
        <p:spPr bwMode="auto">
          <a:xfrm>
            <a:off x="3730574" y="4809019"/>
            <a:ext cx="1670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b="1" i="1" dirty="0"/>
              <a:t>x </a:t>
            </a:r>
            <a:r>
              <a:rPr lang="en-US" altLang="en-US" sz="2400" b="1" dirty="0">
                <a:sym typeface="Wingdings" panose="05000000000000000000" pitchFamily="2" charset="2"/>
              </a:rPr>
              <a:t></a:t>
            </a:r>
            <a:r>
              <a:rPr lang="en-US" altLang="en-US" sz="2800" b="1" i="1" dirty="0"/>
              <a:t> 3x</a:t>
            </a:r>
            <a:endParaRPr lang="en-US" altLang="en-US" sz="2400" b="1" dirty="0">
              <a:solidFill>
                <a:srgbClr val="FF0000"/>
              </a:solidFill>
            </a:endParaRPr>
          </a:p>
        </p:txBody>
      </p:sp>
    </p:spTree>
    <p:extLst>
      <p:ext uri="{BB962C8B-B14F-4D97-AF65-F5344CB8AC3E}">
        <p14:creationId xmlns:p14="http://schemas.microsoft.com/office/powerpoint/2010/main" val="426145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41D8-6F0A-0AE0-FE7E-8E85BD70ABD8}"/>
              </a:ext>
            </a:extLst>
          </p:cNvPr>
          <p:cNvSpPr>
            <a:spLocks noGrp="1"/>
          </p:cNvSpPr>
          <p:nvPr>
            <p:ph type="title"/>
          </p:nvPr>
        </p:nvSpPr>
        <p:spPr/>
        <p:txBody>
          <a:bodyPr/>
          <a:lstStyle/>
          <a:p>
            <a:r>
              <a:rPr lang="en-US" dirty="0"/>
              <a:t>Pre-Processing Workflows</a:t>
            </a:r>
          </a:p>
        </p:txBody>
      </p:sp>
      <p:sp>
        <p:nvSpPr>
          <p:cNvPr id="3" name="Content Placeholder 2">
            <a:extLst>
              <a:ext uri="{FF2B5EF4-FFF2-40B4-BE49-F238E27FC236}">
                <a16:creationId xmlns:a16="http://schemas.microsoft.com/office/drawing/2014/main" id="{EB3BE44D-AFCB-2C2E-ADBE-D06264ECB490}"/>
              </a:ext>
            </a:extLst>
          </p:cNvPr>
          <p:cNvSpPr>
            <a:spLocks noGrp="1"/>
          </p:cNvSpPr>
          <p:nvPr>
            <p:ph idx="1"/>
          </p:nvPr>
        </p:nvSpPr>
        <p:spPr/>
        <p:txBody>
          <a:bodyPr/>
          <a:lstStyle/>
          <a:p>
            <a:pPr marL="0" indent="0">
              <a:buNone/>
            </a:pPr>
            <a:r>
              <a:rPr lang="en-US" b="1" dirty="0"/>
              <a:t>Establishing a reproducible workflow</a:t>
            </a:r>
          </a:p>
          <a:p>
            <a:r>
              <a:rPr lang="en-US" dirty="0"/>
              <a:t>Scripted workflows vs ad-hoc steps</a:t>
            </a:r>
          </a:p>
          <a:p>
            <a:r>
              <a:rPr lang="en-US" dirty="0"/>
              <a:t>Importance of documentation and version control</a:t>
            </a:r>
          </a:p>
          <a:p>
            <a:endParaRPr lang="en-US" dirty="0"/>
          </a:p>
          <a:p>
            <a:pPr marL="0" indent="0">
              <a:buNone/>
            </a:pPr>
            <a:r>
              <a:rPr lang="en-US" b="1" dirty="0"/>
              <a:t>Typical pre-processing steps</a:t>
            </a:r>
          </a:p>
          <a:p>
            <a:r>
              <a:rPr lang="en-US" dirty="0"/>
              <a:t>Data import and initial inspection</a:t>
            </a:r>
          </a:p>
          <a:p>
            <a:r>
              <a:rPr lang="en-US" dirty="0"/>
              <a:t>Attribute cleaning (e.g., selecting relevant fields, renaming)</a:t>
            </a:r>
          </a:p>
          <a:p>
            <a:r>
              <a:rPr lang="en-US" dirty="0"/>
              <a:t>Coordinate system standardization</a:t>
            </a:r>
          </a:p>
          <a:p>
            <a:r>
              <a:rPr lang="en-US" dirty="0"/>
              <a:t>Handling missing or inconsistent values</a:t>
            </a:r>
          </a:p>
        </p:txBody>
      </p:sp>
      <p:sp>
        <p:nvSpPr>
          <p:cNvPr id="4" name="Slide Number Placeholder 3">
            <a:extLst>
              <a:ext uri="{FF2B5EF4-FFF2-40B4-BE49-F238E27FC236}">
                <a16:creationId xmlns:a16="http://schemas.microsoft.com/office/drawing/2014/main" id="{45A4F953-E654-D7BE-470D-EF8363402647}"/>
              </a:ext>
            </a:extLst>
          </p:cNvPr>
          <p:cNvSpPr>
            <a:spLocks noGrp="1"/>
          </p:cNvSpPr>
          <p:nvPr>
            <p:ph type="sldNum" sz="quarter" idx="12"/>
          </p:nvPr>
        </p:nvSpPr>
        <p:spPr/>
        <p:txBody>
          <a:bodyPr/>
          <a:lstStyle/>
          <a:p>
            <a:fld id="{C0343C75-1924-D247-85A3-0CB62E67E5D1}" type="slidenum">
              <a:rPr lang="en-US" smtClean="0"/>
              <a:t>35</a:t>
            </a:fld>
            <a:endParaRPr lang="en-US"/>
          </a:p>
        </p:txBody>
      </p:sp>
    </p:spTree>
    <p:extLst>
      <p:ext uri="{BB962C8B-B14F-4D97-AF65-F5344CB8AC3E}">
        <p14:creationId xmlns:p14="http://schemas.microsoft.com/office/powerpoint/2010/main" val="526278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9CC6A88A-CC78-79CD-AF6D-EC57E27C7BCC}"/>
              </a:ext>
            </a:extLst>
          </p:cNvPr>
          <p:cNvSpPr txBox="1">
            <a:spLocks/>
          </p:cNvSpPr>
          <p:nvPr/>
        </p:nvSpPr>
        <p:spPr>
          <a:xfrm>
            <a:off x="457200" y="1945327"/>
            <a:ext cx="8229600" cy="3286703"/>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sz="2000" b="1" dirty="0"/>
              <a:t>Extract</a:t>
            </a:r>
          </a:p>
          <a:p>
            <a:pPr lvl="1"/>
            <a:r>
              <a:rPr lang="en-US" dirty="0"/>
              <a:t>Read spatial data </a:t>
            </a:r>
            <a:r>
              <a:rPr lang="en-US" sz="1800" dirty="0"/>
              <a:t>(</a:t>
            </a:r>
            <a:r>
              <a:rPr lang="en-US" sz="1800" dirty="0">
                <a:latin typeface="OSAKA-MONO" panose="020B0600000000000000" pitchFamily="34" charset="-128"/>
                <a:ea typeface="OSAKA-MONO" panose="020B0600000000000000" pitchFamily="34" charset="-128"/>
              </a:rPr>
              <a:t>sf</a:t>
            </a:r>
            <a:r>
              <a:rPr lang="en-US" sz="1800" dirty="0"/>
              <a:t>, </a:t>
            </a:r>
            <a:r>
              <a:rPr lang="en-US" sz="1800" dirty="0">
                <a:latin typeface="OSAKA-MONO" panose="020B0600000000000000" pitchFamily="34" charset="-128"/>
                <a:ea typeface="OSAKA-MONO" panose="020B0600000000000000" pitchFamily="34" charset="-128"/>
              </a:rPr>
              <a:t>terra</a:t>
            </a:r>
            <a:r>
              <a:rPr lang="en-US" sz="1800" dirty="0"/>
              <a:t>)</a:t>
            </a:r>
            <a:endParaRPr lang="en-US" dirty="0"/>
          </a:p>
          <a:p>
            <a:pPr lvl="1"/>
            <a:r>
              <a:rPr lang="en-US" dirty="0"/>
              <a:t>Import attributes </a:t>
            </a:r>
            <a:r>
              <a:rPr lang="en-US" sz="1800" dirty="0"/>
              <a:t>(from CSV/DB)</a:t>
            </a:r>
            <a:endParaRPr lang="en-US" dirty="0"/>
          </a:p>
          <a:p>
            <a:pPr lvl="1"/>
            <a:r>
              <a:rPr lang="en-US" dirty="0"/>
              <a:t>Web APIs &amp; services</a:t>
            </a:r>
          </a:p>
          <a:p>
            <a:pPr marL="457200" indent="-457200">
              <a:buFont typeface="Arial" panose="020B0604020202020204" pitchFamily="34" charset="0"/>
              <a:buAutoNum type="arabicPeriod"/>
            </a:pPr>
            <a:r>
              <a:rPr lang="en-US" sz="2000" b="1" dirty="0"/>
              <a:t>Transform</a:t>
            </a:r>
          </a:p>
          <a:p>
            <a:pPr lvl="1"/>
            <a:r>
              <a:rPr lang="en-US" dirty="0"/>
              <a:t>Filter &amp; subset</a:t>
            </a:r>
          </a:p>
          <a:p>
            <a:pPr lvl="1"/>
            <a:r>
              <a:rPr lang="en-US" dirty="0"/>
              <a:t>Aggregate &amp; summarize</a:t>
            </a:r>
          </a:p>
          <a:p>
            <a:pPr lvl="1"/>
            <a:r>
              <a:rPr lang="en-US" dirty="0"/>
              <a:t>Join &amp; merge</a:t>
            </a:r>
          </a:p>
          <a:p>
            <a:pPr lvl="1"/>
            <a:r>
              <a:rPr lang="en-US" dirty="0"/>
              <a:t>Create new attributes</a:t>
            </a:r>
          </a:p>
          <a:p>
            <a:pPr marL="457200" indent="-457200">
              <a:buFont typeface="Arial" panose="020B0604020202020204" pitchFamily="34" charset="0"/>
              <a:buAutoNum type="arabicPeriod"/>
            </a:pPr>
            <a:r>
              <a:rPr lang="en-US" sz="2000" b="1" dirty="0"/>
              <a:t>Load</a:t>
            </a:r>
          </a:p>
          <a:p>
            <a:pPr lvl="1"/>
            <a:r>
              <a:rPr lang="en-US" dirty="0"/>
              <a:t>Write to file formats</a:t>
            </a:r>
          </a:p>
          <a:p>
            <a:pPr lvl="1"/>
            <a:r>
              <a:rPr lang="en-US" dirty="0"/>
              <a:t>Export to database</a:t>
            </a:r>
          </a:p>
          <a:p>
            <a:pPr lvl="1"/>
            <a:r>
              <a:rPr lang="en-US" dirty="0"/>
              <a:t>Publish to web services</a:t>
            </a:r>
          </a:p>
        </p:txBody>
      </p:sp>
      <p:sp>
        <p:nvSpPr>
          <p:cNvPr id="2" name="Title 1">
            <a:extLst>
              <a:ext uri="{FF2B5EF4-FFF2-40B4-BE49-F238E27FC236}">
                <a16:creationId xmlns:a16="http://schemas.microsoft.com/office/drawing/2014/main" id="{74E6BC3D-9340-99F8-9A1D-9496F8ADC799}"/>
              </a:ext>
            </a:extLst>
          </p:cNvPr>
          <p:cNvSpPr>
            <a:spLocks noGrp="1"/>
          </p:cNvSpPr>
          <p:nvPr>
            <p:ph type="title"/>
          </p:nvPr>
        </p:nvSpPr>
        <p:spPr/>
        <p:txBody>
          <a:bodyPr/>
          <a:lstStyle/>
          <a:p>
            <a:r>
              <a:rPr lang="en-US" dirty="0"/>
              <a:t>Spatial ETL Workflow</a:t>
            </a:r>
          </a:p>
        </p:txBody>
      </p:sp>
      <p:sp>
        <p:nvSpPr>
          <p:cNvPr id="3" name="TextBox 2">
            <a:extLst>
              <a:ext uri="{FF2B5EF4-FFF2-40B4-BE49-F238E27FC236}">
                <a16:creationId xmlns:a16="http://schemas.microsoft.com/office/drawing/2014/main" id="{3F629633-FDAA-8209-4CFD-13E238077DC4}"/>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Extract → Transform → Load pipeline for spatial data</a:t>
            </a:r>
          </a:p>
        </p:txBody>
      </p:sp>
      <p:sp>
        <p:nvSpPr>
          <p:cNvPr id="4" name="TextBox 3">
            <a:extLst>
              <a:ext uri="{FF2B5EF4-FFF2-40B4-BE49-F238E27FC236}">
                <a16:creationId xmlns:a16="http://schemas.microsoft.com/office/drawing/2014/main" id="{B35861FD-4E5F-840C-59AE-7F59210EC22E}"/>
              </a:ext>
            </a:extLst>
          </p:cNvPr>
          <p:cNvSpPr txBox="1"/>
          <p:nvPr/>
        </p:nvSpPr>
        <p:spPr>
          <a:xfrm>
            <a:off x="457203" y="5391586"/>
            <a:ext cx="8229597" cy="923330"/>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Best Practices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Use pipes for readable workflows   • Preserve geometries with sf operations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Drop geometry when speed matters   • Document transformations</a:t>
            </a:r>
          </a:p>
        </p:txBody>
      </p:sp>
      <p:sp>
        <p:nvSpPr>
          <p:cNvPr id="6" name="Slide Number Placeholder 5">
            <a:extLst>
              <a:ext uri="{FF2B5EF4-FFF2-40B4-BE49-F238E27FC236}">
                <a16:creationId xmlns:a16="http://schemas.microsoft.com/office/drawing/2014/main" id="{FFB93BAA-288C-0A6C-3469-64973D24B80F}"/>
              </a:ext>
            </a:extLst>
          </p:cNvPr>
          <p:cNvSpPr>
            <a:spLocks noGrp="1"/>
          </p:cNvSpPr>
          <p:nvPr>
            <p:ph type="sldNum" sz="quarter" idx="12"/>
          </p:nvPr>
        </p:nvSpPr>
        <p:spPr/>
        <p:txBody>
          <a:bodyPr/>
          <a:lstStyle/>
          <a:p>
            <a:fld id="{C0343C75-1924-D247-85A3-0CB62E67E5D1}" type="slidenum">
              <a:rPr lang="en-US" smtClean="0"/>
              <a:t>36</a:t>
            </a:fld>
            <a:endParaRPr lang="en-US"/>
          </a:p>
        </p:txBody>
      </p:sp>
    </p:spTree>
    <p:extLst>
      <p:ext uri="{BB962C8B-B14F-4D97-AF65-F5344CB8AC3E}">
        <p14:creationId xmlns:p14="http://schemas.microsoft.com/office/powerpoint/2010/main" val="3183749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85BCC-701A-878B-B060-A6EA57AB2B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0909A8-9D93-9DA1-DBCC-592F68584399}"/>
              </a:ext>
            </a:extLst>
          </p:cNvPr>
          <p:cNvSpPr txBox="1"/>
          <p:nvPr/>
        </p:nvSpPr>
        <p:spPr>
          <a:xfrm>
            <a:off x="457200" y="1724461"/>
            <a:ext cx="8229600" cy="3970318"/>
          </a:xfrm>
          <a:prstGeom prst="rect">
            <a:avLst/>
          </a:prstGeom>
          <a:noFill/>
        </p:spPr>
        <p:txBody>
          <a:bodyPr wrap="square"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1. Load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library(sf)</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dplyr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spData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2. Join spatial + attribute data</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3. Filter &amp; aggregate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top_producers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is.na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arrange(desc(coffee_production_2017))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slice(1:10)</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4. Visualize</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plot(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1" name="Title 10">
            <a:extLst>
              <a:ext uri="{FF2B5EF4-FFF2-40B4-BE49-F238E27FC236}">
                <a16:creationId xmlns:a16="http://schemas.microsoft.com/office/drawing/2014/main" id="{391737BF-2BA1-6318-01A8-E7DAA0093BB5}"/>
              </a:ext>
            </a:extLst>
          </p:cNvPr>
          <p:cNvSpPr>
            <a:spLocks noGrp="1"/>
          </p:cNvSpPr>
          <p:nvPr>
            <p:ph type="title"/>
          </p:nvPr>
        </p:nvSpPr>
        <p:spPr/>
        <p:txBody>
          <a:bodyPr/>
          <a:lstStyle/>
          <a:p>
            <a:r>
              <a:rPr lang="en-US" dirty="0"/>
              <a:t>Practical Example: Coffee Production</a:t>
            </a:r>
          </a:p>
        </p:txBody>
      </p:sp>
      <p:sp>
        <p:nvSpPr>
          <p:cNvPr id="4" name="TextBox 3">
            <a:extLst>
              <a:ext uri="{FF2B5EF4-FFF2-40B4-BE49-F238E27FC236}">
                <a16:creationId xmlns:a16="http://schemas.microsoft.com/office/drawing/2014/main" id="{8A1AD824-CEF2-0F30-16D6-496CF3FEF1C3}"/>
              </a:ext>
            </a:extLst>
          </p:cNvPr>
          <p:cNvSpPr txBox="1"/>
          <p:nvPr/>
        </p:nvSpPr>
        <p:spPr>
          <a:xfrm>
            <a:off x="457200" y="1416684"/>
            <a:ext cx="8229600" cy="307777"/>
          </a:xfrm>
          <a:prstGeom prst="rect">
            <a:avLst/>
          </a:prstGeom>
          <a:noFill/>
        </p:spPr>
        <p:txBody>
          <a:bodyPr wrap="square" rtlCol="0">
            <a:spAutoFit/>
          </a:bodyPr>
          <a:lstStyle/>
          <a:p>
            <a:r>
              <a:rPr lang="en-US" sz="1400" i="1" dirty="0">
                <a:ea typeface="OSAKA-MONO" panose="020B0600000000000000" pitchFamily="34" charset="-128"/>
                <a:cs typeface="Menlo" panose="020B0609030804020204" pitchFamily="49" charset="0"/>
              </a:rPr>
              <a:t>Complete workflow from data join to visualization</a:t>
            </a:r>
          </a:p>
        </p:txBody>
      </p:sp>
      <p:sp>
        <p:nvSpPr>
          <p:cNvPr id="5" name="TextBox 4">
            <a:extLst>
              <a:ext uri="{FF2B5EF4-FFF2-40B4-BE49-F238E27FC236}">
                <a16:creationId xmlns:a16="http://schemas.microsoft.com/office/drawing/2014/main" id="{95483D66-BD4A-6050-2186-B58AAD8662C8}"/>
              </a:ext>
            </a:extLst>
          </p:cNvPr>
          <p:cNvSpPr txBox="1"/>
          <p:nvPr/>
        </p:nvSpPr>
        <p:spPr>
          <a:xfrm>
            <a:off x="457200" y="5740946"/>
            <a:ext cx="8229600" cy="523220"/>
          </a:xfrm>
          <a:prstGeom prst="rect">
            <a:avLst/>
          </a:prstGeom>
          <a:noFill/>
        </p:spPr>
        <p:txBody>
          <a:bodyPr wrap="square" rtlCol="0">
            <a:spAutoFit/>
          </a:bodyPr>
          <a:lstStyle/>
          <a:p>
            <a:r>
              <a:rPr lang="en-US" sz="1400" dirty="0">
                <a:ea typeface="OSAKA-MONO" panose="020B0600000000000000" pitchFamily="34" charset="-128"/>
                <a:cs typeface="Menlo" panose="020B0609030804020204" pitchFamily="49" charset="0"/>
              </a:rPr>
              <a:t>Geometry column preserved throughout!</a:t>
            </a:r>
          </a:p>
          <a:p>
            <a:r>
              <a:rPr lang="en-US" sz="1400" dirty="0">
                <a:latin typeface="OSAKA-MONO" panose="020B0600000000000000" pitchFamily="34" charset="-128"/>
                <a:ea typeface="OSAKA-MONO" panose="020B0600000000000000" pitchFamily="34" charset="-128"/>
                <a:cs typeface="Menlo" panose="020B0609030804020204" pitchFamily="49" charset="0"/>
              </a:rPr>
              <a:t>sf</a:t>
            </a:r>
            <a:r>
              <a:rPr lang="en-US" sz="1400" dirty="0">
                <a:ea typeface="OSAKA-MONO" panose="020B0600000000000000" pitchFamily="34" charset="-128"/>
                <a:cs typeface="Menlo" panose="020B0609030804020204" pitchFamily="49" charset="0"/>
              </a:rPr>
              <a:t> objects behave like </a:t>
            </a:r>
            <a:r>
              <a:rPr lang="en-US" sz="1400" dirty="0" err="1">
                <a:latin typeface="OSAKA-MONO" panose="020B0600000000000000" pitchFamily="34" charset="-128"/>
                <a:ea typeface="OSAKA-MONO" panose="020B0600000000000000" pitchFamily="34" charset="-128"/>
                <a:cs typeface="Menlo" panose="020B0609030804020204" pitchFamily="49" charset="0"/>
              </a:rPr>
              <a:t>data.frames</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9" name="Slide Number Placeholder 8">
            <a:extLst>
              <a:ext uri="{FF2B5EF4-FFF2-40B4-BE49-F238E27FC236}">
                <a16:creationId xmlns:a16="http://schemas.microsoft.com/office/drawing/2014/main" id="{3F6704C6-63CD-39B8-0560-431BCA5E269D}"/>
              </a:ext>
            </a:extLst>
          </p:cNvPr>
          <p:cNvSpPr>
            <a:spLocks noGrp="1"/>
          </p:cNvSpPr>
          <p:nvPr>
            <p:ph type="sldNum" sz="quarter" idx="12"/>
          </p:nvPr>
        </p:nvSpPr>
        <p:spPr/>
        <p:txBody>
          <a:bodyPr/>
          <a:lstStyle/>
          <a:p>
            <a:fld id="{C0343C75-1924-D247-85A3-0CB62E67E5D1}" type="slidenum">
              <a:rPr lang="en-US" smtClean="0"/>
              <a:t>37</a:t>
            </a:fld>
            <a:endParaRPr lang="en-US"/>
          </a:p>
        </p:txBody>
      </p:sp>
    </p:spTree>
    <p:extLst>
      <p:ext uri="{BB962C8B-B14F-4D97-AF65-F5344CB8AC3E}">
        <p14:creationId xmlns:p14="http://schemas.microsoft.com/office/powerpoint/2010/main" val="1214140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6FA6-4DFC-8775-1C95-80AC9BD1516A}"/>
              </a:ext>
            </a:extLst>
          </p:cNvPr>
          <p:cNvSpPr>
            <a:spLocks noGrp="1"/>
          </p:cNvSpPr>
          <p:nvPr>
            <p:ph type="title"/>
          </p:nvPr>
        </p:nvSpPr>
        <p:spPr/>
        <p:txBody>
          <a:bodyPr/>
          <a:lstStyle/>
          <a:p>
            <a:r>
              <a:rPr lang="en-US" dirty="0"/>
              <a:t>Best Practices</a:t>
            </a:r>
          </a:p>
        </p:txBody>
      </p:sp>
      <p:sp>
        <p:nvSpPr>
          <p:cNvPr id="3" name="Content Placeholder 2">
            <a:extLst>
              <a:ext uri="{FF2B5EF4-FFF2-40B4-BE49-F238E27FC236}">
                <a16:creationId xmlns:a16="http://schemas.microsoft.com/office/drawing/2014/main" id="{BEEA92ED-F0BE-16C4-6F02-421030AAB4FB}"/>
              </a:ext>
            </a:extLst>
          </p:cNvPr>
          <p:cNvSpPr>
            <a:spLocks noGrp="1"/>
          </p:cNvSpPr>
          <p:nvPr>
            <p:ph idx="1"/>
          </p:nvPr>
        </p:nvSpPr>
        <p:spPr/>
        <p:txBody>
          <a:bodyPr>
            <a:normAutofit lnSpcReduction="10000"/>
          </a:bodyPr>
          <a:lstStyle/>
          <a:p>
            <a:pPr marL="0" indent="0">
              <a:buNone/>
            </a:pPr>
            <a:r>
              <a:rPr lang="en-US" b="1" dirty="0"/>
              <a:t>Efficiency considerations</a:t>
            </a:r>
          </a:p>
          <a:p>
            <a:r>
              <a:rPr lang="en-US" dirty="0"/>
              <a:t>When to drop geometry for speed</a:t>
            </a:r>
          </a:p>
          <a:p>
            <a:r>
              <a:rPr lang="en-US" dirty="0" err="1">
                <a:latin typeface="OSAKA-MONO" panose="020B0600000000000000" pitchFamily="34" charset="-128"/>
                <a:ea typeface="OSAKA-MONO" panose="020B0600000000000000" pitchFamily="34" charset="-128"/>
              </a:rPr>
              <a:t>tidyverse</a:t>
            </a:r>
            <a:r>
              <a:rPr lang="en-US" dirty="0"/>
              <a:t> vs base R performance tradeoffs</a:t>
            </a:r>
          </a:p>
          <a:p>
            <a:pPr marL="0" indent="0">
              <a:buNone/>
            </a:pPr>
            <a:endParaRPr lang="en-US" dirty="0"/>
          </a:p>
          <a:p>
            <a:pPr marL="0" indent="0">
              <a:buNone/>
            </a:pPr>
            <a:r>
              <a:rPr lang="en-US" b="1" dirty="0"/>
              <a:t>Data integrity and accuracy</a:t>
            </a:r>
          </a:p>
          <a:p>
            <a:r>
              <a:rPr lang="en-US" dirty="0"/>
              <a:t>Validate joins and aggregations</a:t>
            </a:r>
          </a:p>
          <a:p>
            <a:r>
              <a:rPr lang="en-US" dirty="0"/>
              <a:t>Check spatial and attribute consistency</a:t>
            </a:r>
          </a:p>
          <a:p>
            <a:pPr marL="0" indent="0">
              <a:buNone/>
            </a:pPr>
            <a:endParaRPr lang="en-US" dirty="0"/>
          </a:p>
          <a:p>
            <a:pPr marL="0" indent="0">
              <a:buNone/>
            </a:pPr>
            <a:r>
              <a:rPr lang="en-US" b="1" dirty="0"/>
              <a:t>Reproducibility standards</a:t>
            </a:r>
          </a:p>
          <a:p>
            <a:r>
              <a:rPr lang="en-US" dirty="0"/>
              <a:t>Use of R Markdown, notebooks, and code containers</a:t>
            </a:r>
            <a:br>
              <a:rPr lang="en-US" dirty="0"/>
            </a:br>
            <a:r>
              <a:rPr lang="en-US" dirty="0"/>
              <a:t>(e.g., Docker)</a:t>
            </a:r>
          </a:p>
        </p:txBody>
      </p:sp>
      <p:sp>
        <p:nvSpPr>
          <p:cNvPr id="4" name="Slide Number Placeholder 3">
            <a:extLst>
              <a:ext uri="{FF2B5EF4-FFF2-40B4-BE49-F238E27FC236}">
                <a16:creationId xmlns:a16="http://schemas.microsoft.com/office/drawing/2014/main" id="{9EB55E97-9234-256A-7DDB-B4A88BDFE596}"/>
              </a:ext>
            </a:extLst>
          </p:cNvPr>
          <p:cNvSpPr>
            <a:spLocks noGrp="1"/>
          </p:cNvSpPr>
          <p:nvPr>
            <p:ph type="sldNum" sz="quarter" idx="12"/>
          </p:nvPr>
        </p:nvSpPr>
        <p:spPr/>
        <p:txBody>
          <a:bodyPr/>
          <a:lstStyle/>
          <a:p>
            <a:fld id="{C0343C75-1924-D247-85A3-0CB62E67E5D1}" type="slidenum">
              <a:rPr lang="en-US" smtClean="0"/>
              <a:t>38</a:t>
            </a:fld>
            <a:endParaRPr lang="en-US"/>
          </a:p>
        </p:txBody>
      </p:sp>
    </p:spTree>
    <p:extLst>
      <p:ext uri="{BB962C8B-B14F-4D97-AF65-F5344CB8AC3E}">
        <p14:creationId xmlns:p14="http://schemas.microsoft.com/office/powerpoint/2010/main" val="3799158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4D2E-D759-981F-9F08-9B11563C2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96E51-1F46-28A6-3F9C-C869A2AD2A64}"/>
              </a:ext>
            </a:extLst>
          </p:cNvPr>
          <p:cNvSpPr>
            <a:spLocks noGrp="1"/>
          </p:cNvSpPr>
          <p:nvPr>
            <p:ph type="title"/>
          </p:nvPr>
        </p:nvSpPr>
        <p:spPr/>
        <p:txBody>
          <a:bodyPr/>
          <a:lstStyle/>
          <a:p>
            <a:r>
              <a:rPr lang="en-US" dirty="0"/>
              <a:t>Common Pitfalls</a:t>
            </a:r>
          </a:p>
        </p:txBody>
      </p:sp>
      <p:sp>
        <p:nvSpPr>
          <p:cNvPr id="6" name="TextBox 5">
            <a:extLst>
              <a:ext uri="{FF2B5EF4-FFF2-40B4-BE49-F238E27FC236}">
                <a16:creationId xmlns:a16="http://schemas.microsoft.com/office/drawing/2014/main" id="{B8C70F8F-1C74-6EB8-A5B3-49588A77460D}"/>
              </a:ext>
            </a:extLst>
          </p:cNvPr>
          <p:cNvSpPr txBox="1"/>
          <p:nvPr/>
        </p:nvSpPr>
        <p:spPr>
          <a:xfrm>
            <a:off x="571499" y="1416684"/>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Losing geometry column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Use </a:t>
            </a:r>
            <a:r>
              <a:rPr lang="en-US" sz="1400" dirty="0" err="1">
                <a:latin typeface="OSAKA-MONO" panose="020B0600000000000000" pitchFamily="34" charset="-128"/>
                <a:ea typeface="OSAKA-MONO" panose="020B0600000000000000" pitchFamily="34" charset="-128"/>
                <a:cs typeface="Menlo" panose="020B0609030804020204" pitchFamily="49" charset="0"/>
              </a:rPr>
              <a:t>dplyr</a:t>
            </a:r>
            <a:r>
              <a:rPr lang="en-US" sz="1400" dirty="0">
                <a:ea typeface="OSAKA-MONO" panose="020B0600000000000000" pitchFamily="34" charset="-128"/>
                <a:cs typeface="Menlo" panose="020B0609030804020204" pitchFamily="49" charset="0"/>
              </a:rPr>
              <a:t> verbs or </a:t>
            </a:r>
            <a:r>
              <a:rPr lang="en-US" sz="1400" dirty="0" err="1">
                <a:latin typeface="OSAKA-MONO" panose="020B0600000000000000" pitchFamily="34" charset="-128"/>
                <a:ea typeface="OSAKA-MONO" panose="020B0600000000000000" pitchFamily="34" charset="-128"/>
                <a:cs typeface="Menlo" panose="020B0609030804020204" pitchFamily="49" charset="0"/>
              </a:rPr>
              <a:t>st_drop_geometry</a:t>
            </a:r>
            <a:r>
              <a:rPr lang="en-US" sz="1400" dirty="0">
                <a:latin typeface="OSAKA-MONO" panose="020B0600000000000000" pitchFamily="34" charset="-128"/>
                <a:ea typeface="OSAKA-MONO" panose="020B0600000000000000" pitchFamily="34" charset="-128"/>
                <a:cs typeface="Menlo" panose="020B0609030804020204" pitchFamily="49" charset="0"/>
              </a:rPr>
              <a:t>()</a:t>
            </a:r>
            <a:r>
              <a:rPr lang="en-US" sz="1400" dirty="0">
                <a:ea typeface="OSAKA-MONO" panose="020B0600000000000000" pitchFamily="34" charset="-128"/>
                <a:cs typeface="Menlo" panose="020B0609030804020204" pitchFamily="49" charset="0"/>
              </a:rPr>
              <a:t> explicitly</a:t>
            </a:r>
          </a:p>
          <a:p>
            <a:pPr>
              <a:lnSpc>
                <a:spcPct val="125000"/>
              </a:lnSpc>
            </a:pPr>
            <a:r>
              <a:rPr lang="en-US" sz="1400" b="1" dirty="0">
                <a:ea typeface="OSAKA-MONO" panose="020B0600000000000000" pitchFamily="34" charset="-128"/>
                <a:cs typeface="Menlo" panose="020B0609030804020204" pitchFamily="49" charset="0"/>
              </a:rPr>
              <a:t>Avoid</a:t>
            </a:r>
            <a:r>
              <a:rPr lang="en-US" sz="1400" dirty="0">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world$name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b="1" dirty="0">
                <a:ea typeface="OSAKA-MONO" panose="020B0600000000000000" pitchFamily="34" charset="-128"/>
                <a:cs typeface="Menlo" panose="020B0609030804020204" pitchFamily="49" charset="0"/>
              </a:rPr>
              <a:t>Use</a:t>
            </a:r>
            <a:r>
              <a:rPr lang="en-US" sz="1400" dirty="0">
                <a:ea typeface="OSAKA-MONO" panose="020B0600000000000000" pitchFamily="34" charset="-128"/>
                <a:cs typeface="Menlo" panose="020B0609030804020204" pitchFamily="49" charset="0"/>
              </a:rPr>
              <a:t>: </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pull(world, name)</a:t>
            </a:r>
          </a:p>
        </p:txBody>
      </p:sp>
      <p:sp>
        <p:nvSpPr>
          <p:cNvPr id="9" name="TextBox 8">
            <a:extLst>
              <a:ext uri="{FF2B5EF4-FFF2-40B4-BE49-F238E27FC236}">
                <a16:creationId xmlns:a16="http://schemas.microsoft.com/office/drawing/2014/main" id="{5556CD7D-5AC5-AB40-C159-E949657684A1}"/>
              </a:ext>
            </a:extLst>
          </p:cNvPr>
          <p:cNvSpPr txBox="1"/>
          <p:nvPr/>
        </p:nvSpPr>
        <p:spPr>
          <a:xfrm>
            <a:off x="571499" y="2591060"/>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0" name="TextBox 9">
            <a:extLst>
              <a:ext uri="{FF2B5EF4-FFF2-40B4-BE49-F238E27FC236}">
                <a16:creationId xmlns:a16="http://schemas.microsoft.com/office/drawing/2014/main" id="{0F41121B-E0B9-2D2F-0D35-C7AD3E36560A}"/>
              </a:ext>
            </a:extLst>
          </p:cNvPr>
          <p:cNvSpPr txBox="1"/>
          <p:nvPr/>
        </p:nvSpPr>
        <p:spPr>
          <a:xfrm>
            <a:off x="571498" y="3765436"/>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1" name="TextBox 10">
            <a:extLst>
              <a:ext uri="{FF2B5EF4-FFF2-40B4-BE49-F238E27FC236}">
                <a16:creationId xmlns:a16="http://schemas.microsoft.com/office/drawing/2014/main" id="{AF0CA53E-66B1-731A-2070-6E6209E9673C}"/>
              </a:ext>
            </a:extLst>
          </p:cNvPr>
          <p:cNvSpPr txBox="1"/>
          <p:nvPr/>
        </p:nvSpPr>
        <p:spPr>
          <a:xfrm>
            <a:off x="571497" y="4939812"/>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st_transform</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(data,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a:t>
            </a:r>
          </a:p>
        </p:txBody>
      </p:sp>
      <p:sp>
        <p:nvSpPr>
          <p:cNvPr id="12" name="Slide Number Placeholder 11">
            <a:extLst>
              <a:ext uri="{FF2B5EF4-FFF2-40B4-BE49-F238E27FC236}">
                <a16:creationId xmlns:a16="http://schemas.microsoft.com/office/drawing/2014/main" id="{59FECEC2-E783-08AE-2101-CB20CCADA536}"/>
              </a:ext>
            </a:extLst>
          </p:cNvPr>
          <p:cNvSpPr>
            <a:spLocks noGrp="1"/>
          </p:cNvSpPr>
          <p:nvPr>
            <p:ph type="sldNum" sz="quarter" idx="12"/>
          </p:nvPr>
        </p:nvSpPr>
        <p:spPr/>
        <p:txBody>
          <a:bodyPr/>
          <a:lstStyle/>
          <a:p>
            <a:fld id="{C0343C75-1924-D247-85A3-0CB62E67E5D1}" type="slidenum">
              <a:rPr lang="en-US" smtClean="0"/>
              <a:t>39</a:t>
            </a:fld>
            <a:endParaRPr lang="en-US"/>
          </a:p>
        </p:txBody>
      </p:sp>
    </p:spTree>
    <p:extLst>
      <p:ext uri="{BB962C8B-B14F-4D97-AF65-F5344CB8AC3E}">
        <p14:creationId xmlns:p14="http://schemas.microsoft.com/office/powerpoint/2010/main" val="1668616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A16C58-C4AC-BED3-F5DA-41E9C1CCD46B}"/>
              </a:ext>
            </a:extLst>
          </p:cNvPr>
          <p:cNvSpPr>
            <a:spLocks noGrp="1"/>
          </p:cNvSpPr>
          <p:nvPr>
            <p:ph type="title"/>
          </p:nvPr>
        </p:nvSpPr>
        <p:spPr/>
        <p:txBody>
          <a:bodyPr/>
          <a:lstStyle/>
          <a:p>
            <a:r>
              <a:rPr lang="en-US" dirty="0"/>
              <a:t>Questions to Practice</a:t>
            </a:r>
          </a:p>
        </p:txBody>
      </p:sp>
      <p:sp>
        <p:nvSpPr>
          <p:cNvPr id="7" name="Content Placeholder 6">
            <a:extLst>
              <a:ext uri="{FF2B5EF4-FFF2-40B4-BE49-F238E27FC236}">
                <a16:creationId xmlns:a16="http://schemas.microsoft.com/office/drawing/2014/main" id="{97FED5C3-FAAF-0360-F5DC-E0E328EEF6E4}"/>
              </a:ext>
            </a:extLst>
          </p:cNvPr>
          <p:cNvSpPr>
            <a:spLocks noGrp="1"/>
          </p:cNvSpPr>
          <p:nvPr>
            <p:ph idx="1"/>
          </p:nvPr>
        </p:nvSpPr>
        <p:spPr/>
        <p:txBody>
          <a:bodyPr>
            <a:normAutofit/>
          </a:bodyPr>
          <a:lstStyle/>
          <a:p>
            <a:pPr marL="457200" indent="-457200">
              <a:buFont typeface="+mj-lt"/>
              <a:buAutoNum type="arabicPeriod"/>
            </a:pPr>
            <a:r>
              <a:rPr lang="en-US" dirty="0"/>
              <a:t>Can you explain </a:t>
            </a:r>
            <a:r>
              <a:rPr lang="en-US" b="1" dirty="0"/>
              <a:t>what attribute transformation is </a:t>
            </a:r>
            <a:r>
              <a:rPr lang="en-US" dirty="0"/>
              <a:t>and give </a:t>
            </a:r>
            <a:r>
              <a:rPr lang="en-US" b="1" dirty="0"/>
              <a:t>an example </a:t>
            </a:r>
            <a:r>
              <a:rPr lang="en-US" dirty="0"/>
              <a:t>of when you would </a:t>
            </a:r>
            <a:r>
              <a:rPr lang="en-US" b="1" dirty="0"/>
              <a:t>create a new feature </a:t>
            </a:r>
            <a:r>
              <a:rPr lang="en-US" dirty="0"/>
              <a:t>from existing data?</a:t>
            </a:r>
          </a:p>
          <a:p>
            <a:pPr marL="457200" indent="-457200">
              <a:buFont typeface="+mj-lt"/>
              <a:buAutoNum type="arabicPeriod"/>
            </a:pPr>
            <a:r>
              <a:rPr lang="en-US" dirty="0"/>
              <a:t>How do you typically handle </a:t>
            </a:r>
            <a:r>
              <a:rPr lang="en-US" b="1" dirty="0"/>
              <a:t>missing or inconsistent values </a:t>
            </a:r>
            <a:r>
              <a:rPr lang="en-US" dirty="0"/>
              <a:t>during the data pre-processing stage?</a:t>
            </a:r>
          </a:p>
          <a:p>
            <a:pPr marL="457200" indent="-457200">
              <a:buFont typeface="+mj-lt"/>
              <a:buAutoNum type="arabicPeriod"/>
            </a:pPr>
            <a:r>
              <a:rPr lang="en-US" dirty="0"/>
              <a:t>Why is </a:t>
            </a:r>
            <a:r>
              <a:rPr lang="en-US" b="1" dirty="0"/>
              <a:t>data normalization or standardization </a:t>
            </a:r>
            <a:r>
              <a:rPr lang="en-US" dirty="0"/>
              <a:t>important, and in what situations would you apply it?</a:t>
            </a:r>
          </a:p>
          <a:p>
            <a:pPr marL="457200" indent="-457200">
              <a:buFont typeface="+mj-lt"/>
              <a:buAutoNum type="arabicPeriod"/>
            </a:pPr>
            <a:r>
              <a:rPr lang="en-US" dirty="0"/>
              <a:t>Can you describe a </a:t>
            </a:r>
            <a:r>
              <a:rPr lang="en-US" b="1" dirty="0"/>
              <a:t>typical data analysis workflow</a:t>
            </a:r>
            <a:r>
              <a:rPr lang="en-US" dirty="0"/>
              <a:t>, from receiving raw data to producing final insights?</a:t>
            </a:r>
          </a:p>
        </p:txBody>
      </p:sp>
      <p:sp>
        <p:nvSpPr>
          <p:cNvPr id="3" name="Slide Number Placeholder 2">
            <a:extLst>
              <a:ext uri="{FF2B5EF4-FFF2-40B4-BE49-F238E27FC236}">
                <a16:creationId xmlns:a16="http://schemas.microsoft.com/office/drawing/2014/main" id="{5712BB5E-D3F6-C612-DDB1-D8A232258643}"/>
              </a:ext>
            </a:extLst>
          </p:cNvPr>
          <p:cNvSpPr>
            <a:spLocks noGrp="1"/>
          </p:cNvSpPr>
          <p:nvPr>
            <p:ph type="sldNum" sz="quarter" idx="12"/>
          </p:nvPr>
        </p:nvSpPr>
        <p:spPr/>
        <p:txBody>
          <a:bodyPr/>
          <a:lstStyle/>
          <a:p>
            <a:fld id="{C0343C75-1924-D247-85A3-0CB62E67E5D1}" type="slidenum">
              <a:rPr lang="en-US" smtClean="0"/>
              <a:t>40</a:t>
            </a:fld>
            <a:endParaRPr lang="en-US"/>
          </a:p>
        </p:txBody>
      </p:sp>
    </p:spTree>
    <p:extLst>
      <p:ext uri="{BB962C8B-B14F-4D97-AF65-F5344CB8AC3E}">
        <p14:creationId xmlns:p14="http://schemas.microsoft.com/office/powerpoint/2010/main" val="1851478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C10D-1DF6-9048-4EB2-1C2FE4CBC9AA}"/>
              </a:ext>
            </a:extLst>
          </p:cNvPr>
          <p:cNvSpPr>
            <a:spLocks noGrp="1"/>
          </p:cNvSpPr>
          <p:nvPr>
            <p:ph type="title"/>
          </p:nvPr>
        </p:nvSpPr>
        <p:spPr/>
        <p:txBody>
          <a:bodyPr/>
          <a:lstStyle/>
          <a:p>
            <a:r>
              <a:rPr lang="en-US" dirty="0"/>
              <a:t>Assignment #2 – Objective</a:t>
            </a:r>
          </a:p>
        </p:txBody>
      </p:sp>
      <p:sp>
        <p:nvSpPr>
          <p:cNvPr id="3" name="Content Placeholder 2">
            <a:extLst>
              <a:ext uri="{FF2B5EF4-FFF2-40B4-BE49-F238E27FC236}">
                <a16:creationId xmlns:a16="http://schemas.microsoft.com/office/drawing/2014/main" id="{0C91EDC0-E3C2-E8B5-D1DB-D99E280905AB}"/>
              </a:ext>
            </a:extLst>
          </p:cNvPr>
          <p:cNvSpPr>
            <a:spLocks noGrp="1"/>
          </p:cNvSpPr>
          <p:nvPr>
            <p:ph idx="1"/>
          </p:nvPr>
        </p:nvSpPr>
        <p:spPr/>
        <p:txBody>
          <a:bodyPr/>
          <a:lstStyle/>
          <a:p>
            <a:pPr marL="0" indent="0">
              <a:buNone/>
            </a:pPr>
            <a:r>
              <a:rPr lang="en-US" dirty="0"/>
              <a:t>Workflow in </a:t>
            </a:r>
            <a:r>
              <a:rPr lang="en-US" dirty="0">
                <a:latin typeface="OSAKA-MONO" panose="020B0600000000000000" pitchFamily="34" charset="-128"/>
                <a:ea typeface="OSAKA-MONO" panose="020B0600000000000000" pitchFamily="34" charset="-128"/>
              </a:rPr>
              <a:t>R</a:t>
            </a:r>
            <a:r>
              <a:rPr lang="en-US" dirty="0"/>
              <a:t> </a:t>
            </a:r>
            <a:r>
              <a:rPr lang="en-US" baseline="30000" dirty="0"/>
              <a:t>(or </a:t>
            </a:r>
            <a:r>
              <a:rPr lang="en-US" baseline="30000" dirty="0">
                <a:latin typeface="OSAKA-MONO" panose="020B0600000000000000" pitchFamily="34" charset="-128"/>
                <a:ea typeface="OSAKA-MONO" panose="020B0600000000000000" pitchFamily="34" charset="-128"/>
              </a:rPr>
              <a:t>Python</a:t>
            </a:r>
            <a:r>
              <a:rPr lang="en-US" baseline="30000" dirty="0"/>
              <a:t>)</a:t>
            </a:r>
          </a:p>
          <a:p>
            <a:r>
              <a:rPr lang="en-US" dirty="0"/>
              <a:t>Load spatial data (</a:t>
            </a:r>
            <a:r>
              <a:rPr lang="en-US" dirty="0">
                <a:latin typeface="OSAKA-MONO" panose="020B0600000000000000" pitchFamily="34" charset="-128"/>
                <a:ea typeface="OSAKA-MONO" panose="020B0600000000000000" pitchFamily="34" charset="-128"/>
              </a:rPr>
              <a:t>sf</a:t>
            </a:r>
            <a:r>
              <a:rPr lang="en-US" dirty="0"/>
              <a:t>, </a:t>
            </a:r>
            <a:r>
              <a:rPr lang="en-US" dirty="0">
                <a:latin typeface="OSAKA-MONO" panose="020B0600000000000000" pitchFamily="34" charset="-128"/>
                <a:ea typeface="OSAKA-MONO" panose="020B0600000000000000" pitchFamily="34" charset="-128"/>
              </a:rPr>
              <a:t>terra</a:t>
            </a:r>
            <a:r>
              <a:rPr lang="en-US" dirty="0"/>
              <a:t>)</a:t>
            </a:r>
          </a:p>
          <a:p>
            <a:r>
              <a:rPr lang="en-US" dirty="0"/>
              <a:t>Subset and clean attributes</a:t>
            </a:r>
          </a:p>
          <a:p>
            <a:r>
              <a:rPr lang="en-US" dirty="0"/>
              <a:t>Join external attribute table to spatial data</a:t>
            </a:r>
          </a:p>
          <a:p>
            <a:r>
              <a:rPr lang="en-US" dirty="0"/>
              <a:t>Compute summary statistics</a:t>
            </a:r>
          </a:p>
          <a:p>
            <a:r>
              <a:rPr lang="en-US" dirty="0"/>
              <a:t>Export results for visualization or modeling</a:t>
            </a:r>
          </a:p>
        </p:txBody>
      </p:sp>
      <p:sp>
        <p:nvSpPr>
          <p:cNvPr id="4" name="Slide Number Placeholder 3">
            <a:extLst>
              <a:ext uri="{FF2B5EF4-FFF2-40B4-BE49-F238E27FC236}">
                <a16:creationId xmlns:a16="http://schemas.microsoft.com/office/drawing/2014/main" id="{9847A080-82E2-8D76-0847-18D8F26B3E0F}"/>
              </a:ext>
            </a:extLst>
          </p:cNvPr>
          <p:cNvSpPr>
            <a:spLocks noGrp="1"/>
          </p:cNvSpPr>
          <p:nvPr>
            <p:ph type="sldNum" sz="quarter" idx="12"/>
          </p:nvPr>
        </p:nvSpPr>
        <p:spPr/>
        <p:txBody>
          <a:bodyPr/>
          <a:lstStyle/>
          <a:p>
            <a:fld id="{C0343C75-1924-D247-85A3-0CB62E67E5D1}" type="slidenum">
              <a:rPr lang="en-US" smtClean="0"/>
              <a:t>41</a:t>
            </a:fld>
            <a:endParaRPr lang="en-US"/>
          </a:p>
        </p:txBody>
      </p:sp>
    </p:spTree>
    <p:extLst>
      <p:ext uri="{BB962C8B-B14F-4D97-AF65-F5344CB8AC3E}">
        <p14:creationId xmlns:p14="http://schemas.microsoft.com/office/powerpoint/2010/main" val="3063760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8EEE-F203-4310-E57C-6FEB3BF099B4}"/>
              </a:ext>
            </a:extLst>
          </p:cNvPr>
          <p:cNvSpPr>
            <a:spLocks noGrp="1"/>
          </p:cNvSpPr>
          <p:nvPr>
            <p:ph type="title"/>
          </p:nvPr>
        </p:nvSpPr>
        <p:spPr/>
        <p:txBody>
          <a:bodyPr/>
          <a:lstStyle/>
          <a:p>
            <a:r>
              <a:rPr lang="en-US" dirty="0"/>
              <a:t>Assignment #2 – Background</a:t>
            </a:r>
          </a:p>
        </p:txBody>
      </p:sp>
      <p:sp>
        <p:nvSpPr>
          <p:cNvPr id="3" name="Content Placeholder 2">
            <a:extLst>
              <a:ext uri="{FF2B5EF4-FFF2-40B4-BE49-F238E27FC236}">
                <a16:creationId xmlns:a16="http://schemas.microsoft.com/office/drawing/2014/main" id="{D4C8FBC2-A87C-913A-C9C5-60353E02F0B2}"/>
              </a:ext>
            </a:extLst>
          </p:cNvPr>
          <p:cNvSpPr>
            <a:spLocks noGrp="1"/>
          </p:cNvSpPr>
          <p:nvPr>
            <p:ph idx="1"/>
          </p:nvPr>
        </p:nvSpPr>
        <p:spPr/>
        <p:txBody>
          <a:bodyPr>
            <a:noAutofit/>
          </a:bodyPr>
          <a:lstStyle/>
          <a:p>
            <a:pPr>
              <a:spcBef>
                <a:spcPts val="0"/>
              </a:spcBef>
            </a:pPr>
            <a:r>
              <a:rPr lang="en-US" sz="1800" u="sng" dirty="0"/>
              <a:t>Land parcels</a:t>
            </a:r>
            <a:r>
              <a:rPr lang="en-US" sz="1800" dirty="0"/>
              <a:t> are boundaries that have associated information such as property owner, land use, value, and location attributes</a:t>
            </a:r>
          </a:p>
          <a:p>
            <a:r>
              <a:rPr lang="en-US" sz="1800" u="sng" dirty="0"/>
              <a:t>Improvement value</a:t>
            </a:r>
            <a:r>
              <a:rPr lang="en-US" sz="1800" dirty="0"/>
              <a:t> refers to the assessed monetary value attributed not to the land itself but to the physical improvements on the land (typically buildings and other structures). In the context of property assessment, this is often used as a proxy for the built environment's contribution to total property worth (e.g., houses, garages, renovations).</a:t>
            </a:r>
            <a:endParaRPr lang="en-US" sz="1800" b="1" dirty="0"/>
          </a:p>
        </p:txBody>
      </p:sp>
      <p:sp>
        <p:nvSpPr>
          <p:cNvPr id="4" name="Slide Number Placeholder 3">
            <a:extLst>
              <a:ext uri="{FF2B5EF4-FFF2-40B4-BE49-F238E27FC236}">
                <a16:creationId xmlns:a16="http://schemas.microsoft.com/office/drawing/2014/main" id="{EA3645AC-50AD-D9AB-61AC-47D853F2143A}"/>
              </a:ext>
            </a:extLst>
          </p:cNvPr>
          <p:cNvSpPr>
            <a:spLocks noGrp="1"/>
          </p:cNvSpPr>
          <p:nvPr>
            <p:ph type="sldNum" sz="quarter" idx="12"/>
          </p:nvPr>
        </p:nvSpPr>
        <p:spPr/>
        <p:txBody>
          <a:bodyPr/>
          <a:lstStyle/>
          <a:p>
            <a:fld id="{C0343C75-1924-D247-85A3-0CB62E67E5D1}" type="slidenum">
              <a:rPr lang="en-US" smtClean="0"/>
              <a:t>42</a:t>
            </a:fld>
            <a:endParaRPr lang="en-US"/>
          </a:p>
        </p:txBody>
      </p:sp>
      <p:pic>
        <p:nvPicPr>
          <p:cNvPr id="5" name="Picture 4">
            <a:extLst>
              <a:ext uri="{FF2B5EF4-FFF2-40B4-BE49-F238E27FC236}">
                <a16:creationId xmlns:a16="http://schemas.microsoft.com/office/drawing/2014/main" id="{22ABB1D9-9EB1-033B-1675-8E53F681837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1501" y="4256787"/>
            <a:ext cx="8001000" cy="2059516"/>
          </a:xfrm>
          <a:prstGeom prst="rect">
            <a:avLst/>
          </a:prstGeom>
        </p:spPr>
      </p:pic>
      <p:sp>
        <p:nvSpPr>
          <p:cNvPr id="7" name="TextBox 6">
            <a:extLst>
              <a:ext uri="{FF2B5EF4-FFF2-40B4-BE49-F238E27FC236}">
                <a16:creationId xmlns:a16="http://schemas.microsoft.com/office/drawing/2014/main" id="{195A0CC1-04C6-1FEC-6249-5DDA23089EC5}"/>
              </a:ext>
            </a:extLst>
          </p:cNvPr>
          <p:cNvSpPr txBox="1"/>
          <p:nvPr/>
        </p:nvSpPr>
        <p:spPr>
          <a:xfrm>
            <a:off x="571500" y="4198662"/>
            <a:ext cx="4000500" cy="2117641"/>
          </a:xfrm>
          <a:prstGeom prst="rect">
            <a:avLst/>
          </a:prstGeom>
          <a:solidFill>
            <a:schemeClr val="accent2">
              <a:lumMod val="20000"/>
              <a:lumOff val="80000"/>
              <a:alpha val="44800"/>
            </a:schemeClr>
          </a:solidFill>
        </p:spPr>
        <p:txBody>
          <a:bodyPr wrap="square" tIns="45720" bIns="45720">
            <a:noAutofit/>
          </a:bodyPr>
          <a:lstStyle/>
          <a:p>
            <a:pPr marL="0" indent="0">
              <a:buNone/>
            </a:pPr>
            <a:r>
              <a:rPr lang="en-US" sz="1800" b="1" dirty="0"/>
              <a:t>Follows</a:t>
            </a:r>
          </a:p>
          <a:p>
            <a:pPr marL="296863" indent="-296863">
              <a:spcBef>
                <a:spcPts val="0"/>
              </a:spcBef>
              <a:buFont typeface="+mj-lt"/>
              <a:buAutoNum type="arabicPeriod"/>
            </a:pPr>
            <a:r>
              <a:rPr lang="en-US" sz="1800" dirty="0"/>
              <a:t>Data Acquisition</a:t>
            </a:r>
          </a:p>
          <a:p>
            <a:pPr marL="296863" indent="-296863">
              <a:spcBef>
                <a:spcPts val="0"/>
              </a:spcBef>
              <a:buFont typeface="+mj-lt"/>
              <a:buAutoNum type="arabicPeriod"/>
            </a:pPr>
            <a:r>
              <a:rPr lang="en-US" sz="1800" dirty="0"/>
              <a:t>Data Preparation</a:t>
            </a:r>
          </a:p>
          <a:p>
            <a:pPr marL="296863" indent="-296863">
              <a:spcBef>
                <a:spcPts val="0"/>
              </a:spcBef>
              <a:buFont typeface="+mj-lt"/>
              <a:buAutoNum type="arabicPeriod"/>
            </a:pPr>
            <a:r>
              <a:rPr lang="en-US" sz="1800" dirty="0"/>
              <a:t>Aggregation and Analysis</a:t>
            </a:r>
          </a:p>
          <a:p>
            <a:pPr marL="296863" indent="-296863">
              <a:spcBef>
                <a:spcPts val="0"/>
              </a:spcBef>
              <a:buFont typeface="+mj-lt"/>
              <a:buAutoNum type="arabicPeriod"/>
            </a:pPr>
            <a:r>
              <a:rPr lang="en-US" sz="1800" dirty="0"/>
              <a:t>Integrate Census Data</a:t>
            </a:r>
          </a:p>
          <a:p>
            <a:pPr marL="296863" indent="-296863">
              <a:spcBef>
                <a:spcPts val="0"/>
              </a:spcBef>
              <a:buFont typeface="+mj-lt"/>
              <a:buAutoNum type="arabicPeriod"/>
            </a:pPr>
            <a:r>
              <a:rPr lang="en-US" sz="1800" dirty="0"/>
              <a:t>Visualizations</a:t>
            </a:r>
          </a:p>
          <a:p>
            <a:pPr marL="296863" indent="-296863">
              <a:spcBef>
                <a:spcPts val="0"/>
              </a:spcBef>
              <a:buFont typeface="+mj-lt"/>
              <a:buAutoNum type="arabicPeriod"/>
            </a:pPr>
            <a:r>
              <a:rPr lang="en-US" sz="1800" dirty="0"/>
              <a:t>Documentation and Reporting</a:t>
            </a:r>
          </a:p>
        </p:txBody>
      </p:sp>
    </p:spTree>
    <p:extLst>
      <p:ext uri="{BB962C8B-B14F-4D97-AF65-F5344CB8AC3E}">
        <p14:creationId xmlns:p14="http://schemas.microsoft.com/office/powerpoint/2010/main" val="2541146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A382597-0A16-E66E-C531-5897A8606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B4887-7DA5-679F-9358-7432B6E534D3}"/>
              </a:ext>
            </a:extLst>
          </p:cNvPr>
          <p:cNvSpPr>
            <a:spLocks noGrp="1"/>
          </p:cNvSpPr>
          <p:nvPr>
            <p:ph type="title"/>
          </p:nvPr>
        </p:nvSpPr>
        <p:spPr/>
        <p:txBody>
          <a:bodyPr/>
          <a:lstStyle/>
          <a:p>
            <a:r>
              <a:rPr lang="en-US" dirty="0"/>
              <a:t>Assignment #2 – Part 1</a:t>
            </a:r>
          </a:p>
        </p:txBody>
      </p:sp>
      <p:sp>
        <p:nvSpPr>
          <p:cNvPr id="3" name="Content Placeholder 2">
            <a:extLst>
              <a:ext uri="{FF2B5EF4-FFF2-40B4-BE49-F238E27FC236}">
                <a16:creationId xmlns:a16="http://schemas.microsoft.com/office/drawing/2014/main" id="{694A67B5-2780-B5CE-49FF-CEA3A00E670E}"/>
              </a:ext>
            </a:extLst>
          </p:cNvPr>
          <p:cNvSpPr>
            <a:spLocks noGrp="1"/>
          </p:cNvSpPr>
          <p:nvPr>
            <p:ph idx="1"/>
          </p:nvPr>
        </p:nvSpPr>
        <p:spPr/>
        <p:txBody>
          <a:bodyPr>
            <a:noAutofit/>
          </a:bodyPr>
          <a:lstStyle/>
          <a:p>
            <a:pPr marL="0" indent="0">
              <a:buNone/>
            </a:pPr>
            <a:r>
              <a:rPr lang="en-US" sz="2000" i="1" dirty="0"/>
              <a:t>1. Data Acquisition </a:t>
            </a:r>
          </a:p>
          <a:p>
            <a:pPr marL="0" indent="0">
              <a:buNone/>
            </a:pPr>
            <a:r>
              <a:rPr lang="en-US" sz="2000" b="1" dirty="0"/>
              <a:t>Parcel Data</a:t>
            </a:r>
          </a:p>
          <a:p>
            <a:r>
              <a:rPr lang="en-US" sz="2000" dirty="0"/>
              <a:t>Visit the Texas Natural Resources Information System (TNRIS) portal </a:t>
            </a:r>
            <a:r>
              <a:rPr lang="en-US" sz="2000" dirty="0">
                <a:hlinkClick r:id="rId2"/>
              </a:rPr>
              <a:t>https://tnris.org/stratmap/land-parcels.html</a:t>
            </a:r>
            <a:endParaRPr lang="en-US" sz="2000" dirty="0"/>
          </a:p>
          <a:p>
            <a:r>
              <a:rPr lang="en-US" sz="2000" dirty="0"/>
              <a:t>Select parcel data for </a:t>
            </a:r>
            <a:r>
              <a:rPr lang="en-US" sz="2000" u="sng" dirty="0"/>
              <a:t>5 neighboring counties of your choice</a:t>
            </a:r>
            <a:endParaRPr lang="en-US" sz="2000" dirty="0"/>
          </a:p>
          <a:p>
            <a:r>
              <a:rPr lang="en-US" sz="2000" dirty="0"/>
              <a:t>Download the 2025 parcel datasets for each county and unzip in a folder (a local folder with raw parcel shapefiles files for the counties)</a:t>
            </a:r>
          </a:p>
        </p:txBody>
      </p:sp>
      <p:sp>
        <p:nvSpPr>
          <p:cNvPr id="4" name="Slide Number Placeholder 3">
            <a:extLst>
              <a:ext uri="{FF2B5EF4-FFF2-40B4-BE49-F238E27FC236}">
                <a16:creationId xmlns:a16="http://schemas.microsoft.com/office/drawing/2014/main" id="{2896EDBD-1955-D9F0-984C-FE9822B4E8D0}"/>
              </a:ext>
            </a:extLst>
          </p:cNvPr>
          <p:cNvSpPr>
            <a:spLocks noGrp="1"/>
          </p:cNvSpPr>
          <p:nvPr>
            <p:ph type="sldNum" sz="quarter" idx="12"/>
          </p:nvPr>
        </p:nvSpPr>
        <p:spPr/>
        <p:txBody>
          <a:bodyPr/>
          <a:lstStyle/>
          <a:p>
            <a:fld id="{C0343C75-1924-D247-85A3-0CB62E67E5D1}" type="slidenum">
              <a:rPr lang="en-US" smtClean="0"/>
              <a:t>43</a:t>
            </a:fld>
            <a:endParaRPr lang="en-US"/>
          </a:p>
        </p:txBody>
      </p:sp>
    </p:spTree>
    <p:extLst>
      <p:ext uri="{BB962C8B-B14F-4D97-AF65-F5344CB8AC3E}">
        <p14:creationId xmlns:p14="http://schemas.microsoft.com/office/powerpoint/2010/main" val="2722903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73B5732-00AE-208F-41D6-BA27EAF3F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96BC9-1624-6F9E-560E-2E93662AF191}"/>
              </a:ext>
            </a:extLst>
          </p:cNvPr>
          <p:cNvSpPr>
            <a:spLocks noGrp="1"/>
          </p:cNvSpPr>
          <p:nvPr>
            <p:ph type="title"/>
          </p:nvPr>
        </p:nvSpPr>
        <p:spPr/>
        <p:txBody>
          <a:bodyPr/>
          <a:lstStyle/>
          <a:p>
            <a:r>
              <a:rPr lang="en-US" dirty="0"/>
              <a:t>Assignment #2 – Part 2</a:t>
            </a:r>
          </a:p>
        </p:txBody>
      </p:sp>
      <p:sp>
        <p:nvSpPr>
          <p:cNvPr id="3" name="Content Placeholder 2">
            <a:extLst>
              <a:ext uri="{FF2B5EF4-FFF2-40B4-BE49-F238E27FC236}">
                <a16:creationId xmlns:a16="http://schemas.microsoft.com/office/drawing/2014/main" id="{FBC040C0-6C80-F766-81ED-FCF4B6C6AF35}"/>
              </a:ext>
            </a:extLst>
          </p:cNvPr>
          <p:cNvSpPr>
            <a:spLocks noGrp="1"/>
          </p:cNvSpPr>
          <p:nvPr>
            <p:ph idx="1"/>
          </p:nvPr>
        </p:nvSpPr>
        <p:spPr>
          <a:xfrm>
            <a:off x="457199" y="1600517"/>
            <a:ext cx="8313821" cy="4572000"/>
          </a:xfrm>
        </p:spPr>
        <p:txBody>
          <a:bodyPr>
            <a:noAutofit/>
          </a:bodyPr>
          <a:lstStyle/>
          <a:p>
            <a:pPr marL="0" indent="0">
              <a:buNone/>
            </a:pPr>
            <a:r>
              <a:rPr lang="en-US" sz="2000" i="1" dirty="0"/>
              <a:t>2. Data Preparation</a:t>
            </a:r>
          </a:p>
          <a:p>
            <a:pPr marL="0" indent="0">
              <a:buNone/>
            </a:pPr>
            <a:r>
              <a:rPr lang="en-US" sz="2000" b="1" dirty="0"/>
              <a:t>Using R (with </a:t>
            </a:r>
            <a:r>
              <a:rPr lang="en-US" sz="2000" dirty="0">
                <a:latin typeface="OSAKA-MONO" panose="020B0600000000000000" pitchFamily="34" charset="-128"/>
                <a:ea typeface="OSAKA-MONO" panose="020B0600000000000000" pitchFamily="34" charset="-128"/>
              </a:rPr>
              <a:t>sf</a:t>
            </a:r>
            <a:r>
              <a:rPr lang="en-US" sz="2000" b="1" dirty="0"/>
              <a:t>, </a:t>
            </a:r>
            <a:r>
              <a:rPr lang="en-US" sz="2000" dirty="0" err="1">
                <a:latin typeface="OSAKA-MONO" panose="020B0600000000000000" pitchFamily="34" charset="-128"/>
                <a:ea typeface="OSAKA-MONO" panose="020B0600000000000000" pitchFamily="34" charset="-128"/>
              </a:rPr>
              <a:t>dplyr</a:t>
            </a:r>
            <a:r>
              <a:rPr lang="en-US" sz="2000" b="1" dirty="0"/>
              <a:t>, and </a:t>
            </a:r>
            <a:r>
              <a:rPr lang="en-US" sz="2000" dirty="0" err="1">
                <a:latin typeface="OSAKA-MONO" panose="020B0600000000000000" pitchFamily="34" charset="-128"/>
                <a:ea typeface="OSAKA-MONO" panose="020B0600000000000000" pitchFamily="34" charset="-128"/>
              </a:rPr>
              <a:t>tidyr</a:t>
            </a:r>
            <a:r>
              <a:rPr lang="en-US" sz="2000" b="1" dirty="0"/>
              <a:t>)</a:t>
            </a:r>
          </a:p>
          <a:p>
            <a:pPr>
              <a:buFont typeface="+mj-lt"/>
              <a:buAutoNum type="alphaLcPeriod"/>
            </a:pPr>
            <a:r>
              <a:rPr lang="en-US" sz="2000" dirty="0"/>
              <a:t>Read the parcel files, standardize and inspect</a:t>
            </a:r>
          </a:p>
          <a:p>
            <a:pPr lvl="1"/>
            <a:r>
              <a:rPr lang="en-US" dirty="0"/>
              <a:t>Combine all counties into a single sf object</a:t>
            </a:r>
          </a:p>
          <a:p>
            <a:pPr lvl="1"/>
            <a:r>
              <a:rPr lang="en-US" dirty="0"/>
              <a:t>If needed, ensure projections</a:t>
            </a:r>
            <a:r>
              <a:rPr lang="en-US" baseline="30000" dirty="0"/>
              <a:t>(and fields)</a:t>
            </a:r>
            <a:r>
              <a:rPr lang="en-US" dirty="0"/>
              <a:t> are consistent across counties</a:t>
            </a:r>
          </a:p>
          <a:p>
            <a:pPr lvl="1"/>
            <a:r>
              <a:rPr lang="en-US" dirty="0"/>
              <a:t>Inspect </a:t>
            </a:r>
            <a:r>
              <a:rPr lang="en-US" dirty="0">
                <a:latin typeface="OSAKA-MONO" panose="020B0600000000000000" pitchFamily="34" charset="-128"/>
                <a:ea typeface="OSAKA-MONO" panose="020B0600000000000000" pitchFamily="34" charset="-128"/>
              </a:rPr>
              <a:t>STAT_LAND_</a:t>
            </a:r>
            <a:r>
              <a:rPr lang="en-US" dirty="0"/>
              <a:t> and </a:t>
            </a:r>
            <a:r>
              <a:rPr lang="en-US" dirty="0">
                <a:latin typeface="OSAKA-MONO" panose="020B0600000000000000" pitchFamily="34" charset="-128"/>
                <a:ea typeface="OSAKA-MONO" panose="020B0600000000000000" pitchFamily="34" charset="-128"/>
              </a:rPr>
              <a:t>IMP_VALUE</a:t>
            </a:r>
          </a:p>
          <a:p>
            <a:pPr marL="238125" indent="-238125">
              <a:buFont typeface="+mj-lt"/>
              <a:buAutoNum type="alphaLcPeriod"/>
            </a:pPr>
            <a:r>
              <a:rPr lang="en-US" sz="2000" dirty="0"/>
              <a:t>Filter for single-family houses</a:t>
            </a:r>
          </a:p>
          <a:p>
            <a:pPr lvl="1"/>
            <a:r>
              <a:rPr lang="en-US" dirty="0"/>
              <a:t>Define single family residential by the parcel state code:</a:t>
            </a:r>
            <a:br>
              <a:rPr lang="en-US" dirty="0"/>
            </a:br>
            <a:r>
              <a:rPr lang="en-US" dirty="0">
                <a:latin typeface="OSAKA-MONO" panose="020B0600000000000000" pitchFamily="34" charset="-128"/>
                <a:ea typeface="OSAKA-MONO" panose="020B0600000000000000" pitchFamily="34" charset="-128"/>
              </a:rPr>
              <a:t>STAT_LAND_ == "A"</a:t>
            </a:r>
          </a:p>
        </p:txBody>
      </p:sp>
      <p:sp>
        <p:nvSpPr>
          <p:cNvPr id="4" name="Slide Number Placeholder 3">
            <a:extLst>
              <a:ext uri="{FF2B5EF4-FFF2-40B4-BE49-F238E27FC236}">
                <a16:creationId xmlns:a16="http://schemas.microsoft.com/office/drawing/2014/main" id="{83EBED66-269A-D9D9-3E30-A76BC30A1C10}"/>
              </a:ext>
            </a:extLst>
          </p:cNvPr>
          <p:cNvSpPr>
            <a:spLocks noGrp="1"/>
          </p:cNvSpPr>
          <p:nvPr>
            <p:ph type="sldNum" sz="quarter" idx="12"/>
          </p:nvPr>
        </p:nvSpPr>
        <p:spPr/>
        <p:txBody>
          <a:bodyPr/>
          <a:lstStyle/>
          <a:p>
            <a:fld id="{C0343C75-1924-D247-85A3-0CB62E67E5D1}" type="slidenum">
              <a:rPr lang="en-US" smtClean="0"/>
              <a:t>44</a:t>
            </a:fld>
            <a:endParaRPr lang="en-US"/>
          </a:p>
        </p:txBody>
      </p:sp>
    </p:spTree>
    <p:extLst>
      <p:ext uri="{BB962C8B-B14F-4D97-AF65-F5344CB8AC3E}">
        <p14:creationId xmlns:p14="http://schemas.microsoft.com/office/powerpoint/2010/main" val="956884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CAA9AB4-020D-5DE7-5263-816DCB8BD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ECCB6-3F87-3D21-B765-1B6A5EA3335B}"/>
              </a:ext>
            </a:extLst>
          </p:cNvPr>
          <p:cNvSpPr>
            <a:spLocks noGrp="1"/>
          </p:cNvSpPr>
          <p:nvPr>
            <p:ph type="title"/>
          </p:nvPr>
        </p:nvSpPr>
        <p:spPr/>
        <p:txBody>
          <a:bodyPr/>
          <a:lstStyle/>
          <a:p>
            <a:r>
              <a:rPr lang="en-US" dirty="0"/>
              <a:t>Assignment #2 – Hints 1</a:t>
            </a:r>
          </a:p>
        </p:txBody>
      </p:sp>
      <p:sp>
        <p:nvSpPr>
          <p:cNvPr id="3" name="Content Placeholder 2">
            <a:extLst>
              <a:ext uri="{FF2B5EF4-FFF2-40B4-BE49-F238E27FC236}">
                <a16:creationId xmlns:a16="http://schemas.microsoft.com/office/drawing/2014/main" id="{EA2DB9BD-2572-1B12-FE35-F048CB4565A0}"/>
              </a:ext>
            </a:extLst>
          </p:cNvPr>
          <p:cNvSpPr>
            <a:spLocks noGrp="1"/>
          </p:cNvSpPr>
          <p:nvPr>
            <p:ph idx="1"/>
          </p:nvPr>
        </p:nvSpPr>
        <p:spPr/>
        <p:txBody>
          <a:bodyPr>
            <a:noAutofit/>
          </a:bodyPr>
          <a:lstStyle/>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library(sf)</a:t>
            </a: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 &lt;- 4326  # WGS84, change as needed/appropriated</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 &lt;- </a:t>
            </a:r>
            <a:r>
              <a:rPr lang="en-US" sz="1100" dirty="0" err="1">
                <a:solidFill>
                  <a:srgbClr val="0070C0"/>
                </a:solidFill>
                <a:latin typeface="OSAKA-MONO" panose="020B0600000000000000" pitchFamily="34" charset="-128"/>
                <a:ea typeface="OSAKA-MONO" panose="020B0600000000000000" pitchFamily="34" charset="-128"/>
              </a:rPr>
              <a:t>list.files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path = "/Users/</a:t>
            </a:r>
            <a:r>
              <a:rPr lang="en-US" sz="1100" dirty="0" err="1">
                <a:solidFill>
                  <a:srgbClr val="0070C0"/>
                </a:solidFill>
                <a:latin typeface="OSAKA-MONO" panose="020B0600000000000000" pitchFamily="34" charset="-128"/>
                <a:ea typeface="OSAKA-MONO" panose="020B0600000000000000" pitchFamily="34" charset="-128"/>
              </a:rPr>
              <a:t>abuabara</a:t>
            </a:r>
            <a:r>
              <a:rPr lang="en-US" sz="1100" dirty="0">
                <a:solidFill>
                  <a:srgbClr val="0070C0"/>
                </a:solidFill>
                <a:latin typeface="OSAKA-MONO" panose="020B0600000000000000" pitchFamily="34" charset="-128"/>
                <a:ea typeface="OSAKA-MONO" panose="020B0600000000000000" pitchFamily="34" charset="-128"/>
              </a:rPr>
              <a:t>/Downloads/DAEN489_data/parcels",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pattern = "\\.</a:t>
            </a:r>
            <a:r>
              <a:rPr lang="en-US" sz="1100" dirty="0" err="1">
                <a:solidFill>
                  <a:srgbClr val="0070C0"/>
                </a:solidFill>
                <a:latin typeface="OSAKA-MONO" panose="020B0600000000000000" pitchFamily="34" charset="-128"/>
                <a:ea typeface="OSAKA-MONO" panose="020B0600000000000000" pitchFamily="34" charset="-128"/>
              </a:rPr>
              <a:t>shp</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full.names</a:t>
            </a:r>
            <a:r>
              <a:rPr lang="en-US" sz="11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recursive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parcels_all</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do.call</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rbind</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lapply</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function(f)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st_read</a:t>
            </a:r>
            <a:r>
              <a:rPr lang="en-US" sz="1100" dirty="0">
                <a:solidFill>
                  <a:srgbClr val="0070C0"/>
                </a:solidFill>
                <a:latin typeface="OSAKA-MONO" panose="020B0600000000000000" pitchFamily="34" charset="-128"/>
                <a:ea typeface="OSAKA-MONO" panose="020B0600000000000000" pitchFamily="34" charset="-128"/>
              </a:rPr>
              <a:t>(f, quiet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if (</a:t>
            </a:r>
            <a:r>
              <a:rPr lang="en-US" sz="1100" dirty="0" err="1">
                <a:solidFill>
                  <a:srgbClr val="0070C0"/>
                </a:solidFill>
                <a:latin typeface="OSAKA-MONO" panose="020B0600000000000000" pitchFamily="34" charset="-128"/>
                <a:ea typeface="OSAKA-MONO" panose="020B0600000000000000" pitchFamily="34" charset="-128"/>
              </a:rPr>
              <a:t>is.na</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&lt;- </a:t>
            </a:r>
            <a:r>
              <a:rPr lang="en-US" sz="1100" dirty="0" err="1">
                <a:solidFill>
                  <a:srgbClr val="0070C0"/>
                </a:solidFill>
                <a:latin typeface="OSAKA-MONO" panose="020B0600000000000000" pitchFamily="34" charset="-128"/>
                <a:ea typeface="OSAKA-MONO" panose="020B0600000000000000" pitchFamily="34" charset="-128"/>
              </a:rPr>
              <a:t>target_crs</a:t>
            </a: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st_transform</a:t>
            </a:r>
            <a:r>
              <a:rPr lang="en-US" sz="1100" dirty="0">
                <a:solidFill>
                  <a:srgbClr val="0070C0"/>
                </a:solidFill>
                <a:latin typeface="OSAKA-MONO" panose="020B0600000000000000" pitchFamily="34" charset="-128"/>
                <a:ea typeface="OSAKA-MONO" panose="020B0600000000000000" pitchFamily="34" charset="-128"/>
              </a:rPr>
              <a:t>(x, </a:t>
            </a: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x$source_file</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basename</a:t>
            </a:r>
            <a:r>
              <a:rPr lang="en-US" sz="1100" dirty="0">
                <a:solidFill>
                  <a:srgbClr val="0070C0"/>
                </a:solidFill>
                <a:latin typeface="OSAKA-MONO" panose="020B0600000000000000" pitchFamily="34" charset="-128"/>
                <a:ea typeface="OSAKA-MONO" panose="020B0600000000000000" pitchFamily="34" charset="-128"/>
              </a:rPr>
              <a:t>(f)</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parcels_all$STAT_LAND_2 &lt;- </a:t>
            </a:r>
            <a:r>
              <a:rPr lang="en-US" sz="1100" dirty="0" err="1">
                <a:solidFill>
                  <a:srgbClr val="0070C0"/>
                </a:solidFill>
                <a:latin typeface="OSAKA-MONO" panose="020B0600000000000000" pitchFamily="34" charset="-128"/>
                <a:ea typeface="OSAKA-MONO" panose="020B0600000000000000" pitchFamily="34" charset="-128"/>
              </a:rPr>
              <a:t>substr</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parcels_all$STAT_LAND</a:t>
            </a:r>
            <a:r>
              <a:rPr lang="en-US" sz="1100" dirty="0">
                <a:solidFill>
                  <a:srgbClr val="0070C0"/>
                </a:solidFill>
                <a:latin typeface="OSAKA-MONO" panose="020B0600000000000000" pitchFamily="34" charset="-128"/>
                <a:ea typeface="OSAKA-MONO" panose="020B0600000000000000" pitchFamily="34" charset="-128"/>
              </a:rPr>
              <a:t>_, 1, 1)</a:t>
            </a:r>
          </a:p>
        </p:txBody>
      </p:sp>
      <p:sp>
        <p:nvSpPr>
          <p:cNvPr id="4" name="Slide Number Placeholder 3">
            <a:extLst>
              <a:ext uri="{FF2B5EF4-FFF2-40B4-BE49-F238E27FC236}">
                <a16:creationId xmlns:a16="http://schemas.microsoft.com/office/drawing/2014/main" id="{9810EA64-2F9E-0561-CC6B-BEFFEC518F67}"/>
              </a:ext>
            </a:extLst>
          </p:cNvPr>
          <p:cNvSpPr>
            <a:spLocks noGrp="1"/>
          </p:cNvSpPr>
          <p:nvPr>
            <p:ph type="sldNum" sz="quarter" idx="12"/>
          </p:nvPr>
        </p:nvSpPr>
        <p:spPr/>
        <p:txBody>
          <a:bodyPr/>
          <a:lstStyle/>
          <a:p>
            <a:fld id="{C0343C75-1924-D247-85A3-0CB62E67E5D1}" type="slidenum">
              <a:rPr lang="en-US" smtClean="0"/>
              <a:t>45</a:t>
            </a:fld>
            <a:endParaRPr lang="en-US"/>
          </a:p>
        </p:txBody>
      </p:sp>
    </p:spTree>
    <p:extLst>
      <p:ext uri="{BB962C8B-B14F-4D97-AF65-F5344CB8AC3E}">
        <p14:creationId xmlns:p14="http://schemas.microsoft.com/office/powerpoint/2010/main" val="1155885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8A35461-D07E-32CB-D1D8-791F4DF5A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8D5EF-6D6F-BC96-14DF-8DB1788F295D}"/>
              </a:ext>
            </a:extLst>
          </p:cNvPr>
          <p:cNvSpPr>
            <a:spLocks noGrp="1"/>
          </p:cNvSpPr>
          <p:nvPr>
            <p:ph type="title"/>
          </p:nvPr>
        </p:nvSpPr>
        <p:spPr/>
        <p:txBody>
          <a:bodyPr/>
          <a:lstStyle/>
          <a:p>
            <a:r>
              <a:rPr lang="en-US" dirty="0"/>
              <a:t>Assignment #2 – Part 3</a:t>
            </a:r>
          </a:p>
        </p:txBody>
      </p:sp>
      <p:sp>
        <p:nvSpPr>
          <p:cNvPr id="3" name="Content Placeholder 2">
            <a:extLst>
              <a:ext uri="{FF2B5EF4-FFF2-40B4-BE49-F238E27FC236}">
                <a16:creationId xmlns:a16="http://schemas.microsoft.com/office/drawing/2014/main" id="{1CF5AD25-5945-81BD-A794-CEF05FC1A123}"/>
              </a:ext>
            </a:extLst>
          </p:cNvPr>
          <p:cNvSpPr>
            <a:spLocks noGrp="1"/>
          </p:cNvSpPr>
          <p:nvPr>
            <p:ph idx="1"/>
          </p:nvPr>
        </p:nvSpPr>
        <p:spPr/>
        <p:txBody>
          <a:bodyPr>
            <a:noAutofit/>
          </a:bodyPr>
          <a:lstStyle/>
          <a:p>
            <a:pPr marL="0" indent="0">
              <a:buNone/>
            </a:pPr>
            <a:r>
              <a:rPr lang="en-US" sz="2000" i="1" dirty="0"/>
              <a:t>3. Aggregation and Analysis</a:t>
            </a:r>
          </a:p>
          <a:p>
            <a:pPr marL="238125" indent="-238125">
              <a:buFont typeface="+mj-lt"/>
              <a:buAutoNum type="alphaLcPeriod"/>
            </a:pPr>
            <a:r>
              <a:rPr lang="en-US" sz="2000" dirty="0"/>
              <a:t>Aggregate Improvement Value</a:t>
            </a:r>
          </a:p>
          <a:p>
            <a:pPr lvl="1"/>
            <a:r>
              <a:rPr lang="en-US" dirty="0"/>
              <a:t>For each county, calculate:</a:t>
            </a:r>
          </a:p>
          <a:p>
            <a:pPr lvl="2">
              <a:buFont typeface="System Font Regular"/>
              <a:buChar char="–"/>
            </a:pPr>
            <a:r>
              <a:rPr lang="en-US" dirty="0"/>
              <a:t>The total improvement value of single-family parcels</a:t>
            </a:r>
          </a:p>
          <a:p>
            <a:pPr lvl="2">
              <a:buFont typeface="System Font Regular"/>
              <a:buChar char="–"/>
            </a:pPr>
            <a:r>
              <a:rPr lang="en-US" dirty="0"/>
              <a:t>Parcel count</a:t>
            </a:r>
          </a:p>
        </p:txBody>
      </p:sp>
      <p:sp>
        <p:nvSpPr>
          <p:cNvPr id="4" name="Slide Number Placeholder 3">
            <a:extLst>
              <a:ext uri="{FF2B5EF4-FFF2-40B4-BE49-F238E27FC236}">
                <a16:creationId xmlns:a16="http://schemas.microsoft.com/office/drawing/2014/main" id="{12B9A68D-D7CA-EAFA-B1FD-8CBAD62A8A5F}"/>
              </a:ext>
            </a:extLst>
          </p:cNvPr>
          <p:cNvSpPr>
            <a:spLocks noGrp="1"/>
          </p:cNvSpPr>
          <p:nvPr>
            <p:ph type="sldNum" sz="quarter" idx="12"/>
          </p:nvPr>
        </p:nvSpPr>
        <p:spPr/>
        <p:txBody>
          <a:bodyPr/>
          <a:lstStyle/>
          <a:p>
            <a:fld id="{C0343C75-1924-D247-85A3-0CB62E67E5D1}" type="slidenum">
              <a:rPr lang="en-US" smtClean="0"/>
              <a:t>46</a:t>
            </a:fld>
            <a:endParaRPr lang="en-US"/>
          </a:p>
        </p:txBody>
      </p:sp>
    </p:spTree>
    <p:extLst>
      <p:ext uri="{BB962C8B-B14F-4D97-AF65-F5344CB8AC3E}">
        <p14:creationId xmlns:p14="http://schemas.microsoft.com/office/powerpoint/2010/main" val="841056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3B752AF-DB84-E3FB-29D1-A11EE636F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08E1D-9406-2BC8-9FEA-509705347DA1}"/>
              </a:ext>
            </a:extLst>
          </p:cNvPr>
          <p:cNvSpPr>
            <a:spLocks noGrp="1"/>
          </p:cNvSpPr>
          <p:nvPr>
            <p:ph type="title"/>
          </p:nvPr>
        </p:nvSpPr>
        <p:spPr/>
        <p:txBody>
          <a:bodyPr/>
          <a:lstStyle/>
          <a:p>
            <a:r>
              <a:rPr lang="en-US" dirty="0"/>
              <a:t>Assignment #2 – Hints 2</a:t>
            </a:r>
          </a:p>
        </p:txBody>
      </p:sp>
      <p:sp>
        <p:nvSpPr>
          <p:cNvPr id="3" name="Content Placeholder 2">
            <a:extLst>
              <a:ext uri="{FF2B5EF4-FFF2-40B4-BE49-F238E27FC236}">
                <a16:creationId xmlns:a16="http://schemas.microsoft.com/office/drawing/2014/main" id="{A42B7DE9-0B0B-CAF9-D449-FB98C3502ADB}"/>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dplyr</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filter(STAT_LAND_ == "A") %&gt;%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st_set_geometry</a:t>
            </a:r>
            <a:r>
              <a:rPr lang="en-US" sz="1400" dirty="0">
                <a:solidFill>
                  <a:srgbClr val="0070C0"/>
                </a:solidFill>
                <a:highlight>
                  <a:srgbClr val="FFFF00"/>
                </a:highlight>
                <a:latin typeface="OSAKA-MONO" panose="020B0600000000000000" pitchFamily="34" charset="-128"/>
                <a:ea typeface="OSAKA-MONO" panose="020B0600000000000000" pitchFamily="34" charset="-128"/>
              </a:rPr>
              <a:t>(NULL)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group_by</a:t>
            </a:r>
            <a:r>
              <a:rPr lang="en-US" sz="1400" dirty="0">
                <a:solidFill>
                  <a:srgbClr val="0070C0"/>
                </a:solidFill>
                <a:latin typeface="OSAKA-MONO" panose="020B0600000000000000" pitchFamily="34" charset="-128"/>
                <a:ea typeface="OSAKA-MONO" panose="020B0600000000000000" pitchFamily="34" charset="-128"/>
              </a:rPr>
              <a:t>(COUNTY)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summarise</a:t>
            </a:r>
            <a:r>
              <a:rPr lang="en-US" sz="1400" dirty="0">
                <a:solidFill>
                  <a:srgbClr val="0070C0"/>
                </a:solidFill>
                <a:latin typeface="OSAKA-MONO" panose="020B0600000000000000" pitchFamily="34" charset="-128"/>
                <a:ea typeface="OSAKA-MONO" panose="020B0600000000000000" pitchFamily="34" charset="-128"/>
              </a:rPr>
              <a:t>(</a:t>
            </a:r>
            <a:r>
              <a:rPr lang="en-US" sz="1400" dirty="0">
                <a:solidFill>
                  <a:srgbClr val="0070C0"/>
                </a:solidFill>
                <a:highlight>
                  <a:srgbClr val="FFFF00"/>
                </a:highlight>
                <a:latin typeface="OSAKA-MONO" panose="020B0600000000000000" pitchFamily="34" charset="-128"/>
                <a:ea typeface="OSAKA-MONO" panose="020B0600000000000000" pitchFamily="34" charset="-128"/>
              </a:rPr>
              <a:t>GEOID = unique(FIPS)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sum(IMP_VALUE, </a:t>
            </a:r>
            <a:r>
              <a:rPr lang="en-US" sz="1400" dirty="0" err="1">
                <a:solidFill>
                  <a:srgbClr val="0070C0"/>
                </a:solidFill>
                <a:latin typeface="OSAKA-MONO" panose="020B0600000000000000" pitchFamily="34" charset="-128"/>
                <a:ea typeface="OSAKA-MONO" panose="020B0600000000000000" pitchFamily="34" charset="-128"/>
              </a:rPr>
              <a:t>na.rm</a:t>
            </a:r>
            <a:r>
              <a:rPr lang="en-US" sz="14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parcel_count</a:t>
            </a:r>
            <a:r>
              <a:rPr lang="en-US" sz="1400" dirty="0">
                <a:solidFill>
                  <a:srgbClr val="0070C0"/>
                </a:solidFill>
                <a:latin typeface="OSAKA-MONO" panose="020B0600000000000000" pitchFamily="34" charset="-128"/>
                <a:ea typeface="OSAKA-MONO" panose="020B0600000000000000" pitchFamily="34" charset="-128"/>
              </a:rPr>
              <a:t> = n())</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library(</a:t>
            </a:r>
            <a:r>
              <a:rPr lang="en-US" sz="1400" dirty="0" err="1">
                <a:solidFill>
                  <a:srgbClr val="7030A0"/>
                </a:solidFill>
                <a:latin typeface="OSAKA-MONO" panose="020B0600000000000000" pitchFamily="34" charset="-128"/>
                <a:ea typeface="OSAKA-MONO" panose="020B0600000000000000" pitchFamily="34" charset="-128"/>
              </a:rPr>
              <a:t>tidyr</a:t>
            </a:r>
            <a:r>
              <a:rPr lang="en-US" sz="1400" dirty="0">
                <a:solidFill>
                  <a:srgbClr val="7030A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7030A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7030A0"/>
                </a:solidFill>
                <a:latin typeface="OSAKA-MONO" panose="020B0600000000000000" pitchFamily="34" charset="-128"/>
                <a:ea typeface="OSAKA-MONO" panose="020B0600000000000000" pitchFamily="34" charset="-128"/>
              </a:rPr>
              <a:t>parcels_all</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st_drop_geometry</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filter(!</a:t>
            </a:r>
            <a:r>
              <a:rPr lang="en-US" sz="1400" dirty="0" err="1">
                <a:solidFill>
                  <a:srgbClr val="7030A0"/>
                </a:solidFill>
                <a:latin typeface="OSAKA-MONO" panose="020B0600000000000000" pitchFamily="34" charset="-128"/>
                <a:ea typeface="OSAKA-MONO" panose="020B0600000000000000" pitchFamily="34" charset="-128"/>
              </a:rPr>
              <a:t>is.na</a:t>
            </a:r>
            <a:r>
              <a:rPr lang="en-US" sz="1400" dirty="0">
                <a:solidFill>
                  <a:srgbClr val="7030A0"/>
                </a:solidFill>
                <a:latin typeface="OSAKA-MONO" panose="020B0600000000000000" pitchFamily="34" charset="-128"/>
                <a:ea typeface="OSAKA-MONO" panose="020B0600000000000000" pitchFamily="34" charset="-128"/>
              </a:rPr>
              <a:t>(IMP_VALUE) &amp; IMP_VALUE &gt; 0)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group_by</a:t>
            </a:r>
            <a:r>
              <a:rPr lang="en-US" sz="1400" dirty="0">
                <a:solidFill>
                  <a:srgbClr val="7030A0"/>
                </a:solidFill>
                <a:latin typeface="OSAKA-MONO" panose="020B0600000000000000" pitchFamily="34" charset="-128"/>
                <a:ea typeface="OSAKA-MONO" panose="020B0600000000000000" pitchFamily="34" charset="-128"/>
              </a:rPr>
              <a:t>(COUNTY, STAT_LAND_2)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summarise</a:t>
            </a:r>
            <a:r>
              <a:rPr lang="en-US" sz="1400" dirty="0">
                <a:solidFill>
                  <a:srgbClr val="7030A0"/>
                </a:solidFill>
                <a:latin typeface="OSAKA-MONO" panose="020B0600000000000000" pitchFamily="34" charset="-128"/>
                <a:ea typeface="OSAKA-MONO" panose="020B0600000000000000" pitchFamily="34" charset="-128"/>
              </a:rPr>
              <a:t>(n = n(),</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IMP_VALUE = sum(IMP_VALUE, </a:t>
            </a:r>
            <a:r>
              <a:rPr lang="en-US" sz="1400" dirty="0" err="1">
                <a:solidFill>
                  <a:srgbClr val="7030A0"/>
                </a:solidFill>
                <a:latin typeface="OSAKA-MONO" panose="020B0600000000000000" pitchFamily="34" charset="-128"/>
                <a:ea typeface="OSAKA-MONO" panose="020B0600000000000000" pitchFamily="34" charset="-128"/>
              </a:rPr>
              <a:t>na.rm</a:t>
            </a:r>
            <a:r>
              <a:rPr lang="en-US" sz="1400" dirty="0">
                <a:solidFill>
                  <a:srgbClr val="7030A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.groups = 'drop')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arrange(desc(n))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pivot_wider</a:t>
            </a:r>
            <a:r>
              <a:rPr lang="en-US" sz="1400" dirty="0">
                <a:solidFill>
                  <a:srgbClr val="7030A0"/>
                </a:solidFill>
                <a:latin typeface="OSAKA-MONO" panose="020B0600000000000000" pitchFamily="34" charset="-128"/>
                <a:ea typeface="OSAKA-MONO" panose="020B0600000000000000" pitchFamily="34" charset="-128"/>
              </a:rPr>
              <a:t>(</a:t>
            </a:r>
            <a:r>
              <a:rPr lang="en-US" sz="1400" dirty="0" err="1">
                <a:solidFill>
                  <a:srgbClr val="7030A0"/>
                </a:solidFill>
                <a:latin typeface="OSAKA-MONO" panose="020B0600000000000000" pitchFamily="34" charset="-128"/>
                <a:ea typeface="OSAKA-MONO" panose="020B0600000000000000" pitchFamily="34" charset="-128"/>
              </a:rPr>
              <a:t>names_from</a:t>
            </a:r>
            <a:r>
              <a:rPr lang="en-US" sz="1400" dirty="0">
                <a:solidFill>
                  <a:srgbClr val="7030A0"/>
                </a:solidFill>
                <a:latin typeface="OSAKA-MONO" panose="020B0600000000000000" pitchFamily="34" charset="-128"/>
                <a:ea typeface="OSAKA-MONO" panose="020B0600000000000000" pitchFamily="34" charset="-128"/>
              </a:rPr>
              <a:t> = STAT_LAND_2,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values_from</a:t>
            </a:r>
            <a:r>
              <a:rPr lang="en-US" sz="1400" dirty="0">
                <a:solidFill>
                  <a:srgbClr val="7030A0"/>
                </a:solidFill>
                <a:latin typeface="OSAKA-MONO" panose="020B0600000000000000" pitchFamily="34" charset="-128"/>
                <a:ea typeface="OSAKA-MONO" panose="020B0600000000000000" pitchFamily="34" charset="-128"/>
              </a:rPr>
              <a:t> = n,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values_fill</a:t>
            </a:r>
            <a:r>
              <a:rPr lang="en-US" sz="1400" dirty="0">
                <a:solidFill>
                  <a:srgbClr val="7030A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FA335EED-FECC-6F81-45B1-D47123B6A177}"/>
              </a:ext>
            </a:extLst>
          </p:cNvPr>
          <p:cNvSpPr>
            <a:spLocks noGrp="1"/>
          </p:cNvSpPr>
          <p:nvPr>
            <p:ph type="sldNum" sz="quarter" idx="12"/>
          </p:nvPr>
        </p:nvSpPr>
        <p:spPr/>
        <p:txBody>
          <a:bodyPr/>
          <a:lstStyle/>
          <a:p>
            <a:fld id="{C0343C75-1924-D247-85A3-0CB62E67E5D1}" type="slidenum">
              <a:rPr lang="en-US" smtClean="0"/>
              <a:t>47</a:t>
            </a:fld>
            <a:endParaRPr lang="en-US"/>
          </a:p>
        </p:txBody>
      </p:sp>
    </p:spTree>
    <p:extLst>
      <p:ext uri="{BB962C8B-B14F-4D97-AF65-F5344CB8AC3E}">
        <p14:creationId xmlns:p14="http://schemas.microsoft.com/office/powerpoint/2010/main" val="2153429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B5079A5-6577-1E12-76D2-D6EA7CE49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FB9F2-1701-F9E8-2420-4EA5F5E73AEF}"/>
              </a:ext>
            </a:extLst>
          </p:cNvPr>
          <p:cNvSpPr>
            <a:spLocks noGrp="1"/>
          </p:cNvSpPr>
          <p:nvPr>
            <p:ph type="title"/>
          </p:nvPr>
        </p:nvSpPr>
        <p:spPr/>
        <p:txBody>
          <a:bodyPr/>
          <a:lstStyle/>
          <a:p>
            <a:r>
              <a:rPr lang="en-US" dirty="0"/>
              <a:t>Assignment #2 – Part 4</a:t>
            </a:r>
          </a:p>
        </p:txBody>
      </p:sp>
      <p:sp>
        <p:nvSpPr>
          <p:cNvPr id="3" name="Content Placeholder 2">
            <a:extLst>
              <a:ext uri="{FF2B5EF4-FFF2-40B4-BE49-F238E27FC236}">
                <a16:creationId xmlns:a16="http://schemas.microsoft.com/office/drawing/2014/main" id="{00237399-5A63-C335-C206-13CE348D83AF}"/>
              </a:ext>
            </a:extLst>
          </p:cNvPr>
          <p:cNvSpPr>
            <a:spLocks noGrp="1"/>
          </p:cNvSpPr>
          <p:nvPr>
            <p:ph idx="1"/>
          </p:nvPr>
        </p:nvSpPr>
        <p:spPr/>
        <p:txBody>
          <a:bodyPr>
            <a:noAutofit/>
          </a:bodyPr>
          <a:lstStyle/>
          <a:p>
            <a:pPr marL="0" indent="0">
              <a:buNone/>
            </a:pPr>
            <a:r>
              <a:rPr lang="en-US" sz="1800" i="1" dirty="0"/>
              <a:t>4. Integrate Census Data</a:t>
            </a:r>
          </a:p>
          <a:p>
            <a:pPr marL="234950" indent="-234950">
              <a:buFont typeface="+mj-lt"/>
              <a:buAutoNum type="alphaLcPeriod"/>
            </a:pPr>
            <a:r>
              <a:rPr lang="en-US" sz="1800" dirty="0"/>
              <a:t>Acquire Census TIGER/Line Data</a:t>
            </a:r>
          </a:p>
          <a:p>
            <a:pPr lvl="1"/>
            <a:r>
              <a:rPr lang="en-US" sz="1800" dirty="0"/>
              <a:t>Use the </a:t>
            </a:r>
            <a:r>
              <a:rPr lang="en-US" sz="1800" dirty="0" err="1">
                <a:latin typeface="OSAKA-MONO" panose="020B0600000000000000" pitchFamily="34" charset="-128"/>
                <a:ea typeface="OSAKA-MONO" panose="020B0600000000000000" pitchFamily="34" charset="-128"/>
              </a:rPr>
              <a:t>tidycensus</a:t>
            </a:r>
            <a:r>
              <a:rPr lang="en-US" sz="1800" dirty="0"/>
              <a:t> packages to download:</a:t>
            </a:r>
          </a:p>
          <a:p>
            <a:pPr lvl="1"/>
            <a:r>
              <a:rPr lang="en-US" sz="1800" dirty="0"/>
              <a:t>County boundaries</a:t>
            </a:r>
          </a:p>
          <a:p>
            <a:pPr lvl="1"/>
            <a:r>
              <a:rPr lang="en-US" sz="1800" dirty="0"/>
              <a:t>Population estimates (e.g., ACS 5‑year estimate for total population)</a:t>
            </a:r>
          </a:p>
          <a:p>
            <a:pPr marL="234950" indent="-234950">
              <a:buFont typeface="+mj-lt"/>
              <a:buAutoNum type="alphaLcPeriod"/>
            </a:pPr>
            <a:r>
              <a:rPr lang="en-US" sz="1800" dirty="0"/>
              <a:t>Merge with Parcel Aggregates</a:t>
            </a:r>
          </a:p>
          <a:p>
            <a:pPr lvl="1"/>
            <a:r>
              <a:rPr lang="en-US" sz="1800" dirty="0"/>
              <a:t>Join population data by county GEOID or name</a:t>
            </a:r>
          </a:p>
          <a:p>
            <a:pPr marL="234950" indent="-234950">
              <a:buFont typeface="+mj-lt"/>
              <a:buAutoNum type="alphaLcPeriod"/>
            </a:pPr>
            <a:r>
              <a:rPr lang="en-US" sz="1800" dirty="0"/>
              <a:t>Compute Per Capita Metrics</a:t>
            </a:r>
          </a:p>
          <a:p>
            <a:pPr lvl="1"/>
            <a:r>
              <a:rPr lang="en-US" sz="1800" dirty="0"/>
              <a:t>Average improvement value per capita</a:t>
            </a:r>
          </a:p>
          <a:p>
            <a:pPr lvl="1"/>
            <a:r>
              <a:rPr lang="en-US" sz="1800" dirty="0"/>
              <a:t>Average population per single-family parcel</a:t>
            </a:r>
          </a:p>
        </p:txBody>
      </p:sp>
      <p:sp>
        <p:nvSpPr>
          <p:cNvPr id="4" name="Slide Number Placeholder 3">
            <a:extLst>
              <a:ext uri="{FF2B5EF4-FFF2-40B4-BE49-F238E27FC236}">
                <a16:creationId xmlns:a16="http://schemas.microsoft.com/office/drawing/2014/main" id="{7D1A0FB8-0E14-BB73-A799-E4E65BB76B4F}"/>
              </a:ext>
            </a:extLst>
          </p:cNvPr>
          <p:cNvSpPr>
            <a:spLocks noGrp="1"/>
          </p:cNvSpPr>
          <p:nvPr>
            <p:ph type="sldNum" sz="quarter" idx="12"/>
          </p:nvPr>
        </p:nvSpPr>
        <p:spPr/>
        <p:txBody>
          <a:bodyPr/>
          <a:lstStyle/>
          <a:p>
            <a:fld id="{C0343C75-1924-D247-85A3-0CB62E67E5D1}" type="slidenum">
              <a:rPr lang="en-US" smtClean="0"/>
              <a:t>48</a:t>
            </a:fld>
            <a:endParaRPr lang="en-US"/>
          </a:p>
        </p:txBody>
      </p:sp>
    </p:spTree>
    <p:extLst>
      <p:ext uri="{BB962C8B-B14F-4D97-AF65-F5344CB8AC3E}">
        <p14:creationId xmlns:p14="http://schemas.microsoft.com/office/powerpoint/2010/main" val="1635607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42D2F00C-36A0-A08D-82AD-AC7C1DAAC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E88EF-4D66-5A6B-F777-0341E3782EE3}"/>
              </a:ext>
            </a:extLst>
          </p:cNvPr>
          <p:cNvSpPr>
            <a:spLocks noGrp="1"/>
          </p:cNvSpPr>
          <p:nvPr>
            <p:ph type="title"/>
          </p:nvPr>
        </p:nvSpPr>
        <p:spPr/>
        <p:txBody>
          <a:bodyPr/>
          <a:lstStyle/>
          <a:p>
            <a:r>
              <a:rPr lang="en-US" dirty="0"/>
              <a:t>Assignment #2 – Hints 3</a:t>
            </a:r>
          </a:p>
        </p:txBody>
      </p:sp>
      <p:sp>
        <p:nvSpPr>
          <p:cNvPr id="3" name="Content Placeholder 2">
            <a:extLst>
              <a:ext uri="{FF2B5EF4-FFF2-40B4-BE49-F238E27FC236}">
                <a16:creationId xmlns:a16="http://schemas.microsoft.com/office/drawing/2014/main" id="{F35EBF29-82A6-4983-5C33-5F2A8712B267}"/>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tidycensus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census_api_key</a:t>
            </a:r>
            <a:r>
              <a:rPr lang="en-US" sz="1400" dirty="0">
                <a:solidFill>
                  <a:srgbClr val="0070C0"/>
                </a:solidFill>
                <a:latin typeface="OSAKA-MONO" panose="020B0600000000000000" pitchFamily="34" charset="-128"/>
                <a:ea typeface="OSAKA-MONO" panose="020B0600000000000000" pitchFamily="34" charset="-128"/>
              </a:rPr>
              <a:t>("YOUR API GOES HERE")</a:t>
            </a:r>
          </a:p>
          <a:p>
            <a:pPr marL="0" indent="0">
              <a:spcBef>
                <a:spcPts val="0"/>
              </a:spcBef>
              <a:buNone/>
            </a:pPr>
            <a:br>
              <a:rPr lang="en-US" sz="1400" dirty="0">
                <a:solidFill>
                  <a:srgbClr val="0070C0"/>
                </a:solidFill>
                <a:latin typeface="OSAKA-MONO" panose="020B0600000000000000" pitchFamily="34" charset="-128"/>
                <a:ea typeface="OSAKA-MONO" panose="020B0600000000000000" pitchFamily="34" charset="-128"/>
              </a:rPr>
            </a:b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get_acs</a:t>
            </a:r>
            <a:r>
              <a:rPr lang="en-US" sz="1400" dirty="0">
                <a:solidFill>
                  <a:srgbClr val="0070C0"/>
                </a:solidFill>
                <a:latin typeface="OSAKA-MONO" panose="020B0600000000000000" pitchFamily="34" charset="-128"/>
                <a:ea typeface="OSAKA-MONO" panose="020B0600000000000000" pitchFamily="34" charset="-128"/>
              </a:rPr>
              <a:t>(geography = "county",</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 county = "Brazos",</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county = </a:t>
            </a:r>
            <a:r>
              <a:rPr lang="en-US" sz="1400" dirty="0">
                <a:solidFill>
                  <a:srgbClr val="0070C0"/>
                </a:solidFill>
                <a:highlight>
                  <a:srgbClr val="FFFF00"/>
                </a:highlight>
                <a:latin typeface="OSAKA-MONO" panose="020B0600000000000000" pitchFamily="34" charset="-128"/>
                <a:ea typeface="OSAKA-MONO" panose="020B0600000000000000" pitchFamily="34" charset="-128"/>
              </a:rPr>
              <a:t>unique(</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agg_parcels$COUNTY</a:t>
            </a:r>
            <a:r>
              <a:rPr lang="en-US" sz="1400" dirty="0">
                <a:solidFill>
                  <a:srgbClr val="0070C0"/>
                </a:solidFill>
                <a:highlight>
                  <a:srgbClr val="FFFF00"/>
                </a:highlight>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output = "wide",</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geometry = </a:t>
            </a:r>
            <a:r>
              <a:rPr lang="en-US" sz="1400" dirty="0">
                <a:solidFill>
                  <a:srgbClr val="FF0000"/>
                </a:solidFill>
                <a:latin typeface="OSAKA-MONO" panose="020B0600000000000000" pitchFamily="34" charset="-128"/>
                <a:ea typeface="OSAKA-MONO" panose="020B0600000000000000" pitchFamily="34" charset="-128"/>
              </a:rPr>
              <a:t>FALSE</a:t>
            </a:r>
            <a:r>
              <a:rPr lang="en-US" sz="1400" dirty="0">
                <a:solidFill>
                  <a:srgbClr val="0070C0"/>
                </a:solidFill>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variables = </a:t>
            </a:r>
            <a:r>
              <a:rPr lang="en-US" sz="1400" dirty="0">
                <a:solidFill>
                  <a:srgbClr val="0070C0"/>
                </a:solidFill>
                <a:highlight>
                  <a:srgbClr val="FFFF00"/>
                </a:highlight>
                <a:latin typeface="OSAKA-MONO" panose="020B0600000000000000" pitchFamily="34" charset="-128"/>
                <a:ea typeface="OSAKA-MONO" panose="020B0600000000000000" pitchFamily="34" charset="-128"/>
              </a:rPr>
              <a:t>c(pop = "B01001_001"),</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state = "TX",</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year = 2023)</a:t>
            </a:r>
          </a:p>
          <a:p>
            <a:pPr marL="457200" lvl="1"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left_join</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by = "GEOID")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mutate(</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imp_value_per_capita</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popE</a:t>
            </a: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p>
        </p:txBody>
      </p:sp>
      <p:sp>
        <p:nvSpPr>
          <p:cNvPr id="4" name="Slide Number Placeholder 3">
            <a:extLst>
              <a:ext uri="{FF2B5EF4-FFF2-40B4-BE49-F238E27FC236}">
                <a16:creationId xmlns:a16="http://schemas.microsoft.com/office/drawing/2014/main" id="{6E7F7AB0-465A-F0F3-70B9-2A48667BA22C}"/>
              </a:ext>
            </a:extLst>
          </p:cNvPr>
          <p:cNvSpPr>
            <a:spLocks noGrp="1"/>
          </p:cNvSpPr>
          <p:nvPr>
            <p:ph type="sldNum" sz="quarter" idx="12"/>
          </p:nvPr>
        </p:nvSpPr>
        <p:spPr/>
        <p:txBody>
          <a:bodyPr/>
          <a:lstStyle/>
          <a:p>
            <a:fld id="{C0343C75-1924-D247-85A3-0CB62E67E5D1}" type="slidenum">
              <a:rPr lang="en-US" smtClean="0"/>
              <a:t>49</a:t>
            </a:fld>
            <a:endParaRPr lang="en-US"/>
          </a:p>
        </p:txBody>
      </p:sp>
    </p:spTree>
    <p:extLst>
      <p:ext uri="{BB962C8B-B14F-4D97-AF65-F5344CB8AC3E}">
        <p14:creationId xmlns:p14="http://schemas.microsoft.com/office/powerpoint/2010/main" val="2934736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789C2E1-CF2C-A780-A7D4-E20D2F139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FAF85-B4E6-F649-FC43-B50111AAE9E8}"/>
              </a:ext>
            </a:extLst>
          </p:cNvPr>
          <p:cNvSpPr>
            <a:spLocks noGrp="1"/>
          </p:cNvSpPr>
          <p:nvPr>
            <p:ph type="title"/>
          </p:nvPr>
        </p:nvSpPr>
        <p:spPr/>
        <p:txBody>
          <a:bodyPr/>
          <a:lstStyle/>
          <a:p>
            <a:r>
              <a:rPr lang="en-US" dirty="0"/>
              <a:t>Assignment #2 – Part 5</a:t>
            </a:r>
          </a:p>
        </p:txBody>
      </p:sp>
      <p:sp>
        <p:nvSpPr>
          <p:cNvPr id="3" name="Content Placeholder 2">
            <a:extLst>
              <a:ext uri="{FF2B5EF4-FFF2-40B4-BE49-F238E27FC236}">
                <a16:creationId xmlns:a16="http://schemas.microsoft.com/office/drawing/2014/main" id="{FAF8F08C-B3F6-DF50-2ABD-F18FB29872E0}"/>
              </a:ext>
            </a:extLst>
          </p:cNvPr>
          <p:cNvSpPr>
            <a:spLocks noGrp="1"/>
          </p:cNvSpPr>
          <p:nvPr>
            <p:ph idx="1"/>
          </p:nvPr>
        </p:nvSpPr>
        <p:spPr/>
        <p:txBody>
          <a:bodyPr>
            <a:noAutofit/>
          </a:bodyPr>
          <a:lstStyle/>
          <a:p>
            <a:pPr marL="0" indent="0">
              <a:buNone/>
            </a:pPr>
            <a:r>
              <a:rPr lang="en-US" sz="1800" i="1" dirty="0"/>
              <a:t>5. Visualization</a:t>
            </a:r>
          </a:p>
          <a:p>
            <a:pPr marL="234950" indent="-234950">
              <a:buFont typeface="+mj-lt"/>
              <a:buAutoNum type="alphaLcPeriod"/>
            </a:pPr>
            <a:r>
              <a:rPr lang="en-US" sz="1800" dirty="0"/>
              <a:t>Basic thematic maps</a:t>
            </a:r>
          </a:p>
          <a:p>
            <a:pPr lvl="1"/>
            <a:r>
              <a:rPr lang="en-US" sz="1800" dirty="0"/>
              <a:t>Use </a:t>
            </a:r>
            <a:r>
              <a:rPr lang="en-US" sz="1800" dirty="0" err="1">
                <a:latin typeface="OSAKA-MONO" panose="020B0600000000000000" pitchFamily="34" charset="-128"/>
                <a:ea typeface="OSAKA-MONO" panose="020B0600000000000000" pitchFamily="34" charset="-128"/>
              </a:rPr>
              <a:t>tmap</a:t>
            </a:r>
            <a:r>
              <a:rPr lang="en-US" sz="1800" dirty="0"/>
              <a:t> </a:t>
            </a:r>
            <a:r>
              <a:rPr lang="en-US" sz="1800" baseline="30000" dirty="0"/>
              <a:t>(or </a:t>
            </a:r>
            <a:r>
              <a:rPr lang="en-US" sz="1800" baseline="30000" dirty="0">
                <a:latin typeface="OSAKA-MONO" panose="020B0600000000000000" pitchFamily="34" charset="-128"/>
                <a:ea typeface="OSAKA-MONO" panose="020B0600000000000000" pitchFamily="34" charset="-128"/>
              </a:rPr>
              <a:t>ggplot2</a:t>
            </a:r>
            <a:r>
              <a:rPr lang="en-US" sz="1800" baseline="30000" dirty="0"/>
              <a:t>)</a:t>
            </a:r>
            <a:r>
              <a:rPr lang="en-US" sz="1800" dirty="0"/>
              <a:t> to produce:</a:t>
            </a:r>
          </a:p>
          <a:p>
            <a:pPr lvl="2">
              <a:buFont typeface="System Font Regular"/>
              <a:buChar char="–"/>
            </a:pPr>
            <a:r>
              <a:rPr lang="en-US" sz="1800" dirty="0"/>
              <a:t>Basic choropleth map of total improvement value by county</a:t>
            </a:r>
          </a:p>
          <a:p>
            <a:pPr lvl="2">
              <a:buFont typeface="System Font Regular"/>
              <a:buChar char="–"/>
            </a:pPr>
            <a:r>
              <a:rPr lang="en-US" sz="1800" dirty="0"/>
              <a:t>Basic choropleth map of average improvement value per inhabitant</a:t>
            </a:r>
          </a:p>
          <a:p>
            <a:pPr marL="234950" indent="-234950">
              <a:buFont typeface="+mj-lt"/>
              <a:buAutoNum type="alphaLcPeriod"/>
            </a:pPr>
            <a:r>
              <a:rPr lang="en-US" sz="1800" dirty="0"/>
              <a:t>You may also consider including supporting plots, such as:</a:t>
            </a:r>
          </a:p>
          <a:p>
            <a:pPr lvl="1"/>
            <a:r>
              <a:rPr lang="en-US" sz="1800" dirty="0"/>
              <a:t>Bar charts or scatterplots showing:</a:t>
            </a:r>
          </a:p>
          <a:p>
            <a:pPr lvl="2">
              <a:buFont typeface="System Font Regular"/>
              <a:buChar char="–"/>
            </a:pPr>
            <a:r>
              <a:rPr lang="en-US" sz="1800" dirty="0"/>
              <a:t>Population vs. improvement value</a:t>
            </a:r>
          </a:p>
          <a:p>
            <a:pPr lvl="2">
              <a:buFont typeface="System Font Regular"/>
              <a:buChar char="–"/>
            </a:pPr>
            <a:r>
              <a:rPr lang="en-US" sz="1800" dirty="0"/>
              <a:t>Parcel count vs. per capita value</a:t>
            </a:r>
          </a:p>
          <a:p>
            <a:pPr marL="234950" indent="-234950">
              <a:buFont typeface="+mj-lt"/>
              <a:buAutoNum type="alphaLcPeriod"/>
            </a:pPr>
            <a:r>
              <a:rPr lang="en-US" sz="1800" u="sng" dirty="0">
                <a:highlight>
                  <a:srgbClr val="FFFF00"/>
                </a:highlight>
              </a:rPr>
              <a:t>Interpretation</a:t>
            </a:r>
          </a:p>
          <a:p>
            <a:pPr lvl="1"/>
            <a:r>
              <a:rPr lang="en-US" sz="1800" dirty="0"/>
              <a:t>Comment on spatial patterns</a:t>
            </a:r>
            <a:br>
              <a:rPr lang="en-US" sz="1800" dirty="0"/>
            </a:br>
            <a:r>
              <a:rPr lang="en-US" sz="1800" dirty="0"/>
              <a:t>(e.g., regional real estate markets, population density relationships)</a:t>
            </a:r>
          </a:p>
        </p:txBody>
      </p:sp>
      <p:sp>
        <p:nvSpPr>
          <p:cNvPr id="4" name="Slide Number Placeholder 3">
            <a:extLst>
              <a:ext uri="{FF2B5EF4-FFF2-40B4-BE49-F238E27FC236}">
                <a16:creationId xmlns:a16="http://schemas.microsoft.com/office/drawing/2014/main" id="{3CEB4A32-EEDA-8DC7-D078-587139A5E75A}"/>
              </a:ext>
            </a:extLst>
          </p:cNvPr>
          <p:cNvSpPr>
            <a:spLocks noGrp="1"/>
          </p:cNvSpPr>
          <p:nvPr>
            <p:ph type="sldNum" sz="quarter" idx="12"/>
          </p:nvPr>
        </p:nvSpPr>
        <p:spPr/>
        <p:txBody>
          <a:bodyPr/>
          <a:lstStyle/>
          <a:p>
            <a:fld id="{C0343C75-1924-D247-85A3-0CB62E67E5D1}" type="slidenum">
              <a:rPr lang="en-US" smtClean="0"/>
              <a:t>50</a:t>
            </a:fld>
            <a:endParaRPr lang="en-US"/>
          </a:p>
        </p:txBody>
      </p:sp>
    </p:spTree>
    <p:extLst>
      <p:ext uri="{BB962C8B-B14F-4D97-AF65-F5344CB8AC3E}">
        <p14:creationId xmlns:p14="http://schemas.microsoft.com/office/powerpoint/2010/main" val="61403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2ECD6E4-654B-6FA8-C674-D2BB3D8C9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EA7FE-886A-FC07-62D9-E08D5BABBF14}"/>
              </a:ext>
            </a:extLst>
          </p:cNvPr>
          <p:cNvSpPr>
            <a:spLocks noGrp="1"/>
          </p:cNvSpPr>
          <p:nvPr>
            <p:ph type="title"/>
          </p:nvPr>
        </p:nvSpPr>
        <p:spPr/>
        <p:txBody>
          <a:bodyPr/>
          <a:lstStyle/>
          <a:p>
            <a:r>
              <a:rPr lang="en-US" dirty="0"/>
              <a:t>Assignment #2 – Hints 4</a:t>
            </a:r>
          </a:p>
        </p:txBody>
      </p:sp>
      <p:sp>
        <p:nvSpPr>
          <p:cNvPr id="3" name="Content Placeholder 2">
            <a:extLst>
              <a:ext uri="{FF2B5EF4-FFF2-40B4-BE49-F238E27FC236}">
                <a16:creationId xmlns:a16="http://schemas.microsoft.com/office/drawing/2014/main" id="{3ABF9788-1CF1-D9D3-EF5D-DF5B332377D1}"/>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tmap</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tm_shape</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tm_polygons</a:t>
            </a:r>
            <a:r>
              <a:rPr lang="en-US" sz="1400" dirty="0">
                <a:solidFill>
                  <a:srgbClr val="0070C0"/>
                </a:solidFill>
                <a:latin typeface="OSAKA-MONO" panose="020B0600000000000000" pitchFamily="34" charset="-128"/>
                <a:ea typeface="OSAKA-MONO" panose="020B0600000000000000" pitchFamily="34" charset="-128"/>
              </a:rPr>
              <a:t>(fill = "STAT_LAND_2", </a:t>
            </a:r>
            <a:r>
              <a:rPr lang="en-US" sz="1400" dirty="0" err="1">
                <a:solidFill>
                  <a:srgbClr val="0070C0"/>
                </a:solidFill>
                <a:latin typeface="OSAKA-MONO" panose="020B0600000000000000" pitchFamily="34" charset="-128"/>
                <a:ea typeface="OSAKA-MONO" panose="020B0600000000000000" pitchFamily="34" charset="-128"/>
              </a:rPr>
              <a:t>lwd</a:t>
            </a:r>
            <a:r>
              <a:rPr lang="en-US" sz="1400" dirty="0">
                <a:solidFill>
                  <a:srgbClr val="0070C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D84C4E6E-C85C-5FD4-EB54-881197A86829}"/>
              </a:ext>
            </a:extLst>
          </p:cNvPr>
          <p:cNvSpPr>
            <a:spLocks noGrp="1"/>
          </p:cNvSpPr>
          <p:nvPr>
            <p:ph type="sldNum" sz="quarter" idx="12"/>
          </p:nvPr>
        </p:nvSpPr>
        <p:spPr/>
        <p:txBody>
          <a:bodyPr/>
          <a:lstStyle/>
          <a:p>
            <a:fld id="{C0343C75-1924-D247-85A3-0CB62E67E5D1}" type="slidenum">
              <a:rPr lang="en-US" smtClean="0"/>
              <a:t>51</a:t>
            </a:fld>
            <a:endParaRPr lang="en-US"/>
          </a:p>
        </p:txBody>
      </p:sp>
      <p:pic>
        <p:nvPicPr>
          <p:cNvPr id="6" name="Picture 5" descr="Sample of the use of tmap">
            <a:extLst>
              <a:ext uri="{FF2B5EF4-FFF2-40B4-BE49-F238E27FC236}">
                <a16:creationId xmlns:a16="http://schemas.microsoft.com/office/drawing/2014/main" id="{49FC0C47-4B00-970D-923C-A8FE70D3B666}"/>
              </a:ext>
            </a:extLst>
          </p:cNvPr>
          <p:cNvPicPr>
            <a:picLocks noChangeAspect="1"/>
          </p:cNvPicPr>
          <p:nvPr/>
        </p:nvPicPr>
        <p:blipFill>
          <a:blip r:embed="rId2"/>
          <a:stretch>
            <a:fillRect/>
          </a:stretch>
        </p:blipFill>
        <p:spPr>
          <a:xfrm>
            <a:off x="1543050" y="2803651"/>
            <a:ext cx="6057900" cy="33688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95392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F78F397-975B-918E-26ED-E43B58FBA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E2756-92A7-F7B8-0F52-C9135A4E1B71}"/>
              </a:ext>
            </a:extLst>
          </p:cNvPr>
          <p:cNvSpPr>
            <a:spLocks noGrp="1"/>
          </p:cNvSpPr>
          <p:nvPr>
            <p:ph type="title"/>
          </p:nvPr>
        </p:nvSpPr>
        <p:spPr/>
        <p:txBody>
          <a:bodyPr/>
          <a:lstStyle/>
          <a:p>
            <a:r>
              <a:rPr lang="en-US" dirty="0"/>
              <a:t>Assignment #2 – Part 6</a:t>
            </a:r>
          </a:p>
        </p:txBody>
      </p:sp>
      <p:sp>
        <p:nvSpPr>
          <p:cNvPr id="3" name="Content Placeholder 2">
            <a:extLst>
              <a:ext uri="{FF2B5EF4-FFF2-40B4-BE49-F238E27FC236}">
                <a16:creationId xmlns:a16="http://schemas.microsoft.com/office/drawing/2014/main" id="{9C4D5F5F-4771-9A86-3D96-871FCBFFD380}"/>
              </a:ext>
            </a:extLst>
          </p:cNvPr>
          <p:cNvSpPr>
            <a:spLocks noGrp="1"/>
          </p:cNvSpPr>
          <p:nvPr>
            <p:ph idx="1"/>
          </p:nvPr>
        </p:nvSpPr>
        <p:spPr/>
        <p:txBody>
          <a:bodyPr>
            <a:noAutofit/>
          </a:bodyPr>
          <a:lstStyle/>
          <a:p>
            <a:pPr marL="0" indent="0">
              <a:buNone/>
            </a:pPr>
            <a:r>
              <a:rPr lang="en-US" sz="1800" i="1" dirty="0"/>
              <a:t>6. Documentation and Reporting</a:t>
            </a:r>
          </a:p>
          <a:p>
            <a:pPr marL="234950" indent="-234950">
              <a:buFont typeface="+mj-lt"/>
              <a:buAutoNum type="alphaLcPeriod"/>
            </a:pPr>
            <a:r>
              <a:rPr lang="en-US" sz="1800" dirty="0"/>
              <a:t>Reproducible Script or Notebook</a:t>
            </a:r>
          </a:p>
          <a:p>
            <a:pPr lvl="1"/>
            <a:r>
              <a:rPr lang="en-US" sz="1800" dirty="0"/>
              <a:t>Clean, commented </a:t>
            </a:r>
            <a:r>
              <a:rPr lang="en-US" sz="1800" baseline="30000" dirty="0"/>
              <a:t>(as possible)</a:t>
            </a:r>
          </a:p>
          <a:p>
            <a:pPr lvl="1"/>
            <a:r>
              <a:rPr lang="en-US" sz="1800" dirty="0"/>
              <a:t>Reproducible from data download to map output</a:t>
            </a:r>
          </a:p>
          <a:p>
            <a:pPr marL="234950" indent="-234950">
              <a:buFont typeface="+mj-lt"/>
              <a:buAutoNum type="alphaLcPeriod"/>
            </a:pPr>
            <a:r>
              <a:rPr lang="en-US" sz="1800" dirty="0"/>
              <a:t>Include</a:t>
            </a:r>
          </a:p>
          <a:p>
            <a:pPr lvl="1"/>
            <a:r>
              <a:rPr lang="en-US" sz="1800" dirty="0"/>
              <a:t>Data sources and preprocessing steps</a:t>
            </a:r>
          </a:p>
          <a:p>
            <a:pPr lvl="1"/>
            <a:r>
              <a:rPr lang="en-US" sz="1800" dirty="0"/>
              <a:t>Results and interpretations</a:t>
            </a:r>
          </a:p>
          <a:p>
            <a:pPr lvl="1"/>
            <a:r>
              <a:rPr lang="en-US" sz="1800" dirty="0"/>
              <a:t>Limitations and potential extensions (e.g., overlay zoning, flood risk)</a:t>
            </a:r>
          </a:p>
          <a:p>
            <a:pPr marL="234950" indent="-234950">
              <a:buFont typeface="+mj-lt"/>
              <a:buAutoNum type="alphaLcPeriod"/>
            </a:pPr>
            <a:r>
              <a:rPr lang="en-US" sz="1800" dirty="0"/>
              <a:t>Visuals</a:t>
            </a:r>
          </a:p>
          <a:p>
            <a:pPr lvl="1"/>
            <a:r>
              <a:rPr lang="en-US" sz="1800" dirty="0"/>
              <a:t>Please include / submit maps and charts with captions</a:t>
            </a:r>
          </a:p>
        </p:txBody>
      </p:sp>
      <p:sp>
        <p:nvSpPr>
          <p:cNvPr id="4" name="Slide Number Placeholder 3">
            <a:extLst>
              <a:ext uri="{FF2B5EF4-FFF2-40B4-BE49-F238E27FC236}">
                <a16:creationId xmlns:a16="http://schemas.microsoft.com/office/drawing/2014/main" id="{56A25718-713F-4C75-081E-711487E8F2FB}"/>
              </a:ext>
            </a:extLst>
          </p:cNvPr>
          <p:cNvSpPr>
            <a:spLocks noGrp="1"/>
          </p:cNvSpPr>
          <p:nvPr>
            <p:ph type="sldNum" sz="quarter" idx="12"/>
          </p:nvPr>
        </p:nvSpPr>
        <p:spPr/>
        <p:txBody>
          <a:bodyPr/>
          <a:lstStyle/>
          <a:p>
            <a:fld id="{C0343C75-1924-D247-85A3-0CB62E67E5D1}" type="slidenum">
              <a:rPr lang="en-US" smtClean="0"/>
              <a:t>52</a:t>
            </a:fld>
            <a:endParaRPr lang="en-US"/>
          </a:p>
        </p:txBody>
      </p:sp>
    </p:spTree>
    <p:extLst>
      <p:ext uri="{BB962C8B-B14F-4D97-AF65-F5344CB8AC3E}">
        <p14:creationId xmlns:p14="http://schemas.microsoft.com/office/powerpoint/2010/main" val="2634209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982BE53-5A2F-E339-87E2-448EC99FE70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A9767F2-54D4-1E5B-35E7-E77C88AA5D1B}"/>
              </a:ext>
            </a:extLst>
          </p:cNvPr>
          <p:cNvSpPr>
            <a:spLocks noGrp="1"/>
          </p:cNvSpPr>
          <p:nvPr>
            <p:ph type="title"/>
          </p:nvPr>
        </p:nvSpPr>
        <p:spPr/>
        <p:txBody>
          <a:bodyPr>
            <a:normAutofit fontScale="90000"/>
          </a:bodyPr>
          <a:lstStyle/>
          <a:p>
            <a:r>
              <a:rPr lang="en-US" sz="3200" b="1" dirty="0"/>
              <a:t>7. Appendix</a:t>
            </a:r>
            <a:br>
              <a:rPr lang="en-US" sz="3200" b="1" dirty="0"/>
            </a:br>
            <a:r>
              <a:rPr lang="en-US" sz="3200" dirty="0"/>
              <a:t>Geographic Data &amp; Spatial ETL </a:t>
            </a:r>
            <a:r>
              <a:rPr lang="en-US" sz="3200" dirty="0">
                <a:highlight>
                  <a:srgbClr val="FFFF00"/>
                </a:highlight>
              </a:rPr>
              <a:t>with Python</a:t>
            </a:r>
            <a:br>
              <a:rPr lang="en-US" sz="3200" dirty="0"/>
            </a:br>
            <a:r>
              <a:rPr lang="en-US" sz="2400" dirty="0"/>
              <a:t>Attribute Operations 1/5</a:t>
            </a:r>
            <a:endParaRPr lang="en-US" sz="3200" dirty="0"/>
          </a:p>
        </p:txBody>
      </p:sp>
      <p:grpSp>
        <p:nvGrpSpPr>
          <p:cNvPr id="15" name="Group 14" descr="Code for geographic data and spatial ETL with Python">
            <a:extLst>
              <a:ext uri="{FF2B5EF4-FFF2-40B4-BE49-F238E27FC236}">
                <a16:creationId xmlns:a16="http://schemas.microsoft.com/office/drawing/2014/main" id="{35E58799-BBA8-0B76-1C33-AF2C1855CF46}"/>
              </a:ext>
            </a:extLst>
          </p:cNvPr>
          <p:cNvGrpSpPr/>
          <p:nvPr/>
        </p:nvGrpSpPr>
        <p:grpSpPr>
          <a:xfrm>
            <a:off x="457200" y="1416684"/>
            <a:ext cx="8229600" cy="3011681"/>
            <a:chOff x="457200" y="1416684"/>
            <a:chExt cx="8229600" cy="3011681"/>
          </a:xfrm>
        </p:grpSpPr>
        <p:sp>
          <p:nvSpPr>
            <p:cNvPr id="3" name="TextBox 2">
              <a:extLst>
                <a:ext uri="{FF2B5EF4-FFF2-40B4-BE49-F238E27FC236}">
                  <a16:creationId xmlns:a16="http://schemas.microsoft.com/office/drawing/2014/main" id="{24EABF5F-0355-F1D9-FC74-AD68A8C9D478}"/>
                </a:ext>
              </a:extLst>
            </p:cNvPr>
            <p:cNvSpPr txBox="1"/>
            <p:nvPr/>
          </p:nvSpPr>
          <p:spPr>
            <a:xfrm>
              <a:off x="457200" y="1627598"/>
              <a:ext cx="8229600" cy="2800767"/>
            </a:xfrm>
            <a:prstGeom prst="rect">
              <a:avLst/>
            </a:prstGeom>
            <a:noFill/>
          </p:spPr>
          <p:txBody>
            <a:bodyPr wrap="square" tIns="0" bIns="0" rtlCol="0">
              <a:spAutoFit/>
            </a:bodyPr>
            <a:lstStyle/>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Libraries</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numpy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np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pandas as 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geopandas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gpd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matplotlib.pyplot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gpd.read_file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world.gpkg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src_multi_rast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landsat.tif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D0851C22-4E7A-D9F7-D698-76D1E347C8BA}"/>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Libraries and Data</a:t>
              </a:r>
            </a:p>
          </p:txBody>
        </p:sp>
      </p:grpSp>
      <p:sp>
        <p:nvSpPr>
          <p:cNvPr id="16" name="Slide Number Placeholder 15">
            <a:extLst>
              <a:ext uri="{FF2B5EF4-FFF2-40B4-BE49-F238E27FC236}">
                <a16:creationId xmlns:a16="http://schemas.microsoft.com/office/drawing/2014/main" id="{5FD0AA0A-A0A9-E98A-F088-BAEA5A4A4E77}"/>
              </a:ext>
            </a:extLst>
          </p:cNvPr>
          <p:cNvSpPr>
            <a:spLocks noGrp="1"/>
          </p:cNvSpPr>
          <p:nvPr>
            <p:ph type="sldNum" sz="quarter" idx="12"/>
          </p:nvPr>
        </p:nvSpPr>
        <p:spPr/>
        <p:txBody>
          <a:bodyPr/>
          <a:lstStyle/>
          <a:p>
            <a:fld id="{C0343C75-1924-D247-85A3-0CB62E67E5D1}" type="slidenum">
              <a:rPr lang="en-US" smtClean="0"/>
              <a:t>53</a:t>
            </a:fld>
            <a:endParaRPr lang="en-US"/>
          </a:p>
        </p:txBody>
      </p:sp>
    </p:spTree>
    <p:extLst>
      <p:ext uri="{BB962C8B-B14F-4D97-AF65-F5344CB8AC3E}">
        <p14:creationId xmlns:p14="http://schemas.microsoft.com/office/powerpoint/2010/main" val="2387813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2D55D17-819A-559D-14AA-029F27A7572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68CF447-E51C-75FA-A6C9-7AEAD8295301}"/>
              </a:ext>
            </a:extLst>
          </p:cNvPr>
          <p:cNvSpPr>
            <a:spLocks noGrp="1"/>
          </p:cNvSpPr>
          <p:nvPr>
            <p:ph type="title"/>
          </p:nvPr>
        </p:nvSpPr>
        <p:spPr/>
        <p:txBody>
          <a:bodyPr>
            <a:normAutofit/>
          </a:bodyPr>
          <a:lstStyle/>
          <a:p>
            <a:r>
              <a:rPr lang="en-US" sz="2400" dirty="0"/>
              <a:t>Attribute Operations 2/5</a:t>
            </a:r>
            <a:endParaRPr lang="en-US" sz="3200" dirty="0"/>
          </a:p>
        </p:txBody>
      </p:sp>
      <p:grpSp>
        <p:nvGrpSpPr>
          <p:cNvPr id="13" name="Group 12" descr="Code for geographic data and spatial ETL with Python">
            <a:extLst>
              <a:ext uri="{FF2B5EF4-FFF2-40B4-BE49-F238E27FC236}">
                <a16:creationId xmlns:a16="http://schemas.microsoft.com/office/drawing/2014/main" id="{B554D221-1593-7F9D-7B3B-B9362B72C007}"/>
              </a:ext>
            </a:extLst>
          </p:cNvPr>
          <p:cNvGrpSpPr/>
          <p:nvPr/>
        </p:nvGrpSpPr>
        <p:grpSpPr>
          <a:xfrm>
            <a:off x="457200" y="1416684"/>
            <a:ext cx="8229600" cy="1508105"/>
            <a:chOff x="457200" y="3535813"/>
            <a:chExt cx="8229600" cy="1508105"/>
          </a:xfrm>
        </p:grpSpPr>
        <p:sp>
          <p:nvSpPr>
            <p:cNvPr id="7" name="TextBox 6">
              <a:extLst>
                <a:ext uri="{FF2B5EF4-FFF2-40B4-BE49-F238E27FC236}">
                  <a16:creationId xmlns:a16="http://schemas.microsoft.com/office/drawing/2014/main" id="{A401425E-FF6A-56EA-C145-EC0248539383}"/>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Vector Attribute Subsetting</a:t>
              </a:r>
            </a:p>
            <a:p>
              <a:r>
                <a:rPr lang="en-US" sz="1400" i="1" dirty="0">
                  <a:ea typeface="OSAKA-MONO" panose="020B0600000000000000" pitchFamily="34" charset="-128"/>
                  <a:cs typeface="Menlo" panose="020B0609030804020204" pitchFamily="49" charset="0"/>
                </a:rPr>
                <a:t>Subset Countries with Small Area</a:t>
              </a:r>
            </a:p>
          </p:txBody>
        </p:sp>
        <p:sp>
          <p:nvSpPr>
            <p:cNvPr id="8" name="TextBox 7">
              <a:extLst>
                <a:ext uri="{FF2B5EF4-FFF2-40B4-BE49-F238E27FC236}">
                  <a16:creationId xmlns:a16="http://schemas.microsoft.com/office/drawing/2014/main" id="{A47FFAC3-D0A4-6CDE-53AE-2AF2F666B4E7}"/>
                </a:ext>
              </a:extLst>
            </p:cNvPr>
            <p:cNvSpPr txBox="1"/>
            <p:nvPr/>
          </p:nvSpPr>
          <p:spPr>
            <a:xfrm>
              <a:off x="457200" y="3966700"/>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world['area_km2'] &lt; 10000</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12" name="Group 11" descr="Code for geographic data and spatial ETL with Python">
            <a:extLst>
              <a:ext uri="{FF2B5EF4-FFF2-40B4-BE49-F238E27FC236}">
                <a16:creationId xmlns:a16="http://schemas.microsoft.com/office/drawing/2014/main" id="{A78ADEB5-4688-E41A-B5EE-0226B2D3C63F}"/>
              </a:ext>
            </a:extLst>
          </p:cNvPr>
          <p:cNvGrpSpPr/>
          <p:nvPr/>
        </p:nvGrpSpPr>
        <p:grpSpPr>
          <a:xfrm>
            <a:off x="457200" y="3127731"/>
            <a:ext cx="8229600" cy="1292662"/>
            <a:chOff x="457200" y="4613032"/>
            <a:chExt cx="8229600" cy="1292662"/>
          </a:xfrm>
        </p:grpSpPr>
        <p:sp>
          <p:nvSpPr>
            <p:cNvPr id="9" name="TextBox 8">
              <a:extLst>
                <a:ext uri="{FF2B5EF4-FFF2-40B4-BE49-F238E27FC236}">
                  <a16:creationId xmlns:a16="http://schemas.microsoft.com/office/drawing/2014/main" id="{70360893-71AA-9BB1-2E0F-D5F0990943D9}"/>
                </a:ext>
              </a:extLst>
            </p:cNvPr>
            <p:cNvSpPr txBox="1"/>
            <p:nvPr/>
          </p:nvSpPr>
          <p:spPr>
            <a:xfrm>
              <a:off x="457200" y="4613032"/>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Logic to Combine Conditions</a:t>
              </a:r>
            </a:p>
          </p:txBody>
        </p:sp>
        <p:sp>
          <p:nvSpPr>
            <p:cNvPr id="10" name="TextBox 9">
              <a:extLst>
                <a:ext uri="{FF2B5EF4-FFF2-40B4-BE49-F238E27FC236}">
                  <a16:creationId xmlns:a16="http://schemas.microsoft.com/office/drawing/2014/main" id="{A511CE2F-47B0-2762-AB16-07245F4E7494}"/>
                </a:ext>
              </a:extLst>
            </p:cNvPr>
            <p:cNvSpPr txBox="1"/>
            <p:nvPr/>
          </p:nvSpPr>
          <p:spPr>
            <a:xfrm>
              <a:off x="457200" y="482847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(world['continent'] == 'Asia') &amp;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(world['area_km2'] &lt; 10000)</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'area_km2']]</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6" name="Slide Number Placeholder 15">
            <a:extLst>
              <a:ext uri="{FF2B5EF4-FFF2-40B4-BE49-F238E27FC236}">
                <a16:creationId xmlns:a16="http://schemas.microsoft.com/office/drawing/2014/main" id="{C00E25E8-75E9-F8D4-F27A-60882C84506E}"/>
              </a:ext>
            </a:extLst>
          </p:cNvPr>
          <p:cNvSpPr>
            <a:spLocks noGrp="1"/>
          </p:cNvSpPr>
          <p:nvPr>
            <p:ph type="sldNum" sz="quarter" idx="12"/>
          </p:nvPr>
        </p:nvSpPr>
        <p:spPr/>
        <p:txBody>
          <a:bodyPr/>
          <a:lstStyle/>
          <a:p>
            <a:fld id="{C0343C75-1924-D247-85A3-0CB62E67E5D1}" type="slidenum">
              <a:rPr lang="en-US" smtClean="0"/>
              <a:t>54</a:t>
            </a:fld>
            <a:endParaRPr lang="en-US"/>
          </a:p>
        </p:txBody>
      </p:sp>
      <p:grpSp>
        <p:nvGrpSpPr>
          <p:cNvPr id="17" name="Group 16" descr="Code for geographic data and spatial ETL with Python">
            <a:extLst>
              <a:ext uri="{FF2B5EF4-FFF2-40B4-BE49-F238E27FC236}">
                <a16:creationId xmlns:a16="http://schemas.microsoft.com/office/drawing/2014/main" id="{B1E453A2-7750-B1B1-BBEA-884DF1A908C3}"/>
              </a:ext>
            </a:extLst>
          </p:cNvPr>
          <p:cNvGrpSpPr/>
          <p:nvPr/>
        </p:nvGrpSpPr>
        <p:grpSpPr>
          <a:xfrm>
            <a:off x="457200" y="4635837"/>
            <a:ext cx="8229600" cy="1072688"/>
            <a:chOff x="457200" y="1416684"/>
            <a:chExt cx="8229600" cy="1072688"/>
          </a:xfrm>
        </p:grpSpPr>
        <p:sp>
          <p:nvSpPr>
            <p:cNvPr id="18" name="TextBox 17">
              <a:extLst>
                <a:ext uri="{FF2B5EF4-FFF2-40B4-BE49-F238E27FC236}">
                  <a16:creationId xmlns:a16="http://schemas.microsoft.com/office/drawing/2014/main" id="{4C6169FD-3881-B4E1-BA46-1FF2174F847B}"/>
                </a:ext>
              </a:extLst>
            </p:cNvPr>
            <p:cNvSpPr txBox="1"/>
            <p:nvPr/>
          </p:nvSpPr>
          <p:spPr>
            <a:xfrm>
              <a:off x="457200" y="1627598"/>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world[world['continent'] == 'Asia']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.loc[:,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iloc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[0:5, :]</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9" name="TextBox 18">
              <a:extLst>
                <a:ext uri="{FF2B5EF4-FFF2-40B4-BE49-F238E27FC236}">
                  <a16:creationId xmlns:a16="http://schemas.microsoft.com/office/drawing/2014/main" id="{C7A5D00B-29EF-4666-6904-98EA1694236B}"/>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Select Specific Columns &amp; Rows</a:t>
              </a:r>
            </a:p>
          </p:txBody>
        </p:sp>
      </p:grpSp>
    </p:spTree>
    <p:extLst>
      <p:ext uri="{BB962C8B-B14F-4D97-AF65-F5344CB8AC3E}">
        <p14:creationId xmlns:p14="http://schemas.microsoft.com/office/powerpoint/2010/main" val="3310038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E37E17B-1B8C-52E5-E891-8F3E943544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C2A3AC3-26D3-D60D-1D87-E327804A8E0F}"/>
              </a:ext>
            </a:extLst>
          </p:cNvPr>
          <p:cNvSpPr>
            <a:spLocks noGrp="1"/>
          </p:cNvSpPr>
          <p:nvPr>
            <p:ph type="title"/>
          </p:nvPr>
        </p:nvSpPr>
        <p:spPr/>
        <p:txBody>
          <a:bodyPr>
            <a:normAutofit/>
          </a:bodyPr>
          <a:lstStyle/>
          <a:p>
            <a:r>
              <a:rPr lang="en-US" sz="2400" dirty="0"/>
              <a:t>Attribute Operations 3/5</a:t>
            </a:r>
            <a:endParaRPr lang="en-US" sz="3200" dirty="0"/>
          </a:p>
        </p:txBody>
      </p:sp>
      <p:grpSp>
        <p:nvGrpSpPr>
          <p:cNvPr id="14" name="Group 13" descr="Code for geographic data and spatial ETL with Python">
            <a:extLst>
              <a:ext uri="{FF2B5EF4-FFF2-40B4-BE49-F238E27FC236}">
                <a16:creationId xmlns:a16="http://schemas.microsoft.com/office/drawing/2014/main" id="{B5199926-18F6-2014-F685-66E5675B7BB5}"/>
              </a:ext>
            </a:extLst>
          </p:cNvPr>
          <p:cNvGrpSpPr/>
          <p:nvPr/>
        </p:nvGrpSpPr>
        <p:grpSpPr>
          <a:xfrm>
            <a:off x="457200" y="1416684"/>
            <a:ext cx="8229600" cy="861774"/>
            <a:chOff x="457200" y="2797149"/>
            <a:chExt cx="8229600" cy="861774"/>
          </a:xfrm>
        </p:grpSpPr>
        <p:sp>
          <p:nvSpPr>
            <p:cNvPr id="2" name="TextBox 1">
              <a:extLst>
                <a:ext uri="{FF2B5EF4-FFF2-40B4-BE49-F238E27FC236}">
                  <a16:creationId xmlns:a16="http://schemas.microsoft.com/office/drawing/2014/main" id="{27E3B053-AB8F-B2AB-C827-E40CDB6BCA57}"/>
                </a:ext>
              </a:extLst>
            </p:cNvPr>
            <p:cNvSpPr txBox="1"/>
            <p:nvPr/>
          </p:nvSpPr>
          <p:spPr>
            <a:xfrm>
              <a:off x="457200" y="3228036"/>
              <a:ext cx="8229600" cy="430887"/>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world.groupby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('continent')[['pop']].sum().</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C0BA579-B7D6-31FF-1696-8D4C34990034}"/>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Aggregation With Attributes</a:t>
              </a:r>
            </a:p>
            <a:p>
              <a:r>
                <a:rPr lang="en-US" sz="1400" i="1" dirty="0">
                  <a:ea typeface="OSAKA-MONO" panose="020B0600000000000000" pitchFamily="34" charset="-128"/>
                  <a:cs typeface="Menlo" panose="020B0609030804020204" pitchFamily="49" charset="0"/>
                </a:rPr>
                <a:t>Sum Population by Continent (Attribute Only)</a:t>
              </a:r>
            </a:p>
          </p:txBody>
        </p:sp>
      </p:grpSp>
      <p:grpSp>
        <p:nvGrpSpPr>
          <p:cNvPr id="13" name="Group 12" descr="Code for geographic data and spatial ETL with Python">
            <a:extLst>
              <a:ext uri="{FF2B5EF4-FFF2-40B4-BE49-F238E27FC236}">
                <a16:creationId xmlns:a16="http://schemas.microsoft.com/office/drawing/2014/main" id="{C26E6E71-EF77-A476-B681-2CBD912909FC}"/>
              </a:ext>
            </a:extLst>
          </p:cNvPr>
          <p:cNvGrpSpPr/>
          <p:nvPr/>
        </p:nvGrpSpPr>
        <p:grpSpPr>
          <a:xfrm>
            <a:off x="457200" y="2477519"/>
            <a:ext cx="8229600" cy="1077218"/>
            <a:chOff x="457200" y="3535813"/>
            <a:chExt cx="8229600" cy="1077218"/>
          </a:xfrm>
        </p:grpSpPr>
        <p:sp>
          <p:nvSpPr>
            <p:cNvPr id="7" name="TextBox 6">
              <a:extLst>
                <a:ext uri="{FF2B5EF4-FFF2-40B4-BE49-F238E27FC236}">
                  <a16:creationId xmlns:a16="http://schemas.microsoft.com/office/drawing/2014/main" id="{4E66409E-8A35-7211-E7D1-D0D7F2BC8C59}"/>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Spatial Aggregation with Geometry</a:t>
              </a:r>
            </a:p>
          </p:txBody>
        </p:sp>
        <p:sp>
          <p:nvSpPr>
            <p:cNvPr id="8" name="TextBox 7">
              <a:extLst>
                <a:ext uri="{FF2B5EF4-FFF2-40B4-BE49-F238E27FC236}">
                  <a16:creationId xmlns:a16="http://schemas.microsoft.com/office/drawing/2014/main" id="{EF26773E-85A0-0D25-3B5A-850307FE38D2}"/>
                </a:ext>
              </a:extLst>
            </p:cNvPr>
            <p:cNvSpPr txBox="1"/>
            <p:nvPr/>
          </p:nvSpPr>
          <p:spPr>
            <a:xfrm>
              <a:off x="457200" y="3751257"/>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continent','pop','geometry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.dissolve(by='continent',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aggfunc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='sum')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(column='pop', legend=True)</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7" name="Slide Number Placeholder 16">
            <a:extLst>
              <a:ext uri="{FF2B5EF4-FFF2-40B4-BE49-F238E27FC236}">
                <a16:creationId xmlns:a16="http://schemas.microsoft.com/office/drawing/2014/main" id="{10EBA1F1-FC7B-47FE-43ED-DF8D97EC41CE}"/>
              </a:ext>
            </a:extLst>
          </p:cNvPr>
          <p:cNvSpPr>
            <a:spLocks noGrp="1"/>
          </p:cNvSpPr>
          <p:nvPr>
            <p:ph type="sldNum" sz="quarter" idx="12"/>
          </p:nvPr>
        </p:nvSpPr>
        <p:spPr/>
        <p:txBody>
          <a:bodyPr/>
          <a:lstStyle/>
          <a:p>
            <a:fld id="{C0343C75-1924-D247-85A3-0CB62E67E5D1}" type="slidenum">
              <a:rPr lang="en-US" smtClean="0"/>
              <a:t>55</a:t>
            </a:fld>
            <a:endParaRPr lang="en-US"/>
          </a:p>
        </p:txBody>
      </p:sp>
      <p:grpSp>
        <p:nvGrpSpPr>
          <p:cNvPr id="19" name="Group 18" descr="Code for geographic data and spatial ETL with Python">
            <a:extLst>
              <a:ext uri="{FF2B5EF4-FFF2-40B4-BE49-F238E27FC236}">
                <a16:creationId xmlns:a16="http://schemas.microsoft.com/office/drawing/2014/main" id="{783DB5F6-B7C5-DC17-E9A0-E34A9C51E68F}"/>
              </a:ext>
            </a:extLst>
          </p:cNvPr>
          <p:cNvGrpSpPr/>
          <p:nvPr/>
        </p:nvGrpSpPr>
        <p:grpSpPr>
          <a:xfrm>
            <a:off x="457200" y="3770181"/>
            <a:ext cx="8229600" cy="1938992"/>
            <a:chOff x="457200" y="1196711"/>
            <a:chExt cx="8229600" cy="1938992"/>
          </a:xfrm>
        </p:grpSpPr>
        <p:sp>
          <p:nvSpPr>
            <p:cNvPr id="20" name="TextBox 19">
              <a:extLst>
                <a:ext uri="{FF2B5EF4-FFF2-40B4-BE49-F238E27FC236}">
                  <a16:creationId xmlns:a16="http://schemas.microsoft.com/office/drawing/2014/main" id="{B6C653AC-4036-BF56-9169-7E459C1C5A57}"/>
                </a:ext>
              </a:extLst>
            </p:cNvPr>
            <p:cNvSpPr txBox="1"/>
            <p:nvPr/>
          </p:nvSpPr>
          <p:spPr>
            <a:xfrm>
              <a:off x="457200" y="1627598"/>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how='left'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'coffee_production_2016']]</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1" name="TextBox 20">
              <a:extLst>
                <a:ext uri="{FF2B5EF4-FFF2-40B4-BE49-F238E27FC236}">
                  <a16:creationId xmlns:a16="http://schemas.microsoft.com/office/drawing/2014/main" id="{CDAB09C9-D1FB-CD27-DE33-B326CB2B2617}"/>
                </a:ext>
              </a:extLst>
            </p:cNvPr>
            <p:cNvSpPr txBox="1"/>
            <p:nvPr/>
          </p:nvSpPr>
          <p:spPr>
            <a:xfrm>
              <a:off x="457200" y="1196711"/>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Joining Attributes Between Datasets</a:t>
              </a:r>
            </a:p>
            <a:p>
              <a:r>
                <a:rPr lang="en-US" sz="1400" i="1" dirty="0">
                  <a:ea typeface="OSAKA-MONO" panose="020B0600000000000000" pitchFamily="34" charset="-128"/>
                  <a:cs typeface="Menlo" panose="020B0609030804020204" pitchFamily="49" charset="0"/>
                </a:rPr>
                <a:t>Attribute Join</a:t>
              </a:r>
            </a:p>
          </p:txBody>
        </p:sp>
      </p:grpSp>
      <p:grpSp>
        <p:nvGrpSpPr>
          <p:cNvPr id="22" name="Group 21" descr="Code for geographic data and spatial ETL with Python">
            <a:extLst>
              <a:ext uri="{FF2B5EF4-FFF2-40B4-BE49-F238E27FC236}">
                <a16:creationId xmlns:a16="http://schemas.microsoft.com/office/drawing/2014/main" id="{9E624821-4EF1-E414-3EEF-A0819E7DA3B4}"/>
              </a:ext>
            </a:extLst>
          </p:cNvPr>
          <p:cNvGrpSpPr/>
          <p:nvPr/>
        </p:nvGrpSpPr>
        <p:grpSpPr>
          <a:xfrm>
            <a:off x="5341171" y="3985624"/>
            <a:ext cx="3345629" cy="1292662"/>
            <a:chOff x="457200" y="2797149"/>
            <a:chExt cx="8229600" cy="1292662"/>
          </a:xfrm>
        </p:grpSpPr>
        <p:sp>
          <p:nvSpPr>
            <p:cNvPr id="23" name="TextBox 22">
              <a:extLst>
                <a:ext uri="{FF2B5EF4-FFF2-40B4-BE49-F238E27FC236}">
                  <a16:creationId xmlns:a16="http://schemas.microsoft.com/office/drawing/2014/main" id="{E7B99D3C-B06A-403F-9005-4C36759C410A}"/>
                </a:ext>
              </a:extLst>
            </p:cNvPr>
            <p:cNvSpPr txBox="1"/>
            <p:nvPr/>
          </p:nvSpPr>
          <p:spPr>
            <a:xfrm>
              <a:off x="457200" y="3012593"/>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how='inner'</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4" name="TextBox 23">
              <a:extLst>
                <a:ext uri="{FF2B5EF4-FFF2-40B4-BE49-F238E27FC236}">
                  <a16:creationId xmlns:a16="http://schemas.microsoft.com/office/drawing/2014/main" id="{F223FFA3-B0FE-5EB2-1076-15A045394AA6}"/>
                </a:ext>
              </a:extLst>
            </p:cNvPr>
            <p:cNvSpPr txBox="1"/>
            <p:nvPr/>
          </p:nvSpPr>
          <p:spPr>
            <a:xfrm>
              <a:off x="457200" y="2797149"/>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Join Variation — Inner Join</a:t>
              </a:r>
            </a:p>
          </p:txBody>
        </p:sp>
      </p:grpSp>
    </p:spTree>
    <p:extLst>
      <p:ext uri="{BB962C8B-B14F-4D97-AF65-F5344CB8AC3E}">
        <p14:creationId xmlns:p14="http://schemas.microsoft.com/office/powerpoint/2010/main" val="18648521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1E5409C-EC7C-AD54-A65D-D60F777D9AC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15BF843-937E-2488-42C8-F253424D54B2}"/>
              </a:ext>
            </a:extLst>
          </p:cNvPr>
          <p:cNvSpPr>
            <a:spLocks noGrp="1"/>
          </p:cNvSpPr>
          <p:nvPr>
            <p:ph type="title"/>
          </p:nvPr>
        </p:nvSpPr>
        <p:spPr/>
        <p:txBody>
          <a:bodyPr>
            <a:normAutofit/>
          </a:bodyPr>
          <a:lstStyle/>
          <a:p>
            <a:r>
              <a:rPr lang="en-US" sz="2400" dirty="0"/>
              <a:t>Attribute Operations 4/5</a:t>
            </a:r>
            <a:endParaRPr lang="en-US" sz="3200" dirty="0"/>
          </a:p>
        </p:txBody>
      </p:sp>
      <p:grpSp>
        <p:nvGrpSpPr>
          <p:cNvPr id="13" name="Group 12" descr="Code for geographic data and spatial ETL with Python">
            <a:extLst>
              <a:ext uri="{FF2B5EF4-FFF2-40B4-BE49-F238E27FC236}">
                <a16:creationId xmlns:a16="http://schemas.microsoft.com/office/drawing/2014/main" id="{D7E1B096-E843-FDAC-89D9-6E4B432F2D39}"/>
              </a:ext>
            </a:extLst>
          </p:cNvPr>
          <p:cNvGrpSpPr/>
          <p:nvPr/>
        </p:nvGrpSpPr>
        <p:grpSpPr>
          <a:xfrm>
            <a:off x="457200" y="1416684"/>
            <a:ext cx="8229600" cy="1077218"/>
            <a:chOff x="457200" y="3535813"/>
            <a:chExt cx="8229600" cy="1077218"/>
          </a:xfrm>
        </p:grpSpPr>
        <p:sp>
          <p:nvSpPr>
            <p:cNvPr id="7" name="TextBox 6">
              <a:extLst>
                <a:ext uri="{FF2B5EF4-FFF2-40B4-BE49-F238E27FC236}">
                  <a16:creationId xmlns:a16="http://schemas.microsoft.com/office/drawing/2014/main" id="{B52F6CA1-C633-641D-6EEC-CA7714711A88}"/>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Creating &amp; Transforming Attributes</a:t>
              </a:r>
            </a:p>
            <a:p>
              <a:r>
                <a:rPr lang="en-US" sz="1400" i="1" dirty="0">
                  <a:ea typeface="OSAKA-MONO" panose="020B0600000000000000" pitchFamily="34" charset="-128"/>
                  <a:cs typeface="Menlo" panose="020B0609030804020204" pitchFamily="49" charset="0"/>
                </a:rPr>
                <a:t>Population Density</a:t>
              </a:r>
            </a:p>
          </p:txBody>
        </p:sp>
        <p:sp>
          <p:nvSpPr>
            <p:cNvPr id="8" name="TextBox 7">
              <a:extLst>
                <a:ext uri="{FF2B5EF4-FFF2-40B4-BE49-F238E27FC236}">
                  <a16:creationId xmlns:a16="http://schemas.microsoft.com/office/drawing/2014/main" id="{8604C67F-BA88-1B33-5A3C-4F22153AC3F8}"/>
                </a:ext>
              </a:extLst>
            </p:cNvPr>
            <p:cNvSpPr txBox="1"/>
            <p:nvPr/>
          </p:nvSpPr>
          <p:spPr>
            <a:xfrm>
              <a:off x="457200" y="3966700"/>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world.copy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world2['pop'] / world2['area_km2']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world2[['name_long','</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5" name="Slide Number Placeholder 4">
            <a:extLst>
              <a:ext uri="{FF2B5EF4-FFF2-40B4-BE49-F238E27FC236}">
                <a16:creationId xmlns:a16="http://schemas.microsoft.com/office/drawing/2014/main" id="{565DABBA-8AC2-A093-6F6E-0BAD9C7BE9A2}"/>
              </a:ext>
            </a:extLst>
          </p:cNvPr>
          <p:cNvSpPr>
            <a:spLocks noGrp="1"/>
          </p:cNvSpPr>
          <p:nvPr>
            <p:ph type="sldNum" sz="quarter" idx="12"/>
          </p:nvPr>
        </p:nvSpPr>
        <p:spPr/>
        <p:txBody>
          <a:bodyPr/>
          <a:lstStyle/>
          <a:p>
            <a:fld id="{C0343C75-1924-D247-85A3-0CB62E67E5D1}" type="slidenum">
              <a:rPr lang="en-US" smtClean="0"/>
              <a:t>56</a:t>
            </a:fld>
            <a:endParaRPr lang="en-US"/>
          </a:p>
        </p:txBody>
      </p:sp>
      <p:grpSp>
        <p:nvGrpSpPr>
          <p:cNvPr id="16" name="Group 15" descr="Code for geographic data and spatial ETL with Python">
            <a:extLst>
              <a:ext uri="{FF2B5EF4-FFF2-40B4-BE49-F238E27FC236}">
                <a16:creationId xmlns:a16="http://schemas.microsoft.com/office/drawing/2014/main" id="{E564B0AD-CB55-281C-32D1-3815FA9C48DB}"/>
              </a:ext>
            </a:extLst>
          </p:cNvPr>
          <p:cNvGrpSpPr/>
          <p:nvPr/>
        </p:nvGrpSpPr>
        <p:grpSpPr>
          <a:xfrm>
            <a:off x="457200" y="2699108"/>
            <a:ext cx="8229600" cy="857245"/>
            <a:chOff x="457200" y="1416684"/>
            <a:chExt cx="8229600" cy="857245"/>
          </a:xfrm>
        </p:grpSpPr>
        <p:sp>
          <p:nvSpPr>
            <p:cNvPr id="17" name="TextBox 16">
              <a:extLst>
                <a:ext uri="{FF2B5EF4-FFF2-40B4-BE49-F238E27FC236}">
                  <a16:creationId xmlns:a16="http://schemas.microsoft.com/office/drawing/2014/main" id="{C707A109-28CF-366C-585E-DCD5A4475229}"/>
                </a:ext>
              </a:extLst>
            </p:cNvPr>
            <p:cNvSpPr txBox="1"/>
            <p:nvPr/>
          </p:nvSpPr>
          <p:spPr>
            <a:xfrm>
              <a:off x="457200" y="1627598"/>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world2.drop('geometry', axis=1)</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pd.DataFrame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world2.head()</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8" name="TextBox 17">
              <a:extLst>
                <a:ext uri="{FF2B5EF4-FFF2-40B4-BE49-F238E27FC236}">
                  <a16:creationId xmlns:a16="http://schemas.microsoft.com/office/drawing/2014/main" id="{C9AC872C-BE97-F599-EE0B-1A1F8DA99883}"/>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Drop Geometry for Pure Attribute Table</a:t>
              </a:r>
            </a:p>
          </p:txBody>
        </p:sp>
      </p:grpSp>
    </p:spTree>
    <p:extLst>
      <p:ext uri="{BB962C8B-B14F-4D97-AF65-F5344CB8AC3E}">
        <p14:creationId xmlns:p14="http://schemas.microsoft.com/office/powerpoint/2010/main" val="142385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4388FE8-03E6-7C7A-90B7-D2F2157EFA0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180795F-6C98-DB15-18A8-B8F61B0237DF}"/>
              </a:ext>
            </a:extLst>
          </p:cNvPr>
          <p:cNvSpPr>
            <a:spLocks noGrp="1"/>
          </p:cNvSpPr>
          <p:nvPr>
            <p:ph type="title"/>
          </p:nvPr>
        </p:nvSpPr>
        <p:spPr/>
        <p:txBody>
          <a:bodyPr>
            <a:normAutofit/>
          </a:bodyPr>
          <a:lstStyle/>
          <a:p>
            <a:r>
              <a:rPr lang="en-US" sz="2400" dirty="0"/>
              <a:t>Attribute Operations 5/5</a:t>
            </a:r>
            <a:endParaRPr lang="en-US" sz="3200" dirty="0"/>
          </a:p>
        </p:txBody>
      </p:sp>
      <p:grpSp>
        <p:nvGrpSpPr>
          <p:cNvPr id="14" name="Group 13" descr="Code for geographic data and spatial ETL with Python">
            <a:extLst>
              <a:ext uri="{FF2B5EF4-FFF2-40B4-BE49-F238E27FC236}">
                <a16:creationId xmlns:a16="http://schemas.microsoft.com/office/drawing/2014/main" id="{7FE206AB-A53E-D169-AA99-A908243DEE7A}"/>
              </a:ext>
            </a:extLst>
          </p:cNvPr>
          <p:cNvGrpSpPr/>
          <p:nvPr/>
        </p:nvGrpSpPr>
        <p:grpSpPr>
          <a:xfrm>
            <a:off x="457200" y="1416684"/>
            <a:ext cx="8229600" cy="1508105"/>
            <a:chOff x="457200" y="2797149"/>
            <a:chExt cx="8229600" cy="1508105"/>
          </a:xfrm>
        </p:grpSpPr>
        <p:sp>
          <p:nvSpPr>
            <p:cNvPr id="2" name="TextBox 1">
              <a:extLst>
                <a:ext uri="{FF2B5EF4-FFF2-40B4-BE49-F238E27FC236}">
                  <a16:creationId xmlns:a16="http://schemas.microsoft.com/office/drawing/2014/main" id="{8C9613BE-000B-C73E-EF70-3DE3C0F5544F}"/>
                </a:ext>
              </a:extLst>
            </p:cNvPr>
            <p:cNvSpPr txBox="1"/>
            <p:nvPr/>
          </p:nvSpPr>
          <p:spPr>
            <a:xfrm>
              <a:off x="457200" y="322803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074756F3-21E3-78B0-3D86-27B3DF02A4E6}"/>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Read Raster as NumPy Array</a:t>
              </a:r>
            </a:p>
            <a:p>
              <a:r>
                <a:rPr lang="en-US" sz="1400" i="1" dirty="0">
                  <a:ea typeface="OSAKA-MONO" panose="020B0600000000000000" pitchFamily="34" charset="-128"/>
                  <a:cs typeface="Menlo" panose="020B0609030804020204" pitchFamily="49" charset="0"/>
                </a:rPr>
                <a:t>Read Raster as NumPy Array</a:t>
              </a:r>
            </a:p>
          </p:txBody>
        </p:sp>
      </p:grpSp>
      <p:grpSp>
        <p:nvGrpSpPr>
          <p:cNvPr id="13" name="Group 12" descr="Code for geographic data and spatial ETL with Python">
            <a:extLst>
              <a:ext uri="{FF2B5EF4-FFF2-40B4-BE49-F238E27FC236}">
                <a16:creationId xmlns:a16="http://schemas.microsoft.com/office/drawing/2014/main" id="{DB4EF5B8-6246-1B54-0099-6DCC69FB2F67}"/>
              </a:ext>
            </a:extLst>
          </p:cNvPr>
          <p:cNvGrpSpPr/>
          <p:nvPr/>
        </p:nvGrpSpPr>
        <p:grpSpPr>
          <a:xfrm>
            <a:off x="457200" y="3096066"/>
            <a:ext cx="8229600" cy="1292662"/>
            <a:chOff x="457200" y="3535813"/>
            <a:chExt cx="8229600" cy="1292662"/>
          </a:xfrm>
        </p:grpSpPr>
        <p:sp>
          <p:nvSpPr>
            <p:cNvPr id="7" name="TextBox 6">
              <a:extLst>
                <a:ext uri="{FF2B5EF4-FFF2-40B4-BE49-F238E27FC236}">
                  <a16:creationId xmlns:a16="http://schemas.microsoft.com/office/drawing/2014/main" id="{9DF4F888-C51E-22A8-B302-E0C7AA303FDF}"/>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Raster Summaries</a:t>
              </a:r>
            </a:p>
          </p:txBody>
        </p:sp>
        <p:sp>
          <p:nvSpPr>
            <p:cNvPr id="8" name="TextBox 7">
              <a:extLst>
                <a:ext uri="{FF2B5EF4-FFF2-40B4-BE49-F238E27FC236}">
                  <a16:creationId xmlns:a16="http://schemas.microsoft.com/office/drawing/2014/main" id="{7C1674F3-B825-F8CD-886E-7CABAE014D11}"/>
                </a:ext>
              </a:extLst>
            </p:cNvPr>
            <p:cNvSpPr txBox="1"/>
            <p:nvPr/>
          </p:nvSpPr>
          <p:spPr>
            <a:xfrm>
              <a:off x="457200" y="3751257"/>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elev.astype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('float64')</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5" name="Group 4" descr="Code for geographic data and spatial ETL with Python">
            <a:extLst>
              <a:ext uri="{FF2B5EF4-FFF2-40B4-BE49-F238E27FC236}">
                <a16:creationId xmlns:a16="http://schemas.microsoft.com/office/drawing/2014/main" id="{312855C4-FFFF-2EE8-D71E-98D4FE57EDC2}"/>
              </a:ext>
            </a:extLst>
          </p:cNvPr>
          <p:cNvGrpSpPr/>
          <p:nvPr/>
        </p:nvGrpSpPr>
        <p:grpSpPr>
          <a:xfrm>
            <a:off x="457200" y="4604172"/>
            <a:ext cx="8229600" cy="1723549"/>
            <a:chOff x="457200" y="3535813"/>
            <a:chExt cx="8229600" cy="1723549"/>
          </a:xfrm>
        </p:grpSpPr>
        <p:sp>
          <p:nvSpPr>
            <p:cNvPr id="16" name="TextBox 15">
              <a:extLst>
                <a:ext uri="{FF2B5EF4-FFF2-40B4-BE49-F238E27FC236}">
                  <a16:creationId xmlns:a16="http://schemas.microsoft.com/office/drawing/2014/main" id="{E046FFBD-4CC4-E108-6505-B84B23E41893}"/>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Raster Categorical Frequency</a:t>
              </a:r>
            </a:p>
          </p:txBody>
        </p:sp>
        <p:sp>
          <p:nvSpPr>
            <p:cNvPr id="17" name="TextBox 16">
              <a:extLst>
                <a:ext uri="{FF2B5EF4-FFF2-40B4-BE49-F238E27FC236}">
                  <a16:creationId xmlns:a16="http://schemas.microsoft.com/office/drawing/2014/main" id="{2915B2EA-E84F-25E6-66F0-3960787C8048}"/>
                </a:ext>
              </a:extLst>
            </p:cNvPr>
            <p:cNvSpPr txBox="1"/>
            <p:nvPr/>
          </p:nvSpPr>
          <p:spPr>
            <a:xfrm>
              <a:off x="457200" y="3751257"/>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np.unique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return_counts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=True)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plt.bar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8" name="Slide Number Placeholder 17">
            <a:extLst>
              <a:ext uri="{FF2B5EF4-FFF2-40B4-BE49-F238E27FC236}">
                <a16:creationId xmlns:a16="http://schemas.microsoft.com/office/drawing/2014/main" id="{3EFF929C-6704-164B-3A3F-FCE3119F39D7}"/>
              </a:ext>
            </a:extLst>
          </p:cNvPr>
          <p:cNvSpPr>
            <a:spLocks noGrp="1"/>
          </p:cNvSpPr>
          <p:nvPr>
            <p:ph type="sldNum" sz="quarter" idx="12"/>
          </p:nvPr>
        </p:nvSpPr>
        <p:spPr/>
        <p:txBody>
          <a:bodyPr/>
          <a:lstStyle/>
          <a:p>
            <a:fld id="{C0343C75-1924-D247-85A3-0CB62E67E5D1}" type="slidenum">
              <a:rPr lang="en-US" smtClean="0"/>
              <a:t>57</a:t>
            </a:fld>
            <a:endParaRPr lang="en-US"/>
          </a:p>
        </p:txBody>
      </p:sp>
    </p:spTree>
    <p:extLst>
      <p:ext uri="{BB962C8B-B14F-4D97-AF65-F5344CB8AC3E}">
        <p14:creationId xmlns:p14="http://schemas.microsoft.com/office/powerpoint/2010/main" val="1210678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1B9B212-964B-C243-AF67-DFBA28540867}" vid="{19089797-CD65-6D4A-A3BA-F0C0B60BAD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698</TotalTime>
  <Words>4216</Words>
  <Application>Microsoft Macintosh PowerPoint</Application>
  <PresentationFormat>On-screen Show (4:3)</PresentationFormat>
  <Paragraphs>731</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OSAKA-MONO</vt:lpstr>
      <vt:lpstr>Aptos</vt:lpstr>
      <vt:lpstr>Aptos Display</vt:lpstr>
      <vt:lpstr>Arial</vt:lpstr>
      <vt:lpstr>System Font Regular</vt:lpstr>
      <vt:lpstr>Wingdings</vt:lpstr>
      <vt:lpstr>Office Theme</vt:lpstr>
      <vt:lpstr>Geographic Data and Spatial ETL</vt:lpstr>
      <vt:lpstr>Plan for Today</vt:lpstr>
      <vt:lpstr>Previously</vt:lpstr>
      <vt:lpstr>Spatial Data Models</vt:lpstr>
      <vt:lpstr>Coordinate Reference Systems (CRS)</vt:lpstr>
      <vt:lpstr>Coordinate Reference Systems (CRS)</vt:lpstr>
      <vt:lpstr>Some Essential R Packages</vt:lpstr>
      <vt:lpstr>Features and Attribute Data</vt:lpstr>
      <vt:lpstr>Attribute Data</vt:lpstr>
      <vt:lpstr>Attribute Table</vt:lpstr>
      <vt:lpstr>Attribute Data Extract, Transform, Load</vt:lpstr>
      <vt:lpstr>Attribute Data Workflow</vt:lpstr>
      <vt:lpstr>Statistical Maps &amp; Thematic Mapping</vt:lpstr>
      <vt:lpstr>Distribution Maps</vt:lpstr>
      <vt:lpstr>Equal Interval</vt:lpstr>
      <vt:lpstr>Quantile Map</vt:lpstr>
      <vt:lpstr>Boxplot Map</vt:lpstr>
      <vt:lpstr>IQR Map</vt:lpstr>
      <vt:lpstr>Standard Deviation Map</vt:lpstr>
      <vt:lpstr>Color Ramps</vt:lpstr>
      <vt:lpstr>Color Ramps Best Practices</vt:lpstr>
      <vt:lpstr>Color Ramp Example</vt:lpstr>
      <vt:lpstr>Vector Attribute Operations 1</vt:lpstr>
      <vt:lpstr>Subsetting</vt:lpstr>
      <vt:lpstr>Chaining Operations with Pipes (Ref.)</vt:lpstr>
      <vt:lpstr>Vector Attribute Operations 2</vt:lpstr>
      <vt:lpstr>Aggregation</vt:lpstr>
      <vt:lpstr>Vector Attribute Operations 3</vt:lpstr>
      <vt:lpstr>Attribute Joins</vt:lpstr>
      <vt:lpstr>Vector Attribute Operations 4</vt:lpstr>
      <vt:lpstr>Vector Attribute Operations 4</vt:lpstr>
      <vt:lpstr>Raster Attribute Operations</vt:lpstr>
      <vt:lpstr>Raster Data Operations</vt:lpstr>
      <vt:lpstr>Map Algebra (More Later in Raster Analysis)</vt:lpstr>
      <vt:lpstr>Pre-Processing Workflows</vt:lpstr>
      <vt:lpstr>Spatial ETL Workflow</vt:lpstr>
      <vt:lpstr>Practical Example: Coffee Production</vt:lpstr>
      <vt:lpstr>Best Practices</vt:lpstr>
      <vt:lpstr>Common Pitfalls</vt:lpstr>
      <vt:lpstr>Questions to Practice</vt:lpstr>
      <vt:lpstr>Assignment #2 – Objective</vt:lpstr>
      <vt:lpstr>Assignment #2 – Background</vt:lpstr>
      <vt:lpstr>Assignment #2 – Part 1</vt:lpstr>
      <vt:lpstr>Assignment #2 – Part 2</vt:lpstr>
      <vt:lpstr>Assignment #2 – Hints 1</vt:lpstr>
      <vt:lpstr>Assignment #2 – Part 3</vt:lpstr>
      <vt:lpstr>Assignment #2 – Hints 2</vt:lpstr>
      <vt:lpstr>Assignment #2 – Part 4</vt:lpstr>
      <vt:lpstr>Assignment #2 – Hints 3</vt:lpstr>
      <vt:lpstr>Assignment #2 – Part 5</vt:lpstr>
      <vt:lpstr>Assignment #2 – Hints 4</vt:lpstr>
      <vt:lpstr>Assignment #2 – Part 6</vt:lpstr>
      <vt:lpstr>7. Appendix Geographic Data &amp; Spatial ETL with Python Attribute Operations 1/5</vt:lpstr>
      <vt:lpstr>Attribute Operations 2/5</vt:lpstr>
      <vt:lpstr>Attribute Operations 3/5</vt:lpstr>
      <vt:lpstr>Attribute Operations 4/5</vt:lpstr>
      <vt:lpstr>Attribute Operations 5/5</vt:lpstr>
    </vt:vector>
  </TitlesOfParts>
  <Manager/>
  <Company>TAMU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Abuabara, Alexander</cp:lastModifiedBy>
  <cp:revision>134</cp:revision>
  <dcterms:created xsi:type="dcterms:W3CDTF">2026-01-28T15:14:05Z</dcterms:created>
  <dcterms:modified xsi:type="dcterms:W3CDTF">2026-01-29T18:11:54Z</dcterms:modified>
  <cp:category/>
</cp:coreProperties>
</file>