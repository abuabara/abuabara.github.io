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4"/>
  </p:notesMasterIdLst>
  <p:sldIdLst>
    <p:sldId id="256" r:id="rId2"/>
    <p:sldId id="257" r:id="rId3"/>
    <p:sldId id="269" r:id="rId4"/>
    <p:sldId id="267" r:id="rId5"/>
    <p:sldId id="270" r:id="rId6"/>
    <p:sldId id="274" r:id="rId7"/>
    <p:sldId id="275" r:id="rId8"/>
    <p:sldId id="271" r:id="rId9"/>
    <p:sldId id="276" r:id="rId10"/>
    <p:sldId id="272" r:id="rId11"/>
    <p:sldId id="273" r:id="rId12"/>
    <p:sldId id="277" r:id="rId13"/>
    <p:sldId id="278" r:id="rId14"/>
    <p:sldId id="280" r:id="rId15"/>
    <p:sldId id="281" r:id="rId16"/>
    <p:sldId id="282" r:id="rId17"/>
    <p:sldId id="283" r:id="rId18"/>
    <p:sldId id="284" r:id="rId19"/>
    <p:sldId id="285" r:id="rId20"/>
    <p:sldId id="286" r:id="rId21"/>
    <p:sldId id="287" r:id="rId22"/>
    <p:sldId id="279"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14"/>
    <p:restoredTop sz="94694"/>
  </p:normalViewPr>
  <p:slideViewPr>
    <p:cSldViewPr snapToGrid="0">
      <p:cViewPr varScale="1">
        <p:scale>
          <a:sx n="117" d="100"/>
          <a:sy n="117" d="100"/>
        </p:scale>
        <p:origin x="13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9D2453-4CC3-1049-BDA0-A2D44FD2EE18}" type="datetimeFigureOut">
              <a:rPr lang="en-US" smtClean="0"/>
              <a:t>3/19/26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425F1-97A2-E247-8757-44634C732652}" type="slidenum">
              <a:rPr lang="en-US" smtClean="0"/>
              <a:t>‹#›</a:t>
            </a:fld>
            <a:endParaRPr lang="en-US"/>
          </a:p>
        </p:txBody>
      </p:sp>
    </p:spTree>
    <p:extLst>
      <p:ext uri="{BB962C8B-B14F-4D97-AF65-F5344CB8AC3E}">
        <p14:creationId xmlns:p14="http://schemas.microsoft.com/office/powerpoint/2010/main" val="1210186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B5C9A7-F787-4041-AEDB-60D4A3F54D8B}" type="datetime1">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F2192-FCF0-E941-8400-D09802F085DF}" type="datetime1">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DFEA6E-7243-1E43-BBEE-8015477642E9}" type="datetime1">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a:solidFill>
            <a:srgbClr val="002060"/>
          </a:solidFill>
        </p:spPr>
        <p:txBody>
          <a:bodyPr/>
          <a:lstStyle>
            <a:lvl1pPr>
              <a:buNone/>
              <a:defRPr sz="1600" b="1">
                <a:solidFill>
                  <a:schemeClr val="bg1"/>
                </a:solidFill>
                <a:latin typeface="Consolas" panose="020B0609020204030204" pitchFamily="49" charset="0"/>
                <a:cs typeface="Consolas" panose="020B0609020204030204" pitchFamily="49" charset="0"/>
              </a:defRPr>
            </a:lvl1pPr>
            <a:lvl2pPr>
              <a:buNone/>
              <a:defRPr sz="1600" b="1">
                <a:latin typeface="Consolas" panose="020B0609020204030204" pitchFamily="49" charset="0"/>
                <a:cs typeface="Consolas" panose="020B0609020204030204" pitchFamily="49" charset="0"/>
              </a:defRPr>
            </a:lvl2pPr>
            <a:lvl3pPr>
              <a:defRPr sz="1600" b="1">
                <a:latin typeface="Consolas" panose="020B0609020204030204" pitchFamily="49" charset="0"/>
                <a:cs typeface="Consolas" panose="020B0609020204030204" pitchFamily="49" charset="0"/>
              </a:defRPr>
            </a:lvl3pPr>
            <a:lvl4pPr>
              <a:defRPr sz="1600" b="1">
                <a:latin typeface="Consolas" panose="020B0609020204030204" pitchFamily="49" charset="0"/>
                <a:cs typeface="Consolas" panose="020B0609020204030204" pitchFamily="49" charset="0"/>
              </a:defRPr>
            </a:lvl4pPr>
            <a:lvl5pPr>
              <a:defRPr sz="1600" b="1">
                <a:latin typeface="Consolas" panose="020B0609020204030204" pitchFamily="49" charset="0"/>
                <a:cs typeface="Consolas" panose="020B0609020204030204" pitchFamily="49" charset="0"/>
              </a:defRPr>
            </a:lvl5pPr>
          </a:lstStyle>
          <a:p>
            <a:pPr lvl="0"/>
            <a:r>
              <a:rPr lang="en-US"/>
              <a:t>Click to edit Master text styles</a:t>
            </a:r>
          </a:p>
        </p:txBody>
      </p:sp>
      <p:sp>
        <p:nvSpPr>
          <p:cNvPr id="5" name="Date Placeholder 4"/>
          <p:cNvSpPr>
            <a:spLocks noGrp="1"/>
          </p:cNvSpPr>
          <p:nvPr>
            <p:ph type="dt" sz="half" idx="10"/>
          </p:nvPr>
        </p:nvSpPr>
        <p:spPr/>
        <p:txBody>
          <a:bodyPr/>
          <a:lstStyle/>
          <a:p>
            <a:fld id="{466A0F05-4D18-6C4B-A157-AC7DEEAB7560}" type="datetime1">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96932"/>
            <a:ext cx="4040982" cy="3792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396932"/>
            <a:ext cx="4057650" cy="3792731"/>
          </a:xfrm>
          <a:solidFill>
            <a:srgbClr val="002060"/>
          </a:solidFill>
        </p:spPr>
        <p:txBody>
          <a:bodyPr/>
          <a:lstStyle>
            <a:lvl1pPr>
              <a:buNone/>
              <a:defRPr sz="1600">
                <a:solidFill>
                  <a:schemeClr val="bg1"/>
                </a:solidFill>
                <a:latin typeface="Consolas" panose="020B0609020204030204" pitchFamily="49" charset="0"/>
                <a:cs typeface="Consolas" panose="020B0609020204030204" pitchFamily="49" charset="0"/>
              </a:defRPr>
            </a:lvl1pPr>
            <a:lvl2pPr>
              <a:defRPr sz="1800">
                <a:solidFill>
                  <a:schemeClr val="bg1"/>
                </a:solidFill>
                <a:latin typeface="Consolas" panose="020B0609020204030204" pitchFamily="49" charset="0"/>
                <a:cs typeface="Consolas" panose="020B0609020204030204" pitchFamily="49" charset="0"/>
              </a:defRPr>
            </a:lvl2pPr>
            <a:lvl3pPr>
              <a:defRPr sz="1800">
                <a:solidFill>
                  <a:schemeClr val="bg1"/>
                </a:solidFill>
                <a:latin typeface="Consolas" panose="020B0609020204030204" pitchFamily="49" charset="0"/>
                <a:cs typeface="Consolas" panose="020B0609020204030204" pitchFamily="49" charset="0"/>
              </a:defRPr>
            </a:lvl3pPr>
            <a:lvl4pPr>
              <a:defRPr sz="1800">
                <a:solidFill>
                  <a:schemeClr val="bg1"/>
                </a:solidFill>
                <a:latin typeface="Consolas" panose="020B0609020204030204" pitchFamily="49" charset="0"/>
                <a:cs typeface="Consolas" panose="020B0609020204030204" pitchFamily="49" charset="0"/>
              </a:defRPr>
            </a:lvl4pPr>
            <a:lvl5pPr>
              <a:defRPr sz="1800">
                <a:solidFill>
                  <a:schemeClr val="bg1"/>
                </a:solidFill>
                <a:latin typeface="Consolas" panose="020B0609020204030204" pitchFamily="49" charset="0"/>
                <a:cs typeface="Consolas" panose="020B0609020204030204" pitchFamily="49" charset="0"/>
              </a:defRPr>
            </a:lvl5pPr>
          </a:lstStyle>
          <a:p>
            <a:pPr lvl="0"/>
            <a:r>
              <a:rPr lang="en-US"/>
              <a:t>Click to edit Master text styles</a:t>
            </a:r>
          </a:p>
        </p:txBody>
      </p:sp>
      <p:sp>
        <p:nvSpPr>
          <p:cNvPr id="7" name="Date Placeholder 6"/>
          <p:cNvSpPr>
            <a:spLocks noGrp="1"/>
          </p:cNvSpPr>
          <p:nvPr>
            <p:ph type="dt" sz="half" idx="10"/>
          </p:nvPr>
        </p:nvSpPr>
        <p:spPr/>
        <p:txBody>
          <a:bodyPr/>
          <a:lstStyle/>
          <a:p>
            <a:fld id="{E3DE818E-DE89-8744-8642-54A6343CD327}" type="datetime1">
              <a:rPr lang="en-US" smtClean="0"/>
              <a:t>3/19/26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2159D3-8A8C-8C48-A751-F2E9EA100964}" type="datetime1">
              <a:rPr lang="en-US" smtClean="0"/>
              <a:t>3/19/26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67BC75-C30D-D846-BF90-0C771328CE50}" type="datetime1">
              <a:rPr lang="en-US" smtClean="0"/>
              <a:t>3/19/26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0BB790-3997-5E41-AA4C-A984311E028D}" type="datetime1">
              <a:rPr lang="en-US" smtClean="0"/>
              <a:t>3/19/26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y.geocompx.org/04-geometry-operations#sec-geo-ras" TargetMode="External"/><Relationship Id="rId2" Type="http://schemas.openxmlformats.org/officeDocument/2006/relationships/hyperlink" Target="https://r.geocompx.org/geometry-operations#geo-ras"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Geometry Operations with Raster Data and Data Cubes</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lstStyle/>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1151EB84-04E8-C58A-2147-BF7DB59DD9C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E511-C700-6D49-801A-89DFC254A12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F4F6C31E-2EA5-01F6-E74F-08DAB40A9AE8}"/>
              </a:ext>
            </a:extLst>
          </p:cNvPr>
          <p:cNvSpPr>
            <a:spLocks noGrp="1"/>
          </p:cNvSpPr>
          <p:nvPr>
            <p:ph idx="1"/>
          </p:nvPr>
        </p:nvSpPr>
        <p:spPr/>
        <p:txBody>
          <a:bodyPr>
            <a:normAutofit lnSpcReduction="10000"/>
          </a:bodyPr>
          <a:lstStyle/>
          <a:p>
            <a:r>
              <a:rPr lang="en-US" dirty="0"/>
              <a:t>Geometric raster operations include the shifting, flipping, mirroring, scaling, rotation or warping of images</a:t>
            </a:r>
          </a:p>
          <a:p>
            <a:pPr lvl="1"/>
            <a:r>
              <a:rPr lang="en-US" dirty="0"/>
              <a:t>These operations are necessary for a variety of applications including georeferencing (used to allow images to be overlaid on an accurate map with a known CRS)</a:t>
            </a:r>
          </a:p>
          <a:p>
            <a:r>
              <a:rPr lang="en-US" dirty="0"/>
              <a:t>A variety of georeferencing techniques exist, including:</a:t>
            </a:r>
          </a:p>
          <a:p>
            <a:pPr lvl="1"/>
            <a:r>
              <a:rPr lang="en-US" dirty="0"/>
              <a:t>Georectification based on known ground control points</a:t>
            </a:r>
          </a:p>
          <a:p>
            <a:pPr lvl="1"/>
            <a:r>
              <a:rPr lang="en-US" dirty="0"/>
              <a:t>Orthorectification, which also accounts for local topography</a:t>
            </a:r>
          </a:p>
          <a:p>
            <a:pPr lvl="1"/>
            <a:r>
              <a:rPr lang="en-US" dirty="0"/>
              <a:t>Image registration is used to combine images of the same thing, but shot from different sensors by aligning one image with another (in terms of coordinate system and resolution)</a:t>
            </a:r>
          </a:p>
          <a:p>
            <a:r>
              <a:rPr lang="en-US" dirty="0"/>
              <a:t>R is rather unsuitable for the first two points since these often require manual intervention which is why they are usually done with the help of dedicated GIS software</a:t>
            </a:r>
          </a:p>
          <a:p>
            <a:pPr lvl="1"/>
            <a:r>
              <a:rPr lang="en-US" dirty="0"/>
              <a:t>On the other hand, aligning several images is possible</a:t>
            </a:r>
          </a:p>
        </p:txBody>
      </p:sp>
      <p:sp>
        <p:nvSpPr>
          <p:cNvPr id="4" name="Slide Number Placeholder 3">
            <a:extLst>
              <a:ext uri="{FF2B5EF4-FFF2-40B4-BE49-F238E27FC236}">
                <a16:creationId xmlns:a16="http://schemas.microsoft.com/office/drawing/2014/main" id="{FA032FD5-A6A3-C356-1F6B-9024EC3B44DF}"/>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4118954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E4E87-6FB0-E874-9E45-FC7C56D303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C1A083-4EE8-248C-9F1D-FCA419C6FD89}"/>
              </a:ext>
            </a:extLst>
          </p:cNvPr>
          <p:cNvSpPr>
            <a:spLocks noGrp="1"/>
          </p:cNvSpPr>
          <p:nvPr>
            <p:ph type="title"/>
          </p:nvPr>
        </p:nvSpPr>
        <p:spPr/>
        <p:txBody>
          <a:bodyPr/>
          <a:lstStyle/>
          <a:p>
            <a:r>
              <a:rPr lang="en-US" dirty="0"/>
              <a:t>Geometric Operations</a:t>
            </a:r>
            <a:br>
              <a:rPr lang="en-US" dirty="0"/>
            </a:br>
            <a:r>
              <a:rPr lang="en-US" dirty="0"/>
              <a:t>on Raster Data</a:t>
            </a:r>
          </a:p>
        </p:txBody>
      </p:sp>
      <p:sp>
        <p:nvSpPr>
          <p:cNvPr id="5" name="Text Placeholder 4">
            <a:extLst>
              <a:ext uri="{FF2B5EF4-FFF2-40B4-BE49-F238E27FC236}">
                <a16:creationId xmlns:a16="http://schemas.microsoft.com/office/drawing/2014/main" id="{148276CD-DBF4-65AD-CEA4-783DC5D35860}"/>
              </a:ext>
            </a:extLst>
          </p:cNvPr>
          <p:cNvSpPr>
            <a:spLocks noGrp="1"/>
          </p:cNvSpPr>
          <p:nvPr>
            <p:ph type="body" idx="1"/>
          </p:nvPr>
        </p:nvSpPr>
        <p:spPr/>
        <p:txBody>
          <a:bodyPr>
            <a:normAutofit/>
          </a:bodyPr>
          <a:lstStyle/>
          <a:p>
            <a:r>
              <a:rPr lang="en-US" sz="1600" b="1" dirty="0"/>
              <a:t>Resources:</a:t>
            </a:r>
          </a:p>
          <a:p>
            <a:pPr marL="177800" indent="-177800">
              <a:buFont typeface="Arial" panose="020B0604020202020204" pitchFamily="34" charset="0"/>
              <a:buChar char="•"/>
            </a:pPr>
            <a:r>
              <a:rPr lang="en-US" sz="1600" dirty="0"/>
              <a:t>R </a:t>
            </a:r>
            <a:r>
              <a:rPr lang="en-US" sz="1600" dirty="0">
                <a:hlinkClick r:id="rId2"/>
              </a:rPr>
              <a:t>https://r.geocompx.org/geometry-operations#geo-ras</a:t>
            </a:r>
            <a:endParaRPr lang="en-US" sz="1600" dirty="0"/>
          </a:p>
          <a:p>
            <a:pPr marL="177800" indent="-177800">
              <a:buFont typeface="Arial" panose="020B0604020202020204" pitchFamily="34" charset="0"/>
              <a:buChar char="•"/>
            </a:pPr>
            <a:r>
              <a:rPr lang="en-US" sz="1600" dirty="0"/>
              <a:t>Python </a:t>
            </a:r>
            <a:r>
              <a:rPr lang="en-US" sz="1600" dirty="0">
                <a:hlinkClick r:id="rId3"/>
              </a:rPr>
              <a:t>https://py.geocompx.org/04-geometry-operations#sec-geo-ras</a:t>
            </a:r>
            <a:endParaRPr lang="en-US" sz="1600" dirty="0"/>
          </a:p>
        </p:txBody>
      </p:sp>
      <p:sp>
        <p:nvSpPr>
          <p:cNvPr id="2" name="Slide Number Placeholder 1">
            <a:extLst>
              <a:ext uri="{FF2B5EF4-FFF2-40B4-BE49-F238E27FC236}">
                <a16:creationId xmlns:a16="http://schemas.microsoft.com/office/drawing/2014/main" id="{D5B635C4-B152-E01B-2437-B38FD33F46E8}"/>
              </a:ext>
            </a:extLst>
          </p:cNvPr>
          <p:cNvSpPr>
            <a:spLocks noGrp="1"/>
          </p:cNvSpPr>
          <p:nvPr>
            <p:ph type="sldNum" sz="quarter" idx="12"/>
          </p:nvPr>
        </p:nvSpPr>
        <p:spPr/>
        <p:txBody>
          <a:bodyPr/>
          <a:lstStyle/>
          <a:p>
            <a:fld id="{C0343C75-1924-D247-85A3-0CB62E67E5D1}" type="slidenum">
              <a:rPr lang="en-US" smtClean="0"/>
              <a:t>3</a:t>
            </a:fld>
            <a:endParaRPr lang="en-US"/>
          </a:p>
        </p:txBody>
      </p:sp>
    </p:spTree>
    <p:extLst>
      <p:ext uri="{BB962C8B-B14F-4D97-AF65-F5344CB8AC3E}">
        <p14:creationId xmlns:p14="http://schemas.microsoft.com/office/powerpoint/2010/main" val="405358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C294-4581-C552-91DE-3B4FCF37D0D2}"/>
              </a:ext>
            </a:extLst>
          </p:cNvPr>
          <p:cNvSpPr>
            <a:spLocks noGrp="1"/>
          </p:cNvSpPr>
          <p:nvPr>
            <p:ph type="title"/>
          </p:nvPr>
        </p:nvSpPr>
        <p:spPr/>
        <p:txBody>
          <a:bodyPr/>
          <a:lstStyle/>
          <a:p>
            <a:r>
              <a:rPr lang="en-US" dirty="0"/>
              <a:t>Geometric Intersections</a:t>
            </a:r>
          </a:p>
        </p:txBody>
      </p:sp>
      <p:sp>
        <p:nvSpPr>
          <p:cNvPr id="4" name="Content Placeholder 3">
            <a:extLst>
              <a:ext uri="{FF2B5EF4-FFF2-40B4-BE49-F238E27FC236}">
                <a16:creationId xmlns:a16="http://schemas.microsoft.com/office/drawing/2014/main" id="{3BCE5080-553D-E9BB-B541-A344CD71E9B5}"/>
              </a:ext>
            </a:extLst>
          </p:cNvPr>
          <p:cNvSpPr>
            <a:spLocks noGrp="1"/>
          </p:cNvSpPr>
          <p:nvPr>
            <p:ph sz="half" idx="1"/>
          </p:nvPr>
        </p:nvSpPr>
        <p:spPr/>
        <p:txBody>
          <a:bodyPr>
            <a:normAutofit/>
          </a:bodyPr>
          <a:lstStyle/>
          <a:p>
            <a:r>
              <a:rPr lang="en-US" sz="2000" dirty="0"/>
              <a:t>To retrieve a spatial output, we can use almost the same </a:t>
            </a:r>
            <a:r>
              <a:rPr lang="en-US" sz="2000" dirty="0" err="1"/>
              <a:t>subsetting</a:t>
            </a:r>
            <a:r>
              <a:rPr lang="en-US" sz="2000" dirty="0"/>
              <a:t> syntax.</a:t>
            </a:r>
          </a:p>
          <a:p>
            <a:r>
              <a:rPr lang="en-US" sz="2000" dirty="0"/>
              <a:t>The only difference is that we must make clear that we would like to keep the matrix structure by setting the drop argument to </a:t>
            </a:r>
            <a:r>
              <a:rPr lang="en-US" sz="1800" b="1" dirty="0">
                <a:latin typeface="Consolas" panose="020B0609020204030204" pitchFamily="49" charset="0"/>
                <a:cs typeface="Consolas" panose="020B0609020204030204" pitchFamily="49" charset="0"/>
              </a:rPr>
              <a:t>FALSE</a:t>
            </a:r>
            <a:r>
              <a:rPr lang="en-US" sz="2000" dirty="0"/>
              <a:t>.</a:t>
            </a:r>
          </a:p>
          <a:p>
            <a:r>
              <a:rPr lang="en-US" sz="2000" dirty="0"/>
              <a:t>This will return a raster object containing the cells whose midpoints overlap with </a:t>
            </a:r>
            <a:r>
              <a:rPr lang="en-US" sz="1800" b="1" dirty="0">
                <a:latin typeface="Consolas" panose="020B0609020204030204" pitchFamily="49" charset="0"/>
                <a:cs typeface="Consolas" panose="020B0609020204030204" pitchFamily="49" charset="0"/>
              </a:rPr>
              <a:t>clip</a:t>
            </a:r>
            <a:r>
              <a:rPr lang="en-US" sz="2000" dirty="0"/>
              <a:t>.</a:t>
            </a:r>
          </a:p>
          <a:p>
            <a:r>
              <a:rPr lang="en-US" sz="2000" dirty="0"/>
              <a:t>For the same operation, we can also use the </a:t>
            </a:r>
            <a:r>
              <a:rPr lang="en-US" sz="1800" b="1" dirty="0">
                <a:latin typeface="Consolas" panose="020B0609020204030204" pitchFamily="49" charset="0"/>
                <a:cs typeface="Consolas" panose="020B0609020204030204" pitchFamily="49" charset="0"/>
              </a:rPr>
              <a:t>intersect()</a:t>
            </a:r>
            <a:r>
              <a:rPr lang="en-US" sz="2000" dirty="0"/>
              <a:t> and </a:t>
            </a:r>
            <a:r>
              <a:rPr lang="en-US" sz="1800" b="1" dirty="0">
                <a:latin typeface="Consolas" panose="020B0609020204030204" pitchFamily="49" charset="0"/>
                <a:cs typeface="Consolas" panose="020B0609020204030204" pitchFamily="49" charset="0"/>
              </a:rPr>
              <a:t>crop()</a:t>
            </a:r>
            <a:r>
              <a:rPr lang="en-US" sz="2000" dirty="0"/>
              <a:t> command.</a:t>
            </a:r>
          </a:p>
        </p:txBody>
      </p:sp>
      <p:sp>
        <p:nvSpPr>
          <p:cNvPr id="5" name="Content Placeholder 4">
            <a:extLst>
              <a:ext uri="{FF2B5EF4-FFF2-40B4-BE49-F238E27FC236}">
                <a16:creationId xmlns:a16="http://schemas.microsoft.com/office/drawing/2014/main" id="{53650F84-451A-0BDC-5425-71BD0A9F06F5}"/>
              </a:ext>
            </a:extLst>
          </p:cNvPr>
          <p:cNvSpPr>
            <a:spLocks noGrp="1"/>
          </p:cNvSpPr>
          <p:nvPr>
            <p:ph sz="half" idx="2"/>
          </p:nvPr>
        </p:nvSpPr>
        <p:spPr/>
        <p:txBody>
          <a:bodyPr>
            <a:normAutofit/>
          </a:bodyPr>
          <a:lstStyle/>
          <a:p>
            <a:r>
              <a:rPr lang="en-US" sz="1200" dirty="0"/>
              <a:t>library(sf)</a:t>
            </a:r>
          </a:p>
          <a:p>
            <a:r>
              <a:rPr lang="en-US" sz="1200" dirty="0"/>
              <a:t>library(</a:t>
            </a:r>
            <a:r>
              <a:rPr lang="en-US" sz="1200" dirty="0" err="1"/>
              <a:t>dplyr</a:t>
            </a:r>
            <a:r>
              <a:rPr lang="en-US" sz="1200" dirty="0"/>
              <a:t>)</a:t>
            </a:r>
          </a:p>
          <a:p>
            <a:r>
              <a:rPr lang="en-US" sz="1200" dirty="0"/>
              <a:t>library(</a:t>
            </a:r>
            <a:r>
              <a:rPr lang="en-US" sz="1200" dirty="0" err="1"/>
              <a:t>spData</a:t>
            </a:r>
            <a:r>
              <a:rPr lang="en-US" sz="1200" dirty="0"/>
              <a:t>)</a:t>
            </a:r>
          </a:p>
          <a:p>
            <a:r>
              <a:rPr lang="en-US" sz="1200" dirty="0"/>
              <a:t>library(terra)</a:t>
            </a:r>
          </a:p>
          <a:p>
            <a:endParaRPr lang="en-US" sz="1200" dirty="0"/>
          </a:p>
          <a:p>
            <a:r>
              <a:rPr lang="en-US" sz="1200" dirty="0" err="1"/>
              <a:t>elev</a:t>
            </a:r>
            <a:r>
              <a:rPr lang="en-US" sz="1200" dirty="0"/>
              <a:t> = </a:t>
            </a:r>
            <a:r>
              <a:rPr lang="en-US" sz="1200" dirty="0" err="1"/>
              <a:t>rast</a:t>
            </a:r>
            <a:r>
              <a:rPr lang="en-US" sz="1200" dirty="0"/>
              <a:t>(</a:t>
            </a:r>
            <a:r>
              <a:rPr lang="en-US" sz="1200" dirty="0" err="1"/>
              <a:t>system.file</a:t>
            </a:r>
            <a:r>
              <a:rPr lang="en-US" sz="1200" dirty="0"/>
              <a:t>("raster/</a:t>
            </a:r>
            <a:r>
              <a:rPr lang="en-US" sz="1200" dirty="0" err="1"/>
              <a:t>elev.tif</a:t>
            </a:r>
            <a:r>
              <a:rPr lang="en-US" sz="1200" dirty="0"/>
              <a:t>", package = "</a:t>
            </a:r>
            <a:r>
              <a:rPr lang="en-US" sz="1200" dirty="0" err="1"/>
              <a:t>spData</a:t>
            </a:r>
            <a:r>
              <a:rPr lang="en-US" sz="1200" dirty="0"/>
              <a:t>"))</a:t>
            </a:r>
          </a:p>
          <a:p>
            <a:endParaRPr lang="en-US" sz="1200" dirty="0"/>
          </a:p>
          <a:p>
            <a:r>
              <a:rPr lang="en-US" sz="1200" dirty="0"/>
              <a:t>clip = </a:t>
            </a:r>
            <a:r>
              <a:rPr lang="en-US" sz="1200" dirty="0" err="1"/>
              <a:t>rast</a:t>
            </a:r>
            <a:r>
              <a:rPr lang="en-US" sz="1200" dirty="0"/>
              <a:t>(</a:t>
            </a:r>
            <a:r>
              <a:rPr lang="en-US" sz="1200" dirty="0" err="1"/>
              <a:t>xmin</a:t>
            </a:r>
            <a:r>
              <a:rPr lang="en-US" sz="1200" dirty="0"/>
              <a:t> = 0.9,</a:t>
            </a:r>
            <a:br>
              <a:rPr lang="en-US" sz="1200" dirty="0"/>
            </a:br>
            <a:r>
              <a:rPr lang="en-US" sz="1200" dirty="0" err="1"/>
              <a:t>xmax</a:t>
            </a:r>
            <a:r>
              <a:rPr lang="en-US" sz="1200" dirty="0"/>
              <a:t> = 1.8,</a:t>
            </a:r>
            <a:br>
              <a:rPr lang="en-US" sz="1200" dirty="0"/>
            </a:br>
            <a:r>
              <a:rPr lang="en-US" sz="1200" dirty="0" err="1"/>
              <a:t>ymin</a:t>
            </a:r>
            <a:r>
              <a:rPr lang="en-US" sz="1200" dirty="0"/>
              <a:t> = -0.45,</a:t>
            </a:r>
            <a:br>
              <a:rPr lang="en-US" sz="1200" dirty="0"/>
            </a:br>
            <a:r>
              <a:rPr lang="en-US" sz="1200" dirty="0" err="1"/>
              <a:t>ymax</a:t>
            </a:r>
            <a:r>
              <a:rPr lang="en-US" sz="1200" dirty="0"/>
              <a:t> = 0.45,</a:t>
            </a:r>
            <a:br>
              <a:rPr lang="en-US" sz="1200" dirty="0"/>
            </a:br>
            <a:r>
              <a:rPr lang="en-US" sz="1200" dirty="0"/>
              <a:t>resolution = 0.3,</a:t>
            </a:r>
            <a:br>
              <a:rPr lang="en-US" sz="1200" dirty="0"/>
            </a:br>
            <a:r>
              <a:rPr lang="en-US" sz="1200" dirty="0" err="1"/>
              <a:t>vals</a:t>
            </a:r>
            <a:r>
              <a:rPr lang="en-US" sz="1200" dirty="0"/>
              <a:t> = rep(1, 9))</a:t>
            </a:r>
          </a:p>
          <a:p>
            <a:endParaRPr lang="en-US" sz="1200" dirty="0"/>
          </a:p>
          <a:p>
            <a:r>
              <a:rPr lang="en-US" sz="1200" dirty="0" err="1"/>
              <a:t>elev</a:t>
            </a:r>
            <a:r>
              <a:rPr lang="en-US" sz="1200" dirty="0"/>
              <a:t>[clip, drop = FALSE]</a:t>
            </a:r>
          </a:p>
        </p:txBody>
      </p:sp>
      <p:sp>
        <p:nvSpPr>
          <p:cNvPr id="3" name="Slide Number Placeholder 2">
            <a:extLst>
              <a:ext uri="{FF2B5EF4-FFF2-40B4-BE49-F238E27FC236}">
                <a16:creationId xmlns:a16="http://schemas.microsoft.com/office/drawing/2014/main" id="{C4959A14-9723-72F1-88DF-820B73683777}"/>
              </a:ext>
            </a:extLst>
          </p:cNvPr>
          <p:cNvSpPr>
            <a:spLocks noGrp="1"/>
          </p:cNvSpPr>
          <p:nvPr>
            <p:ph type="sldNum" sz="quarter" idx="12"/>
          </p:nvPr>
        </p:nvSpPr>
        <p:spPr/>
        <p:txBody>
          <a:bodyPr/>
          <a:lstStyle/>
          <a:p>
            <a:fld id="{C0343C75-1924-D247-85A3-0CB62E67E5D1}" type="slidenum">
              <a:rPr lang="en-US" smtClean="0"/>
              <a:t>4</a:t>
            </a:fld>
            <a:endParaRPr lang="en-US"/>
          </a:p>
        </p:txBody>
      </p:sp>
    </p:spTree>
    <p:extLst>
      <p:ext uri="{BB962C8B-B14F-4D97-AF65-F5344CB8AC3E}">
        <p14:creationId xmlns:p14="http://schemas.microsoft.com/office/powerpoint/2010/main" val="1796365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0C427-2FE1-B36D-9779-CC4A89AD60CF}"/>
              </a:ext>
            </a:extLst>
          </p:cNvPr>
          <p:cNvSpPr>
            <a:spLocks noGrp="1"/>
          </p:cNvSpPr>
          <p:nvPr>
            <p:ph type="title"/>
          </p:nvPr>
        </p:nvSpPr>
        <p:spPr/>
        <p:txBody>
          <a:bodyPr/>
          <a:lstStyle/>
          <a:p>
            <a:r>
              <a:rPr lang="en-US" dirty="0"/>
              <a:t>Extent and Origin</a:t>
            </a:r>
          </a:p>
        </p:txBody>
      </p:sp>
      <p:sp>
        <p:nvSpPr>
          <p:cNvPr id="4" name="Content Placeholder 3">
            <a:extLst>
              <a:ext uri="{FF2B5EF4-FFF2-40B4-BE49-F238E27FC236}">
                <a16:creationId xmlns:a16="http://schemas.microsoft.com/office/drawing/2014/main" id="{91D466CC-4F33-FF5B-EC0E-6AC41A667F9B}"/>
              </a:ext>
            </a:extLst>
          </p:cNvPr>
          <p:cNvSpPr>
            <a:spLocks noGrp="1"/>
          </p:cNvSpPr>
          <p:nvPr>
            <p:ph sz="half" idx="1"/>
          </p:nvPr>
        </p:nvSpPr>
        <p:spPr/>
        <p:txBody>
          <a:bodyPr>
            <a:normAutofit/>
          </a:bodyPr>
          <a:lstStyle/>
          <a:p>
            <a:r>
              <a:rPr lang="en-US" sz="1800" dirty="0"/>
              <a:t>When merging or performing map algebra on rasters, their resolution, projection, origin and/or extent must match.</a:t>
            </a:r>
          </a:p>
          <a:p>
            <a:r>
              <a:rPr lang="en-US" sz="1800" dirty="0"/>
              <a:t>Otherwise, how should we add the values of one raster with a resolution of 0.2 decimal degrees to a second raster with a resolution of 1 decimal degree?</a:t>
            </a:r>
          </a:p>
          <a:p>
            <a:r>
              <a:rPr lang="en-US" sz="1800" dirty="0"/>
              <a:t>The same problem arises when we would like to merge satellite imagery from different sensors with different projections and resolutions.</a:t>
            </a:r>
          </a:p>
          <a:p>
            <a:r>
              <a:rPr lang="en-US" sz="1800" dirty="0"/>
              <a:t>We can deal with such mismatches by aligning the rasters.</a:t>
            </a:r>
          </a:p>
        </p:txBody>
      </p:sp>
      <p:sp>
        <p:nvSpPr>
          <p:cNvPr id="5" name="Content Placeholder 4">
            <a:extLst>
              <a:ext uri="{FF2B5EF4-FFF2-40B4-BE49-F238E27FC236}">
                <a16:creationId xmlns:a16="http://schemas.microsoft.com/office/drawing/2014/main" id="{2133CD54-E63F-283D-DC68-EF16A84B3E65}"/>
              </a:ext>
            </a:extLst>
          </p:cNvPr>
          <p:cNvSpPr>
            <a:spLocks noGrp="1"/>
          </p:cNvSpPr>
          <p:nvPr>
            <p:ph sz="half" idx="2"/>
          </p:nvPr>
        </p:nvSpPr>
        <p:spPr/>
        <p:txBody>
          <a:bodyPr>
            <a:normAutofit/>
          </a:bodyPr>
          <a:lstStyle/>
          <a:p>
            <a:r>
              <a:rPr lang="en-US" sz="1200" dirty="0" err="1"/>
              <a:t>elev</a:t>
            </a:r>
            <a:r>
              <a:rPr lang="en-US" sz="1200" dirty="0"/>
              <a:t> = </a:t>
            </a:r>
            <a:r>
              <a:rPr lang="en-US" sz="1200" dirty="0" err="1"/>
              <a:t>rast</a:t>
            </a:r>
            <a:r>
              <a:rPr lang="en-US" sz="1200" dirty="0"/>
              <a:t>(</a:t>
            </a:r>
            <a:r>
              <a:rPr lang="en-US" sz="1200" dirty="0" err="1"/>
              <a:t>system.file</a:t>
            </a:r>
            <a:r>
              <a:rPr lang="en-US" sz="1200" dirty="0"/>
              <a:t>("raster/</a:t>
            </a:r>
            <a:r>
              <a:rPr lang="en-US" sz="1200" dirty="0" err="1"/>
              <a:t>elev.tif</a:t>
            </a:r>
            <a:r>
              <a:rPr lang="en-US" sz="1200" dirty="0"/>
              <a:t>", package = "</a:t>
            </a:r>
            <a:r>
              <a:rPr lang="en-US" sz="1200" dirty="0" err="1"/>
              <a:t>spData</a:t>
            </a:r>
            <a:r>
              <a:rPr lang="en-US" sz="1200" dirty="0"/>
              <a:t>"))</a:t>
            </a:r>
          </a:p>
          <a:p>
            <a:endParaRPr lang="en-US" sz="1200" dirty="0"/>
          </a:p>
          <a:p>
            <a:r>
              <a:rPr lang="en-US" sz="1200" dirty="0"/>
              <a:t>elev_2 = extend(</a:t>
            </a:r>
            <a:r>
              <a:rPr lang="en-US" sz="1200" dirty="0" err="1"/>
              <a:t>elev</a:t>
            </a:r>
            <a:r>
              <a:rPr lang="en-US" sz="1200" dirty="0"/>
              <a:t>, c(1, 2))</a:t>
            </a:r>
          </a:p>
          <a:p>
            <a:endParaRPr lang="en-US" sz="1200" dirty="0"/>
          </a:p>
          <a:p>
            <a:r>
              <a:rPr lang="en-US" sz="1200" dirty="0"/>
              <a:t>elev_3 = </a:t>
            </a:r>
            <a:r>
              <a:rPr lang="en-US" sz="1200" dirty="0" err="1"/>
              <a:t>elev</a:t>
            </a:r>
            <a:r>
              <a:rPr lang="en-US" sz="1200" dirty="0"/>
              <a:t> + elev_2</a:t>
            </a:r>
          </a:p>
          <a:p>
            <a:r>
              <a:rPr lang="en-US" sz="1200" dirty="0">
                <a:solidFill>
                  <a:schemeClr val="accent5">
                    <a:lumMod val="20000"/>
                    <a:lumOff val="80000"/>
                  </a:schemeClr>
                </a:solidFill>
              </a:rPr>
              <a:t># Error: [+] extents do not match</a:t>
            </a:r>
          </a:p>
        </p:txBody>
      </p:sp>
      <p:sp>
        <p:nvSpPr>
          <p:cNvPr id="3" name="Slide Number Placeholder 2">
            <a:extLst>
              <a:ext uri="{FF2B5EF4-FFF2-40B4-BE49-F238E27FC236}">
                <a16:creationId xmlns:a16="http://schemas.microsoft.com/office/drawing/2014/main" id="{F38F46DF-8FA5-9669-2739-033FB6F2023F}"/>
              </a:ext>
            </a:extLst>
          </p:cNvPr>
          <p:cNvSpPr>
            <a:spLocks noGrp="1"/>
          </p:cNvSpPr>
          <p:nvPr>
            <p:ph type="sldNum" sz="quarter" idx="12"/>
          </p:nvPr>
        </p:nvSpPr>
        <p:spPr/>
        <p:txBody>
          <a:bodyPr/>
          <a:lstStyle/>
          <a:p>
            <a:fld id="{C0343C75-1924-D247-85A3-0CB62E67E5D1}" type="slidenum">
              <a:rPr lang="en-US" smtClean="0"/>
              <a:t>5</a:t>
            </a:fld>
            <a:endParaRPr lang="en-US"/>
          </a:p>
        </p:txBody>
      </p:sp>
    </p:spTree>
    <p:extLst>
      <p:ext uri="{BB962C8B-B14F-4D97-AF65-F5344CB8AC3E}">
        <p14:creationId xmlns:p14="http://schemas.microsoft.com/office/powerpoint/2010/main" val="216695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C323CFA-6FCB-7D31-0289-01CF73D2AD30}"/>
              </a:ext>
            </a:extLst>
          </p:cNvPr>
          <p:cNvPicPr>
            <a:picLocks noGrp="1" noChangeAspect="1"/>
          </p:cNvPicPr>
          <p:nvPr>
            <p:ph idx="1"/>
          </p:nvPr>
        </p:nvPicPr>
        <p:blipFill>
          <a:blip r:embed="rId2"/>
          <a:stretch>
            <a:fillRect/>
          </a:stretch>
        </p:blipFill>
        <p:spPr>
          <a:xfrm>
            <a:off x="1828800" y="1775936"/>
            <a:ext cx="5486400" cy="2743200"/>
          </a:xfrm>
        </p:spPr>
      </p:pic>
      <p:sp>
        <p:nvSpPr>
          <p:cNvPr id="8" name="TextBox 7">
            <a:extLst>
              <a:ext uri="{FF2B5EF4-FFF2-40B4-BE49-F238E27FC236}">
                <a16:creationId xmlns:a16="http://schemas.microsoft.com/office/drawing/2014/main" id="{51C4DF8E-B87D-2D97-09D7-CA83D3DCDB0E}"/>
              </a:ext>
            </a:extLst>
          </p:cNvPr>
          <p:cNvSpPr txBox="1"/>
          <p:nvPr/>
        </p:nvSpPr>
        <p:spPr>
          <a:xfrm>
            <a:off x="1828800" y="4519136"/>
            <a:ext cx="5723906" cy="923330"/>
          </a:xfrm>
          <a:prstGeom prst="rect">
            <a:avLst/>
          </a:prstGeom>
          <a:noFill/>
        </p:spPr>
        <p:txBody>
          <a:bodyPr wrap="square" rtlCol="0">
            <a:spAutoFit/>
          </a:bodyPr>
          <a:lstStyle/>
          <a:p>
            <a:r>
              <a:rPr lang="en-US" dirty="0"/>
              <a:t>Original raster (left) and the same raster (right) extended by one row on the top and bottom and two columns on the left and right.</a:t>
            </a:r>
          </a:p>
        </p:txBody>
      </p:sp>
      <p:sp>
        <p:nvSpPr>
          <p:cNvPr id="2" name="Slide Number Placeholder 1">
            <a:extLst>
              <a:ext uri="{FF2B5EF4-FFF2-40B4-BE49-F238E27FC236}">
                <a16:creationId xmlns:a16="http://schemas.microsoft.com/office/drawing/2014/main" id="{724592DE-7DD7-058E-6778-0BAA4F872379}"/>
              </a:ext>
            </a:extLst>
          </p:cNvPr>
          <p:cNvSpPr>
            <a:spLocks noGrp="1"/>
          </p:cNvSpPr>
          <p:nvPr>
            <p:ph type="sldNum" sz="quarter" idx="12"/>
          </p:nvPr>
        </p:nvSpPr>
        <p:spPr/>
        <p:txBody>
          <a:bodyPr/>
          <a:lstStyle/>
          <a:p>
            <a:fld id="{C0343C75-1924-D247-85A3-0CB62E67E5D1}" type="slidenum">
              <a:rPr lang="en-US" smtClean="0"/>
              <a:t>6</a:t>
            </a:fld>
            <a:endParaRPr lang="en-US"/>
          </a:p>
        </p:txBody>
      </p:sp>
    </p:spTree>
    <p:extLst>
      <p:ext uri="{BB962C8B-B14F-4D97-AF65-F5344CB8AC3E}">
        <p14:creationId xmlns:p14="http://schemas.microsoft.com/office/powerpoint/2010/main" val="747612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5F83F-B6C7-77A4-4120-B3CAD43E1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14D04-68F9-E92E-B1D4-3DEB8EC255EC}"/>
              </a:ext>
            </a:extLst>
          </p:cNvPr>
          <p:cNvSpPr>
            <a:spLocks noGrp="1"/>
          </p:cNvSpPr>
          <p:nvPr>
            <p:ph type="title"/>
          </p:nvPr>
        </p:nvSpPr>
        <p:spPr/>
        <p:txBody>
          <a:bodyPr/>
          <a:lstStyle/>
          <a:p>
            <a:r>
              <a:rPr lang="en-US" dirty="0"/>
              <a:t>Extent and Origin</a:t>
            </a:r>
          </a:p>
        </p:txBody>
      </p:sp>
      <p:sp>
        <p:nvSpPr>
          <p:cNvPr id="4" name="Content Placeholder 3">
            <a:extLst>
              <a:ext uri="{FF2B5EF4-FFF2-40B4-BE49-F238E27FC236}">
                <a16:creationId xmlns:a16="http://schemas.microsoft.com/office/drawing/2014/main" id="{C85D467C-DC86-099D-761B-C7DCD38EE649}"/>
              </a:ext>
            </a:extLst>
          </p:cNvPr>
          <p:cNvSpPr>
            <a:spLocks noGrp="1"/>
          </p:cNvSpPr>
          <p:nvPr>
            <p:ph sz="half" idx="1"/>
          </p:nvPr>
        </p:nvSpPr>
        <p:spPr>
          <a:xfrm>
            <a:off x="457200" y="1596072"/>
            <a:ext cx="4114800" cy="4935357"/>
          </a:xfrm>
        </p:spPr>
        <p:txBody>
          <a:bodyPr>
            <a:normAutofit/>
          </a:bodyPr>
          <a:lstStyle/>
          <a:p>
            <a:r>
              <a:rPr lang="en-US" sz="1800" dirty="0"/>
              <a:t>However, we can align the extent of two rasters with </a:t>
            </a:r>
            <a:r>
              <a:rPr lang="en-US" sz="1600" b="1" dirty="0">
                <a:latin typeface="Consolas" panose="020B0609020204030204" pitchFamily="49" charset="0"/>
                <a:cs typeface="Consolas" panose="020B0609020204030204" pitchFamily="49" charset="0"/>
              </a:rPr>
              <a:t>extend()</a:t>
            </a:r>
            <a:r>
              <a:rPr lang="en-US" sz="1800" dirty="0"/>
              <a:t>.</a:t>
            </a:r>
          </a:p>
          <a:p>
            <a:pPr lvl="1"/>
            <a:r>
              <a:rPr lang="en-US" sz="1400" dirty="0"/>
              <a:t>Instead of telling the function how many rows or columns should be added (as </a:t>
            </a:r>
            <a:br>
              <a:rPr lang="en-US" sz="1400" dirty="0"/>
            </a:br>
            <a:r>
              <a:rPr lang="en-US" sz="1400" dirty="0"/>
              <a:t>done before), we allow it to figure it out </a:t>
            </a:r>
            <a:br>
              <a:rPr lang="en-US" sz="1400" dirty="0"/>
            </a:br>
            <a:r>
              <a:rPr lang="en-US" sz="1400" dirty="0"/>
              <a:t>by using another raster object.</a:t>
            </a:r>
          </a:p>
          <a:p>
            <a:r>
              <a:rPr lang="en-US" sz="1800" dirty="0"/>
              <a:t>Here, we extend the </a:t>
            </a:r>
            <a:r>
              <a:rPr lang="en-US" sz="1600" b="1" dirty="0" err="1">
                <a:latin typeface="Consolas" panose="020B0609020204030204" pitchFamily="49" charset="0"/>
                <a:cs typeface="Consolas" panose="020B0609020204030204" pitchFamily="49" charset="0"/>
              </a:rPr>
              <a:t>elev</a:t>
            </a:r>
            <a:r>
              <a:rPr lang="en-US" sz="1800" dirty="0"/>
              <a:t> object to</a:t>
            </a:r>
            <a:br>
              <a:rPr lang="en-US" sz="1800" dirty="0"/>
            </a:br>
            <a:r>
              <a:rPr lang="en-US" sz="1800" dirty="0"/>
              <a:t>the extent of </a:t>
            </a:r>
            <a:r>
              <a:rPr lang="en-US" sz="1600" b="1" dirty="0">
                <a:latin typeface="Consolas" panose="020B0609020204030204" pitchFamily="49" charset="0"/>
                <a:cs typeface="Consolas" panose="020B0609020204030204" pitchFamily="49" charset="0"/>
              </a:rPr>
              <a:t>elev_2</a:t>
            </a:r>
            <a:r>
              <a:rPr lang="en-US" sz="1800" dirty="0"/>
              <a:t>.</a:t>
            </a:r>
          </a:p>
          <a:p>
            <a:pPr lvl="1"/>
            <a:r>
              <a:rPr lang="en-US" sz="1400" dirty="0"/>
              <a:t>The values of the newly added rows and columns are set to </a:t>
            </a:r>
            <a:r>
              <a:rPr lang="en-US" sz="1200" b="1" dirty="0">
                <a:latin typeface="Consolas" panose="020B0609020204030204" pitchFamily="49" charset="0"/>
                <a:cs typeface="Consolas" panose="020B0609020204030204" pitchFamily="49" charset="0"/>
              </a:rPr>
              <a:t>NA</a:t>
            </a:r>
            <a:r>
              <a:rPr lang="en-US" sz="1400" dirty="0"/>
              <a:t>.</a:t>
            </a:r>
          </a:p>
          <a:p>
            <a:r>
              <a:rPr lang="en-US" sz="1800" dirty="0"/>
              <a:t>The origin of a raster is the cell corner closest to the coordinates (0, 0).</a:t>
            </a:r>
          </a:p>
          <a:p>
            <a:pPr lvl="1"/>
            <a:r>
              <a:rPr lang="en-US" sz="1400" dirty="0"/>
              <a:t>The </a:t>
            </a:r>
            <a:r>
              <a:rPr lang="en-US" sz="1200" b="1" dirty="0">
                <a:latin typeface="Consolas" panose="020B0609020204030204" pitchFamily="49" charset="0"/>
                <a:cs typeface="Consolas" panose="020B0609020204030204" pitchFamily="49" charset="0"/>
              </a:rPr>
              <a:t>origin()</a:t>
            </a:r>
            <a:r>
              <a:rPr lang="en-US" sz="1400" dirty="0"/>
              <a:t> function returns the coordinates of the origin.</a:t>
            </a:r>
          </a:p>
          <a:p>
            <a:r>
              <a:rPr lang="en-US" sz="1800" dirty="0"/>
              <a:t>If two rasters have different origins, their cells do not overlap completely which would make map algebra impossible.</a:t>
            </a:r>
          </a:p>
        </p:txBody>
      </p:sp>
      <p:sp>
        <p:nvSpPr>
          <p:cNvPr id="5" name="Content Placeholder 4">
            <a:extLst>
              <a:ext uri="{FF2B5EF4-FFF2-40B4-BE49-F238E27FC236}">
                <a16:creationId xmlns:a16="http://schemas.microsoft.com/office/drawing/2014/main" id="{A516D6BB-2675-851A-6FAD-57E47AACF004}"/>
              </a:ext>
            </a:extLst>
          </p:cNvPr>
          <p:cNvSpPr>
            <a:spLocks noGrp="1"/>
          </p:cNvSpPr>
          <p:nvPr>
            <p:ph sz="half" idx="2"/>
          </p:nvPr>
        </p:nvSpPr>
        <p:spPr/>
        <p:txBody>
          <a:bodyPr>
            <a:normAutofit/>
          </a:bodyPr>
          <a:lstStyle/>
          <a:p>
            <a:r>
              <a:rPr lang="en-US" sz="1200" dirty="0"/>
              <a:t>elev_4 = extend(</a:t>
            </a:r>
            <a:r>
              <a:rPr lang="en-US" sz="1200" dirty="0" err="1"/>
              <a:t>elev</a:t>
            </a:r>
            <a:r>
              <a:rPr lang="en-US" sz="1200" dirty="0"/>
              <a:t>, elev_2)</a:t>
            </a:r>
          </a:p>
          <a:p>
            <a:endParaRPr lang="en-US" sz="500" dirty="0"/>
          </a:p>
          <a:p>
            <a:r>
              <a:rPr lang="en-US" sz="1200" dirty="0"/>
              <a:t>origin(elev_4)</a:t>
            </a:r>
          </a:p>
          <a:p>
            <a:r>
              <a:rPr lang="en-US" sz="1200" dirty="0"/>
              <a:t># [1] 0 0</a:t>
            </a:r>
          </a:p>
          <a:p>
            <a:endParaRPr lang="en-US" sz="500" dirty="0"/>
          </a:p>
          <a:p>
            <a:r>
              <a:rPr lang="en-US" sz="1200" dirty="0"/>
              <a:t># change the origin</a:t>
            </a:r>
          </a:p>
          <a:p>
            <a:r>
              <a:rPr lang="en-US" sz="1200" dirty="0"/>
              <a:t>origin(elev_4) = c(0.25, 0.25)</a:t>
            </a:r>
          </a:p>
          <a:p>
            <a:endParaRPr lang="en-US" sz="1200" dirty="0"/>
          </a:p>
        </p:txBody>
      </p:sp>
      <p:pic>
        <p:nvPicPr>
          <p:cNvPr id="3" name="Picture 2">
            <a:extLst>
              <a:ext uri="{FF2B5EF4-FFF2-40B4-BE49-F238E27FC236}">
                <a16:creationId xmlns:a16="http://schemas.microsoft.com/office/drawing/2014/main" id="{8392A19E-7AE0-3B35-771B-13AD57989832}"/>
              </a:ext>
            </a:extLst>
          </p:cNvPr>
          <p:cNvPicPr>
            <a:picLocks noChangeAspect="1"/>
          </p:cNvPicPr>
          <p:nvPr/>
        </p:nvPicPr>
        <p:blipFill>
          <a:blip r:embed="rId2"/>
          <a:srcRect l="5027" r="704"/>
          <a:stretch>
            <a:fillRect/>
          </a:stretch>
        </p:blipFill>
        <p:spPr>
          <a:xfrm>
            <a:off x="4629150" y="3526651"/>
            <a:ext cx="4057650" cy="2650312"/>
          </a:xfrm>
          <a:prstGeom prst="rect">
            <a:avLst/>
          </a:prstGeom>
        </p:spPr>
      </p:pic>
      <p:sp>
        <p:nvSpPr>
          <p:cNvPr id="6" name="TextBox 5">
            <a:extLst>
              <a:ext uri="{FF2B5EF4-FFF2-40B4-BE49-F238E27FC236}">
                <a16:creationId xmlns:a16="http://schemas.microsoft.com/office/drawing/2014/main" id="{6EA3CC64-4C5A-B18A-7CBD-9B3D1654EC67}"/>
              </a:ext>
            </a:extLst>
          </p:cNvPr>
          <p:cNvSpPr txBox="1"/>
          <p:nvPr/>
        </p:nvSpPr>
        <p:spPr>
          <a:xfrm>
            <a:off x="4933881" y="6079352"/>
            <a:ext cx="3448188" cy="276999"/>
          </a:xfrm>
          <a:prstGeom prst="rect">
            <a:avLst/>
          </a:prstGeom>
          <a:noFill/>
        </p:spPr>
        <p:txBody>
          <a:bodyPr wrap="none" rtlCol="0">
            <a:spAutoFit/>
          </a:bodyPr>
          <a:lstStyle/>
          <a:p>
            <a:r>
              <a:rPr lang="en-US" sz="1200" dirty="0">
                <a:solidFill>
                  <a:schemeClr val="tx1">
                    <a:lumMod val="65000"/>
                    <a:lumOff val="35000"/>
                  </a:schemeClr>
                </a:solidFill>
              </a:rPr>
              <a:t>Rasters with identical values but different origins.</a:t>
            </a:r>
          </a:p>
        </p:txBody>
      </p:sp>
      <p:sp>
        <p:nvSpPr>
          <p:cNvPr id="7" name="Slide Number Placeholder 6">
            <a:extLst>
              <a:ext uri="{FF2B5EF4-FFF2-40B4-BE49-F238E27FC236}">
                <a16:creationId xmlns:a16="http://schemas.microsoft.com/office/drawing/2014/main" id="{1D214AFE-842A-7C36-2277-D4F129EB9359}"/>
              </a:ext>
            </a:extLst>
          </p:cNvPr>
          <p:cNvSpPr>
            <a:spLocks noGrp="1"/>
          </p:cNvSpPr>
          <p:nvPr>
            <p:ph type="sldNum" sz="quarter" idx="12"/>
          </p:nvPr>
        </p:nvSpPr>
        <p:spPr/>
        <p:txBody>
          <a:bodyPr/>
          <a:lstStyle/>
          <a:p>
            <a:fld id="{C0343C75-1924-D247-85A3-0CB62E67E5D1}" type="slidenum">
              <a:rPr lang="en-US" smtClean="0"/>
              <a:t>7</a:t>
            </a:fld>
            <a:endParaRPr lang="en-US"/>
          </a:p>
        </p:txBody>
      </p:sp>
    </p:spTree>
    <p:extLst>
      <p:ext uri="{BB962C8B-B14F-4D97-AF65-F5344CB8AC3E}">
        <p14:creationId xmlns:p14="http://schemas.microsoft.com/office/powerpoint/2010/main" val="562283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96837-3A33-62BF-6A5C-8FC1BE697409}"/>
              </a:ext>
            </a:extLst>
          </p:cNvPr>
          <p:cNvSpPr>
            <a:spLocks noGrp="1"/>
          </p:cNvSpPr>
          <p:nvPr>
            <p:ph type="title"/>
          </p:nvPr>
        </p:nvSpPr>
        <p:spPr/>
        <p:txBody>
          <a:bodyPr/>
          <a:lstStyle/>
          <a:p>
            <a:r>
              <a:rPr lang="en-US" dirty="0"/>
              <a:t>Aggregation and Disaggregation</a:t>
            </a:r>
          </a:p>
        </p:txBody>
      </p:sp>
      <p:sp>
        <p:nvSpPr>
          <p:cNvPr id="4" name="Content Placeholder 3">
            <a:extLst>
              <a:ext uri="{FF2B5EF4-FFF2-40B4-BE49-F238E27FC236}">
                <a16:creationId xmlns:a16="http://schemas.microsoft.com/office/drawing/2014/main" id="{58ADCE28-3BEB-5B25-6121-F5BB444F3457}"/>
              </a:ext>
            </a:extLst>
          </p:cNvPr>
          <p:cNvSpPr>
            <a:spLocks noGrp="1"/>
          </p:cNvSpPr>
          <p:nvPr>
            <p:ph sz="half" idx="1"/>
          </p:nvPr>
        </p:nvSpPr>
        <p:spPr/>
        <p:txBody>
          <a:bodyPr>
            <a:normAutofit lnSpcReduction="10000"/>
          </a:bodyPr>
          <a:lstStyle/>
          <a:p>
            <a:r>
              <a:rPr lang="en-US" dirty="0"/>
              <a:t>Raster datasets can also differ regarding their resolution.</a:t>
            </a:r>
          </a:p>
          <a:p>
            <a:r>
              <a:rPr lang="en-US" dirty="0"/>
              <a:t>To match resolutions, one can either decrease (</a:t>
            </a:r>
            <a:r>
              <a:rPr lang="en-US" sz="1800" b="1" dirty="0">
                <a:latin typeface="Consolas" panose="020B0609020204030204" pitchFamily="49" charset="0"/>
                <a:cs typeface="Consolas" panose="020B0609020204030204" pitchFamily="49" charset="0"/>
              </a:rPr>
              <a:t>aggregate()</a:t>
            </a:r>
            <a:r>
              <a:rPr lang="en-US" dirty="0"/>
              <a:t>) or increase (</a:t>
            </a:r>
            <a:r>
              <a:rPr lang="en-US" sz="1800" b="1" dirty="0" err="1">
                <a:latin typeface="Consolas" panose="020B0609020204030204" pitchFamily="49" charset="0"/>
                <a:cs typeface="Consolas" panose="020B0609020204030204" pitchFamily="49" charset="0"/>
              </a:rPr>
              <a:t>disagg</a:t>
            </a:r>
            <a:r>
              <a:rPr lang="en-US" sz="1800" b="1" dirty="0">
                <a:latin typeface="Consolas" panose="020B0609020204030204" pitchFamily="49" charset="0"/>
                <a:cs typeface="Consolas" panose="020B0609020204030204" pitchFamily="49" charset="0"/>
              </a:rPr>
              <a:t>()</a:t>
            </a:r>
            <a:r>
              <a:rPr lang="en-US" dirty="0"/>
              <a:t>) the resolution of one raster.</a:t>
            </a:r>
          </a:p>
          <a:p>
            <a:r>
              <a:rPr lang="en-US" dirty="0"/>
              <a:t>As an example, we here change the spatial resolution of dem by a factor of 5.</a:t>
            </a:r>
          </a:p>
          <a:p>
            <a:r>
              <a:rPr lang="en-US" dirty="0"/>
              <a:t>The output cell value is going to correspond to the mean of the input cells (could use other functions as well: </a:t>
            </a:r>
            <a:r>
              <a:rPr lang="en-US" sz="1800" b="1" dirty="0">
                <a:latin typeface="Consolas" panose="020B0609020204030204" pitchFamily="49" charset="0"/>
                <a:cs typeface="Consolas" panose="020B0609020204030204" pitchFamily="49" charset="0"/>
              </a:rPr>
              <a:t>median()</a:t>
            </a:r>
            <a:r>
              <a:rPr lang="en-US" dirty="0"/>
              <a:t>, </a:t>
            </a:r>
            <a:r>
              <a:rPr lang="en-US" sz="1800" b="1" dirty="0">
                <a:latin typeface="Consolas" panose="020B0609020204030204" pitchFamily="49" charset="0"/>
                <a:cs typeface="Consolas" panose="020B0609020204030204" pitchFamily="49" charset="0"/>
              </a:rPr>
              <a:t>sum()</a:t>
            </a:r>
            <a:r>
              <a:rPr lang="en-US" dirty="0"/>
              <a:t>, etc.).</a:t>
            </a:r>
          </a:p>
        </p:txBody>
      </p:sp>
      <p:sp>
        <p:nvSpPr>
          <p:cNvPr id="5" name="Content Placeholder 4">
            <a:extLst>
              <a:ext uri="{FF2B5EF4-FFF2-40B4-BE49-F238E27FC236}">
                <a16:creationId xmlns:a16="http://schemas.microsoft.com/office/drawing/2014/main" id="{57B1156C-5640-6B8B-8AD1-8FD36A64D37F}"/>
              </a:ext>
            </a:extLst>
          </p:cNvPr>
          <p:cNvSpPr>
            <a:spLocks noGrp="1"/>
          </p:cNvSpPr>
          <p:nvPr>
            <p:ph sz="half" idx="2"/>
          </p:nvPr>
        </p:nvSpPr>
        <p:spPr>
          <a:xfrm>
            <a:off x="4629150" y="1596072"/>
            <a:ext cx="4057650" cy="2263409"/>
          </a:xfrm>
        </p:spPr>
        <p:txBody>
          <a:bodyPr>
            <a:normAutofit lnSpcReduction="10000"/>
          </a:bodyPr>
          <a:lstStyle/>
          <a:p>
            <a:r>
              <a:rPr lang="en-US" sz="1100" dirty="0">
                <a:solidFill>
                  <a:schemeClr val="tx2">
                    <a:lumMod val="10000"/>
                    <a:lumOff val="90000"/>
                  </a:schemeClr>
                </a:solidFill>
              </a:rPr>
              <a:t># </a:t>
            </a:r>
            <a:r>
              <a:rPr lang="en-US" sz="1100" dirty="0" err="1">
                <a:solidFill>
                  <a:schemeClr val="tx2">
                    <a:lumMod val="10000"/>
                    <a:lumOff val="90000"/>
                  </a:schemeClr>
                </a:solidFill>
              </a:rPr>
              <a:t>install.packages</a:t>
            </a:r>
            <a:r>
              <a:rPr lang="en-US" sz="1100" dirty="0">
                <a:solidFill>
                  <a:schemeClr val="tx2">
                    <a:lumMod val="10000"/>
                    <a:lumOff val="90000"/>
                  </a:schemeClr>
                </a:solidFill>
              </a:rPr>
              <a:t>("</a:t>
            </a:r>
            <a:r>
              <a:rPr lang="en-US" sz="1100" dirty="0" err="1">
                <a:solidFill>
                  <a:schemeClr val="tx2">
                    <a:lumMod val="10000"/>
                    <a:lumOff val="90000"/>
                  </a:schemeClr>
                </a:solidFill>
              </a:rPr>
              <a:t>devtools</a:t>
            </a:r>
            <a:r>
              <a:rPr lang="en-US" sz="1100" dirty="0">
                <a:solidFill>
                  <a:schemeClr val="tx2">
                    <a:lumMod val="10000"/>
                    <a:lumOff val="90000"/>
                  </a:schemeClr>
                </a:solidFill>
              </a:rPr>
              <a:t>")</a:t>
            </a:r>
          </a:p>
          <a:p>
            <a:r>
              <a:rPr lang="en-US" sz="1100" dirty="0">
                <a:solidFill>
                  <a:schemeClr val="tx2">
                    <a:lumMod val="10000"/>
                    <a:lumOff val="90000"/>
                  </a:schemeClr>
                </a:solidFill>
              </a:rPr>
              <a:t># </a:t>
            </a:r>
            <a:r>
              <a:rPr lang="en-US" sz="1100" dirty="0" err="1">
                <a:solidFill>
                  <a:schemeClr val="tx2">
                    <a:lumMod val="10000"/>
                    <a:lumOff val="90000"/>
                  </a:schemeClr>
                </a:solidFill>
              </a:rPr>
              <a:t>devtools</a:t>
            </a:r>
            <a:r>
              <a:rPr lang="en-US" sz="1100" dirty="0">
                <a:solidFill>
                  <a:schemeClr val="tx2">
                    <a:lumMod val="10000"/>
                    <a:lumOff val="90000"/>
                  </a:schemeClr>
                </a:solidFill>
              </a:rPr>
              <a:t>::</a:t>
            </a:r>
            <a:r>
              <a:rPr lang="en-US" sz="1100" dirty="0" err="1">
                <a:solidFill>
                  <a:schemeClr val="tx2">
                    <a:lumMod val="10000"/>
                    <a:lumOff val="90000"/>
                  </a:schemeClr>
                </a:solidFill>
              </a:rPr>
              <a:t>install_github</a:t>
            </a:r>
            <a:r>
              <a:rPr lang="en-US" sz="1100" dirty="0">
                <a:solidFill>
                  <a:schemeClr val="tx2">
                    <a:lumMod val="10000"/>
                    <a:lumOff val="90000"/>
                  </a:schemeClr>
                </a:solidFill>
              </a:rPr>
              <a:t>("</a:t>
            </a:r>
            <a:r>
              <a:rPr lang="en-US" sz="1100" dirty="0" err="1">
                <a:solidFill>
                  <a:schemeClr val="tx2">
                    <a:lumMod val="10000"/>
                    <a:lumOff val="90000"/>
                  </a:schemeClr>
                </a:solidFill>
              </a:rPr>
              <a:t>geocompx</a:t>
            </a:r>
            <a:r>
              <a:rPr lang="en-US" sz="1100" dirty="0">
                <a:solidFill>
                  <a:schemeClr val="tx2">
                    <a:lumMod val="10000"/>
                    <a:lumOff val="90000"/>
                  </a:schemeClr>
                </a:solidFill>
              </a:rPr>
              <a:t>/</a:t>
            </a:r>
            <a:r>
              <a:rPr lang="en-US" sz="1100" dirty="0" err="1">
                <a:solidFill>
                  <a:schemeClr val="tx2">
                    <a:lumMod val="10000"/>
                    <a:lumOff val="90000"/>
                  </a:schemeClr>
                </a:solidFill>
              </a:rPr>
              <a:t>geocompkg</a:t>
            </a:r>
            <a:r>
              <a:rPr lang="en-US" sz="1100" dirty="0">
                <a:solidFill>
                  <a:schemeClr val="tx2">
                    <a:lumMod val="10000"/>
                    <a:lumOff val="90000"/>
                  </a:schemeClr>
                </a:solidFill>
              </a:rPr>
              <a:t>")</a:t>
            </a:r>
          </a:p>
          <a:p>
            <a:endParaRPr lang="en-US" sz="1200" dirty="0"/>
          </a:p>
          <a:p>
            <a:r>
              <a:rPr lang="en-US" sz="1200" dirty="0"/>
              <a:t>dem = </a:t>
            </a:r>
            <a:r>
              <a:rPr lang="en-US" sz="1200" dirty="0" err="1"/>
              <a:t>rast</a:t>
            </a:r>
            <a:r>
              <a:rPr lang="en-US" sz="1200" dirty="0"/>
              <a:t>(</a:t>
            </a:r>
            <a:r>
              <a:rPr lang="en-US" sz="1200" dirty="0" err="1"/>
              <a:t>system.file</a:t>
            </a:r>
            <a:r>
              <a:rPr lang="en-US" sz="1200" dirty="0"/>
              <a:t>("raster/</a:t>
            </a:r>
            <a:r>
              <a:rPr lang="en-US" sz="1200" dirty="0" err="1"/>
              <a:t>dem.tif</a:t>
            </a:r>
            <a:r>
              <a:rPr lang="en-US" sz="1200" dirty="0"/>
              <a:t>", package = "</a:t>
            </a:r>
            <a:r>
              <a:rPr lang="en-US" sz="1200" dirty="0" err="1"/>
              <a:t>spDataLarge</a:t>
            </a:r>
            <a:r>
              <a:rPr lang="en-US" sz="1200" dirty="0"/>
              <a:t>"))</a:t>
            </a:r>
          </a:p>
          <a:p>
            <a:endParaRPr lang="en-US" sz="1200" dirty="0"/>
          </a:p>
          <a:p>
            <a:r>
              <a:rPr lang="en-US" sz="1200" dirty="0" err="1"/>
              <a:t>dem_agg</a:t>
            </a:r>
            <a:r>
              <a:rPr lang="en-US" sz="1200" dirty="0"/>
              <a:t> = aggregate(dem, fact = 5, fun = mean)</a:t>
            </a:r>
          </a:p>
        </p:txBody>
      </p:sp>
      <p:pic>
        <p:nvPicPr>
          <p:cNvPr id="3" name="Picture 2">
            <a:extLst>
              <a:ext uri="{FF2B5EF4-FFF2-40B4-BE49-F238E27FC236}">
                <a16:creationId xmlns:a16="http://schemas.microsoft.com/office/drawing/2014/main" id="{DA37C224-881E-AD50-60A7-C7B9C927A58F}"/>
              </a:ext>
            </a:extLst>
          </p:cNvPr>
          <p:cNvPicPr>
            <a:picLocks noChangeAspect="1"/>
          </p:cNvPicPr>
          <p:nvPr/>
        </p:nvPicPr>
        <p:blipFill>
          <a:blip r:embed="rId2"/>
          <a:stretch>
            <a:fillRect/>
          </a:stretch>
        </p:blipFill>
        <p:spPr>
          <a:xfrm>
            <a:off x="4631732" y="3859481"/>
            <a:ext cx="4055067" cy="2496870"/>
          </a:xfrm>
          <a:prstGeom prst="rect">
            <a:avLst/>
          </a:prstGeom>
        </p:spPr>
      </p:pic>
      <p:sp>
        <p:nvSpPr>
          <p:cNvPr id="6" name="TextBox 5">
            <a:extLst>
              <a:ext uri="{FF2B5EF4-FFF2-40B4-BE49-F238E27FC236}">
                <a16:creationId xmlns:a16="http://schemas.microsoft.com/office/drawing/2014/main" id="{B2EA75F2-9215-451D-9A9D-DDEBF3106933}"/>
              </a:ext>
            </a:extLst>
          </p:cNvPr>
          <p:cNvSpPr txBox="1"/>
          <p:nvPr/>
        </p:nvSpPr>
        <p:spPr>
          <a:xfrm>
            <a:off x="4960683" y="6217851"/>
            <a:ext cx="3394584" cy="276999"/>
          </a:xfrm>
          <a:prstGeom prst="rect">
            <a:avLst/>
          </a:prstGeom>
          <a:noFill/>
        </p:spPr>
        <p:txBody>
          <a:bodyPr wrap="none" rtlCol="0">
            <a:spAutoFit/>
          </a:bodyPr>
          <a:lstStyle/>
          <a:p>
            <a:pPr algn="ctr"/>
            <a:r>
              <a:rPr lang="en-US" sz="1200" dirty="0">
                <a:solidFill>
                  <a:schemeClr val="tx1">
                    <a:lumMod val="65000"/>
                    <a:lumOff val="35000"/>
                  </a:schemeClr>
                </a:solidFill>
              </a:rPr>
              <a:t>Original raster (left) and aggregated raster (right).</a:t>
            </a:r>
          </a:p>
        </p:txBody>
      </p:sp>
      <p:sp>
        <p:nvSpPr>
          <p:cNvPr id="7" name="Slide Number Placeholder 6">
            <a:extLst>
              <a:ext uri="{FF2B5EF4-FFF2-40B4-BE49-F238E27FC236}">
                <a16:creationId xmlns:a16="http://schemas.microsoft.com/office/drawing/2014/main" id="{8BC9B52D-F14D-6752-5C67-FFBFF82FC486}"/>
              </a:ext>
            </a:extLst>
          </p:cNvPr>
          <p:cNvSpPr>
            <a:spLocks noGrp="1"/>
          </p:cNvSpPr>
          <p:nvPr>
            <p:ph type="sldNum" sz="quarter" idx="12"/>
          </p:nvPr>
        </p:nvSpPr>
        <p:spPr/>
        <p:txBody>
          <a:bodyPr/>
          <a:lstStyle/>
          <a:p>
            <a:fld id="{C0343C75-1924-D247-85A3-0CB62E67E5D1}" type="slidenum">
              <a:rPr lang="en-US" smtClean="0"/>
              <a:t>8</a:t>
            </a:fld>
            <a:endParaRPr lang="en-US"/>
          </a:p>
        </p:txBody>
      </p:sp>
    </p:spTree>
    <p:extLst>
      <p:ext uri="{BB962C8B-B14F-4D97-AF65-F5344CB8AC3E}">
        <p14:creationId xmlns:p14="http://schemas.microsoft.com/office/powerpoint/2010/main" val="2558703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B8203-7289-9EBB-A08F-A1A06C505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B778F-FF94-4D9C-6ACD-4CC113E0BC88}"/>
              </a:ext>
            </a:extLst>
          </p:cNvPr>
          <p:cNvSpPr>
            <a:spLocks noGrp="1"/>
          </p:cNvSpPr>
          <p:nvPr>
            <p:ph type="title"/>
          </p:nvPr>
        </p:nvSpPr>
        <p:spPr/>
        <p:txBody>
          <a:bodyPr/>
          <a:lstStyle/>
          <a:p>
            <a:r>
              <a:rPr lang="en-US" dirty="0"/>
              <a:t>Aggregation and Disaggregation</a:t>
            </a:r>
          </a:p>
        </p:txBody>
      </p:sp>
      <p:sp>
        <p:nvSpPr>
          <p:cNvPr id="4" name="Content Placeholder 3">
            <a:extLst>
              <a:ext uri="{FF2B5EF4-FFF2-40B4-BE49-F238E27FC236}">
                <a16:creationId xmlns:a16="http://schemas.microsoft.com/office/drawing/2014/main" id="{091E4B84-0FB5-2ADA-BB12-B7AB1DFE8C52}"/>
              </a:ext>
            </a:extLst>
          </p:cNvPr>
          <p:cNvSpPr>
            <a:spLocks noGrp="1"/>
          </p:cNvSpPr>
          <p:nvPr>
            <p:ph sz="half" idx="1"/>
          </p:nvPr>
        </p:nvSpPr>
        <p:spPr/>
        <p:txBody>
          <a:bodyPr>
            <a:normAutofit fontScale="92500"/>
          </a:bodyPr>
          <a:lstStyle/>
          <a:p>
            <a:r>
              <a:rPr lang="en-US" dirty="0"/>
              <a:t>The </a:t>
            </a:r>
            <a:r>
              <a:rPr lang="en-US" sz="1900" b="1" dirty="0" err="1">
                <a:latin typeface="Consolas" panose="020B0609020204030204" pitchFamily="49" charset="0"/>
                <a:cs typeface="Consolas" panose="020B0609020204030204" pitchFamily="49" charset="0"/>
              </a:rPr>
              <a:t>disagg</a:t>
            </a:r>
            <a:r>
              <a:rPr lang="en-US" sz="1900" b="1" dirty="0">
                <a:latin typeface="Consolas" panose="020B0609020204030204" pitchFamily="49" charset="0"/>
                <a:cs typeface="Consolas" panose="020B0609020204030204" pitchFamily="49" charset="0"/>
              </a:rPr>
              <a:t>()</a:t>
            </a:r>
            <a:r>
              <a:rPr lang="en-US" dirty="0"/>
              <a:t> function increases the resolution of raster objects.</a:t>
            </a:r>
          </a:p>
          <a:p>
            <a:r>
              <a:rPr lang="en-US" dirty="0"/>
              <a:t>It comes with two methods on how to compute the values of the newly created cells: the default method (</a:t>
            </a:r>
            <a:r>
              <a:rPr lang="en-US" sz="1900" b="1" dirty="0">
                <a:latin typeface="Consolas" panose="020B0609020204030204" pitchFamily="49" charset="0"/>
                <a:cs typeface="Consolas" panose="020B0609020204030204" pitchFamily="49" charset="0"/>
              </a:rPr>
              <a:t>method = "near"</a:t>
            </a:r>
            <a:r>
              <a:rPr lang="en-US" dirty="0"/>
              <a:t>) simply gives all output cells the value of the input cell, and hence duplicates values, which translates into a 'blocky' output. </a:t>
            </a:r>
          </a:p>
          <a:p>
            <a:r>
              <a:rPr lang="en-US" dirty="0"/>
              <a:t>The bilinear method uses the four nearest pixel centers of the input image to compute an average weighted by distance.</a:t>
            </a:r>
          </a:p>
        </p:txBody>
      </p:sp>
      <p:sp>
        <p:nvSpPr>
          <p:cNvPr id="5" name="Content Placeholder 4">
            <a:extLst>
              <a:ext uri="{FF2B5EF4-FFF2-40B4-BE49-F238E27FC236}">
                <a16:creationId xmlns:a16="http://schemas.microsoft.com/office/drawing/2014/main" id="{3EDE9111-FB88-06C5-BFB7-669A828164A7}"/>
              </a:ext>
            </a:extLst>
          </p:cNvPr>
          <p:cNvSpPr>
            <a:spLocks noGrp="1"/>
          </p:cNvSpPr>
          <p:nvPr>
            <p:ph sz="half" idx="2"/>
          </p:nvPr>
        </p:nvSpPr>
        <p:spPr>
          <a:xfrm>
            <a:off x="4629150" y="1596073"/>
            <a:ext cx="4057650" cy="1131704"/>
          </a:xfrm>
        </p:spPr>
        <p:txBody>
          <a:bodyPr>
            <a:normAutofit fontScale="92500"/>
          </a:bodyPr>
          <a:lstStyle/>
          <a:p>
            <a:r>
              <a:rPr lang="en-US" sz="1100" dirty="0" err="1"/>
              <a:t>dem_disagg</a:t>
            </a:r>
            <a:r>
              <a:rPr lang="en-US" sz="1100" dirty="0"/>
              <a:t> = </a:t>
            </a:r>
            <a:r>
              <a:rPr lang="en-US" sz="1100" dirty="0" err="1"/>
              <a:t>disagg</a:t>
            </a:r>
            <a:r>
              <a:rPr lang="en-US" sz="1100" dirty="0"/>
              <a:t>(</a:t>
            </a:r>
            <a:r>
              <a:rPr lang="en-US" sz="1100" dirty="0" err="1"/>
              <a:t>dem_agg</a:t>
            </a:r>
            <a:r>
              <a:rPr lang="en-US" sz="1100" dirty="0"/>
              <a:t>, fact = 5, method = "bilinear")</a:t>
            </a:r>
          </a:p>
          <a:p>
            <a:r>
              <a:rPr lang="en-US" sz="1100" dirty="0"/>
              <a:t>identical(dem, </a:t>
            </a:r>
            <a:r>
              <a:rPr lang="en-US" sz="1100" dirty="0" err="1"/>
              <a:t>dem_disagg</a:t>
            </a:r>
            <a:r>
              <a:rPr lang="en-US" sz="1100" dirty="0"/>
              <a:t>)</a:t>
            </a:r>
          </a:p>
          <a:p>
            <a:r>
              <a:rPr lang="en-US" sz="1100" dirty="0">
                <a:solidFill>
                  <a:schemeClr val="tx2">
                    <a:lumMod val="10000"/>
                    <a:lumOff val="90000"/>
                  </a:schemeClr>
                </a:solidFill>
              </a:rPr>
              <a:t># [1] FALSE</a:t>
            </a:r>
            <a:endParaRPr lang="en-US" sz="1200" dirty="0">
              <a:solidFill>
                <a:schemeClr val="tx2">
                  <a:lumMod val="10000"/>
                  <a:lumOff val="90000"/>
                </a:schemeClr>
              </a:solidFill>
            </a:endParaRPr>
          </a:p>
        </p:txBody>
      </p:sp>
      <p:sp>
        <p:nvSpPr>
          <p:cNvPr id="6" name="TextBox 5">
            <a:extLst>
              <a:ext uri="{FF2B5EF4-FFF2-40B4-BE49-F238E27FC236}">
                <a16:creationId xmlns:a16="http://schemas.microsoft.com/office/drawing/2014/main" id="{756C6583-EFF6-9074-C34C-BECC6F83ED2E}"/>
              </a:ext>
            </a:extLst>
          </p:cNvPr>
          <p:cNvSpPr txBox="1"/>
          <p:nvPr/>
        </p:nvSpPr>
        <p:spPr>
          <a:xfrm>
            <a:off x="4629150" y="5684507"/>
            <a:ext cx="3944835" cy="646331"/>
          </a:xfrm>
          <a:prstGeom prst="rect">
            <a:avLst/>
          </a:prstGeom>
          <a:noFill/>
        </p:spPr>
        <p:txBody>
          <a:bodyPr wrap="square" rtlCol="0">
            <a:spAutoFit/>
          </a:bodyPr>
          <a:lstStyle/>
          <a:p>
            <a:pPr algn="ctr"/>
            <a:r>
              <a:rPr lang="en-US" sz="1200" dirty="0">
                <a:solidFill>
                  <a:schemeClr val="tx1">
                    <a:lumMod val="65000"/>
                    <a:lumOff val="35000"/>
                  </a:schemeClr>
                </a:solidFill>
              </a:rPr>
              <a:t>The distance-weighted average of the four closest input cells determine the output when using the bilinear method for disaggregation.</a:t>
            </a:r>
          </a:p>
        </p:txBody>
      </p:sp>
      <p:pic>
        <p:nvPicPr>
          <p:cNvPr id="7" name="Picture 6">
            <a:extLst>
              <a:ext uri="{FF2B5EF4-FFF2-40B4-BE49-F238E27FC236}">
                <a16:creationId xmlns:a16="http://schemas.microsoft.com/office/drawing/2014/main" id="{E750ECED-6BF1-84DB-7D2A-6BE42DF208BA}"/>
              </a:ext>
            </a:extLst>
          </p:cNvPr>
          <p:cNvPicPr>
            <a:picLocks noChangeAspect="1"/>
          </p:cNvPicPr>
          <p:nvPr/>
        </p:nvPicPr>
        <p:blipFill>
          <a:blip r:embed="rId2"/>
          <a:srcRect l="5323" r="10097"/>
          <a:stretch>
            <a:fillRect/>
          </a:stretch>
        </p:blipFill>
        <p:spPr>
          <a:xfrm>
            <a:off x="4629150" y="2727776"/>
            <a:ext cx="4057650" cy="2956731"/>
          </a:xfrm>
          <a:prstGeom prst="rect">
            <a:avLst/>
          </a:prstGeom>
        </p:spPr>
      </p:pic>
      <p:sp>
        <p:nvSpPr>
          <p:cNvPr id="3" name="Slide Number Placeholder 2">
            <a:extLst>
              <a:ext uri="{FF2B5EF4-FFF2-40B4-BE49-F238E27FC236}">
                <a16:creationId xmlns:a16="http://schemas.microsoft.com/office/drawing/2014/main" id="{42ECED22-DB99-A626-28F0-C99725FD95D0}"/>
              </a:ext>
            </a:extLst>
          </p:cNvPr>
          <p:cNvSpPr>
            <a:spLocks noGrp="1"/>
          </p:cNvSpPr>
          <p:nvPr>
            <p:ph type="sldNum" sz="quarter" idx="12"/>
          </p:nvPr>
        </p:nvSpPr>
        <p:spPr/>
        <p:txBody>
          <a:bodyPr/>
          <a:lstStyle/>
          <a:p>
            <a:fld id="{C0343C75-1924-D247-85A3-0CB62E67E5D1}" type="slidenum">
              <a:rPr lang="en-US" smtClean="0"/>
              <a:t>9</a:t>
            </a:fld>
            <a:endParaRPr lang="en-US"/>
          </a:p>
        </p:txBody>
      </p:sp>
    </p:spTree>
    <p:extLst>
      <p:ext uri="{BB962C8B-B14F-4D97-AF65-F5344CB8AC3E}">
        <p14:creationId xmlns:p14="http://schemas.microsoft.com/office/powerpoint/2010/main" val="246627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5A8FA-27F2-D416-7394-655BB4984A0F}"/>
              </a:ext>
            </a:extLst>
          </p:cNvPr>
          <p:cNvSpPr>
            <a:spLocks noGrp="1"/>
          </p:cNvSpPr>
          <p:nvPr>
            <p:ph type="title"/>
          </p:nvPr>
        </p:nvSpPr>
        <p:spPr/>
        <p:txBody>
          <a:bodyPr/>
          <a:lstStyle/>
          <a:p>
            <a:r>
              <a:rPr lang="en-US" dirty="0"/>
              <a:t>Resampling</a:t>
            </a:r>
          </a:p>
        </p:txBody>
      </p:sp>
      <p:sp>
        <p:nvSpPr>
          <p:cNvPr id="4" name="Content Placeholder 3">
            <a:extLst>
              <a:ext uri="{FF2B5EF4-FFF2-40B4-BE49-F238E27FC236}">
                <a16:creationId xmlns:a16="http://schemas.microsoft.com/office/drawing/2014/main" id="{E6F9AB8C-6BB5-DACD-6EB5-5110EC3E8B06}"/>
              </a:ext>
            </a:extLst>
          </p:cNvPr>
          <p:cNvSpPr>
            <a:spLocks noGrp="1"/>
          </p:cNvSpPr>
          <p:nvPr>
            <p:ph idx="1"/>
          </p:nvPr>
        </p:nvSpPr>
        <p:spPr/>
        <p:txBody>
          <a:bodyPr>
            <a:normAutofit/>
          </a:bodyPr>
          <a:lstStyle/>
          <a:p>
            <a:r>
              <a:rPr lang="en-US" sz="2000" dirty="0"/>
              <a:t>The methods of aggregation and disaggregation are only suitable when we want to change the resolution of our raster by the aggregation/ disaggregation factor.</a:t>
            </a:r>
          </a:p>
          <a:p>
            <a:r>
              <a:rPr lang="en-US" sz="2000" dirty="0"/>
              <a:t>However, what to do when we have two or more rasters with different resolutions and origins?</a:t>
            </a:r>
          </a:p>
          <a:p>
            <a:r>
              <a:rPr lang="en-US" sz="2000" dirty="0"/>
              <a:t>This is the role of resampling: a process of computing values for new pixel locations.</a:t>
            </a:r>
          </a:p>
        </p:txBody>
      </p:sp>
      <p:pic>
        <p:nvPicPr>
          <p:cNvPr id="6" name="Picture 5">
            <a:extLst>
              <a:ext uri="{FF2B5EF4-FFF2-40B4-BE49-F238E27FC236}">
                <a16:creationId xmlns:a16="http://schemas.microsoft.com/office/drawing/2014/main" id="{E050E413-570D-E8F8-015F-C6571726BF76}"/>
              </a:ext>
            </a:extLst>
          </p:cNvPr>
          <p:cNvPicPr>
            <a:picLocks noChangeAspect="1"/>
          </p:cNvPicPr>
          <p:nvPr/>
        </p:nvPicPr>
        <p:blipFill>
          <a:blip r:embed="rId2"/>
          <a:stretch>
            <a:fillRect/>
          </a:stretch>
        </p:blipFill>
        <p:spPr>
          <a:xfrm>
            <a:off x="1828800" y="3988117"/>
            <a:ext cx="5486400" cy="2184400"/>
          </a:xfrm>
          <a:prstGeom prst="rect">
            <a:avLst/>
          </a:prstGeom>
        </p:spPr>
      </p:pic>
      <p:sp>
        <p:nvSpPr>
          <p:cNvPr id="7" name="TextBox 6">
            <a:extLst>
              <a:ext uri="{FF2B5EF4-FFF2-40B4-BE49-F238E27FC236}">
                <a16:creationId xmlns:a16="http://schemas.microsoft.com/office/drawing/2014/main" id="{CE97495F-AF1C-6024-C28F-9037DB55C1B1}"/>
              </a:ext>
            </a:extLst>
          </p:cNvPr>
          <p:cNvSpPr txBox="1"/>
          <p:nvPr/>
        </p:nvSpPr>
        <p:spPr>
          <a:xfrm>
            <a:off x="1828800" y="6172517"/>
            <a:ext cx="5486400" cy="461665"/>
          </a:xfrm>
          <a:prstGeom prst="rect">
            <a:avLst/>
          </a:prstGeom>
          <a:noFill/>
        </p:spPr>
        <p:txBody>
          <a:bodyPr wrap="square" rtlCol="0">
            <a:spAutoFit/>
          </a:bodyPr>
          <a:lstStyle/>
          <a:p>
            <a:pPr algn="ctr"/>
            <a:r>
              <a:rPr lang="en-US" sz="1200" dirty="0">
                <a:solidFill>
                  <a:schemeClr val="tx1">
                    <a:lumMod val="65000"/>
                    <a:lumOff val="35000"/>
                  </a:schemeClr>
                </a:solidFill>
              </a:rPr>
              <a:t>Resampling of an original (input) raster into a target raster with custom resolution and origin.</a:t>
            </a:r>
          </a:p>
        </p:txBody>
      </p:sp>
      <p:sp>
        <p:nvSpPr>
          <p:cNvPr id="3" name="Slide Number Placeholder 2">
            <a:extLst>
              <a:ext uri="{FF2B5EF4-FFF2-40B4-BE49-F238E27FC236}">
                <a16:creationId xmlns:a16="http://schemas.microsoft.com/office/drawing/2014/main" id="{975F185E-9181-2295-63E3-8715797AE6DF}"/>
              </a:ext>
            </a:extLst>
          </p:cNvPr>
          <p:cNvSpPr>
            <a:spLocks noGrp="1"/>
          </p:cNvSpPr>
          <p:nvPr>
            <p:ph type="sldNum" sz="quarter" idx="12"/>
          </p:nvPr>
        </p:nvSpPr>
        <p:spPr/>
        <p:txBody>
          <a:bodyPr/>
          <a:lstStyle/>
          <a:p>
            <a:fld id="{C0343C75-1924-D247-85A3-0CB62E67E5D1}" type="slidenum">
              <a:rPr lang="en-US" smtClean="0"/>
              <a:t>10</a:t>
            </a:fld>
            <a:endParaRPr lang="en-US"/>
          </a:p>
        </p:txBody>
      </p:sp>
    </p:spTree>
    <p:extLst>
      <p:ext uri="{BB962C8B-B14F-4D97-AF65-F5344CB8AC3E}">
        <p14:creationId xmlns:p14="http://schemas.microsoft.com/office/powerpoint/2010/main" val="2946069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25F35B-ED63-FD82-F716-863A8DE27A65}"/>
              </a:ext>
            </a:extLst>
          </p:cNvPr>
          <p:cNvSpPr>
            <a:spLocks noGrp="1"/>
          </p:cNvSpPr>
          <p:nvPr>
            <p:ph type="title"/>
          </p:nvPr>
        </p:nvSpPr>
        <p:spPr/>
        <p:txBody>
          <a:bodyPr/>
          <a:lstStyle/>
          <a:p>
            <a:r>
              <a:rPr lang="en-US" dirty="0"/>
              <a:t>Resampling methods for estimating values for a raster with different resolutions/origins</a:t>
            </a:r>
          </a:p>
        </p:txBody>
      </p:sp>
      <p:sp>
        <p:nvSpPr>
          <p:cNvPr id="7" name="Content Placeholder 6">
            <a:extLst>
              <a:ext uri="{FF2B5EF4-FFF2-40B4-BE49-F238E27FC236}">
                <a16:creationId xmlns:a16="http://schemas.microsoft.com/office/drawing/2014/main" id="{1C553EC2-5D30-8B13-1852-85E4C20399B9}"/>
              </a:ext>
            </a:extLst>
          </p:cNvPr>
          <p:cNvSpPr>
            <a:spLocks noGrp="1"/>
          </p:cNvSpPr>
          <p:nvPr>
            <p:ph idx="1"/>
          </p:nvPr>
        </p:nvSpPr>
        <p:spPr/>
        <p:txBody>
          <a:bodyPr>
            <a:normAutofit/>
          </a:bodyPr>
          <a:lstStyle/>
          <a:p>
            <a:r>
              <a:rPr lang="en-US" sz="1800" b="1" dirty="0"/>
              <a:t>Nearest neighbor</a:t>
            </a:r>
            <a:r>
              <a:rPr lang="en-US" sz="1800" dirty="0"/>
              <a:t>: assigns the value of the nearest cell of the original raster to the cell of the target one. This is a fast simple technique that is usually suitable for </a:t>
            </a:r>
            <a:r>
              <a:rPr lang="en-US" sz="1800" u="sng" dirty="0"/>
              <a:t>resampling categorical rasters</a:t>
            </a:r>
            <a:r>
              <a:rPr lang="en-US" sz="1800" dirty="0"/>
              <a:t>.</a:t>
            </a:r>
          </a:p>
          <a:p>
            <a:r>
              <a:rPr lang="en-US" sz="1800" b="1" dirty="0"/>
              <a:t>Bilinear interpolation</a:t>
            </a:r>
            <a:r>
              <a:rPr lang="en-US" sz="1800" dirty="0"/>
              <a:t>: assigns a weighted average of the four nearest cells from the original raster to the cell of the target one. This is the fastest method that is </a:t>
            </a:r>
            <a:r>
              <a:rPr lang="en-US" sz="1800" u="sng" dirty="0"/>
              <a:t>appropriate for continuous rasters</a:t>
            </a:r>
            <a:r>
              <a:rPr lang="en-US" sz="1800" dirty="0"/>
              <a:t>.</a:t>
            </a:r>
          </a:p>
          <a:p>
            <a:r>
              <a:rPr lang="en-US" sz="1800" b="1" dirty="0"/>
              <a:t>Cubic interpolation</a:t>
            </a:r>
            <a:r>
              <a:rPr lang="en-US" sz="1800" dirty="0"/>
              <a:t>: uses values of the 16 nearest cells of the original raster to determine the output cell value, applying third-order polynomial functions. Used for </a:t>
            </a:r>
            <a:r>
              <a:rPr lang="en-US" sz="1800" u="sng" dirty="0"/>
              <a:t>continuous rasters</a:t>
            </a:r>
            <a:r>
              <a:rPr lang="en-US" sz="1800" dirty="0"/>
              <a:t> and results in a </a:t>
            </a:r>
            <a:r>
              <a:rPr lang="en-US" sz="1800" u="sng" dirty="0"/>
              <a:t>smoother surface</a:t>
            </a:r>
            <a:r>
              <a:rPr lang="en-US" sz="1800" dirty="0"/>
              <a:t> compared to bilinear interpolation but is computationally more demanding.</a:t>
            </a:r>
          </a:p>
          <a:p>
            <a:r>
              <a:rPr lang="en-US" sz="1800" b="1" dirty="0"/>
              <a:t>Cubic spline interpolation</a:t>
            </a:r>
            <a:r>
              <a:rPr lang="en-US" sz="1800" dirty="0"/>
              <a:t>: also uses values of the 16 nearest cells of the original raster to determine the output cell value but applies cubic splines. Used for continuous rasters.</a:t>
            </a:r>
          </a:p>
          <a:p>
            <a:r>
              <a:rPr lang="en-US" sz="1800" b="1" dirty="0"/>
              <a:t>Lanczos windowed </a:t>
            </a:r>
            <a:r>
              <a:rPr lang="en-US" sz="1800" b="1" dirty="0" err="1"/>
              <a:t>sinc</a:t>
            </a:r>
            <a:r>
              <a:rPr lang="en-US" sz="1800" b="1" dirty="0"/>
              <a:t>-resampling</a:t>
            </a:r>
            <a:r>
              <a:rPr lang="en-US" sz="1800" dirty="0"/>
              <a:t>: uses values of the 36 nearest cells of the original raster to determine the output cell value. Used for continuous rasters.</a:t>
            </a:r>
          </a:p>
        </p:txBody>
      </p:sp>
      <p:sp>
        <p:nvSpPr>
          <p:cNvPr id="2" name="Slide Number Placeholder 1">
            <a:extLst>
              <a:ext uri="{FF2B5EF4-FFF2-40B4-BE49-F238E27FC236}">
                <a16:creationId xmlns:a16="http://schemas.microsoft.com/office/drawing/2014/main" id="{0F71FF41-507F-C3CF-09A5-A24CE6DA5E07}"/>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1646388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AD2BB-3380-C839-40BF-F6D52E3A66E1}"/>
              </a:ext>
            </a:extLst>
          </p:cNvPr>
          <p:cNvSpPr>
            <a:spLocks noGrp="1"/>
          </p:cNvSpPr>
          <p:nvPr>
            <p:ph type="title"/>
          </p:nvPr>
        </p:nvSpPr>
        <p:spPr/>
        <p:txBody>
          <a:bodyPr/>
          <a:lstStyle/>
          <a:p>
            <a:r>
              <a:rPr lang="en-US" dirty="0"/>
              <a:t>Resampling Example</a:t>
            </a:r>
          </a:p>
        </p:txBody>
      </p:sp>
      <p:sp>
        <p:nvSpPr>
          <p:cNvPr id="5" name="Content Placeholder 4">
            <a:extLst>
              <a:ext uri="{FF2B5EF4-FFF2-40B4-BE49-F238E27FC236}">
                <a16:creationId xmlns:a16="http://schemas.microsoft.com/office/drawing/2014/main" id="{86633DC5-5CF3-020A-F746-7F04D9E2D641}"/>
              </a:ext>
            </a:extLst>
          </p:cNvPr>
          <p:cNvSpPr>
            <a:spLocks noGrp="1"/>
          </p:cNvSpPr>
          <p:nvPr>
            <p:ph sz="half" idx="1"/>
          </p:nvPr>
        </p:nvSpPr>
        <p:spPr/>
        <p:txBody>
          <a:bodyPr>
            <a:normAutofit/>
          </a:bodyPr>
          <a:lstStyle/>
          <a:p>
            <a:r>
              <a:rPr lang="en-US" sz="2000" dirty="0"/>
              <a:t>To apply resampling, the terra package provides a </a:t>
            </a:r>
            <a:r>
              <a:rPr lang="en-US" sz="1800" b="1" dirty="0">
                <a:latin typeface="Consolas" panose="020B0609020204030204" pitchFamily="49" charset="0"/>
                <a:cs typeface="Consolas" panose="020B0609020204030204" pitchFamily="49" charset="0"/>
              </a:rPr>
              <a:t>resample()</a:t>
            </a:r>
            <a:r>
              <a:rPr lang="en-US" sz="2000" dirty="0"/>
              <a:t> function.</a:t>
            </a:r>
          </a:p>
          <a:p>
            <a:r>
              <a:rPr lang="en-US" sz="2000" dirty="0"/>
              <a:t>It accepts an input raster (x), a raster with target spatial properties (y), and a resampling method (method).</a:t>
            </a:r>
          </a:p>
          <a:p>
            <a:r>
              <a:rPr lang="en-US" sz="2000" dirty="0"/>
              <a:t>We need a raster with target spatial properties to see how the resample() function works.</a:t>
            </a:r>
          </a:p>
          <a:p>
            <a:r>
              <a:rPr lang="en-US" sz="2000" dirty="0"/>
              <a:t>For this example, we create </a:t>
            </a:r>
            <a:r>
              <a:rPr lang="en-US" sz="2000" dirty="0" err="1"/>
              <a:t>target_rast</a:t>
            </a:r>
            <a:r>
              <a:rPr lang="en-US" sz="2000" dirty="0"/>
              <a:t>, but you would often use an already existing raster object.</a:t>
            </a:r>
          </a:p>
        </p:txBody>
      </p:sp>
      <p:sp>
        <p:nvSpPr>
          <p:cNvPr id="6" name="Content Placeholder 5">
            <a:extLst>
              <a:ext uri="{FF2B5EF4-FFF2-40B4-BE49-F238E27FC236}">
                <a16:creationId xmlns:a16="http://schemas.microsoft.com/office/drawing/2014/main" id="{D0F8F929-C9BF-66E7-1AF0-22E49DE8CF41}"/>
              </a:ext>
            </a:extLst>
          </p:cNvPr>
          <p:cNvSpPr>
            <a:spLocks noGrp="1"/>
          </p:cNvSpPr>
          <p:nvPr>
            <p:ph sz="half" idx="2"/>
          </p:nvPr>
        </p:nvSpPr>
        <p:spPr/>
        <p:txBody>
          <a:bodyPr>
            <a:normAutofit/>
          </a:bodyPr>
          <a:lstStyle/>
          <a:p>
            <a:r>
              <a:rPr lang="en-US" sz="1400" dirty="0" err="1"/>
              <a:t>target_rast</a:t>
            </a:r>
            <a:r>
              <a:rPr lang="en-US" sz="1400" dirty="0"/>
              <a:t> = </a:t>
            </a:r>
            <a:r>
              <a:rPr lang="en-US" sz="1400" dirty="0" err="1"/>
              <a:t>rast</a:t>
            </a:r>
            <a:r>
              <a:rPr lang="en-US" sz="1400" dirty="0"/>
              <a:t>(</a:t>
            </a:r>
            <a:r>
              <a:rPr lang="en-US" sz="1400" dirty="0" err="1"/>
              <a:t>xmin</a:t>
            </a:r>
            <a:r>
              <a:rPr lang="en-US" sz="1400" dirty="0"/>
              <a:t> = 794650,</a:t>
            </a:r>
            <a:br>
              <a:rPr lang="en-US" sz="1400" dirty="0"/>
            </a:br>
            <a:r>
              <a:rPr lang="en-US" sz="1400" dirty="0" err="1"/>
              <a:t>xmax</a:t>
            </a:r>
            <a:r>
              <a:rPr lang="en-US" sz="1400" dirty="0"/>
              <a:t> = 798250,</a:t>
            </a:r>
            <a:br>
              <a:rPr lang="en-US" sz="1400" dirty="0"/>
            </a:br>
            <a:r>
              <a:rPr lang="en-US" sz="1400" dirty="0" err="1"/>
              <a:t>ymin</a:t>
            </a:r>
            <a:r>
              <a:rPr lang="en-US" sz="1400" dirty="0"/>
              <a:t> = 8931750,</a:t>
            </a:r>
            <a:br>
              <a:rPr lang="en-US" sz="1400" dirty="0"/>
            </a:br>
            <a:r>
              <a:rPr lang="en-US" sz="1400" dirty="0" err="1"/>
              <a:t>ymax</a:t>
            </a:r>
            <a:r>
              <a:rPr lang="en-US" sz="1400" dirty="0"/>
              <a:t> = 8935350,</a:t>
            </a:r>
            <a:br>
              <a:rPr lang="en-US" sz="1400" dirty="0"/>
            </a:br>
            <a:r>
              <a:rPr lang="en-US" sz="1400" dirty="0"/>
              <a:t>resolution = 300,</a:t>
            </a:r>
            <a:br>
              <a:rPr lang="en-US" sz="1400" dirty="0"/>
            </a:br>
            <a:r>
              <a:rPr lang="en-US" sz="1400" dirty="0" err="1"/>
              <a:t>crs</a:t>
            </a:r>
            <a:r>
              <a:rPr lang="en-US" sz="1400" dirty="0"/>
              <a:t> = "EPSG:32717")</a:t>
            </a:r>
          </a:p>
          <a:p>
            <a:r>
              <a:rPr lang="en-US" sz="1400" dirty="0" err="1"/>
              <a:t>dem_resampl</a:t>
            </a:r>
            <a:r>
              <a:rPr lang="en-US" sz="1400" dirty="0"/>
              <a:t> = resample(dem,</a:t>
            </a:r>
            <a:br>
              <a:rPr lang="en-US" sz="1400" dirty="0"/>
            </a:br>
            <a:r>
              <a:rPr lang="en-US" sz="1400" dirty="0"/>
              <a:t>y = </a:t>
            </a:r>
            <a:r>
              <a:rPr lang="en-US" sz="1400" dirty="0" err="1"/>
              <a:t>target_rast</a:t>
            </a:r>
            <a:r>
              <a:rPr lang="en-US" sz="1400" dirty="0"/>
              <a:t>,</a:t>
            </a:r>
            <a:br>
              <a:rPr lang="en-US" sz="1400" dirty="0"/>
            </a:br>
            <a:r>
              <a:rPr lang="en-US" sz="1400" dirty="0"/>
              <a:t>method = "bilinear")</a:t>
            </a:r>
          </a:p>
        </p:txBody>
      </p:sp>
      <p:pic>
        <p:nvPicPr>
          <p:cNvPr id="7" name="Picture 6">
            <a:extLst>
              <a:ext uri="{FF2B5EF4-FFF2-40B4-BE49-F238E27FC236}">
                <a16:creationId xmlns:a16="http://schemas.microsoft.com/office/drawing/2014/main" id="{9C10C9D8-0E46-C98A-7115-BCAF85992617}"/>
              </a:ext>
            </a:extLst>
          </p:cNvPr>
          <p:cNvPicPr>
            <a:picLocks noChangeAspect="1"/>
          </p:cNvPicPr>
          <p:nvPr/>
        </p:nvPicPr>
        <p:blipFill>
          <a:blip r:embed="rId2"/>
          <a:srcRect r="5087"/>
          <a:stretch>
            <a:fillRect/>
          </a:stretch>
        </p:blipFill>
        <p:spPr>
          <a:xfrm>
            <a:off x="4629150" y="3544606"/>
            <a:ext cx="4057650" cy="2632357"/>
          </a:xfrm>
          <a:prstGeom prst="rect">
            <a:avLst/>
          </a:prstGeom>
        </p:spPr>
      </p:pic>
      <p:sp>
        <p:nvSpPr>
          <p:cNvPr id="8" name="TextBox 7">
            <a:extLst>
              <a:ext uri="{FF2B5EF4-FFF2-40B4-BE49-F238E27FC236}">
                <a16:creationId xmlns:a16="http://schemas.microsoft.com/office/drawing/2014/main" id="{65ECB005-B21A-C0D3-08B8-FE4F4BF6CE60}"/>
              </a:ext>
            </a:extLst>
          </p:cNvPr>
          <p:cNvSpPr txBox="1"/>
          <p:nvPr/>
        </p:nvSpPr>
        <p:spPr>
          <a:xfrm>
            <a:off x="4685557" y="6176963"/>
            <a:ext cx="3944835" cy="461665"/>
          </a:xfrm>
          <a:prstGeom prst="rect">
            <a:avLst/>
          </a:prstGeom>
          <a:noFill/>
        </p:spPr>
        <p:txBody>
          <a:bodyPr wrap="square" rtlCol="0">
            <a:spAutoFit/>
          </a:bodyPr>
          <a:lstStyle/>
          <a:p>
            <a:pPr algn="ctr"/>
            <a:r>
              <a:rPr lang="en-US" sz="1200" dirty="0">
                <a:solidFill>
                  <a:schemeClr val="tx1">
                    <a:lumMod val="65000"/>
                    <a:lumOff val="35000"/>
                  </a:schemeClr>
                </a:solidFill>
              </a:rPr>
              <a:t>Visual comparison of the original raster and five different resampling methods.</a:t>
            </a:r>
          </a:p>
        </p:txBody>
      </p:sp>
      <p:sp>
        <p:nvSpPr>
          <p:cNvPr id="2" name="Slide Number Placeholder 1">
            <a:extLst>
              <a:ext uri="{FF2B5EF4-FFF2-40B4-BE49-F238E27FC236}">
                <a16:creationId xmlns:a16="http://schemas.microsoft.com/office/drawing/2014/main" id="{3967C618-0245-54C5-9B29-2D4711441D78}"/>
              </a:ext>
            </a:extLst>
          </p:cNvPr>
          <p:cNvSpPr>
            <a:spLocks noGrp="1"/>
          </p:cNvSpPr>
          <p:nvPr>
            <p:ph type="sldNum" sz="quarter" idx="12"/>
          </p:nvPr>
        </p:nvSpPr>
        <p:spPr/>
        <p:txBody>
          <a:bodyPr/>
          <a:lstStyle/>
          <a:p>
            <a:fld id="{C0343C75-1924-D247-85A3-0CB62E67E5D1}" type="slidenum">
              <a:rPr lang="en-US" smtClean="0"/>
              <a:t>12</a:t>
            </a:fld>
            <a:endParaRPr lang="en-US"/>
          </a:p>
        </p:txBody>
      </p:sp>
    </p:spTree>
    <p:extLst>
      <p:ext uri="{BB962C8B-B14F-4D97-AF65-F5344CB8AC3E}">
        <p14:creationId xmlns:p14="http://schemas.microsoft.com/office/powerpoint/2010/main" val="3430511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FCDC48-6A6B-4B23-3F74-0A3B6EEA3B09}"/>
              </a:ext>
            </a:extLst>
          </p:cNvPr>
          <p:cNvPicPr>
            <a:picLocks noChangeAspect="1"/>
          </p:cNvPicPr>
          <p:nvPr/>
        </p:nvPicPr>
        <p:blipFill>
          <a:blip r:embed="rId2"/>
          <a:stretch>
            <a:fillRect/>
          </a:stretch>
        </p:blipFill>
        <p:spPr>
          <a:xfrm>
            <a:off x="4114801" y="3265715"/>
            <a:ext cx="5029199" cy="3592285"/>
          </a:xfrm>
          <a:prstGeom prst="rect">
            <a:avLst/>
          </a:prstGeom>
        </p:spPr>
      </p:pic>
      <p:sp>
        <p:nvSpPr>
          <p:cNvPr id="2" name="Title 1">
            <a:extLst>
              <a:ext uri="{FF2B5EF4-FFF2-40B4-BE49-F238E27FC236}">
                <a16:creationId xmlns:a16="http://schemas.microsoft.com/office/drawing/2014/main" id="{E34E9D7D-6C8A-96C5-69D1-C1E6F0154CB4}"/>
              </a:ext>
            </a:extLst>
          </p:cNvPr>
          <p:cNvSpPr>
            <a:spLocks noGrp="1"/>
          </p:cNvSpPr>
          <p:nvPr>
            <p:ph type="title"/>
          </p:nvPr>
        </p:nvSpPr>
        <p:spPr/>
        <p:txBody>
          <a:bodyPr/>
          <a:lstStyle/>
          <a:p>
            <a:r>
              <a:rPr lang="en-US" dirty="0"/>
              <a:t>Data Cubes</a:t>
            </a:r>
          </a:p>
        </p:txBody>
      </p:sp>
      <p:sp>
        <p:nvSpPr>
          <p:cNvPr id="5" name="Content Placeholder 4">
            <a:extLst>
              <a:ext uri="{FF2B5EF4-FFF2-40B4-BE49-F238E27FC236}">
                <a16:creationId xmlns:a16="http://schemas.microsoft.com/office/drawing/2014/main" id="{7645F693-ED0B-C2F6-05C4-452454696D97}"/>
              </a:ext>
            </a:extLst>
          </p:cNvPr>
          <p:cNvSpPr>
            <a:spLocks noGrp="1"/>
          </p:cNvSpPr>
          <p:nvPr>
            <p:ph idx="1"/>
          </p:nvPr>
        </p:nvSpPr>
        <p:spPr/>
        <p:txBody>
          <a:bodyPr>
            <a:normAutofit/>
          </a:bodyPr>
          <a:lstStyle/>
          <a:p>
            <a:r>
              <a:rPr lang="en-US" sz="2000" dirty="0"/>
              <a:t>Data cubes arise naturally when we observe properties of a set of geometries repeatedly over time.</a:t>
            </a:r>
          </a:p>
          <a:p>
            <a:pPr lvl="1"/>
            <a:r>
              <a:rPr lang="en-US" sz="1600" dirty="0"/>
              <a:t>Time information may sometimes be considered as an attribute of a feature, such as when we register the year of construction of a building or the date of birth of a person.</a:t>
            </a:r>
          </a:p>
          <a:p>
            <a:pPr lvl="1"/>
            <a:r>
              <a:rPr lang="en-US" sz="1600" dirty="0"/>
              <a:t>One way of considering our world is that of a four-dimensional space, with three space dimensions and one time dimension.</a:t>
            </a:r>
          </a:p>
          <a:p>
            <a:r>
              <a:rPr lang="en-US" sz="2000" dirty="0"/>
              <a:t>We define data cubes as array data with one or more array dimensions associated with space and/or time.</a:t>
            </a:r>
          </a:p>
          <a:p>
            <a:r>
              <a:rPr lang="en-US" sz="2000" dirty="0"/>
              <a:t>A canonical form of a data cube is:</a:t>
            </a:r>
          </a:p>
          <a:p>
            <a:r>
              <a:rPr lang="en-US" sz="2000" dirty="0"/>
              <a:t>Example in R:</a:t>
            </a:r>
          </a:p>
          <a:p>
            <a:pPr marL="0" indent="0">
              <a:buNone/>
            </a:pPr>
            <a:r>
              <a:rPr lang="en-US" sz="1600" b="1" dirty="0">
                <a:latin typeface="Consolas" panose="020B0609020204030204" pitchFamily="49" charset="0"/>
                <a:cs typeface="Consolas" panose="020B0609020204030204" pitchFamily="49" charset="0"/>
              </a:rPr>
              <a:t>	library(terra)</a:t>
            </a:r>
            <a:br>
              <a:rPr lang="en-US" sz="1600" b="1" dirty="0">
                <a:latin typeface="Consolas" panose="020B0609020204030204" pitchFamily="49" charset="0"/>
                <a:cs typeface="Consolas" panose="020B0609020204030204" pitchFamily="49" charset="0"/>
              </a:rPr>
            </a:br>
            <a:r>
              <a:rPr lang="en-US" sz="1600" b="1" dirty="0">
                <a:latin typeface="Consolas" panose="020B0609020204030204" pitchFamily="49" charset="0"/>
                <a:cs typeface="Consolas" panose="020B0609020204030204" pitchFamily="49" charset="0"/>
              </a:rPr>
              <a:t>	r1 &lt;- </a:t>
            </a:r>
            <a:r>
              <a:rPr lang="en-US" sz="1600" b="1" dirty="0" err="1">
                <a:latin typeface="Consolas" panose="020B0609020204030204" pitchFamily="49" charset="0"/>
                <a:cs typeface="Consolas" panose="020B0609020204030204" pitchFamily="49" charset="0"/>
              </a:rPr>
              <a:t>rast</a:t>
            </a:r>
            <a:r>
              <a:rPr lang="en-US" sz="1600" b="1" dirty="0">
                <a:latin typeface="Consolas" panose="020B0609020204030204" pitchFamily="49" charset="0"/>
                <a:cs typeface="Consolas" panose="020B0609020204030204" pitchFamily="49" charset="0"/>
              </a:rPr>
              <a:t>("raster1.tif")</a:t>
            </a:r>
            <a:br>
              <a:rPr lang="en-US" sz="1600" b="1" dirty="0">
                <a:latin typeface="Consolas" panose="020B0609020204030204" pitchFamily="49" charset="0"/>
                <a:cs typeface="Consolas" panose="020B0609020204030204" pitchFamily="49" charset="0"/>
              </a:rPr>
            </a:br>
            <a:r>
              <a:rPr lang="en-US" sz="1600" b="1" dirty="0">
                <a:latin typeface="Consolas" panose="020B0609020204030204" pitchFamily="49" charset="0"/>
                <a:cs typeface="Consolas" panose="020B0609020204030204" pitchFamily="49" charset="0"/>
              </a:rPr>
              <a:t>	r2 &lt;- </a:t>
            </a:r>
            <a:r>
              <a:rPr lang="en-US" sz="1600" b="1" dirty="0" err="1">
                <a:latin typeface="Consolas" panose="020B0609020204030204" pitchFamily="49" charset="0"/>
                <a:cs typeface="Consolas" panose="020B0609020204030204" pitchFamily="49" charset="0"/>
              </a:rPr>
              <a:t>rast</a:t>
            </a:r>
            <a:r>
              <a:rPr lang="en-US" sz="1600" b="1" dirty="0">
                <a:latin typeface="Consolas" panose="020B0609020204030204" pitchFamily="49" charset="0"/>
                <a:cs typeface="Consolas" panose="020B0609020204030204" pitchFamily="49" charset="0"/>
              </a:rPr>
              <a:t>("raster2.tif")</a:t>
            </a:r>
            <a:br>
              <a:rPr lang="en-US" sz="1600" b="1" dirty="0">
                <a:latin typeface="Consolas" panose="020B0609020204030204" pitchFamily="49" charset="0"/>
                <a:cs typeface="Consolas" panose="020B0609020204030204" pitchFamily="49" charset="0"/>
              </a:rPr>
            </a:br>
            <a:r>
              <a:rPr lang="en-US" sz="1600" b="1" dirty="0">
                <a:latin typeface="Consolas" panose="020B0609020204030204" pitchFamily="49" charset="0"/>
                <a:cs typeface="Consolas" panose="020B0609020204030204" pitchFamily="49" charset="0"/>
              </a:rPr>
              <a:t>	cube &lt;- c(r1, r2)</a:t>
            </a:r>
          </a:p>
        </p:txBody>
      </p:sp>
      <p:sp>
        <p:nvSpPr>
          <p:cNvPr id="3" name="Slide Number Placeholder 2">
            <a:extLst>
              <a:ext uri="{FF2B5EF4-FFF2-40B4-BE49-F238E27FC236}">
                <a16:creationId xmlns:a16="http://schemas.microsoft.com/office/drawing/2014/main" id="{FCF60A43-C172-373D-6B06-4312A4BB093C}"/>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1274717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BC53A-937E-7B40-6B11-F9DD7DFB7B64}"/>
              </a:ext>
            </a:extLst>
          </p:cNvPr>
          <p:cNvSpPr>
            <a:spLocks noGrp="1"/>
          </p:cNvSpPr>
          <p:nvPr>
            <p:ph type="title"/>
          </p:nvPr>
        </p:nvSpPr>
        <p:spPr/>
        <p:txBody>
          <a:bodyPr/>
          <a:lstStyle/>
          <a:p>
            <a:r>
              <a:rPr lang="en-US" dirty="0"/>
              <a:t>A Four-Dimensional Data Cube</a:t>
            </a:r>
          </a:p>
        </p:txBody>
      </p:sp>
      <p:pic>
        <p:nvPicPr>
          <p:cNvPr id="5" name="Picture 4">
            <a:extLst>
              <a:ext uri="{FF2B5EF4-FFF2-40B4-BE49-F238E27FC236}">
                <a16:creationId xmlns:a16="http://schemas.microsoft.com/office/drawing/2014/main" id="{EA227B11-9DC7-7B39-CC75-8BE8742DC3CB}"/>
              </a:ext>
            </a:extLst>
          </p:cNvPr>
          <p:cNvPicPr>
            <a:picLocks noChangeAspect="1"/>
          </p:cNvPicPr>
          <p:nvPr/>
        </p:nvPicPr>
        <p:blipFill>
          <a:blip r:embed="rId2"/>
          <a:srcRect t="22957" b="31734"/>
          <a:stretch>
            <a:fillRect/>
          </a:stretch>
        </p:blipFill>
        <p:spPr>
          <a:xfrm>
            <a:off x="469477" y="1416684"/>
            <a:ext cx="5315395" cy="1505198"/>
          </a:xfrm>
          <a:prstGeom prst="rect">
            <a:avLst/>
          </a:prstGeom>
        </p:spPr>
      </p:pic>
      <p:pic>
        <p:nvPicPr>
          <p:cNvPr id="6" name="Picture 5">
            <a:extLst>
              <a:ext uri="{FF2B5EF4-FFF2-40B4-BE49-F238E27FC236}">
                <a16:creationId xmlns:a16="http://schemas.microsoft.com/office/drawing/2014/main" id="{D64C9E67-0231-EA2F-133A-5D299A66CE86}"/>
              </a:ext>
            </a:extLst>
          </p:cNvPr>
          <p:cNvPicPr>
            <a:picLocks noChangeAspect="1"/>
          </p:cNvPicPr>
          <p:nvPr/>
        </p:nvPicPr>
        <p:blipFill>
          <a:blip r:embed="rId3"/>
          <a:srcRect l="9307" t="7965" r="8615" b="16017"/>
          <a:stretch>
            <a:fillRect/>
          </a:stretch>
        </p:blipFill>
        <p:spPr>
          <a:xfrm>
            <a:off x="4572000" y="2921882"/>
            <a:ext cx="4102523" cy="3799594"/>
          </a:xfrm>
          <a:prstGeom prst="rect">
            <a:avLst/>
          </a:prstGeom>
        </p:spPr>
      </p:pic>
      <p:sp>
        <p:nvSpPr>
          <p:cNvPr id="9" name="Bent Arrow 8">
            <a:extLst>
              <a:ext uri="{FF2B5EF4-FFF2-40B4-BE49-F238E27FC236}">
                <a16:creationId xmlns:a16="http://schemas.microsoft.com/office/drawing/2014/main" id="{A2C29C02-7BD3-5795-FB03-17E714447532}"/>
              </a:ext>
            </a:extLst>
          </p:cNvPr>
          <p:cNvSpPr/>
          <p:nvPr/>
        </p:nvSpPr>
        <p:spPr>
          <a:xfrm rot="10800000" flipH="1">
            <a:off x="2610597" y="3936119"/>
            <a:ext cx="1033153" cy="1092530"/>
          </a:xfrm>
          <a:prstGeom prst="ben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Slide Number Placeholder 2">
            <a:extLst>
              <a:ext uri="{FF2B5EF4-FFF2-40B4-BE49-F238E27FC236}">
                <a16:creationId xmlns:a16="http://schemas.microsoft.com/office/drawing/2014/main" id="{BCF75F20-E59C-7701-8A72-0EAD294EB92B}"/>
              </a:ext>
            </a:extLst>
          </p:cNvPr>
          <p:cNvSpPr>
            <a:spLocks noGrp="1"/>
          </p:cNvSpPr>
          <p:nvPr>
            <p:ph type="sldNum" sz="quarter" idx="12"/>
          </p:nvPr>
        </p:nvSpPr>
        <p:spPr/>
        <p:txBody>
          <a:bodyPr/>
          <a:lstStyle/>
          <a:p>
            <a:fld id="{C0343C75-1924-D247-85A3-0CB62E67E5D1}" type="slidenum">
              <a:rPr lang="en-US" smtClean="0"/>
              <a:t>14</a:t>
            </a:fld>
            <a:endParaRPr lang="en-US"/>
          </a:p>
        </p:txBody>
      </p:sp>
    </p:spTree>
    <p:extLst>
      <p:ext uri="{BB962C8B-B14F-4D97-AF65-F5344CB8AC3E}">
        <p14:creationId xmlns:p14="http://schemas.microsoft.com/office/powerpoint/2010/main" val="1387064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1F7D-D0F9-6751-E369-6E46C45A5069}"/>
              </a:ext>
            </a:extLst>
          </p:cNvPr>
          <p:cNvSpPr>
            <a:spLocks noGrp="1"/>
          </p:cNvSpPr>
          <p:nvPr>
            <p:ph type="title"/>
          </p:nvPr>
        </p:nvSpPr>
        <p:spPr/>
        <p:txBody>
          <a:bodyPr/>
          <a:lstStyle/>
          <a:p>
            <a:r>
              <a:rPr lang="en-US" b="1" dirty="0"/>
              <a:t>Operations on Data Cubes</a:t>
            </a:r>
            <a:br>
              <a:rPr lang="en-US" dirty="0"/>
            </a:br>
            <a:r>
              <a:rPr lang="en-US" dirty="0"/>
              <a:t>Slicing a cube: Filter</a:t>
            </a:r>
          </a:p>
        </p:txBody>
      </p:sp>
      <p:pic>
        <p:nvPicPr>
          <p:cNvPr id="3" name="Picture 2">
            <a:extLst>
              <a:ext uri="{FF2B5EF4-FFF2-40B4-BE49-F238E27FC236}">
                <a16:creationId xmlns:a16="http://schemas.microsoft.com/office/drawing/2014/main" id="{B34EDE5E-A42D-2B1B-8031-15E8B6BD7AEE}"/>
              </a:ext>
            </a:extLst>
          </p:cNvPr>
          <p:cNvPicPr>
            <a:picLocks noChangeAspect="1"/>
          </p:cNvPicPr>
          <p:nvPr/>
        </p:nvPicPr>
        <p:blipFill>
          <a:blip r:embed="rId2"/>
          <a:srcRect l="8095" t="13333" r="10572" b="16017"/>
          <a:stretch>
            <a:fillRect/>
          </a:stretch>
        </p:blipFill>
        <p:spPr>
          <a:xfrm>
            <a:off x="1808018" y="1439487"/>
            <a:ext cx="5527964" cy="5281989"/>
          </a:xfrm>
          <a:prstGeom prst="rect">
            <a:avLst/>
          </a:prstGeom>
        </p:spPr>
      </p:pic>
      <p:sp>
        <p:nvSpPr>
          <p:cNvPr id="4" name="Slide Number Placeholder 3">
            <a:extLst>
              <a:ext uri="{FF2B5EF4-FFF2-40B4-BE49-F238E27FC236}">
                <a16:creationId xmlns:a16="http://schemas.microsoft.com/office/drawing/2014/main" id="{1DBFE0DC-D9C3-C305-9CE8-1CE47C5BAD24}"/>
              </a:ext>
            </a:extLst>
          </p:cNvPr>
          <p:cNvSpPr>
            <a:spLocks noGrp="1"/>
          </p:cNvSpPr>
          <p:nvPr>
            <p:ph type="sldNum" sz="quarter" idx="12"/>
          </p:nvPr>
        </p:nvSpPr>
        <p:spPr/>
        <p:txBody>
          <a:bodyPr/>
          <a:lstStyle/>
          <a:p>
            <a:fld id="{C0343C75-1924-D247-85A3-0CB62E67E5D1}" type="slidenum">
              <a:rPr lang="en-US" smtClean="0"/>
              <a:t>15</a:t>
            </a:fld>
            <a:endParaRPr lang="en-US"/>
          </a:p>
        </p:txBody>
      </p:sp>
    </p:spTree>
    <p:extLst>
      <p:ext uri="{BB962C8B-B14F-4D97-AF65-F5344CB8AC3E}">
        <p14:creationId xmlns:p14="http://schemas.microsoft.com/office/powerpoint/2010/main" val="2006794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D710C9-D01F-D7D7-C49A-43A9869DE855}"/>
              </a:ext>
            </a:extLst>
          </p:cNvPr>
          <p:cNvPicPr>
            <a:picLocks noChangeAspect="1"/>
          </p:cNvPicPr>
          <p:nvPr/>
        </p:nvPicPr>
        <p:blipFill>
          <a:blip r:embed="rId2"/>
          <a:stretch>
            <a:fillRect/>
          </a:stretch>
        </p:blipFill>
        <p:spPr>
          <a:xfrm>
            <a:off x="685800" y="776604"/>
            <a:ext cx="7772400" cy="5440680"/>
          </a:xfrm>
          <a:prstGeom prst="rect">
            <a:avLst/>
          </a:prstGeom>
        </p:spPr>
      </p:pic>
      <p:sp>
        <p:nvSpPr>
          <p:cNvPr id="2" name="Title 1">
            <a:extLst>
              <a:ext uri="{FF2B5EF4-FFF2-40B4-BE49-F238E27FC236}">
                <a16:creationId xmlns:a16="http://schemas.microsoft.com/office/drawing/2014/main" id="{DF58305E-E602-9144-AB47-9C857F9C2B47}"/>
              </a:ext>
            </a:extLst>
          </p:cNvPr>
          <p:cNvSpPr>
            <a:spLocks noGrp="1"/>
          </p:cNvSpPr>
          <p:nvPr>
            <p:ph type="title"/>
          </p:nvPr>
        </p:nvSpPr>
        <p:spPr/>
        <p:txBody>
          <a:bodyPr/>
          <a:lstStyle/>
          <a:p>
            <a:r>
              <a:rPr lang="en-US" dirty="0"/>
              <a:t>Applying Functions to Dimensions</a:t>
            </a:r>
          </a:p>
        </p:txBody>
      </p:sp>
      <p:sp>
        <p:nvSpPr>
          <p:cNvPr id="4" name="TextBox 3">
            <a:extLst>
              <a:ext uri="{FF2B5EF4-FFF2-40B4-BE49-F238E27FC236}">
                <a16:creationId xmlns:a16="http://schemas.microsoft.com/office/drawing/2014/main" id="{F13712D3-7537-4A97-5769-46E6F05A5EE4}"/>
              </a:ext>
            </a:extLst>
          </p:cNvPr>
          <p:cNvSpPr txBox="1"/>
          <p:nvPr/>
        </p:nvSpPr>
        <p:spPr>
          <a:xfrm>
            <a:off x="2877241" y="4940135"/>
            <a:ext cx="3389518" cy="369332"/>
          </a:xfrm>
          <a:prstGeom prst="rect">
            <a:avLst/>
          </a:prstGeom>
          <a:noFill/>
        </p:spPr>
        <p:txBody>
          <a:bodyPr wrap="none" rtlCol="0">
            <a:spAutoFit/>
          </a:bodyPr>
          <a:lstStyle/>
          <a:p>
            <a:pPr algn="ctr"/>
            <a:r>
              <a:rPr lang="en-US" dirty="0"/>
              <a:t>Low-pass filtering of time series.</a:t>
            </a:r>
          </a:p>
        </p:txBody>
      </p:sp>
      <p:sp>
        <p:nvSpPr>
          <p:cNvPr id="5" name="Slide Number Placeholder 4">
            <a:extLst>
              <a:ext uri="{FF2B5EF4-FFF2-40B4-BE49-F238E27FC236}">
                <a16:creationId xmlns:a16="http://schemas.microsoft.com/office/drawing/2014/main" id="{1948865E-BF9E-4222-2382-6A2181A92309}"/>
              </a:ext>
            </a:extLst>
          </p:cNvPr>
          <p:cNvSpPr>
            <a:spLocks noGrp="1"/>
          </p:cNvSpPr>
          <p:nvPr>
            <p:ph type="sldNum" sz="quarter" idx="12"/>
          </p:nvPr>
        </p:nvSpPr>
        <p:spPr/>
        <p:txBody>
          <a:bodyPr/>
          <a:lstStyle/>
          <a:p>
            <a:fld id="{C0343C75-1924-D247-85A3-0CB62E67E5D1}" type="slidenum">
              <a:rPr lang="en-US" smtClean="0"/>
              <a:t>16</a:t>
            </a:fld>
            <a:endParaRPr lang="en-US"/>
          </a:p>
        </p:txBody>
      </p:sp>
    </p:spTree>
    <p:extLst>
      <p:ext uri="{BB962C8B-B14F-4D97-AF65-F5344CB8AC3E}">
        <p14:creationId xmlns:p14="http://schemas.microsoft.com/office/powerpoint/2010/main" val="35063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BE3F-6ED0-C839-A071-72983999F34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6554C0-4ED2-EEF6-7CE7-236C5B88FC49}"/>
              </a:ext>
            </a:extLst>
          </p:cNvPr>
          <p:cNvPicPr>
            <a:picLocks noChangeAspect="1"/>
          </p:cNvPicPr>
          <p:nvPr/>
        </p:nvPicPr>
        <p:blipFill>
          <a:blip r:embed="rId2"/>
          <a:stretch>
            <a:fillRect/>
          </a:stretch>
        </p:blipFill>
        <p:spPr>
          <a:xfrm>
            <a:off x="685800" y="1097280"/>
            <a:ext cx="7772400" cy="4663440"/>
          </a:xfrm>
          <a:prstGeom prst="rect">
            <a:avLst/>
          </a:prstGeom>
        </p:spPr>
      </p:pic>
      <p:sp>
        <p:nvSpPr>
          <p:cNvPr id="2" name="Title 1">
            <a:extLst>
              <a:ext uri="{FF2B5EF4-FFF2-40B4-BE49-F238E27FC236}">
                <a16:creationId xmlns:a16="http://schemas.microsoft.com/office/drawing/2014/main" id="{1489F310-5B57-95B2-16AE-7465A2580155}"/>
              </a:ext>
            </a:extLst>
          </p:cNvPr>
          <p:cNvSpPr>
            <a:spLocks noGrp="1"/>
          </p:cNvSpPr>
          <p:nvPr>
            <p:ph type="title"/>
          </p:nvPr>
        </p:nvSpPr>
        <p:spPr/>
        <p:txBody>
          <a:bodyPr/>
          <a:lstStyle/>
          <a:p>
            <a:r>
              <a:rPr lang="en-US" dirty="0"/>
              <a:t>Applying Functions to Dimensions</a:t>
            </a:r>
          </a:p>
        </p:txBody>
      </p:sp>
      <p:sp>
        <p:nvSpPr>
          <p:cNvPr id="4" name="TextBox 3">
            <a:extLst>
              <a:ext uri="{FF2B5EF4-FFF2-40B4-BE49-F238E27FC236}">
                <a16:creationId xmlns:a16="http://schemas.microsoft.com/office/drawing/2014/main" id="{EBE6FF9D-21E6-27EA-4955-48ACE7E56887}"/>
              </a:ext>
            </a:extLst>
          </p:cNvPr>
          <p:cNvSpPr txBox="1"/>
          <p:nvPr/>
        </p:nvSpPr>
        <p:spPr>
          <a:xfrm>
            <a:off x="2788499" y="4940135"/>
            <a:ext cx="3567002" cy="369332"/>
          </a:xfrm>
          <a:prstGeom prst="rect">
            <a:avLst/>
          </a:prstGeom>
          <a:noFill/>
        </p:spPr>
        <p:txBody>
          <a:bodyPr wrap="none" rtlCol="0">
            <a:spAutoFit/>
          </a:bodyPr>
          <a:lstStyle/>
          <a:p>
            <a:pPr algn="ctr"/>
            <a:r>
              <a:rPr lang="en-US" dirty="0"/>
              <a:t>Low pass filtering of spatial slices.</a:t>
            </a:r>
          </a:p>
        </p:txBody>
      </p:sp>
      <p:sp>
        <p:nvSpPr>
          <p:cNvPr id="3" name="Slide Number Placeholder 2">
            <a:extLst>
              <a:ext uri="{FF2B5EF4-FFF2-40B4-BE49-F238E27FC236}">
                <a16:creationId xmlns:a16="http://schemas.microsoft.com/office/drawing/2014/main" id="{18E43A7F-5FD0-F2F8-AD1A-A8B00BE62C07}"/>
              </a:ext>
            </a:extLst>
          </p:cNvPr>
          <p:cNvSpPr>
            <a:spLocks noGrp="1"/>
          </p:cNvSpPr>
          <p:nvPr>
            <p:ph type="sldNum" sz="quarter" idx="12"/>
          </p:nvPr>
        </p:nvSpPr>
        <p:spPr/>
        <p:txBody>
          <a:bodyPr/>
          <a:lstStyle/>
          <a:p>
            <a:fld id="{C0343C75-1924-D247-85A3-0CB62E67E5D1}" type="slidenum">
              <a:rPr lang="en-US" smtClean="0"/>
              <a:t>17</a:t>
            </a:fld>
            <a:endParaRPr lang="en-US"/>
          </a:p>
        </p:txBody>
      </p:sp>
    </p:spTree>
    <p:extLst>
      <p:ext uri="{BB962C8B-B14F-4D97-AF65-F5344CB8AC3E}">
        <p14:creationId xmlns:p14="http://schemas.microsoft.com/office/powerpoint/2010/main" val="698323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A8788-C89E-2B32-D83A-3C5DF89D9E02}"/>
              </a:ext>
            </a:extLst>
          </p:cNvPr>
          <p:cNvSpPr>
            <a:spLocks noGrp="1"/>
          </p:cNvSpPr>
          <p:nvPr>
            <p:ph type="title"/>
          </p:nvPr>
        </p:nvSpPr>
        <p:spPr/>
        <p:txBody>
          <a:bodyPr/>
          <a:lstStyle/>
          <a:p>
            <a:r>
              <a:rPr lang="en-US" dirty="0"/>
              <a:t>Reducing Dimensions</a:t>
            </a:r>
          </a:p>
        </p:txBody>
      </p:sp>
      <p:pic>
        <p:nvPicPr>
          <p:cNvPr id="3" name="Picture 2">
            <a:extLst>
              <a:ext uri="{FF2B5EF4-FFF2-40B4-BE49-F238E27FC236}">
                <a16:creationId xmlns:a16="http://schemas.microsoft.com/office/drawing/2014/main" id="{C29AF160-80D9-4DD1-E57E-2DDECABC58E7}"/>
              </a:ext>
            </a:extLst>
          </p:cNvPr>
          <p:cNvPicPr>
            <a:picLocks noChangeAspect="1"/>
          </p:cNvPicPr>
          <p:nvPr/>
        </p:nvPicPr>
        <p:blipFill>
          <a:blip r:embed="rId2"/>
          <a:srcRect t="5887" b="8052"/>
          <a:stretch>
            <a:fillRect/>
          </a:stretch>
        </p:blipFill>
        <p:spPr>
          <a:xfrm>
            <a:off x="1489990" y="1416684"/>
            <a:ext cx="6164019" cy="5304792"/>
          </a:xfrm>
          <a:prstGeom prst="rect">
            <a:avLst/>
          </a:prstGeom>
        </p:spPr>
      </p:pic>
      <p:sp>
        <p:nvSpPr>
          <p:cNvPr id="4" name="Slide Number Placeholder 3">
            <a:extLst>
              <a:ext uri="{FF2B5EF4-FFF2-40B4-BE49-F238E27FC236}">
                <a16:creationId xmlns:a16="http://schemas.microsoft.com/office/drawing/2014/main" id="{E7F7054C-6969-1659-A849-F3C30ACB65B4}"/>
              </a:ext>
            </a:extLst>
          </p:cNvPr>
          <p:cNvSpPr>
            <a:spLocks noGrp="1"/>
          </p:cNvSpPr>
          <p:nvPr>
            <p:ph type="sldNum" sz="quarter" idx="12"/>
          </p:nvPr>
        </p:nvSpPr>
        <p:spPr/>
        <p:txBody>
          <a:bodyPr/>
          <a:lstStyle/>
          <a:p>
            <a:fld id="{C0343C75-1924-D247-85A3-0CB62E67E5D1}" type="slidenum">
              <a:rPr lang="en-US" smtClean="0"/>
              <a:t>18</a:t>
            </a:fld>
            <a:endParaRPr lang="en-US"/>
          </a:p>
        </p:txBody>
      </p:sp>
    </p:spTree>
    <p:extLst>
      <p:ext uri="{BB962C8B-B14F-4D97-AF65-F5344CB8AC3E}">
        <p14:creationId xmlns:p14="http://schemas.microsoft.com/office/powerpoint/2010/main" val="3480448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56D5CD-CC59-0313-4A5E-1C0CE7325908}"/>
              </a:ext>
            </a:extLst>
          </p:cNvPr>
          <p:cNvPicPr>
            <a:picLocks noChangeAspect="1"/>
          </p:cNvPicPr>
          <p:nvPr/>
        </p:nvPicPr>
        <p:blipFill>
          <a:blip r:embed="rId2"/>
          <a:stretch>
            <a:fillRect/>
          </a:stretch>
        </p:blipFill>
        <p:spPr>
          <a:xfrm>
            <a:off x="685800" y="503556"/>
            <a:ext cx="7772400" cy="6217920"/>
          </a:xfrm>
          <a:prstGeom prst="rect">
            <a:avLst/>
          </a:prstGeom>
        </p:spPr>
      </p:pic>
      <p:sp>
        <p:nvSpPr>
          <p:cNvPr id="2" name="Title 1">
            <a:extLst>
              <a:ext uri="{FF2B5EF4-FFF2-40B4-BE49-F238E27FC236}">
                <a16:creationId xmlns:a16="http://schemas.microsoft.com/office/drawing/2014/main" id="{2B4B9B81-AAD2-47B1-ABF9-A4BED1B80182}"/>
              </a:ext>
            </a:extLst>
          </p:cNvPr>
          <p:cNvSpPr>
            <a:spLocks noGrp="1"/>
          </p:cNvSpPr>
          <p:nvPr>
            <p:ph type="title"/>
          </p:nvPr>
        </p:nvSpPr>
        <p:spPr/>
        <p:txBody>
          <a:bodyPr/>
          <a:lstStyle/>
          <a:p>
            <a:r>
              <a:rPr lang="en-US" dirty="0"/>
              <a:t>Aggregating Raster to Vector Cubes</a:t>
            </a:r>
          </a:p>
        </p:txBody>
      </p:sp>
      <p:sp>
        <p:nvSpPr>
          <p:cNvPr id="4" name="Slide Number Placeholder 3">
            <a:extLst>
              <a:ext uri="{FF2B5EF4-FFF2-40B4-BE49-F238E27FC236}">
                <a16:creationId xmlns:a16="http://schemas.microsoft.com/office/drawing/2014/main" id="{93CF7BBE-D436-206A-10A6-FD7A24882516}"/>
              </a:ext>
            </a:extLst>
          </p:cNvPr>
          <p:cNvSpPr>
            <a:spLocks noGrp="1"/>
          </p:cNvSpPr>
          <p:nvPr>
            <p:ph type="sldNum" sz="quarter" idx="12"/>
          </p:nvPr>
        </p:nvSpPr>
        <p:spPr/>
        <p:txBody>
          <a:bodyPr/>
          <a:lstStyle/>
          <a:p>
            <a:fld id="{C0343C75-1924-D247-85A3-0CB62E67E5D1}" type="slidenum">
              <a:rPr lang="en-US" smtClean="0"/>
              <a:t>19</a:t>
            </a:fld>
            <a:endParaRPr lang="en-US"/>
          </a:p>
        </p:txBody>
      </p:sp>
    </p:spTree>
    <p:extLst>
      <p:ext uri="{BB962C8B-B14F-4D97-AF65-F5344CB8AC3E}">
        <p14:creationId xmlns:p14="http://schemas.microsoft.com/office/powerpoint/2010/main" val="2775793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785F7-EB73-16C6-12F5-65D61BB50223}"/>
              </a:ext>
            </a:extLst>
          </p:cNvPr>
          <p:cNvPicPr>
            <a:picLocks noChangeAspect="1"/>
          </p:cNvPicPr>
          <p:nvPr/>
        </p:nvPicPr>
        <p:blipFill>
          <a:blip r:embed="rId2"/>
          <a:srcRect t="9972" b="14332"/>
          <a:stretch>
            <a:fillRect/>
          </a:stretch>
        </p:blipFill>
        <p:spPr>
          <a:xfrm>
            <a:off x="1371600" y="1416684"/>
            <a:ext cx="6400800" cy="4845132"/>
          </a:xfrm>
          <a:prstGeom prst="rect">
            <a:avLst/>
          </a:prstGeom>
        </p:spPr>
      </p:pic>
      <p:sp>
        <p:nvSpPr>
          <p:cNvPr id="2" name="Title 1">
            <a:extLst>
              <a:ext uri="{FF2B5EF4-FFF2-40B4-BE49-F238E27FC236}">
                <a16:creationId xmlns:a16="http://schemas.microsoft.com/office/drawing/2014/main" id="{DF851EA4-5700-5901-AC4A-F6E6BC901847}"/>
              </a:ext>
            </a:extLst>
          </p:cNvPr>
          <p:cNvSpPr>
            <a:spLocks noGrp="1"/>
          </p:cNvSpPr>
          <p:nvPr>
            <p:ph type="title"/>
          </p:nvPr>
        </p:nvSpPr>
        <p:spPr/>
        <p:txBody>
          <a:bodyPr>
            <a:normAutofit fontScale="90000"/>
          </a:bodyPr>
          <a:lstStyle/>
          <a:p>
            <a:br>
              <a:rPr lang="en-US" dirty="0"/>
            </a:br>
            <a:r>
              <a:rPr lang="en-US" b="1" dirty="0"/>
              <a:t>Example</a:t>
            </a:r>
            <a:r>
              <a:rPr lang="en-US" dirty="0"/>
              <a:t>:</a:t>
            </a:r>
            <a:br>
              <a:rPr lang="en-US" dirty="0"/>
            </a:br>
            <a:r>
              <a:rPr lang="en-US" dirty="0"/>
              <a:t>Vector data cube with air quality time series</a:t>
            </a:r>
          </a:p>
        </p:txBody>
      </p:sp>
      <p:sp>
        <p:nvSpPr>
          <p:cNvPr id="4" name="Slide Number Placeholder 3">
            <a:extLst>
              <a:ext uri="{FF2B5EF4-FFF2-40B4-BE49-F238E27FC236}">
                <a16:creationId xmlns:a16="http://schemas.microsoft.com/office/drawing/2014/main" id="{2B8AA6E7-DB3A-49E2-84E3-E8350BF39267}"/>
              </a:ext>
            </a:extLst>
          </p:cNvPr>
          <p:cNvSpPr>
            <a:spLocks noGrp="1"/>
          </p:cNvSpPr>
          <p:nvPr>
            <p:ph type="sldNum" sz="quarter" idx="12"/>
          </p:nvPr>
        </p:nvSpPr>
        <p:spPr/>
        <p:txBody>
          <a:bodyPr/>
          <a:lstStyle/>
          <a:p>
            <a:fld id="{C0343C75-1924-D247-85A3-0CB62E67E5D1}" type="slidenum">
              <a:rPr lang="en-US" smtClean="0"/>
              <a:t>20</a:t>
            </a:fld>
            <a:endParaRPr lang="en-US"/>
          </a:p>
        </p:txBody>
      </p:sp>
    </p:spTree>
    <p:extLst>
      <p:ext uri="{BB962C8B-B14F-4D97-AF65-F5344CB8AC3E}">
        <p14:creationId xmlns:p14="http://schemas.microsoft.com/office/powerpoint/2010/main" val="2381739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51598F-DE6D-7857-197B-232AEABE4ADC}"/>
              </a:ext>
            </a:extLst>
          </p:cNvPr>
          <p:cNvSpPr>
            <a:spLocks noGrp="1"/>
          </p:cNvSpPr>
          <p:nvPr>
            <p:ph type="title"/>
          </p:nvPr>
        </p:nvSpPr>
        <p:spPr/>
        <p:txBody>
          <a:bodyPr/>
          <a:lstStyle/>
          <a:p>
            <a:r>
              <a:rPr lang="en-US" dirty="0"/>
              <a:t>Tips</a:t>
            </a:r>
          </a:p>
        </p:txBody>
      </p:sp>
      <p:sp>
        <p:nvSpPr>
          <p:cNvPr id="5" name="Content Placeholder 4">
            <a:extLst>
              <a:ext uri="{FF2B5EF4-FFF2-40B4-BE49-F238E27FC236}">
                <a16:creationId xmlns:a16="http://schemas.microsoft.com/office/drawing/2014/main" id="{7163A3F6-21A3-BCB1-FD83-8FB5FD209A86}"/>
              </a:ext>
            </a:extLst>
          </p:cNvPr>
          <p:cNvSpPr>
            <a:spLocks noGrp="1"/>
          </p:cNvSpPr>
          <p:nvPr>
            <p:ph sz="half" idx="2"/>
          </p:nvPr>
        </p:nvSpPr>
        <p:spPr>
          <a:xfrm>
            <a:off x="457200" y="1596072"/>
            <a:ext cx="8229600" cy="4580891"/>
          </a:xfrm>
        </p:spPr>
        <p:txBody>
          <a:bodyPr>
            <a:normAutofit lnSpcReduction="10000"/>
          </a:bodyPr>
          <a:lstStyle/>
          <a:p>
            <a:r>
              <a:rPr lang="en-US" sz="1400" dirty="0">
                <a:solidFill>
                  <a:schemeClr val="tx2">
                    <a:lumMod val="10000"/>
                    <a:lumOff val="90000"/>
                  </a:schemeClr>
                </a:solidFill>
              </a:rPr>
              <a:t># before stacking, make sure:</a:t>
            </a:r>
          </a:p>
          <a:p>
            <a:r>
              <a:rPr lang="en-US" sz="1400" dirty="0" err="1"/>
              <a:t>compareGeom</a:t>
            </a:r>
            <a:r>
              <a:rPr lang="en-US" sz="1400" dirty="0"/>
              <a:t>(r1, r2)</a:t>
            </a:r>
          </a:p>
          <a:p>
            <a:endParaRPr lang="en-US" sz="1400" dirty="0"/>
          </a:p>
          <a:p>
            <a:r>
              <a:rPr lang="en-US" sz="1400" dirty="0">
                <a:solidFill>
                  <a:schemeClr val="tx2">
                    <a:lumMod val="10000"/>
                    <a:lumOff val="90000"/>
                  </a:schemeClr>
                </a:solidFill>
              </a:rPr>
              <a:t># they must have: same CRS, same resolution, same extent, same origin</a:t>
            </a:r>
          </a:p>
          <a:p>
            <a:r>
              <a:rPr lang="en-US" sz="1400" dirty="0">
                <a:solidFill>
                  <a:schemeClr val="tx2">
                    <a:lumMod val="10000"/>
                    <a:lumOff val="90000"/>
                  </a:schemeClr>
                </a:solidFill>
              </a:rPr>
              <a:t># if not, align them:</a:t>
            </a:r>
          </a:p>
          <a:p>
            <a:r>
              <a:rPr lang="en-US" sz="1400" dirty="0"/>
              <a:t>r2 &lt;- resample(r2, r1)</a:t>
            </a:r>
          </a:p>
          <a:p>
            <a:endParaRPr lang="en-US" sz="1400" dirty="0"/>
          </a:p>
          <a:p>
            <a:r>
              <a:rPr lang="en-US" sz="1400" dirty="0">
                <a:solidFill>
                  <a:schemeClr val="tx2">
                    <a:lumMod val="10000"/>
                    <a:lumOff val="90000"/>
                  </a:schemeClr>
                </a:solidFill>
              </a:rPr>
              <a:t># layer names</a:t>
            </a:r>
          </a:p>
          <a:p>
            <a:r>
              <a:rPr lang="en-US" sz="1400" dirty="0"/>
              <a:t>names(cube) &lt;- c("layer1", "layer2")</a:t>
            </a:r>
          </a:p>
          <a:p>
            <a:endParaRPr lang="en-US" sz="1400" dirty="0"/>
          </a:p>
          <a:p>
            <a:r>
              <a:rPr lang="en-US" sz="1400" dirty="0">
                <a:solidFill>
                  <a:schemeClr val="tx2">
                    <a:lumMod val="10000"/>
                    <a:lumOff val="90000"/>
                  </a:schemeClr>
                </a:solidFill>
              </a:rPr>
              <a:t># time slices</a:t>
            </a:r>
          </a:p>
          <a:p>
            <a:r>
              <a:rPr lang="en-US" sz="1400" dirty="0"/>
              <a:t>time(cube) &lt;- </a:t>
            </a:r>
            <a:r>
              <a:rPr lang="en-US" sz="1400" dirty="0" err="1"/>
              <a:t>as.Date</a:t>
            </a:r>
            <a:r>
              <a:rPr lang="en-US" sz="1400" dirty="0"/>
              <a:t>(c("2024-01-01", "2024-02-01"))</a:t>
            </a:r>
          </a:p>
          <a:p>
            <a:endParaRPr lang="en-US" sz="1400" dirty="0"/>
          </a:p>
          <a:p>
            <a:r>
              <a:rPr lang="en-US" sz="1400" dirty="0" err="1"/>
              <a:t>st_dimensions</a:t>
            </a:r>
            <a:r>
              <a:rPr lang="en-US" sz="1400" dirty="0"/>
              <a:t>(cube)$band &lt;- c("layer1", "layer2")</a:t>
            </a:r>
          </a:p>
          <a:p>
            <a:r>
              <a:rPr lang="en-US" sz="1400" dirty="0" err="1"/>
              <a:t>st_dimensions</a:t>
            </a:r>
            <a:r>
              <a:rPr lang="en-US" sz="1400" dirty="0"/>
              <a:t>(cube)$time &lt;- </a:t>
            </a:r>
            <a:r>
              <a:rPr lang="en-US" sz="1400" dirty="0" err="1"/>
              <a:t>as.Date</a:t>
            </a:r>
            <a:r>
              <a:rPr lang="en-US" sz="1400" dirty="0"/>
              <a:t>(c("2024-01-01", "2024-02-01"))</a:t>
            </a:r>
          </a:p>
        </p:txBody>
      </p:sp>
      <p:sp>
        <p:nvSpPr>
          <p:cNvPr id="2" name="Slide Number Placeholder 1">
            <a:extLst>
              <a:ext uri="{FF2B5EF4-FFF2-40B4-BE49-F238E27FC236}">
                <a16:creationId xmlns:a16="http://schemas.microsoft.com/office/drawing/2014/main" id="{95C7440C-367F-3266-F6DE-5534213F56C7}"/>
              </a:ext>
            </a:extLst>
          </p:cNvPr>
          <p:cNvSpPr>
            <a:spLocks noGrp="1"/>
          </p:cNvSpPr>
          <p:nvPr>
            <p:ph type="sldNum" sz="quarter" idx="12"/>
          </p:nvPr>
        </p:nvSpPr>
        <p:spPr/>
        <p:txBody>
          <a:bodyPr/>
          <a:lstStyle/>
          <a:p>
            <a:fld id="{C0343C75-1924-D247-85A3-0CB62E67E5D1}" type="slidenum">
              <a:rPr lang="en-US" smtClean="0"/>
              <a:t>21</a:t>
            </a:fld>
            <a:endParaRPr lang="en-US"/>
          </a:p>
        </p:txBody>
      </p:sp>
    </p:spTree>
    <p:extLst>
      <p:ext uri="{BB962C8B-B14F-4D97-AF65-F5344CB8AC3E}">
        <p14:creationId xmlns:p14="http://schemas.microsoft.com/office/powerpoint/2010/main" val="2392672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E7B3B8-6BB4-4254-DA82-9065CD70D687}"/>
              </a:ext>
            </a:extLst>
          </p:cNvPr>
          <p:cNvSpPr>
            <a:spLocks noGrp="1"/>
          </p:cNvSpPr>
          <p:nvPr>
            <p:ph type="title"/>
          </p:nvPr>
        </p:nvSpPr>
        <p:spPr/>
        <p:txBody>
          <a:bodyPr/>
          <a:lstStyle/>
          <a:p>
            <a:r>
              <a:rPr lang="en-US" dirty="0"/>
              <a:t>Practice Questions</a:t>
            </a:r>
          </a:p>
        </p:txBody>
      </p:sp>
      <p:sp>
        <p:nvSpPr>
          <p:cNvPr id="6" name="Content Placeholder 5">
            <a:extLst>
              <a:ext uri="{FF2B5EF4-FFF2-40B4-BE49-F238E27FC236}">
                <a16:creationId xmlns:a16="http://schemas.microsoft.com/office/drawing/2014/main" id="{23EDE536-7AFB-0F0B-8D77-A99907EC7257}"/>
              </a:ext>
            </a:extLst>
          </p:cNvPr>
          <p:cNvSpPr>
            <a:spLocks noGrp="1"/>
          </p:cNvSpPr>
          <p:nvPr>
            <p:ph idx="1"/>
          </p:nvPr>
        </p:nvSpPr>
        <p:spPr/>
        <p:txBody>
          <a:bodyPr>
            <a:normAutofit fontScale="92500" lnSpcReduction="10000"/>
          </a:bodyPr>
          <a:lstStyle/>
          <a:p>
            <a:pPr marL="295275" indent="-295275">
              <a:buFont typeface="+mj-lt"/>
              <a:buAutoNum type="arabicPeriod"/>
            </a:pPr>
            <a:r>
              <a:rPr lang="en-US" sz="1800" dirty="0"/>
              <a:t>You are given a large land cover raster and a polygon shapefile representing watershed boundaries. How would you extract raster values for a single watershed efficiently?</a:t>
            </a:r>
          </a:p>
          <a:p>
            <a:pPr marL="752475" lvl="1" indent="-295275">
              <a:buFont typeface="+mj-lt"/>
              <a:buAutoNum type="arabicPeriod"/>
            </a:pPr>
            <a:r>
              <a:rPr lang="en-US" sz="1400" dirty="0"/>
              <a:t>What if the raster and vector layers are in different projections?</a:t>
            </a:r>
          </a:p>
          <a:p>
            <a:pPr marL="752475" lvl="1" indent="-295275">
              <a:buFont typeface="+mj-lt"/>
              <a:buAutoNum type="arabicPeriod"/>
            </a:pPr>
            <a:r>
              <a:rPr lang="en-US" sz="1400" dirty="0"/>
              <a:t>How would you handle </a:t>
            </a:r>
            <a:r>
              <a:rPr lang="en-US" sz="1200" b="1" dirty="0" err="1">
                <a:latin typeface="Consolas" panose="020B0609020204030204" pitchFamily="49" charset="0"/>
                <a:cs typeface="Consolas" panose="020B0609020204030204" pitchFamily="49" charset="0"/>
              </a:rPr>
              <a:t>nodata</a:t>
            </a:r>
            <a:r>
              <a:rPr lang="en-US" sz="1400" dirty="0"/>
              <a:t> values?</a:t>
            </a:r>
          </a:p>
          <a:p>
            <a:pPr marL="295275" indent="-295275">
              <a:buFont typeface="+mj-lt"/>
              <a:buAutoNum type="arabicPeriod"/>
            </a:pPr>
            <a:r>
              <a:rPr lang="en-US" sz="1800" dirty="0"/>
              <a:t>You need to compute pixel-wise subtraction between two rasters with different resolutions and extents. How would you prepare them?</a:t>
            </a:r>
          </a:p>
          <a:p>
            <a:pPr marL="295275" indent="-295275">
              <a:buFont typeface="+mj-lt"/>
              <a:buAutoNum type="arabicPeriod"/>
            </a:pPr>
            <a:r>
              <a:rPr lang="en-US" sz="1800" dirty="0"/>
              <a:t>How would you calculate mean elevation per administrative boundary polygon from a DEM?</a:t>
            </a:r>
          </a:p>
          <a:p>
            <a:pPr marL="295275" indent="-295275">
              <a:buFont typeface="+mj-lt"/>
              <a:buAutoNum type="arabicPeriod"/>
            </a:pPr>
            <a:r>
              <a:rPr lang="en-US" sz="1800" dirty="0"/>
              <a:t>Describe how you would convert building footprint polygons into a raster grid with building counts per cell.</a:t>
            </a:r>
          </a:p>
          <a:p>
            <a:pPr marL="295275" indent="-295275">
              <a:buFont typeface="+mj-lt"/>
              <a:buAutoNum type="arabicPeriod"/>
            </a:pPr>
            <a:r>
              <a:rPr lang="en-US" sz="1800" dirty="0"/>
              <a:t>You are working with a 200GB raster dataset. How would you process it without loading it entirely into memory?</a:t>
            </a:r>
          </a:p>
          <a:p>
            <a:pPr marL="295275" indent="-295275">
              <a:buFont typeface="+mj-lt"/>
              <a:buAutoNum type="arabicPeriod"/>
            </a:pPr>
            <a:r>
              <a:rPr lang="en-US" sz="1800" dirty="0"/>
              <a:t>In a socio-economic vector data cube with variables population, life expectancy, and gross domestic product ordered by dimensions country and year, which variables have block support for the spatial dimension, and which have block support for the temporal dimension?</a:t>
            </a:r>
          </a:p>
        </p:txBody>
      </p:sp>
      <p:sp>
        <p:nvSpPr>
          <p:cNvPr id="2" name="Slide Number Placeholder 1">
            <a:extLst>
              <a:ext uri="{FF2B5EF4-FFF2-40B4-BE49-F238E27FC236}">
                <a16:creationId xmlns:a16="http://schemas.microsoft.com/office/drawing/2014/main" id="{CBF16C30-618A-8AA0-4A25-CC2FA54FE687}"/>
              </a:ext>
            </a:extLst>
          </p:cNvPr>
          <p:cNvSpPr>
            <a:spLocks noGrp="1"/>
          </p:cNvSpPr>
          <p:nvPr>
            <p:ph type="sldNum" sz="quarter" idx="12"/>
          </p:nvPr>
        </p:nvSpPr>
        <p:spPr/>
        <p:txBody>
          <a:bodyPr/>
          <a:lstStyle/>
          <a:p>
            <a:fld id="{C0343C75-1924-D247-85A3-0CB62E67E5D1}" type="slidenum">
              <a:rPr lang="en-US" smtClean="0"/>
              <a:t>22</a:t>
            </a:fld>
            <a:endParaRPr lang="en-US"/>
          </a:p>
        </p:txBody>
      </p:sp>
    </p:spTree>
    <p:extLst>
      <p:ext uri="{BB962C8B-B14F-4D97-AF65-F5344CB8AC3E}">
        <p14:creationId xmlns:p14="http://schemas.microsoft.com/office/powerpoint/2010/main" val="5133227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AAD8946F-0F31-3B4A-8CB9-5FA22C3CE7DB}" vid="{C0D572B3-B117-984B-94A9-96E09E0151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120</TotalTime>
  <Words>1891</Words>
  <Application>Microsoft Macintosh PowerPoint</Application>
  <PresentationFormat>On-screen Show (4:3)</PresentationFormat>
  <Paragraphs>161</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Consolas</vt:lpstr>
      <vt:lpstr>Office Theme</vt:lpstr>
      <vt:lpstr>Geometry Operations with Raster Data and Data Cubes</vt:lpstr>
      <vt:lpstr>Overview</vt:lpstr>
      <vt:lpstr>Geometric Operations on Raster Data</vt:lpstr>
      <vt:lpstr>Geometric Intersections</vt:lpstr>
      <vt:lpstr>Extent and Origin</vt:lpstr>
      <vt:lpstr>PowerPoint Presentation</vt:lpstr>
      <vt:lpstr>Extent and Origin</vt:lpstr>
      <vt:lpstr>Aggregation and Disaggregation</vt:lpstr>
      <vt:lpstr>Aggregation and Disaggregation</vt:lpstr>
      <vt:lpstr>Resampling</vt:lpstr>
      <vt:lpstr>Resampling methods for estimating values for a raster with different resolutions/origins</vt:lpstr>
      <vt:lpstr>Resampling Example</vt:lpstr>
      <vt:lpstr>Data Cubes</vt:lpstr>
      <vt:lpstr>A Four-Dimensional Data Cube</vt:lpstr>
      <vt:lpstr>Operations on Data Cubes Slicing a cube: Filter</vt:lpstr>
      <vt:lpstr>Applying Functions to Dimensions</vt:lpstr>
      <vt:lpstr>Applying Functions to Dimensions</vt:lpstr>
      <vt:lpstr>Reducing Dimensions</vt:lpstr>
      <vt:lpstr>Aggregating Raster to Vector Cubes</vt:lpstr>
      <vt:lpstr> Example: Vector data cube with air quality time series</vt:lpstr>
      <vt:lpstr>Tips</vt:lpstr>
      <vt:lpstr>Practice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Alexander Abuabara</cp:lastModifiedBy>
  <cp:revision>41</cp:revision>
  <dcterms:created xsi:type="dcterms:W3CDTF">2026-02-09T02:58:06Z</dcterms:created>
  <dcterms:modified xsi:type="dcterms:W3CDTF">2026-03-19T16:25:04Z</dcterms:modified>
  <cp:category/>
</cp:coreProperties>
</file>