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2"/>
  </p:notesMasterIdLst>
  <p:sldIdLst>
    <p:sldId id="256" r:id="rId2"/>
    <p:sldId id="317" r:id="rId3"/>
    <p:sldId id="336" r:id="rId4"/>
    <p:sldId id="344" r:id="rId5"/>
    <p:sldId id="361" r:id="rId6"/>
    <p:sldId id="359" r:id="rId7"/>
    <p:sldId id="365" r:id="rId8"/>
    <p:sldId id="360" r:id="rId9"/>
    <p:sldId id="347" r:id="rId10"/>
    <p:sldId id="345" r:id="rId11"/>
    <p:sldId id="348" r:id="rId12"/>
    <p:sldId id="349" r:id="rId13"/>
    <p:sldId id="350" r:id="rId14"/>
    <p:sldId id="346" r:id="rId15"/>
    <p:sldId id="351" r:id="rId16"/>
    <p:sldId id="352" r:id="rId17"/>
    <p:sldId id="364" r:id="rId18"/>
    <p:sldId id="353" r:id="rId19"/>
    <p:sldId id="363" r:id="rId20"/>
    <p:sldId id="366" r:id="rId21"/>
    <p:sldId id="362" r:id="rId22"/>
    <p:sldId id="354" r:id="rId23"/>
    <p:sldId id="356" r:id="rId24"/>
    <p:sldId id="368" r:id="rId25"/>
    <p:sldId id="369" r:id="rId26"/>
    <p:sldId id="367" r:id="rId27"/>
    <p:sldId id="357" r:id="rId28"/>
    <p:sldId id="370" r:id="rId29"/>
    <p:sldId id="343" r:id="rId30"/>
    <p:sldId id="305"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5A1FBEB-8E98-2648-AACA-444C6CF94B58}">
          <p14:sldIdLst>
            <p14:sldId id="256"/>
            <p14:sldId id="317"/>
          </p14:sldIdLst>
        </p14:section>
        <p14:section name="ESDA and Autocorrelation" id="{726521BA-6FDD-E141-85CC-06ADFED5112F}">
          <p14:sldIdLst>
            <p14:sldId id="336"/>
            <p14:sldId id="344"/>
            <p14:sldId id="361"/>
            <p14:sldId id="359"/>
            <p14:sldId id="365"/>
            <p14:sldId id="360"/>
            <p14:sldId id="347"/>
            <p14:sldId id="345"/>
            <p14:sldId id="348"/>
            <p14:sldId id="349"/>
            <p14:sldId id="350"/>
            <p14:sldId id="346"/>
            <p14:sldId id="351"/>
            <p14:sldId id="352"/>
            <p14:sldId id="364"/>
            <p14:sldId id="353"/>
            <p14:sldId id="363"/>
            <p14:sldId id="366"/>
            <p14:sldId id="362"/>
            <p14:sldId id="354"/>
          </p14:sldIdLst>
        </p14:section>
        <p14:section name="Point-pattern" id="{3B4263D5-AE2C-504D-A27F-EEEB4EBC5B3D}">
          <p14:sldIdLst>
            <p14:sldId id="356"/>
            <p14:sldId id="368"/>
            <p14:sldId id="369"/>
            <p14:sldId id="367"/>
          </p14:sldIdLst>
        </p14:section>
        <p14:section name="Interpolation" id="{8107A08D-8E25-5A4B-B6E5-4FDF6CDDA291}">
          <p14:sldIdLst>
            <p14:sldId id="357"/>
            <p14:sldId id="370"/>
          </p14:sldIdLst>
        </p14:section>
        <p14:section name="References" id="{80CE1547-8FED-EB40-BEB2-D4CEAADA67FE}">
          <p14:sldIdLst>
            <p14:sldId id="343"/>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CDF0E4"/>
    <a:srgbClr val="9CB6AC"/>
    <a:srgbClr val="FFD84C"/>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94"/>
    <p:restoredTop sz="95545"/>
  </p:normalViewPr>
  <p:slideViewPr>
    <p:cSldViewPr snapToGrid="0">
      <p:cViewPr varScale="1">
        <p:scale>
          <a:sx n="126" d="100"/>
          <a:sy n="126" d="100"/>
        </p:scale>
        <p:origin x="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4FB6DC-B598-8B49-8FDB-37BE75E655AD}" type="datetimeFigureOut">
              <a:rPr lang="en-US" smtClean="0"/>
              <a:t>4/9/26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215A32-F46A-7344-9EED-8329BFD45968}" type="slidenum">
              <a:rPr lang="en-US" smtClean="0"/>
              <a:t>‹#›</a:t>
            </a:fld>
            <a:endParaRPr lang="en-US"/>
          </a:p>
        </p:txBody>
      </p:sp>
    </p:spTree>
    <p:extLst>
      <p:ext uri="{BB962C8B-B14F-4D97-AF65-F5344CB8AC3E}">
        <p14:creationId xmlns:p14="http://schemas.microsoft.com/office/powerpoint/2010/main" val="1041731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122363"/>
            <a:ext cx="8229600" cy="2387600"/>
          </a:xfrm>
        </p:spPr>
        <p:txBody>
          <a:bodyPr anchor="b"/>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457199" y="3602038"/>
            <a:ext cx="822959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EA6D9-2D7F-9442-BED1-4D7FFC9A34F4}" type="datetime1">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0297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AE58ED-569E-7141-BEA4-8F66F85D6EA8}" type="datetime1">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2960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709739"/>
            <a:ext cx="8229600" cy="2852737"/>
          </a:xfrm>
        </p:spPr>
        <p:txBody>
          <a:bodyPr anchor="b"/>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457200" y="4589464"/>
            <a:ext cx="8229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32CD10-D7BB-1A41-A802-BCEB6EE7274C}" type="datetime1">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458383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596072"/>
            <a:ext cx="4057650" cy="45808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96072"/>
            <a:ext cx="4057650" cy="4580891"/>
          </a:xfrm>
          <a:solidFill>
            <a:srgbClr val="002060"/>
          </a:solidFill>
        </p:spPr>
        <p:txBody>
          <a:bodyPr/>
          <a:lstStyle>
            <a:lvl1pPr>
              <a:buNone/>
              <a:defRPr sz="1600" b="1">
                <a:solidFill>
                  <a:schemeClr val="bg1"/>
                </a:solidFill>
                <a:latin typeface="Consolas" panose="020B0609020204030204" pitchFamily="49" charset="0"/>
                <a:cs typeface="Consolas" panose="020B0609020204030204" pitchFamily="49" charset="0"/>
              </a:defRPr>
            </a:lvl1pPr>
            <a:lvl2pPr>
              <a:buNone/>
              <a:defRPr sz="1600" b="1">
                <a:latin typeface="Consolas" panose="020B0609020204030204" pitchFamily="49" charset="0"/>
                <a:cs typeface="Consolas" panose="020B0609020204030204" pitchFamily="49" charset="0"/>
              </a:defRPr>
            </a:lvl2pPr>
            <a:lvl3pPr>
              <a:defRPr sz="1600" b="1">
                <a:latin typeface="Consolas" panose="020B0609020204030204" pitchFamily="49" charset="0"/>
                <a:cs typeface="Consolas" panose="020B0609020204030204" pitchFamily="49" charset="0"/>
              </a:defRPr>
            </a:lvl3pPr>
            <a:lvl4pPr>
              <a:defRPr sz="1600" b="1">
                <a:latin typeface="Consolas" panose="020B0609020204030204" pitchFamily="49" charset="0"/>
                <a:cs typeface="Consolas" panose="020B0609020204030204" pitchFamily="49" charset="0"/>
              </a:defRPr>
            </a:lvl4pPr>
            <a:lvl5pPr>
              <a:defRPr sz="1600" b="1">
                <a:latin typeface="Consolas" panose="020B0609020204030204" pitchFamily="49" charset="0"/>
                <a:cs typeface="Consolas" panose="020B0609020204030204" pitchFamily="49" charset="0"/>
              </a:defRPr>
            </a:lvl5pPr>
          </a:lstStyle>
          <a:p>
            <a:pPr lvl="0"/>
            <a:r>
              <a:rPr lang="en-US"/>
              <a:t>Click to edit Master text styles</a:t>
            </a:r>
          </a:p>
        </p:txBody>
      </p:sp>
      <p:sp>
        <p:nvSpPr>
          <p:cNvPr id="5" name="Date Placeholder 4"/>
          <p:cNvSpPr>
            <a:spLocks noGrp="1"/>
          </p:cNvSpPr>
          <p:nvPr>
            <p:ph type="dt" sz="half" idx="10"/>
          </p:nvPr>
        </p:nvSpPr>
        <p:spPr/>
        <p:txBody>
          <a:bodyPr/>
          <a:lstStyle/>
          <a:p>
            <a:fld id="{37563A2C-1A5C-EB4D-A972-6AE3285E62FE}" type="datetime1">
              <a:rPr lang="en-US" smtClean="0"/>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525486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8229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457200" y="1681163"/>
            <a:ext cx="4040982" cy="549081"/>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96932"/>
            <a:ext cx="4040982" cy="3792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4057650" cy="549081"/>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396932"/>
            <a:ext cx="4057650" cy="3792731"/>
          </a:xfrm>
          <a:solidFill>
            <a:srgbClr val="002060"/>
          </a:solidFill>
        </p:spPr>
        <p:txBody>
          <a:bodyPr/>
          <a:lstStyle>
            <a:lvl1pPr>
              <a:buNone/>
              <a:defRPr sz="1600">
                <a:solidFill>
                  <a:schemeClr val="bg1"/>
                </a:solidFill>
                <a:latin typeface="Consolas" panose="020B0609020204030204" pitchFamily="49" charset="0"/>
                <a:cs typeface="Consolas" panose="020B0609020204030204" pitchFamily="49" charset="0"/>
              </a:defRPr>
            </a:lvl1pPr>
            <a:lvl2pPr>
              <a:defRPr sz="1800">
                <a:solidFill>
                  <a:schemeClr val="bg1"/>
                </a:solidFill>
                <a:latin typeface="Consolas" panose="020B0609020204030204" pitchFamily="49" charset="0"/>
                <a:cs typeface="Consolas" panose="020B0609020204030204" pitchFamily="49" charset="0"/>
              </a:defRPr>
            </a:lvl2pPr>
            <a:lvl3pPr>
              <a:defRPr sz="1800">
                <a:solidFill>
                  <a:schemeClr val="bg1"/>
                </a:solidFill>
                <a:latin typeface="Consolas" panose="020B0609020204030204" pitchFamily="49" charset="0"/>
                <a:cs typeface="Consolas" panose="020B0609020204030204" pitchFamily="49" charset="0"/>
              </a:defRPr>
            </a:lvl3pPr>
            <a:lvl4pPr>
              <a:defRPr sz="1800">
                <a:solidFill>
                  <a:schemeClr val="bg1"/>
                </a:solidFill>
                <a:latin typeface="Consolas" panose="020B0609020204030204" pitchFamily="49" charset="0"/>
                <a:cs typeface="Consolas" panose="020B0609020204030204" pitchFamily="49" charset="0"/>
              </a:defRPr>
            </a:lvl4pPr>
            <a:lvl5pPr>
              <a:defRPr sz="1800">
                <a:solidFill>
                  <a:schemeClr val="bg1"/>
                </a:solidFill>
                <a:latin typeface="Consolas" panose="020B0609020204030204" pitchFamily="49" charset="0"/>
                <a:cs typeface="Consolas" panose="020B0609020204030204" pitchFamily="49" charset="0"/>
              </a:defRPr>
            </a:lvl5pPr>
          </a:lstStyle>
          <a:p>
            <a:pPr lvl="0"/>
            <a:r>
              <a:rPr lang="en-US"/>
              <a:t>Click to edit Master text styles</a:t>
            </a:r>
          </a:p>
        </p:txBody>
      </p:sp>
      <p:sp>
        <p:nvSpPr>
          <p:cNvPr id="7" name="Date Placeholder 6"/>
          <p:cNvSpPr>
            <a:spLocks noGrp="1"/>
          </p:cNvSpPr>
          <p:nvPr>
            <p:ph type="dt" sz="half" idx="10"/>
          </p:nvPr>
        </p:nvSpPr>
        <p:spPr/>
        <p:txBody>
          <a:bodyPr/>
          <a:lstStyle/>
          <a:p>
            <a:fld id="{5CC0F2D4-C57D-2449-85CE-67A0F42FDA3B}" type="datetime1">
              <a:rPr lang="en-US" smtClean="0"/>
              <a:t>4/9/26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426008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165B4F-A2D4-8548-B798-9B676580887F}" type="datetime1">
              <a:rPr lang="en-US" smtClean="0"/>
              <a:t>4/9/26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87124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23453A-5CCA-2B47-B840-00C815B24B38}" type="datetime1">
              <a:rPr lang="en-US" smtClean="0"/>
              <a:t>4/9/26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73421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36524"/>
            <a:ext cx="8229600" cy="1280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517"/>
            <a:ext cx="82296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507"/>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088FA9-E09B-F247-9C69-3141F5729F41}" type="datetime1">
              <a:rPr lang="en-US" smtClean="0"/>
              <a:t>4/9/26</a:t>
            </a:fld>
            <a:endParaRPr lang="en-US"/>
          </a:p>
        </p:txBody>
      </p:sp>
      <p:sp>
        <p:nvSpPr>
          <p:cNvPr id="5" name="Footer Placeholder 4"/>
          <p:cNvSpPr>
            <a:spLocks noGrp="1"/>
          </p:cNvSpPr>
          <p:nvPr>
            <p:ph type="ftr" sz="quarter" idx="3"/>
          </p:nvPr>
        </p:nvSpPr>
        <p:spPr>
          <a:xfrm>
            <a:off x="2743200" y="6356351"/>
            <a:ext cx="36576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62940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343C75-1924-D247-85A3-0CB62E67E5D1}" type="slidenum">
              <a:rPr lang="en-US" smtClean="0"/>
              <a:t>‹#›</a:t>
            </a:fld>
            <a:endParaRPr lang="en-US"/>
          </a:p>
        </p:txBody>
      </p:sp>
    </p:spTree>
    <p:extLst>
      <p:ext uri="{BB962C8B-B14F-4D97-AF65-F5344CB8AC3E}">
        <p14:creationId xmlns:p14="http://schemas.microsoft.com/office/powerpoint/2010/main" val="2423433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r4ds.had.co.nz/exploratory-data-analysis.html"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Friction_of_distance" TargetMode="External"/><Relationship Id="rId2" Type="http://schemas.openxmlformats.org/officeDocument/2006/relationships/hyperlink" Target="https://legacy.geog.ucsb.edu/tobler-map-projection-used-for-wikipedia-featured-picture/" TargetMode="Externa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esktop.arcgis.com/en/arcmap/latest/tools/spatial-statistics-toolbox/h-how-spatial-autocorrelation-moran-s-i-spatial-st.htm" TargetMode="External"/><Relationship Id="rId7"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hyperlink" Target="https://gis.stackexchange.com/questions/421403/using-weight-component-in-moran-i-calculation" TargetMode="Externa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microsoft.com/office/2007/relationships/hdphoto" Target="../media/hdphoto3.wd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cran.r-project.org/web/packages/geostan/vignettes/measuring-sa.html" TargetMode="External"/><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hyperlink" Target="https://r-spatial.org/book/11-PointPattern.html"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hyperlink" Target="https://r-spatial.org/book/11-PointPattern.html" TargetMode="Externa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hyperlink" Target="https://r-spatial.org/book/11-PointPattern.html" TargetMode="Externa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hyperlink" Target="https://r-spatial.org/book/12-Interpolation.html" TargetMode="Externa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hyperlink" Target="https://r-spatial.org/book/12-Interpolation.html"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cran.r-project.org/web/packages/geostan/vignettes/measuring-sa.html" TargetMode="External"/><Relationship Id="rId2" Type="http://schemas.openxmlformats.org/officeDocument/2006/relationships/hyperlink" Target="https://r-spatial.org/book/"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r-spatial.org/book/17-Econometrics.html" TargetMode="External"/><Relationship Id="rId2" Type="http://schemas.openxmlformats.org/officeDocument/2006/relationships/hyperlink" Target="https://r-spatial.org/book/16-SpatialRegression.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E524-E5FF-51D1-243B-26982FBA4E2C}"/>
              </a:ext>
            </a:extLst>
          </p:cNvPr>
          <p:cNvSpPr>
            <a:spLocks noGrp="1"/>
          </p:cNvSpPr>
          <p:nvPr>
            <p:ph type="ctrTitle"/>
          </p:nvPr>
        </p:nvSpPr>
        <p:spPr/>
        <p:txBody>
          <a:bodyPr/>
          <a:lstStyle/>
          <a:p>
            <a:r>
              <a:rPr lang="en-US" dirty="0"/>
              <a:t>Spatial Statistics</a:t>
            </a:r>
          </a:p>
        </p:txBody>
      </p:sp>
      <p:sp>
        <p:nvSpPr>
          <p:cNvPr id="3" name="Subtitle 2">
            <a:extLst>
              <a:ext uri="{FF2B5EF4-FFF2-40B4-BE49-F238E27FC236}">
                <a16:creationId xmlns:a16="http://schemas.microsoft.com/office/drawing/2014/main" id="{D7E24C6C-7F39-D280-5F4E-FDDD50584FA2}"/>
              </a:ext>
            </a:extLst>
          </p:cNvPr>
          <p:cNvSpPr>
            <a:spLocks noGrp="1"/>
          </p:cNvSpPr>
          <p:nvPr>
            <p:ph type="subTitle" idx="1"/>
          </p:nvPr>
        </p:nvSpPr>
        <p:spPr/>
        <p:txBody>
          <a:bodyPr/>
          <a:lstStyle/>
          <a:p>
            <a:r>
              <a:rPr lang="en-US" dirty="0"/>
              <a:t>Alexander Abuabara</a:t>
            </a:r>
          </a:p>
          <a:p>
            <a:r>
              <a:rPr lang="en-US" dirty="0"/>
              <a:t>DAEN 489 ISEN 489 Spring 2026</a:t>
            </a:r>
          </a:p>
        </p:txBody>
      </p:sp>
      <p:pic>
        <p:nvPicPr>
          <p:cNvPr id="4" name="Picture 3">
            <a:extLst>
              <a:ext uri="{FF2B5EF4-FFF2-40B4-BE49-F238E27FC236}">
                <a16:creationId xmlns:a16="http://schemas.microsoft.com/office/drawing/2014/main" id="{C4A8EBE0-BF84-E506-2E75-D9731D5BB86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71748" y="5861278"/>
            <a:ext cx="4000500" cy="762000"/>
          </a:xfrm>
          <a:prstGeom prst="rect">
            <a:avLst/>
          </a:prstGeom>
        </p:spPr>
      </p:pic>
    </p:spTree>
    <p:extLst>
      <p:ext uri="{BB962C8B-B14F-4D97-AF65-F5344CB8AC3E}">
        <p14:creationId xmlns:p14="http://schemas.microsoft.com/office/powerpoint/2010/main" val="3381912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D4F4-56EF-F0A2-DABF-D2E0DDA1155F}"/>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4F257A74-6E54-A3C6-164F-19148FEF3388}"/>
              </a:ext>
            </a:extLst>
          </p:cNvPr>
          <p:cNvSpPr>
            <a:spLocks noGrp="1"/>
          </p:cNvSpPr>
          <p:nvPr>
            <p:ph idx="1"/>
          </p:nvPr>
        </p:nvSpPr>
        <p:spPr/>
        <p:txBody>
          <a:bodyPr>
            <a:noAutofit/>
          </a:bodyPr>
          <a:lstStyle/>
          <a:p>
            <a:r>
              <a:rPr lang="en-US" sz="2200" dirty="0"/>
              <a:t>Exploratory spatial data analysis</a:t>
            </a:r>
          </a:p>
          <a:p>
            <a:pPr lvl="1"/>
            <a:r>
              <a:rPr lang="en-US" sz="2200" dirty="0"/>
              <a:t>Measures of Spatial Autocorrelation</a:t>
            </a:r>
          </a:p>
          <a:p>
            <a:r>
              <a:rPr lang="en-US" sz="2200" dirty="0"/>
              <a:t>Point Pattern Analysis</a:t>
            </a:r>
          </a:p>
          <a:p>
            <a:pPr marL="0" indent="0">
              <a:buNone/>
            </a:pPr>
            <a:r>
              <a:rPr lang="en-US" sz="2200" dirty="0">
                <a:solidFill>
                  <a:schemeClr val="tx1">
                    <a:lumMod val="50000"/>
                    <a:lumOff val="50000"/>
                  </a:schemeClr>
                </a:solidFill>
              </a:rPr>
              <a:t>	(</a:t>
            </a:r>
            <a:r>
              <a:rPr lang="en-US" sz="2200" i="1" dirty="0">
                <a:solidFill>
                  <a:schemeClr val="tx1">
                    <a:lumMod val="50000"/>
                    <a:lumOff val="50000"/>
                  </a:schemeClr>
                </a:solidFill>
              </a:rPr>
              <a:t>vs</a:t>
            </a:r>
            <a:r>
              <a:rPr lang="en-US" sz="2200" dirty="0">
                <a:solidFill>
                  <a:schemeClr val="tx1">
                    <a:lumMod val="50000"/>
                    <a:lumOff val="50000"/>
                  </a:schemeClr>
                </a:solidFill>
              </a:rPr>
              <a:t>)</a:t>
            </a:r>
          </a:p>
          <a:p>
            <a:r>
              <a:rPr lang="en-US" sz="2200" dirty="0"/>
              <a:t>Spatial Interpolation</a:t>
            </a:r>
          </a:p>
        </p:txBody>
      </p:sp>
      <p:sp>
        <p:nvSpPr>
          <p:cNvPr id="4" name="Slide Number Placeholder 3">
            <a:extLst>
              <a:ext uri="{FF2B5EF4-FFF2-40B4-BE49-F238E27FC236}">
                <a16:creationId xmlns:a16="http://schemas.microsoft.com/office/drawing/2014/main" id="{9E65888D-A593-654D-089C-4B3A6249D528}"/>
              </a:ext>
            </a:extLst>
          </p:cNvPr>
          <p:cNvSpPr>
            <a:spLocks noGrp="1"/>
          </p:cNvSpPr>
          <p:nvPr>
            <p:ph type="sldNum" sz="quarter" idx="12"/>
          </p:nvPr>
        </p:nvSpPr>
        <p:spPr/>
        <p:txBody>
          <a:bodyPr/>
          <a:lstStyle/>
          <a:p>
            <a:fld id="{C0343C75-1924-D247-85A3-0CB62E67E5D1}" type="slidenum">
              <a:rPr lang="en-US" smtClean="0"/>
              <a:t>2</a:t>
            </a:fld>
            <a:endParaRPr lang="en-US"/>
          </a:p>
        </p:txBody>
      </p:sp>
    </p:spTree>
    <p:extLst>
      <p:ext uri="{BB962C8B-B14F-4D97-AF65-F5344CB8AC3E}">
        <p14:creationId xmlns:p14="http://schemas.microsoft.com/office/powerpoint/2010/main" val="2041093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F6F88-6323-2A0E-407C-0CA9E0344F2C}"/>
              </a:ext>
            </a:extLst>
          </p:cNvPr>
          <p:cNvSpPr>
            <a:spLocks noGrp="1"/>
          </p:cNvSpPr>
          <p:nvPr>
            <p:ph type="title"/>
          </p:nvPr>
        </p:nvSpPr>
        <p:spPr/>
        <p:txBody>
          <a:bodyPr anchor="ctr"/>
          <a:lstStyle/>
          <a:p>
            <a:r>
              <a:rPr lang="en-US" b="1" dirty="0"/>
              <a:t>Exploratory Data Analysis (EDA)</a:t>
            </a:r>
          </a:p>
        </p:txBody>
      </p:sp>
      <p:sp>
        <p:nvSpPr>
          <p:cNvPr id="3" name="Content Placeholder 2">
            <a:extLst>
              <a:ext uri="{FF2B5EF4-FFF2-40B4-BE49-F238E27FC236}">
                <a16:creationId xmlns:a16="http://schemas.microsoft.com/office/drawing/2014/main" id="{6B002690-4C33-925D-21A5-1837F5C78086}"/>
              </a:ext>
            </a:extLst>
          </p:cNvPr>
          <p:cNvSpPr>
            <a:spLocks noGrp="1"/>
          </p:cNvSpPr>
          <p:nvPr>
            <p:ph idx="1"/>
          </p:nvPr>
        </p:nvSpPr>
        <p:spPr>
          <a:xfrm>
            <a:off x="457200" y="1191492"/>
            <a:ext cx="8229600" cy="5164860"/>
          </a:xfrm>
        </p:spPr>
        <p:txBody>
          <a:bodyPr>
            <a:noAutofit/>
          </a:bodyPr>
          <a:lstStyle/>
          <a:p>
            <a:r>
              <a:rPr lang="en-US" sz="1800" dirty="0"/>
              <a:t>Exploratory Data Analysis (EDA) uses a range of visual techniques (such as histograms, scatter plots, and similar tools) to summarize complex datasets.</a:t>
            </a:r>
          </a:p>
          <a:p>
            <a:pPr lvl="1"/>
            <a:r>
              <a:rPr lang="en-US" sz="1800" dirty="0"/>
              <a:t>By </a:t>
            </a:r>
            <a:r>
              <a:rPr lang="en-US" sz="1800" u="sng" dirty="0"/>
              <a:t>condensing</a:t>
            </a:r>
            <a:r>
              <a:rPr lang="en-US" sz="1800" dirty="0"/>
              <a:t> the data and </a:t>
            </a:r>
            <a:r>
              <a:rPr lang="en-US" sz="1800" u="sng" dirty="0"/>
              <a:t>filtering out</a:t>
            </a:r>
            <a:r>
              <a:rPr lang="en-US" sz="1800" dirty="0"/>
              <a:t> less relevant details, these methods highlight key </a:t>
            </a:r>
            <a:r>
              <a:rPr lang="en-US" sz="1800" b="1" dirty="0"/>
              <a:t>patterns</a:t>
            </a:r>
            <a:r>
              <a:rPr lang="en-US" sz="1800" dirty="0"/>
              <a:t>, </a:t>
            </a:r>
            <a:r>
              <a:rPr lang="en-US" sz="1800" b="1" dirty="0"/>
              <a:t>trends</a:t>
            </a:r>
            <a:r>
              <a:rPr lang="en-US" sz="1800" dirty="0"/>
              <a:t>, and </a:t>
            </a:r>
            <a:r>
              <a:rPr lang="en-US" sz="1800" b="1" dirty="0"/>
              <a:t>variations</a:t>
            </a:r>
            <a:r>
              <a:rPr lang="en-US" sz="1800" dirty="0"/>
              <a:t>, making the most important features easier to interpret.</a:t>
            </a:r>
          </a:p>
        </p:txBody>
      </p:sp>
      <p:sp>
        <p:nvSpPr>
          <p:cNvPr id="4" name="Slide Number Placeholder 3">
            <a:extLst>
              <a:ext uri="{FF2B5EF4-FFF2-40B4-BE49-F238E27FC236}">
                <a16:creationId xmlns:a16="http://schemas.microsoft.com/office/drawing/2014/main" id="{73D24484-BA1F-A97D-DBB9-E1A062068687}"/>
              </a:ext>
            </a:extLst>
          </p:cNvPr>
          <p:cNvSpPr>
            <a:spLocks noGrp="1"/>
          </p:cNvSpPr>
          <p:nvPr>
            <p:ph type="sldNum" sz="quarter" idx="12"/>
          </p:nvPr>
        </p:nvSpPr>
        <p:spPr/>
        <p:txBody>
          <a:bodyPr/>
          <a:lstStyle/>
          <a:p>
            <a:fld id="{C0343C75-1924-D247-85A3-0CB62E67E5D1}" type="slidenum">
              <a:rPr lang="en-US" smtClean="0"/>
              <a:t>3</a:t>
            </a:fld>
            <a:endParaRPr lang="en-US"/>
          </a:p>
        </p:txBody>
      </p:sp>
      <p:grpSp>
        <p:nvGrpSpPr>
          <p:cNvPr id="7" name="Group 6">
            <a:extLst>
              <a:ext uri="{FF2B5EF4-FFF2-40B4-BE49-F238E27FC236}">
                <a16:creationId xmlns:a16="http://schemas.microsoft.com/office/drawing/2014/main" id="{59DA0F38-A2E5-6160-BCDE-E86663166283}"/>
              </a:ext>
            </a:extLst>
          </p:cNvPr>
          <p:cNvGrpSpPr/>
          <p:nvPr/>
        </p:nvGrpSpPr>
        <p:grpSpPr>
          <a:xfrm>
            <a:off x="937260" y="2791457"/>
            <a:ext cx="7315200" cy="3593124"/>
            <a:chOff x="1082732" y="3083926"/>
            <a:chExt cx="7315200" cy="3593124"/>
          </a:xfrm>
        </p:grpSpPr>
        <p:pic>
          <p:nvPicPr>
            <p:cNvPr id="5" name="Picture 4">
              <a:extLst>
                <a:ext uri="{FF2B5EF4-FFF2-40B4-BE49-F238E27FC236}">
                  <a16:creationId xmlns:a16="http://schemas.microsoft.com/office/drawing/2014/main" id="{045B6701-151D-2BD5-2516-2383AAAB756B}"/>
                </a:ext>
              </a:extLst>
            </p:cNvPr>
            <p:cNvPicPr>
              <a:picLocks noChangeAspect="1"/>
            </p:cNvPicPr>
            <p:nvPr/>
          </p:nvPicPr>
          <p:blipFill>
            <a:blip r:embed="rId2"/>
            <a:srcRect t="59196" b="9916"/>
            <a:stretch>
              <a:fillRect/>
            </a:stretch>
          </p:blipFill>
          <p:spPr>
            <a:xfrm>
              <a:off x="1082732" y="5728069"/>
              <a:ext cx="7315200" cy="948981"/>
            </a:xfrm>
            <a:prstGeom prst="rect">
              <a:avLst/>
            </a:prstGeom>
          </p:spPr>
        </p:pic>
        <p:pic>
          <p:nvPicPr>
            <p:cNvPr id="6" name="Picture 5">
              <a:extLst>
                <a:ext uri="{FF2B5EF4-FFF2-40B4-BE49-F238E27FC236}">
                  <a16:creationId xmlns:a16="http://schemas.microsoft.com/office/drawing/2014/main" id="{A5D5B142-65A1-3DE6-A288-C2C80BD6930C}"/>
                </a:ext>
              </a:extLst>
            </p:cNvPr>
            <p:cNvPicPr>
              <a:picLocks noChangeAspect="1"/>
            </p:cNvPicPr>
            <p:nvPr/>
          </p:nvPicPr>
          <p:blipFill>
            <a:blip r:embed="rId3"/>
            <a:srcRect t="4213" b="3812"/>
            <a:stretch>
              <a:fillRect/>
            </a:stretch>
          </p:blipFill>
          <p:spPr>
            <a:xfrm>
              <a:off x="1517072" y="3083926"/>
              <a:ext cx="6400800" cy="2943575"/>
            </a:xfrm>
            <a:prstGeom prst="rect">
              <a:avLst/>
            </a:prstGeom>
          </p:spPr>
        </p:pic>
      </p:grpSp>
    </p:spTree>
    <p:extLst>
      <p:ext uri="{BB962C8B-B14F-4D97-AF65-F5344CB8AC3E}">
        <p14:creationId xmlns:p14="http://schemas.microsoft.com/office/powerpoint/2010/main" val="4057830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5A0F6-67E4-849A-B4E5-B7E1D3E96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6A9A9-E414-6ABF-6E76-4D39E714A74A}"/>
              </a:ext>
            </a:extLst>
          </p:cNvPr>
          <p:cNvSpPr>
            <a:spLocks noGrp="1"/>
          </p:cNvSpPr>
          <p:nvPr>
            <p:ph type="title"/>
          </p:nvPr>
        </p:nvSpPr>
        <p:spPr/>
        <p:txBody>
          <a:bodyPr anchor="ctr"/>
          <a:lstStyle/>
          <a:p>
            <a:r>
              <a:rPr lang="en-US" b="1" dirty="0"/>
              <a:t>Exploratory Data Analysis (EDA)</a:t>
            </a:r>
          </a:p>
        </p:txBody>
      </p:sp>
      <p:sp>
        <p:nvSpPr>
          <p:cNvPr id="3" name="Content Placeholder 2">
            <a:extLst>
              <a:ext uri="{FF2B5EF4-FFF2-40B4-BE49-F238E27FC236}">
                <a16:creationId xmlns:a16="http://schemas.microsoft.com/office/drawing/2014/main" id="{06D342E5-F82C-7554-61EA-7965B26E075C}"/>
              </a:ext>
            </a:extLst>
          </p:cNvPr>
          <p:cNvSpPr>
            <a:spLocks noGrp="1"/>
          </p:cNvSpPr>
          <p:nvPr>
            <p:ph idx="1"/>
          </p:nvPr>
        </p:nvSpPr>
        <p:spPr>
          <a:xfrm>
            <a:off x="457200" y="1140032"/>
            <a:ext cx="8229600" cy="5216320"/>
          </a:xfrm>
        </p:spPr>
        <p:txBody>
          <a:bodyPr>
            <a:noAutofit/>
          </a:bodyPr>
          <a:lstStyle/>
          <a:p>
            <a:pPr marL="0" indent="0">
              <a:buNone/>
            </a:pPr>
            <a:r>
              <a:rPr lang="en-US" sz="1800" b="1" dirty="0"/>
              <a:t>Questions</a:t>
            </a:r>
          </a:p>
          <a:p>
            <a:r>
              <a:rPr lang="en-US" sz="1800" dirty="0"/>
              <a:t>Your goal during EDA is to develop an understanding of your data.</a:t>
            </a:r>
          </a:p>
          <a:p>
            <a:pPr lvl="1"/>
            <a:r>
              <a:rPr lang="en-US" sz="1600" dirty="0"/>
              <a:t>The easiest way to do this is to use questions as tools to guide your investigation:</a:t>
            </a:r>
          </a:p>
          <a:p>
            <a:pPr marL="800100" lvl="1" indent="-342900">
              <a:buFont typeface="+mj-lt"/>
              <a:buAutoNum type="arabicPeriod"/>
            </a:pPr>
            <a:r>
              <a:rPr lang="en-US" sz="1600" dirty="0"/>
              <a:t>What type of variation occurs </a:t>
            </a:r>
            <a:r>
              <a:rPr lang="en-US" sz="1600" b="1" dirty="0"/>
              <a:t>within</a:t>
            </a:r>
            <a:r>
              <a:rPr lang="en-US" sz="1600" dirty="0"/>
              <a:t> my variables?</a:t>
            </a:r>
          </a:p>
          <a:p>
            <a:pPr marL="800100" lvl="1" indent="-342900">
              <a:buFont typeface="+mj-lt"/>
              <a:buAutoNum type="arabicPeriod"/>
            </a:pPr>
            <a:r>
              <a:rPr lang="en-US" sz="1600" dirty="0"/>
              <a:t>What type of covariation occurs </a:t>
            </a:r>
            <a:r>
              <a:rPr lang="en-US" sz="1600" b="1" dirty="0"/>
              <a:t>between</a:t>
            </a:r>
            <a:r>
              <a:rPr lang="en-US" sz="1600" dirty="0"/>
              <a:t> my variables?</a:t>
            </a:r>
          </a:p>
          <a:p>
            <a:r>
              <a:rPr lang="en-US" sz="1800" dirty="0"/>
              <a:t>Variation is the tendency of the values of a variable to change from measurement to measurement.</a:t>
            </a:r>
          </a:p>
          <a:p>
            <a:pPr lvl="1"/>
            <a:r>
              <a:rPr lang="en-US" sz="1600" dirty="0"/>
              <a:t>Visualizing distributions:</a:t>
            </a:r>
          </a:p>
        </p:txBody>
      </p:sp>
      <p:sp>
        <p:nvSpPr>
          <p:cNvPr id="4" name="Slide Number Placeholder 3">
            <a:extLst>
              <a:ext uri="{FF2B5EF4-FFF2-40B4-BE49-F238E27FC236}">
                <a16:creationId xmlns:a16="http://schemas.microsoft.com/office/drawing/2014/main" id="{7E602E20-9D16-8446-1F54-1BA728C530DB}"/>
              </a:ext>
            </a:extLst>
          </p:cNvPr>
          <p:cNvSpPr>
            <a:spLocks noGrp="1"/>
          </p:cNvSpPr>
          <p:nvPr>
            <p:ph type="sldNum" sz="quarter" idx="12"/>
          </p:nvPr>
        </p:nvSpPr>
        <p:spPr/>
        <p:txBody>
          <a:bodyPr/>
          <a:lstStyle/>
          <a:p>
            <a:fld id="{C0343C75-1924-D247-85A3-0CB62E67E5D1}" type="slidenum">
              <a:rPr lang="en-US" smtClean="0"/>
              <a:t>4</a:t>
            </a:fld>
            <a:endParaRPr lang="en-US"/>
          </a:p>
        </p:txBody>
      </p:sp>
      <p:sp>
        <p:nvSpPr>
          <p:cNvPr id="5" name="Content Placeholder 2">
            <a:extLst>
              <a:ext uri="{FF2B5EF4-FFF2-40B4-BE49-F238E27FC236}">
                <a16:creationId xmlns:a16="http://schemas.microsoft.com/office/drawing/2014/main" id="{046E5102-B399-EDF3-F949-D51A3C405115}"/>
              </a:ext>
            </a:extLst>
          </p:cNvPr>
          <p:cNvSpPr txBox="1">
            <a:spLocks/>
          </p:cNvSpPr>
          <p:nvPr/>
        </p:nvSpPr>
        <p:spPr>
          <a:xfrm>
            <a:off x="457200" y="3515096"/>
            <a:ext cx="8229600" cy="3021172"/>
          </a:xfrm>
          <a:prstGeom prst="rect">
            <a:avLst/>
          </a:prstGeom>
        </p:spPr>
        <p:txBody>
          <a:bodyPr vert="horz" lIns="91440" tIns="45720" rIns="91440" bIns="45720" numCol="3"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library(ggplot2)</a:t>
            </a: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summary(</a:t>
            </a:r>
            <a:r>
              <a:rPr lang="en-US" sz="1200" b="1" dirty="0" err="1">
                <a:latin typeface="Consolas" panose="020B0609020204030204" pitchFamily="49" charset="0"/>
                <a:cs typeface="Consolas" panose="020B0609020204030204" pitchFamily="49" charset="0"/>
              </a:rPr>
              <a:t>diamonds$cut</a:t>
            </a:r>
            <a:r>
              <a:rPr lang="en-US" sz="1200" b="1" dirty="0">
                <a:latin typeface="Consolas" panose="020B0609020204030204" pitchFamily="49" charset="0"/>
                <a:cs typeface="Consolas" panose="020B0609020204030204" pitchFamily="49" charset="0"/>
              </a:rPr>
              <a:t>)</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Fair       1610</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Good       4906</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Very Good 12082</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Premium   13791  </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Ideal     21551</a:t>
            </a: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diamonds %&gt;% </a:t>
            </a: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  count(cut)</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cut           n</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&lt;</a:t>
            </a:r>
            <a:r>
              <a:rPr lang="en-US" sz="1200" b="1" dirty="0" err="1">
                <a:solidFill>
                  <a:schemeClr val="tx1">
                    <a:lumMod val="65000"/>
                    <a:lumOff val="35000"/>
                  </a:schemeClr>
                </a:solidFill>
                <a:latin typeface="Consolas" panose="020B0609020204030204" pitchFamily="49" charset="0"/>
                <a:cs typeface="Consolas" panose="020B0609020204030204" pitchFamily="49" charset="0"/>
              </a:rPr>
              <a:t>ord</a:t>
            </a:r>
            <a:r>
              <a:rPr lang="en-US" sz="1200" b="1" dirty="0">
                <a:solidFill>
                  <a:schemeClr val="tx1">
                    <a:lumMod val="65000"/>
                    <a:lumOff val="35000"/>
                  </a:schemeClr>
                </a:solidFill>
                <a:latin typeface="Consolas" panose="020B0609020204030204" pitchFamily="49" charset="0"/>
                <a:cs typeface="Consolas" panose="020B0609020204030204" pitchFamily="49" charset="0"/>
              </a:rPr>
              <a:t>&gt;     &lt;int&gt;</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1 Fair       1610</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2 Good       4906</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3 Very Good 12082</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4 Premium   13791</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5 Ideal     21551</a:t>
            </a:r>
          </a:p>
          <a:p>
            <a:pPr marL="0" indent="0">
              <a:lnSpc>
                <a:spcPct val="100000"/>
              </a:lnSpc>
              <a:spcBef>
                <a:spcPts val="400"/>
              </a:spcBef>
              <a:buNone/>
            </a:pPr>
            <a:endParaRPr lang="en-US" sz="1200" b="1" dirty="0">
              <a:solidFill>
                <a:schemeClr val="accent5">
                  <a:lumMod val="7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solidFill>
                <a:schemeClr val="accent5">
                  <a:lumMod val="75000"/>
                </a:schemeClr>
              </a:solidFill>
              <a:latin typeface="Consolas" panose="020B0609020204030204" pitchFamily="49" charset="0"/>
              <a:cs typeface="Consolas" panose="020B0609020204030204" pitchFamily="49" charset="0"/>
            </a:endParaRPr>
          </a:p>
          <a:p>
            <a:pPr marL="11113"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11113" indent="0">
              <a:lnSpc>
                <a:spcPct val="100000"/>
              </a:lnSpc>
              <a:spcBef>
                <a:spcPts val="400"/>
              </a:spcBef>
              <a:buNone/>
            </a:pPr>
            <a:r>
              <a:rPr lang="en-US" sz="1200" b="1" dirty="0" err="1">
                <a:latin typeface="Consolas" panose="020B0609020204030204" pitchFamily="49" charset="0"/>
                <a:cs typeface="Consolas" panose="020B0609020204030204" pitchFamily="49" charset="0"/>
              </a:rPr>
              <a:t>ggplot</a:t>
            </a:r>
            <a:r>
              <a:rPr lang="en-US" sz="1200" b="1" dirty="0">
                <a:latin typeface="Consolas" panose="020B0609020204030204" pitchFamily="49" charset="0"/>
                <a:cs typeface="Consolas" panose="020B0609020204030204" pitchFamily="49" charset="0"/>
              </a:rPr>
              <a:t>(data = diamonds) +</a:t>
            </a:r>
            <a:br>
              <a:rPr lang="en-US" sz="1200" b="1" dirty="0">
                <a:latin typeface="Consolas" panose="020B0609020204030204" pitchFamily="49" charset="0"/>
                <a:cs typeface="Consolas" panose="020B0609020204030204" pitchFamily="49" charset="0"/>
              </a:rPr>
            </a:br>
            <a:r>
              <a:rPr lang="en-US" sz="1200" b="1" dirty="0">
                <a:latin typeface="Consolas" panose="020B0609020204030204" pitchFamily="49" charset="0"/>
                <a:cs typeface="Consolas" panose="020B0609020204030204" pitchFamily="49" charset="0"/>
              </a:rPr>
              <a:t> </a:t>
            </a:r>
            <a:r>
              <a:rPr lang="en-US" sz="1200" b="1" dirty="0" err="1">
                <a:latin typeface="Consolas" panose="020B0609020204030204" pitchFamily="49" charset="0"/>
                <a:cs typeface="Consolas" panose="020B0609020204030204" pitchFamily="49" charset="0"/>
              </a:rPr>
              <a:t>geom_bar</a:t>
            </a:r>
            <a:r>
              <a:rPr lang="en-US" sz="1200" b="1" dirty="0">
                <a:latin typeface="Consolas" panose="020B0609020204030204" pitchFamily="49" charset="0"/>
                <a:cs typeface="Consolas" panose="020B0609020204030204" pitchFamily="49" charset="0"/>
              </a:rPr>
              <a:t>(mapping = </a:t>
            </a:r>
            <a:r>
              <a:rPr lang="en-US" sz="1200" b="1" dirty="0" err="1">
                <a:latin typeface="Consolas" panose="020B0609020204030204" pitchFamily="49" charset="0"/>
                <a:cs typeface="Consolas" panose="020B0609020204030204" pitchFamily="49" charset="0"/>
              </a:rPr>
              <a:t>aes</a:t>
            </a:r>
            <a:r>
              <a:rPr lang="en-US" sz="1200" b="1" dirty="0">
                <a:latin typeface="Consolas" panose="020B0609020204030204" pitchFamily="49" charset="0"/>
                <a:cs typeface="Consolas" panose="020B0609020204030204" pitchFamily="49" charset="0"/>
              </a:rPr>
              <a:t>(x=cut))</a:t>
            </a:r>
          </a:p>
        </p:txBody>
      </p:sp>
      <p:sp>
        <p:nvSpPr>
          <p:cNvPr id="6" name="TextBox 5">
            <a:extLst>
              <a:ext uri="{FF2B5EF4-FFF2-40B4-BE49-F238E27FC236}">
                <a16:creationId xmlns:a16="http://schemas.microsoft.com/office/drawing/2014/main" id="{98AD22AD-BAFB-97D4-F581-A4DE8C026BE3}"/>
              </a:ext>
            </a:extLst>
          </p:cNvPr>
          <p:cNvSpPr txBox="1"/>
          <p:nvPr/>
        </p:nvSpPr>
        <p:spPr>
          <a:xfrm>
            <a:off x="3769732" y="3357750"/>
            <a:ext cx="1604542" cy="369332"/>
          </a:xfrm>
          <a:prstGeom prst="rect">
            <a:avLst/>
          </a:prstGeom>
          <a:solidFill>
            <a:srgbClr val="C00000"/>
          </a:solidFill>
        </p:spPr>
        <p:txBody>
          <a:bodyPr wrap="none" rtlCol="0" anchor="ctr">
            <a:spAutoFit/>
          </a:bodyPr>
          <a:lstStyle/>
          <a:p>
            <a:pPr algn="ctr"/>
            <a:r>
              <a:rPr lang="en-US" dirty="0">
                <a:solidFill>
                  <a:schemeClr val="bg1"/>
                </a:solidFill>
              </a:rPr>
              <a:t>Example 1 </a:t>
            </a:r>
            <a:r>
              <a:rPr lang="en-US" baseline="30000" dirty="0">
                <a:solidFill>
                  <a:schemeClr val="bg1"/>
                </a:solidFill>
              </a:rPr>
              <a:t>(cat.)</a:t>
            </a:r>
          </a:p>
        </p:txBody>
      </p:sp>
      <p:pic>
        <p:nvPicPr>
          <p:cNvPr id="7" name="Picture 6">
            <a:extLst>
              <a:ext uri="{FF2B5EF4-FFF2-40B4-BE49-F238E27FC236}">
                <a16:creationId xmlns:a16="http://schemas.microsoft.com/office/drawing/2014/main" id="{C44B6937-AE1A-97C1-6B2E-2DA8A7E4C7D8}"/>
              </a:ext>
            </a:extLst>
          </p:cNvPr>
          <p:cNvPicPr>
            <a:picLocks noChangeAspect="1"/>
          </p:cNvPicPr>
          <p:nvPr/>
        </p:nvPicPr>
        <p:blipFill>
          <a:blip r:embed="rId2"/>
          <a:stretch>
            <a:fillRect/>
          </a:stretch>
        </p:blipFill>
        <p:spPr>
          <a:xfrm>
            <a:off x="5484302" y="4218004"/>
            <a:ext cx="3202498" cy="1976144"/>
          </a:xfrm>
          <a:prstGeom prst="rect">
            <a:avLst/>
          </a:prstGeom>
        </p:spPr>
      </p:pic>
      <p:sp>
        <p:nvSpPr>
          <p:cNvPr id="8" name="TextBox 7">
            <a:extLst>
              <a:ext uri="{FF2B5EF4-FFF2-40B4-BE49-F238E27FC236}">
                <a16:creationId xmlns:a16="http://schemas.microsoft.com/office/drawing/2014/main" id="{6ACC22BE-8639-3BBE-FA4E-4DB6FD6B97B8}"/>
              </a:ext>
            </a:extLst>
          </p:cNvPr>
          <p:cNvSpPr txBox="1"/>
          <p:nvPr/>
        </p:nvSpPr>
        <p:spPr>
          <a:xfrm>
            <a:off x="457200" y="6013048"/>
            <a:ext cx="4340291" cy="523220"/>
          </a:xfrm>
          <a:prstGeom prst="rect">
            <a:avLst/>
          </a:prstGeom>
          <a:solidFill>
            <a:srgbClr val="FFC000"/>
          </a:solidFill>
        </p:spPr>
        <p:txBody>
          <a:bodyPr wrap="none" rtlCol="0">
            <a:spAutoFit/>
          </a:bodyPr>
          <a:lstStyle/>
          <a:p>
            <a:r>
              <a:rPr lang="en-US" sz="1400" b="1" dirty="0"/>
              <a:t>R for Data Science</a:t>
            </a:r>
            <a:r>
              <a:rPr lang="en-US" sz="1400" dirty="0"/>
              <a:t> Exploratory Data Analysis</a:t>
            </a:r>
          </a:p>
          <a:p>
            <a:r>
              <a:rPr lang="en-US" sz="1400" dirty="0">
                <a:hlinkClick r:id="rId3"/>
              </a:rPr>
              <a:t>https://r4ds.had.co.nz/exploratory-data-analysis.html</a:t>
            </a:r>
            <a:endParaRPr lang="en-US" sz="1400" dirty="0"/>
          </a:p>
        </p:txBody>
      </p:sp>
    </p:spTree>
    <p:extLst>
      <p:ext uri="{BB962C8B-B14F-4D97-AF65-F5344CB8AC3E}">
        <p14:creationId xmlns:p14="http://schemas.microsoft.com/office/powerpoint/2010/main" val="1671253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C0537-7835-CB49-E1F8-84412910B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8579C-C432-5B32-986B-3959D7BCBA7C}"/>
              </a:ext>
            </a:extLst>
          </p:cNvPr>
          <p:cNvSpPr>
            <a:spLocks noGrp="1"/>
          </p:cNvSpPr>
          <p:nvPr>
            <p:ph type="title"/>
          </p:nvPr>
        </p:nvSpPr>
        <p:spPr/>
        <p:txBody>
          <a:bodyPr anchor="ctr"/>
          <a:lstStyle/>
          <a:p>
            <a:r>
              <a:rPr lang="en-US" b="1" dirty="0"/>
              <a:t>Exploratory Data Analysis (EDA)</a:t>
            </a:r>
          </a:p>
        </p:txBody>
      </p:sp>
      <p:sp>
        <p:nvSpPr>
          <p:cNvPr id="3" name="Content Placeholder 2">
            <a:extLst>
              <a:ext uri="{FF2B5EF4-FFF2-40B4-BE49-F238E27FC236}">
                <a16:creationId xmlns:a16="http://schemas.microsoft.com/office/drawing/2014/main" id="{4B8419CE-B26D-5B84-1FB9-E3F06D943C7C}"/>
              </a:ext>
            </a:extLst>
          </p:cNvPr>
          <p:cNvSpPr>
            <a:spLocks noGrp="1"/>
          </p:cNvSpPr>
          <p:nvPr>
            <p:ph idx="1"/>
          </p:nvPr>
        </p:nvSpPr>
        <p:spPr>
          <a:xfrm>
            <a:off x="457200" y="1140032"/>
            <a:ext cx="8229600" cy="5216320"/>
          </a:xfrm>
        </p:spPr>
        <p:txBody>
          <a:bodyPr>
            <a:noAutofit/>
          </a:bodyPr>
          <a:lstStyle/>
          <a:p>
            <a:pPr marL="0" indent="0">
              <a:buNone/>
            </a:pPr>
            <a:r>
              <a:rPr lang="en-US" sz="1800" b="1" dirty="0"/>
              <a:t>Missing Values</a:t>
            </a:r>
          </a:p>
          <a:p>
            <a:r>
              <a:rPr lang="en-US" sz="1800" dirty="0"/>
              <a:t>If you've encountered unusual values in your dataset and simply want to move on to the rest of your analysis, you have two options:</a:t>
            </a:r>
          </a:p>
          <a:p>
            <a:pPr marL="800100" lvl="1" indent="-342900">
              <a:buFont typeface="+mj-lt"/>
              <a:buAutoNum type="arabicPeriod"/>
            </a:pPr>
            <a:r>
              <a:rPr lang="en-US" sz="1800" dirty="0">
                <a:highlight>
                  <a:srgbClr val="FFFF00"/>
                </a:highlight>
              </a:rPr>
              <a:t>Drop</a:t>
            </a:r>
            <a:r>
              <a:rPr lang="en-US" sz="1800" dirty="0"/>
              <a:t> the entire row with the strange values.</a:t>
            </a:r>
          </a:p>
          <a:p>
            <a:pPr marL="800100" lvl="1" indent="-342900">
              <a:buFont typeface="+mj-lt"/>
              <a:buAutoNum type="arabicPeriod"/>
            </a:pPr>
            <a:r>
              <a:rPr lang="en-US" sz="1800" dirty="0">
                <a:highlight>
                  <a:srgbClr val="FFFF00"/>
                </a:highlight>
              </a:rPr>
              <a:t>Replacing</a:t>
            </a:r>
            <a:r>
              <a:rPr lang="en-US" sz="1800" dirty="0"/>
              <a:t> the unusual values with missing values.</a:t>
            </a:r>
          </a:p>
        </p:txBody>
      </p:sp>
      <p:sp>
        <p:nvSpPr>
          <p:cNvPr id="4" name="Slide Number Placeholder 3">
            <a:extLst>
              <a:ext uri="{FF2B5EF4-FFF2-40B4-BE49-F238E27FC236}">
                <a16:creationId xmlns:a16="http://schemas.microsoft.com/office/drawing/2014/main" id="{537EC484-A42F-8E01-A75E-E2F1ECEC6D1C}"/>
              </a:ext>
            </a:extLst>
          </p:cNvPr>
          <p:cNvSpPr>
            <a:spLocks noGrp="1"/>
          </p:cNvSpPr>
          <p:nvPr>
            <p:ph type="sldNum" sz="quarter" idx="12"/>
          </p:nvPr>
        </p:nvSpPr>
        <p:spPr/>
        <p:txBody>
          <a:bodyPr/>
          <a:lstStyle/>
          <a:p>
            <a:fld id="{C0343C75-1924-D247-85A3-0CB62E67E5D1}" type="slidenum">
              <a:rPr lang="en-US" smtClean="0"/>
              <a:t>5</a:t>
            </a:fld>
            <a:endParaRPr lang="en-US"/>
          </a:p>
        </p:txBody>
      </p:sp>
      <p:sp>
        <p:nvSpPr>
          <p:cNvPr id="5" name="Content Placeholder 2">
            <a:extLst>
              <a:ext uri="{FF2B5EF4-FFF2-40B4-BE49-F238E27FC236}">
                <a16:creationId xmlns:a16="http://schemas.microsoft.com/office/drawing/2014/main" id="{CD24F4C2-12EB-211D-4C8E-7451DA484FD8}"/>
              </a:ext>
            </a:extLst>
          </p:cNvPr>
          <p:cNvSpPr txBox="1">
            <a:spLocks/>
          </p:cNvSpPr>
          <p:nvPr/>
        </p:nvSpPr>
        <p:spPr>
          <a:xfrm>
            <a:off x="457200" y="3108346"/>
            <a:ext cx="8229600" cy="3427922"/>
          </a:xfrm>
          <a:prstGeom prst="rect">
            <a:avLst/>
          </a:prstGeom>
        </p:spPr>
        <p:txBody>
          <a:bodyPr vert="horz" lIns="91440" tIns="45720" rIns="91440" bIns="45720" numCol="3"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200" dirty="0">
                <a:latin typeface="Consolas" panose="020B0609020204030204" pitchFamily="49" charset="0"/>
                <a:cs typeface="Consolas" panose="020B0609020204030204" pitchFamily="49" charset="0"/>
              </a:rPr>
              <a:t># I </a:t>
            </a:r>
            <a:r>
              <a:rPr lang="en-US" sz="1200" dirty="0">
                <a:highlight>
                  <a:srgbClr val="FFFF00"/>
                </a:highlight>
                <a:latin typeface="Consolas" panose="020B0609020204030204" pitchFamily="49" charset="0"/>
                <a:cs typeface="Consolas" panose="020B0609020204030204" pitchFamily="49" charset="0"/>
              </a:rPr>
              <a:t>don't</a:t>
            </a:r>
            <a:r>
              <a:rPr lang="en-US" sz="1200" dirty="0">
                <a:latin typeface="Consolas" panose="020B0609020204030204" pitchFamily="49" charset="0"/>
                <a:cs typeface="Consolas" panose="020B0609020204030204" pitchFamily="49" charset="0"/>
              </a:rPr>
              <a:t> recommend this option</a:t>
            </a:r>
          </a:p>
          <a:p>
            <a:pPr marL="0" indent="0">
              <a:lnSpc>
                <a:spcPct val="100000"/>
              </a:lnSpc>
              <a:spcBef>
                <a:spcPts val="400"/>
              </a:spcBef>
              <a:buNone/>
            </a:pPr>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bc</a:t>
            </a:r>
            <a:r>
              <a:rPr lang="en-US" sz="1200" dirty="0">
                <a:latin typeface="Consolas" panose="020B0609020204030204" pitchFamily="49" charset="0"/>
                <a:cs typeface="Consolas" panose="020B0609020204030204" pitchFamily="49" charset="0"/>
              </a:rPr>
              <a:t> just because one </a:t>
            </a:r>
          </a:p>
          <a:p>
            <a:pPr marL="0" indent="0">
              <a:lnSpc>
                <a:spcPct val="100000"/>
              </a:lnSpc>
              <a:spcBef>
                <a:spcPts val="400"/>
              </a:spcBef>
              <a:buNone/>
            </a:pPr>
            <a:r>
              <a:rPr lang="en-US" sz="1200" dirty="0">
                <a:latin typeface="Consolas" panose="020B0609020204030204" pitchFamily="49" charset="0"/>
                <a:cs typeface="Consolas" panose="020B0609020204030204" pitchFamily="49" charset="0"/>
              </a:rPr>
              <a:t># measurement is invalid, </a:t>
            </a:r>
          </a:p>
          <a:p>
            <a:pPr marL="0" indent="0">
              <a:lnSpc>
                <a:spcPct val="100000"/>
              </a:lnSpc>
              <a:spcBef>
                <a:spcPts val="400"/>
              </a:spcBef>
              <a:buNone/>
            </a:pPr>
            <a:r>
              <a:rPr lang="en-US" sz="1200" dirty="0">
                <a:latin typeface="Consolas" panose="020B0609020204030204" pitchFamily="49" charset="0"/>
                <a:cs typeface="Consolas" panose="020B0609020204030204" pitchFamily="49" charset="0"/>
              </a:rPr>
              <a:t># doesn't mean all the</a:t>
            </a:r>
          </a:p>
          <a:p>
            <a:pPr marL="0" indent="0">
              <a:lnSpc>
                <a:spcPct val="100000"/>
              </a:lnSpc>
              <a:spcBef>
                <a:spcPts val="400"/>
              </a:spcBef>
              <a:buNone/>
            </a:pPr>
            <a:r>
              <a:rPr lang="en-US" sz="1200" dirty="0">
                <a:latin typeface="Consolas" panose="020B0609020204030204" pitchFamily="49" charset="0"/>
                <a:cs typeface="Consolas" panose="020B0609020204030204" pitchFamily="49" charset="0"/>
              </a:rPr>
              <a:t># measurements are</a:t>
            </a: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diamonds2 &lt;- diamonds %&gt;% </a:t>
            </a: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  filter(between(y, 3, 20))</a:t>
            </a: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diamonds2 &lt;- diamonds %&gt;% </a:t>
            </a: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  mutate(y = </a:t>
            </a:r>
            <a:r>
              <a:rPr lang="en-US" sz="1200" b="1" dirty="0" err="1">
                <a:latin typeface="Consolas" panose="020B0609020204030204" pitchFamily="49" charset="0"/>
                <a:cs typeface="Consolas" panose="020B0609020204030204" pitchFamily="49" charset="0"/>
              </a:rPr>
              <a:t>ifelse</a:t>
            </a:r>
            <a:r>
              <a:rPr lang="en-US" sz="1200" b="1" dirty="0">
                <a:latin typeface="Consolas" panose="020B0609020204030204" pitchFamily="49" charset="0"/>
                <a:cs typeface="Consolas" panose="020B0609020204030204" pitchFamily="49" charset="0"/>
              </a:rPr>
              <a:t>(y &lt; 3 | y &gt; 20, NA, y))</a:t>
            </a: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err="1">
                <a:latin typeface="Consolas" panose="020B0609020204030204" pitchFamily="49" charset="0"/>
                <a:cs typeface="Consolas" panose="020B0609020204030204" pitchFamily="49" charset="0"/>
              </a:rPr>
              <a:t>ggplot</a:t>
            </a:r>
            <a:r>
              <a:rPr lang="en-US" sz="1200" b="1" dirty="0">
                <a:latin typeface="Consolas" panose="020B0609020204030204" pitchFamily="49" charset="0"/>
                <a:cs typeface="Consolas" panose="020B0609020204030204" pitchFamily="49" charset="0"/>
              </a:rPr>
              <a:t>(data = diamonds2,</a:t>
            </a: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       mapping = </a:t>
            </a:r>
            <a:r>
              <a:rPr lang="en-US" sz="1200" b="1" dirty="0" err="1">
                <a:latin typeface="Consolas" panose="020B0609020204030204" pitchFamily="49" charset="0"/>
                <a:cs typeface="Consolas" panose="020B0609020204030204" pitchFamily="49" charset="0"/>
              </a:rPr>
              <a:t>aes</a:t>
            </a:r>
            <a:r>
              <a:rPr lang="en-US" sz="1200" b="1" dirty="0">
                <a:latin typeface="Consolas" panose="020B0609020204030204" pitchFamily="49" charset="0"/>
                <a:cs typeface="Consolas" panose="020B0609020204030204" pitchFamily="49" charset="0"/>
              </a:rPr>
              <a:t>(x = x,</a:t>
            </a: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                     y = y)) +</a:t>
            </a: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       </a:t>
            </a:r>
            <a:r>
              <a:rPr lang="en-US" sz="1200" b="1" dirty="0" err="1">
                <a:latin typeface="Consolas" panose="020B0609020204030204" pitchFamily="49" charset="0"/>
                <a:cs typeface="Consolas" panose="020B0609020204030204" pitchFamily="49" charset="0"/>
              </a:rPr>
              <a:t>geom_point</a:t>
            </a:r>
            <a:r>
              <a:rPr lang="en-US" sz="1200" b="1" dirty="0">
                <a:latin typeface="Consolas" panose="020B0609020204030204" pitchFamily="49" charset="0"/>
                <a:cs typeface="Consolas" panose="020B0609020204030204" pitchFamily="49" charset="0"/>
              </a:rPr>
              <a:t>(</a:t>
            </a:r>
            <a:r>
              <a:rPr lang="en-US" sz="1200" b="1" dirty="0" err="1">
                <a:highlight>
                  <a:srgbClr val="FFFF00"/>
                </a:highlight>
                <a:latin typeface="Consolas" panose="020B0609020204030204" pitchFamily="49" charset="0"/>
                <a:cs typeface="Consolas" panose="020B0609020204030204" pitchFamily="49" charset="0"/>
              </a:rPr>
              <a:t>na.rm</a:t>
            </a:r>
            <a:r>
              <a:rPr lang="en-US" sz="1200" b="1" dirty="0">
                <a:highlight>
                  <a:srgbClr val="FFFF00"/>
                </a:highlight>
                <a:latin typeface="Consolas" panose="020B0609020204030204" pitchFamily="49" charset="0"/>
                <a:cs typeface="Consolas" panose="020B0609020204030204" pitchFamily="49" charset="0"/>
              </a:rPr>
              <a:t> = TRUE</a:t>
            </a:r>
            <a:r>
              <a:rPr lang="en-US" sz="1200" b="1" dirty="0">
                <a:latin typeface="Consolas" panose="020B0609020204030204" pitchFamily="49" charset="0"/>
                <a:cs typeface="Consolas" panose="020B0609020204030204" pitchFamily="49" charset="0"/>
              </a:rPr>
              <a:t>)</a:t>
            </a:r>
            <a:endParaRPr lang="en-US" sz="1200" b="1" dirty="0">
              <a:solidFill>
                <a:schemeClr val="accent5">
                  <a:lumMod val="7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b="1" dirty="0">
              <a:solidFill>
                <a:schemeClr val="accent5">
                  <a:lumMod val="75000"/>
                </a:schemeClr>
              </a:solidFill>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47E97A06-6F5C-AD13-26CB-CECD3C900AA7}"/>
              </a:ext>
            </a:extLst>
          </p:cNvPr>
          <p:cNvSpPr txBox="1"/>
          <p:nvPr/>
        </p:nvSpPr>
        <p:spPr>
          <a:xfrm>
            <a:off x="3769729" y="2896398"/>
            <a:ext cx="1604543" cy="369332"/>
          </a:xfrm>
          <a:prstGeom prst="rect">
            <a:avLst/>
          </a:prstGeom>
          <a:solidFill>
            <a:srgbClr val="C00000"/>
          </a:solidFill>
        </p:spPr>
        <p:txBody>
          <a:bodyPr wrap="none" rtlCol="0" anchor="ctr">
            <a:spAutoFit/>
          </a:bodyPr>
          <a:lstStyle/>
          <a:p>
            <a:pPr algn="ctr"/>
            <a:r>
              <a:rPr lang="en-US" dirty="0">
                <a:solidFill>
                  <a:schemeClr val="bg1"/>
                </a:solidFill>
              </a:rPr>
              <a:t>Example 1 </a:t>
            </a:r>
            <a:r>
              <a:rPr lang="en-US" baseline="30000" dirty="0">
                <a:solidFill>
                  <a:schemeClr val="bg1"/>
                </a:solidFill>
              </a:rPr>
              <a:t>(cat.)</a:t>
            </a:r>
          </a:p>
        </p:txBody>
      </p:sp>
      <p:pic>
        <p:nvPicPr>
          <p:cNvPr id="8" name="Picture 7">
            <a:extLst>
              <a:ext uri="{FF2B5EF4-FFF2-40B4-BE49-F238E27FC236}">
                <a16:creationId xmlns:a16="http://schemas.microsoft.com/office/drawing/2014/main" id="{85D8A36F-0ABA-60EE-5559-F1A6CE0D569F}"/>
              </a:ext>
            </a:extLst>
          </p:cNvPr>
          <p:cNvPicPr>
            <a:picLocks noChangeAspect="1"/>
          </p:cNvPicPr>
          <p:nvPr/>
        </p:nvPicPr>
        <p:blipFill>
          <a:blip r:embed="rId2"/>
          <a:stretch>
            <a:fillRect/>
          </a:stretch>
        </p:blipFill>
        <p:spPr>
          <a:xfrm>
            <a:off x="6126480" y="4138088"/>
            <a:ext cx="2560320" cy="1579880"/>
          </a:xfrm>
          <a:prstGeom prst="rect">
            <a:avLst/>
          </a:prstGeom>
        </p:spPr>
      </p:pic>
      <p:sp>
        <p:nvSpPr>
          <p:cNvPr id="9" name="TextBox 8">
            <a:extLst>
              <a:ext uri="{FF2B5EF4-FFF2-40B4-BE49-F238E27FC236}">
                <a16:creationId xmlns:a16="http://schemas.microsoft.com/office/drawing/2014/main" id="{AA5F970B-39E8-0223-1BB2-0E38C59D51A4}"/>
              </a:ext>
            </a:extLst>
          </p:cNvPr>
          <p:cNvSpPr txBox="1"/>
          <p:nvPr/>
        </p:nvSpPr>
        <p:spPr>
          <a:xfrm>
            <a:off x="2833752" y="5799979"/>
            <a:ext cx="3476496" cy="646331"/>
          </a:xfrm>
          <a:prstGeom prst="rect">
            <a:avLst/>
          </a:prstGeom>
          <a:solidFill>
            <a:srgbClr val="FFC000"/>
          </a:solidFill>
        </p:spPr>
        <p:txBody>
          <a:bodyPr wrap="square" rtlCol="0">
            <a:spAutoFit/>
          </a:bodyPr>
          <a:lstStyle/>
          <a:p>
            <a:pPr algn="ctr"/>
            <a:r>
              <a:rPr lang="en-US" b="1" dirty="0">
                <a:solidFill>
                  <a:srgbClr val="7030A0"/>
                </a:solidFill>
              </a:rPr>
              <a:t>missing values should never silently go missing</a:t>
            </a:r>
          </a:p>
        </p:txBody>
      </p:sp>
      <p:sp>
        <p:nvSpPr>
          <p:cNvPr id="10" name="TextBox 9">
            <a:extLst>
              <a:ext uri="{FF2B5EF4-FFF2-40B4-BE49-F238E27FC236}">
                <a16:creationId xmlns:a16="http://schemas.microsoft.com/office/drawing/2014/main" id="{E86C914F-536A-DBD6-19AC-C3A7CF85A921}"/>
              </a:ext>
            </a:extLst>
          </p:cNvPr>
          <p:cNvSpPr txBox="1"/>
          <p:nvPr/>
        </p:nvSpPr>
        <p:spPr>
          <a:xfrm>
            <a:off x="2114490" y="5797875"/>
            <a:ext cx="800219" cy="830997"/>
          </a:xfrm>
          <a:prstGeom prst="rect">
            <a:avLst/>
          </a:prstGeom>
          <a:noFill/>
        </p:spPr>
        <p:txBody>
          <a:bodyPr wrap="none" rtlCol="0">
            <a:spAutoFit/>
          </a:bodyPr>
          <a:lstStyle/>
          <a:p>
            <a:r>
              <a:rPr lang="en-US" sz="4800" dirty="0"/>
              <a:t>🥸</a:t>
            </a:r>
          </a:p>
        </p:txBody>
      </p:sp>
    </p:spTree>
    <p:extLst>
      <p:ext uri="{BB962C8B-B14F-4D97-AF65-F5344CB8AC3E}">
        <p14:creationId xmlns:p14="http://schemas.microsoft.com/office/powerpoint/2010/main" val="3527853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4CB32-C173-B837-76EA-CABB16AAB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850D4-5775-0675-37B0-E6A72D15F14A}"/>
              </a:ext>
            </a:extLst>
          </p:cNvPr>
          <p:cNvSpPr>
            <a:spLocks noGrp="1"/>
          </p:cNvSpPr>
          <p:nvPr>
            <p:ph type="title"/>
          </p:nvPr>
        </p:nvSpPr>
        <p:spPr/>
        <p:txBody>
          <a:bodyPr anchor="ctr"/>
          <a:lstStyle/>
          <a:p>
            <a:r>
              <a:rPr lang="en-US" b="1" dirty="0"/>
              <a:t>Exploratory </a:t>
            </a:r>
            <a:r>
              <a:rPr lang="en-US" b="1" u="sng" dirty="0"/>
              <a:t>Spatial</a:t>
            </a:r>
            <a:r>
              <a:rPr lang="en-US" b="1" dirty="0"/>
              <a:t> Data Analysis (ESDA)</a:t>
            </a:r>
          </a:p>
        </p:txBody>
      </p:sp>
      <p:sp>
        <p:nvSpPr>
          <p:cNvPr id="3" name="Content Placeholder 2">
            <a:extLst>
              <a:ext uri="{FF2B5EF4-FFF2-40B4-BE49-F238E27FC236}">
                <a16:creationId xmlns:a16="http://schemas.microsoft.com/office/drawing/2014/main" id="{B90DBCA9-641A-1002-4426-F6F967D0C2C2}"/>
              </a:ext>
            </a:extLst>
          </p:cNvPr>
          <p:cNvSpPr>
            <a:spLocks noGrp="1"/>
          </p:cNvSpPr>
          <p:nvPr>
            <p:ph idx="1"/>
          </p:nvPr>
        </p:nvSpPr>
        <p:spPr>
          <a:xfrm>
            <a:off x="457200" y="1416684"/>
            <a:ext cx="8229600" cy="4939667"/>
          </a:xfrm>
        </p:spPr>
        <p:txBody>
          <a:bodyPr>
            <a:noAutofit/>
          </a:bodyPr>
          <a:lstStyle/>
          <a:p>
            <a:r>
              <a:rPr lang="en-US" sz="1800" dirty="0"/>
              <a:t>ESDA </a:t>
            </a:r>
            <a:r>
              <a:rPr lang="en-US" sz="1800" b="1" dirty="0"/>
              <a:t>extends</a:t>
            </a:r>
            <a:r>
              <a:rPr lang="en-US" sz="1800" dirty="0"/>
              <a:t> traditional EDA by incorporating the </a:t>
            </a:r>
            <a:r>
              <a:rPr lang="en-US" sz="1800" u="sng" dirty="0"/>
              <a:t>spatial dimension</a:t>
            </a:r>
            <a:r>
              <a:rPr lang="en-US" sz="1800" dirty="0"/>
              <a:t> of data.</a:t>
            </a:r>
          </a:p>
          <a:p>
            <a:pPr lvl="1"/>
            <a:r>
              <a:rPr lang="en-US" sz="1800" dirty="0"/>
              <a:t>In addition to standard visual summaries,</a:t>
            </a:r>
            <a:br>
              <a:rPr lang="en-US" sz="1800" dirty="0"/>
            </a:br>
            <a:r>
              <a:rPr lang="en-US" sz="1800" dirty="0"/>
              <a:t>ESDA </a:t>
            </a:r>
            <a:r>
              <a:rPr lang="en-US" sz="1800" u="sng" dirty="0"/>
              <a:t>emphasizes mapping</a:t>
            </a:r>
            <a:r>
              <a:rPr lang="en-US" sz="1800" dirty="0"/>
              <a:t> (including residual patterns), breaking down spatial structures into meaningful components, and quantifying the degree of spatial dependence or clustering.</a:t>
            </a:r>
          </a:p>
          <a:p>
            <a:pPr lvl="1"/>
            <a:r>
              <a:rPr lang="en-US" sz="1800" dirty="0"/>
              <a:t>By highlighting unusual observations</a:t>
            </a:r>
            <a:br>
              <a:rPr lang="en-US" sz="1800" dirty="0"/>
            </a:br>
            <a:r>
              <a:rPr lang="en-US" sz="1400" dirty="0"/>
              <a:t>(such as </a:t>
            </a:r>
            <a:r>
              <a:rPr lang="en-US" sz="1400" u="sng" dirty="0"/>
              <a:t>values that differ markedly from their </a:t>
            </a:r>
            <a:r>
              <a:rPr lang="en-US" sz="1400" b="1" u="sng" dirty="0">
                <a:solidFill>
                  <a:srgbClr val="C00000"/>
                </a:solidFill>
                <a:highlight>
                  <a:srgbClr val="FFFF00"/>
                </a:highlight>
              </a:rPr>
              <a:t>neighbors</a:t>
            </a:r>
            <a:r>
              <a:rPr lang="en-US" sz="1400" dirty="0"/>
              <a:t>)</a:t>
            </a:r>
            <a:r>
              <a:rPr lang="en-US" sz="1800" dirty="0"/>
              <a:t>,</a:t>
            </a:r>
            <a:br>
              <a:rPr lang="en-US" sz="1800" dirty="0"/>
            </a:br>
            <a:r>
              <a:rPr lang="en-US" sz="1800" dirty="0"/>
              <a:t>ESDA allows analysts to interpret </a:t>
            </a:r>
            <a:r>
              <a:rPr lang="en-US" sz="1800" b="1" dirty="0"/>
              <a:t>patterns</a:t>
            </a:r>
            <a:r>
              <a:rPr lang="en-US" sz="1800" dirty="0"/>
              <a:t> in their geographic context.</a:t>
            </a:r>
          </a:p>
          <a:p>
            <a:pPr lvl="1"/>
            <a:endParaRPr lang="en-US" sz="1800" dirty="0"/>
          </a:p>
          <a:p>
            <a:pPr lvl="1"/>
            <a:endParaRPr lang="en-US" sz="1800" dirty="0"/>
          </a:p>
          <a:p>
            <a:pPr lvl="1"/>
            <a:endParaRPr lang="en-US" sz="1800" dirty="0"/>
          </a:p>
          <a:p>
            <a:pPr lvl="1"/>
            <a:endParaRPr lang="en-US" sz="1800" dirty="0"/>
          </a:p>
          <a:p>
            <a:pPr lvl="1"/>
            <a:endParaRPr lang="en-US" sz="1800" dirty="0"/>
          </a:p>
          <a:p>
            <a:pPr lvl="1"/>
            <a:endParaRPr lang="en-US" sz="1800" dirty="0"/>
          </a:p>
          <a:p>
            <a:pPr lvl="1"/>
            <a:r>
              <a:rPr lang="en-US" sz="1800" dirty="0"/>
              <a:t>More broadly,</a:t>
            </a:r>
            <a:br>
              <a:rPr lang="en-US" sz="1800" dirty="0"/>
            </a:br>
            <a:r>
              <a:rPr lang="en-US" sz="1800" dirty="0"/>
              <a:t>the principles of exploratory analysis emphasize </a:t>
            </a:r>
            <a:r>
              <a:rPr lang="en-US" sz="1800" u="sng" dirty="0"/>
              <a:t>open-ended investigation</a:t>
            </a:r>
            <a:r>
              <a:rPr lang="en-US" sz="1800" dirty="0"/>
              <a:t> and typically </a:t>
            </a:r>
            <a:r>
              <a:rPr lang="en-US" sz="1800" u="sng" dirty="0"/>
              <a:t>avoid formal hypothesis testing</a:t>
            </a:r>
            <a:r>
              <a:rPr lang="en-US" sz="1800" dirty="0"/>
              <a:t> in the early stages of analysis.</a:t>
            </a:r>
          </a:p>
        </p:txBody>
      </p:sp>
      <p:sp>
        <p:nvSpPr>
          <p:cNvPr id="4" name="Slide Number Placeholder 3">
            <a:extLst>
              <a:ext uri="{FF2B5EF4-FFF2-40B4-BE49-F238E27FC236}">
                <a16:creationId xmlns:a16="http://schemas.microsoft.com/office/drawing/2014/main" id="{8EB122BE-B5E2-B812-31A5-773D90C106BC}"/>
              </a:ext>
            </a:extLst>
          </p:cNvPr>
          <p:cNvSpPr>
            <a:spLocks noGrp="1"/>
          </p:cNvSpPr>
          <p:nvPr>
            <p:ph type="sldNum" sz="quarter" idx="12"/>
          </p:nvPr>
        </p:nvSpPr>
        <p:spPr/>
        <p:txBody>
          <a:bodyPr/>
          <a:lstStyle/>
          <a:p>
            <a:fld id="{C0343C75-1924-D247-85A3-0CB62E67E5D1}" type="slidenum">
              <a:rPr lang="en-US" smtClean="0"/>
              <a:t>6</a:t>
            </a:fld>
            <a:endParaRPr lang="en-US"/>
          </a:p>
        </p:txBody>
      </p:sp>
      <p:pic>
        <p:nvPicPr>
          <p:cNvPr id="8" name="Picture 7">
            <a:extLst>
              <a:ext uri="{FF2B5EF4-FFF2-40B4-BE49-F238E27FC236}">
                <a16:creationId xmlns:a16="http://schemas.microsoft.com/office/drawing/2014/main" id="{FBB84A14-60A0-2EF9-A3F5-CB817A7B6610}"/>
              </a:ext>
            </a:extLst>
          </p:cNvPr>
          <p:cNvPicPr>
            <a:picLocks noChangeAspect="1"/>
          </p:cNvPicPr>
          <p:nvPr/>
        </p:nvPicPr>
        <p:blipFill>
          <a:blip r:embed="rId2"/>
          <a:srcRect l="7417" t="14976" r="7207"/>
          <a:stretch>
            <a:fillRect/>
          </a:stretch>
        </p:blipFill>
        <p:spPr>
          <a:xfrm>
            <a:off x="3830320" y="3658549"/>
            <a:ext cx="1483360" cy="1681600"/>
          </a:xfrm>
          <a:prstGeom prst="rect">
            <a:avLst/>
          </a:prstGeom>
        </p:spPr>
      </p:pic>
      <p:sp>
        <p:nvSpPr>
          <p:cNvPr id="9" name="TextBox 8">
            <a:extLst>
              <a:ext uri="{FF2B5EF4-FFF2-40B4-BE49-F238E27FC236}">
                <a16:creationId xmlns:a16="http://schemas.microsoft.com/office/drawing/2014/main" id="{F924AB61-33F6-653D-8958-8BCD396E0834}"/>
              </a:ext>
            </a:extLst>
          </p:cNvPr>
          <p:cNvSpPr txBox="1"/>
          <p:nvPr/>
        </p:nvSpPr>
        <p:spPr>
          <a:xfrm>
            <a:off x="5313680" y="4345460"/>
            <a:ext cx="2500364" cy="307777"/>
          </a:xfrm>
          <a:prstGeom prst="rect">
            <a:avLst/>
          </a:prstGeom>
          <a:solidFill>
            <a:schemeClr val="accent4">
              <a:lumMod val="20000"/>
              <a:lumOff val="80000"/>
            </a:schemeClr>
          </a:solidFill>
        </p:spPr>
        <p:txBody>
          <a:bodyPr wrap="none" rtlCol="0" anchor="ctr">
            <a:spAutoFit/>
          </a:bodyPr>
          <a:lstStyle/>
          <a:p>
            <a:pPr algn="ctr"/>
            <a:r>
              <a:rPr lang="en-US" sz="1400" b="1" i="1" dirty="0">
                <a:solidFill>
                  <a:srgbClr val="C00000"/>
                </a:solidFill>
              </a:rPr>
              <a:t>Don't be like this neighbor ...</a:t>
            </a:r>
          </a:p>
        </p:txBody>
      </p:sp>
    </p:spTree>
    <p:extLst>
      <p:ext uri="{BB962C8B-B14F-4D97-AF65-F5344CB8AC3E}">
        <p14:creationId xmlns:p14="http://schemas.microsoft.com/office/powerpoint/2010/main" val="3769686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DF0E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D4BB4-E132-0127-951D-CA14C12CCF88}"/>
              </a:ext>
            </a:extLst>
          </p:cNvPr>
          <p:cNvSpPr>
            <a:spLocks noGrp="1"/>
          </p:cNvSpPr>
          <p:nvPr>
            <p:ph type="title"/>
          </p:nvPr>
        </p:nvSpPr>
        <p:spPr/>
        <p:txBody>
          <a:bodyPr anchor="ctr"/>
          <a:lstStyle/>
          <a:p>
            <a:r>
              <a:rPr lang="en-US" dirty="0"/>
              <a:t>Tobler's First Law of Geography</a:t>
            </a:r>
          </a:p>
        </p:txBody>
      </p:sp>
      <p:sp>
        <p:nvSpPr>
          <p:cNvPr id="3" name="Content Placeholder 2">
            <a:extLst>
              <a:ext uri="{FF2B5EF4-FFF2-40B4-BE49-F238E27FC236}">
                <a16:creationId xmlns:a16="http://schemas.microsoft.com/office/drawing/2014/main" id="{100325FB-359E-F51F-B21A-CE3299745F09}"/>
              </a:ext>
            </a:extLst>
          </p:cNvPr>
          <p:cNvSpPr>
            <a:spLocks noGrp="1"/>
          </p:cNvSpPr>
          <p:nvPr>
            <p:ph idx="1"/>
          </p:nvPr>
        </p:nvSpPr>
        <p:spPr>
          <a:xfrm>
            <a:off x="457200" y="1416684"/>
            <a:ext cx="8413668" cy="5126619"/>
          </a:xfrm>
        </p:spPr>
        <p:txBody>
          <a:bodyPr>
            <a:normAutofit/>
          </a:bodyPr>
          <a:lstStyle/>
          <a:p>
            <a:pPr marL="0" indent="0">
              <a:buNone/>
            </a:pPr>
            <a:r>
              <a:rPr lang="en-US" sz="2400" dirty="0">
                <a:solidFill>
                  <a:srgbClr val="C00000"/>
                </a:solidFill>
              </a:rPr>
              <a:t>"</a:t>
            </a:r>
            <a:r>
              <a:rPr lang="en-US" sz="2400" b="1" i="1" dirty="0">
                <a:solidFill>
                  <a:srgbClr val="C00000"/>
                </a:solidFill>
              </a:rPr>
              <a:t>Everything is related to everything else,</a:t>
            </a:r>
            <a:br>
              <a:rPr lang="en-US" sz="2400" b="1" i="1" dirty="0">
                <a:solidFill>
                  <a:srgbClr val="C00000"/>
                </a:solidFill>
              </a:rPr>
            </a:br>
            <a:r>
              <a:rPr lang="en-US" sz="2400" b="1" i="1" dirty="0">
                <a:solidFill>
                  <a:srgbClr val="C00000"/>
                </a:solidFill>
              </a:rPr>
              <a:t>but near things are more related </a:t>
            </a:r>
            <a:br>
              <a:rPr lang="en-US" sz="2400" b="1" i="1" dirty="0">
                <a:solidFill>
                  <a:srgbClr val="C00000"/>
                </a:solidFill>
              </a:rPr>
            </a:br>
            <a:r>
              <a:rPr lang="en-US" sz="2400" b="1" i="1" dirty="0">
                <a:solidFill>
                  <a:srgbClr val="C00000"/>
                </a:solidFill>
              </a:rPr>
              <a:t>than distant things.</a:t>
            </a:r>
            <a:r>
              <a:rPr lang="en-US" sz="2400" dirty="0">
                <a:solidFill>
                  <a:srgbClr val="C00000"/>
                </a:solidFill>
              </a:rPr>
              <a:t>" </a:t>
            </a:r>
            <a:r>
              <a:rPr lang="en-US" sz="1400" dirty="0">
                <a:hlinkClick r:id="rId2"/>
              </a:rPr>
              <a:t>Waldo Tobler</a:t>
            </a:r>
            <a:r>
              <a:rPr lang="en-US" sz="1400" dirty="0"/>
              <a:t> (1930-2018)</a:t>
            </a:r>
          </a:p>
          <a:p>
            <a:pPr marL="0" indent="0" algn="ctr">
              <a:buNone/>
            </a:pPr>
            <a:endParaRPr lang="en-US" sz="1000" dirty="0"/>
          </a:p>
          <a:p>
            <a:r>
              <a:rPr lang="en-US" b="1" dirty="0"/>
              <a:t>Distance Decay</a:t>
            </a:r>
            <a:br>
              <a:rPr lang="en-US" dirty="0"/>
            </a:br>
            <a:r>
              <a:rPr lang="en-US" sz="1600" dirty="0"/>
              <a:t>The further apart two things are, the less they </a:t>
            </a:r>
            <a:r>
              <a:rPr lang="en-US" sz="1600" b="1" dirty="0"/>
              <a:t>interact</a:t>
            </a:r>
            <a:r>
              <a:rPr lang="en-US" sz="1600" dirty="0"/>
              <a:t> or </a:t>
            </a:r>
            <a:r>
              <a:rPr lang="en-US" sz="1600" b="1" dirty="0"/>
              <a:t>influence</a:t>
            </a:r>
            <a:r>
              <a:rPr lang="en-US" sz="1600" dirty="0"/>
              <a:t> each other</a:t>
            </a:r>
          </a:p>
          <a:p>
            <a:r>
              <a:rPr lang="en-US" b="1" dirty="0"/>
              <a:t>Spatial Autocorrelation</a:t>
            </a:r>
            <a:br>
              <a:rPr lang="en-US" dirty="0"/>
            </a:br>
            <a:r>
              <a:rPr lang="en-US" sz="1600" dirty="0"/>
              <a:t>The mathematical way to </a:t>
            </a:r>
            <a:r>
              <a:rPr lang="en-US" sz="1600" b="1" dirty="0"/>
              <a:t>measure</a:t>
            </a:r>
            <a:r>
              <a:rPr lang="en-US" sz="1600" dirty="0"/>
              <a:t> this "relatedness"</a:t>
            </a:r>
            <a:endParaRPr lang="en-US" dirty="0"/>
          </a:p>
          <a:p>
            <a:r>
              <a:rPr lang="en-US" b="1" dirty="0"/>
              <a:t>Neighborhood Effect</a:t>
            </a:r>
            <a:br>
              <a:rPr lang="en-US" dirty="0"/>
            </a:br>
            <a:r>
              <a:rPr lang="en-US" sz="1600" dirty="0"/>
              <a:t>Expect neighbors to be similar</a:t>
            </a:r>
          </a:p>
          <a:p>
            <a:pPr marL="0" indent="0">
              <a:buNone/>
            </a:pPr>
            <a:endParaRPr lang="en-US" sz="1000" dirty="0"/>
          </a:p>
          <a:p>
            <a:pPr marL="0" indent="0">
              <a:buNone/>
            </a:pPr>
            <a:r>
              <a:rPr lang="en-US" b="1" dirty="0">
                <a:hlinkClick r:id="rId3"/>
              </a:rPr>
              <a:t>Friction of distance</a:t>
            </a:r>
            <a:endParaRPr lang="en-US" b="1" dirty="0"/>
          </a:p>
          <a:p>
            <a:pPr lvl="1"/>
            <a:r>
              <a:rPr lang="en-US" sz="1400" i="1" dirty="0">
                <a:solidFill>
                  <a:schemeClr val="tx1">
                    <a:lumMod val="65000"/>
                    <a:lumOff val="35000"/>
                  </a:schemeClr>
                </a:solidFill>
              </a:rPr>
              <a:t>If it's raining at a house, it's likely raining at neighbor's house, but it might be sunny somewhere else.</a:t>
            </a:r>
          </a:p>
          <a:p>
            <a:pPr lvl="1"/>
            <a:r>
              <a:rPr lang="en-US" sz="1400" i="1" dirty="0">
                <a:solidFill>
                  <a:schemeClr val="tx1">
                    <a:lumMod val="65000"/>
                    <a:lumOff val="35000"/>
                  </a:schemeClr>
                </a:solidFill>
              </a:rPr>
              <a:t>The price of a house is heavily influenced by the prices of the houses on that same street.</a:t>
            </a:r>
          </a:p>
          <a:p>
            <a:pPr lvl="1"/>
            <a:r>
              <a:rPr lang="en-US" sz="1400" i="1" dirty="0">
                <a:solidFill>
                  <a:schemeClr val="tx1">
                    <a:lumMod val="65000"/>
                    <a:lumOff val="35000"/>
                  </a:schemeClr>
                </a:solidFill>
              </a:rPr>
              <a:t>People in neighboring towns usually speak with similar accents;</a:t>
            </a:r>
            <a:br>
              <a:rPr lang="en-US" sz="1400" i="1" dirty="0">
                <a:solidFill>
                  <a:schemeClr val="tx1">
                    <a:lumMod val="65000"/>
                    <a:lumOff val="35000"/>
                  </a:schemeClr>
                </a:solidFill>
              </a:rPr>
            </a:br>
            <a:r>
              <a:rPr lang="en-US" sz="1400" i="1" dirty="0">
                <a:solidFill>
                  <a:schemeClr val="tx1">
                    <a:lumMod val="65000"/>
                    <a:lumOff val="35000"/>
                  </a:schemeClr>
                </a:solidFill>
              </a:rPr>
              <a:t>people across the country sound different.</a:t>
            </a:r>
          </a:p>
        </p:txBody>
      </p:sp>
      <p:sp>
        <p:nvSpPr>
          <p:cNvPr id="4" name="Slide Number Placeholder 3">
            <a:extLst>
              <a:ext uri="{FF2B5EF4-FFF2-40B4-BE49-F238E27FC236}">
                <a16:creationId xmlns:a16="http://schemas.microsoft.com/office/drawing/2014/main" id="{5CE81538-8A82-4378-B97E-5B455B45AD94}"/>
              </a:ext>
            </a:extLst>
          </p:cNvPr>
          <p:cNvSpPr>
            <a:spLocks noGrp="1"/>
          </p:cNvSpPr>
          <p:nvPr>
            <p:ph type="sldNum" sz="quarter" idx="12"/>
          </p:nvPr>
        </p:nvSpPr>
        <p:spPr/>
        <p:txBody>
          <a:bodyPr/>
          <a:lstStyle/>
          <a:p>
            <a:fld id="{C0343C75-1924-D247-85A3-0CB62E67E5D1}" type="slidenum">
              <a:rPr lang="en-US" smtClean="0"/>
              <a:t>7</a:t>
            </a:fld>
            <a:endParaRPr lang="en-US"/>
          </a:p>
        </p:txBody>
      </p:sp>
      <p:pic>
        <p:nvPicPr>
          <p:cNvPr id="6" name="Picture 5">
            <a:extLst>
              <a:ext uri="{FF2B5EF4-FFF2-40B4-BE49-F238E27FC236}">
                <a16:creationId xmlns:a16="http://schemas.microsoft.com/office/drawing/2014/main" id="{66D5A9C6-FDF1-8BD0-C407-F613939D9CC4}"/>
              </a:ext>
            </a:extLst>
          </p:cNvPr>
          <p:cNvPicPr>
            <a:picLocks noChangeAspect="1"/>
          </p:cNvPicPr>
          <p:nvPr/>
        </p:nvPicPr>
        <p:blipFill>
          <a:blip r:embed="rId4"/>
          <a:srcRect l="13474" t="6039" r="19026" b="3960"/>
          <a:stretch>
            <a:fillRect/>
          </a:stretch>
        </p:blipFill>
        <p:spPr>
          <a:xfrm>
            <a:off x="6400800" y="550993"/>
            <a:ext cx="2286000" cy="2286000"/>
          </a:xfrm>
          <a:prstGeom prst="rect">
            <a:avLst/>
          </a:prstGeom>
        </p:spPr>
      </p:pic>
    </p:spTree>
    <p:extLst>
      <p:ext uri="{BB962C8B-B14F-4D97-AF65-F5344CB8AC3E}">
        <p14:creationId xmlns:p14="http://schemas.microsoft.com/office/powerpoint/2010/main" val="1348301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F948F-2B1A-1B1D-44F9-9A1EC8DC0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A78BC-26EA-AD21-18B5-3DF9B6242F34}"/>
              </a:ext>
            </a:extLst>
          </p:cNvPr>
          <p:cNvSpPr>
            <a:spLocks noGrp="1"/>
          </p:cNvSpPr>
          <p:nvPr>
            <p:ph type="title"/>
          </p:nvPr>
        </p:nvSpPr>
        <p:spPr/>
        <p:txBody>
          <a:bodyPr anchor="ctr"/>
          <a:lstStyle/>
          <a:p>
            <a:r>
              <a:rPr lang="en-US" b="1" dirty="0"/>
              <a:t>(Spatial) Diagnostic Summary</a:t>
            </a:r>
          </a:p>
        </p:txBody>
      </p:sp>
      <p:sp>
        <p:nvSpPr>
          <p:cNvPr id="3" name="Content Placeholder 2">
            <a:extLst>
              <a:ext uri="{FF2B5EF4-FFF2-40B4-BE49-F238E27FC236}">
                <a16:creationId xmlns:a16="http://schemas.microsoft.com/office/drawing/2014/main" id="{C21542E9-15BA-3D14-00DB-755C475238B7}"/>
              </a:ext>
            </a:extLst>
          </p:cNvPr>
          <p:cNvSpPr>
            <a:spLocks noGrp="1"/>
          </p:cNvSpPr>
          <p:nvPr>
            <p:ph idx="1"/>
          </p:nvPr>
        </p:nvSpPr>
        <p:spPr>
          <a:xfrm>
            <a:off x="457200" y="1416684"/>
            <a:ext cx="8229600" cy="4939667"/>
          </a:xfrm>
        </p:spPr>
        <p:txBody>
          <a:bodyPr>
            <a:noAutofit/>
          </a:bodyPr>
          <a:lstStyle/>
          <a:p>
            <a:r>
              <a:rPr lang="en-US" sz="1800" dirty="0"/>
              <a:t>If we pass any variable </a:t>
            </a:r>
            <a:r>
              <a:rPr lang="en-US" sz="1800" i="1" dirty="0"/>
              <a:t>x</a:t>
            </a:r>
            <a:r>
              <a:rPr lang="en-US" sz="1800" dirty="0"/>
              <a:t> and its corresponding spatial object (e.g., </a:t>
            </a:r>
            <a:r>
              <a:rPr lang="en-US" sz="1800" i="1" dirty="0"/>
              <a:t>simple features</a:t>
            </a:r>
            <a:r>
              <a:rPr lang="en-US" sz="1800" dirty="0"/>
              <a:t>) to the </a:t>
            </a:r>
            <a:r>
              <a:rPr lang="en-US" sz="1800" b="1" dirty="0" err="1"/>
              <a:t>sp_diag</a:t>
            </a:r>
            <a:r>
              <a:rPr lang="en-US" sz="1800" b="1" dirty="0"/>
              <a:t> </a:t>
            </a:r>
            <a:r>
              <a:rPr lang="en-US" sz="1800" dirty="0"/>
              <a:t>function, it returns a histogram, Moran scatter plot, and map of the estimates:</a:t>
            </a:r>
          </a:p>
        </p:txBody>
      </p:sp>
      <p:sp>
        <p:nvSpPr>
          <p:cNvPr id="4" name="Slide Number Placeholder 3">
            <a:extLst>
              <a:ext uri="{FF2B5EF4-FFF2-40B4-BE49-F238E27FC236}">
                <a16:creationId xmlns:a16="http://schemas.microsoft.com/office/drawing/2014/main" id="{F2836FAC-C356-6F5D-F2DF-BC6698B88B25}"/>
              </a:ext>
            </a:extLst>
          </p:cNvPr>
          <p:cNvSpPr>
            <a:spLocks noGrp="1"/>
          </p:cNvSpPr>
          <p:nvPr>
            <p:ph type="sldNum" sz="quarter" idx="12"/>
          </p:nvPr>
        </p:nvSpPr>
        <p:spPr/>
        <p:txBody>
          <a:bodyPr/>
          <a:lstStyle/>
          <a:p>
            <a:fld id="{C0343C75-1924-D247-85A3-0CB62E67E5D1}" type="slidenum">
              <a:rPr lang="en-US" smtClean="0"/>
              <a:t>8</a:t>
            </a:fld>
            <a:endParaRPr lang="en-US"/>
          </a:p>
        </p:txBody>
      </p:sp>
      <p:sp>
        <p:nvSpPr>
          <p:cNvPr id="5" name="Content Placeholder 2">
            <a:extLst>
              <a:ext uri="{FF2B5EF4-FFF2-40B4-BE49-F238E27FC236}">
                <a16:creationId xmlns:a16="http://schemas.microsoft.com/office/drawing/2014/main" id="{DCAFB22B-EC57-2C17-EF6C-8AE63B7069DE}"/>
              </a:ext>
            </a:extLst>
          </p:cNvPr>
          <p:cNvSpPr txBox="1">
            <a:spLocks/>
          </p:cNvSpPr>
          <p:nvPr/>
        </p:nvSpPr>
        <p:spPr>
          <a:xfrm>
            <a:off x="457200" y="2511306"/>
            <a:ext cx="8229600" cy="40249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library(</a:t>
            </a:r>
            <a:r>
              <a:rPr lang="en-US" sz="1200" b="1" dirty="0" err="1">
                <a:solidFill>
                  <a:schemeClr val="tx1">
                    <a:lumMod val="65000"/>
                    <a:lumOff val="35000"/>
                  </a:schemeClr>
                </a:solidFill>
                <a:latin typeface="Consolas" panose="020B0609020204030204" pitchFamily="49" charset="0"/>
                <a:cs typeface="Consolas" panose="020B0609020204030204" pitchFamily="49" charset="0"/>
              </a:rPr>
              <a:t>geostan</a:t>
            </a:r>
            <a:r>
              <a:rPr lang="en-US" sz="1200" b="1" dirty="0">
                <a:solidFill>
                  <a:schemeClr val="tx1">
                    <a:lumMod val="65000"/>
                    <a:lumOff val="35000"/>
                  </a:schemeClr>
                </a:solidFill>
                <a:latin typeface="Consolas" panose="020B0609020204030204" pitchFamily="49" charset="0"/>
                <a:cs typeface="Consolas" panose="020B0609020204030204" pitchFamily="49" charset="0"/>
              </a:rPr>
              <a:t>)</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library(ggplot2)</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library(</a:t>
            </a:r>
            <a:r>
              <a:rPr lang="en-US" sz="1200" b="1" dirty="0" err="1">
                <a:solidFill>
                  <a:schemeClr val="tx1">
                    <a:lumMod val="65000"/>
                    <a:lumOff val="35000"/>
                  </a:schemeClr>
                </a:solidFill>
                <a:latin typeface="Consolas" panose="020B0609020204030204" pitchFamily="49" charset="0"/>
                <a:cs typeface="Consolas" panose="020B0609020204030204" pitchFamily="49" charset="0"/>
              </a:rPr>
              <a:t>gridExtra</a:t>
            </a:r>
            <a:r>
              <a:rPr lang="en-US" sz="1200" b="1" dirty="0">
                <a:solidFill>
                  <a:schemeClr val="tx1">
                    <a:lumMod val="65000"/>
                    <a:lumOff val="35000"/>
                  </a:schemeClr>
                </a:solidFill>
                <a:latin typeface="Consolas" panose="020B0609020204030204" pitchFamily="49" charset="0"/>
                <a:cs typeface="Consolas" panose="020B0609020204030204" pitchFamily="49" charset="0"/>
              </a:rPr>
              <a:t>)</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data("</a:t>
            </a:r>
            <a:r>
              <a:rPr lang="en-US" sz="1200" b="1" dirty="0" err="1">
                <a:solidFill>
                  <a:schemeClr val="tx1">
                    <a:lumMod val="65000"/>
                    <a:lumOff val="35000"/>
                  </a:schemeClr>
                </a:solidFill>
                <a:latin typeface="Consolas" panose="020B0609020204030204" pitchFamily="49" charset="0"/>
                <a:cs typeface="Consolas" panose="020B0609020204030204" pitchFamily="49" charset="0"/>
              </a:rPr>
              <a:t>georgia</a:t>
            </a:r>
            <a:r>
              <a:rPr lang="en-US" sz="1200" b="1" dirty="0">
                <a:solidFill>
                  <a:schemeClr val="tx1">
                    <a:lumMod val="65000"/>
                    <a:lumOff val="35000"/>
                  </a:schemeClr>
                </a:solidFill>
                <a:latin typeface="Consolas" panose="020B0609020204030204" pitchFamily="49" charset="0"/>
                <a:cs typeface="Consolas" panose="020B0609020204030204" pitchFamily="49" charset="0"/>
              </a:rPr>
              <a:t>")</a:t>
            </a: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hist(</a:t>
            </a:r>
            <a:r>
              <a:rPr lang="en-US" sz="1200" b="1" dirty="0" err="1">
                <a:latin typeface="Consolas" panose="020B0609020204030204" pitchFamily="49" charset="0"/>
                <a:cs typeface="Consolas" panose="020B0609020204030204" pitchFamily="49" charset="0"/>
              </a:rPr>
              <a:t>georgia$college</a:t>
            </a:r>
            <a:r>
              <a:rPr lang="en-US" sz="1200" b="1" dirty="0">
                <a:latin typeface="Consolas" panose="020B0609020204030204" pitchFamily="49" charset="0"/>
                <a:cs typeface="Consolas" panose="020B0609020204030204" pitchFamily="49" charset="0"/>
              </a:rPr>
              <a:t>)</a:t>
            </a: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highlight>
                  <a:srgbClr val="FFFF00"/>
                </a:highlight>
                <a:latin typeface="Consolas" panose="020B0609020204030204" pitchFamily="49" charset="0"/>
                <a:cs typeface="Consolas" panose="020B0609020204030204" pitchFamily="49" charset="0"/>
              </a:rPr>
              <a:t>summary(</a:t>
            </a:r>
            <a:r>
              <a:rPr lang="en-US" sz="1200" b="1" dirty="0" err="1">
                <a:highlight>
                  <a:srgbClr val="FFFF00"/>
                </a:highlight>
                <a:latin typeface="Consolas" panose="020B0609020204030204" pitchFamily="49" charset="0"/>
                <a:cs typeface="Consolas" panose="020B0609020204030204" pitchFamily="49" charset="0"/>
              </a:rPr>
              <a:t>georgia$college</a:t>
            </a:r>
            <a:r>
              <a:rPr lang="en-US" sz="1200" b="1" dirty="0">
                <a:highlight>
                  <a:srgbClr val="FFFF00"/>
                </a:highlight>
                <a:latin typeface="Consolas" panose="020B0609020204030204" pitchFamily="49" charset="0"/>
                <a:cs typeface="Consolas" panose="020B0609020204030204" pitchFamily="49" charset="0"/>
              </a:rPr>
              <a:t>)</a:t>
            </a:r>
          </a:p>
          <a:p>
            <a:pPr marL="0" indent="0">
              <a:lnSpc>
                <a:spcPct val="100000"/>
              </a:lnSpc>
              <a:spcBef>
                <a:spcPts val="400"/>
              </a:spcBef>
              <a:buNone/>
            </a:pPr>
            <a:endParaRPr lang="en-US" sz="1200" dirty="0">
              <a:solidFill>
                <a:schemeClr val="tx1">
                  <a:lumMod val="65000"/>
                  <a:lumOff val="3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Min. 1st Qu.  Median    Mean 3rd Qu.    Max. </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7.0    12.0    15.2    18.2    21.4    51.7 </a:t>
            </a:r>
          </a:p>
        </p:txBody>
      </p:sp>
      <p:sp>
        <p:nvSpPr>
          <p:cNvPr id="6" name="TextBox 5">
            <a:extLst>
              <a:ext uri="{FF2B5EF4-FFF2-40B4-BE49-F238E27FC236}">
                <a16:creationId xmlns:a16="http://schemas.microsoft.com/office/drawing/2014/main" id="{C226F259-1536-F4D3-F31A-6F586B8269DF}"/>
              </a:ext>
            </a:extLst>
          </p:cNvPr>
          <p:cNvSpPr txBox="1"/>
          <p:nvPr/>
        </p:nvSpPr>
        <p:spPr>
          <a:xfrm>
            <a:off x="3724528" y="2326097"/>
            <a:ext cx="1694951" cy="369332"/>
          </a:xfrm>
          <a:prstGeom prst="rect">
            <a:avLst/>
          </a:prstGeom>
          <a:solidFill>
            <a:srgbClr val="C00000"/>
          </a:solidFill>
        </p:spPr>
        <p:txBody>
          <a:bodyPr wrap="none" rtlCol="0" anchor="ctr">
            <a:spAutoFit/>
          </a:bodyPr>
          <a:lstStyle/>
          <a:p>
            <a:pPr algn="ctr"/>
            <a:r>
              <a:rPr lang="en-US" dirty="0">
                <a:solidFill>
                  <a:schemeClr val="bg1"/>
                </a:solidFill>
              </a:rPr>
              <a:t>Example 2 </a:t>
            </a:r>
            <a:r>
              <a:rPr lang="en-US" baseline="30000" dirty="0">
                <a:solidFill>
                  <a:schemeClr val="bg1"/>
                </a:solidFill>
              </a:rPr>
              <a:t>(cont.)</a:t>
            </a:r>
          </a:p>
        </p:txBody>
      </p:sp>
      <p:pic>
        <p:nvPicPr>
          <p:cNvPr id="7" name="Picture 6">
            <a:extLst>
              <a:ext uri="{FF2B5EF4-FFF2-40B4-BE49-F238E27FC236}">
                <a16:creationId xmlns:a16="http://schemas.microsoft.com/office/drawing/2014/main" id="{98811A67-ACCB-3DD3-4746-E5027E043E58}"/>
              </a:ext>
            </a:extLst>
          </p:cNvPr>
          <p:cNvPicPr>
            <a:picLocks noChangeAspect="1"/>
          </p:cNvPicPr>
          <p:nvPr/>
        </p:nvPicPr>
        <p:blipFill>
          <a:blip r:embed="rId2"/>
          <a:srcRect r="6619"/>
          <a:stretch>
            <a:fillRect/>
          </a:stretch>
        </p:blipFill>
        <p:spPr>
          <a:xfrm>
            <a:off x="4617720" y="2695429"/>
            <a:ext cx="4023360" cy="2820270"/>
          </a:xfrm>
          <a:prstGeom prst="rect">
            <a:avLst/>
          </a:prstGeom>
        </p:spPr>
      </p:pic>
      <p:cxnSp>
        <p:nvCxnSpPr>
          <p:cNvPr id="9" name="Straight Arrow Connector 8">
            <a:extLst>
              <a:ext uri="{FF2B5EF4-FFF2-40B4-BE49-F238E27FC236}">
                <a16:creationId xmlns:a16="http://schemas.microsoft.com/office/drawing/2014/main" id="{31666C94-7916-AD2C-5C14-93EB18A03DF2}"/>
              </a:ext>
            </a:extLst>
          </p:cNvPr>
          <p:cNvCxnSpPr/>
          <p:nvPr/>
        </p:nvCxnSpPr>
        <p:spPr>
          <a:xfrm>
            <a:off x="2500009" y="3813243"/>
            <a:ext cx="1955259" cy="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0980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A9FC1-06EB-2699-FFA2-1078A94D4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33B54-1962-5316-BE65-22F0625EBA12}"/>
              </a:ext>
            </a:extLst>
          </p:cNvPr>
          <p:cNvSpPr>
            <a:spLocks noGrp="1"/>
          </p:cNvSpPr>
          <p:nvPr>
            <p:ph type="title"/>
          </p:nvPr>
        </p:nvSpPr>
        <p:spPr/>
        <p:txBody>
          <a:bodyPr anchor="ctr"/>
          <a:lstStyle/>
          <a:p>
            <a:r>
              <a:rPr lang="en-US" b="1" dirty="0"/>
              <a:t>Spatial Diagnostic Summary</a:t>
            </a:r>
          </a:p>
        </p:txBody>
      </p:sp>
      <p:sp>
        <p:nvSpPr>
          <p:cNvPr id="3" name="Content Placeholder 2">
            <a:extLst>
              <a:ext uri="{FF2B5EF4-FFF2-40B4-BE49-F238E27FC236}">
                <a16:creationId xmlns:a16="http://schemas.microsoft.com/office/drawing/2014/main" id="{CF9FF396-579B-0FC4-3D52-912A19ED8B7B}"/>
              </a:ext>
            </a:extLst>
          </p:cNvPr>
          <p:cNvSpPr>
            <a:spLocks noGrp="1"/>
          </p:cNvSpPr>
          <p:nvPr>
            <p:ph idx="1"/>
          </p:nvPr>
        </p:nvSpPr>
        <p:spPr>
          <a:xfrm>
            <a:off x="457200" y="1416684"/>
            <a:ext cx="8229600" cy="4939667"/>
          </a:xfrm>
        </p:spPr>
        <p:txBody>
          <a:bodyPr>
            <a:noAutofit/>
          </a:bodyPr>
          <a:lstStyle/>
          <a:p>
            <a:r>
              <a:rPr lang="en-US" sz="1800" dirty="0"/>
              <a:t>If we pass any variable x and its corresponding spatial object (e.g., </a:t>
            </a:r>
            <a:r>
              <a:rPr lang="en-US" sz="1800" i="1" dirty="0"/>
              <a:t>simple features</a:t>
            </a:r>
            <a:r>
              <a:rPr lang="en-US" sz="1800" dirty="0"/>
              <a:t>) to the </a:t>
            </a:r>
            <a:r>
              <a:rPr lang="en-US" sz="1800" b="1" dirty="0" err="1"/>
              <a:t>sp_diag</a:t>
            </a:r>
            <a:r>
              <a:rPr lang="en-US" sz="1800" b="1" dirty="0"/>
              <a:t> </a:t>
            </a:r>
            <a:r>
              <a:rPr lang="en-US" sz="1800" dirty="0"/>
              <a:t>function, it returns a histogram, Moran scatter plot, and map of the estimates:</a:t>
            </a:r>
          </a:p>
        </p:txBody>
      </p:sp>
      <p:sp>
        <p:nvSpPr>
          <p:cNvPr id="4" name="Slide Number Placeholder 3">
            <a:extLst>
              <a:ext uri="{FF2B5EF4-FFF2-40B4-BE49-F238E27FC236}">
                <a16:creationId xmlns:a16="http://schemas.microsoft.com/office/drawing/2014/main" id="{C11ECC80-AC18-A3FE-C652-14317D409C31}"/>
              </a:ext>
            </a:extLst>
          </p:cNvPr>
          <p:cNvSpPr>
            <a:spLocks noGrp="1"/>
          </p:cNvSpPr>
          <p:nvPr>
            <p:ph type="sldNum" sz="quarter" idx="12"/>
          </p:nvPr>
        </p:nvSpPr>
        <p:spPr/>
        <p:txBody>
          <a:bodyPr/>
          <a:lstStyle/>
          <a:p>
            <a:fld id="{C0343C75-1924-D247-85A3-0CB62E67E5D1}" type="slidenum">
              <a:rPr lang="en-US" smtClean="0"/>
              <a:t>9</a:t>
            </a:fld>
            <a:endParaRPr lang="en-US"/>
          </a:p>
        </p:txBody>
      </p:sp>
      <p:sp>
        <p:nvSpPr>
          <p:cNvPr id="5" name="Content Placeholder 2">
            <a:extLst>
              <a:ext uri="{FF2B5EF4-FFF2-40B4-BE49-F238E27FC236}">
                <a16:creationId xmlns:a16="http://schemas.microsoft.com/office/drawing/2014/main" id="{2F3C7D18-1B3D-1465-DB15-266C53B3C1EC}"/>
              </a:ext>
            </a:extLst>
          </p:cNvPr>
          <p:cNvSpPr txBox="1">
            <a:spLocks/>
          </p:cNvSpPr>
          <p:nvPr/>
        </p:nvSpPr>
        <p:spPr>
          <a:xfrm>
            <a:off x="457200" y="2511306"/>
            <a:ext cx="8229600" cy="40249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library(</a:t>
            </a:r>
            <a:r>
              <a:rPr lang="en-US" sz="1200" b="1" dirty="0" err="1">
                <a:latin typeface="Consolas" panose="020B0609020204030204" pitchFamily="49" charset="0"/>
                <a:cs typeface="Consolas" panose="020B0609020204030204" pitchFamily="49" charset="0"/>
              </a:rPr>
              <a:t>geostan</a:t>
            </a:r>
            <a:r>
              <a:rPr lang="en-US" sz="1200" b="1" dirty="0">
                <a:latin typeface="Consolas" panose="020B0609020204030204" pitchFamily="49" charset="0"/>
                <a:cs typeface="Consolas" panose="020B0609020204030204" pitchFamily="49" charset="0"/>
              </a:rPr>
              <a:t>)</a:t>
            </a: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library(ggplot2)</a:t>
            </a: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library(</a:t>
            </a:r>
            <a:r>
              <a:rPr lang="en-US" sz="1200" b="1" dirty="0" err="1">
                <a:latin typeface="Consolas" panose="020B0609020204030204" pitchFamily="49" charset="0"/>
                <a:cs typeface="Consolas" panose="020B0609020204030204" pitchFamily="49" charset="0"/>
              </a:rPr>
              <a:t>gridExtra</a:t>
            </a:r>
            <a:r>
              <a:rPr lang="en-US" sz="1200" b="1" dirty="0">
                <a:latin typeface="Consolas" panose="020B0609020204030204" pitchFamily="49" charset="0"/>
                <a:cs typeface="Consolas" panose="020B0609020204030204" pitchFamily="49" charset="0"/>
              </a:rPr>
              <a:t>)</a:t>
            </a: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data("</a:t>
            </a:r>
            <a:r>
              <a:rPr lang="en-US" sz="1200" b="1" dirty="0" err="1">
                <a:latin typeface="Consolas" panose="020B0609020204030204" pitchFamily="49" charset="0"/>
                <a:cs typeface="Consolas" panose="020B0609020204030204" pitchFamily="49" charset="0"/>
              </a:rPr>
              <a:t>georgia</a:t>
            </a:r>
            <a:r>
              <a:rPr lang="en-US" sz="1200" b="1" dirty="0">
                <a:latin typeface="Consolas" panose="020B0609020204030204" pitchFamily="49" charset="0"/>
                <a:cs typeface="Consolas" panose="020B0609020204030204" pitchFamily="49" charset="0"/>
              </a:rPr>
              <a:t>")</a:t>
            </a:r>
          </a:p>
          <a:p>
            <a:pPr marL="0" indent="0">
              <a:lnSpc>
                <a:spcPct val="100000"/>
              </a:lnSpc>
              <a:spcBef>
                <a:spcPts val="400"/>
              </a:spcBef>
              <a:buNone/>
            </a:pPr>
            <a:endParaRPr lang="en-US" sz="1200" b="1"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err="1">
                <a:highlight>
                  <a:srgbClr val="FFFF00"/>
                </a:highlight>
                <a:latin typeface="Consolas" panose="020B0609020204030204" pitchFamily="49" charset="0"/>
                <a:cs typeface="Consolas" panose="020B0609020204030204" pitchFamily="49" charset="0"/>
              </a:rPr>
              <a:t>sp_diag</a:t>
            </a:r>
            <a:r>
              <a:rPr lang="en-US" sz="1200" b="1" dirty="0">
                <a:highlight>
                  <a:srgbClr val="FFFF00"/>
                </a:highlight>
                <a:latin typeface="Consolas" panose="020B0609020204030204" pitchFamily="49" charset="0"/>
                <a:cs typeface="Consolas" panose="020B0609020204030204" pitchFamily="49" charset="0"/>
              </a:rPr>
              <a:t>(</a:t>
            </a:r>
            <a:r>
              <a:rPr lang="en-US" sz="1200" b="1" dirty="0" err="1">
                <a:highlight>
                  <a:srgbClr val="FFFF00"/>
                </a:highlight>
                <a:latin typeface="Consolas" panose="020B0609020204030204" pitchFamily="49" charset="0"/>
                <a:cs typeface="Consolas" panose="020B0609020204030204" pitchFamily="49" charset="0"/>
              </a:rPr>
              <a:t>georgia$college</a:t>
            </a:r>
            <a:r>
              <a:rPr lang="en-US" sz="1200" b="1" dirty="0">
                <a:highlight>
                  <a:srgbClr val="FFFF00"/>
                </a:highlight>
                <a:latin typeface="Consolas" panose="020B0609020204030204" pitchFamily="49" charset="0"/>
                <a:cs typeface="Consolas" panose="020B0609020204030204" pitchFamily="49" charset="0"/>
              </a:rPr>
              <a:t>, </a:t>
            </a:r>
            <a:r>
              <a:rPr lang="en-US" sz="1200" b="1" dirty="0" err="1">
                <a:highlight>
                  <a:srgbClr val="FFFF00"/>
                </a:highlight>
                <a:latin typeface="Consolas" panose="020B0609020204030204" pitchFamily="49" charset="0"/>
                <a:cs typeface="Consolas" panose="020B0609020204030204" pitchFamily="49" charset="0"/>
              </a:rPr>
              <a:t>georgia</a:t>
            </a:r>
            <a:r>
              <a:rPr lang="en-US" sz="1200" b="1" dirty="0">
                <a:highlight>
                  <a:srgbClr val="FFFF00"/>
                </a:highlight>
                <a:latin typeface="Consolas" panose="020B0609020204030204" pitchFamily="49" charset="0"/>
                <a:cs typeface="Consolas" panose="020B0609020204030204" pitchFamily="49" charset="0"/>
              </a:rPr>
              <a:t>, name = "College (%)")</a:t>
            </a:r>
          </a:p>
        </p:txBody>
      </p:sp>
      <p:sp>
        <p:nvSpPr>
          <p:cNvPr id="6" name="TextBox 5">
            <a:extLst>
              <a:ext uri="{FF2B5EF4-FFF2-40B4-BE49-F238E27FC236}">
                <a16:creationId xmlns:a16="http://schemas.microsoft.com/office/drawing/2014/main" id="{D83C3E2E-EC8D-76C3-980E-B0A912CB3036}"/>
              </a:ext>
            </a:extLst>
          </p:cNvPr>
          <p:cNvSpPr txBox="1"/>
          <p:nvPr/>
        </p:nvSpPr>
        <p:spPr>
          <a:xfrm>
            <a:off x="3724525" y="2327105"/>
            <a:ext cx="1694951" cy="369332"/>
          </a:xfrm>
          <a:prstGeom prst="rect">
            <a:avLst/>
          </a:prstGeom>
          <a:solidFill>
            <a:srgbClr val="C00000"/>
          </a:solidFill>
        </p:spPr>
        <p:txBody>
          <a:bodyPr wrap="none" rtlCol="0" anchor="ctr">
            <a:spAutoFit/>
          </a:bodyPr>
          <a:lstStyle/>
          <a:p>
            <a:pPr algn="ctr"/>
            <a:r>
              <a:rPr lang="en-US" dirty="0">
                <a:solidFill>
                  <a:schemeClr val="bg1"/>
                </a:solidFill>
              </a:rPr>
              <a:t>Example 2 </a:t>
            </a:r>
            <a:r>
              <a:rPr lang="en-US" baseline="30000" dirty="0">
                <a:solidFill>
                  <a:schemeClr val="bg1"/>
                </a:solidFill>
              </a:rPr>
              <a:t>(cont.)</a:t>
            </a:r>
          </a:p>
        </p:txBody>
      </p:sp>
      <p:pic>
        <p:nvPicPr>
          <p:cNvPr id="7" name="Picture 6">
            <a:extLst>
              <a:ext uri="{FF2B5EF4-FFF2-40B4-BE49-F238E27FC236}">
                <a16:creationId xmlns:a16="http://schemas.microsoft.com/office/drawing/2014/main" id="{C4B1D7CC-74E0-32B8-0ECF-5C12F2B15F33}"/>
              </a:ext>
            </a:extLst>
          </p:cNvPr>
          <p:cNvPicPr>
            <a:picLocks noChangeAspect="1"/>
          </p:cNvPicPr>
          <p:nvPr/>
        </p:nvPicPr>
        <p:blipFill>
          <a:blip r:embed="rId2"/>
          <a:stretch>
            <a:fillRect/>
          </a:stretch>
        </p:blipFill>
        <p:spPr>
          <a:xfrm>
            <a:off x="685800" y="4161563"/>
            <a:ext cx="7772400" cy="2374704"/>
          </a:xfrm>
          <a:prstGeom prst="rect">
            <a:avLst/>
          </a:prstGeom>
        </p:spPr>
      </p:pic>
    </p:spTree>
    <p:extLst>
      <p:ext uri="{BB962C8B-B14F-4D97-AF65-F5344CB8AC3E}">
        <p14:creationId xmlns:p14="http://schemas.microsoft.com/office/powerpoint/2010/main" val="2149050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46FAF-0A58-A3BA-74A8-936E0A3F716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01CEB3-889F-0CF7-5429-63BD8F57861C}"/>
              </a:ext>
            </a:extLst>
          </p:cNvPr>
          <p:cNvSpPr>
            <a:spLocks noGrp="1"/>
          </p:cNvSpPr>
          <p:nvPr>
            <p:ph idx="1"/>
          </p:nvPr>
        </p:nvSpPr>
        <p:spPr>
          <a:xfrm>
            <a:off x="457200" y="321734"/>
            <a:ext cx="8229600" cy="6034618"/>
          </a:xfrm>
        </p:spPr>
        <p:txBody>
          <a:bodyPr>
            <a:noAutofit/>
          </a:bodyPr>
          <a:lstStyle/>
          <a:p>
            <a:pPr marL="0" indent="0">
              <a:buNone/>
            </a:pPr>
            <a:r>
              <a:rPr lang="en-US" sz="1800" b="1" dirty="0"/>
              <a:t>Spatial Lag</a:t>
            </a:r>
          </a:p>
          <a:p>
            <a:r>
              <a:rPr lang="en-US" sz="1800" dirty="0"/>
              <a:t>The spatial lag (y-axis) represents the </a:t>
            </a:r>
            <a:r>
              <a:rPr lang="en-US" sz="1800" u="sng" dirty="0"/>
              <a:t>average value</a:t>
            </a:r>
            <a:r>
              <a:rPr lang="en-US" sz="1800" dirty="0"/>
              <a:t> of the variable in neighboring locations for each observation.</a:t>
            </a:r>
          </a:p>
          <a:p>
            <a:pPr lvl="1"/>
            <a:r>
              <a:rPr lang="en-US" sz="1600" dirty="0"/>
              <a:t>In this case, for each county, it is the average College (%) of its neighboring counties.</a:t>
            </a:r>
          </a:p>
          <a:p>
            <a:pPr lvl="1"/>
            <a:r>
              <a:rPr lang="en-US" sz="1600" dirty="0"/>
              <a:t>It provides a way to compare a location's value (x-axis) with the surrounding context.</a:t>
            </a:r>
          </a:p>
          <a:p>
            <a:pPr lvl="2"/>
            <a:r>
              <a:rPr lang="en-US" sz="1600" dirty="0"/>
              <a:t>Points along the upward trend indicate that counties with high (or low) college attainment tend to be surrounded by similar counties.</a:t>
            </a:r>
          </a:p>
          <a:p>
            <a:pPr lvl="2"/>
            <a:r>
              <a:rPr lang="en-US" sz="1600" dirty="0"/>
              <a:t>Points far from the trend suggest local anomalies (e.g., a county very different from its neighbors).</a:t>
            </a:r>
          </a:p>
          <a:p>
            <a:pPr lvl="1"/>
            <a:r>
              <a:rPr lang="en-US" sz="1600" b="1" dirty="0"/>
              <a:t>Spatial Weights Matrix </a:t>
            </a:r>
            <a:r>
              <a:rPr lang="en-US" sz="1600" dirty="0"/>
              <a:t>(𝑊): Defines the structure of the neighborhood.</a:t>
            </a:r>
            <a:br>
              <a:rPr lang="en-US" sz="1600" dirty="0"/>
            </a:br>
            <a:r>
              <a:rPr lang="en-US" sz="1600" dirty="0"/>
              <a:t>Common types include connectivity </a:t>
            </a:r>
            <a:r>
              <a:rPr lang="en-US" sz="1600" baseline="30000" dirty="0"/>
              <a:t>(neighbors get equal weight)</a:t>
            </a:r>
            <a:r>
              <a:rPr lang="en-US" sz="1600" dirty="0"/>
              <a:t> and inverse distance </a:t>
            </a:r>
            <a:r>
              <a:rPr lang="en-US" sz="1600" baseline="30000" dirty="0"/>
              <a:t>(closer neighbors get higher weight)</a:t>
            </a:r>
            <a:r>
              <a:rPr lang="en-US" sz="1600" dirty="0"/>
              <a:t>.</a:t>
            </a:r>
          </a:p>
        </p:txBody>
      </p:sp>
      <p:sp>
        <p:nvSpPr>
          <p:cNvPr id="4" name="Slide Number Placeholder 3">
            <a:extLst>
              <a:ext uri="{FF2B5EF4-FFF2-40B4-BE49-F238E27FC236}">
                <a16:creationId xmlns:a16="http://schemas.microsoft.com/office/drawing/2014/main" id="{57B853FC-DD10-4B16-03F6-972DC000AC14}"/>
              </a:ext>
            </a:extLst>
          </p:cNvPr>
          <p:cNvSpPr>
            <a:spLocks noGrp="1"/>
          </p:cNvSpPr>
          <p:nvPr>
            <p:ph type="sldNum" sz="quarter" idx="12"/>
          </p:nvPr>
        </p:nvSpPr>
        <p:spPr/>
        <p:txBody>
          <a:bodyPr/>
          <a:lstStyle/>
          <a:p>
            <a:fld id="{C0343C75-1924-D247-85A3-0CB62E67E5D1}" type="slidenum">
              <a:rPr lang="en-US" smtClean="0"/>
              <a:t>10</a:t>
            </a:fld>
            <a:endParaRPr lang="en-US"/>
          </a:p>
        </p:txBody>
      </p:sp>
      <p:pic>
        <p:nvPicPr>
          <p:cNvPr id="7" name="Picture 6">
            <a:extLst>
              <a:ext uri="{FF2B5EF4-FFF2-40B4-BE49-F238E27FC236}">
                <a16:creationId xmlns:a16="http://schemas.microsoft.com/office/drawing/2014/main" id="{54150E02-77AB-34E3-2408-B2D0C61AC0BA}"/>
              </a:ext>
            </a:extLst>
          </p:cNvPr>
          <p:cNvPicPr>
            <a:picLocks noChangeAspect="1"/>
          </p:cNvPicPr>
          <p:nvPr/>
        </p:nvPicPr>
        <p:blipFill>
          <a:blip r:embed="rId2"/>
          <a:stretch>
            <a:fillRect/>
          </a:stretch>
        </p:blipFill>
        <p:spPr>
          <a:xfrm>
            <a:off x="685800" y="4161563"/>
            <a:ext cx="7772400" cy="2374704"/>
          </a:xfrm>
          <a:prstGeom prst="rect">
            <a:avLst/>
          </a:prstGeom>
        </p:spPr>
      </p:pic>
      <p:sp>
        <p:nvSpPr>
          <p:cNvPr id="10" name="Oval 9">
            <a:extLst>
              <a:ext uri="{FF2B5EF4-FFF2-40B4-BE49-F238E27FC236}">
                <a16:creationId xmlns:a16="http://schemas.microsoft.com/office/drawing/2014/main" id="{D9A2F6D5-AB38-EBAA-C89F-A584B3410B67}"/>
              </a:ext>
            </a:extLst>
          </p:cNvPr>
          <p:cNvSpPr>
            <a:spLocks/>
          </p:cNvSpPr>
          <p:nvPr/>
        </p:nvSpPr>
        <p:spPr>
          <a:xfrm>
            <a:off x="3088640" y="3795396"/>
            <a:ext cx="3017520" cy="2926080"/>
          </a:xfrm>
          <a:prstGeom prst="ellipse">
            <a:avLst/>
          </a:prstGeom>
          <a:solidFill>
            <a:srgbClr val="FFC000">
              <a:alpha val="5098"/>
            </a:srgbClr>
          </a:solidFill>
          <a:ln w="38100">
            <a:solidFill>
              <a:srgbClr val="C00000">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699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8C315-5B6C-D906-C41F-35B799FB00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2D4046-124A-CF2B-5CC1-7CB0B2F5B45E}"/>
              </a:ext>
            </a:extLst>
          </p:cNvPr>
          <p:cNvSpPr>
            <a:spLocks noGrp="1"/>
          </p:cNvSpPr>
          <p:nvPr>
            <p:ph idx="1"/>
          </p:nvPr>
        </p:nvSpPr>
        <p:spPr>
          <a:xfrm>
            <a:off x="457200" y="321734"/>
            <a:ext cx="8229600" cy="6034618"/>
          </a:xfrm>
        </p:spPr>
        <p:txBody>
          <a:bodyPr>
            <a:noAutofit/>
          </a:bodyPr>
          <a:lstStyle/>
          <a:p>
            <a:pPr marL="0" indent="0">
              <a:buNone/>
            </a:pPr>
            <a:r>
              <a:rPr lang="en-US" sz="1800" b="1" dirty="0"/>
              <a:t>Spatial Weights Matrix</a:t>
            </a:r>
          </a:p>
          <a:p>
            <a:r>
              <a:rPr lang="en-US" sz="1400" dirty="0"/>
              <a:t>To summarize spatial information for the purpose of data analysis, we use an 𝑁×𝑁 matrix, which we will call 𝑊.</a:t>
            </a:r>
          </a:p>
          <a:p>
            <a:r>
              <a:rPr lang="en-US" sz="1400" dirty="0"/>
              <a:t>Given some focal point/area on the map, the term "neighbor" will refer to any other area that is considered geographically 'near'.</a:t>
            </a:r>
          </a:p>
          <a:p>
            <a:r>
              <a:rPr lang="en-US" sz="1400" dirty="0"/>
              <a:t>The meaning is context specific, but with areal data the most common choice is to say that all areas whose borders touch each other are neighbors. Sometimes a distance threshold is used.</a:t>
            </a:r>
          </a:p>
          <a:p>
            <a:pPr lvl="1"/>
            <a:r>
              <a:rPr lang="en-US" sz="1400" dirty="0"/>
              <a:t>"B" for binary; use "W" for row-standardized weights.</a:t>
            </a:r>
          </a:p>
          <a:p>
            <a:pPr lvl="1"/>
            <a:r>
              <a:rPr lang="en-US" sz="1400" dirty="0"/>
              <a:t>Method for determining neighbors:</a:t>
            </a:r>
          </a:p>
          <a:p>
            <a:pPr lvl="2"/>
            <a:r>
              <a:rPr lang="en-US" sz="1400" b="1" dirty="0"/>
              <a:t>queen</a:t>
            </a:r>
            <a:r>
              <a:rPr lang="en-US" sz="1400" dirty="0"/>
              <a:t>, </a:t>
            </a:r>
            <a:r>
              <a:rPr lang="en-US" sz="1400" b="1" dirty="0"/>
              <a:t>rook</a:t>
            </a:r>
            <a:r>
              <a:rPr lang="en-US" sz="1400" dirty="0"/>
              <a:t>, or </a:t>
            </a:r>
            <a:r>
              <a:rPr lang="en-US" sz="1400" b="1" dirty="0"/>
              <a:t>k-nearest</a:t>
            </a:r>
            <a:r>
              <a:rPr lang="en-US" sz="1400" dirty="0"/>
              <a:t> neighbors</a:t>
            </a:r>
            <a:br>
              <a:rPr lang="en-US" sz="1400" dirty="0"/>
            </a:br>
            <a:r>
              <a:rPr lang="en-US" sz="1400" dirty="0"/>
              <a:t>(see details </a:t>
            </a:r>
            <a:r>
              <a:rPr lang="en-US" sz="1400" b="1" dirty="0"/>
              <a:t>?shape2mat </a:t>
            </a:r>
            <a:r>
              <a:rPr lang="en-US" sz="1400" dirty="0"/>
              <a:t>for more information)</a:t>
            </a:r>
          </a:p>
          <a:p>
            <a:pPr lvl="1"/>
            <a:endParaRPr lang="en-US" sz="1400" dirty="0"/>
          </a:p>
        </p:txBody>
      </p:sp>
      <p:sp>
        <p:nvSpPr>
          <p:cNvPr id="4" name="Slide Number Placeholder 3">
            <a:extLst>
              <a:ext uri="{FF2B5EF4-FFF2-40B4-BE49-F238E27FC236}">
                <a16:creationId xmlns:a16="http://schemas.microsoft.com/office/drawing/2014/main" id="{525C8707-1682-75F9-26E4-763F502336C4}"/>
              </a:ext>
            </a:extLst>
          </p:cNvPr>
          <p:cNvSpPr>
            <a:spLocks noGrp="1"/>
          </p:cNvSpPr>
          <p:nvPr>
            <p:ph type="sldNum" sz="quarter" idx="12"/>
          </p:nvPr>
        </p:nvSpPr>
        <p:spPr/>
        <p:txBody>
          <a:bodyPr/>
          <a:lstStyle/>
          <a:p>
            <a:fld id="{C0343C75-1924-D247-85A3-0CB62E67E5D1}" type="slidenum">
              <a:rPr lang="en-US" smtClean="0"/>
              <a:t>11</a:t>
            </a:fld>
            <a:endParaRPr lang="en-US"/>
          </a:p>
        </p:txBody>
      </p:sp>
      <p:sp>
        <p:nvSpPr>
          <p:cNvPr id="5" name="Content Placeholder 2">
            <a:extLst>
              <a:ext uri="{FF2B5EF4-FFF2-40B4-BE49-F238E27FC236}">
                <a16:creationId xmlns:a16="http://schemas.microsoft.com/office/drawing/2014/main" id="{BBD788FB-DF5B-9A0E-6526-6CC5E6CB5BB9}"/>
              </a:ext>
            </a:extLst>
          </p:cNvPr>
          <p:cNvSpPr txBox="1">
            <a:spLocks/>
          </p:cNvSpPr>
          <p:nvPr/>
        </p:nvSpPr>
        <p:spPr>
          <a:xfrm>
            <a:off x="457200" y="3934885"/>
            <a:ext cx="8229600" cy="24214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W &lt;- shape2mat(</a:t>
            </a:r>
            <a:r>
              <a:rPr lang="en-US" sz="1200" b="1" dirty="0" err="1">
                <a:latin typeface="Consolas" panose="020B0609020204030204" pitchFamily="49" charset="0"/>
                <a:cs typeface="Consolas" panose="020B0609020204030204" pitchFamily="49" charset="0"/>
              </a:rPr>
              <a:t>georgia</a:t>
            </a:r>
            <a:r>
              <a:rPr lang="en-US" sz="1200" b="1" dirty="0">
                <a:latin typeface="Consolas" panose="020B0609020204030204" pitchFamily="49" charset="0"/>
                <a:cs typeface="Consolas" panose="020B0609020204030204" pitchFamily="49" charset="0"/>
              </a:rPr>
              <a:t>, style = "W")</a:t>
            </a:r>
          </a:p>
          <a:p>
            <a:pPr marL="0" indent="0">
              <a:lnSpc>
                <a:spcPct val="100000"/>
              </a:lnSpc>
              <a:spcBef>
                <a:spcPts val="400"/>
              </a:spcBef>
              <a:buNone/>
            </a:pPr>
            <a:endParaRPr lang="en-US" sz="1200" dirty="0">
              <a:solidFill>
                <a:schemeClr val="tx1">
                  <a:lumMod val="65000"/>
                  <a:lumOff val="3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Contiguity condition: queen</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Number of neighbors per unit, summary:</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Min. 1st Qu.  Median    Mean 3rd Qu.    Max. </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1.000   4.000   5.000   5.409   6.000  10.000 </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Spatial weights, summary:</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Min. 1st Qu.  Median    Mean 3rd Qu.    Max. </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0.1000  0.1429  0.1667  0.1849  0.2000  1.0000</a:t>
            </a:r>
          </a:p>
        </p:txBody>
      </p:sp>
      <p:sp>
        <p:nvSpPr>
          <p:cNvPr id="6" name="TextBox 5">
            <a:extLst>
              <a:ext uri="{FF2B5EF4-FFF2-40B4-BE49-F238E27FC236}">
                <a16:creationId xmlns:a16="http://schemas.microsoft.com/office/drawing/2014/main" id="{B84E3C50-03DD-0FE6-C527-20B427B67260}"/>
              </a:ext>
            </a:extLst>
          </p:cNvPr>
          <p:cNvSpPr txBox="1"/>
          <p:nvPr/>
        </p:nvSpPr>
        <p:spPr>
          <a:xfrm>
            <a:off x="3964174" y="3744925"/>
            <a:ext cx="1215654" cy="369332"/>
          </a:xfrm>
          <a:prstGeom prst="rect">
            <a:avLst/>
          </a:prstGeom>
          <a:solidFill>
            <a:srgbClr val="C00000"/>
          </a:solidFill>
        </p:spPr>
        <p:txBody>
          <a:bodyPr wrap="none" rtlCol="0" anchor="ctr">
            <a:spAutoFit/>
          </a:bodyPr>
          <a:lstStyle/>
          <a:p>
            <a:pPr algn="ctr"/>
            <a:r>
              <a:rPr lang="en-US" dirty="0">
                <a:solidFill>
                  <a:schemeClr val="bg1"/>
                </a:solidFill>
              </a:rPr>
              <a:t>Example 2</a:t>
            </a:r>
          </a:p>
        </p:txBody>
      </p:sp>
      <p:pic>
        <p:nvPicPr>
          <p:cNvPr id="2" name="Picture 1">
            <a:extLst>
              <a:ext uri="{FF2B5EF4-FFF2-40B4-BE49-F238E27FC236}">
                <a16:creationId xmlns:a16="http://schemas.microsoft.com/office/drawing/2014/main" id="{6F480C96-53B8-E7D9-6A56-B32024C9074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126480" y="2643901"/>
            <a:ext cx="2560320" cy="1570197"/>
          </a:xfrm>
          <a:prstGeom prst="rect">
            <a:avLst/>
          </a:prstGeom>
        </p:spPr>
      </p:pic>
      <p:pic>
        <p:nvPicPr>
          <p:cNvPr id="7" name="Picture 6">
            <a:extLst>
              <a:ext uri="{FF2B5EF4-FFF2-40B4-BE49-F238E27FC236}">
                <a16:creationId xmlns:a16="http://schemas.microsoft.com/office/drawing/2014/main" id="{18A8388F-EC5F-161D-373E-C8FF9DFC41E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397893" y="4794065"/>
            <a:ext cx="3288907" cy="1197162"/>
          </a:xfrm>
          <a:prstGeom prst="rect">
            <a:avLst/>
          </a:prstGeom>
        </p:spPr>
      </p:pic>
    </p:spTree>
    <p:extLst>
      <p:ext uri="{BB962C8B-B14F-4D97-AF65-F5344CB8AC3E}">
        <p14:creationId xmlns:p14="http://schemas.microsoft.com/office/powerpoint/2010/main" val="561031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B4AC9-E013-34E7-B669-1BA43A382C9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397204-3486-4D4B-4E37-345AF98CDAF7}"/>
                  </a:ext>
                </a:extLst>
              </p:cNvPr>
              <p:cNvSpPr>
                <a:spLocks noGrp="1"/>
              </p:cNvSpPr>
              <p:nvPr>
                <p:ph idx="1"/>
              </p:nvPr>
            </p:nvSpPr>
            <p:spPr>
              <a:xfrm>
                <a:off x="457200" y="321734"/>
                <a:ext cx="8229600" cy="6034618"/>
              </a:xfrm>
            </p:spPr>
            <p:txBody>
              <a:bodyPr>
                <a:noAutofit/>
              </a:bodyPr>
              <a:lstStyle/>
              <a:p>
                <a:pPr marL="0" indent="0">
                  <a:buNone/>
                </a:pPr>
                <a:r>
                  <a:rPr lang="en-US" sz="1800" b="1" dirty="0"/>
                  <a:t>Spatial Lag</a:t>
                </a:r>
              </a:p>
              <a:p>
                <a:r>
                  <a:rPr lang="en-US" sz="1600" dirty="0"/>
                  <a:t>To calculate the spatial lag for a specific location, we use this formula:</a:t>
                </a:r>
              </a:p>
              <a:p>
                <a:pPr lvl="1"/>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𝑦</m:t>
                        </m:r>
                      </m:e>
                      <m:sub>
                        <m:r>
                          <a:rPr lang="en-US" sz="1600" b="0" i="1" smtClean="0">
                            <a:latin typeface="Cambria Math" panose="02040503050406030204" pitchFamily="18" charset="0"/>
                          </a:rPr>
                          <m:t>𝑙𝑎𝑔</m:t>
                        </m:r>
                        <m:r>
                          <a:rPr lang="en-US" sz="1600" b="0" i="1" smtClean="0">
                            <a:latin typeface="Cambria Math" panose="02040503050406030204" pitchFamily="18" charset="0"/>
                          </a:rPr>
                          <m:t>,</m:t>
                        </m:r>
                        <m:r>
                          <a:rPr lang="en-US" sz="1600" b="0" i="1" smtClean="0">
                            <a:latin typeface="Cambria Math" panose="02040503050406030204" pitchFamily="18" charset="0"/>
                          </a:rPr>
                          <m:t>𝑖</m:t>
                        </m:r>
                      </m:sub>
                    </m:sSub>
                    <m:r>
                      <a:rPr lang="en-US" sz="1600" b="0" i="1" smtClean="0">
                        <a:latin typeface="Cambria Math" panose="02040503050406030204" pitchFamily="18" charset="0"/>
                      </a:rPr>
                      <m:t>=</m:t>
                    </m:r>
                    <m:nary>
                      <m:naryPr>
                        <m:chr m:val="∑"/>
                        <m:ctrlPr>
                          <a:rPr lang="en-US" sz="1600" b="0" i="1" smtClean="0">
                            <a:latin typeface="Cambria Math" panose="02040503050406030204" pitchFamily="18" charset="0"/>
                          </a:rPr>
                        </m:ctrlPr>
                      </m:naryPr>
                      <m:sub>
                        <m:r>
                          <m:rPr>
                            <m:brk m:alnAt="23"/>
                          </m:rPr>
                          <a:rPr lang="en-US" sz="1600" b="0" i="1" smtClean="0">
                            <a:latin typeface="Cambria Math" panose="02040503050406030204" pitchFamily="18" charset="0"/>
                          </a:rPr>
                          <m:t>𝑗</m:t>
                        </m:r>
                        <m:r>
                          <a:rPr lang="en-US" sz="1600" b="0" i="1" smtClean="0">
                            <a:latin typeface="Cambria Math" panose="02040503050406030204" pitchFamily="18" charset="0"/>
                          </a:rPr>
                          <m:t>=1</m:t>
                        </m:r>
                      </m:sub>
                      <m:sup>
                        <m:r>
                          <a:rPr lang="en-US" sz="1600" b="0" i="1" smtClean="0">
                            <a:latin typeface="Cambria Math" panose="02040503050406030204" pitchFamily="18" charset="0"/>
                          </a:rPr>
                          <m:t>𝑛</m:t>
                        </m:r>
                      </m:sup>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𝑖𝑗</m:t>
                            </m:r>
                          </m:sub>
                        </m:sSub>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𝑦</m:t>
                            </m:r>
                          </m:e>
                          <m:sub>
                            <m:r>
                              <a:rPr lang="en-US" sz="1600" b="0" i="1" smtClean="0">
                                <a:latin typeface="Cambria Math" panose="02040503050406030204" pitchFamily="18" charset="0"/>
                              </a:rPr>
                              <m:t>𝑗</m:t>
                            </m:r>
                          </m:sub>
                        </m:sSub>
                      </m:e>
                    </m:nary>
                  </m:oMath>
                </a14:m>
                <a:endParaRPr lang="en-US" sz="1600" dirty="0"/>
              </a:p>
              <a:p>
                <a:pPr lvl="2"/>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𝑙𝑎𝑔</m:t>
                        </m:r>
                        <m:r>
                          <a:rPr lang="en-US" sz="1600" i="1">
                            <a:latin typeface="Cambria Math" panose="02040503050406030204" pitchFamily="18" charset="0"/>
                          </a:rPr>
                          <m:t>,</m:t>
                        </m:r>
                        <m:r>
                          <a:rPr lang="en-US" sz="1600" i="1">
                            <a:latin typeface="Cambria Math" panose="02040503050406030204" pitchFamily="18" charset="0"/>
                          </a:rPr>
                          <m:t>𝑖</m:t>
                        </m:r>
                      </m:sub>
                    </m:sSub>
                  </m:oMath>
                </a14:m>
                <a:r>
                  <a:rPr lang="en-US" sz="1600" dirty="0"/>
                  <a:t> is the spatial lag value for location </a:t>
                </a:r>
                <a14:m>
                  <m:oMath xmlns:m="http://schemas.openxmlformats.org/officeDocument/2006/math">
                    <m:r>
                      <a:rPr lang="en-US" sz="1600" b="0" i="1" smtClean="0">
                        <a:latin typeface="Cambria Math" panose="02040503050406030204" pitchFamily="18" charset="0"/>
                      </a:rPr>
                      <m:t>𝑖</m:t>
                    </m:r>
                  </m:oMath>
                </a14:m>
                <a:endParaRPr lang="en-US" sz="1600" i="1" dirty="0"/>
              </a:p>
              <a:p>
                <a:pPr lvl="2"/>
                <a:r>
                  <a:rPr lang="en-US" sz="1600" dirty="0"/>
                  <a:t>The summation adds up the weighted values of all neighbors.</a:t>
                </a:r>
              </a:p>
              <a:p>
                <a:pPr lvl="2"/>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a:rPr lang="en-US" sz="1600" i="1">
                            <a:latin typeface="Cambria Math" panose="02040503050406030204" pitchFamily="18" charset="0"/>
                          </a:rPr>
                          <m:t>𝑖𝑗</m:t>
                        </m:r>
                      </m:sub>
                    </m:sSub>
                  </m:oMath>
                </a14:m>
                <a:r>
                  <a:rPr lang="en-US" sz="1600" dirty="0"/>
                  <a:t> is the spatial weight.</a:t>
                </a:r>
              </a:p>
              <a:p>
                <a:pPr lvl="4"/>
                <a:r>
                  <a:rPr lang="en-US" sz="1400" dirty="0"/>
                  <a:t>This number tells how much location </a:t>
                </a:r>
                <a14:m>
                  <m:oMath xmlns:m="http://schemas.openxmlformats.org/officeDocument/2006/math">
                    <m:r>
                      <a:rPr lang="en-US" sz="1400" b="0" i="1" smtClean="0">
                        <a:latin typeface="Cambria Math" panose="02040503050406030204" pitchFamily="18" charset="0"/>
                      </a:rPr>
                      <m:t>𝑗</m:t>
                    </m:r>
                  </m:oMath>
                </a14:m>
                <a:r>
                  <a:rPr lang="en-US" sz="1400" dirty="0"/>
                  <a:t> influences location </a:t>
                </a:r>
                <a14:m>
                  <m:oMath xmlns:m="http://schemas.openxmlformats.org/officeDocument/2006/math">
                    <m:r>
                      <a:rPr lang="en-US" sz="1400" i="1">
                        <a:latin typeface="Cambria Math" panose="02040503050406030204" pitchFamily="18" charset="0"/>
                      </a:rPr>
                      <m:t>𝑖</m:t>
                    </m:r>
                  </m:oMath>
                </a14:m>
                <a:endParaRPr lang="en-US" sz="1400" dirty="0"/>
              </a:p>
              <a:p>
                <a:pPr lvl="4"/>
                <a:r>
                  <a:rPr lang="en-US" sz="1400" dirty="0"/>
                  <a:t>If they are neighbors, </a:t>
                </a:r>
                <a14:m>
                  <m:oMath xmlns:m="http://schemas.openxmlformats.org/officeDocument/2006/math">
                    <m:r>
                      <a:rPr lang="en-US" sz="1400" b="0" i="1" smtClean="0">
                        <a:latin typeface="Cambria Math" panose="02040503050406030204" pitchFamily="18" charset="0"/>
                      </a:rPr>
                      <m:t>𝑤</m:t>
                    </m:r>
                  </m:oMath>
                </a14:m>
                <a:r>
                  <a:rPr lang="en-US" sz="1400" dirty="0"/>
                  <a:t> might be 1 (or a fraction)</a:t>
                </a:r>
              </a:p>
              <a:p>
                <a:pPr lvl="4"/>
                <a:r>
                  <a:rPr lang="en-US" sz="1400" dirty="0"/>
                  <a:t>If they are far apart, </a:t>
                </a:r>
                <a14:m>
                  <m:oMath xmlns:m="http://schemas.openxmlformats.org/officeDocument/2006/math">
                    <m:r>
                      <a:rPr lang="en-US" sz="1400" i="1">
                        <a:latin typeface="Cambria Math" panose="02040503050406030204" pitchFamily="18" charset="0"/>
                      </a:rPr>
                      <m:t>𝑤</m:t>
                    </m:r>
                    <m:r>
                      <a:rPr lang="en-US" sz="1400" b="0" i="1" smtClean="0">
                        <a:latin typeface="Cambria Math" panose="02040503050406030204" pitchFamily="18" charset="0"/>
                      </a:rPr>
                      <m:t>=0</m:t>
                    </m:r>
                  </m:oMath>
                </a14:m>
                <a:endParaRPr lang="en-US" sz="1400" dirty="0"/>
              </a:p>
              <a:p>
                <a:pPr lvl="2"/>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𝑗</m:t>
                        </m:r>
                      </m:sub>
                    </m:sSub>
                  </m:oMath>
                </a14:m>
                <a:r>
                  <a:rPr lang="en-US" sz="1600" dirty="0"/>
                  <a:t> is the actual value of the variable (like price or temperature) at the neighboring location </a:t>
                </a:r>
                <a14:m>
                  <m:oMath xmlns:m="http://schemas.openxmlformats.org/officeDocument/2006/math">
                    <m:r>
                      <a:rPr lang="en-US" sz="1600" b="0" i="1" smtClean="0">
                        <a:latin typeface="Cambria Math" panose="02040503050406030204" pitchFamily="18" charset="0"/>
                      </a:rPr>
                      <m:t>𝑗</m:t>
                    </m:r>
                  </m:oMath>
                </a14:m>
                <a:r>
                  <a:rPr lang="en-US" sz="1600" dirty="0"/>
                  <a:t>.</a:t>
                </a:r>
              </a:p>
              <a:p>
                <a:endParaRPr lang="en-US" sz="1600" dirty="0"/>
              </a:p>
            </p:txBody>
          </p:sp>
        </mc:Choice>
        <mc:Fallback xmlns="">
          <p:sp>
            <p:nvSpPr>
              <p:cNvPr id="3" name="Content Placeholder 2">
                <a:extLst>
                  <a:ext uri="{FF2B5EF4-FFF2-40B4-BE49-F238E27FC236}">
                    <a16:creationId xmlns:a16="http://schemas.microsoft.com/office/drawing/2014/main" id="{45397204-3486-4D4B-4E37-345AF98CDAF7}"/>
                  </a:ext>
                </a:extLst>
              </p:cNvPr>
              <p:cNvSpPr>
                <a:spLocks noGrp="1" noRot="1" noChangeAspect="1" noMove="1" noResize="1" noEditPoints="1" noAdjustHandles="1" noChangeArrowheads="1" noChangeShapeType="1" noTextEdit="1"/>
              </p:cNvSpPr>
              <p:nvPr>
                <p:ph idx="1"/>
              </p:nvPr>
            </p:nvSpPr>
            <p:spPr>
              <a:xfrm>
                <a:off x="457200" y="321734"/>
                <a:ext cx="8229600" cy="6034618"/>
              </a:xfrm>
              <a:blipFill>
                <a:blip r:embed="rId2"/>
                <a:stretch>
                  <a:fillRect l="-617" t="-84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1DE766B-631B-B892-AF71-95EE436C24F9}"/>
              </a:ext>
            </a:extLst>
          </p:cNvPr>
          <p:cNvSpPr>
            <a:spLocks noGrp="1"/>
          </p:cNvSpPr>
          <p:nvPr>
            <p:ph type="sldNum" sz="quarter" idx="12"/>
          </p:nvPr>
        </p:nvSpPr>
        <p:spPr/>
        <p:txBody>
          <a:bodyPr/>
          <a:lstStyle/>
          <a:p>
            <a:fld id="{C0343C75-1924-D247-85A3-0CB62E67E5D1}" type="slidenum">
              <a:rPr lang="en-US" smtClean="0"/>
              <a:t>12</a:t>
            </a:fld>
            <a:endParaRPr lang="en-US"/>
          </a:p>
        </p:txBody>
      </p:sp>
      <p:pic>
        <p:nvPicPr>
          <p:cNvPr id="7" name="Picture 6">
            <a:extLst>
              <a:ext uri="{FF2B5EF4-FFF2-40B4-BE49-F238E27FC236}">
                <a16:creationId xmlns:a16="http://schemas.microsoft.com/office/drawing/2014/main" id="{2305377F-ED7D-F060-7EBE-BC1A44715FEA}"/>
              </a:ext>
            </a:extLst>
          </p:cNvPr>
          <p:cNvPicPr>
            <a:picLocks noChangeAspect="1"/>
          </p:cNvPicPr>
          <p:nvPr/>
        </p:nvPicPr>
        <p:blipFill>
          <a:blip r:embed="rId3"/>
          <a:stretch>
            <a:fillRect/>
          </a:stretch>
        </p:blipFill>
        <p:spPr>
          <a:xfrm>
            <a:off x="685800" y="4161563"/>
            <a:ext cx="7772400" cy="2374704"/>
          </a:xfrm>
          <a:prstGeom prst="rect">
            <a:avLst/>
          </a:prstGeom>
        </p:spPr>
      </p:pic>
      <p:sp>
        <p:nvSpPr>
          <p:cNvPr id="10" name="Oval 9">
            <a:extLst>
              <a:ext uri="{FF2B5EF4-FFF2-40B4-BE49-F238E27FC236}">
                <a16:creationId xmlns:a16="http://schemas.microsoft.com/office/drawing/2014/main" id="{41ABC899-E9BA-1384-00BD-253D7C565EE4}"/>
              </a:ext>
            </a:extLst>
          </p:cNvPr>
          <p:cNvSpPr>
            <a:spLocks/>
          </p:cNvSpPr>
          <p:nvPr/>
        </p:nvSpPr>
        <p:spPr>
          <a:xfrm>
            <a:off x="3088640" y="3795396"/>
            <a:ext cx="3017520" cy="2926080"/>
          </a:xfrm>
          <a:prstGeom prst="ellipse">
            <a:avLst/>
          </a:prstGeom>
          <a:solidFill>
            <a:srgbClr val="FFC000">
              <a:alpha val="5098"/>
            </a:srgbClr>
          </a:solidFill>
          <a:ln w="38100">
            <a:solidFill>
              <a:srgbClr val="C00000">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086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6F816-C1DB-BC53-C3E4-C9DCF68BE8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2ED8A1-0F18-F4CA-09B2-078BE43143F8}"/>
              </a:ext>
            </a:extLst>
          </p:cNvPr>
          <p:cNvSpPr>
            <a:spLocks noGrp="1"/>
          </p:cNvSpPr>
          <p:nvPr>
            <p:ph idx="1"/>
          </p:nvPr>
        </p:nvSpPr>
        <p:spPr>
          <a:xfrm>
            <a:off x="457200" y="321734"/>
            <a:ext cx="8229600" cy="6034618"/>
          </a:xfrm>
        </p:spPr>
        <p:txBody>
          <a:bodyPr>
            <a:noAutofit/>
          </a:bodyPr>
          <a:lstStyle/>
          <a:p>
            <a:pPr marL="0" indent="0">
              <a:buNone/>
            </a:pPr>
            <a:r>
              <a:rPr lang="en-US" sz="1800" b="1" dirty="0"/>
              <a:t>Spatial Lag</a:t>
            </a:r>
          </a:p>
          <a:p>
            <a:r>
              <a:rPr lang="en-US" sz="1600" dirty="0"/>
              <a:t>Example:</a:t>
            </a:r>
          </a:p>
          <a:p>
            <a:pPr lvl="1"/>
            <a:r>
              <a:rPr lang="en-US" sz="1600" dirty="0"/>
              <a:t>If you have three neighbors with college graduation rates of </a:t>
            </a:r>
            <a:r>
              <a:rPr lang="en-US" sz="1600" b="1" dirty="0">
                <a:solidFill>
                  <a:schemeClr val="tx1">
                    <a:lumMod val="65000"/>
                    <a:lumOff val="35000"/>
                  </a:schemeClr>
                </a:solidFill>
              </a:rPr>
              <a:t>30%</a:t>
            </a:r>
            <a:r>
              <a:rPr lang="en-US" sz="1600" dirty="0">
                <a:solidFill>
                  <a:schemeClr val="tx1">
                    <a:lumMod val="65000"/>
                    <a:lumOff val="35000"/>
                  </a:schemeClr>
                </a:solidFill>
              </a:rPr>
              <a:t>, </a:t>
            </a:r>
            <a:r>
              <a:rPr lang="en-US" sz="1600" b="1" dirty="0">
                <a:solidFill>
                  <a:schemeClr val="tx1">
                    <a:lumMod val="65000"/>
                    <a:lumOff val="35000"/>
                  </a:schemeClr>
                </a:solidFill>
              </a:rPr>
              <a:t>32%</a:t>
            </a:r>
            <a:r>
              <a:rPr lang="en-US" sz="1600" dirty="0">
                <a:solidFill>
                  <a:schemeClr val="tx1">
                    <a:lumMod val="65000"/>
                    <a:lumOff val="35000"/>
                  </a:schemeClr>
                </a:solidFill>
              </a:rPr>
              <a:t>, and </a:t>
            </a:r>
            <a:r>
              <a:rPr lang="en-US" sz="1600" b="1" dirty="0">
                <a:solidFill>
                  <a:schemeClr val="tx1">
                    <a:lumMod val="65000"/>
                    <a:lumOff val="35000"/>
                  </a:schemeClr>
                </a:solidFill>
              </a:rPr>
              <a:t>28%</a:t>
            </a:r>
          </a:p>
          <a:p>
            <a:pPr lvl="1"/>
            <a:r>
              <a:rPr lang="en-US" sz="1600" dirty="0"/>
              <a:t>They are all weighted equally </a:t>
            </a:r>
            <a:r>
              <a:rPr lang="en-US" sz="1600" dirty="0">
                <a:solidFill>
                  <a:schemeClr val="tx1">
                    <a:lumMod val="65000"/>
                    <a:lumOff val="35000"/>
                  </a:schemeClr>
                </a:solidFill>
              </a:rPr>
              <a:t>(</a:t>
            </a:r>
            <a:r>
              <a:rPr lang="en-US" sz="1600" b="1" dirty="0">
                <a:solidFill>
                  <a:schemeClr val="tx1">
                    <a:lumMod val="65000"/>
                    <a:lumOff val="35000"/>
                  </a:schemeClr>
                </a:solidFill>
              </a:rPr>
              <a:t>1/3 each</a:t>
            </a:r>
            <a:r>
              <a:rPr lang="en-US" sz="1600" dirty="0">
                <a:solidFill>
                  <a:schemeClr val="tx1">
                    <a:lumMod val="65000"/>
                    <a:lumOff val="35000"/>
                  </a:schemeClr>
                </a:solidFill>
              </a:rPr>
              <a:t>)</a:t>
            </a:r>
          </a:p>
          <a:p>
            <a:pPr lvl="1"/>
            <a:r>
              <a:rPr lang="en-US" sz="1600" dirty="0"/>
              <a:t>The spatial lag for your county is:</a:t>
            </a:r>
            <a:br>
              <a:rPr lang="en-US" sz="1600" dirty="0"/>
            </a:br>
            <a:r>
              <a:rPr lang="en-US" sz="1600" b="1" dirty="0">
                <a:solidFill>
                  <a:schemeClr val="tx1">
                    <a:lumMod val="65000"/>
                    <a:lumOff val="35000"/>
                  </a:schemeClr>
                </a:solidFill>
              </a:rPr>
              <a:t>= (0.33 × 30%) + (0.33 × 32%) + (0.33 × 28%) = 9.9% + 10.56% + 9.24%</a:t>
            </a:r>
            <a:r>
              <a:rPr lang="en-US" sz="1600" b="1" dirty="0"/>
              <a:t> = 29.7%</a:t>
            </a:r>
          </a:p>
          <a:p>
            <a:pPr lvl="2"/>
            <a:r>
              <a:rPr lang="en-US" sz="1400" dirty="0"/>
              <a:t>If your county actual rate is </a:t>
            </a:r>
            <a:r>
              <a:rPr lang="en-US" sz="1400" b="1" dirty="0">
                <a:solidFill>
                  <a:srgbClr val="0070C0"/>
                </a:solidFill>
              </a:rPr>
              <a:t>45%</a:t>
            </a:r>
            <a:r>
              <a:rPr lang="en-US" sz="1400" dirty="0"/>
              <a:t> and the </a:t>
            </a:r>
            <a:r>
              <a:rPr lang="en-US" sz="1400" b="1" dirty="0"/>
              <a:t>county spatial lag</a:t>
            </a:r>
            <a:r>
              <a:rPr lang="en-US" sz="1400" dirty="0"/>
              <a:t> </a:t>
            </a:r>
            <a:r>
              <a:rPr lang="en-US" sz="1400" baseline="30000" dirty="0"/>
              <a:t>(neighborhood average)</a:t>
            </a:r>
            <a:r>
              <a:rPr lang="en-US" sz="1400" dirty="0"/>
              <a:t> </a:t>
            </a:r>
            <a:r>
              <a:rPr lang="en-US" sz="1400" b="1" dirty="0"/>
              <a:t>29.7%,</a:t>
            </a:r>
            <a:br>
              <a:rPr lang="en-US" sz="1400" b="1" dirty="0">
                <a:solidFill>
                  <a:srgbClr val="C00000"/>
                </a:solidFill>
              </a:rPr>
            </a:br>
            <a:r>
              <a:rPr lang="en-US" sz="1400" dirty="0">
                <a:solidFill>
                  <a:srgbClr val="C00000"/>
                </a:solidFill>
              </a:rPr>
              <a:t>the county is an "</a:t>
            </a:r>
            <a:r>
              <a:rPr lang="en-US" sz="1400" b="1" dirty="0">
                <a:solidFill>
                  <a:srgbClr val="C00000"/>
                </a:solidFill>
              </a:rPr>
              <a:t>outlier</a:t>
            </a:r>
            <a:r>
              <a:rPr lang="en-US" sz="1400" dirty="0">
                <a:solidFill>
                  <a:srgbClr val="C00000"/>
                </a:solidFill>
              </a:rPr>
              <a:t>" or a "</a:t>
            </a:r>
            <a:r>
              <a:rPr lang="en-US" sz="1400" b="1" dirty="0">
                <a:solidFill>
                  <a:srgbClr val="C00000"/>
                </a:solidFill>
              </a:rPr>
              <a:t>hot spot</a:t>
            </a:r>
            <a:r>
              <a:rPr lang="en-US" sz="1400" dirty="0">
                <a:solidFill>
                  <a:srgbClr val="C00000"/>
                </a:solidFill>
              </a:rPr>
              <a:t>".</a:t>
            </a:r>
            <a:br>
              <a:rPr lang="en-US" sz="1400" dirty="0">
                <a:solidFill>
                  <a:srgbClr val="C00000"/>
                </a:solidFill>
              </a:rPr>
            </a:br>
            <a:r>
              <a:rPr lang="en-US" sz="1400" u="sng" dirty="0"/>
              <a:t>Even though it is surrounded by </a:t>
            </a:r>
            <a:r>
              <a:rPr lang="en-US" sz="1400" dirty="0"/>
              <a:t>counties where only about 30% of people have degrees, your county is performing </a:t>
            </a:r>
            <a:r>
              <a:rPr lang="en-US" sz="1400" b="1" u="sng" dirty="0">
                <a:solidFill>
                  <a:srgbClr val="0070C0"/>
                </a:solidFill>
              </a:rPr>
              <a:t>significantly higher</a:t>
            </a:r>
            <a:r>
              <a:rPr lang="en-US" sz="1400" dirty="0"/>
              <a:t>.</a:t>
            </a:r>
          </a:p>
          <a:p>
            <a:pPr lvl="1"/>
            <a:r>
              <a:rPr lang="en-US" sz="1600" dirty="0"/>
              <a:t>In a research paper, this might lead to ask: "</a:t>
            </a:r>
            <a:r>
              <a:rPr lang="en-US" sz="1600" i="1" dirty="0"/>
              <a:t>Why is your county different?</a:t>
            </a:r>
            <a:br>
              <a:rPr lang="en-US" sz="1600" i="1" dirty="0"/>
            </a:br>
            <a:r>
              <a:rPr lang="en-US" sz="1600" i="1" dirty="0"/>
              <a:t>Does it have a major university or a specific industry that its neighbors lack?</a:t>
            </a:r>
            <a:r>
              <a:rPr lang="en-US" sz="1600" dirty="0"/>
              <a:t>"</a:t>
            </a:r>
          </a:p>
          <a:p>
            <a:pPr lvl="2"/>
            <a:r>
              <a:rPr lang="en-US" sz="1400" dirty="0"/>
              <a:t>Without the spatial lag, you wouldn't realize just how much your county stands out from its local context.</a:t>
            </a:r>
          </a:p>
        </p:txBody>
      </p:sp>
      <p:sp>
        <p:nvSpPr>
          <p:cNvPr id="4" name="Slide Number Placeholder 3">
            <a:extLst>
              <a:ext uri="{FF2B5EF4-FFF2-40B4-BE49-F238E27FC236}">
                <a16:creationId xmlns:a16="http://schemas.microsoft.com/office/drawing/2014/main" id="{F0BDEA07-ABAE-4A1A-2BF2-6EE5F467C477}"/>
              </a:ext>
            </a:extLst>
          </p:cNvPr>
          <p:cNvSpPr>
            <a:spLocks noGrp="1"/>
          </p:cNvSpPr>
          <p:nvPr>
            <p:ph type="sldNum" sz="quarter" idx="12"/>
          </p:nvPr>
        </p:nvSpPr>
        <p:spPr/>
        <p:txBody>
          <a:bodyPr/>
          <a:lstStyle/>
          <a:p>
            <a:fld id="{C0343C75-1924-D247-85A3-0CB62E67E5D1}" type="slidenum">
              <a:rPr lang="en-US" smtClean="0"/>
              <a:t>13</a:t>
            </a:fld>
            <a:endParaRPr lang="en-US"/>
          </a:p>
        </p:txBody>
      </p:sp>
      <p:pic>
        <p:nvPicPr>
          <p:cNvPr id="7" name="Picture 6">
            <a:extLst>
              <a:ext uri="{FF2B5EF4-FFF2-40B4-BE49-F238E27FC236}">
                <a16:creationId xmlns:a16="http://schemas.microsoft.com/office/drawing/2014/main" id="{E7303135-0DFE-3C41-669E-10EF5A54B752}"/>
              </a:ext>
            </a:extLst>
          </p:cNvPr>
          <p:cNvPicPr>
            <a:picLocks noChangeAspect="1"/>
          </p:cNvPicPr>
          <p:nvPr/>
        </p:nvPicPr>
        <p:blipFill>
          <a:blip r:embed="rId2"/>
          <a:stretch>
            <a:fillRect/>
          </a:stretch>
        </p:blipFill>
        <p:spPr>
          <a:xfrm>
            <a:off x="685800" y="4161563"/>
            <a:ext cx="7772400" cy="2374704"/>
          </a:xfrm>
          <a:prstGeom prst="rect">
            <a:avLst/>
          </a:prstGeom>
        </p:spPr>
      </p:pic>
      <p:sp>
        <p:nvSpPr>
          <p:cNvPr id="10" name="Oval 9">
            <a:extLst>
              <a:ext uri="{FF2B5EF4-FFF2-40B4-BE49-F238E27FC236}">
                <a16:creationId xmlns:a16="http://schemas.microsoft.com/office/drawing/2014/main" id="{4A3E7A08-2CF9-CAE2-592E-9D267F119D7D}"/>
              </a:ext>
            </a:extLst>
          </p:cNvPr>
          <p:cNvSpPr>
            <a:spLocks/>
          </p:cNvSpPr>
          <p:nvPr/>
        </p:nvSpPr>
        <p:spPr>
          <a:xfrm>
            <a:off x="3088640" y="3795396"/>
            <a:ext cx="3017520" cy="2926080"/>
          </a:xfrm>
          <a:prstGeom prst="ellipse">
            <a:avLst/>
          </a:prstGeom>
          <a:solidFill>
            <a:srgbClr val="FFC000">
              <a:alpha val="5098"/>
            </a:srgbClr>
          </a:solidFill>
          <a:ln w="38100">
            <a:solidFill>
              <a:srgbClr val="C00000">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2955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10D98-1C85-6059-AB54-03AD882CE1B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683515-487B-B04A-44A6-60C3CAF35D16}"/>
              </a:ext>
            </a:extLst>
          </p:cNvPr>
          <p:cNvSpPr>
            <a:spLocks noGrp="1"/>
          </p:cNvSpPr>
          <p:nvPr>
            <p:ph idx="1"/>
          </p:nvPr>
        </p:nvSpPr>
        <p:spPr>
          <a:xfrm>
            <a:off x="457200" y="321734"/>
            <a:ext cx="8229600" cy="6034618"/>
          </a:xfrm>
        </p:spPr>
        <p:txBody>
          <a:bodyPr>
            <a:noAutofit/>
          </a:bodyPr>
          <a:lstStyle/>
          <a:p>
            <a:pPr marL="0" indent="0">
              <a:buNone/>
            </a:pPr>
            <a:r>
              <a:rPr lang="en-US" sz="1800" b="1" dirty="0"/>
              <a:t>Moran's I Coefficient</a:t>
            </a:r>
          </a:p>
          <a:p>
            <a:r>
              <a:rPr lang="en-US" sz="1800" dirty="0"/>
              <a:t>A measure of spatial autocorrelation:</a:t>
            </a:r>
          </a:p>
          <a:p>
            <a:pPr lvl="1"/>
            <a:r>
              <a:rPr lang="en-US" sz="1600" dirty="0"/>
              <a:t>Quantifies how similar values are across nearby locations.</a:t>
            </a:r>
          </a:p>
          <a:p>
            <a:pPr lvl="1"/>
            <a:r>
              <a:rPr lang="en-US" sz="1600" dirty="0"/>
              <a:t>The value ranges roughly from -1 to +1:</a:t>
            </a:r>
          </a:p>
          <a:p>
            <a:pPr lvl="2"/>
            <a:r>
              <a:rPr lang="en-US" sz="1400" dirty="0"/>
              <a:t>Positive (0.422) → nearby areas tend to have similar values (clustering)</a:t>
            </a:r>
          </a:p>
          <a:p>
            <a:pPr lvl="2"/>
            <a:r>
              <a:rPr lang="en-US" sz="1400" dirty="0"/>
              <a:t>Near 0 → spatial randomness</a:t>
            </a:r>
          </a:p>
          <a:p>
            <a:pPr lvl="2"/>
            <a:r>
              <a:rPr lang="en-US" sz="1400" dirty="0"/>
              <a:t>Negative → nearby areas tend to be dissimilar (dispersion)</a:t>
            </a:r>
          </a:p>
          <a:p>
            <a:r>
              <a:rPr lang="en-US" sz="1800" dirty="0"/>
              <a:t>A value of 0.422 indicates a </a:t>
            </a:r>
            <a:r>
              <a:rPr lang="en-US" sz="1800" u="sng" dirty="0"/>
              <a:t>moderate positive spatial autocorrelation</a:t>
            </a:r>
            <a:r>
              <a:rPr lang="en-US" sz="1800" dirty="0"/>
              <a:t>, meaning counties with similar college attainment levels tend to cluster geographically.</a:t>
            </a:r>
          </a:p>
        </p:txBody>
      </p:sp>
      <p:sp>
        <p:nvSpPr>
          <p:cNvPr id="4" name="Slide Number Placeholder 3">
            <a:extLst>
              <a:ext uri="{FF2B5EF4-FFF2-40B4-BE49-F238E27FC236}">
                <a16:creationId xmlns:a16="http://schemas.microsoft.com/office/drawing/2014/main" id="{F76CDA9E-A9BB-9184-A7D4-0FDDED6704E3}"/>
              </a:ext>
            </a:extLst>
          </p:cNvPr>
          <p:cNvSpPr>
            <a:spLocks noGrp="1"/>
          </p:cNvSpPr>
          <p:nvPr>
            <p:ph type="sldNum" sz="quarter" idx="12"/>
          </p:nvPr>
        </p:nvSpPr>
        <p:spPr/>
        <p:txBody>
          <a:bodyPr/>
          <a:lstStyle/>
          <a:p>
            <a:fld id="{C0343C75-1924-D247-85A3-0CB62E67E5D1}" type="slidenum">
              <a:rPr lang="en-US" smtClean="0"/>
              <a:t>14</a:t>
            </a:fld>
            <a:endParaRPr lang="en-US"/>
          </a:p>
        </p:txBody>
      </p:sp>
      <p:pic>
        <p:nvPicPr>
          <p:cNvPr id="7" name="Picture 6">
            <a:extLst>
              <a:ext uri="{FF2B5EF4-FFF2-40B4-BE49-F238E27FC236}">
                <a16:creationId xmlns:a16="http://schemas.microsoft.com/office/drawing/2014/main" id="{7700211D-0581-C6CC-8B93-2ED9F8825F25}"/>
              </a:ext>
            </a:extLst>
          </p:cNvPr>
          <p:cNvPicPr>
            <a:picLocks noChangeAspect="1"/>
          </p:cNvPicPr>
          <p:nvPr/>
        </p:nvPicPr>
        <p:blipFill>
          <a:blip r:embed="rId2"/>
          <a:stretch>
            <a:fillRect/>
          </a:stretch>
        </p:blipFill>
        <p:spPr>
          <a:xfrm>
            <a:off x="685800" y="4161563"/>
            <a:ext cx="7772400" cy="2374704"/>
          </a:xfrm>
          <a:prstGeom prst="rect">
            <a:avLst/>
          </a:prstGeom>
        </p:spPr>
      </p:pic>
      <p:sp>
        <p:nvSpPr>
          <p:cNvPr id="10" name="Oval 9">
            <a:extLst>
              <a:ext uri="{FF2B5EF4-FFF2-40B4-BE49-F238E27FC236}">
                <a16:creationId xmlns:a16="http://schemas.microsoft.com/office/drawing/2014/main" id="{633CB139-F3FE-1658-2EBA-791E432BC41F}"/>
              </a:ext>
            </a:extLst>
          </p:cNvPr>
          <p:cNvSpPr>
            <a:spLocks/>
          </p:cNvSpPr>
          <p:nvPr/>
        </p:nvSpPr>
        <p:spPr>
          <a:xfrm>
            <a:off x="3088640" y="3795396"/>
            <a:ext cx="3017520" cy="2926080"/>
          </a:xfrm>
          <a:prstGeom prst="ellipse">
            <a:avLst/>
          </a:prstGeom>
          <a:solidFill>
            <a:srgbClr val="FFC000">
              <a:alpha val="5098"/>
            </a:srgbClr>
          </a:solidFill>
          <a:ln w="38100">
            <a:solidFill>
              <a:srgbClr val="C00000">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6B1921B-8F9B-7DC8-50FF-432A23E7C9C2}"/>
              </a:ext>
            </a:extLst>
          </p:cNvPr>
          <p:cNvSpPr txBox="1"/>
          <p:nvPr/>
        </p:nvSpPr>
        <p:spPr>
          <a:xfrm>
            <a:off x="457200" y="2992286"/>
            <a:ext cx="4007796" cy="1077218"/>
          </a:xfrm>
          <a:prstGeom prst="rect">
            <a:avLst/>
          </a:prstGeom>
          <a:solidFill>
            <a:srgbClr val="FFC000"/>
          </a:solidFill>
          <a:ln>
            <a:noFill/>
          </a:ln>
        </p:spPr>
        <p:txBody>
          <a:bodyPr wrap="square" rtlCol="0">
            <a:spAutoFit/>
          </a:bodyPr>
          <a:lstStyle/>
          <a:p>
            <a:r>
              <a:rPr lang="en-US" sz="1600" b="1" dirty="0">
                <a:solidFill>
                  <a:srgbClr val="C00000"/>
                </a:solidFill>
              </a:rPr>
              <a:t>Spatial autocorrelation refers to the degree to which values of a variable are similar </a:t>
            </a:r>
            <a:r>
              <a:rPr lang="en-US" sz="1600" b="1" baseline="30000" dirty="0">
                <a:solidFill>
                  <a:srgbClr val="C00000"/>
                </a:solidFill>
              </a:rPr>
              <a:t>(or dissimilar)</a:t>
            </a:r>
            <a:r>
              <a:rPr lang="en-US" sz="1600" b="1" dirty="0">
                <a:solidFill>
                  <a:srgbClr val="C00000"/>
                </a:solidFill>
              </a:rPr>
              <a:t> across nearby geographic locations.</a:t>
            </a:r>
          </a:p>
        </p:txBody>
      </p:sp>
      <p:sp>
        <p:nvSpPr>
          <p:cNvPr id="5" name="TextBox 4">
            <a:extLst>
              <a:ext uri="{FF2B5EF4-FFF2-40B4-BE49-F238E27FC236}">
                <a16:creationId xmlns:a16="http://schemas.microsoft.com/office/drawing/2014/main" id="{C8E0FB8B-85B7-EDEE-2F2C-04B39A1EBF14}"/>
              </a:ext>
            </a:extLst>
          </p:cNvPr>
          <p:cNvSpPr txBox="1"/>
          <p:nvPr/>
        </p:nvSpPr>
        <p:spPr>
          <a:xfrm>
            <a:off x="4693596" y="2992286"/>
            <a:ext cx="3993203" cy="1077218"/>
          </a:xfrm>
          <a:prstGeom prst="rect">
            <a:avLst/>
          </a:prstGeom>
          <a:solidFill>
            <a:srgbClr val="FFD84C"/>
          </a:solidFill>
          <a:ln>
            <a:noFill/>
          </a:ln>
        </p:spPr>
        <p:txBody>
          <a:bodyPr wrap="square" rtlCol="0">
            <a:spAutoFit/>
          </a:bodyPr>
          <a:lstStyle/>
          <a:p>
            <a:pPr algn="r"/>
            <a:r>
              <a:rPr lang="en-US" sz="1600" i="1" dirty="0">
                <a:solidFill>
                  <a:srgbClr val="0070C0"/>
                </a:solidFill>
              </a:rPr>
              <a:t>In essence, it captures whether "location matters" in the distribution of </a:t>
            </a:r>
            <a:r>
              <a:rPr lang="en-US" sz="1600" b="1" i="1" dirty="0">
                <a:solidFill>
                  <a:srgbClr val="0070C0"/>
                </a:solidFill>
              </a:rPr>
              <a:t>a variable </a:t>
            </a:r>
            <a:r>
              <a:rPr lang="en-US" sz="1600" i="1" dirty="0">
                <a:solidFill>
                  <a:srgbClr val="0070C0"/>
                </a:solidFill>
              </a:rPr>
              <a:t>(i.e., whether what happens in one place is related to what happens nearby).</a:t>
            </a:r>
          </a:p>
        </p:txBody>
      </p:sp>
    </p:spTree>
    <p:extLst>
      <p:ext uri="{BB962C8B-B14F-4D97-AF65-F5344CB8AC3E}">
        <p14:creationId xmlns:p14="http://schemas.microsoft.com/office/powerpoint/2010/main" val="382710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4FE6D-45D7-4BE2-D8F1-0B53EF29FA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397B20-98C1-4F5C-FE6B-4258EB961C07}"/>
              </a:ext>
            </a:extLst>
          </p:cNvPr>
          <p:cNvSpPr>
            <a:spLocks noGrp="1"/>
          </p:cNvSpPr>
          <p:nvPr>
            <p:ph idx="1"/>
          </p:nvPr>
        </p:nvSpPr>
        <p:spPr>
          <a:xfrm>
            <a:off x="457200" y="321734"/>
            <a:ext cx="8229600" cy="6034618"/>
          </a:xfrm>
        </p:spPr>
        <p:txBody>
          <a:bodyPr>
            <a:noAutofit/>
          </a:bodyPr>
          <a:lstStyle/>
          <a:p>
            <a:pPr marL="0" indent="0">
              <a:buNone/>
            </a:pPr>
            <a:r>
              <a:rPr lang="en-US" sz="1800" b="1" dirty="0"/>
              <a:t>Moran's I Coefficient</a:t>
            </a:r>
          </a:p>
          <a:p>
            <a:r>
              <a:rPr lang="en-US" sz="1600" dirty="0"/>
              <a:t>Moran's I is calculated as </a:t>
            </a:r>
            <a:r>
              <a:rPr lang="en-US" sz="1600" i="1" dirty="0"/>
              <a:t>a version</a:t>
            </a:r>
            <a:r>
              <a:rPr lang="en-US" sz="1600" dirty="0"/>
              <a:t> of the standard correlation coefficient, but instead of comparing two different variables (like height and weight), it compares the same variable with its spatial lag (</a:t>
            </a:r>
            <a:r>
              <a:rPr lang="en-US" sz="1600" b="1" dirty="0"/>
              <a:t>itself vs. its neighbors</a:t>
            </a:r>
            <a:r>
              <a:rPr lang="en-US" sz="1600" dirty="0"/>
              <a:t>).</a:t>
            </a:r>
          </a:p>
          <a:p>
            <a:r>
              <a:rPr lang="en-US" sz="1600" dirty="0"/>
              <a:t>It essentially tells you if the pattern is </a:t>
            </a:r>
            <a:r>
              <a:rPr lang="en-US" sz="1600" b="1" dirty="0"/>
              <a:t>clustered</a:t>
            </a:r>
            <a:r>
              <a:rPr lang="en-US" sz="1600" dirty="0"/>
              <a:t> (similar values together), </a:t>
            </a:r>
            <a:br>
              <a:rPr lang="en-US" sz="1600" dirty="0"/>
            </a:br>
            <a:r>
              <a:rPr lang="en-US" sz="1600" b="1" dirty="0"/>
              <a:t>dispersed</a:t>
            </a:r>
            <a:r>
              <a:rPr lang="en-US" sz="1600" dirty="0"/>
              <a:t> (like a checkerboard), or </a:t>
            </a:r>
            <a:r>
              <a:rPr lang="en-US" sz="1600" b="1" dirty="0"/>
              <a:t>random</a:t>
            </a:r>
            <a:r>
              <a:rPr lang="en-US" sz="1600" dirty="0"/>
              <a:t>.</a:t>
            </a:r>
          </a:p>
        </p:txBody>
      </p:sp>
      <p:sp>
        <p:nvSpPr>
          <p:cNvPr id="4" name="Slide Number Placeholder 3">
            <a:extLst>
              <a:ext uri="{FF2B5EF4-FFF2-40B4-BE49-F238E27FC236}">
                <a16:creationId xmlns:a16="http://schemas.microsoft.com/office/drawing/2014/main" id="{825BC843-D6D7-F2FB-CA33-A597157C3FFA}"/>
              </a:ext>
            </a:extLst>
          </p:cNvPr>
          <p:cNvSpPr>
            <a:spLocks noGrp="1"/>
          </p:cNvSpPr>
          <p:nvPr>
            <p:ph type="sldNum" sz="quarter" idx="12"/>
          </p:nvPr>
        </p:nvSpPr>
        <p:spPr/>
        <p:txBody>
          <a:bodyPr/>
          <a:lstStyle/>
          <a:p>
            <a:fld id="{C0343C75-1924-D247-85A3-0CB62E67E5D1}" type="slidenum">
              <a:rPr lang="en-US" smtClean="0"/>
              <a:t>15</a:t>
            </a:fld>
            <a:endParaRPr lang="en-US"/>
          </a:p>
        </p:txBody>
      </p:sp>
      <p:pic>
        <p:nvPicPr>
          <p:cNvPr id="6" name="Picture 5">
            <a:extLst>
              <a:ext uri="{FF2B5EF4-FFF2-40B4-BE49-F238E27FC236}">
                <a16:creationId xmlns:a16="http://schemas.microsoft.com/office/drawing/2014/main" id="{148D22AE-B163-B50E-5EA5-CD14E7255564}"/>
              </a:ext>
            </a:extLst>
          </p:cNvPr>
          <p:cNvPicPr>
            <a:picLocks noChangeAspect="1"/>
          </p:cNvPicPr>
          <p:nvPr/>
        </p:nvPicPr>
        <p:blipFill>
          <a:blip r:embed="rId2"/>
          <a:stretch>
            <a:fillRect/>
          </a:stretch>
        </p:blipFill>
        <p:spPr>
          <a:xfrm>
            <a:off x="587217" y="2073529"/>
            <a:ext cx="4663440" cy="4112968"/>
          </a:xfrm>
          <a:prstGeom prst="rect">
            <a:avLst/>
          </a:prstGeom>
        </p:spPr>
      </p:pic>
      <p:sp>
        <p:nvSpPr>
          <p:cNvPr id="8" name="TextBox 7">
            <a:extLst>
              <a:ext uri="{FF2B5EF4-FFF2-40B4-BE49-F238E27FC236}">
                <a16:creationId xmlns:a16="http://schemas.microsoft.com/office/drawing/2014/main" id="{3C18DF7B-B392-6843-D9BB-D744D095B85E}"/>
              </a:ext>
            </a:extLst>
          </p:cNvPr>
          <p:cNvSpPr txBox="1"/>
          <p:nvPr/>
        </p:nvSpPr>
        <p:spPr>
          <a:xfrm>
            <a:off x="509830" y="6109552"/>
            <a:ext cx="8124340" cy="369332"/>
          </a:xfrm>
          <a:prstGeom prst="rect">
            <a:avLst/>
          </a:prstGeom>
          <a:noFill/>
        </p:spPr>
        <p:txBody>
          <a:bodyPr wrap="none" rtlCol="0">
            <a:spAutoFit/>
          </a:bodyPr>
          <a:lstStyle/>
          <a:p>
            <a:r>
              <a:rPr lang="en-US" b="1" dirty="0"/>
              <a:t>⤷</a:t>
            </a:r>
            <a:r>
              <a:rPr lang="en-US" sz="1050" dirty="0"/>
              <a:t> </a:t>
            </a:r>
            <a:r>
              <a:rPr lang="en-US" sz="1050" dirty="0">
                <a:hlinkClick r:id="rId3"/>
              </a:rPr>
              <a:t>https://desktop.arcgis.com/en/arcmap/latest/tools/spatial-statistics-toolbox/h-how-spatial-autocorrelation-moran-s-i-spatial-st.htm</a:t>
            </a:r>
            <a:endParaRPr lang="en-US" sz="1050" dirty="0"/>
          </a:p>
        </p:txBody>
      </p:sp>
      <p:pic>
        <p:nvPicPr>
          <p:cNvPr id="9" name="Picture 8">
            <a:extLst>
              <a:ext uri="{FF2B5EF4-FFF2-40B4-BE49-F238E27FC236}">
                <a16:creationId xmlns:a16="http://schemas.microsoft.com/office/drawing/2014/main" id="{B226563D-EC8B-FFC3-A82A-F34CEAAFBAE8}"/>
              </a:ext>
            </a:extLst>
          </p:cNvPr>
          <p:cNvPicPr>
            <a:picLocks noChangeAspect="1"/>
          </p:cNvPicPr>
          <p:nvPr/>
        </p:nvPicPr>
        <p:blipFill>
          <a:blip r:embed="rId4"/>
          <a:stretch>
            <a:fillRect/>
          </a:stretch>
        </p:blipFill>
        <p:spPr>
          <a:xfrm>
            <a:off x="5296080" y="2073529"/>
            <a:ext cx="3474720" cy="1413915"/>
          </a:xfrm>
          <a:prstGeom prst="rect">
            <a:avLst/>
          </a:prstGeom>
        </p:spPr>
      </p:pic>
      <p:sp>
        <p:nvSpPr>
          <p:cNvPr id="11" name="TextBox 10">
            <a:extLst>
              <a:ext uri="{FF2B5EF4-FFF2-40B4-BE49-F238E27FC236}">
                <a16:creationId xmlns:a16="http://schemas.microsoft.com/office/drawing/2014/main" id="{592AD2A3-C26F-B5D6-0949-A49B755E504C}"/>
              </a:ext>
            </a:extLst>
          </p:cNvPr>
          <p:cNvSpPr txBox="1"/>
          <p:nvPr/>
        </p:nvSpPr>
        <p:spPr>
          <a:xfrm>
            <a:off x="5380673" y="3674764"/>
            <a:ext cx="3306127" cy="861774"/>
          </a:xfrm>
          <a:prstGeom prst="rect">
            <a:avLst/>
          </a:prstGeom>
          <a:solidFill>
            <a:srgbClr val="FFD84C"/>
          </a:solidFill>
        </p:spPr>
        <p:txBody>
          <a:bodyPr wrap="square" rtlCol="0">
            <a:spAutoFit/>
          </a:bodyPr>
          <a:lstStyle/>
          <a:p>
            <a:r>
              <a:rPr lang="en-US" sz="1400" dirty="0"/>
              <a:t>Check: </a:t>
            </a:r>
            <a:r>
              <a:rPr lang="en-US" sz="1200" dirty="0">
                <a:hlinkClick r:id="rId5"/>
              </a:rPr>
              <a:t>https://gis.stackexchange.com/questions/421403/using-weight-component-in-moran-i-calculation</a:t>
            </a:r>
            <a:endParaRPr lang="en-US" sz="1200" dirty="0"/>
          </a:p>
        </p:txBody>
      </p:sp>
      <p:pic>
        <p:nvPicPr>
          <p:cNvPr id="2" name="Picture 1">
            <a:extLst>
              <a:ext uri="{FF2B5EF4-FFF2-40B4-BE49-F238E27FC236}">
                <a16:creationId xmlns:a16="http://schemas.microsoft.com/office/drawing/2014/main" id="{8BD958C6-F159-1A2D-2B1F-AF541FEC2B1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5387520" y="4847329"/>
            <a:ext cx="3291840" cy="1198230"/>
          </a:xfrm>
          <a:prstGeom prst="rect">
            <a:avLst/>
          </a:prstGeom>
        </p:spPr>
      </p:pic>
    </p:spTree>
    <p:extLst>
      <p:ext uri="{BB962C8B-B14F-4D97-AF65-F5344CB8AC3E}">
        <p14:creationId xmlns:p14="http://schemas.microsoft.com/office/powerpoint/2010/main" val="3745227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0F26E-020A-6252-17E4-590FB305B07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CE1C48-26B8-5274-51F8-9BB494FCD38F}"/>
              </a:ext>
            </a:extLst>
          </p:cNvPr>
          <p:cNvSpPr>
            <a:spLocks noGrp="1"/>
          </p:cNvSpPr>
          <p:nvPr>
            <p:ph idx="1"/>
          </p:nvPr>
        </p:nvSpPr>
        <p:spPr>
          <a:xfrm>
            <a:off x="457200" y="321734"/>
            <a:ext cx="8229600" cy="6034618"/>
          </a:xfrm>
        </p:spPr>
        <p:txBody>
          <a:bodyPr>
            <a:noAutofit/>
          </a:bodyPr>
          <a:lstStyle/>
          <a:p>
            <a:pPr marL="0" indent="0">
              <a:buNone/>
            </a:pPr>
            <a:r>
              <a:rPr lang="en-US" sz="1800" b="1" dirty="0"/>
              <a:t>Moran scatter plot</a:t>
            </a:r>
          </a:p>
        </p:txBody>
      </p:sp>
      <p:sp>
        <p:nvSpPr>
          <p:cNvPr id="4" name="Slide Number Placeholder 3">
            <a:extLst>
              <a:ext uri="{FF2B5EF4-FFF2-40B4-BE49-F238E27FC236}">
                <a16:creationId xmlns:a16="http://schemas.microsoft.com/office/drawing/2014/main" id="{A4CA9D08-815E-0D9C-92AD-520D283B84AF}"/>
              </a:ext>
            </a:extLst>
          </p:cNvPr>
          <p:cNvSpPr>
            <a:spLocks noGrp="1"/>
          </p:cNvSpPr>
          <p:nvPr>
            <p:ph type="sldNum" sz="quarter" idx="12"/>
          </p:nvPr>
        </p:nvSpPr>
        <p:spPr/>
        <p:txBody>
          <a:bodyPr/>
          <a:lstStyle/>
          <a:p>
            <a:fld id="{C0343C75-1924-D247-85A3-0CB62E67E5D1}" type="slidenum">
              <a:rPr lang="en-US" smtClean="0"/>
              <a:t>16</a:t>
            </a:fld>
            <a:endParaRPr lang="en-US"/>
          </a:p>
        </p:txBody>
      </p:sp>
      <p:sp>
        <p:nvSpPr>
          <p:cNvPr id="6" name="Content Placeholder 2">
            <a:extLst>
              <a:ext uri="{FF2B5EF4-FFF2-40B4-BE49-F238E27FC236}">
                <a16:creationId xmlns:a16="http://schemas.microsoft.com/office/drawing/2014/main" id="{A969C0F9-EE64-B0B9-CE57-05CC4EFCF4A1}"/>
              </a:ext>
            </a:extLst>
          </p:cNvPr>
          <p:cNvSpPr txBox="1">
            <a:spLocks/>
          </p:cNvSpPr>
          <p:nvPr/>
        </p:nvSpPr>
        <p:spPr>
          <a:xfrm>
            <a:off x="457200" y="863600"/>
            <a:ext cx="8229600" cy="56726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200" b="1" dirty="0" err="1">
                <a:latin typeface="Consolas" panose="020B0609020204030204" pitchFamily="49" charset="0"/>
                <a:cs typeface="Consolas" panose="020B0609020204030204" pitchFamily="49" charset="0"/>
              </a:rPr>
              <a:t>moran_plot</a:t>
            </a:r>
            <a:r>
              <a:rPr lang="en-US" sz="1200" b="1" dirty="0">
                <a:latin typeface="Consolas" panose="020B0609020204030204" pitchFamily="49" charset="0"/>
                <a:cs typeface="Consolas" panose="020B0609020204030204" pitchFamily="49" charset="0"/>
              </a:rPr>
              <a:t>(</a:t>
            </a:r>
            <a:r>
              <a:rPr lang="en-US" sz="1200" b="1" dirty="0" err="1">
                <a:latin typeface="Consolas" panose="020B0609020204030204" pitchFamily="49" charset="0"/>
                <a:cs typeface="Consolas" panose="020B0609020204030204" pitchFamily="49" charset="0"/>
              </a:rPr>
              <a:t>georgia$college</a:t>
            </a:r>
            <a:r>
              <a:rPr lang="en-US" sz="1200" b="1" dirty="0">
                <a:latin typeface="Consolas" panose="020B0609020204030204" pitchFamily="49" charset="0"/>
                <a:cs typeface="Consolas" panose="020B0609020204030204" pitchFamily="49" charset="0"/>
              </a:rPr>
              <a:t>, W)</a:t>
            </a: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mc(</a:t>
            </a:r>
            <a:r>
              <a:rPr lang="en-US" sz="1200" b="1" dirty="0" err="1">
                <a:latin typeface="Consolas" panose="020B0609020204030204" pitchFamily="49" charset="0"/>
                <a:cs typeface="Consolas" panose="020B0609020204030204" pitchFamily="49" charset="0"/>
              </a:rPr>
              <a:t>georgia$college</a:t>
            </a:r>
            <a:r>
              <a:rPr lang="en-US" sz="1200" b="1" dirty="0">
                <a:latin typeface="Consolas" panose="020B0609020204030204" pitchFamily="49" charset="0"/>
                <a:cs typeface="Consolas" panose="020B0609020204030204" pitchFamily="49" charset="0"/>
              </a:rPr>
              <a:t>, W)</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0.422</a:t>
            </a: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gr(</a:t>
            </a:r>
            <a:r>
              <a:rPr lang="en-US" sz="1200" b="1" dirty="0" err="1">
                <a:latin typeface="Consolas" panose="020B0609020204030204" pitchFamily="49" charset="0"/>
                <a:cs typeface="Consolas" panose="020B0609020204030204" pitchFamily="49" charset="0"/>
              </a:rPr>
              <a:t>georgia$college</a:t>
            </a:r>
            <a:r>
              <a:rPr lang="en-US" sz="1200" b="1" dirty="0">
                <a:latin typeface="Consolas" panose="020B0609020204030204" pitchFamily="49" charset="0"/>
                <a:cs typeface="Consolas" panose="020B0609020204030204" pitchFamily="49" charset="0"/>
              </a:rPr>
              <a:t>, W)</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0.567</a:t>
            </a: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mc(x, W) + gr(x, W)</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0.989</a:t>
            </a:r>
          </a:p>
        </p:txBody>
      </p:sp>
      <p:pic>
        <p:nvPicPr>
          <p:cNvPr id="9" name="Picture 8">
            <a:extLst>
              <a:ext uri="{FF2B5EF4-FFF2-40B4-BE49-F238E27FC236}">
                <a16:creationId xmlns:a16="http://schemas.microsoft.com/office/drawing/2014/main" id="{37B9CB8F-8554-CC34-4161-075E5776F5D9}"/>
              </a:ext>
            </a:extLst>
          </p:cNvPr>
          <p:cNvPicPr>
            <a:picLocks noChangeAspect="1"/>
          </p:cNvPicPr>
          <p:nvPr/>
        </p:nvPicPr>
        <p:blipFill>
          <a:blip r:embed="rId2"/>
          <a:stretch>
            <a:fillRect/>
          </a:stretch>
        </p:blipFill>
        <p:spPr>
          <a:xfrm>
            <a:off x="3324860" y="863600"/>
            <a:ext cx="4023360" cy="2970208"/>
          </a:xfrm>
          <a:prstGeom prst="rect">
            <a:avLst/>
          </a:prstGeom>
        </p:spPr>
      </p:pic>
      <p:sp>
        <p:nvSpPr>
          <p:cNvPr id="11" name="TextBox 10">
            <a:extLst>
              <a:ext uri="{FF2B5EF4-FFF2-40B4-BE49-F238E27FC236}">
                <a16:creationId xmlns:a16="http://schemas.microsoft.com/office/drawing/2014/main" id="{1ACFA216-B548-49B7-C8BF-1EDF20A69EED}"/>
              </a:ext>
            </a:extLst>
          </p:cNvPr>
          <p:cNvSpPr txBox="1"/>
          <p:nvPr/>
        </p:nvSpPr>
        <p:spPr>
          <a:xfrm>
            <a:off x="2880361" y="5313118"/>
            <a:ext cx="5735319" cy="738664"/>
          </a:xfrm>
          <a:prstGeom prst="rect">
            <a:avLst/>
          </a:prstGeom>
          <a:solidFill>
            <a:srgbClr val="FFD84C"/>
          </a:solidFill>
        </p:spPr>
        <p:txBody>
          <a:bodyPr wrap="square" rtlCol="0">
            <a:spAutoFit/>
          </a:bodyPr>
          <a:lstStyle/>
          <a:p>
            <a:r>
              <a:rPr lang="en-US" sz="1400" dirty="0"/>
              <a:t>The </a:t>
            </a:r>
            <a:r>
              <a:rPr lang="en-US" sz="1400" b="1" dirty="0"/>
              <a:t>GR is more sensitive </a:t>
            </a:r>
            <a:r>
              <a:rPr lang="en-US" sz="1400" dirty="0"/>
              <a:t>than the MC </a:t>
            </a:r>
            <a:r>
              <a:rPr lang="en-US" sz="1400" b="1" dirty="0"/>
              <a:t>to negative SA</a:t>
            </a:r>
            <a:r>
              <a:rPr lang="en-US" sz="1400" dirty="0"/>
              <a:t>, and, as such, it is sensitive to local outliers. When a variable does not contain influential local outliers, the sum of its GR and MC values will be equal to about 1.</a:t>
            </a:r>
          </a:p>
        </p:txBody>
      </p:sp>
      <p:cxnSp>
        <p:nvCxnSpPr>
          <p:cNvPr id="13" name="Straight Connector 12">
            <a:extLst>
              <a:ext uri="{FF2B5EF4-FFF2-40B4-BE49-F238E27FC236}">
                <a16:creationId xmlns:a16="http://schemas.microsoft.com/office/drawing/2014/main" id="{57A8A61B-4D8C-4005-5C16-FB5338970340}"/>
              </a:ext>
            </a:extLst>
          </p:cNvPr>
          <p:cNvCxnSpPr/>
          <p:nvPr/>
        </p:nvCxnSpPr>
        <p:spPr>
          <a:xfrm>
            <a:off x="386080" y="3941029"/>
            <a:ext cx="8229600"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CDA971EC-68CF-14ED-FC0D-B83DCDC93EB5}"/>
              </a:ext>
            </a:extLst>
          </p:cNvPr>
          <p:cNvSpPr txBox="1"/>
          <p:nvPr/>
        </p:nvSpPr>
        <p:spPr>
          <a:xfrm>
            <a:off x="2880361" y="4136472"/>
            <a:ext cx="5735319" cy="954107"/>
          </a:xfrm>
          <a:prstGeom prst="rect">
            <a:avLst/>
          </a:prstGeom>
          <a:solidFill>
            <a:srgbClr val="FFD84C"/>
          </a:solidFill>
        </p:spPr>
        <p:txBody>
          <a:bodyPr wrap="square" rtlCol="0">
            <a:spAutoFit/>
          </a:bodyPr>
          <a:lstStyle/>
          <a:p>
            <a:r>
              <a:rPr lang="en-US" sz="1400" dirty="0"/>
              <a:t>The </a:t>
            </a:r>
            <a:r>
              <a:rPr lang="en-US" sz="1400" b="1" dirty="0"/>
              <a:t>Geary Ratio </a:t>
            </a:r>
            <a:r>
              <a:rPr lang="en-US" sz="1400" dirty="0"/>
              <a:t>(often called Geary's C) is another way to measure spatial autocorrelation. While Moran's I focuses on how values "co-vary" (move together), Geary's C focuses on the </a:t>
            </a:r>
            <a:r>
              <a:rPr lang="en-US" sz="1400" b="1" dirty="0"/>
              <a:t>actual distance or difference between neighboring values</a:t>
            </a:r>
            <a:r>
              <a:rPr lang="en-US" sz="1400" dirty="0"/>
              <a:t>.</a:t>
            </a:r>
          </a:p>
        </p:txBody>
      </p:sp>
      <p:pic>
        <p:nvPicPr>
          <p:cNvPr id="7" name="Picture 6">
            <a:extLst>
              <a:ext uri="{FF2B5EF4-FFF2-40B4-BE49-F238E27FC236}">
                <a16:creationId xmlns:a16="http://schemas.microsoft.com/office/drawing/2014/main" id="{E95B39AF-BE7D-1ACF-2DCD-9C22A7A59F1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915527" y="0"/>
            <a:ext cx="2228473" cy="1463040"/>
          </a:xfrm>
          <a:prstGeom prst="rect">
            <a:avLst/>
          </a:prstGeom>
        </p:spPr>
      </p:pic>
    </p:spTree>
    <p:extLst>
      <p:ext uri="{BB962C8B-B14F-4D97-AF65-F5344CB8AC3E}">
        <p14:creationId xmlns:p14="http://schemas.microsoft.com/office/powerpoint/2010/main" val="3519701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0CC58-61B5-7E21-8542-AB657EE2FB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1F03CE-3D47-4C3D-F4BF-C9A208F407E0}"/>
              </a:ext>
            </a:extLst>
          </p:cNvPr>
          <p:cNvSpPr>
            <a:spLocks noGrp="1"/>
          </p:cNvSpPr>
          <p:nvPr>
            <p:ph idx="1"/>
          </p:nvPr>
        </p:nvSpPr>
        <p:spPr>
          <a:xfrm>
            <a:off x="457199" y="321734"/>
            <a:ext cx="8354291" cy="6034618"/>
          </a:xfrm>
        </p:spPr>
        <p:txBody>
          <a:bodyPr>
            <a:noAutofit/>
          </a:bodyPr>
          <a:lstStyle/>
          <a:p>
            <a:pPr marL="0" indent="0">
              <a:buNone/>
            </a:pPr>
            <a:r>
              <a:rPr lang="en-US" sz="1800" b="1" dirty="0"/>
              <a:t>Local Indicators of Spatial Association (LISAs)</a:t>
            </a:r>
            <a:endParaRPr lang="en-US" sz="1600" dirty="0"/>
          </a:p>
          <a:p>
            <a:r>
              <a:rPr lang="en-US" sz="1600" dirty="0"/>
              <a:t>The LISA is a class of local SA statistics.</a:t>
            </a:r>
          </a:p>
          <a:p>
            <a:pPr lvl="1"/>
            <a:r>
              <a:rPr lang="en-US" sz="1400" dirty="0"/>
              <a:t>Every LISA is related to a global SA index (such as the MC and GR).</a:t>
            </a:r>
          </a:p>
          <a:p>
            <a:r>
              <a:rPr lang="en-US" sz="1600" dirty="0"/>
              <a:t>A LISA statistic does two specific things for every location:</a:t>
            </a:r>
          </a:p>
          <a:p>
            <a:pPr lvl="1"/>
            <a:r>
              <a:rPr lang="en-US" sz="1400" b="1" dirty="0"/>
              <a:t>Indicates Clustering</a:t>
            </a:r>
            <a:r>
              <a:rPr lang="en-US" sz="1400" dirty="0"/>
              <a:t>: It tells you if that specific spot is surrounded by similar values </a:t>
            </a:r>
            <a:br>
              <a:rPr lang="en-US" sz="1400" dirty="0"/>
            </a:br>
            <a:r>
              <a:rPr lang="en-US" sz="1400" dirty="0"/>
              <a:t>(forming a cluster).</a:t>
            </a:r>
          </a:p>
          <a:p>
            <a:pPr lvl="1"/>
            <a:r>
              <a:rPr lang="en-US" sz="1400" b="1" dirty="0"/>
              <a:t>Summing to Global</a:t>
            </a:r>
            <a:r>
              <a:rPr lang="en-US" sz="1400" dirty="0"/>
              <a:t>: If you added up all the LISA values for every location on the map, </a:t>
            </a:r>
            <a:br>
              <a:rPr lang="en-US" sz="1400" dirty="0"/>
            </a:br>
            <a:r>
              <a:rPr lang="en-US" sz="1400" dirty="0"/>
              <a:t>they would equal the "Global" Moran's I.</a:t>
            </a:r>
          </a:p>
          <a:p>
            <a:r>
              <a:rPr lang="en-US" sz="1600" dirty="0"/>
              <a:t>Four Categories of LISA (Moran Scatterplot categories):</a:t>
            </a:r>
          </a:p>
          <a:p>
            <a:pPr marL="800100" lvl="1" indent="-342900">
              <a:buFont typeface="+mj-lt"/>
              <a:buAutoNum type="arabicPeriod"/>
            </a:pPr>
            <a:r>
              <a:rPr lang="en-US" sz="1600" b="1" dirty="0"/>
              <a:t>High-High (</a:t>
            </a:r>
            <a:r>
              <a:rPr lang="en-US" sz="1600" b="1" dirty="0">
                <a:solidFill>
                  <a:srgbClr val="FF0000"/>
                </a:solidFill>
              </a:rPr>
              <a:t>Hot Spots</a:t>
            </a:r>
            <a:r>
              <a:rPr lang="en-US" sz="1600" b="1" dirty="0"/>
              <a:t>)</a:t>
            </a:r>
          </a:p>
          <a:p>
            <a:pPr lvl="2"/>
            <a:r>
              <a:rPr lang="en-US" sz="1400" dirty="0"/>
              <a:t>A high-value location surrounded by other high-value neighbors.</a:t>
            </a:r>
          </a:p>
          <a:p>
            <a:pPr lvl="2"/>
            <a:r>
              <a:rPr lang="en-US" sz="1400" dirty="0"/>
              <a:t>Example: A wealthy neighborhood surrounded by other wealthy neighborhoods.</a:t>
            </a:r>
          </a:p>
          <a:p>
            <a:pPr marL="800100" lvl="1" indent="-342900">
              <a:buFont typeface="+mj-lt"/>
              <a:buAutoNum type="arabicPeriod"/>
            </a:pPr>
            <a:r>
              <a:rPr lang="en-US" sz="1600" b="1" dirty="0"/>
              <a:t>Low-Low (</a:t>
            </a:r>
            <a:r>
              <a:rPr lang="en-US" sz="1600" b="1" dirty="0">
                <a:solidFill>
                  <a:srgbClr val="0070C0"/>
                </a:solidFill>
              </a:rPr>
              <a:t>Cold Spots</a:t>
            </a:r>
            <a:r>
              <a:rPr lang="en-US" sz="1600" b="1" dirty="0"/>
              <a:t>)</a:t>
            </a:r>
          </a:p>
          <a:p>
            <a:pPr lvl="2"/>
            <a:r>
              <a:rPr lang="en-US" sz="1400" dirty="0"/>
              <a:t>A low-value location surrounded by other low-value neighbors.</a:t>
            </a:r>
          </a:p>
          <a:p>
            <a:pPr lvl="2"/>
            <a:r>
              <a:rPr lang="en-US" sz="1400" dirty="0"/>
              <a:t>Example: A rural area with low internet speeds surrounded by other areas with slow internet.</a:t>
            </a:r>
          </a:p>
          <a:p>
            <a:pPr marL="800100" lvl="1" indent="-342900">
              <a:buFont typeface="+mj-lt"/>
              <a:buAutoNum type="arabicPeriod"/>
            </a:pPr>
            <a:r>
              <a:rPr lang="en-US" sz="1600" b="1" dirty="0"/>
              <a:t>High-Low (</a:t>
            </a:r>
            <a:r>
              <a:rPr lang="en-US" sz="1600" b="1" dirty="0">
                <a:solidFill>
                  <a:srgbClr val="7030A0"/>
                </a:solidFill>
              </a:rPr>
              <a:t>Spatial Outlier</a:t>
            </a:r>
            <a:r>
              <a:rPr lang="en-US" sz="1600" b="1" dirty="0"/>
              <a:t>)</a:t>
            </a:r>
          </a:p>
          <a:p>
            <a:pPr lvl="2"/>
            <a:r>
              <a:rPr lang="en-US" sz="1400" dirty="0"/>
              <a:t>A "High" value location surrounded by "Low" value neighbors.</a:t>
            </a:r>
          </a:p>
          <a:p>
            <a:pPr lvl="2"/>
            <a:r>
              <a:rPr lang="en-US" sz="1400" dirty="0"/>
              <a:t>Example: A single skyscraper in the middle of a small farming town.</a:t>
            </a:r>
          </a:p>
          <a:p>
            <a:pPr marL="800100" lvl="1" indent="-342900">
              <a:buFont typeface="+mj-lt"/>
              <a:buAutoNum type="arabicPeriod"/>
            </a:pPr>
            <a:r>
              <a:rPr lang="en-US" sz="1600" b="1" dirty="0"/>
              <a:t>Low-High (</a:t>
            </a:r>
            <a:r>
              <a:rPr lang="en-US" sz="1600" b="1" dirty="0">
                <a:solidFill>
                  <a:srgbClr val="7030A0"/>
                </a:solidFill>
              </a:rPr>
              <a:t>Spatial Outlier</a:t>
            </a:r>
            <a:r>
              <a:rPr lang="en-US" sz="1600" b="1" dirty="0"/>
              <a:t>)</a:t>
            </a:r>
          </a:p>
          <a:p>
            <a:pPr lvl="2"/>
            <a:r>
              <a:rPr lang="en-US" sz="1400" dirty="0"/>
              <a:t>A "Low" value location surrounded by "High" value neighbors.</a:t>
            </a:r>
          </a:p>
          <a:p>
            <a:pPr lvl="2"/>
            <a:r>
              <a:rPr lang="en-US" sz="1400" dirty="0"/>
              <a:t>Example: A small park or vacant lot in the middle of a dense, expensive downtown.</a:t>
            </a:r>
          </a:p>
        </p:txBody>
      </p:sp>
      <p:sp>
        <p:nvSpPr>
          <p:cNvPr id="4" name="Slide Number Placeholder 3">
            <a:extLst>
              <a:ext uri="{FF2B5EF4-FFF2-40B4-BE49-F238E27FC236}">
                <a16:creationId xmlns:a16="http://schemas.microsoft.com/office/drawing/2014/main" id="{58F9033B-16CF-89E8-DEE0-D80111EB1AB7}"/>
              </a:ext>
            </a:extLst>
          </p:cNvPr>
          <p:cNvSpPr>
            <a:spLocks noGrp="1"/>
          </p:cNvSpPr>
          <p:nvPr>
            <p:ph type="sldNum" sz="quarter" idx="12"/>
          </p:nvPr>
        </p:nvSpPr>
        <p:spPr/>
        <p:txBody>
          <a:bodyPr/>
          <a:lstStyle/>
          <a:p>
            <a:fld id="{C0343C75-1924-D247-85A3-0CB62E67E5D1}" type="slidenum">
              <a:rPr lang="en-US" smtClean="0"/>
              <a:t>17</a:t>
            </a:fld>
            <a:endParaRPr lang="en-US"/>
          </a:p>
        </p:txBody>
      </p:sp>
    </p:spTree>
    <p:extLst>
      <p:ext uri="{BB962C8B-B14F-4D97-AF65-F5344CB8AC3E}">
        <p14:creationId xmlns:p14="http://schemas.microsoft.com/office/powerpoint/2010/main" val="2944899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7CDAC-39D5-60EF-022F-2B9C0F18332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8CC1957-5FC1-F2BC-6C92-70CCCF0D54CF}"/>
                  </a:ext>
                </a:extLst>
              </p:cNvPr>
              <p:cNvSpPr>
                <a:spLocks noGrp="1"/>
              </p:cNvSpPr>
              <p:nvPr>
                <p:ph idx="1"/>
              </p:nvPr>
            </p:nvSpPr>
            <p:spPr>
              <a:xfrm>
                <a:off x="457199" y="321734"/>
                <a:ext cx="8354291" cy="6034618"/>
              </a:xfrm>
            </p:spPr>
            <p:txBody>
              <a:bodyPr>
                <a:noAutofit/>
              </a:bodyPr>
              <a:lstStyle/>
              <a:p>
                <a:pPr marL="0" indent="0">
                  <a:buNone/>
                </a:pPr>
                <a:r>
                  <a:rPr lang="en-US" sz="1800" b="1" dirty="0"/>
                  <a:t>Local Indicators of Spatial Association (LISAs)</a:t>
                </a:r>
                <a:endParaRPr lang="en-US" sz="1600" dirty="0"/>
              </a:p>
              <a:p>
                <a:r>
                  <a:rPr lang="en-US" sz="1600" dirty="0"/>
                  <a:t>The LISA is a class of local SA statistics.</a:t>
                </a:r>
              </a:p>
              <a:p>
                <a:pPr lvl="1"/>
                <a:r>
                  <a:rPr lang="en-US" sz="1400" dirty="0"/>
                  <a:t>Every LISA is related to a global SA index (such as the MC and GR).</a:t>
                </a:r>
              </a:p>
              <a:p>
                <a:pPr lvl="1"/>
                <a:r>
                  <a:rPr lang="en-US" sz="1400" dirty="0"/>
                  <a:t>Local Moran's I for the 𝑖</a:t>
                </a:r>
                <a:r>
                  <a:rPr lang="en-US" sz="1400" baseline="30000" dirty="0"/>
                  <a:t>𝑡</a:t>
                </a:r>
                <a:r>
                  <a:rPr lang="en-US" sz="1400" baseline="30000" dirty="0" err="1"/>
                  <a:t>ℎ</a:t>
                </a:r>
                <a:r>
                  <a:rPr lang="en-US" sz="1400" dirty="0"/>
                  <a:t> unit is</a:t>
                </a:r>
                <a:br>
                  <a:rPr lang="en-US" sz="1400" dirty="0"/>
                </a:b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𝐼</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𝑧</m:t>
                        </m:r>
                      </m:e>
                      <m:sub>
                        <m:r>
                          <a:rPr lang="en-US" sz="1400" b="0" i="1" smtClean="0">
                            <a:latin typeface="Cambria Math" panose="02040503050406030204" pitchFamily="18" charset="0"/>
                          </a:rPr>
                          <m:t>𝑖</m:t>
                        </m:r>
                      </m:sub>
                    </m:sSub>
                    <m:nary>
                      <m:naryPr>
                        <m:chr m:val="∑"/>
                        <m:limLoc m:val="subSup"/>
                        <m:ctrlPr>
                          <a:rPr lang="en-US" sz="1400" b="0" i="1" smtClean="0">
                            <a:latin typeface="Cambria Math" panose="02040503050406030204" pitchFamily="18" charset="0"/>
                          </a:rPr>
                        </m:ctrlPr>
                      </m:naryPr>
                      <m:sub>
                        <m:r>
                          <m:rPr>
                            <m:brk m:alnAt="25"/>
                          </m:rPr>
                          <a:rPr lang="en-US" sz="1400" b="0" i="1" smtClean="0">
                            <a:latin typeface="Cambria Math" panose="02040503050406030204" pitchFamily="18" charset="0"/>
                          </a:rPr>
                          <m:t>𝑗</m:t>
                        </m:r>
                      </m:sub>
                      <m:sup>
                        <m:r>
                          <a:rPr lang="en-US" sz="1400" b="0" i="1" smtClean="0">
                            <a:latin typeface="Cambria Math" panose="02040503050406030204" pitchFamily="18" charset="0"/>
                          </a:rPr>
                          <m:t>𝑛</m:t>
                        </m:r>
                      </m:sup>
                      <m:e>
                        <m:sSub>
                          <m:sSubPr>
                            <m:ctrlPr>
                              <a:rPr lang="en-US" sz="1400" i="1">
                                <a:latin typeface="Cambria Math" panose="02040503050406030204" pitchFamily="18" charset="0"/>
                              </a:rPr>
                            </m:ctrlPr>
                          </m:sSubPr>
                          <m:e>
                            <m:r>
                              <a:rPr lang="en-US" sz="1400" i="1">
                                <a:latin typeface="Cambria Math" panose="02040503050406030204" pitchFamily="18" charset="0"/>
                              </a:rPr>
                              <m:t>𝑤</m:t>
                            </m:r>
                          </m:e>
                          <m:sub>
                            <m:r>
                              <a:rPr lang="en-US" sz="1400" i="1">
                                <a:latin typeface="Cambria Math" panose="02040503050406030204" pitchFamily="18" charset="0"/>
                              </a:rPr>
                              <m:t>𝑖𝑗</m:t>
                            </m:r>
                          </m:sub>
                        </m:sSub>
                        <m:sSub>
                          <m:sSubPr>
                            <m:ctrlPr>
                              <a:rPr lang="en-US" sz="1400" i="1">
                                <a:latin typeface="Cambria Math" panose="02040503050406030204" pitchFamily="18" charset="0"/>
                              </a:rPr>
                            </m:ctrlPr>
                          </m:sSubPr>
                          <m:e>
                            <m:r>
                              <a:rPr lang="en-US" sz="1400" i="1">
                                <a:latin typeface="Cambria Math" panose="02040503050406030204" pitchFamily="18" charset="0"/>
                              </a:rPr>
                              <m:t>𝑧</m:t>
                            </m:r>
                          </m:e>
                          <m:sub>
                            <m:r>
                              <a:rPr lang="en-US" sz="1400" i="1">
                                <a:latin typeface="Cambria Math" panose="02040503050406030204" pitchFamily="18" charset="0"/>
                              </a:rPr>
                              <m:t>𝑗</m:t>
                            </m:r>
                          </m:sub>
                        </m:sSub>
                      </m:e>
                    </m:nary>
                  </m:oMath>
                </a14:m>
                <a:endParaRPr lang="en-US" sz="1400" dirty="0"/>
              </a:p>
              <a:p>
                <a:pPr lvl="1"/>
                <a:r>
                  <a:rPr lang="en-US" sz="1400" dirty="0"/>
                  <a:t>And the Local Geary statistic 𝐶</a:t>
                </a:r>
                <a:r>
                  <a:rPr lang="en-US" sz="1400" baseline="-25000" dirty="0"/>
                  <a:t>𝑖</a:t>
                </a:r>
                <a:r>
                  <a:rPr lang="en-US" sz="1400" dirty="0"/>
                  <a:t> is the weighted sum of squared differences </a:t>
                </a:r>
                <a:r>
                  <a:rPr lang="en-US" sz="1400" baseline="30000" dirty="0"/>
                  <a:t>found in the numerator in the GR</a:t>
                </a:r>
                <a:r>
                  <a:rPr lang="en-US" sz="1400" dirty="0"/>
                  <a:t>:</a:t>
                </a:r>
                <a:br>
                  <a:rPr lang="en-US" sz="1400" dirty="0"/>
                </a:br>
                <a14:m>
                  <m:oMath xmlns:m="http://schemas.openxmlformats.org/officeDocument/2006/math">
                    <m:sSub>
                      <m:sSubPr>
                        <m:ctrlPr>
                          <a:rPr lang="en-US" sz="1400" i="1">
                            <a:latin typeface="Cambria Math" panose="02040503050406030204" pitchFamily="18" charset="0"/>
                          </a:rPr>
                        </m:ctrlPr>
                      </m:sSubPr>
                      <m:e>
                        <m:r>
                          <a:rPr lang="en-US" sz="1400" b="0" i="1" smtClean="0">
                            <a:latin typeface="Cambria Math" panose="02040503050406030204" pitchFamily="18" charset="0"/>
                          </a:rPr>
                          <m:t>𝐶</m:t>
                        </m:r>
                      </m:e>
                      <m:sub>
                        <m:r>
                          <a:rPr lang="en-US" sz="1400" i="1">
                            <a:latin typeface="Cambria Math" panose="02040503050406030204" pitchFamily="18" charset="0"/>
                          </a:rPr>
                          <m:t>𝑖</m:t>
                        </m:r>
                      </m:sub>
                    </m:sSub>
                    <m:r>
                      <a:rPr lang="en-US" sz="1400" i="1">
                        <a:latin typeface="Cambria Math" panose="02040503050406030204" pitchFamily="18" charset="0"/>
                      </a:rPr>
                      <m:t>=</m:t>
                    </m:r>
                    <m:nary>
                      <m:naryPr>
                        <m:chr m:val="∑"/>
                        <m:limLoc m:val="subSup"/>
                        <m:ctrlPr>
                          <a:rPr lang="en-US" sz="1400" i="1">
                            <a:latin typeface="Cambria Math" panose="02040503050406030204" pitchFamily="18" charset="0"/>
                          </a:rPr>
                        </m:ctrlPr>
                      </m:naryPr>
                      <m:sub>
                        <m:r>
                          <m:rPr>
                            <m:brk m:alnAt="25"/>
                          </m:rPr>
                          <a:rPr lang="en-US" sz="1400" i="1">
                            <a:latin typeface="Cambria Math" panose="02040503050406030204" pitchFamily="18" charset="0"/>
                          </a:rPr>
                          <m:t>𝑗</m:t>
                        </m:r>
                      </m:sub>
                      <m:sup>
                        <m:r>
                          <a:rPr lang="en-US" sz="1400" i="1">
                            <a:latin typeface="Cambria Math" panose="02040503050406030204" pitchFamily="18" charset="0"/>
                          </a:rPr>
                          <m:t>𝑛</m:t>
                        </m:r>
                      </m:sup>
                      <m:e>
                        <m:sSub>
                          <m:sSubPr>
                            <m:ctrlPr>
                              <a:rPr lang="en-US" sz="1400" i="1">
                                <a:latin typeface="Cambria Math" panose="02040503050406030204" pitchFamily="18" charset="0"/>
                              </a:rPr>
                            </m:ctrlPr>
                          </m:sSubPr>
                          <m:e>
                            <m:r>
                              <a:rPr lang="en-US" sz="1400" i="1">
                                <a:latin typeface="Cambria Math" panose="02040503050406030204" pitchFamily="18" charset="0"/>
                              </a:rPr>
                              <m:t>𝑤</m:t>
                            </m:r>
                          </m:e>
                          <m:sub>
                            <m:r>
                              <a:rPr lang="en-US" sz="1400" i="1">
                                <a:latin typeface="Cambria Math" panose="02040503050406030204" pitchFamily="18" charset="0"/>
                              </a:rPr>
                              <m:t>𝑖𝑗</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𝑗</m:t>
                            </m:r>
                          </m:sub>
                        </m:sSub>
                        <m:r>
                          <a:rPr lang="en-US" sz="1400" i="1">
                            <a:latin typeface="Cambria Math" panose="02040503050406030204" pitchFamily="18" charset="0"/>
                          </a:rPr>
                          <m:t>)</m:t>
                        </m:r>
                      </m:e>
                    </m:nary>
                  </m:oMath>
                </a14:m>
                <a:endParaRPr lang="en-US" sz="1400" dirty="0"/>
              </a:p>
              <a:p>
                <a:pPr marL="457200" lvl="1" indent="0">
                  <a:buNone/>
                </a:pPr>
                <a:r>
                  <a:rPr lang="en-US" sz="1400" dirty="0"/>
                  <a:t>where </a:t>
                </a:r>
                <a14:m>
                  <m:oMath xmlns:m="http://schemas.openxmlformats.org/officeDocument/2006/math">
                    <m:r>
                      <a:rPr lang="en-US" sz="1400" i="1">
                        <a:latin typeface="Cambria Math" panose="02040503050406030204" pitchFamily="18" charset="0"/>
                      </a:rPr>
                      <m:t>𝑧</m:t>
                    </m:r>
                  </m:oMath>
                </a14:m>
                <a:r>
                  <a:rPr lang="en-US" sz="1400" dirty="0"/>
                  <a:t> is the original variable in deviation form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𝑧</m:t>
                        </m:r>
                      </m:e>
                      <m:sub>
                        <m:r>
                          <a:rPr lang="en-US" sz="1400" i="1">
                            <a:latin typeface="Cambria Math" panose="02040503050406030204" pitchFamily="18" charset="0"/>
                          </a:rPr>
                          <m:t>𝑖</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𝑦</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𝑦</m:t>
                        </m:r>
                      </m:e>
                    </m:acc>
                  </m:oMath>
                </a14:m>
                <a:r>
                  <a:rPr lang="en-US" sz="1400" dirty="0"/>
                  <a:t>), and 𝑊 is the spatial connectivity matrix</a:t>
                </a:r>
              </a:p>
              <a:p>
                <a:r>
                  <a:rPr lang="en-US" sz="1600" dirty="0"/>
                  <a:t>A LISA statistic does two specific things for every location:</a:t>
                </a:r>
              </a:p>
              <a:p>
                <a:pPr lvl="1"/>
                <a:r>
                  <a:rPr lang="en-US" sz="1400" b="1" dirty="0"/>
                  <a:t>Indicates Clustering</a:t>
                </a:r>
                <a:r>
                  <a:rPr lang="en-US" sz="1400" dirty="0"/>
                  <a:t>: It tells you if that specific spot is surrounded by similar values </a:t>
                </a:r>
                <a:br>
                  <a:rPr lang="en-US" sz="1400" dirty="0"/>
                </a:br>
                <a:r>
                  <a:rPr lang="en-US" sz="1400" dirty="0"/>
                  <a:t>(forming a cluster).</a:t>
                </a:r>
              </a:p>
              <a:p>
                <a:pPr lvl="1"/>
                <a:r>
                  <a:rPr lang="en-US" sz="1400" b="1" dirty="0"/>
                  <a:t>Summing to Global</a:t>
                </a:r>
                <a:r>
                  <a:rPr lang="en-US" sz="1400" dirty="0"/>
                  <a:t>: If you added up all the LISA values for every location on the map, </a:t>
                </a:r>
                <a:br>
                  <a:rPr lang="en-US" sz="1400" dirty="0"/>
                </a:br>
                <a:r>
                  <a:rPr lang="en-US" sz="1400" dirty="0"/>
                  <a:t>they would equal the "Global" Moran's I.</a:t>
                </a:r>
              </a:p>
              <a:p>
                <a:r>
                  <a:rPr lang="en-US" sz="1600" b="1" dirty="0" err="1"/>
                  <a:t>geostan</a:t>
                </a:r>
                <a:r>
                  <a:rPr lang="en-US" sz="1600" dirty="0"/>
                  <a:t> contains functions for calculating local Geary's C and a local version of the MC, known as local Moran's I.</a:t>
                </a:r>
              </a:p>
              <a:p>
                <a:pPr lvl="1"/>
                <a:r>
                  <a:rPr lang="en-US" sz="1400" dirty="0"/>
                  <a:t>The </a:t>
                </a:r>
                <a:r>
                  <a:rPr lang="en-US" sz="1400" b="1" dirty="0" err="1"/>
                  <a:t>lisa</a:t>
                </a:r>
                <a:r>
                  <a:rPr lang="en-US" sz="1400" dirty="0"/>
                  <a:t> function returns local Moran's I values and indicates which quadrant of the Moran plot the point is found.</a:t>
                </a:r>
              </a:p>
              <a:p>
                <a:pPr lvl="1"/>
                <a:r>
                  <a:rPr lang="en-US" sz="1400" dirty="0"/>
                  <a:t>The </a:t>
                </a:r>
                <a:r>
                  <a:rPr lang="en-US" sz="1400" u="sng" dirty="0"/>
                  <a:t>local Geary statistic*</a:t>
                </a:r>
                <a:r>
                  <a:rPr lang="en-US" sz="1400" dirty="0"/>
                  <a:t> is sensitive to local outliers (negative SA), more so than local Moran's I.</a:t>
                </a:r>
              </a:p>
              <a:p>
                <a:pPr lvl="1"/>
                <a:r>
                  <a:rPr lang="en-US" sz="1400" dirty="0"/>
                  <a:t>This makes these two LISAs complementary: 𝐼</a:t>
                </a:r>
                <a:r>
                  <a:rPr lang="en-US" sz="1400" baseline="-25000" dirty="0"/>
                  <a:t>𝑖</a:t>
                </a:r>
                <a:r>
                  <a:rPr lang="en-US" sz="1400" dirty="0"/>
                  <a:t> is most useful to visualizing clustering behavior, whereas 𝐶</a:t>
                </a:r>
                <a:r>
                  <a:rPr lang="en-US" sz="1400" baseline="-25000" dirty="0"/>
                  <a:t>𝑖</a:t>
                </a:r>
                <a:r>
                  <a:rPr lang="en-US" sz="1400" dirty="0"/>
                  <a:t> is useful for visualizing local outliers.</a:t>
                </a:r>
              </a:p>
              <a:p>
                <a:pPr lvl="1"/>
                <a:r>
                  <a:rPr lang="en-US" sz="1400" dirty="0"/>
                  <a:t>By default, </a:t>
                </a:r>
                <a:r>
                  <a:rPr lang="en-US" sz="1400" b="1" dirty="0" err="1"/>
                  <a:t>geostan</a:t>
                </a:r>
                <a:r>
                  <a:rPr lang="en-US" sz="1400" dirty="0"/>
                  <a:t> will first scale 𝑦 using </a:t>
                </a:r>
                <a:r>
                  <a:rPr lang="en-US" sz="1400" b="1" dirty="0"/>
                  <a:t>z &lt;- scale(y, center = TRUE, scale = TRUE)</a:t>
                </a:r>
                <a:r>
                  <a:rPr lang="en-US" sz="1400" dirty="0"/>
                  <a:t> before calculating either of these LISAs.</a:t>
                </a:r>
              </a:p>
            </p:txBody>
          </p:sp>
        </mc:Choice>
        <mc:Fallback xmlns="">
          <p:sp>
            <p:nvSpPr>
              <p:cNvPr id="3" name="Content Placeholder 2">
                <a:extLst>
                  <a:ext uri="{FF2B5EF4-FFF2-40B4-BE49-F238E27FC236}">
                    <a16:creationId xmlns:a16="http://schemas.microsoft.com/office/drawing/2014/main" id="{38CC1957-5FC1-F2BC-6C92-70CCCF0D54CF}"/>
                  </a:ext>
                </a:extLst>
              </p:cNvPr>
              <p:cNvSpPr>
                <a:spLocks noGrp="1" noRot="1" noChangeAspect="1" noMove="1" noResize="1" noEditPoints="1" noAdjustHandles="1" noChangeArrowheads="1" noChangeShapeType="1" noTextEdit="1"/>
              </p:cNvSpPr>
              <p:nvPr>
                <p:ph idx="1"/>
              </p:nvPr>
            </p:nvSpPr>
            <p:spPr>
              <a:xfrm>
                <a:off x="457199" y="321734"/>
                <a:ext cx="8354291" cy="6034618"/>
              </a:xfrm>
              <a:blipFill>
                <a:blip r:embed="rId2"/>
                <a:stretch>
                  <a:fillRect l="-608" t="-840" r="-6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BA63220-8599-0404-5D5F-2EEBC477BB60}"/>
              </a:ext>
            </a:extLst>
          </p:cNvPr>
          <p:cNvSpPr>
            <a:spLocks noGrp="1"/>
          </p:cNvSpPr>
          <p:nvPr>
            <p:ph type="sldNum" sz="quarter" idx="12"/>
          </p:nvPr>
        </p:nvSpPr>
        <p:spPr/>
        <p:txBody>
          <a:bodyPr/>
          <a:lstStyle/>
          <a:p>
            <a:fld id="{C0343C75-1924-D247-85A3-0CB62E67E5D1}" type="slidenum">
              <a:rPr lang="en-US" smtClean="0"/>
              <a:t>18</a:t>
            </a:fld>
            <a:endParaRPr lang="en-US"/>
          </a:p>
        </p:txBody>
      </p:sp>
      <p:sp>
        <p:nvSpPr>
          <p:cNvPr id="2" name="TextBox 1">
            <a:extLst>
              <a:ext uri="{FF2B5EF4-FFF2-40B4-BE49-F238E27FC236}">
                <a16:creationId xmlns:a16="http://schemas.microsoft.com/office/drawing/2014/main" id="{BAFEC387-4ECF-C239-30F0-46380C6E0AD8}"/>
              </a:ext>
            </a:extLst>
          </p:cNvPr>
          <p:cNvSpPr txBox="1"/>
          <p:nvPr/>
        </p:nvSpPr>
        <p:spPr>
          <a:xfrm>
            <a:off x="457199" y="6261914"/>
            <a:ext cx="5485925" cy="276999"/>
          </a:xfrm>
          <a:prstGeom prst="rect">
            <a:avLst/>
          </a:prstGeom>
          <a:noFill/>
        </p:spPr>
        <p:txBody>
          <a:bodyPr wrap="none" rtlCol="0">
            <a:spAutoFit/>
          </a:bodyPr>
          <a:lstStyle/>
          <a:p>
            <a:r>
              <a:rPr lang="en-US" sz="1200" dirty="0"/>
              <a:t>* </a:t>
            </a:r>
            <a:r>
              <a:rPr lang="en-US" sz="1200" dirty="0">
                <a:hlinkClick r:id="rId3"/>
              </a:rPr>
              <a:t>https://cran.r-project.org/web/packages/geostan/vignettes/measuring-sa.html</a:t>
            </a:r>
            <a:endParaRPr lang="en-US" sz="1200" dirty="0"/>
          </a:p>
        </p:txBody>
      </p:sp>
    </p:spTree>
    <p:extLst>
      <p:ext uri="{BB962C8B-B14F-4D97-AF65-F5344CB8AC3E}">
        <p14:creationId xmlns:p14="http://schemas.microsoft.com/office/powerpoint/2010/main" val="1875579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9AC70-EC1D-111E-B813-F5879CF3783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3E5C7E-697D-650E-9BD5-153565327557}"/>
              </a:ext>
            </a:extLst>
          </p:cNvPr>
          <p:cNvSpPr>
            <a:spLocks noGrp="1"/>
          </p:cNvSpPr>
          <p:nvPr>
            <p:ph idx="1"/>
          </p:nvPr>
        </p:nvSpPr>
        <p:spPr>
          <a:xfrm>
            <a:off x="457200" y="321734"/>
            <a:ext cx="8229600" cy="6034618"/>
          </a:xfrm>
        </p:spPr>
        <p:txBody>
          <a:bodyPr>
            <a:noAutofit/>
          </a:bodyPr>
          <a:lstStyle/>
          <a:p>
            <a:pPr marL="0" indent="0">
              <a:buNone/>
            </a:pPr>
            <a:r>
              <a:rPr lang="en-US" sz="1800" b="1" dirty="0"/>
              <a:t>Local Indicators of Spatial Association (LISAs)</a:t>
            </a:r>
          </a:p>
        </p:txBody>
      </p:sp>
      <p:sp>
        <p:nvSpPr>
          <p:cNvPr id="4" name="Slide Number Placeholder 3">
            <a:extLst>
              <a:ext uri="{FF2B5EF4-FFF2-40B4-BE49-F238E27FC236}">
                <a16:creationId xmlns:a16="http://schemas.microsoft.com/office/drawing/2014/main" id="{11A82876-8F30-5703-A18A-61DD7EF3918B}"/>
              </a:ext>
            </a:extLst>
          </p:cNvPr>
          <p:cNvSpPr>
            <a:spLocks noGrp="1"/>
          </p:cNvSpPr>
          <p:nvPr>
            <p:ph type="sldNum" sz="quarter" idx="12"/>
          </p:nvPr>
        </p:nvSpPr>
        <p:spPr/>
        <p:txBody>
          <a:bodyPr/>
          <a:lstStyle/>
          <a:p>
            <a:fld id="{C0343C75-1924-D247-85A3-0CB62E67E5D1}" type="slidenum">
              <a:rPr lang="en-US" smtClean="0"/>
              <a:t>19</a:t>
            </a:fld>
            <a:endParaRPr lang="en-US"/>
          </a:p>
        </p:txBody>
      </p:sp>
      <p:sp>
        <p:nvSpPr>
          <p:cNvPr id="6" name="Content Placeholder 2">
            <a:extLst>
              <a:ext uri="{FF2B5EF4-FFF2-40B4-BE49-F238E27FC236}">
                <a16:creationId xmlns:a16="http://schemas.microsoft.com/office/drawing/2014/main" id="{DB6056BA-4FCB-3D96-2BE3-C112C0601F12}"/>
              </a:ext>
            </a:extLst>
          </p:cNvPr>
          <p:cNvSpPr txBox="1">
            <a:spLocks/>
          </p:cNvSpPr>
          <p:nvPr/>
        </p:nvSpPr>
        <p:spPr>
          <a:xfrm>
            <a:off x="457200" y="863600"/>
            <a:ext cx="8229600" cy="56726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W &lt;- shape2mat(</a:t>
            </a:r>
            <a:r>
              <a:rPr lang="en-US" sz="1200" b="1" dirty="0" err="1">
                <a:latin typeface="Consolas" panose="020B0609020204030204" pitchFamily="49" charset="0"/>
                <a:cs typeface="Consolas" panose="020B0609020204030204" pitchFamily="49" charset="0"/>
              </a:rPr>
              <a:t>georgia</a:t>
            </a:r>
            <a:r>
              <a:rPr lang="en-US" sz="1200" b="1" dirty="0">
                <a:latin typeface="Consolas" panose="020B0609020204030204" pitchFamily="49" charset="0"/>
                <a:cs typeface="Consolas" panose="020B0609020204030204" pitchFamily="49" charset="0"/>
              </a:rPr>
              <a:t>, "W")</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Contiguity condition: queen</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Number of neighbors per unit, summary:</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Min. 1st Qu.  Median    Mean 3rd Qu.    Max. </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1.000   4.000   5.000   5.409   6.000  10.000</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Spatial weights, summary:</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Min. 1st Qu.  Median    Mean 3rd Qu.    Max. </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0.1000  0.1429  0.1667  0.1849  0.2000  1.0000</a:t>
            </a:r>
          </a:p>
          <a:p>
            <a:pPr marL="0" indent="0">
              <a:lnSpc>
                <a:spcPct val="100000"/>
              </a:lnSpc>
              <a:spcBef>
                <a:spcPts val="400"/>
              </a:spcBef>
              <a:buNone/>
            </a:pPr>
            <a:endParaRPr lang="en-US" sz="1200" b="1" dirty="0">
              <a:solidFill>
                <a:schemeClr val="tx1">
                  <a:lumMod val="65000"/>
                  <a:lumOff val="3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solidFill>
                  <a:srgbClr val="0070C0"/>
                </a:solidFill>
                <a:highlight>
                  <a:srgbClr val="FFFF00"/>
                </a:highlight>
                <a:latin typeface="Consolas" panose="020B0609020204030204" pitchFamily="49" charset="0"/>
                <a:cs typeface="Consolas" panose="020B0609020204030204" pitchFamily="49" charset="0"/>
              </a:rPr>
              <a:t>x &lt;- log(</a:t>
            </a:r>
            <a:r>
              <a:rPr lang="en-US" sz="1200" b="1" dirty="0" err="1">
                <a:solidFill>
                  <a:srgbClr val="0070C0"/>
                </a:solidFill>
                <a:highlight>
                  <a:srgbClr val="FFFF00"/>
                </a:highlight>
                <a:latin typeface="Consolas" panose="020B0609020204030204" pitchFamily="49" charset="0"/>
                <a:cs typeface="Consolas" panose="020B0609020204030204" pitchFamily="49" charset="0"/>
              </a:rPr>
              <a:t>georgia$income</a:t>
            </a:r>
            <a:r>
              <a:rPr lang="en-US" sz="1200" b="1" dirty="0">
                <a:solidFill>
                  <a:srgbClr val="0070C0"/>
                </a:solidFill>
                <a:highlight>
                  <a:srgbClr val="FFFF00"/>
                </a:highlight>
                <a:latin typeface="Consolas" panose="020B0609020204030204" pitchFamily="49" charset="0"/>
                <a:cs typeface="Consolas" panose="020B0609020204030204" pitchFamily="49" charset="0"/>
              </a:rPr>
              <a:t>)</a:t>
            </a:r>
          </a:p>
          <a:p>
            <a:pPr marL="0" indent="0">
              <a:lnSpc>
                <a:spcPct val="100000"/>
              </a:lnSpc>
              <a:spcBef>
                <a:spcPts val="400"/>
              </a:spcBef>
              <a:buNone/>
            </a:pPr>
            <a:r>
              <a:rPr lang="en-US" sz="1200" b="1" dirty="0" err="1">
                <a:solidFill>
                  <a:srgbClr val="0070C0"/>
                </a:solidFill>
                <a:latin typeface="Consolas" panose="020B0609020204030204" pitchFamily="49" charset="0"/>
                <a:cs typeface="Consolas" panose="020B0609020204030204" pitchFamily="49" charset="0"/>
              </a:rPr>
              <a:t>Ii</a:t>
            </a:r>
            <a:r>
              <a:rPr lang="en-US" sz="1200" b="1" dirty="0">
                <a:solidFill>
                  <a:srgbClr val="0070C0"/>
                </a:solidFill>
                <a:latin typeface="Consolas" panose="020B0609020204030204" pitchFamily="49" charset="0"/>
                <a:cs typeface="Consolas" panose="020B0609020204030204" pitchFamily="49" charset="0"/>
              </a:rPr>
              <a:t> &lt;- </a:t>
            </a:r>
            <a:r>
              <a:rPr lang="en-US" sz="1200" b="1" dirty="0" err="1">
                <a:solidFill>
                  <a:srgbClr val="0070C0"/>
                </a:solidFill>
                <a:latin typeface="Consolas" panose="020B0609020204030204" pitchFamily="49" charset="0"/>
                <a:cs typeface="Consolas" panose="020B0609020204030204" pitchFamily="49" charset="0"/>
              </a:rPr>
              <a:t>lisa</a:t>
            </a:r>
            <a:r>
              <a:rPr lang="en-US" sz="1200" b="1" dirty="0">
                <a:solidFill>
                  <a:srgbClr val="0070C0"/>
                </a:solidFill>
                <a:latin typeface="Consolas" panose="020B0609020204030204" pitchFamily="49" charset="0"/>
                <a:cs typeface="Consolas" panose="020B0609020204030204" pitchFamily="49" charset="0"/>
              </a:rPr>
              <a:t>(x, W)</a:t>
            </a:r>
          </a:p>
          <a:p>
            <a:pPr marL="0" indent="0">
              <a:lnSpc>
                <a:spcPct val="100000"/>
              </a:lnSpc>
              <a:spcBef>
                <a:spcPts val="400"/>
              </a:spcBef>
              <a:buNone/>
            </a:pPr>
            <a:r>
              <a:rPr lang="en-US" sz="1200" b="1" dirty="0">
                <a:solidFill>
                  <a:srgbClr val="0070C0"/>
                </a:solidFill>
                <a:latin typeface="Consolas" panose="020B0609020204030204" pitchFamily="49" charset="0"/>
                <a:cs typeface="Consolas" panose="020B0609020204030204" pitchFamily="49" charset="0"/>
              </a:rPr>
              <a:t>head(</a:t>
            </a:r>
            <a:r>
              <a:rPr lang="en-US" sz="1200" b="1" dirty="0" err="1">
                <a:solidFill>
                  <a:srgbClr val="0070C0"/>
                </a:solidFill>
                <a:latin typeface="Consolas" panose="020B0609020204030204" pitchFamily="49" charset="0"/>
                <a:cs typeface="Consolas" panose="020B0609020204030204" pitchFamily="49" charset="0"/>
              </a:rPr>
              <a:t>Ii</a:t>
            </a:r>
            <a:r>
              <a:rPr lang="en-US" sz="1200" b="1" dirty="0">
                <a:solidFill>
                  <a:srgbClr val="0070C0"/>
                </a:solidFill>
                <a:latin typeface="Consolas" panose="020B0609020204030204" pitchFamily="49" charset="0"/>
                <a:cs typeface="Consolas" panose="020B0609020204030204" pitchFamily="49" charset="0"/>
              </a:rPr>
              <a:t>)</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Li type</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1  0.139   LL</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2  0.574   LL</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3  1.327   HH</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4  1.473   HH</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5 -0.688   HL</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6  3.282   HH</a:t>
            </a: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Ci &lt;- lg(x, W)</a:t>
            </a: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head(Ci)</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[1] 1.183 0.381 1.049 0.347 6.307 0.509</a:t>
            </a:r>
          </a:p>
        </p:txBody>
      </p:sp>
      <p:grpSp>
        <p:nvGrpSpPr>
          <p:cNvPr id="15" name="Group 14">
            <a:extLst>
              <a:ext uri="{FF2B5EF4-FFF2-40B4-BE49-F238E27FC236}">
                <a16:creationId xmlns:a16="http://schemas.microsoft.com/office/drawing/2014/main" id="{497169D3-955D-8A0D-9F19-668FB5533495}"/>
              </a:ext>
            </a:extLst>
          </p:cNvPr>
          <p:cNvGrpSpPr/>
          <p:nvPr/>
        </p:nvGrpSpPr>
        <p:grpSpPr>
          <a:xfrm>
            <a:off x="1918463" y="4136831"/>
            <a:ext cx="4636716" cy="1448790"/>
            <a:chOff x="1965963" y="4386208"/>
            <a:chExt cx="4636716" cy="1448790"/>
          </a:xfrm>
        </p:grpSpPr>
        <p:sp>
          <p:nvSpPr>
            <p:cNvPr id="7" name="TextBox 6">
              <a:extLst>
                <a:ext uri="{FF2B5EF4-FFF2-40B4-BE49-F238E27FC236}">
                  <a16:creationId xmlns:a16="http://schemas.microsoft.com/office/drawing/2014/main" id="{D92C91C3-4F76-3835-E02E-A0C2F1C80FD8}"/>
                </a:ext>
              </a:extLst>
            </p:cNvPr>
            <p:cNvSpPr txBox="1"/>
            <p:nvPr/>
          </p:nvSpPr>
          <p:spPr>
            <a:xfrm>
              <a:off x="2227218" y="4848993"/>
              <a:ext cx="4375461" cy="523220"/>
            </a:xfrm>
            <a:prstGeom prst="rect">
              <a:avLst/>
            </a:prstGeom>
            <a:solidFill>
              <a:srgbClr val="FFD84C"/>
            </a:solidFill>
            <a:ln>
              <a:solidFill>
                <a:srgbClr val="C00000"/>
              </a:solidFill>
            </a:ln>
          </p:spPr>
          <p:txBody>
            <a:bodyPr wrap="square" rtlCol="0">
              <a:spAutoFit/>
            </a:bodyPr>
            <a:lstStyle/>
            <a:p>
              <a:r>
                <a:rPr lang="en-US" sz="1400" dirty="0">
                  <a:solidFill>
                    <a:srgbClr val="C00000"/>
                  </a:solidFill>
                </a:rPr>
                <a:t>"HH" indicates a high value surrounded by high values;</a:t>
              </a:r>
              <a:br>
                <a:rPr lang="en-US" sz="1400" dirty="0">
                  <a:solidFill>
                    <a:srgbClr val="C00000"/>
                  </a:solidFill>
                </a:rPr>
              </a:br>
              <a:r>
                <a:rPr lang="en-US" sz="1400" dirty="0">
                  <a:solidFill>
                    <a:srgbClr val="C00000"/>
                  </a:solidFill>
                </a:rPr>
                <a:t>"LL" is a low surrounded by low values, and so on.</a:t>
              </a:r>
            </a:p>
          </p:txBody>
        </p:sp>
        <p:sp>
          <p:nvSpPr>
            <p:cNvPr id="8" name="Right Brace 7">
              <a:extLst>
                <a:ext uri="{FF2B5EF4-FFF2-40B4-BE49-F238E27FC236}">
                  <a16:creationId xmlns:a16="http://schemas.microsoft.com/office/drawing/2014/main" id="{9C52360B-E612-A1DB-C0B9-E3D802EF9C4E}"/>
                </a:ext>
              </a:extLst>
            </p:cNvPr>
            <p:cNvSpPr/>
            <p:nvPr/>
          </p:nvSpPr>
          <p:spPr>
            <a:xfrm>
              <a:off x="1965963" y="4386208"/>
              <a:ext cx="178130" cy="1448790"/>
            </a:xfrm>
            <a:prstGeom prst="rightBrace">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14" name="TextBox 13">
            <a:extLst>
              <a:ext uri="{FF2B5EF4-FFF2-40B4-BE49-F238E27FC236}">
                <a16:creationId xmlns:a16="http://schemas.microsoft.com/office/drawing/2014/main" id="{7D693B98-FCCE-0173-DD1B-7A4FC72D2D6B}"/>
              </a:ext>
            </a:extLst>
          </p:cNvPr>
          <p:cNvSpPr txBox="1"/>
          <p:nvPr/>
        </p:nvSpPr>
        <p:spPr>
          <a:xfrm>
            <a:off x="3589912" y="5931530"/>
            <a:ext cx="5096888" cy="307777"/>
          </a:xfrm>
          <a:prstGeom prst="rect">
            <a:avLst/>
          </a:prstGeom>
          <a:solidFill>
            <a:srgbClr val="FFD84C"/>
          </a:solidFill>
        </p:spPr>
        <p:txBody>
          <a:bodyPr wrap="square" rtlCol="0">
            <a:spAutoFit/>
          </a:bodyPr>
          <a:lstStyle/>
          <a:p>
            <a:r>
              <a:rPr lang="en-US" sz="1400" dirty="0"/>
              <a:t>The local Geary statistic can be calculated using the lg function.</a:t>
            </a:r>
          </a:p>
        </p:txBody>
      </p:sp>
    </p:spTree>
    <p:extLst>
      <p:ext uri="{BB962C8B-B14F-4D97-AF65-F5344CB8AC3E}">
        <p14:creationId xmlns:p14="http://schemas.microsoft.com/office/powerpoint/2010/main" val="4206483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312E1-4039-AC83-13F4-6E9039D38B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35E819-1917-A939-953D-11D66B617A56}"/>
              </a:ext>
            </a:extLst>
          </p:cNvPr>
          <p:cNvSpPr>
            <a:spLocks noGrp="1"/>
          </p:cNvSpPr>
          <p:nvPr>
            <p:ph idx="1"/>
          </p:nvPr>
        </p:nvSpPr>
        <p:spPr>
          <a:xfrm>
            <a:off x="457200" y="321734"/>
            <a:ext cx="8229600" cy="6034618"/>
          </a:xfrm>
        </p:spPr>
        <p:txBody>
          <a:bodyPr>
            <a:noAutofit/>
          </a:bodyPr>
          <a:lstStyle/>
          <a:p>
            <a:pPr marL="0" indent="0">
              <a:buNone/>
            </a:pPr>
            <a:r>
              <a:rPr lang="en-US" sz="1800" b="1" dirty="0"/>
              <a:t>Local Indicators of Spatial Association (LISAs)</a:t>
            </a:r>
          </a:p>
        </p:txBody>
      </p:sp>
      <p:sp>
        <p:nvSpPr>
          <p:cNvPr id="4" name="Slide Number Placeholder 3">
            <a:extLst>
              <a:ext uri="{FF2B5EF4-FFF2-40B4-BE49-F238E27FC236}">
                <a16:creationId xmlns:a16="http://schemas.microsoft.com/office/drawing/2014/main" id="{B496E11E-544C-41A2-C2D7-0D9D350119C4}"/>
              </a:ext>
            </a:extLst>
          </p:cNvPr>
          <p:cNvSpPr>
            <a:spLocks noGrp="1"/>
          </p:cNvSpPr>
          <p:nvPr>
            <p:ph type="sldNum" sz="quarter" idx="12"/>
          </p:nvPr>
        </p:nvSpPr>
        <p:spPr/>
        <p:txBody>
          <a:bodyPr/>
          <a:lstStyle/>
          <a:p>
            <a:fld id="{C0343C75-1924-D247-85A3-0CB62E67E5D1}" type="slidenum">
              <a:rPr lang="en-US" smtClean="0"/>
              <a:t>20</a:t>
            </a:fld>
            <a:endParaRPr lang="en-US"/>
          </a:p>
        </p:txBody>
      </p:sp>
      <p:sp>
        <p:nvSpPr>
          <p:cNvPr id="6" name="Content Placeholder 2">
            <a:extLst>
              <a:ext uri="{FF2B5EF4-FFF2-40B4-BE49-F238E27FC236}">
                <a16:creationId xmlns:a16="http://schemas.microsoft.com/office/drawing/2014/main" id="{FE41835C-5C50-BB96-4287-7A6B776B4200}"/>
              </a:ext>
            </a:extLst>
          </p:cNvPr>
          <p:cNvSpPr txBox="1">
            <a:spLocks/>
          </p:cNvSpPr>
          <p:nvPr/>
        </p:nvSpPr>
        <p:spPr>
          <a:xfrm>
            <a:off x="457200" y="863600"/>
            <a:ext cx="8229600" cy="56726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W &lt;- shape2mat(</a:t>
            </a:r>
            <a:r>
              <a:rPr lang="en-US" sz="1200" b="1" dirty="0" err="1">
                <a:latin typeface="Consolas" panose="020B0609020204030204" pitchFamily="49" charset="0"/>
                <a:cs typeface="Consolas" panose="020B0609020204030204" pitchFamily="49" charset="0"/>
              </a:rPr>
              <a:t>georgia</a:t>
            </a:r>
            <a:r>
              <a:rPr lang="en-US" sz="1200" b="1" dirty="0">
                <a:latin typeface="Consolas" panose="020B0609020204030204" pitchFamily="49" charset="0"/>
                <a:cs typeface="Consolas" panose="020B0609020204030204" pitchFamily="49" charset="0"/>
              </a:rPr>
              <a:t>, "W")</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Contiguity condition: queen</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Number of neighbors per unit, summary:</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Min. 1st Qu.  Median    Mean 3rd Qu.    Max. </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1.000   4.000   5.000   5.409   6.000  10.000</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Spatial weights, summary:</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Min. 1st Qu.  Median    Mean 3rd Qu.    Max. </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0.1000  0.1429  0.1667  0.1849  0.2000  1.0000</a:t>
            </a:r>
          </a:p>
          <a:p>
            <a:pPr marL="0" indent="0">
              <a:lnSpc>
                <a:spcPct val="100000"/>
              </a:lnSpc>
              <a:spcBef>
                <a:spcPts val="400"/>
              </a:spcBef>
              <a:buNone/>
            </a:pPr>
            <a:endParaRPr lang="en-US" sz="1200" b="1" dirty="0">
              <a:solidFill>
                <a:schemeClr val="tx1">
                  <a:lumMod val="65000"/>
                  <a:lumOff val="3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solidFill>
                  <a:srgbClr val="0070C0"/>
                </a:solidFill>
                <a:latin typeface="Consolas" panose="020B0609020204030204" pitchFamily="49" charset="0"/>
                <a:cs typeface="Consolas" panose="020B0609020204030204" pitchFamily="49" charset="0"/>
              </a:rPr>
              <a:t>x &lt;- </a:t>
            </a:r>
            <a:r>
              <a:rPr lang="en-US" sz="1200" b="1" dirty="0">
                <a:solidFill>
                  <a:srgbClr val="C00000"/>
                </a:solidFill>
                <a:highlight>
                  <a:srgbClr val="FFFF00"/>
                </a:highlight>
                <a:latin typeface="Consolas" panose="020B0609020204030204" pitchFamily="49" charset="0"/>
                <a:cs typeface="Consolas" panose="020B0609020204030204" pitchFamily="49" charset="0"/>
              </a:rPr>
              <a:t>log(</a:t>
            </a:r>
            <a:r>
              <a:rPr lang="en-US" sz="1200" b="1" dirty="0" err="1">
                <a:solidFill>
                  <a:srgbClr val="C00000"/>
                </a:solidFill>
                <a:highlight>
                  <a:srgbClr val="FFFF00"/>
                </a:highlight>
                <a:latin typeface="Consolas" panose="020B0609020204030204" pitchFamily="49" charset="0"/>
                <a:cs typeface="Consolas" panose="020B0609020204030204" pitchFamily="49" charset="0"/>
              </a:rPr>
              <a:t>georgia$income</a:t>
            </a:r>
            <a:r>
              <a:rPr lang="en-US" sz="1200" b="1" dirty="0">
                <a:solidFill>
                  <a:srgbClr val="C00000"/>
                </a:solidFill>
                <a:highlight>
                  <a:srgbClr val="FFFF00"/>
                </a:highlight>
                <a:latin typeface="Consolas" panose="020B0609020204030204" pitchFamily="49" charset="0"/>
                <a:cs typeface="Consolas" panose="020B0609020204030204" pitchFamily="49" charset="0"/>
              </a:rPr>
              <a:t>)</a:t>
            </a:r>
          </a:p>
          <a:p>
            <a:pPr marL="0" indent="0">
              <a:lnSpc>
                <a:spcPct val="100000"/>
              </a:lnSpc>
              <a:spcBef>
                <a:spcPts val="400"/>
              </a:spcBef>
              <a:buNone/>
            </a:pPr>
            <a:r>
              <a:rPr lang="en-US" sz="1200" b="1" dirty="0" err="1">
                <a:solidFill>
                  <a:srgbClr val="0070C0"/>
                </a:solidFill>
                <a:latin typeface="Consolas" panose="020B0609020204030204" pitchFamily="49" charset="0"/>
                <a:cs typeface="Consolas" panose="020B0609020204030204" pitchFamily="49" charset="0"/>
              </a:rPr>
              <a:t>Ii</a:t>
            </a:r>
            <a:r>
              <a:rPr lang="en-US" sz="1200" b="1" dirty="0">
                <a:solidFill>
                  <a:srgbClr val="0070C0"/>
                </a:solidFill>
                <a:latin typeface="Consolas" panose="020B0609020204030204" pitchFamily="49" charset="0"/>
                <a:cs typeface="Consolas" panose="020B0609020204030204" pitchFamily="49" charset="0"/>
              </a:rPr>
              <a:t> &lt;- </a:t>
            </a:r>
            <a:r>
              <a:rPr lang="en-US" sz="1200" b="1" dirty="0" err="1">
                <a:solidFill>
                  <a:srgbClr val="0070C0"/>
                </a:solidFill>
                <a:latin typeface="Consolas" panose="020B0609020204030204" pitchFamily="49" charset="0"/>
                <a:cs typeface="Consolas" panose="020B0609020204030204" pitchFamily="49" charset="0"/>
              </a:rPr>
              <a:t>lisa</a:t>
            </a:r>
            <a:r>
              <a:rPr lang="en-US" sz="1200" b="1" dirty="0">
                <a:solidFill>
                  <a:srgbClr val="0070C0"/>
                </a:solidFill>
                <a:latin typeface="Consolas" panose="020B0609020204030204" pitchFamily="49" charset="0"/>
                <a:cs typeface="Consolas" panose="020B0609020204030204" pitchFamily="49" charset="0"/>
              </a:rPr>
              <a:t>(x, W)</a:t>
            </a:r>
          </a:p>
          <a:p>
            <a:pPr marL="0" indent="0">
              <a:lnSpc>
                <a:spcPct val="100000"/>
              </a:lnSpc>
              <a:spcBef>
                <a:spcPts val="400"/>
              </a:spcBef>
              <a:buNone/>
            </a:pPr>
            <a:r>
              <a:rPr lang="en-US" sz="1200" b="1" dirty="0">
                <a:solidFill>
                  <a:srgbClr val="0070C0"/>
                </a:solidFill>
                <a:latin typeface="Consolas" panose="020B0609020204030204" pitchFamily="49" charset="0"/>
                <a:cs typeface="Consolas" panose="020B0609020204030204" pitchFamily="49" charset="0"/>
              </a:rPr>
              <a:t>head(</a:t>
            </a:r>
            <a:r>
              <a:rPr lang="en-US" sz="1200" b="1" dirty="0" err="1">
                <a:solidFill>
                  <a:srgbClr val="0070C0"/>
                </a:solidFill>
                <a:latin typeface="Consolas" panose="020B0609020204030204" pitchFamily="49" charset="0"/>
                <a:cs typeface="Consolas" panose="020B0609020204030204" pitchFamily="49" charset="0"/>
              </a:rPr>
              <a:t>Ii</a:t>
            </a:r>
            <a:r>
              <a:rPr lang="en-US" sz="1200" b="1" dirty="0">
                <a:solidFill>
                  <a:srgbClr val="0070C0"/>
                </a:solidFill>
                <a:latin typeface="Consolas" panose="020B0609020204030204" pitchFamily="49" charset="0"/>
                <a:cs typeface="Consolas" panose="020B0609020204030204" pitchFamily="49" charset="0"/>
              </a:rPr>
              <a:t>)</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Li type</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1  0.139   LL</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2  0.574   LL</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3  1.327   HH</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4  1.473   HH</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5 -0.688   HL</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6  3.282   HH</a:t>
            </a:r>
          </a:p>
          <a:p>
            <a:pPr marL="0" indent="0">
              <a:lnSpc>
                <a:spcPct val="100000"/>
              </a:lnSpc>
              <a:spcBef>
                <a:spcPts val="400"/>
              </a:spcBef>
              <a:buNone/>
            </a:pPr>
            <a:endParaRPr lang="en-US" sz="1200" dirty="0">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Ci &lt;- lg(x, W)</a:t>
            </a:r>
          </a:p>
          <a:p>
            <a:pPr marL="0" indent="0">
              <a:lnSpc>
                <a:spcPct val="100000"/>
              </a:lnSpc>
              <a:spcBef>
                <a:spcPts val="400"/>
              </a:spcBef>
              <a:buNone/>
            </a:pPr>
            <a:r>
              <a:rPr lang="en-US" sz="1200" b="1" dirty="0">
                <a:latin typeface="Consolas" panose="020B0609020204030204" pitchFamily="49" charset="0"/>
                <a:cs typeface="Consolas" panose="020B0609020204030204" pitchFamily="49" charset="0"/>
              </a:rPr>
              <a:t>head(Ci)</a:t>
            </a:r>
          </a:p>
          <a:p>
            <a:pPr marL="0" indent="0">
              <a:lnSpc>
                <a:spcPct val="100000"/>
              </a:lnSpc>
              <a:spcBef>
                <a:spcPts val="400"/>
              </a:spcBef>
              <a:buNone/>
            </a:pPr>
            <a:r>
              <a:rPr lang="en-US" sz="1200" dirty="0">
                <a:solidFill>
                  <a:schemeClr val="tx1">
                    <a:lumMod val="65000"/>
                    <a:lumOff val="35000"/>
                  </a:schemeClr>
                </a:solidFill>
                <a:latin typeface="Consolas" panose="020B0609020204030204" pitchFamily="49" charset="0"/>
                <a:cs typeface="Consolas" panose="020B0609020204030204" pitchFamily="49" charset="0"/>
              </a:rPr>
              <a:t># [1] 1.183 0.381 1.049 0.347 6.307 0.509</a:t>
            </a:r>
          </a:p>
        </p:txBody>
      </p:sp>
      <p:sp>
        <p:nvSpPr>
          <p:cNvPr id="16" name="TextBox 15">
            <a:extLst>
              <a:ext uri="{FF2B5EF4-FFF2-40B4-BE49-F238E27FC236}">
                <a16:creationId xmlns:a16="http://schemas.microsoft.com/office/drawing/2014/main" id="{7E29D5C6-A007-9E6D-5BB6-2471308E1205}"/>
              </a:ext>
            </a:extLst>
          </p:cNvPr>
          <p:cNvSpPr txBox="1"/>
          <p:nvPr/>
        </p:nvSpPr>
        <p:spPr>
          <a:xfrm>
            <a:off x="2590800" y="3219761"/>
            <a:ext cx="6096000" cy="2677656"/>
          </a:xfrm>
          <a:prstGeom prst="rect">
            <a:avLst/>
          </a:prstGeom>
          <a:solidFill>
            <a:srgbClr val="FFC000"/>
          </a:solidFill>
          <a:ln w="38100">
            <a:solidFill>
              <a:srgbClr val="C00000"/>
            </a:solidFill>
          </a:ln>
        </p:spPr>
        <p:txBody>
          <a:bodyPr wrap="square" rtlCol="0">
            <a:spAutoFit/>
          </a:bodyPr>
          <a:lstStyle/>
          <a:p>
            <a:r>
              <a:rPr lang="en-US" sz="1400" dirty="0"/>
              <a:t>Main reasons to log income (</a:t>
            </a:r>
            <a:r>
              <a:rPr lang="en-US" sz="1400" i="1" dirty="0"/>
              <a:t>tame</a:t>
            </a:r>
            <a:r>
              <a:rPr lang="en-US" sz="1400" dirty="0"/>
              <a:t> the data):</a:t>
            </a:r>
          </a:p>
          <a:p>
            <a:r>
              <a:rPr lang="en-US" sz="1400" b="1" dirty="0"/>
              <a:t>1) fix skewed data</a:t>
            </a:r>
          </a:p>
          <a:p>
            <a:r>
              <a:rPr lang="en-US" sz="1400" b="1" dirty="0"/>
              <a:t>2) focus on percentages</a:t>
            </a:r>
          </a:p>
          <a:p>
            <a:r>
              <a:rPr lang="en-US" sz="1400" dirty="0"/>
              <a:t>	</a:t>
            </a:r>
            <a:r>
              <a:rPr lang="en-US" sz="1400" b="1" dirty="0">
                <a:solidFill>
                  <a:srgbClr val="FF0000"/>
                </a:solidFill>
              </a:rPr>
              <a:t>- Without Log</a:t>
            </a:r>
            <a:r>
              <a:rPr lang="en-US" sz="1400" dirty="0"/>
              <a:t>: The difference between $20k and $30k ($10,000) looks 	the same as the difference between $100k and $110k ($10,000).</a:t>
            </a:r>
          </a:p>
          <a:p>
            <a:r>
              <a:rPr lang="en-US" sz="1400" dirty="0"/>
              <a:t>	</a:t>
            </a:r>
            <a:r>
              <a:rPr lang="en-US" sz="1400" b="1" dirty="0">
                <a:solidFill>
                  <a:srgbClr val="FF0000"/>
                </a:solidFill>
              </a:rPr>
              <a:t>- With Log</a:t>
            </a:r>
            <a:r>
              <a:rPr lang="en-US" sz="1400" dirty="0"/>
              <a:t>: The math treats the jump from $20k to $30k as a 50% 	increase, which is much more significant than the 10% increase from 	$100k to $110k.</a:t>
            </a:r>
          </a:p>
          <a:p>
            <a:r>
              <a:rPr lang="en-US" sz="1400" dirty="0">
                <a:solidFill>
                  <a:schemeClr val="accent5"/>
                </a:solidFill>
              </a:rPr>
              <a:t>	In geography, a 50% difference in wealth between two neighboring 	counties is usually a more important "spatial association" than a flat 	dollar amount.</a:t>
            </a:r>
          </a:p>
          <a:p>
            <a:r>
              <a:rPr lang="en-US" sz="1400" b="1" dirty="0"/>
              <a:t>3) stability of variance </a:t>
            </a:r>
            <a:r>
              <a:rPr lang="en-US" sz="1400" dirty="0"/>
              <a:t>(homoscedasticity, "spread" of the data is consistent)</a:t>
            </a:r>
          </a:p>
        </p:txBody>
      </p:sp>
      <p:pic>
        <p:nvPicPr>
          <p:cNvPr id="2" name="Picture 1">
            <a:extLst>
              <a:ext uri="{FF2B5EF4-FFF2-40B4-BE49-F238E27FC236}">
                <a16:creationId xmlns:a16="http://schemas.microsoft.com/office/drawing/2014/main" id="{F03A0AAB-3CB7-90AD-2529-59C6C167E0E9}"/>
              </a:ext>
            </a:extLst>
          </p:cNvPr>
          <p:cNvPicPr>
            <a:picLocks noChangeAspect="1"/>
          </p:cNvPicPr>
          <p:nvPr/>
        </p:nvPicPr>
        <p:blipFill>
          <a:blip r:embed="rId2"/>
          <a:stretch>
            <a:fillRect/>
          </a:stretch>
        </p:blipFill>
        <p:spPr>
          <a:xfrm>
            <a:off x="4937760" y="950335"/>
            <a:ext cx="3749040" cy="2182692"/>
          </a:xfrm>
          <a:prstGeom prst="rect">
            <a:avLst/>
          </a:prstGeom>
        </p:spPr>
      </p:pic>
      <p:cxnSp>
        <p:nvCxnSpPr>
          <p:cNvPr id="9" name="Straight Arrow Connector 8">
            <a:extLst>
              <a:ext uri="{FF2B5EF4-FFF2-40B4-BE49-F238E27FC236}">
                <a16:creationId xmlns:a16="http://schemas.microsoft.com/office/drawing/2014/main" id="{D60288D6-6C35-8F58-E05C-AA9058D4027A}"/>
              </a:ext>
            </a:extLst>
          </p:cNvPr>
          <p:cNvCxnSpPr>
            <a:cxnSpLocks/>
          </p:cNvCxnSpPr>
          <p:nvPr/>
        </p:nvCxnSpPr>
        <p:spPr>
          <a:xfrm flipV="1">
            <a:off x="4206241" y="3010153"/>
            <a:ext cx="892232" cy="564320"/>
          </a:xfrm>
          <a:prstGeom prst="straightConnector1">
            <a:avLst/>
          </a:prstGeom>
          <a:ln w="38100">
            <a:prstDash val="sysDot"/>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851750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C4CAB-5A85-3178-1511-A6CF8B4FB04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D8118A0-9B7E-71FA-870C-890A4CB63BC1}"/>
              </a:ext>
            </a:extLst>
          </p:cNvPr>
          <p:cNvSpPr>
            <a:spLocks noGrp="1"/>
          </p:cNvSpPr>
          <p:nvPr>
            <p:ph type="sldNum" sz="quarter" idx="12"/>
          </p:nvPr>
        </p:nvSpPr>
        <p:spPr/>
        <p:txBody>
          <a:bodyPr/>
          <a:lstStyle/>
          <a:p>
            <a:fld id="{C0343C75-1924-D247-85A3-0CB62E67E5D1}" type="slidenum">
              <a:rPr lang="en-US" smtClean="0"/>
              <a:t>21</a:t>
            </a:fld>
            <a:endParaRPr lang="en-US"/>
          </a:p>
        </p:txBody>
      </p:sp>
      <p:pic>
        <p:nvPicPr>
          <p:cNvPr id="2" name="Picture 1">
            <a:extLst>
              <a:ext uri="{FF2B5EF4-FFF2-40B4-BE49-F238E27FC236}">
                <a16:creationId xmlns:a16="http://schemas.microsoft.com/office/drawing/2014/main" id="{9520A0C6-FDAA-4C7F-C42D-FA10936E7E3E}"/>
              </a:ext>
            </a:extLst>
          </p:cNvPr>
          <p:cNvPicPr>
            <a:picLocks noChangeAspect="1"/>
          </p:cNvPicPr>
          <p:nvPr/>
        </p:nvPicPr>
        <p:blipFill>
          <a:blip r:embed="rId2"/>
          <a:stretch>
            <a:fillRect/>
          </a:stretch>
        </p:blipFill>
        <p:spPr>
          <a:xfrm>
            <a:off x="1005840" y="1471901"/>
            <a:ext cx="7132320" cy="2925574"/>
          </a:xfrm>
          <a:prstGeom prst="rect">
            <a:avLst/>
          </a:prstGeom>
        </p:spPr>
      </p:pic>
      <p:sp>
        <p:nvSpPr>
          <p:cNvPr id="5" name="Content Placeholder 2">
            <a:extLst>
              <a:ext uri="{FF2B5EF4-FFF2-40B4-BE49-F238E27FC236}">
                <a16:creationId xmlns:a16="http://schemas.microsoft.com/office/drawing/2014/main" id="{78529DC2-9770-9311-C49C-0F0367C90251}"/>
              </a:ext>
            </a:extLst>
          </p:cNvPr>
          <p:cNvSpPr txBox="1">
            <a:spLocks/>
          </p:cNvSpPr>
          <p:nvPr/>
        </p:nvSpPr>
        <p:spPr>
          <a:xfrm>
            <a:off x="457200" y="4144487"/>
            <a:ext cx="8229600" cy="23917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200" b="1" dirty="0" err="1">
                <a:solidFill>
                  <a:srgbClr val="0070C0"/>
                </a:solidFill>
                <a:latin typeface="Consolas" panose="020B0609020204030204" pitchFamily="49" charset="0"/>
                <a:cs typeface="Consolas" panose="020B0609020204030204" pitchFamily="49" charset="0"/>
              </a:rPr>
              <a:t>Ci_map</a:t>
            </a:r>
            <a:r>
              <a:rPr lang="en-US" sz="1200" b="1" dirty="0">
                <a:solidFill>
                  <a:srgbClr val="0070C0"/>
                </a:solidFill>
                <a:latin typeface="Consolas" panose="020B0609020204030204" pitchFamily="49" charset="0"/>
                <a:cs typeface="Consolas" panose="020B0609020204030204" pitchFamily="49" charset="0"/>
              </a:rPr>
              <a:t> &lt;- </a:t>
            </a:r>
            <a:r>
              <a:rPr lang="en-US" sz="1200" b="1" dirty="0" err="1">
                <a:solidFill>
                  <a:srgbClr val="0070C0"/>
                </a:solidFill>
                <a:latin typeface="Consolas" panose="020B0609020204030204" pitchFamily="49" charset="0"/>
                <a:cs typeface="Consolas" panose="020B0609020204030204" pitchFamily="49" charset="0"/>
              </a:rPr>
              <a:t>ggplot</a:t>
            </a:r>
            <a:r>
              <a:rPr lang="en-US" sz="1200" b="1" dirty="0">
                <a:solidFill>
                  <a:srgbClr val="0070C0"/>
                </a:solidFill>
                <a:latin typeface="Consolas" panose="020B0609020204030204" pitchFamily="49" charset="0"/>
                <a:cs typeface="Consolas" panose="020B0609020204030204" pitchFamily="49" charset="0"/>
              </a:rPr>
              <a:t>(</a:t>
            </a:r>
            <a:r>
              <a:rPr lang="en-US" sz="1200" b="1" dirty="0" err="1">
                <a:solidFill>
                  <a:srgbClr val="0070C0"/>
                </a:solidFill>
                <a:latin typeface="Consolas" panose="020B0609020204030204" pitchFamily="49" charset="0"/>
                <a:cs typeface="Consolas" panose="020B0609020204030204" pitchFamily="49" charset="0"/>
              </a:rPr>
              <a:t>georgia</a:t>
            </a:r>
            <a:r>
              <a:rPr lang="en-US" sz="1200" b="1" dirty="0">
                <a:solidFill>
                  <a:srgbClr val="0070C0"/>
                </a:solidFill>
                <a:latin typeface="Consolas" panose="020B0609020204030204" pitchFamily="49" charset="0"/>
                <a:cs typeface="Consolas" panose="020B0609020204030204" pitchFamily="49" charset="0"/>
              </a:rPr>
              <a:t>) + </a:t>
            </a:r>
          </a:p>
          <a:p>
            <a:pPr marL="0" indent="0">
              <a:lnSpc>
                <a:spcPct val="100000"/>
              </a:lnSpc>
              <a:spcBef>
                <a:spcPts val="400"/>
              </a:spcBef>
              <a:buNone/>
            </a:pPr>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geom_sf</a:t>
            </a:r>
            <a:r>
              <a:rPr lang="en-US" sz="1200" b="1" dirty="0">
                <a:solidFill>
                  <a:srgbClr val="0070C0"/>
                </a:solidFill>
                <a:latin typeface="Consolas" panose="020B0609020204030204" pitchFamily="49" charset="0"/>
                <a:cs typeface="Consolas" panose="020B0609020204030204" pitchFamily="49" charset="0"/>
              </a:rPr>
              <a:t>(</a:t>
            </a:r>
            <a:r>
              <a:rPr lang="en-US" sz="1200" b="1" dirty="0" err="1">
                <a:solidFill>
                  <a:srgbClr val="0070C0"/>
                </a:solidFill>
                <a:latin typeface="Consolas" panose="020B0609020204030204" pitchFamily="49" charset="0"/>
                <a:cs typeface="Consolas" panose="020B0609020204030204" pitchFamily="49" charset="0"/>
              </a:rPr>
              <a:t>aes</a:t>
            </a:r>
            <a:r>
              <a:rPr lang="en-US" sz="1200" b="1" dirty="0">
                <a:solidFill>
                  <a:srgbClr val="0070C0"/>
                </a:solidFill>
                <a:latin typeface="Consolas" panose="020B0609020204030204" pitchFamily="49" charset="0"/>
                <a:cs typeface="Consolas" panose="020B0609020204030204" pitchFamily="49" charset="0"/>
              </a:rPr>
              <a:t>(fill=Ci)) +</a:t>
            </a:r>
          </a:p>
          <a:p>
            <a:pPr marL="0" indent="0">
              <a:lnSpc>
                <a:spcPct val="100000"/>
              </a:lnSpc>
              <a:spcBef>
                <a:spcPts val="400"/>
              </a:spcBef>
              <a:buNone/>
            </a:pPr>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scale_fill_gradient</a:t>
            </a:r>
            <a:r>
              <a:rPr lang="en-US" sz="1200" b="1" dirty="0">
                <a:solidFill>
                  <a:srgbClr val="0070C0"/>
                </a:solidFill>
                <a:latin typeface="Consolas" panose="020B0609020204030204" pitchFamily="49" charset="0"/>
                <a:cs typeface="Consolas" panose="020B0609020204030204" pitchFamily="49" charset="0"/>
              </a:rPr>
              <a:t>(high = "navy",  </a:t>
            </a:r>
          </a:p>
          <a:p>
            <a:pPr marL="0" indent="0">
              <a:lnSpc>
                <a:spcPct val="100000"/>
              </a:lnSpc>
              <a:spcBef>
                <a:spcPts val="400"/>
              </a:spcBef>
              <a:buNone/>
            </a:pPr>
            <a:r>
              <a:rPr lang="en-US" sz="1200" b="1" dirty="0">
                <a:solidFill>
                  <a:srgbClr val="0070C0"/>
                </a:solidFill>
                <a:latin typeface="Consolas" panose="020B0609020204030204" pitchFamily="49" charset="0"/>
                <a:cs typeface="Consolas" panose="020B0609020204030204" pitchFamily="49" charset="0"/>
              </a:rPr>
              <a:t>                      low = "white") + </a:t>
            </a:r>
            <a:r>
              <a:rPr lang="en-US" sz="1200" b="1" dirty="0" err="1">
                <a:solidFill>
                  <a:srgbClr val="0070C0"/>
                </a:solidFill>
                <a:latin typeface="Consolas" panose="020B0609020204030204" pitchFamily="49" charset="0"/>
                <a:cs typeface="Consolas" panose="020B0609020204030204" pitchFamily="49" charset="0"/>
              </a:rPr>
              <a:t>theme_void</a:t>
            </a:r>
            <a:r>
              <a:rPr lang="en-US" sz="1200" b="1" dirty="0">
                <a:solidFill>
                  <a:srgbClr val="0070C0"/>
                </a:solidFill>
                <a:latin typeface="Consolas" panose="020B0609020204030204" pitchFamily="49" charset="0"/>
                <a:cs typeface="Consolas" panose="020B0609020204030204" pitchFamily="49" charset="0"/>
              </a:rPr>
              <a:t>()</a:t>
            </a:r>
          </a:p>
          <a:p>
            <a:pPr marL="0" indent="0">
              <a:lnSpc>
                <a:spcPct val="100000"/>
              </a:lnSpc>
              <a:spcBef>
                <a:spcPts val="400"/>
              </a:spcBef>
              <a:buNone/>
            </a:pPr>
            <a:endParaRPr lang="en-US" sz="1200" b="1" dirty="0">
              <a:solidFill>
                <a:srgbClr val="0070C0"/>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err="1">
                <a:solidFill>
                  <a:srgbClr val="C00000"/>
                </a:solidFill>
                <a:latin typeface="Consolas" panose="020B0609020204030204" pitchFamily="49" charset="0"/>
                <a:cs typeface="Consolas" panose="020B0609020204030204" pitchFamily="49" charset="0"/>
              </a:rPr>
              <a:t>Li_map</a:t>
            </a:r>
            <a:r>
              <a:rPr lang="en-US" sz="1200" b="1" dirty="0">
                <a:solidFill>
                  <a:srgbClr val="C00000"/>
                </a:solidFill>
                <a:latin typeface="Consolas" panose="020B0609020204030204" pitchFamily="49" charset="0"/>
                <a:cs typeface="Consolas" panose="020B0609020204030204" pitchFamily="49" charset="0"/>
              </a:rPr>
              <a:t> &lt;- </a:t>
            </a:r>
            <a:r>
              <a:rPr lang="en-US" sz="1200" b="1" dirty="0" err="1">
                <a:solidFill>
                  <a:srgbClr val="C00000"/>
                </a:solidFill>
                <a:latin typeface="Consolas" panose="020B0609020204030204" pitchFamily="49" charset="0"/>
                <a:cs typeface="Consolas" panose="020B0609020204030204" pitchFamily="49" charset="0"/>
              </a:rPr>
              <a:t>ggplot</a:t>
            </a:r>
            <a:r>
              <a:rPr lang="en-US" sz="1200" b="1" dirty="0">
                <a:solidFill>
                  <a:srgbClr val="C00000"/>
                </a:solidFill>
                <a:latin typeface="Consolas" panose="020B0609020204030204" pitchFamily="49" charset="0"/>
                <a:cs typeface="Consolas" panose="020B0609020204030204" pitchFamily="49" charset="0"/>
              </a:rPr>
              <a:t>(</a:t>
            </a:r>
            <a:r>
              <a:rPr lang="en-US" sz="1200" b="1" dirty="0" err="1">
                <a:solidFill>
                  <a:srgbClr val="C00000"/>
                </a:solidFill>
                <a:latin typeface="Consolas" panose="020B0609020204030204" pitchFamily="49" charset="0"/>
                <a:cs typeface="Consolas" panose="020B0609020204030204" pitchFamily="49" charset="0"/>
              </a:rPr>
              <a:t>georgia</a:t>
            </a:r>
            <a:r>
              <a:rPr lang="en-US" sz="1200" b="1" dirty="0">
                <a:solidFill>
                  <a:srgbClr val="C00000"/>
                </a:solidFill>
                <a:latin typeface="Consolas" panose="020B0609020204030204" pitchFamily="49" charset="0"/>
                <a:cs typeface="Consolas" panose="020B0609020204030204" pitchFamily="49" charset="0"/>
              </a:rPr>
              <a:t>) + </a:t>
            </a:r>
          </a:p>
          <a:p>
            <a:pPr marL="0" indent="0">
              <a:lnSpc>
                <a:spcPct val="100000"/>
              </a:lnSpc>
              <a:spcBef>
                <a:spcPts val="400"/>
              </a:spcBef>
              <a:buNone/>
            </a:pPr>
            <a:r>
              <a:rPr lang="en-US" sz="1200" b="1" dirty="0">
                <a:solidFill>
                  <a:srgbClr val="C00000"/>
                </a:solidFill>
                <a:latin typeface="Consolas" panose="020B0609020204030204" pitchFamily="49" charset="0"/>
                <a:cs typeface="Consolas" panose="020B0609020204030204" pitchFamily="49" charset="0"/>
              </a:rPr>
              <a:t>  </a:t>
            </a:r>
            <a:r>
              <a:rPr lang="en-US" sz="1200" b="1" dirty="0" err="1">
                <a:solidFill>
                  <a:srgbClr val="C00000"/>
                </a:solidFill>
                <a:latin typeface="Consolas" panose="020B0609020204030204" pitchFamily="49" charset="0"/>
                <a:cs typeface="Consolas" panose="020B0609020204030204" pitchFamily="49" charset="0"/>
              </a:rPr>
              <a:t>geom_sf</a:t>
            </a:r>
            <a:r>
              <a:rPr lang="en-US" sz="1200" b="1" dirty="0">
                <a:solidFill>
                  <a:srgbClr val="C00000"/>
                </a:solidFill>
                <a:latin typeface="Consolas" panose="020B0609020204030204" pitchFamily="49" charset="0"/>
                <a:cs typeface="Consolas" panose="020B0609020204030204" pitchFamily="49" charset="0"/>
              </a:rPr>
              <a:t>(</a:t>
            </a:r>
            <a:r>
              <a:rPr lang="en-US" sz="1200" b="1" dirty="0" err="1">
                <a:solidFill>
                  <a:srgbClr val="C00000"/>
                </a:solidFill>
                <a:latin typeface="Consolas" panose="020B0609020204030204" pitchFamily="49" charset="0"/>
                <a:cs typeface="Consolas" panose="020B0609020204030204" pitchFamily="49" charset="0"/>
              </a:rPr>
              <a:t>aes</a:t>
            </a:r>
            <a:r>
              <a:rPr lang="en-US" sz="1200" b="1" dirty="0">
                <a:solidFill>
                  <a:srgbClr val="C00000"/>
                </a:solidFill>
                <a:latin typeface="Consolas" panose="020B0609020204030204" pitchFamily="49" charset="0"/>
                <a:cs typeface="Consolas" panose="020B0609020204030204" pitchFamily="49" charset="0"/>
              </a:rPr>
              <a:t>(fill=</a:t>
            </a:r>
            <a:r>
              <a:rPr lang="en-US" sz="1200" b="1" dirty="0" err="1">
                <a:solidFill>
                  <a:srgbClr val="C00000"/>
                </a:solidFill>
                <a:latin typeface="Consolas" panose="020B0609020204030204" pitchFamily="49" charset="0"/>
                <a:cs typeface="Consolas" panose="020B0609020204030204" pitchFamily="49" charset="0"/>
              </a:rPr>
              <a:t>Ii$Li</a:t>
            </a:r>
            <a:r>
              <a:rPr lang="en-US" sz="1200" b="1" dirty="0">
                <a:solidFill>
                  <a:srgbClr val="C00000"/>
                </a:solidFill>
                <a:latin typeface="Consolas" panose="020B0609020204030204" pitchFamily="49" charset="0"/>
                <a:cs typeface="Consolas" panose="020B0609020204030204" pitchFamily="49" charset="0"/>
              </a:rPr>
              <a:t>)) +</a:t>
            </a:r>
          </a:p>
          <a:p>
            <a:pPr marL="0" indent="0">
              <a:lnSpc>
                <a:spcPct val="100000"/>
              </a:lnSpc>
              <a:spcBef>
                <a:spcPts val="400"/>
              </a:spcBef>
              <a:buNone/>
            </a:pPr>
            <a:r>
              <a:rPr lang="en-US" sz="1200" b="1" dirty="0">
                <a:solidFill>
                  <a:srgbClr val="C00000"/>
                </a:solidFill>
                <a:latin typeface="Consolas" panose="020B0609020204030204" pitchFamily="49" charset="0"/>
                <a:cs typeface="Consolas" panose="020B0609020204030204" pitchFamily="49" charset="0"/>
              </a:rPr>
              <a:t>  scale_fill_gradient2(name = "</a:t>
            </a:r>
            <a:r>
              <a:rPr lang="en-US" sz="1200" b="1" dirty="0" err="1">
                <a:solidFill>
                  <a:srgbClr val="C00000"/>
                </a:solidFill>
                <a:latin typeface="Consolas" panose="020B0609020204030204" pitchFamily="49" charset="0"/>
                <a:cs typeface="Consolas" panose="020B0609020204030204" pitchFamily="49" charset="0"/>
              </a:rPr>
              <a:t>Ii</a:t>
            </a:r>
            <a:r>
              <a:rPr lang="en-US" sz="1200" b="1" dirty="0">
                <a:solidFill>
                  <a:srgbClr val="C00000"/>
                </a:solidFill>
                <a:latin typeface="Consolas" panose="020B0609020204030204" pitchFamily="49" charset="0"/>
                <a:cs typeface="Consolas" panose="020B0609020204030204" pitchFamily="49" charset="0"/>
              </a:rPr>
              <a:t>") + </a:t>
            </a:r>
            <a:r>
              <a:rPr lang="en-US" sz="1200" b="1" dirty="0" err="1">
                <a:solidFill>
                  <a:srgbClr val="C00000"/>
                </a:solidFill>
                <a:latin typeface="Consolas" panose="020B0609020204030204" pitchFamily="49" charset="0"/>
                <a:cs typeface="Consolas" panose="020B0609020204030204" pitchFamily="49" charset="0"/>
              </a:rPr>
              <a:t>theme_void</a:t>
            </a:r>
            <a:r>
              <a:rPr lang="en-US" sz="1200" b="1" dirty="0">
                <a:solidFill>
                  <a:srgbClr val="C00000"/>
                </a:solidFill>
                <a:latin typeface="Consolas" panose="020B0609020204030204" pitchFamily="49" charset="0"/>
                <a:cs typeface="Consolas" panose="020B0609020204030204" pitchFamily="49" charset="0"/>
              </a:rPr>
              <a:t>()</a:t>
            </a:r>
          </a:p>
          <a:p>
            <a:pPr marL="0" indent="0">
              <a:lnSpc>
                <a:spcPct val="100000"/>
              </a:lnSpc>
              <a:spcBef>
                <a:spcPts val="400"/>
              </a:spcBef>
              <a:buNone/>
            </a:pPr>
            <a:endParaRPr lang="en-US" sz="1200" b="1" dirty="0">
              <a:solidFill>
                <a:srgbClr val="C00000"/>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err="1">
                <a:solidFill>
                  <a:srgbClr val="00B050"/>
                </a:solidFill>
                <a:latin typeface="Consolas" panose="020B0609020204030204" pitchFamily="49" charset="0"/>
                <a:cs typeface="Consolas" panose="020B0609020204030204" pitchFamily="49" charset="0"/>
              </a:rPr>
              <a:t>gridExtra</a:t>
            </a:r>
            <a:r>
              <a:rPr lang="en-US" sz="1200" b="1" dirty="0">
                <a:solidFill>
                  <a:srgbClr val="00B050"/>
                </a:solidFill>
                <a:latin typeface="Consolas" panose="020B0609020204030204" pitchFamily="49" charset="0"/>
                <a:cs typeface="Consolas" panose="020B0609020204030204" pitchFamily="49" charset="0"/>
              </a:rPr>
              <a:t>::</a:t>
            </a:r>
            <a:r>
              <a:rPr lang="en-US" sz="1200" b="1" dirty="0" err="1">
                <a:solidFill>
                  <a:srgbClr val="00B050"/>
                </a:solidFill>
                <a:latin typeface="Consolas" panose="020B0609020204030204" pitchFamily="49" charset="0"/>
                <a:cs typeface="Consolas" panose="020B0609020204030204" pitchFamily="49" charset="0"/>
              </a:rPr>
              <a:t>grid.arrange</a:t>
            </a:r>
            <a:r>
              <a:rPr lang="en-US" sz="1200" b="1" dirty="0">
                <a:solidFill>
                  <a:srgbClr val="00B050"/>
                </a:solidFill>
                <a:latin typeface="Consolas" panose="020B0609020204030204" pitchFamily="49" charset="0"/>
                <a:cs typeface="Consolas" panose="020B0609020204030204" pitchFamily="49" charset="0"/>
              </a:rPr>
              <a:t>(</a:t>
            </a:r>
            <a:r>
              <a:rPr lang="en-US" sz="1200" b="1" dirty="0" err="1">
                <a:solidFill>
                  <a:srgbClr val="00B050"/>
                </a:solidFill>
                <a:latin typeface="Consolas" panose="020B0609020204030204" pitchFamily="49" charset="0"/>
                <a:cs typeface="Consolas" panose="020B0609020204030204" pitchFamily="49" charset="0"/>
              </a:rPr>
              <a:t>Ci_map</a:t>
            </a:r>
            <a:r>
              <a:rPr lang="en-US" sz="1200" b="1" dirty="0">
                <a:solidFill>
                  <a:srgbClr val="00B050"/>
                </a:solidFill>
                <a:latin typeface="Consolas" panose="020B0609020204030204" pitchFamily="49" charset="0"/>
                <a:cs typeface="Consolas" panose="020B0609020204030204" pitchFamily="49" charset="0"/>
              </a:rPr>
              <a:t>, </a:t>
            </a:r>
            <a:r>
              <a:rPr lang="en-US" sz="1200" b="1" dirty="0" err="1">
                <a:solidFill>
                  <a:srgbClr val="00B050"/>
                </a:solidFill>
                <a:latin typeface="Consolas" panose="020B0609020204030204" pitchFamily="49" charset="0"/>
                <a:cs typeface="Consolas" panose="020B0609020204030204" pitchFamily="49" charset="0"/>
              </a:rPr>
              <a:t>Li_map</a:t>
            </a:r>
            <a:r>
              <a:rPr lang="en-US" sz="1200" b="1" dirty="0">
                <a:solidFill>
                  <a:srgbClr val="00B050"/>
                </a:solidFill>
                <a:latin typeface="Consolas" panose="020B0609020204030204" pitchFamily="49" charset="0"/>
                <a:cs typeface="Consolas" panose="020B0609020204030204" pitchFamily="49" charset="0"/>
              </a:rPr>
              <a:t>, </a:t>
            </a:r>
            <a:r>
              <a:rPr lang="en-US" sz="1200" b="1" dirty="0" err="1">
                <a:solidFill>
                  <a:srgbClr val="00B050"/>
                </a:solidFill>
                <a:latin typeface="Consolas" panose="020B0609020204030204" pitchFamily="49" charset="0"/>
                <a:cs typeface="Consolas" panose="020B0609020204030204" pitchFamily="49" charset="0"/>
              </a:rPr>
              <a:t>nrow</a:t>
            </a:r>
            <a:r>
              <a:rPr lang="en-US" sz="1200" b="1" dirty="0">
                <a:solidFill>
                  <a:srgbClr val="00B050"/>
                </a:solidFill>
                <a:latin typeface="Consolas" panose="020B0609020204030204" pitchFamily="49" charset="0"/>
                <a:cs typeface="Consolas" panose="020B0609020204030204" pitchFamily="49" charset="0"/>
              </a:rPr>
              <a:t> = 1)</a:t>
            </a:r>
          </a:p>
        </p:txBody>
      </p:sp>
      <p:sp>
        <p:nvSpPr>
          <p:cNvPr id="6" name="TextBox 5">
            <a:extLst>
              <a:ext uri="{FF2B5EF4-FFF2-40B4-BE49-F238E27FC236}">
                <a16:creationId xmlns:a16="http://schemas.microsoft.com/office/drawing/2014/main" id="{73F749A4-A12A-59AF-0252-5CB3987BF56B}"/>
              </a:ext>
            </a:extLst>
          </p:cNvPr>
          <p:cNvSpPr txBox="1"/>
          <p:nvPr/>
        </p:nvSpPr>
        <p:spPr>
          <a:xfrm>
            <a:off x="7212776" y="1090701"/>
            <a:ext cx="1474024" cy="1015663"/>
          </a:xfrm>
          <a:prstGeom prst="rect">
            <a:avLst/>
          </a:prstGeom>
          <a:solidFill>
            <a:srgbClr val="FFD84C"/>
          </a:solidFill>
        </p:spPr>
        <p:txBody>
          <a:bodyPr wrap="square" rtlCol="0">
            <a:spAutoFit/>
          </a:bodyPr>
          <a:lstStyle/>
          <a:p>
            <a:pPr algn="r"/>
            <a:r>
              <a:rPr lang="en-US" sz="1200" dirty="0"/>
              <a:t>Due to their complementary strengths, these two indices are best used together.</a:t>
            </a:r>
          </a:p>
        </p:txBody>
      </p:sp>
      <p:sp>
        <p:nvSpPr>
          <p:cNvPr id="7" name="TextBox 6">
            <a:extLst>
              <a:ext uri="{FF2B5EF4-FFF2-40B4-BE49-F238E27FC236}">
                <a16:creationId xmlns:a16="http://schemas.microsoft.com/office/drawing/2014/main" id="{D5434B6F-A2DB-E9FD-4665-C1D617CAAF32}"/>
              </a:ext>
            </a:extLst>
          </p:cNvPr>
          <p:cNvSpPr txBox="1"/>
          <p:nvPr/>
        </p:nvSpPr>
        <p:spPr>
          <a:xfrm>
            <a:off x="5153891" y="4325025"/>
            <a:ext cx="3532909" cy="2031325"/>
          </a:xfrm>
          <a:prstGeom prst="rect">
            <a:avLst/>
          </a:prstGeom>
          <a:solidFill>
            <a:srgbClr val="FFD84C"/>
          </a:solidFill>
        </p:spPr>
        <p:txBody>
          <a:bodyPr wrap="square" rtlCol="0">
            <a:spAutoFit/>
          </a:bodyPr>
          <a:lstStyle/>
          <a:p>
            <a:r>
              <a:rPr lang="en-US" sz="1400" dirty="0"/>
              <a:t>LISA is the most useful tool because it provides a </a:t>
            </a:r>
            <a:r>
              <a:rPr lang="en-US" sz="1400" b="1" dirty="0"/>
              <a:t>Cluster Map</a:t>
            </a:r>
            <a:r>
              <a:rPr lang="en-US" sz="1400" dirty="0"/>
              <a:t>.</a:t>
            </a:r>
          </a:p>
          <a:p>
            <a:endParaRPr lang="en-US" sz="1400" dirty="0"/>
          </a:p>
          <a:p>
            <a:r>
              <a:rPr lang="en-US" sz="1400" dirty="0"/>
              <a:t>Instead of just saying "the state has a high crime rate," a LISA map can show you the specific blocks where the crime is clustered (Hot Spots) or the specific safe zones (Cold Spots). It helps people put resources exactly where they are needed most.</a:t>
            </a:r>
          </a:p>
        </p:txBody>
      </p:sp>
      <p:sp>
        <p:nvSpPr>
          <p:cNvPr id="3" name="Content Placeholder 2">
            <a:extLst>
              <a:ext uri="{FF2B5EF4-FFF2-40B4-BE49-F238E27FC236}">
                <a16:creationId xmlns:a16="http://schemas.microsoft.com/office/drawing/2014/main" id="{FBC64C5A-3C74-D26A-C53B-4CFA2FB24CA1}"/>
              </a:ext>
            </a:extLst>
          </p:cNvPr>
          <p:cNvSpPr>
            <a:spLocks noGrp="1"/>
          </p:cNvSpPr>
          <p:nvPr>
            <p:ph idx="1"/>
          </p:nvPr>
        </p:nvSpPr>
        <p:spPr>
          <a:xfrm>
            <a:off x="457200" y="321734"/>
            <a:ext cx="8229600" cy="6034618"/>
          </a:xfrm>
        </p:spPr>
        <p:txBody>
          <a:bodyPr>
            <a:noAutofit/>
          </a:bodyPr>
          <a:lstStyle/>
          <a:p>
            <a:pPr marL="0" indent="0">
              <a:buNone/>
            </a:pPr>
            <a:r>
              <a:rPr lang="en-US" sz="1800" b="1" dirty="0"/>
              <a:t>Local Indicators of Spatial Association (LISAs)</a:t>
            </a:r>
          </a:p>
          <a:p>
            <a:r>
              <a:rPr lang="en-US" sz="1600" dirty="0"/>
              <a:t>Maps of the two local statistics highlight different qualities:</a:t>
            </a:r>
          </a:p>
          <a:p>
            <a:pPr lvl="1"/>
            <a:r>
              <a:rPr lang="en-US" sz="1600" dirty="0"/>
              <a:t>𝐼</a:t>
            </a:r>
            <a:r>
              <a:rPr lang="en-US" sz="1600" baseline="-25000" dirty="0"/>
              <a:t>𝑖</a:t>
            </a:r>
            <a:r>
              <a:rPr lang="en-US" sz="1600" dirty="0"/>
              <a:t> draws attention to clustering,</a:t>
            </a:r>
          </a:p>
          <a:p>
            <a:pPr lvl="1"/>
            <a:r>
              <a:rPr lang="en-US" sz="1600" dirty="0"/>
              <a:t>𝐶</a:t>
            </a:r>
            <a:r>
              <a:rPr lang="en-US" sz="1600" baseline="-25000" dirty="0"/>
              <a:t>𝑖</a:t>
            </a:r>
            <a:r>
              <a:rPr lang="en-US" sz="1600" dirty="0"/>
              <a:t> draws attention to discontinuities and outliers.</a:t>
            </a:r>
          </a:p>
        </p:txBody>
      </p:sp>
    </p:spTree>
    <p:extLst>
      <p:ext uri="{BB962C8B-B14F-4D97-AF65-F5344CB8AC3E}">
        <p14:creationId xmlns:p14="http://schemas.microsoft.com/office/powerpoint/2010/main" val="431984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5C746-258A-4683-1545-B1EE7B03B93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78F3B68-B3E7-E656-07A4-4C2BDE97BC2C}"/>
              </a:ext>
            </a:extLst>
          </p:cNvPr>
          <p:cNvSpPr txBox="1"/>
          <p:nvPr/>
        </p:nvSpPr>
        <p:spPr>
          <a:xfrm>
            <a:off x="4690150" y="5575922"/>
            <a:ext cx="3511741" cy="738664"/>
          </a:xfrm>
          <a:prstGeom prst="rect">
            <a:avLst/>
          </a:prstGeom>
          <a:solidFill>
            <a:srgbClr val="FFD84C">
              <a:alpha val="40000"/>
            </a:srgbClr>
          </a:solidFill>
          <a:ln w="38100">
            <a:solidFill>
              <a:srgbClr val="C00000">
                <a:alpha val="50196"/>
              </a:srgbClr>
            </a:solidFill>
          </a:ln>
        </p:spPr>
        <p:txBody>
          <a:bodyPr wrap="square" rtlCol="0">
            <a:spAutoFit/>
          </a:bodyPr>
          <a:lstStyle/>
          <a:p>
            <a:r>
              <a:rPr lang="en-US" sz="1400" b="1" dirty="0"/>
              <a:t>Inflated Type I Error</a:t>
            </a:r>
            <a:r>
              <a:rPr lang="en-US" sz="1400" dirty="0"/>
              <a:t>: Much more likely to find a relationship where none exists if you ignore the reduced effective sample size.</a:t>
            </a:r>
          </a:p>
        </p:txBody>
      </p:sp>
      <p:sp>
        <p:nvSpPr>
          <p:cNvPr id="3" name="Content Placeholder 2">
            <a:extLst>
              <a:ext uri="{FF2B5EF4-FFF2-40B4-BE49-F238E27FC236}">
                <a16:creationId xmlns:a16="http://schemas.microsoft.com/office/drawing/2014/main" id="{A358B825-D805-C9DF-7CD2-A1F721D0B669}"/>
              </a:ext>
            </a:extLst>
          </p:cNvPr>
          <p:cNvSpPr>
            <a:spLocks noGrp="1"/>
          </p:cNvSpPr>
          <p:nvPr>
            <p:ph idx="1"/>
          </p:nvPr>
        </p:nvSpPr>
        <p:spPr>
          <a:xfrm>
            <a:off x="457200" y="249382"/>
            <a:ext cx="8229600" cy="6106970"/>
          </a:xfrm>
        </p:spPr>
        <p:txBody>
          <a:bodyPr>
            <a:noAutofit/>
          </a:bodyPr>
          <a:lstStyle/>
          <a:p>
            <a:pPr marL="0" indent="0">
              <a:buNone/>
            </a:pPr>
            <a:r>
              <a:rPr lang="en-US" sz="1800" b="1" dirty="0"/>
              <a:t>Effective Sample Size (ESS)</a:t>
            </a:r>
          </a:p>
          <a:p>
            <a:r>
              <a:rPr lang="en-US" sz="1600" dirty="0"/>
              <a:t>Spatial patterns aren't just visual: they fundamentally </a:t>
            </a:r>
            <a:r>
              <a:rPr lang="en-US" sz="1600" b="1" dirty="0"/>
              <a:t>change</a:t>
            </a:r>
            <a:r>
              <a:rPr lang="en-US" sz="1600" dirty="0"/>
              <a:t> the information content of a dataset.</a:t>
            </a:r>
          </a:p>
          <a:p>
            <a:pPr lvl="1"/>
            <a:r>
              <a:rPr lang="en-US" sz="1400" dirty="0"/>
              <a:t>When data points are spatially autocorrelated, they are </a:t>
            </a:r>
            <a:r>
              <a:rPr lang="en-US" sz="1400" b="1" dirty="0"/>
              <a:t>not independent</a:t>
            </a:r>
            <a:r>
              <a:rPr lang="en-US" sz="1400" dirty="0"/>
              <a:t>,</a:t>
            </a:r>
            <a:br>
              <a:rPr lang="en-US" sz="1400" dirty="0"/>
            </a:br>
            <a:r>
              <a:rPr lang="en-US" sz="1400" dirty="0"/>
              <a:t>which reduces the amount of "new" evidence each additional observation provides.</a:t>
            </a:r>
          </a:p>
          <a:p>
            <a:pPr lvl="2"/>
            <a:r>
              <a:rPr lang="en-US" sz="1400" dirty="0"/>
              <a:t>High SA leads to redundant information.</a:t>
            </a:r>
          </a:p>
          <a:p>
            <a:pPr lvl="1"/>
            <a:r>
              <a:rPr lang="en-US" sz="1400" dirty="0"/>
              <a:t>Using </a:t>
            </a:r>
            <a:r>
              <a:rPr lang="en-US" sz="1400" u="sng" dirty="0"/>
              <a:t>conventional statistical</a:t>
            </a:r>
            <a:r>
              <a:rPr lang="en-US" sz="1400" dirty="0"/>
              <a:t> methods (which </a:t>
            </a:r>
            <a:r>
              <a:rPr lang="en-US" sz="1400" b="1" dirty="0"/>
              <a:t>assume independence</a:t>
            </a:r>
            <a:r>
              <a:rPr lang="en-US" sz="1400" dirty="0"/>
              <a:t>) on spatial data often leads to "perilous" results, as the methods overestimate the true sample size.</a:t>
            </a:r>
          </a:p>
          <a:p>
            <a:r>
              <a:rPr lang="en-US" sz="1600" dirty="0"/>
              <a:t>ESS represents the number of independent observations that would contain the same amount of information as your spatially dependent dataset.</a:t>
            </a:r>
          </a:p>
          <a:p>
            <a:pPr lvl="1"/>
            <a:r>
              <a:rPr lang="en-US" sz="1400" dirty="0"/>
              <a:t>The </a:t>
            </a:r>
            <a:r>
              <a:rPr lang="en-US" sz="1400" b="1" dirty="0" err="1"/>
              <a:t>n_eff</a:t>
            </a:r>
            <a:r>
              <a:rPr lang="en-US" sz="1400" b="1" dirty="0"/>
              <a:t> </a:t>
            </a:r>
            <a:r>
              <a:rPr lang="en-US" sz="1400" dirty="0"/>
              <a:t>function approximates ESS using the Simultaneous Autoregressive (SAR) model framework.</a:t>
            </a:r>
          </a:p>
          <a:p>
            <a:endParaRPr lang="en-US" sz="1600" dirty="0"/>
          </a:p>
        </p:txBody>
      </p:sp>
      <p:sp>
        <p:nvSpPr>
          <p:cNvPr id="4" name="Slide Number Placeholder 3">
            <a:extLst>
              <a:ext uri="{FF2B5EF4-FFF2-40B4-BE49-F238E27FC236}">
                <a16:creationId xmlns:a16="http://schemas.microsoft.com/office/drawing/2014/main" id="{1E1AD20C-9FD5-FAF7-E84B-F94ED338BC26}"/>
              </a:ext>
            </a:extLst>
          </p:cNvPr>
          <p:cNvSpPr>
            <a:spLocks noGrp="1"/>
          </p:cNvSpPr>
          <p:nvPr>
            <p:ph type="sldNum" sz="quarter" idx="12"/>
          </p:nvPr>
        </p:nvSpPr>
        <p:spPr/>
        <p:txBody>
          <a:bodyPr/>
          <a:lstStyle/>
          <a:p>
            <a:fld id="{C0343C75-1924-D247-85A3-0CB62E67E5D1}" type="slidenum">
              <a:rPr lang="en-US" smtClean="0"/>
              <a:t>22</a:t>
            </a:fld>
            <a:endParaRPr lang="en-US" dirty="0"/>
          </a:p>
        </p:txBody>
      </p:sp>
      <p:sp>
        <p:nvSpPr>
          <p:cNvPr id="2" name="Content Placeholder 2">
            <a:extLst>
              <a:ext uri="{FF2B5EF4-FFF2-40B4-BE49-F238E27FC236}">
                <a16:creationId xmlns:a16="http://schemas.microsoft.com/office/drawing/2014/main" id="{649F6066-F05B-5E52-E6EF-A26F83720C82}"/>
              </a:ext>
            </a:extLst>
          </p:cNvPr>
          <p:cNvSpPr txBox="1">
            <a:spLocks/>
          </p:cNvSpPr>
          <p:nvPr/>
        </p:nvSpPr>
        <p:spPr>
          <a:xfrm>
            <a:off x="457200" y="3269671"/>
            <a:ext cx="8229600" cy="18426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200" b="1" dirty="0">
                <a:solidFill>
                  <a:srgbClr val="0070C0"/>
                </a:solidFill>
                <a:latin typeface="Consolas" panose="020B0609020204030204" pitchFamily="49" charset="0"/>
                <a:cs typeface="Consolas" panose="020B0609020204030204" pitchFamily="49" charset="0"/>
              </a:rPr>
              <a:t>x &lt;- log(</a:t>
            </a:r>
            <a:r>
              <a:rPr lang="en-US" sz="1200" b="1" dirty="0" err="1">
                <a:solidFill>
                  <a:srgbClr val="0070C0"/>
                </a:solidFill>
                <a:latin typeface="Consolas" panose="020B0609020204030204" pitchFamily="49" charset="0"/>
                <a:cs typeface="Consolas" panose="020B0609020204030204" pitchFamily="49" charset="0"/>
              </a:rPr>
              <a:t>georgia$income</a:t>
            </a:r>
            <a:r>
              <a:rPr lang="en-US" sz="1200" b="1" dirty="0">
                <a:solidFill>
                  <a:srgbClr val="0070C0"/>
                </a:solidFill>
                <a:latin typeface="Consolas" panose="020B0609020204030204" pitchFamily="49" charset="0"/>
                <a:cs typeface="Consolas" panose="020B0609020204030204" pitchFamily="49" charset="0"/>
              </a:rPr>
              <a:t>)</a:t>
            </a:r>
          </a:p>
          <a:p>
            <a:pPr marL="0" indent="0">
              <a:lnSpc>
                <a:spcPct val="100000"/>
              </a:lnSpc>
              <a:spcBef>
                <a:spcPts val="400"/>
              </a:spcBef>
              <a:buNone/>
            </a:pPr>
            <a:r>
              <a:rPr lang="en-US" sz="1200" b="1" dirty="0">
                <a:solidFill>
                  <a:srgbClr val="0070C0"/>
                </a:solidFill>
                <a:latin typeface="Consolas" panose="020B0609020204030204" pitchFamily="49" charset="0"/>
                <a:cs typeface="Consolas" panose="020B0609020204030204" pitchFamily="49" charset="0"/>
              </a:rPr>
              <a:t>c(</a:t>
            </a:r>
            <a:r>
              <a:rPr lang="en-US" sz="1200" b="1" dirty="0" err="1">
                <a:solidFill>
                  <a:srgbClr val="0070C0"/>
                </a:solidFill>
                <a:latin typeface="Consolas" panose="020B0609020204030204" pitchFamily="49" charset="0"/>
                <a:cs typeface="Consolas" panose="020B0609020204030204" pitchFamily="49" charset="0"/>
              </a:rPr>
              <a:t>nominal_n</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nrow</a:t>
            </a:r>
            <a:r>
              <a:rPr lang="en-US" sz="1200" b="1" dirty="0">
                <a:solidFill>
                  <a:srgbClr val="0070C0"/>
                </a:solidFill>
                <a:latin typeface="Consolas" panose="020B0609020204030204" pitchFamily="49" charset="0"/>
                <a:cs typeface="Consolas" panose="020B0609020204030204" pitchFamily="49" charset="0"/>
              </a:rPr>
              <a:t>(</a:t>
            </a:r>
            <a:r>
              <a:rPr lang="en-US" sz="1200" b="1" dirty="0" err="1">
                <a:solidFill>
                  <a:srgbClr val="0070C0"/>
                </a:solidFill>
                <a:latin typeface="Consolas" panose="020B0609020204030204" pitchFamily="49" charset="0"/>
                <a:cs typeface="Consolas" panose="020B0609020204030204" pitchFamily="49" charset="0"/>
              </a:rPr>
              <a:t>georgia</a:t>
            </a:r>
            <a:r>
              <a:rPr lang="en-US" sz="1200" b="1" dirty="0">
                <a:solidFill>
                  <a:srgbClr val="0070C0"/>
                </a:solidFill>
                <a:latin typeface="Consolas" panose="020B0609020204030204" pitchFamily="49" charset="0"/>
                <a:cs typeface="Consolas" panose="020B0609020204030204" pitchFamily="49" charset="0"/>
              </a:rPr>
              <a:t>),</a:t>
            </a:r>
          </a:p>
          <a:p>
            <a:pPr marL="0" indent="0">
              <a:lnSpc>
                <a:spcPct val="100000"/>
              </a:lnSpc>
              <a:spcBef>
                <a:spcPts val="400"/>
              </a:spcBef>
              <a:buNone/>
            </a:pPr>
            <a:r>
              <a:rPr lang="en-US" sz="1200" b="1" dirty="0">
                <a:solidFill>
                  <a:schemeClr val="accent5"/>
                </a:solidFill>
                <a:latin typeface="Consolas" panose="020B0609020204030204" pitchFamily="49" charset="0"/>
                <a:cs typeface="Consolas" panose="020B0609020204030204" pitchFamily="49" charset="0"/>
              </a:rPr>
              <a:t>  rho = </a:t>
            </a:r>
            <a:r>
              <a:rPr lang="en-US" sz="1200" b="1" dirty="0" err="1">
                <a:solidFill>
                  <a:schemeClr val="accent5"/>
                </a:solidFill>
                <a:latin typeface="Consolas" panose="020B0609020204030204" pitchFamily="49" charset="0"/>
                <a:cs typeface="Consolas" panose="020B0609020204030204" pitchFamily="49" charset="0"/>
              </a:rPr>
              <a:t>aple</a:t>
            </a:r>
            <a:r>
              <a:rPr lang="en-US" sz="1200" b="1" dirty="0">
                <a:solidFill>
                  <a:schemeClr val="accent5"/>
                </a:solidFill>
                <a:latin typeface="Consolas" panose="020B0609020204030204" pitchFamily="49" charset="0"/>
                <a:cs typeface="Consolas" panose="020B0609020204030204" pitchFamily="49" charset="0"/>
              </a:rPr>
              <a:t>(x, W),</a:t>
            </a:r>
          </a:p>
          <a:p>
            <a:pPr marL="0" indent="0">
              <a:lnSpc>
                <a:spcPct val="100000"/>
              </a:lnSpc>
              <a:spcBef>
                <a:spcPts val="400"/>
              </a:spcBef>
              <a:buNone/>
            </a:pPr>
            <a:r>
              <a:rPr lang="en-US" sz="1200" b="1" dirty="0">
                <a:solidFill>
                  <a:srgbClr val="0070C0"/>
                </a:solidFill>
                <a:latin typeface="Consolas" panose="020B0609020204030204" pitchFamily="49" charset="0"/>
                <a:cs typeface="Consolas" panose="020B0609020204030204" pitchFamily="49" charset="0"/>
              </a:rPr>
              <a:t>  MC = mc(x, W),</a:t>
            </a:r>
          </a:p>
          <a:p>
            <a:pPr marL="0" indent="0">
              <a:lnSpc>
                <a:spcPct val="100000"/>
              </a:lnSpc>
              <a:spcBef>
                <a:spcPts val="400"/>
              </a:spcBef>
              <a:buNone/>
            </a:pPr>
            <a:r>
              <a:rPr lang="en-US" sz="1200" b="1" dirty="0">
                <a:solidFill>
                  <a:srgbClr val="0070C0"/>
                </a:solidFill>
                <a:latin typeface="Consolas" panose="020B0609020204030204" pitchFamily="49" charset="0"/>
                <a:cs typeface="Consolas" panose="020B0609020204030204" pitchFamily="49" charset="0"/>
              </a:rPr>
              <a:t>  ESS = </a:t>
            </a:r>
            <a:r>
              <a:rPr lang="en-US" sz="1200" b="1" dirty="0" err="1">
                <a:solidFill>
                  <a:srgbClr val="0070C0"/>
                </a:solidFill>
                <a:latin typeface="Consolas" panose="020B0609020204030204" pitchFamily="49" charset="0"/>
                <a:cs typeface="Consolas" panose="020B0609020204030204" pitchFamily="49" charset="0"/>
              </a:rPr>
              <a:t>n_eff</a:t>
            </a:r>
            <a:r>
              <a:rPr lang="en-US" sz="1200" b="1" dirty="0">
                <a:solidFill>
                  <a:srgbClr val="0070C0"/>
                </a:solidFill>
                <a:latin typeface="Consolas" panose="020B0609020204030204" pitchFamily="49" charset="0"/>
                <a:cs typeface="Consolas" panose="020B0609020204030204" pitchFamily="49" charset="0"/>
              </a:rPr>
              <a:t>(rho = rho, n = n))</a:t>
            </a:r>
            <a:endParaRPr lang="en-US" sz="1200" b="1" dirty="0">
              <a:solidFill>
                <a:schemeClr val="tx1">
                  <a:lumMod val="65000"/>
                  <a:lumOff val="3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a:t>
            </a:r>
            <a:r>
              <a:rPr lang="en-US" sz="1200" b="1" dirty="0" err="1">
                <a:solidFill>
                  <a:schemeClr val="tx1">
                    <a:lumMod val="65000"/>
                    <a:lumOff val="35000"/>
                  </a:schemeClr>
                </a:solidFill>
                <a:latin typeface="Consolas" panose="020B0609020204030204" pitchFamily="49" charset="0"/>
                <a:cs typeface="Consolas" panose="020B0609020204030204" pitchFamily="49" charset="0"/>
              </a:rPr>
              <a:t>nominal_n</a:t>
            </a:r>
            <a:r>
              <a:rPr lang="en-US" sz="1200" b="1" dirty="0">
                <a:solidFill>
                  <a:schemeClr val="tx1">
                    <a:lumMod val="65000"/>
                    <a:lumOff val="35000"/>
                  </a:schemeClr>
                </a:solidFill>
                <a:latin typeface="Consolas" panose="020B0609020204030204" pitchFamily="49" charset="0"/>
                <a:cs typeface="Consolas" panose="020B0609020204030204" pitchFamily="49" charset="0"/>
              </a:rPr>
              <a:t>       rho        MC       ESS </a:t>
            </a:r>
          </a:p>
          <a:p>
            <a:pPr marL="0" indent="0">
              <a:lnSpc>
                <a:spcPct val="100000"/>
              </a:lnSpc>
              <a:spcBef>
                <a:spcPts val="400"/>
              </a:spcBef>
              <a:buNone/>
            </a:pPr>
            <a:r>
              <a:rPr lang="en-US" sz="1200" b="1" dirty="0">
                <a:solidFill>
                  <a:schemeClr val="tx1">
                    <a:lumMod val="65000"/>
                    <a:lumOff val="35000"/>
                  </a:schemeClr>
                </a:solidFill>
                <a:latin typeface="Consolas" panose="020B0609020204030204" pitchFamily="49" charset="0"/>
                <a:cs typeface="Consolas" panose="020B0609020204030204" pitchFamily="49" charset="0"/>
              </a:rPr>
              <a:t># 159.00000   0.70100   0.49800  23.34735</a:t>
            </a:r>
          </a:p>
        </p:txBody>
      </p:sp>
      <p:sp>
        <p:nvSpPr>
          <p:cNvPr id="5" name="TextBox 4">
            <a:extLst>
              <a:ext uri="{FF2B5EF4-FFF2-40B4-BE49-F238E27FC236}">
                <a16:creationId xmlns:a16="http://schemas.microsoft.com/office/drawing/2014/main" id="{D203EA63-541E-9139-EDF0-E7BBCED7CB9F}"/>
              </a:ext>
            </a:extLst>
          </p:cNvPr>
          <p:cNvSpPr txBox="1"/>
          <p:nvPr/>
        </p:nvSpPr>
        <p:spPr>
          <a:xfrm>
            <a:off x="457200" y="4961584"/>
            <a:ext cx="7744691" cy="523220"/>
          </a:xfrm>
          <a:prstGeom prst="rect">
            <a:avLst/>
          </a:prstGeom>
          <a:solidFill>
            <a:srgbClr val="FFD84C"/>
          </a:solidFill>
          <a:ln w="38100">
            <a:solidFill>
              <a:srgbClr val="C00000"/>
            </a:solidFill>
          </a:ln>
        </p:spPr>
        <p:txBody>
          <a:bodyPr wrap="square" rtlCol="0">
            <a:spAutoFit/>
          </a:bodyPr>
          <a:lstStyle/>
          <a:p>
            <a:r>
              <a:rPr lang="en-US" sz="1400" b="1" dirty="0"/>
              <a:t>Bottom Line</a:t>
            </a:r>
            <a:r>
              <a:rPr lang="en-US" sz="1400" dirty="0"/>
              <a:t>: Because of strong spatial patterns, 159 data points only provide the same statistical "punch" as 23 independent observations.</a:t>
            </a:r>
          </a:p>
        </p:txBody>
      </p:sp>
      <p:sp>
        <p:nvSpPr>
          <p:cNvPr id="6" name="Right Arrow 5">
            <a:extLst>
              <a:ext uri="{FF2B5EF4-FFF2-40B4-BE49-F238E27FC236}">
                <a16:creationId xmlns:a16="http://schemas.microsoft.com/office/drawing/2014/main" id="{7CF37D6C-6B9D-B901-0CF4-F2026FB495F1}"/>
              </a:ext>
            </a:extLst>
          </p:cNvPr>
          <p:cNvSpPr/>
          <p:nvPr/>
        </p:nvSpPr>
        <p:spPr>
          <a:xfrm>
            <a:off x="4329545" y="3866976"/>
            <a:ext cx="387927" cy="393900"/>
          </a:xfrm>
          <a:prstGeom prst="rightArrow">
            <a:avLst/>
          </a:prstGeom>
          <a:solidFill>
            <a:schemeClr val="bg2">
              <a:lumMod val="90000"/>
            </a:schemeClr>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8285751D-D18A-6249-A9AF-DF8ED0DC8354}"/>
              </a:ext>
            </a:extLst>
          </p:cNvPr>
          <p:cNvGraphicFramePr>
            <a:graphicFrameLocks noGrp="1"/>
          </p:cNvGraphicFramePr>
          <p:nvPr>
            <p:extLst>
              <p:ext uri="{D42A27DB-BD31-4B8C-83A1-F6EECF244321}">
                <p14:modId xmlns:p14="http://schemas.microsoft.com/office/powerpoint/2010/main" val="1343783662"/>
              </p:ext>
            </p:extLst>
          </p:nvPr>
        </p:nvGraphicFramePr>
        <p:xfrm>
          <a:off x="4862945" y="3353142"/>
          <a:ext cx="3338946" cy="1421568"/>
        </p:xfrm>
        <a:graphic>
          <a:graphicData uri="http://schemas.openxmlformats.org/drawingml/2006/table">
            <a:tbl>
              <a:tblPr firstRow="1" bandRow="1">
                <a:tableStyleId>{073A0DAA-6AF3-43AB-8588-CEC1D06C72B9}</a:tableStyleId>
              </a:tblPr>
              <a:tblGrid>
                <a:gridCol w="2286000">
                  <a:extLst>
                    <a:ext uri="{9D8B030D-6E8A-4147-A177-3AD203B41FA5}">
                      <a16:colId xmlns:a16="http://schemas.microsoft.com/office/drawing/2014/main" val="3468412114"/>
                    </a:ext>
                  </a:extLst>
                </a:gridCol>
                <a:gridCol w="1052946">
                  <a:extLst>
                    <a:ext uri="{9D8B030D-6E8A-4147-A177-3AD203B41FA5}">
                      <a16:colId xmlns:a16="http://schemas.microsoft.com/office/drawing/2014/main" val="2867274649"/>
                    </a:ext>
                  </a:extLst>
                </a:gridCol>
              </a:tblGrid>
              <a:tr h="355392">
                <a:tc>
                  <a:txBody>
                    <a:bodyPr/>
                    <a:lstStyle/>
                    <a:p>
                      <a:pPr algn="ctr"/>
                      <a:r>
                        <a:rPr lang="en-US" sz="1400" dirty="0"/>
                        <a:t>Metric</a:t>
                      </a:r>
                    </a:p>
                  </a:txBody>
                  <a:tcPr/>
                </a:tc>
                <a:tc>
                  <a:txBody>
                    <a:bodyPr/>
                    <a:lstStyle/>
                    <a:p>
                      <a:pPr algn="ctr"/>
                      <a:r>
                        <a:rPr lang="en-US" sz="1400" dirty="0"/>
                        <a:t>Value</a:t>
                      </a:r>
                    </a:p>
                  </a:txBody>
                  <a:tcPr/>
                </a:tc>
                <a:extLst>
                  <a:ext uri="{0D108BD9-81ED-4DB2-BD59-A6C34878D82A}">
                    <a16:rowId xmlns:a16="http://schemas.microsoft.com/office/drawing/2014/main" val="3074637119"/>
                  </a:ext>
                </a:extLst>
              </a:tr>
              <a:tr h="355392">
                <a:tc>
                  <a:txBody>
                    <a:bodyPr/>
                    <a:lstStyle/>
                    <a:p>
                      <a:pPr algn="ctr"/>
                      <a:r>
                        <a:rPr lang="en-US" sz="1400" dirty="0"/>
                        <a:t>Nominal Sample Size</a:t>
                      </a:r>
                    </a:p>
                  </a:txBody>
                  <a:tcPr/>
                </a:tc>
                <a:tc>
                  <a:txBody>
                    <a:bodyPr/>
                    <a:lstStyle/>
                    <a:p>
                      <a:pPr algn="ctr"/>
                      <a:r>
                        <a:rPr lang="en-US" sz="1400" dirty="0"/>
                        <a:t>159</a:t>
                      </a:r>
                    </a:p>
                  </a:txBody>
                  <a:tcPr/>
                </a:tc>
                <a:extLst>
                  <a:ext uri="{0D108BD9-81ED-4DB2-BD59-A6C34878D82A}">
                    <a16:rowId xmlns:a16="http://schemas.microsoft.com/office/drawing/2014/main" val="658844849"/>
                  </a:ext>
                </a:extLst>
              </a:tr>
              <a:tr h="355392">
                <a:tc>
                  <a:txBody>
                    <a:bodyPr/>
                    <a:lstStyle/>
                    <a:p>
                      <a:pPr algn="ctr"/>
                      <a:r>
                        <a:rPr lang="en-US" sz="1400" dirty="0"/>
                        <a:t>Spatial Autocorrelation</a:t>
                      </a:r>
                    </a:p>
                  </a:txBody>
                  <a:tcPr/>
                </a:tc>
                <a:tc>
                  <a:txBody>
                    <a:bodyPr/>
                    <a:lstStyle/>
                    <a:p>
                      <a:pPr algn="ctr"/>
                      <a:r>
                        <a:rPr lang="en-US" sz="1400" dirty="0"/>
                        <a:t>0.70</a:t>
                      </a:r>
                    </a:p>
                  </a:txBody>
                  <a:tcPr/>
                </a:tc>
                <a:extLst>
                  <a:ext uri="{0D108BD9-81ED-4DB2-BD59-A6C34878D82A}">
                    <a16:rowId xmlns:a16="http://schemas.microsoft.com/office/drawing/2014/main" val="2385550230"/>
                  </a:ext>
                </a:extLst>
              </a:tr>
              <a:tr h="355392">
                <a:tc>
                  <a:txBody>
                    <a:bodyPr/>
                    <a:lstStyle/>
                    <a:p>
                      <a:pPr algn="ctr"/>
                      <a:r>
                        <a:rPr lang="en-US" sz="1400" dirty="0"/>
                        <a:t>Effective Sample Size</a:t>
                      </a:r>
                    </a:p>
                  </a:txBody>
                  <a:tcPr/>
                </a:tc>
                <a:tc>
                  <a:txBody>
                    <a:bodyPr/>
                    <a:lstStyle/>
                    <a:p>
                      <a:pPr algn="ctr"/>
                      <a:r>
                        <a:rPr lang="en-US" sz="1400" dirty="0"/>
                        <a:t>~23</a:t>
                      </a:r>
                    </a:p>
                  </a:txBody>
                  <a:tcPr/>
                </a:tc>
                <a:extLst>
                  <a:ext uri="{0D108BD9-81ED-4DB2-BD59-A6C34878D82A}">
                    <a16:rowId xmlns:a16="http://schemas.microsoft.com/office/drawing/2014/main" val="1554346745"/>
                  </a:ext>
                </a:extLst>
              </a:tr>
            </a:tbl>
          </a:graphicData>
        </a:graphic>
      </p:graphicFrame>
      <p:sp>
        <p:nvSpPr>
          <p:cNvPr id="8" name="TextBox 7">
            <a:extLst>
              <a:ext uri="{FF2B5EF4-FFF2-40B4-BE49-F238E27FC236}">
                <a16:creationId xmlns:a16="http://schemas.microsoft.com/office/drawing/2014/main" id="{2D7D1D5B-6943-C4DB-7542-8DB2CF319990}"/>
              </a:ext>
            </a:extLst>
          </p:cNvPr>
          <p:cNvSpPr txBox="1"/>
          <p:nvPr/>
        </p:nvSpPr>
        <p:spPr>
          <a:xfrm>
            <a:off x="457200" y="5575922"/>
            <a:ext cx="3511741" cy="738664"/>
          </a:xfrm>
          <a:prstGeom prst="rect">
            <a:avLst/>
          </a:prstGeom>
          <a:solidFill>
            <a:srgbClr val="FFD84C">
              <a:alpha val="40000"/>
            </a:srgbClr>
          </a:solidFill>
          <a:ln w="38100">
            <a:solidFill>
              <a:srgbClr val="C00000">
                <a:alpha val="50196"/>
              </a:srgbClr>
            </a:solidFill>
          </a:ln>
        </p:spPr>
        <p:txBody>
          <a:bodyPr wrap="square" rtlCol="0">
            <a:spAutoFit/>
          </a:bodyPr>
          <a:lstStyle/>
          <a:p>
            <a:r>
              <a:rPr lang="en-US" sz="1400" b="1" dirty="0"/>
              <a:t>False Confidence</a:t>
            </a:r>
            <a:r>
              <a:rPr lang="en-US" sz="1400" dirty="0"/>
              <a:t>: Conventional methods might report a "significant" correlation that is just an artifact of spatial patterning.</a:t>
            </a:r>
          </a:p>
        </p:txBody>
      </p:sp>
      <p:cxnSp>
        <p:nvCxnSpPr>
          <p:cNvPr id="11" name="Curved Connector 10">
            <a:extLst>
              <a:ext uri="{FF2B5EF4-FFF2-40B4-BE49-F238E27FC236}">
                <a16:creationId xmlns:a16="http://schemas.microsoft.com/office/drawing/2014/main" id="{D1A01DEE-304D-9387-C41D-53A3EECD18C0}"/>
              </a:ext>
            </a:extLst>
          </p:cNvPr>
          <p:cNvCxnSpPr>
            <a:cxnSpLocks/>
            <a:stCxn id="5" idx="2"/>
            <a:endCxn id="9" idx="1"/>
          </p:cNvCxnSpPr>
          <p:nvPr/>
        </p:nvCxnSpPr>
        <p:spPr>
          <a:xfrm rot="16200000" flipH="1">
            <a:off x="4279623" y="5534727"/>
            <a:ext cx="460450" cy="360604"/>
          </a:xfrm>
          <a:prstGeom prst="curvedConnector2">
            <a:avLst/>
          </a:prstGeom>
          <a:ln w="38100">
            <a:solidFill>
              <a:srgbClr val="C0000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4" name="Curved Connector 13">
            <a:extLst>
              <a:ext uri="{FF2B5EF4-FFF2-40B4-BE49-F238E27FC236}">
                <a16:creationId xmlns:a16="http://schemas.microsoft.com/office/drawing/2014/main" id="{0F1535C7-1322-DD15-5C98-1804A20CDBEF}"/>
              </a:ext>
            </a:extLst>
          </p:cNvPr>
          <p:cNvCxnSpPr>
            <a:cxnSpLocks/>
            <a:stCxn id="5" idx="2"/>
            <a:endCxn id="8" idx="3"/>
          </p:cNvCxnSpPr>
          <p:nvPr/>
        </p:nvCxnSpPr>
        <p:spPr>
          <a:xfrm rot="5400000">
            <a:off x="3919019" y="5534727"/>
            <a:ext cx="460450" cy="360605"/>
          </a:xfrm>
          <a:prstGeom prst="curvedConnector2">
            <a:avLst/>
          </a:prstGeom>
          <a:ln w="38100">
            <a:solidFill>
              <a:srgbClr val="C00000"/>
            </a:solidFill>
            <a:tailEnd type="triangle" w="lg" len="lg"/>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70CEDA1-7E15-8A73-AEC7-040A239D9520}"/>
              </a:ext>
            </a:extLst>
          </p:cNvPr>
          <p:cNvSpPr txBox="1"/>
          <p:nvPr/>
        </p:nvSpPr>
        <p:spPr>
          <a:xfrm>
            <a:off x="457199" y="6317732"/>
            <a:ext cx="7938656" cy="461665"/>
          </a:xfrm>
          <a:prstGeom prst="rect">
            <a:avLst/>
          </a:prstGeom>
          <a:noFill/>
        </p:spPr>
        <p:txBody>
          <a:bodyPr wrap="square" rtlCol="0">
            <a:spAutoFit/>
          </a:bodyPr>
          <a:lstStyle/>
          <a:p>
            <a:r>
              <a:rPr lang="en-US" sz="1200" dirty="0">
                <a:solidFill>
                  <a:schemeClr val="accent5"/>
                </a:solidFill>
              </a:rPr>
              <a:t>* The </a:t>
            </a:r>
            <a:r>
              <a:rPr lang="en-US" sz="1200" b="1" dirty="0">
                <a:solidFill>
                  <a:schemeClr val="accent5"/>
                </a:solidFill>
              </a:rPr>
              <a:t>APLE</a:t>
            </a:r>
            <a:r>
              <a:rPr lang="en-US" sz="1200" dirty="0">
                <a:solidFill>
                  <a:schemeClr val="accent5"/>
                </a:solidFill>
              </a:rPr>
              <a:t> is an estimate of the spatial autocorrelation parameter one would obtain from fitting an intercept-only SAR model. Note, the APLE approximation is not reliable when the number of observations is large.</a:t>
            </a:r>
          </a:p>
        </p:txBody>
      </p:sp>
    </p:spTree>
    <p:extLst>
      <p:ext uri="{BB962C8B-B14F-4D97-AF65-F5344CB8AC3E}">
        <p14:creationId xmlns:p14="http://schemas.microsoft.com/office/powerpoint/2010/main" val="3249708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E4B0E-94C3-DD25-A198-12D7E66BE00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9A8398-E0C9-18EB-3566-0BE9669B31C2}"/>
              </a:ext>
            </a:extLst>
          </p:cNvPr>
          <p:cNvSpPr>
            <a:spLocks noGrp="1"/>
          </p:cNvSpPr>
          <p:nvPr>
            <p:ph type="sldNum" sz="quarter" idx="12"/>
          </p:nvPr>
        </p:nvSpPr>
        <p:spPr/>
        <p:txBody>
          <a:bodyPr/>
          <a:lstStyle/>
          <a:p>
            <a:fld id="{C0343C75-1924-D247-85A3-0CB62E67E5D1}" type="slidenum">
              <a:rPr lang="en-US" smtClean="0"/>
              <a:t>23</a:t>
            </a:fld>
            <a:endParaRPr lang="en-US"/>
          </a:p>
        </p:txBody>
      </p:sp>
      <p:pic>
        <p:nvPicPr>
          <p:cNvPr id="2" name="Picture 1">
            <a:extLst>
              <a:ext uri="{FF2B5EF4-FFF2-40B4-BE49-F238E27FC236}">
                <a16:creationId xmlns:a16="http://schemas.microsoft.com/office/drawing/2014/main" id="{D181E5C8-4FDA-469F-7D5F-98E07A262432}"/>
              </a:ext>
            </a:extLst>
          </p:cNvPr>
          <p:cNvPicPr>
            <a:picLocks noChangeAspect="1"/>
          </p:cNvPicPr>
          <p:nvPr/>
        </p:nvPicPr>
        <p:blipFill>
          <a:blip r:embed="rId2"/>
          <a:stretch>
            <a:fillRect/>
          </a:stretch>
        </p:blipFill>
        <p:spPr>
          <a:xfrm>
            <a:off x="5075406" y="826287"/>
            <a:ext cx="3608962" cy="1697070"/>
          </a:xfrm>
          <a:prstGeom prst="rect">
            <a:avLst/>
          </a:prstGeom>
        </p:spPr>
      </p:pic>
      <p:pic>
        <p:nvPicPr>
          <p:cNvPr id="5" name="Picture 4">
            <a:extLst>
              <a:ext uri="{FF2B5EF4-FFF2-40B4-BE49-F238E27FC236}">
                <a16:creationId xmlns:a16="http://schemas.microsoft.com/office/drawing/2014/main" id="{345D4D34-CE6E-CC17-5E06-F24A57F5CB6A}"/>
              </a:ext>
            </a:extLst>
          </p:cNvPr>
          <p:cNvPicPr>
            <a:picLocks noChangeAspect="1"/>
          </p:cNvPicPr>
          <p:nvPr/>
        </p:nvPicPr>
        <p:blipFill>
          <a:blip r:embed="rId3"/>
          <a:stretch>
            <a:fillRect/>
          </a:stretch>
        </p:blipFill>
        <p:spPr>
          <a:xfrm>
            <a:off x="5289415" y="2709372"/>
            <a:ext cx="3394953" cy="1697477"/>
          </a:xfrm>
          <a:prstGeom prst="rect">
            <a:avLst/>
          </a:prstGeom>
        </p:spPr>
      </p:pic>
      <p:pic>
        <p:nvPicPr>
          <p:cNvPr id="6" name="Picture 5">
            <a:extLst>
              <a:ext uri="{FF2B5EF4-FFF2-40B4-BE49-F238E27FC236}">
                <a16:creationId xmlns:a16="http://schemas.microsoft.com/office/drawing/2014/main" id="{C35C0BD4-8147-1812-9CC6-C2D2990420DC}"/>
              </a:ext>
            </a:extLst>
          </p:cNvPr>
          <p:cNvPicPr>
            <a:picLocks noChangeAspect="1"/>
          </p:cNvPicPr>
          <p:nvPr/>
        </p:nvPicPr>
        <p:blipFill>
          <a:blip r:embed="rId4"/>
          <a:stretch>
            <a:fillRect/>
          </a:stretch>
        </p:blipFill>
        <p:spPr>
          <a:xfrm>
            <a:off x="4742234" y="4592864"/>
            <a:ext cx="4114800" cy="1763486"/>
          </a:xfrm>
          <a:prstGeom prst="rect">
            <a:avLst/>
          </a:prstGeom>
        </p:spPr>
      </p:pic>
      <p:sp>
        <p:nvSpPr>
          <p:cNvPr id="3" name="Content Placeholder 2">
            <a:extLst>
              <a:ext uri="{FF2B5EF4-FFF2-40B4-BE49-F238E27FC236}">
                <a16:creationId xmlns:a16="http://schemas.microsoft.com/office/drawing/2014/main" id="{825233D4-C3DA-BED4-5A6C-1B34DFBBDD72}"/>
              </a:ext>
            </a:extLst>
          </p:cNvPr>
          <p:cNvSpPr>
            <a:spLocks noGrp="1"/>
          </p:cNvSpPr>
          <p:nvPr>
            <p:ph idx="1"/>
          </p:nvPr>
        </p:nvSpPr>
        <p:spPr>
          <a:xfrm>
            <a:off x="457200" y="321734"/>
            <a:ext cx="4285034" cy="6034618"/>
          </a:xfrm>
        </p:spPr>
        <p:txBody>
          <a:bodyPr>
            <a:noAutofit/>
          </a:bodyPr>
          <a:lstStyle/>
          <a:p>
            <a:pPr marL="0" indent="0">
              <a:buNone/>
            </a:pPr>
            <a:r>
              <a:rPr lang="en-US" sz="1800" b="1" dirty="0"/>
              <a:t>Point Pattern Analysis (PPA)</a:t>
            </a:r>
          </a:p>
          <a:p>
            <a:r>
              <a:rPr lang="en-US" sz="1400" dirty="0"/>
              <a:t>Point pattern analysis is concerned with </a:t>
            </a:r>
            <a:r>
              <a:rPr lang="en-US" sz="1400" u="sng" dirty="0"/>
              <a:t>describing patterns of points over space</a:t>
            </a:r>
            <a:r>
              <a:rPr lang="en-US" sz="1400" dirty="0"/>
              <a:t> and </a:t>
            </a:r>
            <a:r>
              <a:rPr lang="en-US" sz="1400" u="sng" dirty="0"/>
              <a:t>making inference</a:t>
            </a:r>
            <a:r>
              <a:rPr lang="en-US" sz="1400" dirty="0"/>
              <a:t> about the process that could have generated an observed pattern.</a:t>
            </a:r>
          </a:p>
          <a:p>
            <a:r>
              <a:rPr lang="en-US" sz="1400" dirty="0"/>
              <a:t>The focus lies on the </a:t>
            </a:r>
            <a:r>
              <a:rPr lang="en-US" sz="1400" u="sng" dirty="0"/>
              <a:t>information carried in the locations of the points</a:t>
            </a:r>
            <a:r>
              <a:rPr lang="en-US" sz="1400" dirty="0"/>
              <a:t>, and typically these </a:t>
            </a:r>
            <a:r>
              <a:rPr lang="en-US" sz="1400" u="sng" dirty="0"/>
              <a:t>locations are not controlled by sampling</a:t>
            </a:r>
            <a:r>
              <a:rPr lang="en-US" sz="1400" dirty="0"/>
              <a:t> but a result of a process we are interested in </a:t>
            </a:r>
            <a:r>
              <a:rPr lang="en-US" sz="1400" baseline="30000" dirty="0"/>
              <a:t>(such as animal sightings, accidents, disease cases, or tree locations)</a:t>
            </a:r>
            <a:r>
              <a:rPr lang="en-US" sz="1400" dirty="0"/>
              <a:t>.</a:t>
            </a:r>
          </a:p>
          <a:p>
            <a:pPr lvl="1"/>
            <a:r>
              <a:rPr lang="en-US" sz="1400" dirty="0"/>
              <a:t>This is </a:t>
            </a:r>
            <a:r>
              <a:rPr lang="en-US" sz="1400" u="sng" dirty="0"/>
              <a:t>opposed</a:t>
            </a:r>
            <a:r>
              <a:rPr lang="en-US" sz="1400" dirty="0"/>
              <a:t> to geostatistical processes (</a:t>
            </a:r>
            <a:r>
              <a:rPr lang="en-US" sz="1400" i="1" dirty="0"/>
              <a:t>next!</a:t>
            </a:r>
            <a:r>
              <a:rPr lang="en-US" sz="1400" dirty="0"/>
              <a:t>) where we have values of some phenomenon everywhere, but observations limited to a set of locations that we can control (at least in principle).</a:t>
            </a:r>
          </a:p>
          <a:p>
            <a:pPr lvl="1"/>
            <a:r>
              <a:rPr lang="en-US" sz="1400" dirty="0"/>
              <a:t>In geostatistical problems the prime interest is not in the observation locations but in estimating the value of the observed phenomenon </a:t>
            </a:r>
            <a:r>
              <a:rPr lang="en-US" sz="1400" u="sng" dirty="0"/>
              <a:t>at unobserved locations</a:t>
            </a:r>
            <a:r>
              <a:rPr lang="en-US" sz="1400" dirty="0"/>
              <a:t>.</a:t>
            </a:r>
          </a:p>
          <a:p>
            <a:pPr lvl="1"/>
            <a:r>
              <a:rPr lang="en-US" sz="1400" dirty="0"/>
              <a:t>Point pattern analysis typically assumes that for an observed area, </a:t>
            </a:r>
            <a:r>
              <a:rPr lang="en-US" sz="1400" u="sng" dirty="0"/>
              <a:t>all points are available</a:t>
            </a:r>
            <a:r>
              <a:rPr lang="en-US" sz="1400" dirty="0"/>
              <a:t>, meaning that locations without a point are not unobserved as in a geostatistical process, but are observed and contain no point.</a:t>
            </a:r>
          </a:p>
        </p:txBody>
      </p:sp>
    </p:spTree>
    <p:extLst>
      <p:ext uri="{BB962C8B-B14F-4D97-AF65-F5344CB8AC3E}">
        <p14:creationId xmlns:p14="http://schemas.microsoft.com/office/powerpoint/2010/main" val="456276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C1E4F-8AC6-3E55-5B78-29DAE355BFD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8AC976-3D02-758B-9265-6A1D7AFFB4ED}"/>
              </a:ext>
            </a:extLst>
          </p:cNvPr>
          <p:cNvSpPr>
            <a:spLocks noGrp="1"/>
          </p:cNvSpPr>
          <p:nvPr>
            <p:ph type="sldNum" sz="quarter" idx="12"/>
          </p:nvPr>
        </p:nvSpPr>
        <p:spPr/>
        <p:txBody>
          <a:bodyPr/>
          <a:lstStyle/>
          <a:p>
            <a:fld id="{C0343C75-1924-D247-85A3-0CB62E67E5D1}" type="slidenum">
              <a:rPr lang="en-US" smtClean="0"/>
              <a:t>24</a:t>
            </a:fld>
            <a:endParaRPr lang="en-US"/>
          </a:p>
        </p:txBody>
      </p:sp>
      <p:pic>
        <p:nvPicPr>
          <p:cNvPr id="2" name="Picture 1">
            <a:extLst>
              <a:ext uri="{FF2B5EF4-FFF2-40B4-BE49-F238E27FC236}">
                <a16:creationId xmlns:a16="http://schemas.microsoft.com/office/drawing/2014/main" id="{58872FDC-9FAB-4834-F9E1-B9F413A09EF4}"/>
              </a:ext>
            </a:extLst>
          </p:cNvPr>
          <p:cNvPicPr>
            <a:picLocks noChangeAspect="1"/>
          </p:cNvPicPr>
          <p:nvPr/>
        </p:nvPicPr>
        <p:blipFill>
          <a:blip r:embed="rId2"/>
          <a:stretch>
            <a:fillRect/>
          </a:stretch>
        </p:blipFill>
        <p:spPr>
          <a:xfrm>
            <a:off x="5075406" y="826287"/>
            <a:ext cx="3608962" cy="1697070"/>
          </a:xfrm>
          <a:prstGeom prst="rect">
            <a:avLst/>
          </a:prstGeom>
        </p:spPr>
      </p:pic>
      <p:sp>
        <p:nvSpPr>
          <p:cNvPr id="3" name="Content Placeholder 2">
            <a:extLst>
              <a:ext uri="{FF2B5EF4-FFF2-40B4-BE49-F238E27FC236}">
                <a16:creationId xmlns:a16="http://schemas.microsoft.com/office/drawing/2014/main" id="{612B29CA-79C3-E0FE-0A76-5007A8154965}"/>
              </a:ext>
            </a:extLst>
          </p:cNvPr>
          <p:cNvSpPr>
            <a:spLocks noGrp="1"/>
          </p:cNvSpPr>
          <p:nvPr>
            <p:ph idx="1"/>
          </p:nvPr>
        </p:nvSpPr>
        <p:spPr>
          <a:xfrm>
            <a:off x="457200" y="321734"/>
            <a:ext cx="4618206" cy="6034618"/>
          </a:xfrm>
        </p:spPr>
        <p:txBody>
          <a:bodyPr>
            <a:noAutofit/>
          </a:bodyPr>
          <a:lstStyle/>
          <a:p>
            <a:pPr marL="0" indent="0">
              <a:buNone/>
            </a:pPr>
            <a:r>
              <a:rPr lang="en-US" sz="1800" b="1" dirty="0"/>
              <a:t>Point Pattern Analysis (PPA)</a:t>
            </a:r>
          </a:p>
          <a:p>
            <a:r>
              <a:rPr lang="en-US" sz="1400" dirty="0"/>
              <a:t>Point patterns have an observation window.</a:t>
            </a:r>
          </a:p>
          <a:p>
            <a:r>
              <a:rPr lang="en-US" sz="1400" dirty="0"/>
              <a:t>PPA don't just care about </a:t>
            </a:r>
            <a:r>
              <a:rPr lang="en-US" sz="1400" u="sng" dirty="0"/>
              <a:t>where the points are</a:t>
            </a:r>
            <a:r>
              <a:rPr lang="en-US" sz="1400" dirty="0"/>
              <a:t>;</a:t>
            </a:r>
            <a:br>
              <a:rPr lang="en-US" sz="1400" dirty="0"/>
            </a:br>
            <a:r>
              <a:rPr lang="en-US" sz="1400" dirty="0"/>
              <a:t>cares about the space they could have occupied.</a:t>
            </a:r>
          </a:p>
          <a:p>
            <a:r>
              <a:rPr lang="en-US" sz="1400" dirty="0"/>
              <a:t>The "window" (W) is the bounded region where </a:t>
            </a:r>
            <a:br>
              <a:rPr lang="en-US" sz="1400" dirty="0"/>
            </a:br>
            <a:r>
              <a:rPr lang="en-US" sz="1400" dirty="0"/>
              <a:t>the point process is observed.</a:t>
            </a:r>
          </a:p>
          <a:p>
            <a:r>
              <a:rPr lang="en-US" sz="1400" b="1" dirty="0"/>
              <a:t>Empty Space Matters!</a:t>
            </a:r>
            <a:br>
              <a:rPr lang="en-US" sz="1400" dirty="0"/>
            </a:br>
            <a:r>
              <a:rPr lang="en-US" sz="1400" dirty="0"/>
              <a:t>In PPA, a location without a point is just as </a:t>
            </a:r>
            <a:br>
              <a:rPr lang="en-US" sz="1400" dirty="0"/>
            </a:br>
            <a:r>
              <a:rPr lang="en-US" sz="1400" dirty="0"/>
              <a:t>informative as a location with one. If we don't </a:t>
            </a:r>
            <a:br>
              <a:rPr lang="en-US" sz="1400" dirty="0"/>
            </a:br>
            <a:r>
              <a:rPr lang="en-US" sz="1400" dirty="0"/>
              <a:t>define the window, we don't know if an empty </a:t>
            </a:r>
            <a:br>
              <a:rPr lang="en-US" sz="1400" dirty="0"/>
            </a:br>
            <a:r>
              <a:rPr lang="en-US" sz="1400" dirty="0"/>
              <a:t>area is "empty" or simply "unobserved."</a:t>
            </a:r>
          </a:p>
          <a:p>
            <a:r>
              <a:rPr lang="en-US" sz="1400" dirty="0"/>
              <a:t>Intensity is defined as the number of points </a:t>
            </a:r>
            <a:br>
              <a:rPr lang="en-US" sz="1400" dirty="0"/>
            </a:br>
            <a:r>
              <a:rPr lang="en-US" sz="1400" dirty="0"/>
              <a:t>divided by the area.</a:t>
            </a:r>
          </a:p>
          <a:p>
            <a:pPr lvl="1"/>
            <a:r>
              <a:rPr lang="en-US" sz="1400" dirty="0"/>
              <a:t>Without a precise window, you cannot </a:t>
            </a:r>
            <a:br>
              <a:rPr lang="en-US" sz="1400" dirty="0"/>
            </a:br>
            <a:r>
              <a:rPr lang="en-US" sz="1400" dirty="0"/>
              <a:t>accurately calculate the area, </a:t>
            </a:r>
            <a:br>
              <a:rPr lang="en-US" sz="1400" dirty="0"/>
            </a:br>
            <a:r>
              <a:rPr lang="en-US" sz="1400" dirty="0"/>
              <a:t>making density measures meaningless.</a:t>
            </a:r>
          </a:p>
          <a:p>
            <a:r>
              <a:rPr lang="en-US" sz="1400" dirty="0"/>
              <a:t>Points near the boundary of the window </a:t>
            </a:r>
            <a:br>
              <a:rPr lang="en-US" sz="1400" dirty="0"/>
            </a:br>
            <a:r>
              <a:rPr lang="en-US" sz="1400" dirty="0"/>
              <a:t>are "missing" neighbors that exist outside </a:t>
            </a:r>
            <a:br>
              <a:rPr lang="en-US" sz="1400" dirty="0"/>
            </a:br>
            <a:r>
              <a:rPr lang="en-US" sz="1400" dirty="0"/>
              <a:t>the study area.</a:t>
            </a:r>
          </a:p>
          <a:p>
            <a:pPr lvl="1"/>
            <a:r>
              <a:rPr lang="en-US" sz="1400" dirty="0"/>
              <a:t>This can bias statistics like the </a:t>
            </a:r>
            <a:br>
              <a:rPr lang="en-US" sz="1400" dirty="0"/>
            </a:br>
            <a:r>
              <a:rPr lang="en-US" sz="1400" dirty="0"/>
              <a:t>nearest-neighbor distance.</a:t>
            </a:r>
          </a:p>
          <a:p>
            <a:r>
              <a:rPr lang="en-US" sz="1400" dirty="0"/>
              <a:t>We use the observed pattern to infer the </a:t>
            </a:r>
            <a:br>
              <a:rPr lang="en-US" sz="1400" dirty="0"/>
            </a:br>
            <a:r>
              <a:rPr lang="en-US" sz="1400" dirty="0"/>
              <a:t>properties of a "process".</a:t>
            </a:r>
          </a:p>
        </p:txBody>
      </p:sp>
      <p:sp>
        <p:nvSpPr>
          <p:cNvPr id="7" name="Content Placeholder 2">
            <a:extLst>
              <a:ext uri="{FF2B5EF4-FFF2-40B4-BE49-F238E27FC236}">
                <a16:creationId xmlns:a16="http://schemas.microsoft.com/office/drawing/2014/main" id="{C7A66804-479E-61C6-1FB0-8AF005419C41}"/>
              </a:ext>
            </a:extLst>
          </p:cNvPr>
          <p:cNvSpPr txBox="1">
            <a:spLocks/>
          </p:cNvSpPr>
          <p:nvPr/>
        </p:nvSpPr>
        <p:spPr>
          <a:xfrm>
            <a:off x="4863308" y="2703271"/>
            <a:ext cx="4033158" cy="365308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050" b="1" dirty="0">
                <a:solidFill>
                  <a:schemeClr val="tx1">
                    <a:lumMod val="65000"/>
                    <a:lumOff val="35000"/>
                  </a:schemeClr>
                </a:solidFill>
                <a:latin typeface="Consolas" panose="020B0609020204030204" pitchFamily="49" charset="0"/>
                <a:cs typeface="Consolas" panose="020B0609020204030204" pitchFamily="49" charset="0"/>
              </a:rPr>
              <a:t># Point patterns have an observation window.</a:t>
            </a:r>
          </a:p>
          <a:p>
            <a:pPr marL="0" indent="0">
              <a:lnSpc>
                <a:spcPct val="100000"/>
              </a:lnSpc>
              <a:spcBef>
                <a:spcPts val="400"/>
              </a:spcBef>
              <a:buNone/>
            </a:pPr>
            <a:r>
              <a:rPr lang="en-US" sz="1050" b="1" dirty="0">
                <a:solidFill>
                  <a:schemeClr val="tx1">
                    <a:lumMod val="65000"/>
                    <a:lumOff val="35000"/>
                  </a:schemeClr>
                </a:solidFill>
                <a:latin typeface="Consolas" panose="020B0609020204030204" pitchFamily="49" charset="0"/>
                <a:cs typeface="Consolas" panose="020B0609020204030204" pitchFamily="49" charset="0"/>
              </a:rPr>
              <a:t># Consider the points generated randomly by</a:t>
            </a:r>
          </a:p>
          <a:p>
            <a:pPr marL="0" indent="0">
              <a:lnSpc>
                <a:spcPct val="100000"/>
              </a:lnSpc>
              <a:spcBef>
                <a:spcPts val="400"/>
              </a:spcBef>
              <a:buNone/>
            </a:pPr>
            <a:endParaRPr lang="en-US" sz="1050" b="1" dirty="0">
              <a:solidFill>
                <a:schemeClr val="tx1">
                  <a:lumMod val="65000"/>
                  <a:lumOff val="3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050" b="1" dirty="0">
                <a:solidFill>
                  <a:schemeClr val="tx1">
                    <a:lumMod val="65000"/>
                    <a:lumOff val="35000"/>
                  </a:schemeClr>
                </a:solidFill>
                <a:latin typeface="Consolas" panose="020B0609020204030204" pitchFamily="49" charset="0"/>
                <a:cs typeface="Consolas" panose="020B0609020204030204" pitchFamily="49" charset="0"/>
              </a:rPr>
              <a:t>library(sf)</a:t>
            </a:r>
          </a:p>
          <a:p>
            <a:pPr marL="0" indent="0">
              <a:lnSpc>
                <a:spcPct val="100000"/>
              </a:lnSpc>
              <a:spcBef>
                <a:spcPts val="400"/>
              </a:spcBef>
              <a:buNone/>
            </a:pPr>
            <a:r>
              <a:rPr lang="en-US" sz="1050" b="1" dirty="0">
                <a:solidFill>
                  <a:schemeClr val="tx1">
                    <a:lumMod val="65000"/>
                    <a:lumOff val="35000"/>
                  </a:schemeClr>
                </a:solidFill>
                <a:latin typeface="Consolas" panose="020B0609020204030204" pitchFamily="49" charset="0"/>
                <a:cs typeface="Consolas" panose="020B0609020204030204" pitchFamily="49" charset="0"/>
              </a:rPr>
              <a:t>n &lt;- 30</a:t>
            </a:r>
          </a:p>
          <a:p>
            <a:pPr marL="0" indent="0">
              <a:lnSpc>
                <a:spcPct val="100000"/>
              </a:lnSpc>
              <a:spcBef>
                <a:spcPts val="400"/>
              </a:spcBef>
              <a:buNone/>
            </a:pPr>
            <a:r>
              <a:rPr lang="en-US" sz="1050" b="1" dirty="0" err="1">
                <a:solidFill>
                  <a:schemeClr val="tx1">
                    <a:lumMod val="65000"/>
                    <a:lumOff val="35000"/>
                  </a:schemeClr>
                </a:solidFill>
                <a:latin typeface="Consolas" panose="020B0609020204030204" pitchFamily="49" charset="0"/>
                <a:cs typeface="Consolas" panose="020B0609020204030204" pitchFamily="49" charset="0"/>
              </a:rPr>
              <a:t>set.seed</a:t>
            </a:r>
            <a:r>
              <a:rPr lang="en-US" sz="1050" b="1" dirty="0">
                <a:solidFill>
                  <a:schemeClr val="tx1">
                    <a:lumMod val="65000"/>
                    <a:lumOff val="35000"/>
                  </a:schemeClr>
                </a:solidFill>
                <a:latin typeface="Consolas" panose="020B0609020204030204" pitchFamily="49" charset="0"/>
                <a:cs typeface="Consolas" panose="020B0609020204030204" pitchFamily="49" charset="0"/>
              </a:rPr>
              <a:t>(13531)</a:t>
            </a:r>
          </a:p>
          <a:p>
            <a:pPr marL="0" indent="0">
              <a:lnSpc>
                <a:spcPct val="100000"/>
              </a:lnSpc>
              <a:spcBef>
                <a:spcPts val="400"/>
              </a:spcBef>
              <a:buNone/>
            </a:pPr>
            <a:r>
              <a:rPr lang="en-US" sz="1050" b="1" dirty="0" err="1">
                <a:solidFill>
                  <a:schemeClr val="tx1">
                    <a:lumMod val="65000"/>
                    <a:lumOff val="35000"/>
                  </a:schemeClr>
                </a:solidFill>
                <a:latin typeface="Consolas" panose="020B0609020204030204" pitchFamily="49" charset="0"/>
                <a:cs typeface="Consolas" panose="020B0609020204030204" pitchFamily="49" charset="0"/>
              </a:rPr>
              <a:t>xy</a:t>
            </a:r>
            <a:r>
              <a:rPr lang="en-US" sz="1050" b="1" dirty="0">
                <a:solidFill>
                  <a:schemeClr val="tx1">
                    <a:lumMod val="65000"/>
                    <a:lumOff val="35000"/>
                  </a:schemeClr>
                </a:solidFill>
                <a:latin typeface="Consolas" panose="020B0609020204030204" pitchFamily="49" charset="0"/>
                <a:cs typeface="Consolas" panose="020B0609020204030204" pitchFamily="49" charset="0"/>
              </a:rPr>
              <a:t> &lt;-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data.frame</a:t>
            </a:r>
            <a:r>
              <a:rPr lang="en-US" sz="1050" b="1" dirty="0">
                <a:solidFill>
                  <a:schemeClr val="tx1">
                    <a:lumMod val="65000"/>
                    <a:lumOff val="35000"/>
                  </a:schemeClr>
                </a:solidFill>
                <a:latin typeface="Consolas" panose="020B0609020204030204" pitchFamily="49" charset="0"/>
                <a:cs typeface="Consolas" panose="020B0609020204030204" pitchFamily="49" charset="0"/>
              </a:rPr>
              <a:t>(x =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runif</a:t>
            </a:r>
            <a:r>
              <a:rPr lang="en-US" sz="1050" b="1" dirty="0">
                <a:solidFill>
                  <a:schemeClr val="tx1">
                    <a:lumMod val="65000"/>
                    <a:lumOff val="35000"/>
                  </a:schemeClr>
                </a:solidFill>
                <a:latin typeface="Consolas" panose="020B0609020204030204" pitchFamily="49" charset="0"/>
                <a:cs typeface="Consolas" panose="020B0609020204030204" pitchFamily="49" charset="0"/>
              </a:rPr>
              <a:t>(n), y =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runif</a:t>
            </a:r>
            <a:r>
              <a:rPr lang="en-US" sz="1050" b="1" dirty="0">
                <a:solidFill>
                  <a:schemeClr val="tx1">
                    <a:lumMod val="65000"/>
                    <a:lumOff val="35000"/>
                  </a:schemeClr>
                </a:solidFill>
                <a:latin typeface="Consolas" panose="020B0609020204030204" pitchFamily="49" charset="0"/>
                <a:cs typeface="Consolas" panose="020B0609020204030204" pitchFamily="49" charset="0"/>
              </a:rPr>
              <a:t>(n)) |&gt; </a:t>
            </a:r>
          </a:p>
          <a:p>
            <a:pPr marL="0" indent="0">
              <a:lnSpc>
                <a:spcPct val="100000"/>
              </a:lnSpc>
              <a:spcBef>
                <a:spcPts val="400"/>
              </a:spcBef>
              <a:buNone/>
            </a:pPr>
            <a:r>
              <a:rPr lang="en-US" sz="1050" b="1" dirty="0">
                <a:solidFill>
                  <a:schemeClr val="tx1">
                    <a:lumMod val="65000"/>
                    <a:lumOff val="35000"/>
                  </a:schemeClr>
                </a:solidFill>
                <a:latin typeface="Consolas" panose="020B0609020204030204" pitchFamily="49" charset="0"/>
                <a:cs typeface="Consolas" panose="020B0609020204030204" pitchFamily="49" charset="0"/>
              </a:rPr>
              <a:t>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st_as_sf</a:t>
            </a:r>
            <a:r>
              <a:rPr lang="en-US" sz="1050" b="1" dirty="0">
                <a:solidFill>
                  <a:schemeClr val="tx1">
                    <a:lumMod val="65000"/>
                    <a:lumOff val="35000"/>
                  </a:schemeClr>
                </a:solidFill>
                <a:latin typeface="Consolas" panose="020B0609020204030204" pitchFamily="49" charset="0"/>
                <a:cs typeface="Consolas" panose="020B0609020204030204" pitchFamily="49" charset="0"/>
              </a:rPr>
              <a:t>(coords = c("x", "y"))</a:t>
            </a:r>
          </a:p>
          <a:p>
            <a:pPr marL="0" indent="0">
              <a:lnSpc>
                <a:spcPct val="100000"/>
              </a:lnSpc>
              <a:spcBef>
                <a:spcPts val="400"/>
              </a:spcBef>
              <a:buNone/>
            </a:pPr>
            <a:endParaRPr lang="en-US" sz="1050" b="1" dirty="0">
              <a:solidFill>
                <a:schemeClr val="tx1">
                  <a:lumMod val="65000"/>
                  <a:lumOff val="3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050" b="1" dirty="0">
                <a:solidFill>
                  <a:schemeClr val="tx1">
                    <a:lumMod val="65000"/>
                    <a:lumOff val="35000"/>
                  </a:schemeClr>
                </a:solidFill>
                <a:latin typeface="Consolas" panose="020B0609020204030204" pitchFamily="49" charset="0"/>
                <a:cs typeface="Consolas" panose="020B0609020204030204" pitchFamily="49" charset="0"/>
              </a:rPr>
              <a:t># then these points are (by construction) uniformly</a:t>
            </a:r>
            <a:br>
              <a:rPr lang="en-US" sz="1050" b="1" dirty="0">
                <a:solidFill>
                  <a:schemeClr val="tx1">
                    <a:lumMod val="65000"/>
                    <a:lumOff val="35000"/>
                  </a:schemeClr>
                </a:solidFill>
                <a:latin typeface="Consolas" panose="020B0609020204030204" pitchFamily="49" charset="0"/>
                <a:cs typeface="Consolas" panose="020B0609020204030204" pitchFamily="49" charset="0"/>
              </a:rPr>
            </a:br>
            <a:r>
              <a:rPr lang="en-US" sz="1050" b="1" dirty="0">
                <a:solidFill>
                  <a:schemeClr val="tx1">
                    <a:lumMod val="65000"/>
                    <a:lumOff val="35000"/>
                  </a:schemeClr>
                </a:solidFill>
                <a:latin typeface="Consolas" panose="020B0609020204030204" pitchFamily="49" charset="0"/>
                <a:cs typeface="Consolas" panose="020B0609020204030204" pitchFamily="49" charset="0"/>
              </a:rPr>
              <a:t># distributed, or completely spatially random, over</a:t>
            </a:r>
            <a:br>
              <a:rPr lang="en-US" sz="1050" b="1" dirty="0">
                <a:solidFill>
                  <a:schemeClr val="tx1">
                    <a:lumMod val="65000"/>
                    <a:lumOff val="35000"/>
                  </a:schemeClr>
                </a:solidFill>
                <a:latin typeface="Consolas" panose="020B0609020204030204" pitchFamily="49" charset="0"/>
                <a:cs typeface="Consolas" panose="020B0609020204030204" pitchFamily="49" charset="0"/>
              </a:rPr>
            </a:br>
            <a:r>
              <a:rPr lang="en-US" sz="1050" b="1" dirty="0">
                <a:solidFill>
                  <a:schemeClr val="tx1">
                    <a:lumMod val="65000"/>
                    <a:lumOff val="35000"/>
                  </a:schemeClr>
                </a:solidFill>
                <a:latin typeface="Consolas" panose="020B0609020204030204" pitchFamily="49" charset="0"/>
                <a:cs typeface="Consolas" panose="020B0609020204030204" pitchFamily="49" charset="0"/>
              </a:rPr>
              <a:t># the domain. For a larger domain, they are not</a:t>
            </a:r>
            <a:br>
              <a:rPr lang="en-US" sz="1050" b="1" dirty="0">
                <a:solidFill>
                  <a:schemeClr val="tx1">
                    <a:lumMod val="65000"/>
                    <a:lumOff val="35000"/>
                  </a:schemeClr>
                </a:solidFill>
                <a:latin typeface="Consolas" panose="020B0609020204030204" pitchFamily="49" charset="0"/>
                <a:cs typeface="Consolas" panose="020B0609020204030204" pitchFamily="49" charset="0"/>
              </a:rPr>
            </a:br>
            <a:r>
              <a:rPr lang="en-US" sz="1050" b="1" dirty="0">
                <a:solidFill>
                  <a:schemeClr val="tx1">
                    <a:lumMod val="65000"/>
                    <a:lumOff val="35000"/>
                  </a:schemeClr>
                </a:solidFill>
                <a:latin typeface="Consolas" panose="020B0609020204030204" pitchFamily="49" charset="0"/>
                <a:cs typeface="Consolas" panose="020B0609020204030204" pitchFamily="49" charset="0"/>
              </a:rPr>
              <a:t># uniform for the two square windows w1 and w2</a:t>
            </a:r>
          </a:p>
          <a:p>
            <a:pPr marL="0" indent="0">
              <a:lnSpc>
                <a:spcPct val="100000"/>
              </a:lnSpc>
              <a:spcBef>
                <a:spcPts val="400"/>
              </a:spcBef>
              <a:buNone/>
            </a:pPr>
            <a:endParaRPr lang="en-US" sz="1050" b="1" dirty="0">
              <a:solidFill>
                <a:schemeClr val="tx1">
                  <a:lumMod val="65000"/>
                  <a:lumOff val="3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050" b="1" dirty="0">
                <a:solidFill>
                  <a:schemeClr val="tx1">
                    <a:lumMod val="65000"/>
                    <a:lumOff val="35000"/>
                  </a:schemeClr>
                </a:solidFill>
                <a:latin typeface="Consolas" panose="020B0609020204030204" pitchFamily="49" charset="0"/>
                <a:cs typeface="Consolas" panose="020B0609020204030204" pitchFamily="49" charset="0"/>
              </a:rPr>
              <a:t>w1 &lt;-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st_bbox</a:t>
            </a:r>
            <a:r>
              <a:rPr lang="en-US" sz="1050" b="1" dirty="0">
                <a:solidFill>
                  <a:schemeClr val="tx1">
                    <a:lumMod val="65000"/>
                    <a:lumOff val="35000"/>
                  </a:schemeClr>
                </a:solidFill>
                <a:latin typeface="Consolas" panose="020B0609020204030204" pitchFamily="49" charset="0"/>
                <a:cs typeface="Consolas" panose="020B0609020204030204" pitchFamily="49" charset="0"/>
              </a:rPr>
              <a:t>(c(</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xmin</a:t>
            </a:r>
            <a:r>
              <a:rPr lang="en-US" sz="1050" b="1" dirty="0">
                <a:solidFill>
                  <a:schemeClr val="tx1">
                    <a:lumMod val="65000"/>
                    <a:lumOff val="35000"/>
                  </a:schemeClr>
                </a:solidFill>
                <a:latin typeface="Consolas" panose="020B0609020204030204" pitchFamily="49" charset="0"/>
                <a:cs typeface="Consolas" panose="020B0609020204030204" pitchFamily="49" charset="0"/>
              </a:rPr>
              <a:t> = 0,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ymin</a:t>
            </a:r>
            <a:r>
              <a:rPr lang="en-US" sz="1050" b="1" dirty="0">
                <a:solidFill>
                  <a:schemeClr val="tx1">
                    <a:lumMod val="65000"/>
                    <a:lumOff val="35000"/>
                  </a:schemeClr>
                </a:solidFill>
                <a:latin typeface="Consolas" panose="020B0609020204030204" pitchFamily="49" charset="0"/>
                <a:cs typeface="Consolas" panose="020B0609020204030204" pitchFamily="49" charset="0"/>
              </a:rPr>
              <a:t> = 0,</a:t>
            </a:r>
          </a:p>
          <a:p>
            <a:pPr marL="0" indent="0">
              <a:lnSpc>
                <a:spcPct val="100000"/>
              </a:lnSpc>
              <a:spcBef>
                <a:spcPts val="400"/>
              </a:spcBef>
              <a:buNone/>
            </a:pPr>
            <a:r>
              <a:rPr lang="en-US" sz="1050" b="1" dirty="0">
                <a:solidFill>
                  <a:schemeClr val="tx1">
                    <a:lumMod val="65000"/>
                    <a:lumOff val="35000"/>
                  </a:schemeClr>
                </a:solidFill>
                <a:latin typeface="Consolas" panose="020B0609020204030204" pitchFamily="49" charset="0"/>
                <a:cs typeface="Consolas" panose="020B0609020204030204" pitchFamily="49" charset="0"/>
              </a:rPr>
              <a:t>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xmax</a:t>
            </a:r>
            <a:r>
              <a:rPr lang="en-US" sz="1050" b="1" dirty="0">
                <a:solidFill>
                  <a:schemeClr val="tx1">
                    <a:lumMod val="65000"/>
                    <a:lumOff val="35000"/>
                  </a:schemeClr>
                </a:solidFill>
                <a:latin typeface="Consolas" panose="020B0609020204030204" pitchFamily="49" charset="0"/>
                <a:cs typeface="Consolas" panose="020B0609020204030204" pitchFamily="49" charset="0"/>
              </a:rPr>
              <a:t> = 1,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ymax</a:t>
            </a:r>
            <a:r>
              <a:rPr lang="en-US" sz="1050" b="1" dirty="0">
                <a:solidFill>
                  <a:schemeClr val="tx1">
                    <a:lumMod val="65000"/>
                    <a:lumOff val="35000"/>
                  </a:schemeClr>
                </a:solidFill>
                <a:latin typeface="Consolas" panose="020B0609020204030204" pitchFamily="49" charset="0"/>
                <a:cs typeface="Consolas" panose="020B0609020204030204" pitchFamily="49" charset="0"/>
              </a:rPr>
              <a:t> = 1)) |&gt;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st_as_sfc</a:t>
            </a:r>
            <a:r>
              <a:rPr lang="en-US" sz="1050" b="1" dirty="0">
                <a:solidFill>
                  <a:schemeClr val="tx1">
                    <a:lumMod val="65000"/>
                    <a:lumOff val="35000"/>
                  </a:schemeClr>
                </a:solidFill>
                <a:latin typeface="Consolas" panose="020B0609020204030204" pitchFamily="49" charset="0"/>
                <a:cs typeface="Consolas" panose="020B0609020204030204" pitchFamily="49" charset="0"/>
              </a:rPr>
              <a:t>() </a:t>
            </a:r>
          </a:p>
          <a:p>
            <a:pPr marL="0" indent="0">
              <a:lnSpc>
                <a:spcPct val="100000"/>
              </a:lnSpc>
              <a:spcBef>
                <a:spcPts val="400"/>
              </a:spcBef>
              <a:buNone/>
            </a:pPr>
            <a:r>
              <a:rPr lang="en-US" sz="1050" b="1" dirty="0">
                <a:solidFill>
                  <a:schemeClr val="tx1">
                    <a:lumMod val="65000"/>
                    <a:lumOff val="35000"/>
                  </a:schemeClr>
                </a:solidFill>
                <a:latin typeface="Consolas" panose="020B0609020204030204" pitchFamily="49" charset="0"/>
                <a:cs typeface="Consolas" panose="020B0609020204030204" pitchFamily="49" charset="0"/>
              </a:rPr>
              <a:t>w2 &lt;-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st_sfc</a:t>
            </a:r>
            <a:r>
              <a:rPr lang="en-US" sz="1050" b="1" dirty="0">
                <a:solidFill>
                  <a:schemeClr val="tx1">
                    <a:lumMod val="65000"/>
                    <a:lumOff val="35000"/>
                  </a:schemeClr>
                </a:solidFill>
                <a:latin typeface="Consolas" panose="020B0609020204030204" pitchFamily="49" charset="0"/>
                <a:cs typeface="Consolas" panose="020B0609020204030204" pitchFamily="49" charset="0"/>
              </a:rPr>
              <a:t>(</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st_point</a:t>
            </a:r>
            <a:r>
              <a:rPr lang="en-US" sz="1050" b="1" dirty="0">
                <a:solidFill>
                  <a:schemeClr val="tx1">
                    <a:lumMod val="65000"/>
                    <a:lumOff val="35000"/>
                  </a:schemeClr>
                </a:solidFill>
                <a:latin typeface="Consolas" panose="020B0609020204030204" pitchFamily="49" charset="0"/>
                <a:cs typeface="Consolas" panose="020B0609020204030204" pitchFamily="49" charset="0"/>
              </a:rPr>
              <a:t>(c(1, 0.5))) |&gt;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st_buffer</a:t>
            </a:r>
            <a:r>
              <a:rPr lang="en-US" sz="1050" b="1" dirty="0">
                <a:solidFill>
                  <a:schemeClr val="tx1">
                    <a:lumMod val="65000"/>
                    <a:lumOff val="35000"/>
                  </a:schemeClr>
                </a:solidFill>
                <a:latin typeface="Consolas" panose="020B0609020204030204" pitchFamily="49" charset="0"/>
                <a:cs typeface="Consolas" panose="020B0609020204030204" pitchFamily="49" charset="0"/>
              </a:rPr>
              <a:t>(1.2)</a:t>
            </a:r>
          </a:p>
        </p:txBody>
      </p:sp>
      <p:sp>
        <p:nvSpPr>
          <p:cNvPr id="8" name="TextBox 7">
            <a:extLst>
              <a:ext uri="{FF2B5EF4-FFF2-40B4-BE49-F238E27FC236}">
                <a16:creationId xmlns:a16="http://schemas.microsoft.com/office/drawing/2014/main" id="{F0D66A21-4BE0-14A1-23D0-A9A137E3A2A7}"/>
              </a:ext>
            </a:extLst>
          </p:cNvPr>
          <p:cNvSpPr txBox="1"/>
          <p:nvPr/>
        </p:nvSpPr>
        <p:spPr>
          <a:xfrm>
            <a:off x="457200" y="6013046"/>
            <a:ext cx="4114800" cy="523220"/>
          </a:xfrm>
          <a:prstGeom prst="rect">
            <a:avLst/>
          </a:prstGeom>
          <a:solidFill>
            <a:srgbClr val="FFD84C"/>
          </a:solidFill>
        </p:spPr>
        <p:txBody>
          <a:bodyPr wrap="square" rtlCol="0">
            <a:spAutoFit/>
          </a:bodyPr>
          <a:lstStyle/>
          <a:p>
            <a:r>
              <a:rPr lang="en-US" sz="1400" dirty="0"/>
              <a:t>Check full code at:</a:t>
            </a:r>
          </a:p>
          <a:p>
            <a:r>
              <a:rPr lang="en-US" sz="1400" dirty="0">
                <a:hlinkClick r:id="rId3"/>
              </a:rPr>
              <a:t>https://r-spatial.org/book/11-PointPattern.html</a:t>
            </a:r>
            <a:endParaRPr lang="en-US" sz="1400" dirty="0"/>
          </a:p>
        </p:txBody>
      </p:sp>
    </p:spTree>
    <p:extLst>
      <p:ext uri="{BB962C8B-B14F-4D97-AF65-F5344CB8AC3E}">
        <p14:creationId xmlns:p14="http://schemas.microsoft.com/office/powerpoint/2010/main" val="2910083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48A9-4D32-8087-4ACE-A0BF19541B5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3343DEF-B7EA-77D5-8CEA-4D03807336B7}"/>
              </a:ext>
            </a:extLst>
          </p:cNvPr>
          <p:cNvPicPr>
            <a:picLocks noChangeAspect="1"/>
          </p:cNvPicPr>
          <p:nvPr/>
        </p:nvPicPr>
        <p:blipFill>
          <a:blip r:embed="rId2"/>
          <a:stretch>
            <a:fillRect/>
          </a:stretch>
        </p:blipFill>
        <p:spPr>
          <a:xfrm>
            <a:off x="915701" y="2660467"/>
            <a:ext cx="3197795" cy="2284139"/>
          </a:xfrm>
          <a:prstGeom prst="rect">
            <a:avLst/>
          </a:prstGeom>
        </p:spPr>
      </p:pic>
      <p:sp>
        <p:nvSpPr>
          <p:cNvPr id="4" name="Slide Number Placeholder 3">
            <a:extLst>
              <a:ext uri="{FF2B5EF4-FFF2-40B4-BE49-F238E27FC236}">
                <a16:creationId xmlns:a16="http://schemas.microsoft.com/office/drawing/2014/main" id="{4C29EFB9-2DD5-D10F-2007-C3577CA41BBB}"/>
              </a:ext>
            </a:extLst>
          </p:cNvPr>
          <p:cNvSpPr>
            <a:spLocks noGrp="1"/>
          </p:cNvSpPr>
          <p:nvPr>
            <p:ph type="sldNum" sz="quarter" idx="12"/>
          </p:nvPr>
        </p:nvSpPr>
        <p:spPr/>
        <p:txBody>
          <a:bodyPr/>
          <a:lstStyle/>
          <a:p>
            <a:fld id="{C0343C75-1924-D247-85A3-0CB62E67E5D1}" type="slidenum">
              <a:rPr lang="en-US" smtClean="0"/>
              <a:t>25</a:t>
            </a:fld>
            <a:endParaRPr lang="en-US"/>
          </a:p>
        </p:txBody>
      </p:sp>
      <p:pic>
        <p:nvPicPr>
          <p:cNvPr id="2" name="Picture 1">
            <a:extLst>
              <a:ext uri="{FF2B5EF4-FFF2-40B4-BE49-F238E27FC236}">
                <a16:creationId xmlns:a16="http://schemas.microsoft.com/office/drawing/2014/main" id="{70B7ABE6-A965-A76C-A06C-33FCAF8176BB}"/>
              </a:ext>
            </a:extLst>
          </p:cNvPr>
          <p:cNvPicPr>
            <a:picLocks noChangeAspect="1"/>
          </p:cNvPicPr>
          <p:nvPr/>
        </p:nvPicPr>
        <p:blipFill>
          <a:blip r:embed="rId3"/>
          <a:stretch>
            <a:fillRect/>
          </a:stretch>
        </p:blipFill>
        <p:spPr>
          <a:xfrm>
            <a:off x="5075406" y="826287"/>
            <a:ext cx="3608962" cy="1697070"/>
          </a:xfrm>
          <a:prstGeom prst="rect">
            <a:avLst/>
          </a:prstGeom>
        </p:spPr>
      </p:pic>
      <p:sp>
        <p:nvSpPr>
          <p:cNvPr id="3" name="Content Placeholder 2">
            <a:extLst>
              <a:ext uri="{FF2B5EF4-FFF2-40B4-BE49-F238E27FC236}">
                <a16:creationId xmlns:a16="http://schemas.microsoft.com/office/drawing/2014/main" id="{AABB73EF-7772-58A9-440A-4D50C9103166}"/>
              </a:ext>
            </a:extLst>
          </p:cNvPr>
          <p:cNvSpPr>
            <a:spLocks noGrp="1"/>
          </p:cNvSpPr>
          <p:nvPr>
            <p:ph idx="1"/>
          </p:nvPr>
        </p:nvSpPr>
        <p:spPr>
          <a:xfrm>
            <a:off x="457200" y="321734"/>
            <a:ext cx="4114800" cy="6034618"/>
          </a:xfrm>
        </p:spPr>
        <p:txBody>
          <a:bodyPr>
            <a:noAutofit/>
          </a:bodyPr>
          <a:lstStyle/>
          <a:p>
            <a:pPr marL="0" indent="0">
              <a:buNone/>
            </a:pPr>
            <a:r>
              <a:rPr lang="en-US" sz="1800" b="1" dirty="0"/>
              <a:t>Point Pattern Analysis (PPA)</a:t>
            </a:r>
          </a:p>
          <a:p>
            <a:r>
              <a:rPr lang="en-US" sz="1400" dirty="0"/>
              <a:t>Point patterns in </a:t>
            </a:r>
            <a:r>
              <a:rPr lang="en-US" sz="1400" dirty="0" err="1"/>
              <a:t>spatstat</a:t>
            </a:r>
            <a:r>
              <a:rPr lang="en-US" sz="1400" dirty="0"/>
              <a:t> are objects of class </a:t>
            </a:r>
            <a:r>
              <a:rPr lang="en-US" sz="1400" b="1" dirty="0" err="1"/>
              <a:t>ppp</a:t>
            </a:r>
            <a:r>
              <a:rPr lang="en-US" sz="1400" dirty="0"/>
              <a:t> that contain points and an observation window (an object of class </a:t>
            </a:r>
            <a:r>
              <a:rPr lang="en-US" sz="1400" b="1" dirty="0" err="1"/>
              <a:t>owin</a:t>
            </a:r>
            <a:r>
              <a:rPr lang="en-US" sz="1400" dirty="0"/>
              <a:t>).</a:t>
            </a:r>
          </a:p>
          <a:p>
            <a:r>
              <a:rPr lang="en-US" sz="1400" dirty="0"/>
              <a:t>We see that the bounding box of the points is used as observation window when no window is specified.</a:t>
            </a:r>
          </a:p>
          <a:p>
            <a:r>
              <a:rPr lang="en-US" sz="1400" dirty="0"/>
              <a:t>The density maps created this way are obviously raster images, and we can convert them into </a:t>
            </a:r>
            <a:r>
              <a:rPr lang="en-US" sz="1400" b="1" dirty="0"/>
              <a:t>stars</a:t>
            </a:r>
            <a:r>
              <a:rPr lang="en-US" sz="1400" dirty="0"/>
              <a:t> (raster) object.</a:t>
            </a:r>
          </a:p>
        </p:txBody>
      </p:sp>
      <p:sp>
        <p:nvSpPr>
          <p:cNvPr id="7" name="Content Placeholder 2">
            <a:extLst>
              <a:ext uri="{FF2B5EF4-FFF2-40B4-BE49-F238E27FC236}">
                <a16:creationId xmlns:a16="http://schemas.microsoft.com/office/drawing/2014/main" id="{5F2BD354-3F41-A170-2164-25C2E66BC072}"/>
              </a:ext>
            </a:extLst>
          </p:cNvPr>
          <p:cNvSpPr txBox="1">
            <a:spLocks/>
          </p:cNvSpPr>
          <p:nvPr/>
        </p:nvSpPr>
        <p:spPr>
          <a:xfrm>
            <a:off x="4863308" y="4472859"/>
            <a:ext cx="4033158" cy="18834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050" b="1" dirty="0">
                <a:solidFill>
                  <a:schemeClr val="tx1">
                    <a:lumMod val="65000"/>
                    <a:lumOff val="35000"/>
                  </a:schemeClr>
                </a:solidFill>
                <a:latin typeface="Consolas" panose="020B0609020204030204" pitchFamily="49" charset="0"/>
                <a:cs typeface="Consolas" panose="020B0609020204030204" pitchFamily="49" charset="0"/>
              </a:rPr>
              <a:t># We can create a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ppp</a:t>
            </a:r>
            <a:r>
              <a:rPr lang="en-US" sz="1050" b="1" dirty="0">
                <a:solidFill>
                  <a:schemeClr val="tx1">
                    <a:lumMod val="65000"/>
                    <a:lumOff val="35000"/>
                  </a:schemeClr>
                </a:solidFill>
                <a:latin typeface="Consolas" panose="020B0609020204030204" pitchFamily="49" charset="0"/>
                <a:cs typeface="Consolas" panose="020B0609020204030204" pitchFamily="49" charset="0"/>
              </a:rPr>
              <a:t> from points by</a:t>
            </a:r>
          </a:p>
          <a:p>
            <a:pPr marL="0" indent="0">
              <a:lnSpc>
                <a:spcPct val="100000"/>
              </a:lnSpc>
              <a:spcBef>
                <a:spcPts val="400"/>
              </a:spcBef>
              <a:buNone/>
            </a:pPr>
            <a:endParaRPr lang="en-US" sz="1050" b="1" dirty="0">
              <a:solidFill>
                <a:schemeClr val="tx1">
                  <a:lumMod val="65000"/>
                  <a:lumOff val="3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050" b="1" dirty="0">
                <a:solidFill>
                  <a:schemeClr val="tx1">
                    <a:lumMod val="65000"/>
                    <a:lumOff val="35000"/>
                  </a:schemeClr>
                </a:solidFill>
                <a:latin typeface="Consolas" panose="020B0609020204030204" pitchFamily="49" charset="0"/>
                <a:cs typeface="Consolas" panose="020B0609020204030204" pitchFamily="49" charset="0"/>
              </a:rPr>
              <a:t>library(</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spatstat</a:t>
            </a:r>
            <a:r>
              <a:rPr lang="en-US" sz="1050" b="1" dirty="0">
                <a:solidFill>
                  <a:schemeClr val="tx1">
                    <a:lumMod val="65000"/>
                    <a:lumOff val="35000"/>
                  </a:schemeClr>
                </a:solidFill>
                <a:latin typeface="Consolas" panose="020B0609020204030204" pitchFamily="49" charset="0"/>
                <a:cs typeface="Consolas" panose="020B0609020204030204" pitchFamily="49" charset="0"/>
              </a:rPr>
              <a:t>) |&gt; </a:t>
            </a:r>
          </a:p>
          <a:p>
            <a:pPr marL="0" indent="0">
              <a:lnSpc>
                <a:spcPct val="100000"/>
              </a:lnSpc>
              <a:spcBef>
                <a:spcPts val="400"/>
              </a:spcBef>
              <a:buNone/>
            </a:pPr>
            <a:r>
              <a:rPr lang="en-US" sz="1050" b="1" dirty="0">
                <a:solidFill>
                  <a:schemeClr val="tx1">
                    <a:lumMod val="65000"/>
                    <a:lumOff val="35000"/>
                  </a:schemeClr>
                </a:solidFill>
                <a:latin typeface="Consolas" panose="020B0609020204030204" pitchFamily="49" charset="0"/>
                <a:cs typeface="Consolas" panose="020B0609020204030204" pitchFamily="49" charset="0"/>
              </a:rPr>
              <a:t>    </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suppressPackageStartupMessages</a:t>
            </a:r>
            <a:r>
              <a:rPr lang="en-US" sz="1050" b="1" dirty="0">
                <a:solidFill>
                  <a:schemeClr val="tx1">
                    <a:lumMod val="65000"/>
                    <a:lumOff val="35000"/>
                  </a:schemeClr>
                </a:solidFill>
                <a:latin typeface="Consolas" panose="020B0609020204030204" pitchFamily="49" charset="0"/>
                <a:cs typeface="Consolas" panose="020B0609020204030204" pitchFamily="49" charset="0"/>
              </a:rPr>
              <a:t>()</a:t>
            </a:r>
          </a:p>
          <a:p>
            <a:pPr marL="0" indent="0">
              <a:lnSpc>
                <a:spcPct val="100000"/>
              </a:lnSpc>
              <a:spcBef>
                <a:spcPts val="400"/>
              </a:spcBef>
              <a:buNone/>
            </a:pPr>
            <a:endParaRPr lang="en-US" sz="1050" b="1" dirty="0">
              <a:solidFill>
                <a:schemeClr val="tx1">
                  <a:lumMod val="65000"/>
                  <a:lumOff val="3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050" b="1" dirty="0" err="1">
                <a:solidFill>
                  <a:schemeClr val="tx1">
                    <a:lumMod val="65000"/>
                    <a:lumOff val="35000"/>
                  </a:schemeClr>
                </a:solidFill>
                <a:latin typeface="Consolas" panose="020B0609020204030204" pitchFamily="49" charset="0"/>
                <a:cs typeface="Consolas" panose="020B0609020204030204" pitchFamily="49" charset="0"/>
              </a:rPr>
              <a:t>as.ppp</a:t>
            </a:r>
            <a:r>
              <a:rPr lang="en-US" sz="1050" b="1" dirty="0">
                <a:solidFill>
                  <a:schemeClr val="tx1">
                    <a:lumMod val="65000"/>
                    <a:lumOff val="35000"/>
                  </a:schemeClr>
                </a:solidFill>
                <a:latin typeface="Consolas" panose="020B0609020204030204" pitchFamily="49" charset="0"/>
                <a:cs typeface="Consolas" panose="020B0609020204030204" pitchFamily="49" charset="0"/>
              </a:rPr>
              <a:t>(</a:t>
            </a:r>
            <a:r>
              <a:rPr lang="en-US" sz="1050" b="1" dirty="0" err="1">
                <a:solidFill>
                  <a:schemeClr val="tx1">
                    <a:lumMod val="65000"/>
                    <a:lumOff val="35000"/>
                  </a:schemeClr>
                </a:solidFill>
                <a:latin typeface="Consolas" panose="020B0609020204030204" pitchFamily="49" charset="0"/>
                <a:cs typeface="Consolas" panose="020B0609020204030204" pitchFamily="49" charset="0"/>
              </a:rPr>
              <a:t>xy</a:t>
            </a:r>
            <a:r>
              <a:rPr lang="en-US" sz="1050" b="1" dirty="0">
                <a:solidFill>
                  <a:schemeClr val="tx1">
                    <a:lumMod val="65000"/>
                    <a:lumOff val="35000"/>
                  </a:schemeClr>
                </a:solidFill>
                <a:latin typeface="Consolas" panose="020B0609020204030204" pitchFamily="49" charset="0"/>
                <a:cs typeface="Consolas" panose="020B0609020204030204" pitchFamily="49" charset="0"/>
              </a:rPr>
              <a:t>)</a:t>
            </a:r>
          </a:p>
          <a:p>
            <a:pPr marL="0" indent="0">
              <a:lnSpc>
                <a:spcPct val="100000"/>
              </a:lnSpc>
              <a:spcBef>
                <a:spcPts val="400"/>
              </a:spcBef>
              <a:buNone/>
            </a:pPr>
            <a:r>
              <a:rPr lang="en-US" sz="900" b="1" dirty="0">
                <a:solidFill>
                  <a:schemeClr val="tx1">
                    <a:lumMod val="65000"/>
                    <a:lumOff val="35000"/>
                  </a:schemeClr>
                </a:solidFill>
                <a:latin typeface="Consolas" panose="020B0609020204030204" pitchFamily="49" charset="0"/>
                <a:cs typeface="Consolas" panose="020B0609020204030204" pitchFamily="49" charset="0"/>
              </a:rPr>
              <a:t># Planar point pattern: 30 points</a:t>
            </a:r>
          </a:p>
          <a:p>
            <a:pPr marL="0" indent="0">
              <a:lnSpc>
                <a:spcPct val="100000"/>
              </a:lnSpc>
              <a:spcBef>
                <a:spcPts val="400"/>
              </a:spcBef>
              <a:buNone/>
            </a:pPr>
            <a:r>
              <a:rPr lang="en-US" sz="900" b="1" dirty="0">
                <a:solidFill>
                  <a:schemeClr val="tx1">
                    <a:lumMod val="65000"/>
                    <a:lumOff val="35000"/>
                  </a:schemeClr>
                </a:solidFill>
                <a:latin typeface="Consolas" panose="020B0609020204030204" pitchFamily="49" charset="0"/>
                <a:cs typeface="Consolas" panose="020B0609020204030204" pitchFamily="49" charset="0"/>
              </a:rPr>
              <a:t># window: rectangle = [0.009, 0.999] x [0.103, 0.996] units</a:t>
            </a:r>
          </a:p>
        </p:txBody>
      </p:sp>
      <p:pic>
        <p:nvPicPr>
          <p:cNvPr id="5" name="Picture 4">
            <a:extLst>
              <a:ext uri="{FF2B5EF4-FFF2-40B4-BE49-F238E27FC236}">
                <a16:creationId xmlns:a16="http://schemas.microsoft.com/office/drawing/2014/main" id="{DAC307B8-AE14-2A50-E746-801D963EEA19}"/>
              </a:ext>
            </a:extLst>
          </p:cNvPr>
          <p:cNvPicPr>
            <a:picLocks noChangeAspect="1"/>
          </p:cNvPicPr>
          <p:nvPr/>
        </p:nvPicPr>
        <p:blipFill>
          <a:blip r:embed="rId4"/>
          <a:stretch>
            <a:fillRect/>
          </a:stretch>
        </p:blipFill>
        <p:spPr>
          <a:xfrm>
            <a:off x="5289415" y="2709372"/>
            <a:ext cx="3394953" cy="1697477"/>
          </a:xfrm>
          <a:prstGeom prst="rect">
            <a:avLst/>
          </a:prstGeom>
        </p:spPr>
      </p:pic>
      <p:sp>
        <p:nvSpPr>
          <p:cNvPr id="8" name="Content Placeholder 2">
            <a:extLst>
              <a:ext uri="{FF2B5EF4-FFF2-40B4-BE49-F238E27FC236}">
                <a16:creationId xmlns:a16="http://schemas.microsoft.com/office/drawing/2014/main" id="{A1A7A380-9282-39A3-F8AB-65CCD9800366}"/>
              </a:ext>
            </a:extLst>
          </p:cNvPr>
          <p:cNvSpPr txBox="1">
            <a:spLocks/>
          </p:cNvSpPr>
          <p:nvPr/>
        </p:nvSpPr>
        <p:spPr>
          <a:xfrm>
            <a:off x="498020" y="4406849"/>
            <a:ext cx="4033158" cy="14262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000" b="1" dirty="0">
                <a:solidFill>
                  <a:schemeClr val="tx1">
                    <a:lumMod val="65000"/>
                    <a:lumOff val="35000"/>
                  </a:schemeClr>
                </a:solidFill>
                <a:latin typeface="Consolas" panose="020B0609020204030204" pitchFamily="49" charset="0"/>
                <a:cs typeface="Consolas" panose="020B0609020204030204" pitchFamily="49" charset="0"/>
              </a:rPr>
              <a:t>library(stars)</a:t>
            </a:r>
          </a:p>
          <a:p>
            <a:pPr marL="0" indent="0">
              <a:lnSpc>
                <a:spcPct val="100000"/>
              </a:lnSpc>
              <a:spcBef>
                <a:spcPts val="400"/>
              </a:spcBef>
              <a:buNone/>
            </a:pPr>
            <a:r>
              <a:rPr lang="en-US" sz="1000" b="1" dirty="0">
                <a:solidFill>
                  <a:schemeClr val="tx1">
                    <a:lumMod val="65000"/>
                    <a:lumOff val="35000"/>
                  </a:schemeClr>
                </a:solidFill>
                <a:latin typeface="Consolas" panose="020B0609020204030204" pitchFamily="49" charset="0"/>
                <a:cs typeface="Consolas" panose="020B0609020204030204" pitchFamily="49" charset="0"/>
              </a:rPr>
              <a:t>s1 &lt;- </a:t>
            </a:r>
            <a:r>
              <a:rPr lang="en-US" sz="1000" b="1" dirty="0" err="1">
                <a:solidFill>
                  <a:schemeClr val="tx1">
                    <a:lumMod val="65000"/>
                    <a:lumOff val="35000"/>
                  </a:schemeClr>
                </a:solidFill>
                <a:latin typeface="Consolas" panose="020B0609020204030204" pitchFamily="49" charset="0"/>
                <a:cs typeface="Consolas" panose="020B0609020204030204" pitchFamily="49" charset="0"/>
              </a:rPr>
              <a:t>st_as_stars</a:t>
            </a:r>
            <a:r>
              <a:rPr lang="en-US" sz="1000" b="1" dirty="0">
                <a:solidFill>
                  <a:schemeClr val="tx1">
                    <a:lumMod val="65000"/>
                    <a:lumOff val="35000"/>
                  </a:schemeClr>
                </a:solidFill>
                <a:latin typeface="Consolas" panose="020B0609020204030204" pitchFamily="49" charset="0"/>
                <a:cs typeface="Consolas" panose="020B0609020204030204" pitchFamily="49" charset="0"/>
              </a:rPr>
              <a:t>(den1)</a:t>
            </a:r>
          </a:p>
          <a:p>
            <a:pPr marL="0" indent="0">
              <a:lnSpc>
                <a:spcPct val="100000"/>
              </a:lnSpc>
              <a:spcBef>
                <a:spcPts val="400"/>
              </a:spcBef>
              <a:buNone/>
            </a:pPr>
            <a:r>
              <a:rPr lang="en-US" sz="1000" b="1" dirty="0">
                <a:solidFill>
                  <a:schemeClr val="tx1">
                    <a:lumMod val="65000"/>
                    <a:lumOff val="35000"/>
                  </a:schemeClr>
                </a:solidFill>
                <a:latin typeface="Consolas" panose="020B0609020204030204" pitchFamily="49" charset="0"/>
                <a:cs typeface="Consolas" panose="020B0609020204030204" pitchFamily="49" charset="0"/>
              </a:rPr>
              <a:t>(s2 &lt;- </a:t>
            </a:r>
            <a:r>
              <a:rPr lang="en-US" sz="1000" b="1" dirty="0" err="1">
                <a:solidFill>
                  <a:schemeClr val="tx1">
                    <a:lumMod val="65000"/>
                    <a:lumOff val="35000"/>
                  </a:schemeClr>
                </a:solidFill>
                <a:latin typeface="Consolas" panose="020B0609020204030204" pitchFamily="49" charset="0"/>
                <a:cs typeface="Consolas" panose="020B0609020204030204" pitchFamily="49" charset="0"/>
              </a:rPr>
              <a:t>st_as_stars</a:t>
            </a:r>
            <a:r>
              <a:rPr lang="en-US" sz="1000" b="1" dirty="0">
                <a:solidFill>
                  <a:schemeClr val="tx1">
                    <a:lumMod val="65000"/>
                    <a:lumOff val="35000"/>
                  </a:schemeClr>
                </a:solidFill>
                <a:latin typeface="Consolas" panose="020B0609020204030204" pitchFamily="49" charset="0"/>
                <a:cs typeface="Consolas" panose="020B0609020204030204" pitchFamily="49" charset="0"/>
              </a:rPr>
              <a:t>(den2))</a:t>
            </a:r>
          </a:p>
          <a:p>
            <a:pPr marL="0" indent="0">
              <a:lnSpc>
                <a:spcPct val="100000"/>
              </a:lnSpc>
              <a:spcBef>
                <a:spcPts val="400"/>
              </a:spcBef>
              <a:buNone/>
            </a:pPr>
            <a:endParaRPr lang="en-US" sz="1000" b="1" dirty="0">
              <a:solidFill>
                <a:schemeClr val="tx1">
                  <a:lumMod val="65000"/>
                  <a:lumOff val="35000"/>
                </a:schemeClr>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000" b="1" dirty="0">
                <a:solidFill>
                  <a:schemeClr val="tx1">
                    <a:lumMod val="65000"/>
                    <a:lumOff val="35000"/>
                  </a:schemeClr>
                </a:solidFill>
                <a:latin typeface="Consolas" panose="020B0609020204030204" pitchFamily="49" charset="0"/>
                <a:cs typeface="Consolas" panose="020B0609020204030204" pitchFamily="49" charset="0"/>
              </a:rPr>
              <a:t>predict(m,</a:t>
            </a:r>
          </a:p>
          <a:p>
            <a:pPr marL="0" indent="0">
              <a:lnSpc>
                <a:spcPct val="100000"/>
              </a:lnSpc>
              <a:spcBef>
                <a:spcPts val="400"/>
              </a:spcBef>
              <a:buNone/>
            </a:pPr>
            <a:r>
              <a:rPr lang="en-US" sz="1000" b="1" dirty="0">
                <a:solidFill>
                  <a:schemeClr val="tx1">
                    <a:lumMod val="65000"/>
                    <a:lumOff val="35000"/>
                  </a:schemeClr>
                </a:solidFill>
                <a:latin typeface="Consolas" panose="020B0609020204030204" pitchFamily="49" charset="0"/>
                <a:cs typeface="Consolas" panose="020B0609020204030204" pitchFamily="49" charset="0"/>
              </a:rPr>
              <a:t>        covariates = list(</a:t>
            </a:r>
            <a:r>
              <a:rPr lang="en-US" sz="1000" b="1" dirty="0" err="1">
                <a:solidFill>
                  <a:schemeClr val="tx1">
                    <a:lumMod val="65000"/>
                    <a:lumOff val="35000"/>
                  </a:schemeClr>
                </a:solidFill>
                <a:latin typeface="Consolas" panose="020B0609020204030204" pitchFamily="49" charset="0"/>
                <a:cs typeface="Consolas" panose="020B0609020204030204" pitchFamily="49" charset="0"/>
              </a:rPr>
              <a:t>dist</a:t>
            </a:r>
            <a:r>
              <a:rPr lang="en-US" sz="1000" b="1" dirty="0">
                <a:solidFill>
                  <a:schemeClr val="tx1">
                    <a:lumMod val="65000"/>
                    <a:lumOff val="35000"/>
                  </a:schemeClr>
                </a:solidFill>
                <a:latin typeface="Consolas" panose="020B0609020204030204" pitchFamily="49" charset="0"/>
                <a:cs typeface="Consolas" panose="020B0609020204030204" pitchFamily="49" charset="0"/>
              </a:rPr>
              <a:t> = </a:t>
            </a:r>
            <a:r>
              <a:rPr lang="en-US" sz="1000" b="1" dirty="0" err="1">
                <a:solidFill>
                  <a:schemeClr val="tx1">
                    <a:lumMod val="65000"/>
                    <a:lumOff val="35000"/>
                  </a:schemeClr>
                </a:solidFill>
                <a:latin typeface="Consolas" panose="020B0609020204030204" pitchFamily="49" charset="0"/>
                <a:cs typeface="Consolas" panose="020B0609020204030204" pitchFamily="49" charset="0"/>
              </a:rPr>
              <a:t>as.im</a:t>
            </a:r>
            <a:r>
              <a:rPr lang="en-US" sz="1000" b="1" dirty="0">
                <a:solidFill>
                  <a:schemeClr val="tx1">
                    <a:lumMod val="65000"/>
                    <a:lumOff val="35000"/>
                  </a:schemeClr>
                </a:solidFill>
                <a:latin typeface="Consolas" panose="020B0609020204030204" pitchFamily="49" charset="0"/>
                <a:cs typeface="Consolas" panose="020B0609020204030204" pitchFamily="49" charset="0"/>
              </a:rPr>
              <a:t>(s2["</a:t>
            </a:r>
            <a:r>
              <a:rPr lang="en-US" sz="1000" b="1" dirty="0" err="1">
                <a:solidFill>
                  <a:schemeClr val="tx1">
                    <a:lumMod val="65000"/>
                    <a:lumOff val="35000"/>
                  </a:schemeClr>
                </a:solidFill>
                <a:latin typeface="Consolas" panose="020B0609020204030204" pitchFamily="49" charset="0"/>
                <a:cs typeface="Consolas" panose="020B0609020204030204" pitchFamily="49" charset="0"/>
              </a:rPr>
              <a:t>dist</a:t>
            </a:r>
            <a:r>
              <a:rPr lang="en-US" sz="1000" b="1" dirty="0">
                <a:solidFill>
                  <a:schemeClr val="tx1">
                    <a:lumMod val="65000"/>
                    <a:lumOff val="35000"/>
                  </a:schemeClr>
                </a:solidFill>
                <a:latin typeface="Consolas" panose="020B0609020204030204" pitchFamily="49" charset="0"/>
                <a:cs typeface="Consolas" panose="020B0609020204030204" pitchFamily="49" charset="0"/>
              </a:rPr>
              <a:t>"]))) |&gt; </a:t>
            </a:r>
          </a:p>
          <a:p>
            <a:pPr marL="0" indent="0">
              <a:lnSpc>
                <a:spcPct val="100000"/>
              </a:lnSpc>
              <a:spcBef>
                <a:spcPts val="400"/>
              </a:spcBef>
              <a:buNone/>
            </a:pPr>
            <a:r>
              <a:rPr lang="en-US" sz="1000" b="1" dirty="0">
                <a:solidFill>
                  <a:schemeClr val="tx1">
                    <a:lumMod val="65000"/>
                    <a:lumOff val="35000"/>
                  </a:schemeClr>
                </a:solidFill>
                <a:latin typeface="Consolas" panose="020B0609020204030204" pitchFamily="49" charset="0"/>
                <a:cs typeface="Consolas" panose="020B0609020204030204" pitchFamily="49" charset="0"/>
              </a:rPr>
              <a:t>    </a:t>
            </a:r>
            <a:r>
              <a:rPr lang="en-US" sz="1000" b="1" dirty="0" err="1">
                <a:solidFill>
                  <a:schemeClr val="tx1">
                    <a:lumMod val="65000"/>
                    <a:lumOff val="35000"/>
                  </a:schemeClr>
                </a:solidFill>
                <a:latin typeface="Consolas" panose="020B0609020204030204" pitchFamily="49" charset="0"/>
                <a:cs typeface="Consolas" panose="020B0609020204030204" pitchFamily="49" charset="0"/>
              </a:rPr>
              <a:t>st_as_stars</a:t>
            </a:r>
            <a:r>
              <a:rPr lang="en-US" sz="1000" b="1" dirty="0">
                <a:solidFill>
                  <a:schemeClr val="tx1">
                    <a:lumMod val="65000"/>
                    <a:lumOff val="35000"/>
                  </a:schemeClr>
                </a:solidFill>
                <a:latin typeface="Consolas" panose="020B0609020204030204" pitchFamily="49" charset="0"/>
                <a:cs typeface="Consolas" panose="020B0609020204030204" pitchFamily="49" charset="0"/>
              </a:rPr>
              <a:t>()</a:t>
            </a:r>
            <a:endParaRPr lang="en-US" sz="800" b="1" dirty="0">
              <a:solidFill>
                <a:schemeClr val="tx1">
                  <a:lumMod val="65000"/>
                  <a:lumOff val="35000"/>
                </a:schemeClr>
              </a:solidFill>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9AD1347E-6B70-4A62-2FEE-93F47F7FCB78}"/>
              </a:ext>
            </a:extLst>
          </p:cNvPr>
          <p:cNvSpPr txBox="1"/>
          <p:nvPr/>
        </p:nvSpPr>
        <p:spPr>
          <a:xfrm>
            <a:off x="457200" y="6013046"/>
            <a:ext cx="4114800" cy="523220"/>
          </a:xfrm>
          <a:prstGeom prst="rect">
            <a:avLst/>
          </a:prstGeom>
          <a:solidFill>
            <a:srgbClr val="FFD84C"/>
          </a:solidFill>
        </p:spPr>
        <p:txBody>
          <a:bodyPr wrap="square" rtlCol="0">
            <a:spAutoFit/>
          </a:bodyPr>
          <a:lstStyle/>
          <a:p>
            <a:r>
              <a:rPr lang="en-US" sz="1400" dirty="0"/>
              <a:t>Check full code at:</a:t>
            </a:r>
          </a:p>
          <a:p>
            <a:r>
              <a:rPr lang="en-US" sz="1400" dirty="0">
                <a:hlinkClick r:id="rId5"/>
              </a:rPr>
              <a:t>https://r-spatial.org/book/11-PointPattern.html</a:t>
            </a:r>
            <a:endParaRPr lang="en-US" sz="1400" dirty="0"/>
          </a:p>
        </p:txBody>
      </p:sp>
    </p:spTree>
    <p:extLst>
      <p:ext uri="{BB962C8B-B14F-4D97-AF65-F5344CB8AC3E}">
        <p14:creationId xmlns:p14="http://schemas.microsoft.com/office/powerpoint/2010/main" val="2985085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5A7BC-7561-088C-0DFB-43DECAA7428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B67640-BDD7-3B7B-C342-B6152248C6AD}"/>
              </a:ext>
            </a:extLst>
          </p:cNvPr>
          <p:cNvSpPr>
            <a:spLocks noGrp="1"/>
          </p:cNvSpPr>
          <p:nvPr>
            <p:ph type="sldNum" sz="quarter" idx="12"/>
          </p:nvPr>
        </p:nvSpPr>
        <p:spPr/>
        <p:txBody>
          <a:bodyPr/>
          <a:lstStyle/>
          <a:p>
            <a:fld id="{C0343C75-1924-D247-85A3-0CB62E67E5D1}" type="slidenum">
              <a:rPr lang="en-US" smtClean="0"/>
              <a:t>26</a:t>
            </a:fld>
            <a:endParaRPr lang="en-US"/>
          </a:p>
        </p:txBody>
      </p:sp>
      <p:pic>
        <p:nvPicPr>
          <p:cNvPr id="2" name="Picture 1">
            <a:extLst>
              <a:ext uri="{FF2B5EF4-FFF2-40B4-BE49-F238E27FC236}">
                <a16:creationId xmlns:a16="http://schemas.microsoft.com/office/drawing/2014/main" id="{801CBD69-B7CC-2501-9808-95FA4CA0779D}"/>
              </a:ext>
            </a:extLst>
          </p:cNvPr>
          <p:cNvPicPr>
            <a:picLocks noChangeAspect="1"/>
          </p:cNvPicPr>
          <p:nvPr/>
        </p:nvPicPr>
        <p:blipFill>
          <a:blip r:embed="rId2"/>
          <a:stretch>
            <a:fillRect/>
          </a:stretch>
        </p:blipFill>
        <p:spPr>
          <a:xfrm>
            <a:off x="5075406" y="826287"/>
            <a:ext cx="3608962" cy="1697070"/>
          </a:xfrm>
          <a:prstGeom prst="rect">
            <a:avLst/>
          </a:prstGeom>
        </p:spPr>
      </p:pic>
      <p:pic>
        <p:nvPicPr>
          <p:cNvPr id="5" name="Picture 4">
            <a:extLst>
              <a:ext uri="{FF2B5EF4-FFF2-40B4-BE49-F238E27FC236}">
                <a16:creationId xmlns:a16="http://schemas.microsoft.com/office/drawing/2014/main" id="{E902FBB9-5543-DD64-FD31-A52B5A572EF7}"/>
              </a:ext>
            </a:extLst>
          </p:cNvPr>
          <p:cNvPicPr>
            <a:picLocks noChangeAspect="1"/>
          </p:cNvPicPr>
          <p:nvPr/>
        </p:nvPicPr>
        <p:blipFill>
          <a:blip r:embed="rId3"/>
          <a:stretch>
            <a:fillRect/>
          </a:stretch>
        </p:blipFill>
        <p:spPr>
          <a:xfrm>
            <a:off x="5289415" y="2709372"/>
            <a:ext cx="3394953" cy="1697477"/>
          </a:xfrm>
          <a:prstGeom prst="rect">
            <a:avLst/>
          </a:prstGeom>
        </p:spPr>
      </p:pic>
      <p:pic>
        <p:nvPicPr>
          <p:cNvPr id="6" name="Picture 5">
            <a:extLst>
              <a:ext uri="{FF2B5EF4-FFF2-40B4-BE49-F238E27FC236}">
                <a16:creationId xmlns:a16="http://schemas.microsoft.com/office/drawing/2014/main" id="{88D8DC28-DF80-6DE8-3DF1-0E4F2F743AF7}"/>
              </a:ext>
            </a:extLst>
          </p:cNvPr>
          <p:cNvPicPr>
            <a:picLocks noChangeAspect="1"/>
          </p:cNvPicPr>
          <p:nvPr/>
        </p:nvPicPr>
        <p:blipFill>
          <a:blip r:embed="rId4"/>
          <a:stretch>
            <a:fillRect/>
          </a:stretch>
        </p:blipFill>
        <p:spPr>
          <a:xfrm>
            <a:off x="4742234" y="4592864"/>
            <a:ext cx="4114800" cy="1763486"/>
          </a:xfrm>
          <a:prstGeom prst="rect">
            <a:avLst/>
          </a:prstGeom>
        </p:spPr>
      </p:pic>
      <p:sp>
        <p:nvSpPr>
          <p:cNvPr id="3" name="Content Placeholder 2">
            <a:extLst>
              <a:ext uri="{FF2B5EF4-FFF2-40B4-BE49-F238E27FC236}">
                <a16:creationId xmlns:a16="http://schemas.microsoft.com/office/drawing/2014/main" id="{46FDC0BE-E950-FB40-1019-07C9847637CE}"/>
              </a:ext>
            </a:extLst>
          </p:cNvPr>
          <p:cNvSpPr>
            <a:spLocks noGrp="1"/>
          </p:cNvSpPr>
          <p:nvPr>
            <p:ph idx="1"/>
          </p:nvPr>
        </p:nvSpPr>
        <p:spPr>
          <a:xfrm>
            <a:off x="457200" y="321734"/>
            <a:ext cx="4367719" cy="6034618"/>
          </a:xfrm>
        </p:spPr>
        <p:txBody>
          <a:bodyPr>
            <a:noAutofit/>
          </a:bodyPr>
          <a:lstStyle/>
          <a:p>
            <a:pPr marL="0" indent="0">
              <a:buNone/>
            </a:pPr>
            <a:r>
              <a:rPr lang="en-US" sz="1800" b="1" dirty="0"/>
              <a:t>Point Pattern Analysis (PPA)</a:t>
            </a:r>
          </a:p>
          <a:p>
            <a:r>
              <a:rPr lang="en-US" sz="1600" dirty="0"/>
              <a:t>Types of Observation Windows</a:t>
            </a:r>
          </a:p>
          <a:p>
            <a:pPr lvl="1"/>
            <a:r>
              <a:rPr lang="en-US" sz="1400" b="1" dirty="0"/>
              <a:t>Rectangular</a:t>
            </a:r>
            <a:r>
              <a:rPr lang="en-US" sz="1400" dirty="0"/>
              <a:t>: The simplest form, </a:t>
            </a:r>
            <a:br>
              <a:rPr lang="en-US" sz="1400" dirty="0"/>
            </a:br>
            <a:r>
              <a:rPr lang="en-US" sz="1400" dirty="0"/>
              <a:t>defined by x and y ranges (bounding box).</a:t>
            </a:r>
          </a:p>
          <a:p>
            <a:pPr lvl="1"/>
            <a:r>
              <a:rPr lang="en-US" sz="1400" b="1" dirty="0"/>
              <a:t>Polygonal</a:t>
            </a:r>
            <a:r>
              <a:rPr lang="en-US" sz="1400" dirty="0"/>
              <a:t>: Irregular shapes</a:t>
            </a:r>
            <a:br>
              <a:rPr lang="en-US" sz="1400" dirty="0"/>
            </a:br>
            <a:r>
              <a:rPr lang="en-US" sz="1400" dirty="0"/>
              <a:t>(e.g., a city boundary, a forest, </a:t>
            </a:r>
            <a:br>
              <a:rPr lang="en-US" sz="1400" dirty="0"/>
            </a:br>
            <a:r>
              <a:rPr lang="en-US" sz="1400" dirty="0"/>
              <a:t>or a specific plot of land).</a:t>
            </a:r>
          </a:p>
          <a:p>
            <a:pPr lvl="1"/>
            <a:r>
              <a:rPr lang="en-US" sz="1400" b="1" dirty="0"/>
              <a:t>Binary Masks </a:t>
            </a:r>
            <a:r>
              <a:rPr lang="en-US" sz="1400" dirty="0"/>
              <a:t>(Rasters): A grid where </a:t>
            </a:r>
            <a:br>
              <a:rPr lang="en-US" sz="1400" dirty="0"/>
            </a:br>
            <a:r>
              <a:rPr lang="en-US" sz="1400" dirty="0"/>
              <a:t>cells are marked as "inside" or </a:t>
            </a:r>
            <a:br>
              <a:rPr lang="en-US" sz="1400" dirty="0"/>
            </a:br>
            <a:r>
              <a:rPr lang="en-US" sz="1400" dirty="0"/>
              <a:t>"outside" the study area.</a:t>
            </a:r>
          </a:p>
          <a:p>
            <a:r>
              <a:rPr lang="en-US" sz="1600" dirty="0"/>
              <a:t>Common Pitfalls</a:t>
            </a:r>
          </a:p>
          <a:p>
            <a:pPr lvl="1"/>
            <a:r>
              <a:rPr lang="en-US" sz="1400" b="1" dirty="0"/>
              <a:t>Arbitrary Windows</a:t>
            </a:r>
            <a:r>
              <a:rPr lang="en-US" sz="1400" dirty="0"/>
              <a:t>: Using a simple bounding box for a study area that is actually irregular can lead to "diluted" density (underestimating intensity).</a:t>
            </a:r>
          </a:p>
          <a:p>
            <a:pPr lvl="1"/>
            <a:r>
              <a:rPr lang="en-US" sz="1400" b="1" dirty="0"/>
              <a:t>"Convenience" Window</a:t>
            </a:r>
            <a:r>
              <a:rPr lang="en-US" sz="1400" dirty="0"/>
              <a:t>: Often, we set the window to the bounding box of the points themselves.</a:t>
            </a:r>
          </a:p>
          <a:p>
            <a:pPr lvl="2"/>
            <a:r>
              <a:rPr lang="en-US" sz="1400" dirty="0"/>
              <a:t>This is dangerous because it assumes points could not have occurred outside that tight cluster, which is rarely true.</a:t>
            </a:r>
          </a:p>
          <a:p>
            <a:pPr lvl="1"/>
            <a:r>
              <a:rPr lang="en-US" sz="1400" b="1" dirty="0"/>
              <a:t>Alignment</a:t>
            </a:r>
            <a:r>
              <a:rPr lang="en-US" sz="1400" dirty="0"/>
              <a:t>: Ensure your window and your points use the same Coordinate Reference System (CRS).</a:t>
            </a:r>
          </a:p>
          <a:p>
            <a:endParaRPr lang="en-US" sz="1600" dirty="0"/>
          </a:p>
        </p:txBody>
      </p:sp>
      <p:sp>
        <p:nvSpPr>
          <p:cNvPr id="7" name="TextBox 6">
            <a:extLst>
              <a:ext uri="{FF2B5EF4-FFF2-40B4-BE49-F238E27FC236}">
                <a16:creationId xmlns:a16="http://schemas.microsoft.com/office/drawing/2014/main" id="{56859B9A-C22A-6118-6ACD-C8538DD0BD8A}"/>
              </a:ext>
            </a:extLst>
          </p:cNvPr>
          <p:cNvSpPr txBox="1"/>
          <p:nvPr/>
        </p:nvSpPr>
        <p:spPr>
          <a:xfrm>
            <a:off x="457200" y="6013046"/>
            <a:ext cx="4114800" cy="523220"/>
          </a:xfrm>
          <a:prstGeom prst="rect">
            <a:avLst/>
          </a:prstGeom>
          <a:solidFill>
            <a:srgbClr val="FFD84C"/>
          </a:solidFill>
        </p:spPr>
        <p:txBody>
          <a:bodyPr wrap="square" rtlCol="0">
            <a:spAutoFit/>
          </a:bodyPr>
          <a:lstStyle/>
          <a:p>
            <a:r>
              <a:rPr lang="en-US" sz="1400" dirty="0"/>
              <a:t>Check full code at:</a:t>
            </a:r>
          </a:p>
          <a:p>
            <a:r>
              <a:rPr lang="en-US" sz="1400" dirty="0">
                <a:hlinkClick r:id="rId5"/>
              </a:rPr>
              <a:t>https://r-spatial.org/book/11-PointPattern.html</a:t>
            </a:r>
            <a:endParaRPr lang="en-US" sz="1400" dirty="0"/>
          </a:p>
        </p:txBody>
      </p:sp>
    </p:spTree>
    <p:extLst>
      <p:ext uri="{BB962C8B-B14F-4D97-AF65-F5344CB8AC3E}">
        <p14:creationId xmlns:p14="http://schemas.microsoft.com/office/powerpoint/2010/main" val="1170343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48ED1-B3FF-B33C-9383-8FD78C71318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03CB51A-8F14-673C-A6DF-7F2C2EDE55D0}"/>
              </a:ext>
            </a:extLst>
          </p:cNvPr>
          <p:cNvPicPr>
            <a:picLocks noChangeAspect="1"/>
          </p:cNvPicPr>
          <p:nvPr/>
        </p:nvPicPr>
        <p:blipFill>
          <a:blip r:embed="rId2"/>
          <a:srcRect l="12158" r="13527"/>
          <a:stretch>
            <a:fillRect/>
          </a:stretch>
        </p:blipFill>
        <p:spPr>
          <a:xfrm>
            <a:off x="5547297" y="3613788"/>
            <a:ext cx="3139503" cy="3017520"/>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B56AE6-2093-FE10-2CC6-5CC4A65790F6}"/>
                  </a:ext>
                </a:extLst>
              </p:cNvPr>
              <p:cNvSpPr>
                <a:spLocks noGrp="1"/>
              </p:cNvSpPr>
              <p:nvPr>
                <p:ph idx="1"/>
              </p:nvPr>
            </p:nvSpPr>
            <p:spPr>
              <a:xfrm>
                <a:off x="457200" y="321734"/>
                <a:ext cx="8229600" cy="6034618"/>
              </a:xfrm>
            </p:spPr>
            <p:txBody>
              <a:bodyPr>
                <a:noAutofit/>
              </a:bodyPr>
              <a:lstStyle/>
              <a:p>
                <a:pPr marL="0" indent="0">
                  <a:buNone/>
                </a:pPr>
                <a:r>
                  <a:rPr lang="en-US" sz="1800" b="1" dirty="0"/>
                  <a:t>Interpolation (IDW)</a:t>
                </a:r>
              </a:p>
              <a:p>
                <a:r>
                  <a:rPr lang="en-US" sz="1400" dirty="0"/>
                  <a:t>Spatial interpolation is the activity of </a:t>
                </a:r>
                <a:r>
                  <a:rPr lang="en-US" sz="1400" u="sng" dirty="0"/>
                  <a:t>estimating values of spatially continuous variables</a:t>
                </a:r>
                <a:r>
                  <a:rPr lang="en-US" sz="1400" dirty="0"/>
                  <a:t> (fields) for spatial locations </a:t>
                </a:r>
                <a:r>
                  <a:rPr lang="en-US" sz="1400" u="sng" dirty="0"/>
                  <a:t>where they have not been observed</a:t>
                </a:r>
                <a:r>
                  <a:rPr lang="en-US" sz="1400" dirty="0"/>
                  <a:t>, based on </a:t>
                </a:r>
                <a:r>
                  <a:rPr lang="en-US" sz="1400" u="sng" dirty="0"/>
                  <a:t>observations</a:t>
                </a:r>
                <a:r>
                  <a:rPr lang="en-US" sz="1400" dirty="0"/>
                  <a:t>. </a:t>
                </a:r>
              </a:p>
              <a:p>
                <a:pPr lvl="1"/>
                <a:r>
                  <a:rPr lang="en-US" sz="1400" dirty="0"/>
                  <a:t>The statistical methodology for spatial interpolation (called geostatistics) is concerned with the </a:t>
                </a:r>
                <a:r>
                  <a:rPr lang="en-US" sz="1400" b="1" dirty="0"/>
                  <a:t>modelling</a:t>
                </a:r>
                <a:r>
                  <a:rPr lang="en-US" sz="1400" dirty="0"/>
                  <a:t>, </a:t>
                </a:r>
                <a:r>
                  <a:rPr lang="en-US" sz="1400" b="1" dirty="0"/>
                  <a:t>prediction</a:t>
                </a:r>
                <a:r>
                  <a:rPr lang="en-US" sz="1400" dirty="0"/>
                  <a:t>, and </a:t>
                </a:r>
                <a:r>
                  <a:rPr lang="en-US" sz="1400" b="1" dirty="0"/>
                  <a:t>simulation</a:t>
                </a:r>
                <a:r>
                  <a:rPr lang="en-US" sz="1400" dirty="0"/>
                  <a:t> of spatially </a:t>
                </a:r>
                <a:r>
                  <a:rPr lang="en-US" sz="1400" u="sng" dirty="0"/>
                  <a:t>continuous</a:t>
                </a:r>
                <a:r>
                  <a:rPr lang="en-US" sz="1400" dirty="0"/>
                  <a:t> phenomena.</a:t>
                </a:r>
              </a:p>
              <a:p>
                <a:r>
                  <a:rPr lang="en-US" sz="1400" dirty="0"/>
                  <a:t>Perhaps the </a:t>
                </a:r>
                <a:r>
                  <a:rPr lang="en-US" sz="1400" u="sng" dirty="0"/>
                  <a:t>simplest</a:t>
                </a:r>
                <a:r>
                  <a:rPr lang="en-US" sz="1400" dirty="0"/>
                  <a:t> interpolation method is </a:t>
                </a:r>
                <a:r>
                  <a:rPr lang="en-US" sz="1400" b="1" dirty="0"/>
                  <a:t>inverse distance weighted interpolation (IDW)</a:t>
                </a:r>
                <a:r>
                  <a:rPr lang="en-US" sz="1400" dirty="0"/>
                  <a:t>, which is a weighted average, using weights inverse proportional to distances from the interpolation location:</a:t>
                </a:r>
                <a:br>
                  <a:rPr lang="en-US" sz="1400" dirty="0"/>
                </a:br>
                <a:br>
                  <a:rPr lang="en-US" sz="1400" dirty="0"/>
                </a:br>
                <a14:m>
                  <m:oMath xmlns:m="http://schemas.openxmlformats.org/officeDocument/2006/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𝑧</m:t>
                        </m:r>
                      </m:e>
                    </m:acc>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𝑠</m:t>
                            </m:r>
                          </m:e>
                          <m:sub>
                            <m:r>
                              <a:rPr lang="en-US" sz="1600" b="0" i="1" smtClean="0">
                                <a:latin typeface="Cambria Math" panose="02040503050406030204" pitchFamily="18" charset="0"/>
                              </a:rPr>
                              <m:t>0</m:t>
                            </m:r>
                          </m:sub>
                        </m:sSub>
                      </m:e>
                    </m:d>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nary>
                          <m:naryPr>
                            <m:chr m:val="∑"/>
                            <m:limLoc m:val="undOvr"/>
                            <m:grow m:val="on"/>
                            <m:ctrlPr>
                              <a:rPr lang="en-US" sz="1600" b="0" i="1" smtClean="0">
                                <a:latin typeface="Cambria Math" panose="02040503050406030204" pitchFamily="18" charset="0"/>
                              </a:rPr>
                            </m:ctrlPr>
                          </m:naryPr>
                          <m:sub>
                            <m:r>
                              <a:rPr lang="en-US" sz="1600" b="0" i="1" smtClean="0">
                                <a:latin typeface="Cambria Math" panose="02040503050406030204" pitchFamily="18" charset="0"/>
                              </a:rPr>
                              <m:t>𝑖</m:t>
                            </m:r>
                            <m:r>
                              <a:rPr lang="en-US" sz="1600" b="0" i="1" smtClean="0">
                                <a:latin typeface="Cambria Math" panose="02040503050406030204" pitchFamily="18" charset="0"/>
                              </a:rPr>
                              <m:t>=1</m:t>
                            </m:r>
                          </m:sub>
                          <m:sup>
                            <m:r>
                              <a:rPr lang="en-US" sz="1600" b="0" i="1" smtClean="0">
                                <a:latin typeface="Cambria Math" panose="02040503050406030204" pitchFamily="18" charset="0"/>
                              </a:rPr>
                              <m:t>𝑛</m:t>
                            </m:r>
                          </m:sup>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𝑖</m:t>
                                </m:r>
                              </m:sub>
                            </m:sSub>
                          </m:e>
                        </m:nary>
                        <m:r>
                          <a:rPr lang="en-US" sz="1600" b="0" i="1" smtClean="0">
                            <a:latin typeface="Cambria Math" panose="02040503050406030204" pitchFamily="18" charset="0"/>
                          </a:rPr>
                          <m:t>𝑧</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𝑠</m:t>
                                </m:r>
                              </m:e>
                              <m:sub>
                                <m:r>
                                  <a:rPr lang="en-US" sz="1600" b="0" i="1" smtClean="0">
                                    <a:latin typeface="Cambria Math" panose="02040503050406030204" pitchFamily="18" charset="0"/>
                                  </a:rPr>
                                  <m:t>𝑖</m:t>
                                </m:r>
                              </m:sub>
                            </m:sSub>
                          </m:e>
                        </m:d>
                      </m:num>
                      <m:den>
                        <m:nary>
                          <m:naryPr>
                            <m:chr m:val="∑"/>
                            <m:limLoc m:val="undOvr"/>
                            <m:grow m:val="on"/>
                            <m:ctrlPr>
                              <a:rPr lang="en-US" sz="1600" b="0" i="1" smtClean="0">
                                <a:latin typeface="Cambria Math" panose="02040503050406030204" pitchFamily="18" charset="0"/>
                              </a:rPr>
                            </m:ctrlPr>
                          </m:naryPr>
                          <m:sub>
                            <m:r>
                              <a:rPr lang="en-US" sz="1600" b="0" i="1" smtClean="0">
                                <a:latin typeface="Cambria Math" panose="02040503050406030204" pitchFamily="18" charset="0"/>
                              </a:rPr>
                              <m:t>𝑖</m:t>
                            </m:r>
                            <m:r>
                              <a:rPr lang="en-US" sz="1600" b="0" i="1" smtClean="0">
                                <a:latin typeface="Cambria Math" panose="02040503050406030204" pitchFamily="18" charset="0"/>
                              </a:rPr>
                              <m:t>=1</m:t>
                            </m:r>
                          </m:sub>
                          <m:sup>
                            <m:r>
                              <a:rPr lang="en-US" sz="1600" b="0" i="1" smtClean="0">
                                <a:latin typeface="Cambria Math" panose="02040503050406030204" pitchFamily="18" charset="0"/>
                              </a:rPr>
                              <m:t>𝑛</m:t>
                            </m:r>
                          </m:sup>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𝑖</m:t>
                                </m:r>
                              </m:sub>
                            </m:sSub>
                          </m:e>
                        </m:nary>
                      </m:den>
                    </m:f>
                  </m:oMath>
                </a14:m>
                <a:endParaRPr lang="en-US" sz="1600" b="0" dirty="0"/>
              </a:p>
              <a:p>
                <a:pPr marL="231775" indent="0">
                  <a:buNone/>
                </a:pPr>
                <a:r>
                  <a:rPr lang="en-US" sz="1400" dirty="0"/>
                  <a:t>with </a:t>
                </a:r>
                <a14:m>
                  <m:oMath xmlns:m="http://schemas.openxmlformats.org/officeDocument/2006/math">
                    <m:sSub>
                      <m:sSubPr>
                        <m:ctrlPr>
                          <a:rPr lang="en-US" sz="1400" i="1" dirty="0" smtClean="0">
                            <a:latin typeface="Cambria Math" panose="02040503050406030204" pitchFamily="18" charset="0"/>
                          </a:rPr>
                        </m:ctrlPr>
                      </m:sSubPr>
                      <m:e>
                        <m:r>
                          <a:rPr lang="en-US" sz="1400" i="1" dirty="0">
                            <a:latin typeface="Cambria Math" panose="02040503050406030204" pitchFamily="18" charset="0"/>
                          </a:rPr>
                          <m:t>𝑤</m:t>
                        </m:r>
                      </m:e>
                      <m:sub>
                        <m:r>
                          <a:rPr lang="en-US" sz="1400" i="1" dirty="0">
                            <a:latin typeface="Cambria Math" panose="02040503050406030204" pitchFamily="18" charset="0"/>
                          </a:rPr>
                          <m:t>𝑖</m:t>
                        </m:r>
                      </m:sub>
                    </m:sSub>
                    <m:r>
                      <a:rPr lang="en-US" sz="1400" i="0" dirty="0">
                        <a:latin typeface="Cambria Math" panose="02040503050406030204" pitchFamily="18" charset="0"/>
                      </a:rPr>
                      <m:t>=</m:t>
                    </m:r>
                    <m:sSup>
                      <m:sSupPr>
                        <m:ctrlPr>
                          <a:rPr lang="en-US" sz="1400" i="1" dirty="0">
                            <a:latin typeface="Cambria Math" panose="02040503050406030204" pitchFamily="18" charset="0"/>
                          </a:rPr>
                        </m:ctrlPr>
                      </m:sSupPr>
                      <m:e>
                        <m:d>
                          <m:dPr>
                            <m:begChr m:val="|"/>
                            <m:endChr m:val="|"/>
                            <m:ctrlPr>
                              <a:rPr lang="en-US" sz="1400" i="1" dirty="0">
                                <a:latin typeface="Cambria Math" panose="02040503050406030204" pitchFamily="18" charset="0"/>
                              </a:rPr>
                            </m:ctrlPr>
                          </m:dPr>
                          <m:e>
                            <m:sSub>
                              <m:sSubPr>
                                <m:ctrlPr>
                                  <a:rPr lang="en-US" sz="1400" i="1" dirty="0">
                                    <a:latin typeface="Cambria Math" panose="02040503050406030204" pitchFamily="18" charset="0"/>
                                  </a:rPr>
                                </m:ctrlPr>
                              </m:sSubPr>
                              <m:e>
                                <m:r>
                                  <a:rPr lang="en-US" sz="1400" i="1" dirty="0">
                                    <a:latin typeface="Cambria Math" panose="02040503050406030204" pitchFamily="18" charset="0"/>
                                  </a:rPr>
                                  <m:t>𝑠</m:t>
                                </m:r>
                              </m:e>
                              <m:sub>
                                <m:r>
                                  <a:rPr lang="en-US" sz="1400" i="0" dirty="0">
                                    <a:latin typeface="Cambria Math" panose="02040503050406030204" pitchFamily="18" charset="0"/>
                                  </a:rPr>
                                  <m:t>0</m:t>
                                </m:r>
                              </m:sub>
                            </m:sSub>
                            <m:r>
                              <a:rPr lang="en-US" sz="1400" i="0" dirty="0">
                                <a:latin typeface="Cambria Math" panose="02040503050406030204" pitchFamily="18" charset="0"/>
                              </a:rPr>
                              <m:t>−</m:t>
                            </m:r>
                            <m:sSub>
                              <m:sSubPr>
                                <m:ctrlPr>
                                  <a:rPr lang="en-US" sz="1400" i="1" dirty="0">
                                    <a:latin typeface="Cambria Math" panose="02040503050406030204" pitchFamily="18" charset="0"/>
                                  </a:rPr>
                                </m:ctrlPr>
                              </m:sSubPr>
                              <m:e>
                                <m:r>
                                  <a:rPr lang="en-US" sz="1400" i="1" dirty="0">
                                    <a:latin typeface="Cambria Math" panose="02040503050406030204" pitchFamily="18" charset="0"/>
                                  </a:rPr>
                                  <m:t>𝑠</m:t>
                                </m:r>
                              </m:e>
                              <m:sub>
                                <m:r>
                                  <a:rPr lang="en-US" sz="1400" i="1" dirty="0">
                                    <a:latin typeface="Cambria Math" panose="02040503050406030204" pitchFamily="18" charset="0"/>
                                  </a:rPr>
                                  <m:t>𝑖</m:t>
                                </m:r>
                              </m:sub>
                            </m:sSub>
                          </m:e>
                        </m:d>
                      </m:e>
                      <m:sup>
                        <m:r>
                          <a:rPr lang="en-US" sz="1400" i="0" dirty="0">
                            <a:latin typeface="Cambria Math" panose="02040503050406030204" pitchFamily="18" charset="0"/>
                          </a:rPr>
                          <m:t>−</m:t>
                        </m:r>
                        <m:r>
                          <a:rPr lang="en-US" sz="1400" i="1" dirty="0">
                            <a:latin typeface="Cambria Math" panose="02040503050406030204" pitchFamily="18" charset="0"/>
                          </a:rPr>
                          <m:t>𝑝</m:t>
                        </m:r>
                      </m:sup>
                    </m:sSup>
                  </m:oMath>
                </a14:m>
                <a:r>
                  <a:rPr lang="en-US" sz="1400" dirty="0"/>
                  <a:t>, and the </a:t>
                </a:r>
                <a:r>
                  <a:rPr lang="en-US" sz="1400" u="sng" dirty="0"/>
                  <a:t>inverse distance power</a:t>
                </a:r>
                <a:r>
                  <a:rPr lang="en-US" sz="1400" dirty="0"/>
                  <a:t> </a:t>
                </a:r>
                <a:r>
                  <a:rPr lang="en-US" sz="1400" i="1" dirty="0"/>
                  <a:t>p</a:t>
                </a:r>
                <a:r>
                  <a:rPr lang="en-US" sz="1400" dirty="0"/>
                  <a:t> typically taken as 2 or optimized using cross-validation. We can compute inverse distance interpolated values using </a:t>
                </a:r>
                <a:r>
                  <a:rPr lang="en-US" sz="1400" b="1" dirty="0" err="1"/>
                  <a:t>gstat</a:t>
                </a:r>
                <a:r>
                  <a:rPr lang="en-US" sz="1400" b="1" dirty="0"/>
                  <a:t>::</a:t>
                </a:r>
                <a:r>
                  <a:rPr lang="en-US" sz="1400" b="1" dirty="0" err="1"/>
                  <a:t>idw</a:t>
                </a:r>
                <a:r>
                  <a:rPr lang="en-US" sz="1400" dirty="0"/>
                  <a:t>,</a:t>
                </a:r>
              </a:p>
            </p:txBody>
          </p:sp>
        </mc:Choice>
        <mc:Fallback xmlns="">
          <p:sp>
            <p:nvSpPr>
              <p:cNvPr id="3" name="Content Placeholder 2">
                <a:extLst>
                  <a:ext uri="{FF2B5EF4-FFF2-40B4-BE49-F238E27FC236}">
                    <a16:creationId xmlns:a16="http://schemas.microsoft.com/office/drawing/2014/main" id="{F6B56AE6-2093-FE10-2CC6-5CC4A65790F6}"/>
                  </a:ext>
                </a:extLst>
              </p:cNvPr>
              <p:cNvSpPr>
                <a:spLocks noGrp="1" noRot="1" noChangeAspect="1" noMove="1" noResize="1" noEditPoints="1" noAdjustHandles="1" noChangeArrowheads="1" noChangeShapeType="1" noTextEdit="1"/>
              </p:cNvSpPr>
              <p:nvPr>
                <p:ph idx="1"/>
              </p:nvPr>
            </p:nvSpPr>
            <p:spPr>
              <a:xfrm>
                <a:off x="457200" y="321734"/>
                <a:ext cx="8229600" cy="6034618"/>
              </a:xfrm>
              <a:blipFill>
                <a:blip r:embed="rId3"/>
                <a:stretch>
                  <a:fillRect l="-617" t="-84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0471A3A-81F9-50F1-C215-02E64CAC70DD}"/>
              </a:ext>
            </a:extLst>
          </p:cNvPr>
          <p:cNvSpPr>
            <a:spLocks noGrp="1"/>
          </p:cNvSpPr>
          <p:nvPr>
            <p:ph type="sldNum" sz="quarter" idx="12"/>
          </p:nvPr>
        </p:nvSpPr>
        <p:spPr/>
        <p:txBody>
          <a:bodyPr/>
          <a:lstStyle/>
          <a:p>
            <a:fld id="{C0343C75-1924-D247-85A3-0CB62E67E5D1}" type="slidenum">
              <a:rPr lang="en-US" smtClean="0"/>
              <a:t>27</a:t>
            </a:fld>
            <a:endParaRPr lang="en-US" dirty="0"/>
          </a:p>
        </p:txBody>
      </p:sp>
      <p:pic>
        <p:nvPicPr>
          <p:cNvPr id="2" name="Picture 1">
            <a:extLst>
              <a:ext uri="{FF2B5EF4-FFF2-40B4-BE49-F238E27FC236}">
                <a16:creationId xmlns:a16="http://schemas.microsoft.com/office/drawing/2014/main" id="{3B534DCA-8EB3-8DA9-6BC4-BAC5306F6624}"/>
              </a:ext>
            </a:extLst>
          </p:cNvPr>
          <p:cNvPicPr>
            <a:picLocks noChangeAspect="1"/>
          </p:cNvPicPr>
          <p:nvPr/>
        </p:nvPicPr>
        <p:blipFill>
          <a:blip r:embed="rId4"/>
          <a:srcRect l="15767" r="15692"/>
          <a:stretch>
            <a:fillRect/>
          </a:stretch>
        </p:blipFill>
        <p:spPr>
          <a:xfrm>
            <a:off x="3431334" y="3327400"/>
            <a:ext cx="2281332" cy="2377440"/>
          </a:xfrm>
          <a:prstGeom prst="rect">
            <a:avLst/>
          </a:prstGeom>
        </p:spPr>
      </p:pic>
      <p:sp>
        <p:nvSpPr>
          <p:cNvPr id="11" name="Content Placeholder 2">
            <a:extLst>
              <a:ext uri="{FF2B5EF4-FFF2-40B4-BE49-F238E27FC236}">
                <a16:creationId xmlns:a16="http://schemas.microsoft.com/office/drawing/2014/main" id="{898711AE-BFA5-9B06-99EC-AF07A243BEF2}"/>
              </a:ext>
            </a:extLst>
          </p:cNvPr>
          <p:cNvSpPr txBox="1">
            <a:spLocks/>
          </p:cNvSpPr>
          <p:nvPr/>
        </p:nvSpPr>
        <p:spPr>
          <a:xfrm>
            <a:off x="457199" y="3524253"/>
            <a:ext cx="4357991" cy="27663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100" b="1" dirty="0">
                <a:solidFill>
                  <a:srgbClr val="0070C0"/>
                </a:solidFill>
                <a:latin typeface="Consolas" panose="020B0609020204030204" pitchFamily="49" charset="0"/>
                <a:cs typeface="Consolas" panose="020B0609020204030204" pitchFamily="49" charset="0"/>
              </a:rPr>
              <a:t>library(</a:t>
            </a:r>
            <a:r>
              <a:rPr lang="en-US" sz="1100" b="1" dirty="0" err="1">
                <a:solidFill>
                  <a:srgbClr val="0070C0"/>
                </a:solidFill>
                <a:latin typeface="Consolas" panose="020B0609020204030204" pitchFamily="49" charset="0"/>
                <a:cs typeface="Consolas" panose="020B0609020204030204" pitchFamily="49" charset="0"/>
              </a:rPr>
              <a:t>gstat</a:t>
            </a:r>
            <a:r>
              <a:rPr lang="en-US" sz="1100" b="1" dirty="0">
                <a:solidFill>
                  <a:srgbClr val="0070C0"/>
                </a:solidFill>
                <a:latin typeface="Consolas" panose="020B0609020204030204" pitchFamily="49" charset="0"/>
                <a:cs typeface="Consolas" panose="020B0609020204030204" pitchFamily="49" charset="0"/>
              </a:rPr>
              <a:t>)</a:t>
            </a:r>
          </a:p>
          <a:p>
            <a:pPr marL="0" indent="0">
              <a:lnSpc>
                <a:spcPct val="100000"/>
              </a:lnSpc>
              <a:spcBef>
                <a:spcPts val="400"/>
              </a:spcBef>
              <a:buNone/>
            </a:pPr>
            <a:endParaRPr lang="en-US" sz="1100" b="1" dirty="0">
              <a:solidFill>
                <a:srgbClr val="0070C0"/>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100" b="1" dirty="0" err="1">
                <a:solidFill>
                  <a:srgbClr val="0070C0"/>
                </a:solidFill>
                <a:highlight>
                  <a:srgbClr val="FFFF00"/>
                </a:highlight>
                <a:latin typeface="Consolas" panose="020B0609020204030204" pitchFamily="49" charset="0"/>
                <a:cs typeface="Consolas" panose="020B0609020204030204" pitchFamily="49" charset="0"/>
              </a:rPr>
              <a:t>i</a:t>
            </a:r>
            <a:r>
              <a:rPr lang="en-US" sz="1100" b="1" dirty="0">
                <a:solidFill>
                  <a:srgbClr val="0070C0"/>
                </a:solidFill>
                <a:highlight>
                  <a:srgbClr val="FFFF00"/>
                </a:highlight>
                <a:latin typeface="Consolas" panose="020B0609020204030204" pitchFamily="49" charset="0"/>
                <a:cs typeface="Consolas" panose="020B0609020204030204" pitchFamily="49" charset="0"/>
              </a:rPr>
              <a:t> &lt;- </a:t>
            </a:r>
            <a:r>
              <a:rPr lang="en-US" sz="1100" b="1" dirty="0" err="1">
                <a:solidFill>
                  <a:srgbClr val="0070C0"/>
                </a:solidFill>
                <a:highlight>
                  <a:srgbClr val="FFFF00"/>
                </a:highlight>
                <a:latin typeface="Consolas" panose="020B0609020204030204" pitchFamily="49" charset="0"/>
                <a:cs typeface="Consolas" panose="020B0609020204030204" pitchFamily="49" charset="0"/>
              </a:rPr>
              <a:t>idw</a:t>
            </a:r>
            <a:r>
              <a:rPr lang="en-US" sz="1100" b="1" dirty="0">
                <a:solidFill>
                  <a:srgbClr val="0070C0"/>
                </a:solidFill>
                <a:highlight>
                  <a:srgbClr val="FFFF00"/>
                </a:highlight>
                <a:latin typeface="Consolas" panose="020B0609020204030204" pitchFamily="49" charset="0"/>
                <a:cs typeface="Consolas" panose="020B0609020204030204" pitchFamily="49" charset="0"/>
              </a:rPr>
              <a:t>(NO2~1, no2.sf, </a:t>
            </a:r>
            <a:r>
              <a:rPr lang="en-US" sz="1100" b="1" dirty="0" err="1">
                <a:solidFill>
                  <a:srgbClr val="0070C0"/>
                </a:solidFill>
                <a:highlight>
                  <a:srgbClr val="FFFF00"/>
                </a:highlight>
                <a:latin typeface="Consolas" panose="020B0609020204030204" pitchFamily="49" charset="0"/>
                <a:cs typeface="Consolas" panose="020B0609020204030204" pitchFamily="49" charset="0"/>
              </a:rPr>
              <a:t>grd</a:t>
            </a:r>
            <a:r>
              <a:rPr lang="en-US" sz="1100" b="1" dirty="0">
                <a:solidFill>
                  <a:srgbClr val="0070C0"/>
                </a:solidFill>
                <a:highlight>
                  <a:srgbClr val="FFFF00"/>
                </a:highlight>
                <a:latin typeface="Consolas" panose="020B0609020204030204" pitchFamily="49" charset="0"/>
                <a:cs typeface="Consolas" panose="020B0609020204030204" pitchFamily="49" charset="0"/>
              </a:rPr>
              <a:t>)</a:t>
            </a:r>
          </a:p>
          <a:p>
            <a:pPr marL="0" indent="0">
              <a:lnSpc>
                <a:spcPct val="100000"/>
              </a:lnSpc>
              <a:spcBef>
                <a:spcPts val="400"/>
              </a:spcBef>
              <a:buNone/>
            </a:pPr>
            <a:endParaRPr lang="en-US" sz="1100" b="1" dirty="0">
              <a:solidFill>
                <a:srgbClr val="0070C0"/>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100" b="1" dirty="0" err="1">
                <a:solidFill>
                  <a:srgbClr val="0070C0"/>
                </a:solidFill>
                <a:latin typeface="Consolas" panose="020B0609020204030204" pitchFamily="49" charset="0"/>
                <a:cs typeface="Consolas" panose="020B0609020204030204" pitchFamily="49" charset="0"/>
              </a:rPr>
              <a:t>ggplot</a:t>
            </a:r>
            <a:r>
              <a:rPr lang="en-US" sz="1100" b="1" dirty="0">
                <a:solidFill>
                  <a:srgbClr val="0070C0"/>
                </a:solidFill>
                <a:latin typeface="Consolas" panose="020B0609020204030204" pitchFamily="49" charset="0"/>
                <a:cs typeface="Consolas" panose="020B0609020204030204" pitchFamily="49" charset="0"/>
              </a:rPr>
              <a:t>() +</a:t>
            </a:r>
          </a:p>
          <a:p>
            <a:pPr marL="0" indent="0">
              <a:lnSpc>
                <a:spcPct val="100000"/>
              </a:lnSpc>
              <a:spcBef>
                <a:spcPts val="400"/>
              </a:spcBef>
              <a:buNone/>
            </a:pPr>
            <a:r>
              <a:rPr lang="en-US" sz="1100" b="1" dirty="0">
                <a:solidFill>
                  <a:srgbClr val="0070C0"/>
                </a:solidFill>
                <a:latin typeface="Consolas" panose="020B0609020204030204" pitchFamily="49" charset="0"/>
                <a:cs typeface="Consolas" panose="020B0609020204030204" pitchFamily="49" charset="0"/>
              </a:rPr>
              <a:t>    </a:t>
            </a:r>
            <a:r>
              <a:rPr lang="en-US" sz="1100" b="1" dirty="0" err="1">
                <a:solidFill>
                  <a:srgbClr val="0070C0"/>
                </a:solidFill>
                <a:latin typeface="Consolas" panose="020B0609020204030204" pitchFamily="49" charset="0"/>
                <a:cs typeface="Consolas" panose="020B0609020204030204" pitchFamily="49" charset="0"/>
              </a:rPr>
              <a:t>geom_stars</a:t>
            </a:r>
            <a:r>
              <a:rPr lang="en-US" sz="1100" b="1" dirty="0">
                <a:solidFill>
                  <a:srgbClr val="0070C0"/>
                </a:solidFill>
                <a:latin typeface="Consolas" panose="020B0609020204030204" pitchFamily="49" charset="0"/>
                <a:cs typeface="Consolas" panose="020B0609020204030204" pitchFamily="49" charset="0"/>
              </a:rPr>
              <a:t>(data = </a:t>
            </a:r>
            <a:r>
              <a:rPr lang="en-US" sz="1100" b="1" dirty="0" err="1">
                <a:solidFill>
                  <a:srgbClr val="0070C0"/>
                </a:solidFill>
                <a:latin typeface="Consolas" panose="020B0609020204030204" pitchFamily="49" charset="0"/>
                <a:cs typeface="Consolas" panose="020B0609020204030204" pitchFamily="49" charset="0"/>
              </a:rPr>
              <a:t>i</a:t>
            </a:r>
            <a:r>
              <a:rPr lang="en-US" sz="1100" b="1" dirty="0">
                <a:solidFill>
                  <a:srgbClr val="0070C0"/>
                </a:solidFill>
                <a:latin typeface="Consolas" panose="020B0609020204030204" pitchFamily="49" charset="0"/>
                <a:cs typeface="Consolas" panose="020B0609020204030204" pitchFamily="49" charset="0"/>
              </a:rPr>
              <a:t>, </a:t>
            </a:r>
          </a:p>
          <a:p>
            <a:pPr marL="0" indent="0">
              <a:lnSpc>
                <a:spcPct val="100000"/>
              </a:lnSpc>
              <a:spcBef>
                <a:spcPts val="400"/>
              </a:spcBef>
              <a:buNone/>
            </a:pPr>
            <a:r>
              <a:rPr lang="en-US" sz="1100" b="1" dirty="0">
                <a:solidFill>
                  <a:srgbClr val="0070C0"/>
                </a:solidFill>
                <a:latin typeface="Consolas" panose="020B0609020204030204" pitchFamily="49" charset="0"/>
                <a:cs typeface="Consolas" panose="020B0609020204030204" pitchFamily="49" charset="0"/>
              </a:rPr>
              <a:t>               </a:t>
            </a:r>
            <a:r>
              <a:rPr lang="en-US" sz="1100" b="1" dirty="0" err="1">
                <a:solidFill>
                  <a:srgbClr val="0070C0"/>
                </a:solidFill>
                <a:latin typeface="Consolas" panose="020B0609020204030204" pitchFamily="49" charset="0"/>
                <a:cs typeface="Consolas" panose="020B0609020204030204" pitchFamily="49" charset="0"/>
              </a:rPr>
              <a:t>aes</a:t>
            </a:r>
            <a:r>
              <a:rPr lang="en-US" sz="1100" b="1" dirty="0">
                <a:solidFill>
                  <a:srgbClr val="0070C0"/>
                </a:solidFill>
                <a:latin typeface="Consolas" panose="020B0609020204030204" pitchFamily="49" charset="0"/>
                <a:cs typeface="Consolas" panose="020B0609020204030204" pitchFamily="49" charset="0"/>
              </a:rPr>
              <a:t>(fill = var1.pred,</a:t>
            </a:r>
          </a:p>
          <a:p>
            <a:pPr marL="0" indent="0">
              <a:lnSpc>
                <a:spcPct val="100000"/>
              </a:lnSpc>
              <a:spcBef>
                <a:spcPts val="400"/>
              </a:spcBef>
              <a:buNone/>
            </a:pPr>
            <a:r>
              <a:rPr lang="en-US" sz="1100" b="1" dirty="0">
                <a:solidFill>
                  <a:srgbClr val="0070C0"/>
                </a:solidFill>
                <a:latin typeface="Consolas" panose="020B0609020204030204" pitchFamily="49" charset="0"/>
                <a:cs typeface="Consolas" panose="020B0609020204030204" pitchFamily="49" charset="0"/>
              </a:rPr>
              <a:t>                   x = x, y = y)) + </a:t>
            </a:r>
          </a:p>
          <a:p>
            <a:pPr marL="0" indent="0">
              <a:lnSpc>
                <a:spcPct val="100000"/>
              </a:lnSpc>
              <a:spcBef>
                <a:spcPts val="400"/>
              </a:spcBef>
              <a:buNone/>
            </a:pPr>
            <a:r>
              <a:rPr lang="en-US" sz="1100" b="1" dirty="0">
                <a:solidFill>
                  <a:srgbClr val="0070C0"/>
                </a:solidFill>
                <a:latin typeface="Consolas" panose="020B0609020204030204" pitchFamily="49" charset="0"/>
                <a:cs typeface="Consolas" panose="020B0609020204030204" pitchFamily="49" charset="0"/>
              </a:rPr>
              <a:t>    </a:t>
            </a:r>
            <a:r>
              <a:rPr lang="en-US" sz="1100" b="1" dirty="0" err="1">
                <a:solidFill>
                  <a:srgbClr val="0070C0"/>
                </a:solidFill>
                <a:latin typeface="Consolas" panose="020B0609020204030204" pitchFamily="49" charset="0"/>
                <a:cs typeface="Consolas" panose="020B0609020204030204" pitchFamily="49" charset="0"/>
              </a:rPr>
              <a:t>xlab</a:t>
            </a:r>
            <a:r>
              <a:rPr lang="en-US" sz="1100" b="1" dirty="0">
                <a:solidFill>
                  <a:srgbClr val="0070C0"/>
                </a:solidFill>
                <a:latin typeface="Consolas" panose="020B0609020204030204" pitchFamily="49" charset="0"/>
                <a:cs typeface="Consolas" panose="020B0609020204030204" pitchFamily="49" charset="0"/>
              </a:rPr>
              <a:t>(NULL) + </a:t>
            </a:r>
            <a:r>
              <a:rPr lang="en-US" sz="1100" b="1" dirty="0" err="1">
                <a:solidFill>
                  <a:srgbClr val="0070C0"/>
                </a:solidFill>
                <a:latin typeface="Consolas" panose="020B0609020204030204" pitchFamily="49" charset="0"/>
                <a:cs typeface="Consolas" panose="020B0609020204030204" pitchFamily="49" charset="0"/>
              </a:rPr>
              <a:t>ylab</a:t>
            </a:r>
            <a:r>
              <a:rPr lang="en-US" sz="1100" b="1" dirty="0">
                <a:solidFill>
                  <a:srgbClr val="0070C0"/>
                </a:solidFill>
                <a:latin typeface="Consolas" panose="020B0609020204030204" pitchFamily="49" charset="0"/>
                <a:cs typeface="Consolas" panose="020B0609020204030204" pitchFamily="49" charset="0"/>
              </a:rPr>
              <a:t>(NULL) +</a:t>
            </a:r>
          </a:p>
          <a:p>
            <a:pPr marL="0" indent="0">
              <a:lnSpc>
                <a:spcPct val="100000"/>
              </a:lnSpc>
              <a:spcBef>
                <a:spcPts val="400"/>
              </a:spcBef>
              <a:buNone/>
            </a:pPr>
            <a:r>
              <a:rPr lang="en-US" sz="1100" b="1" dirty="0">
                <a:solidFill>
                  <a:srgbClr val="0070C0"/>
                </a:solidFill>
                <a:latin typeface="Consolas" panose="020B0609020204030204" pitchFamily="49" charset="0"/>
                <a:cs typeface="Consolas" panose="020B0609020204030204" pitchFamily="49" charset="0"/>
              </a:rPr>
              <a:t>    </a:t>
            </a:r>
            <a:r>
              <a:rPr lang="en-US" sz="1100" b="1" dirty="0" err="1">
                <a:solidFill>
                  <a:srgbClr val="0070C0"/>
                </a:solidFill>
                <a:latin typeface="Consolas" panose="020B0609020204030204" pitchFamily="49" charset="0"/>
                <a:cs typeface="Consolas" panose="020B0609020204030204" pitchFamily="49" charset="0"/>
              </a:rPr>
              <a:t>geom_sf</a:t>
            </a:r>
            <a:r>
              <a:rPr lang="en-US" sz="1100" b="1" dirty="0">
                <a:solidFill>
                  <a:srgbClr val="0070C0"/>
                </a:solidFill>
                <a:latin typeface="Consolas" panose="020B0609020204030204" pitchFamily="49" charset="0"/>
                <a:cs typeface="Consolas" panose="020B0609020204030204" pitchFamily="49" charset="0"/>
              </a:rPr>
              <a:t>(data = </a:t>
            </a:r>
            <a:r>
              <a:rPr lang="en-US" sz="1100" b="1" dirty="0" err="1">
                <a:solidFill>
                  <a:srgbClr val="0070C0"/>
                </a:solidFill>
                <a:latin typeface="Consolas" panose="020B0609020204030204" pitchFamily="49" charset="0"/>
                <a:cs typeface="Consolas" panose="020B0609020204030204" pitchFamily="49" charset="0"/>
              </a:rPr>
              <a:t>st_cast</a:t>
            </a:r>
            <a:r>
              <a:rPr lang="en-US" sz="1100" b="1" dirty="0">
                <a:solidFill>
                  <a:srgbClr val="0070C0"/>
                </a:solidFill>
                <a:latin typeface="Consolas" panose="020B0609020204030204" pitchFamily="49" charset="0"/>
                <a:cs typeface="Consolas" panose="020B0609020204030204" pitchFamily="49" charset="0"/>
              </a:rPr>
              <a:t>(de,</a:t>
            </a:r>
          </a:p>
          <a:p>
            <a:pPr marL="0" indent="0">
              <a:lnSpc>
                <a:spcPct val="100000"/>
              </a:lnSpc>
              <a:spcBef>
                <a:spcPts val="400"/>
              </a:spcBef>
              <a:buNone/>
            </a:pPr>
            <a:r>
              <a:rPr lang="en-US" sz="1100" b="1" dirty="0">
                <a:solidFill>
                  <a:srgbClr val="0070C0"/>
                </a:solidFill>
                <a:latin typeface="Consolas" panose="020B0609020204030204" pitchFamily="49" charset="0"/>
                <a:cs typeface="Consolas" panose="020B0609020204030204" pitchFamily="49" charset="0"/>
              </a:rPr>
              <a:t>                           "MULTILINESTRING")) + </a:t>
            </a:r>
          </a:p>
          <a:p>
            <a:pPr marL="0" indent="0">
              <a:lnSpc>
                <a:spcPct val="100000"/>
              </a:lnSpc>
              <a:spcBef>
                <a:spcPts val="400"/>
              </a:spcBef>
              <a:buNone/>
            </a:pPr>
            <a:r>
              <a:rPr lang="en-US" sz="1100" b="1" dirty="0">
                <a:solidFill>
                  <a:srgbClr val="0070C0"/>
                </a:solidFill>
                <a:latin typeface="Consolas" panose="020B0609020204030204" pitchFamily="49" charset="0"/>
                <a:cs typeface="Consolas" panose="020B0609020204030204" pitchFamily="49" charset="0"/>
              </a:rPr>
              <a:t>    </a:t>
            </a:r>
            <a:r>
              <a:rPr lang="en-US" sz="1100" b="1" dirty="0" err="1">
                <a:solidFill>
                  <a:srgbClr val="0070C0"/>
                </a:solidFill>
                <a:latin typeface="Consolas" panose="020B0609020204030204" pitchFamily="49" charset="0"/>
                <a:cs typeface="Consolas" panose="020B0609020204030204" pitchFamily="49" charset="0"/>
              </a:rPr>
              <a:t>geom_sf</a:t>
            </a:r>
            <a:r>
              <a:rPr lang="en-US" sz="1100" b="1" dirty="0">
                <a:solidFill>
                  <a:srgbClr val="0070C0"/>
                </a:solidFill>
                <a:latin typeface="Consolas" panose="020B0609020204030204" pitchFamily="49" charset="0"/>
                <a:cs typeface="Consolas" panose="020B0609020204030204" pitchFamily="49" charset="0"/>
              </a:rPr>
              <a:t>(data = no2.sf)</a:t>
            </a:r>
          </a:p>
        </p:txBody>
      </p:sp>
      <p:sp>
        <p:nvSpPr>
          <p:cNvPr id="12" name="Right Arrow 11">
            <a:extLst>
              <a:ext uri="{FF2B5EF4-FFF2-40B4-BE49-F238E27FC236}">
                <a16:creationId xmlns:a16="http://schemas.microsoft.com/office/drawing/2014/main" id="{D7981BB5-79C2-C875-F591-803526AA38A4}"/>
              </a:ext>
            </a:extLst>
          </p:cNvPr>
          <p:cNvSpPr/>
          <p:nvPr/>
        </p:nvSpPr>
        <p:spPr>
          <a:xfrm>
            <a:off x="5402560" y="4984230"/>
            <a:ext cx="387927" cy="276635"/>
          </a:xfrm>
          <a:prstGeom prst="rightArrow">
            <a:avLst/>
          </a:prstGeom>
          <a:solidFill>
            <a:schemeClr val="bg2">
              <a:lumMod val="90000"/>
            </a:schemeClr>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FC0BC5C-6329-A149-9F9C-ACAB44FF90A1}"/>
              </a:ext>
            </a:extLst>
          </p:cNvPr>
          <p:cNvSpPr txBox="1"/>
          <p:nvPr/>
        </p:nvSpPr>
        <p:spPr>
          <a:xfrm>
            <a:off x="457200" y="6290589"/>
            <a:ext cx="4114800" cy="430887"/>
          </a:xfrm>
          <a:prstGeom prst="rect">
            <a:avLst/>
          </a:prstGeom>
          <a:solidFill>
            <a:srgbClr val="FFD84C"/>
          </a:solidFill>
        </p:spPr>
        <p:txBody>
          <a:bodyPr wrap="square" rtlCol="0">
            <a:spAutoFit/>
          </a:bodyPr>
          <a:lstStyle/>
          <a:p>
            <a:r>
              <a:rPr lang="en-US" sz="1050" dirty="0"/>
              <a:t>Check full code at:</a:t>
            </a:r>
          </a:p>
          <a:p>
            <a:r>
              <a:rPr lang="en-US" sz="1050" dirty="0">
                <a:hlinkClick r:id="rId5"/>
              </a:rPr>
              <a:t>https://r-spatial.org/book/12-Interpolation.html</a:t>
            </a:r>
            <a:endParaRPr lang="en-US" sz="1050" dirty="0"/>
          </a:p>
        </p:txBody>
      </p:sp>
    </p:spTree>
    <p:extLst>
      <p:ext uri="{BB962C8B-B14F-4D97-AF65-F5344CB8AC3E}">
        <p14:creationId xmlns:p14="http://schemas.microsoft.com/office/powerpoint/2010/main" val="4247747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2CB2D-02B0-966B-91AF-1782C43F8A7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634B452-A53C-9FBA-F1AC-8D39E8A77CA0}"/>
              </a:ext>
            </a:extLst>
          </p:cNvPr>
          <p:cNvPicPr>
            <a:picLocks noChangeAspect="1"/>
          </p:cNvPicPr>
          <p:nvPr/>
        </p:nvPicPr>
        <p:blipFill>
          <a:blip r:embed="rId2"/>
          <a:stretch>
            <a:fillRect/>
          </a:stretch>
        </p:blipFill>
        <p:spPr>
          <a:xfrm>
            <a:off x="5953760" y="2378891"/>
            <a:ext cx="2377440" cy="1698172"/>
          </a:xfrm>
          <a:prstGeom prst="rect">
            <a:avLst/>
          </a:prstGeom>
        </p:spPr>
      </p:pic>
      <p:pic>
        <p:nvPicPr>
          <p:cNvPr id="7" name="Picture 6">
            <a:extLst>
              <a:ext uri="{FF2B5EF4-FFF2-40B4-BE49-F238E27FC236}">
                <a16:creationId xmlns:a16="http://schemas.microsoft.com/office/drawing/2014/main" id="{206EB7C2-67B2-1CEC-B9B8-836678561DA9}"/>
              </a:ext>
            </a:extLst>
          </p:cNvPr>
          <p:cNvPicPr>
            <a:picLocks noChangeAspect="1"/>
          </p:cNvPicPr>
          <p:nvPr/>
        </p:nvPicPr>
        <p:blipFill>
          <a:blip r:embed="rId3"/>
          <a:srcRect l="14762" r="17153"/>
          <a:stretch>
            <a:fillRect/>
          </a:stretch>
        </p:blipFill>
        <p:spPr>
          <a:xfrm>
            <a:off x="6095611" y="4003040"/>
            <a:ext cx="2591189" cy="2718436"/>
          </a:xfrm>
          <a:prstGeom prst="rect">
            <a:avLst/>
          </a:prstGeom>
        </p:spPr>
      </p:pic>
      <p:sp>
        <p:nvSpPr>
          <p:cNvPr id="3" name="Content Placeholder 2">
            <a:extLst>
              <a:ext uri="{FF2B5EF4-FFF2-40B4-BE49-F238E27FC236}">
                <a16:creationId xmlns:a16="http://schemas.microsoft.com/office/drawing/2014/main" id="{97D7FBF5-C485-9730-218E-503BFB7F8CAA}"/>
              </a:ext>
            </a:extLst>
          </p:cNvPr>
          <p:cNvSpPr>
            <a:spLocks noGrp="1"/>
          </p:cNvSpPr>
          <p:nvPr>
            <p:ph idx="1"/>
          </p:nvPr>
        </p:nvSpPr>
        <p:spPr>
          <a:xfrm>
            <a:off x="457200" y="321734"/>
            <a:ext cx="8229600" cy="6034618"/>
          </a:xfrm>
        </p:spPr>
        <p:txBody>
          <a:bodyPr>
            <a:noAutofit/>
          </a:bodyPr>
          <a:lstStyle/>
          <a:p>
            <a:pPr marL="0" indent="0">
              <a:buNone/>
            </a:pPr>
            <a:r>
              <a:rPr lang="en-US" sz="1800" b="1" dirty="0"/>
              <a:t>Interpolation (Kriging)</a:t>
            </a:r>
            <a:endParaRPr lang="en-US" sz="1400" dirty="0"/>
          </a:p>
          <a:p>
            <a:r>
              <a:rPr lang="en-US" sz="1400" dirty="0"/>
              <a:t>Kriging is a </a:t>
            </a:r>
            <a:r>
              <a:rPr lang="en-US" sz="1400" u="sng" dirty="0"/>
              <a:t>geostatistical interpolation method</a:t>
            </a:r>
            <a:r>
              <a:rPr lang="en-US" sz="1400" dirty="0"/>
              <a:t> that predicts values at unsampled locations using sampled data points by </a:t>
            </a:r>
            <a:r>
              <a:rPr lang="en-US" sz="1400" b="1" dirty="0"/>
              <a:t>modeling</a:t>
            </a:r>
            <a:r>
              <a:rPr lang="en-US" sz="1400" dirty="0"/>
              <a:t> their spatial autocorrelation.</a:t>
            </a:r>
          </a:p>
          <a:p>
            <a:pPr lvl="1"/>
            <a:r>
              <a:rPr lang="en-US" sz="1200" dirty="0"/>
              <a:t>It computes optimal weights based on </a:t>
            </a:r>
            <a:r>
              <a:rPr lang="en-US" sz="1200" u="sng" dirty="0"/>
              <a:t>distance</a:t>
            </a:r>
            <a:r>
              <a:rPr lang="en-US" sz="1200" dirty="0"/>
              <a:t>, </a:t>
            </a:r>
            <a:r>
              <a:rPr lang="en-US" sz="1200" u="sng" dirty="0"/>
              <a:t>data arrangement</a:t>
            </a:r>
            <a:r>
              <a:rPr lang="en-US" sz="1200" dirty="0"/>
              <a:t>, and a </a:t>
            </a:r>
            <a:r>
              <a:rPr lang="en-US" sz="1200" u="sng" dirty="0"/>
              <a:t>variogram model</a:t>
            </a:r>
            <a:r>
              <a:rPr lang="en-US" sz="1200" dirty="0"/>
              <a:t>, providing both predictions and estimation variance to quantify uncertainty.</a:t>
            </a:r>
          </a:p>
          <a:p>
            <a:pPr lvl="2"/>
            <a:r>
              <a:rPr lang="en-US" sz="1200" dirty="0"/>
              <a:t>Kriging is widely used in mining, geology, and environmental </a:t>
            </a:r>
            <a:r>
              <a:rPr lang="en-US" sz="1400" dirty="0"/>
              <a:t>science for mapping.</a:t>
            </a:r>
          </a:p>
          <a:p>
            <a:r>
              <a:rPr lang="en-US" sz="1400" dirty="0"/>
              <a:t>What is the primary advantage of Kriging over Inverse Distance Weighting (IDW)?</a:t>
            </a:r>
          </a:p>
          <a:p>
            <a:pPr lvl="1"/>
            <a:r>
              <a:rPr lang="en-US" sz="1200" dirty="0"/>
              <a:t>Kriging provides a measure of </a:t>
            </a:r>
            <a:r>
              <a:rPr lang="en-US" sz="1200" b="1" dirty="0"/>
              <a:t>prediction uncertainty</a:t>
            </a:r>
            <a:r>
              <a:rPr lang="en-US" sz="1200" dirty="0"/>
              <a:t> (</a:t>
            </a:r>
            <a:r>
              <a:rPr lang="en-US" sz="1200" i="1" dirty="0"/>
              <a:t>standard error</a:t>
            </a:r>
            <a:r>
              <a:rPr lang="en-US" sz="1200" dirty="0"/>
              <a:t>), whereas IDW does not.</a:t>
            </a:r>
          </a:p>
          <a:p>
            <a:pPr lvl="1"/>
            <a:r>
              <a:rPr lang="en-US" sz="1200" dirty="0"/>
              <a:t>Predicts values at unsampled locations based on a regionalized variable model</a:t>
            </a:r>
          </a:p>
          <a:p>
            <a:pPr lvl="2"/>
            <a:r>
              <a:rPr lang="en-US" sz="1200" dirty="0"/>
              <a:t>Goes beyond simple distance-weighting</a:t>
            </a:r>
          </a:p>
          <a:p>
            <a:pPr lvl="2"/>
            <a:r>
              <a:rPr lang="en-US" sz="1200" dirty="0"/>
              <a:t>Measures how similarity decreases with distance</a:t>
            </a:r>
          </a:p>
          <a:p>
            <a:pPr lvl="2"/>
            <a:r>
              <a:rPr lang="en-US" sz="1200" dirty="0"/>
              <a:t>Uses the variogram to define weights</a:t>
            </a:r>
          </a:p>
          <a:p>
            <a:r>
              <a:rPr lang="en-US" sz="1400" dirty="0"/>
              <a:t>Minimizes the variance of estimation errors</a:t>
            </a:r>
          </a:p>
          <a:p>
            <a:pPr lvl="1"/>
            <a:r>
              <a:rPr lang="en-US" sz="1200" dirty="0"/>
              <a:t>Provides a prediction error map (krige variance)</a:t>
            </a:r>
          </a:p>
          <a:p>
            <a:pPr lvl="1"/>
            <a:r>
              <a:rPr lang="en-US" sz="1200" dirty="0"/>
              <a:t>Different types </a:t>
            </a:r>
            <a:r>
              <a:rPr lang="en-US" sz="1200" baseline="30000" dirty="0"/>
              <a:t>(Ordinary, Simple, Universal)</a:t>
            </a:r>
            <a:r>
              <a:rPr lang="en-US" sz="1200" dirty="0"/>
              <a:t> for various data trends</a:t>
            </a:r>
          </a:p>
        </p:txBody>
      </p:sp>
      <p:sp>
        <p:nvSpPr>
          <p:cNvPr id="4" name="Slide Number Placeholder 3">
            <a:extLst>
              <a:ext uri="{FF2B5EF4-FFF2-40B4-BE49-F238E27FC236}">
                <a16:creationId xmlns:a16="http://schemas.microsoft.com/office/drawing/2014/main" id="{996DC2BB-7122-C017-C5E5-6AAE807CEA95}"/>
              </a:ext>
            </a:extLst>
          </p:cNvPr>
          <p:cNvSpPr>
            <a:spLocks noGrp="1"/>
          </p:cNvSpPr>
          <p:nvPr>
            <p:ph type="sldNum" sz="quarter" idx="12"/>
          </p:nvPr>
        </p:nvSpPr>
        <p:spPr/>
        <p:txBody>
          <a:bodyPr/>
          <a:lstStyle/>
          <a:p>
            <a:fld id="{C0343C75-1924-D247-85A3-0CB62E67E5D1}" type="slidenum">
              <a:rPr lang="en-US" smtClean="0"/>
              <a:t>28</a:t>
            </a:fld>
            <a:endParaRPr lang="en-US" dirty="0"/>
          </a:p>
        </p:txBody>
      </p:sp>
      <p:sp>
        <p:nvSpPr>
          <p:cNvPr id="11" name="Content Placeholder 2">
            <a:extLst>
              <a:ext uri="{FF2B5EF4-FFF2-40B4-BE49-F238E27FC236}">
                <a16:creationId xmlns:a16="http://schemas.microsoft.com/office/drawing/2014/main" id="{BFB32CA2-E724-3B9A-87A8-9CB5B14533A0}"/>
              </a:ext>
            </a:extLst>
          </p:cNvPr>
          <p:cNvSpPr txBox="1">
            <a:spLocks/>
          </p:cNvSpPr>
          <p:nvPr/>
        </p:nvSpPr>
        <p:spPr>
          <a:xfrm>
            <a:off x="457200" y="4257040"/>
            <a:ext cx="5597307" cy="20485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100" b="1" dirty="0" err="1">
                <a:solidFill>
                  <a:srgbClr val="C00000"/>
                </a:solidFill>
                <a:latin typeface="Consolas" panose="020B0609020204030204" pitchFamily="49" charset="0"/>
                <a:cs typeface="Consolas" panose="020B0609020204030204" pitchFamily="49" charset="0"/>
              </a:rPr>
              <a:t>v.m</a:t>
            </a:r>
            <a:r>
              <a:rPr lang="en-US" sz="1100" b="1" dirty="0">
                <a:solidFill>
                  <a:srgbClr val="C00000"/>
                </a:solidFill>
                <a:latin typeface="Consolas" panose="020B0609020204030204" pitchFamily="49" charset="0"/>
                <a:cs typeface="Consolas" panose="020B0609020204030204" pitchFamily="49" charset="0"/>
              </a:rPr>
              <a:t> &lt;- </a:t>
            </a:r>
            <a:r>
              <a:rPr lang="en-US" sz="1100" b="1" dirty="0" err="1">
                <a:solidFill>
                  <a:srgbClr val="C00000"/>
                </a:solidFill>
                <a:latin typeface="Consolas" panose="020B0609020204030204" pitchFamily="49" charset="0"/>
                <a:cs typeface="Consolas" panose="020B0609020204030204" pitchFamily="49" charset="0"/>
              </a:rPr>
              <a:t>fit.variogram</a:t>
            </a:r>
            <a:r>
              <a:rPr lang="en-US" sz="1100" b="1" dirty="0">
                <a:solidFill>
                  <a:srgbClr val="C00000"/>
                </a:solidFill>
                <a:latin typeface="Consolas" panose="020B0609020204030204" pitchFamily="49" charset="0"/>
                <a:cs typeface="Consolas" panose="020B0609020204030204" pitchFamily="49" charset="0"/>
              </a:rPr>
              <a:t>(v, </a:t>
            </a:r>
            <a:r>
              <a:rPr lang="en-US" sz="1100" b="1" dirty="0" err="1">
                <a:solidFill>
                  <a:srgbClr val="C00000"/>
                </a:solidFill>
                <a:latin typeface="Consolas" panose="020B0609020204030204" pitchFamily="49" charset="0"/>
                <a:cs typeface="Consolas" panose="020B0609020204030204" pitchFamily="49" charset="0"/>
              </a:rPr>
              <a:t>vgm</a:t>
            </a:r>
            <a:r>
              <a:rPr lang="en-US" sz="1100" b="1" dirty="0">
                <a:solidFill>
                  <a:srgbClr val="C00000"/>
                </a:solidFill>
                <a:latin typeface="Consolas" panose="020B0609020204030204" pitchFamily="49" charset="0"/>
                <a:cs typeface="Consolas" panose="020B0609020204030204" pitchFamily="49" charset="0"/>
              </a:rPr>
              <a:t>(1, "Exp", 50000, 1))</a:t>
            </a:r>
            <a:br>
              <a:rPr lang="en-US" sz="1100" b="1" dirty="0">
                <a:solidFill>
                  <a:srgbClr val="C00000"/>
                </a:solidFill>
                <a:latin typeface="Consolas" panose="020B0609020204030204" pitchFamily="49" charset="0"/>
                <a:cs typeface="Consolas" panose="020B0609020204030204" pitchFamily="49" charset="0"/>
              </a:rPr>
            </a:br>
            <a:r>
              <a:rPr lang="en-US" sz="1100" b="1" dirty="0">
                <a:solidFill>
                  <a:schemeClr val="accent5">
                    <a:lumMod val="60000"/>
                    <a:lumOff val="40000"/>
                  </a:schemeClr>
                </a:solidFill>
                <a:latin typeface="Consolas" panose="020B0609020204030204" pitchFamily="49" charset="0"/>
                <a:cs typeface="Consolas" panose="020B0609020204030204" pitchFamily="49" charset="0"/>
              </a:rPr>
              <a:t># Fitting variogram models</a:t>
            </a:r>
          </a:p>
          <a:p>
            <a:pPr marL="0" indent="0">
              <a:lnSpc>
                <a:spcPct val="100000"/>
              </a:lnSpc>
              <a:spcBef>
                <a:spcPts val="400"/>
              </a:spcBef>
              <a:buNone/>
            </a:pPr>
            <a:endParaRPr lang="en-US" sz="1100" b="1" dirty="0">
              <a:solidFill>
                <a:srgbClr val="0070C0"/>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100" b="1" dirty="0">
                <a:solidFill>
                  <a:srgbClr val="0070C0"/>
                </a:solidFill>
                <a:latin typeface="Consolas" panose="020B0609020204030204" pitchFamily="49" charset="0"/>
                <a:cs typeface="Consolas" panose="020B0609020204030204" pitchFamily="49" charset="0"/>
              </a:rPr>
              <a:t>k &lt;- </a:t>
            </a:r>
            <a:r>
              <a:rPr lang="en-US" sz="1100" b="1" dirty="0">
                <a:solidFill>
                  <a:srgbClr val="0070C0"/>
                </a:solidFill>
                <a:highlight>
                  <a:srgbClr val="FFFF00"/>
                </a:highlight>
                <a:latin typeface="Consolas" panose="020B0609020204030204" pitchFamily="49" charset="0"/>
                <a:cs typeface="Consolas" panose="020B0609020204030204" pitchFamily="49" charset="0"/>
              </a:rPr>
              <a:t>krige</a:t>
            </a:r>
            <a:r>
              <a:rPr lang="en-US" sz="1100" b="1" dirty="0">
                <a:solidFill>
                  <a:srgbClr val="0070C0"/>
                </a:solidFill>
                <a:latin typeface="Consolas" panose="020B0609020204030204" pitchFamily="49" charset="0"/>
                <a:cs typeface="Consolas" panose="020B0609020204030204" pitchFamily="49" charset="0"/>
              </a:rPr>
              <a:t>(NO2~1, no2.sf, </a:t>
            </a:r>
            <a:r>
              <a:rPr lang="en-US" sz="1100" b="1" dirty="0" err="1">
                <a:solidFill>
                  <a:srgbClr val="0070C0"/>
                </a:solidFill>
                <a:latin typeface="Consolas" panose="020B0609020204030204" pitchFamily="49" charset="0"/>
                <a:cs typeface="Consolas" panose="020B0609020204030204" pitchFamily="49" charset="0"/>
              </a:rPr>
              <a:t>grd</a:t>
            </a:r>
            <a:r>
              <a:rPr lang="en-US" sz="1100" b="1" dirty="0">
                <a:solidFill>
                  <a:srgbClr val="0070C0"/>
                </a:solidFill>
                <a:latin typeface="Consolas" panose="020B0609020204030204" pitchFamily="49" charset="0"/>
                <a:cs typeface="Consolas" panose="020B0609020204030204" pitchFamily="49" charset="0"/>
              </a:rPr>
              <a:t>, </a:t>
            </a:r>
            <a:r>
              <a:rPr lang="en-US" sz="1100" b="1" dirty="0" err="1">
                <a:solidFill>
                  <a:srgbClr val="0070C0"/>
                </a:solidFill>
                <a:highlight>
                  <a:srgbClr val="FFFF00"/>
                </a:highlight>
                <a:latin typeface="Consolas" panose="020B0609020204030204" pitchFamily="49" charset="0"/>
                <a:cs typeface="Consolas" panose="020B0609020204030204" pitchFamily="49" charset="0"/>
              </a:rPr>
              <a:t>v.m</a:t>
            </a:r>
            <a:r>
              <a:rPr lang="en-US" sz="1100" b="1" dirty="0">
                <a:solidFill>
                  <a:srgbClr val="0070C0"/>
                </a:solidFill>
                <a:latin typeface="Consolas" panose="020B0609020204030204" pitchFamily="49" charset="0"/>
                <a:cs typeface="Consolas" panose="020B0609020204030204" pitchFamily="49" charset="0"/>
              </a:rPr>
              <a:t>) </a:t>
            </a:r>
            <a:r>
              <a:rPr lang="en-US" sz="1100" b="1" dirty="0">
                <a:solidFill>
                  <a:schemeClr val="accent5">
                    <a:lumMod val="60000"/>
                    <a:lumOff val="40000"/>
                  </a:schemeClr>
                </a:solidFill>
                <a:latin typeface="Consolas" panose="020B0609020204030204" pitchFamily="49" charset="0"/>
                <a:cs typeface="Consolas" panose="020B0609020204030204" pitchFamily="49" charset="0"/>
              </a:rPr>
              <a:t># Using ordinary kriging</a:t>
            </a:r>
          </a:p>
          <a:p>
            <a:pPr marL="0" indent="0">
              <a:lnSpc>
                <a:spcPct val="100000"/>
              </a:lnSpc>
              <a:spcBef>
                <a:spcPts val="400"/>
              </a:spcBef>
              <a:buNone/>
            </a:pPr>
            <a:endParaRPr lang="en-US" sz="1100" b="1" dirty="0">
              <a:solidFill>
                <a:srgbClr val="0070C0"/>
              </a:solidFill>
              <a:latin typeface="Consolas" panose="020B0609020204030204" pitchFamily="49" charset="0"/>
              <a:cs typeface="Consolas" panose="020B0609020204030204" pitchFamily="49" charset="0"/>
            </a:endParaRPr>
          </a:p>
          <a:p>
            <a:pPr marL="0" indent="0">
              <a:lnSpc>
                <a:spcPct val="100000"/>
              </a:lnSpc>
              <a:spcBef>
                <a:spcPts val="400"/>
              </a:spcBef>
              <a:buNone/>
            </a:pPr>
            <a:r>
              <a:rPr lang="en-US" sz="1100" b="1" dirty="0" err="1">
                <a:solidFill>
                  <a:srgbClr val="0070C0"/>
                </a:solidFill>
                <a:latin typeface="Consolas" panose="020B0609020204030204" pitchFamily="49" charset="0"/>
                <a:cs typeface="Consolas" panose="020B0609020204030204" pitchFamily="49" charset="0"/>
              </a:rPr>
              <a:t>ggplot</a:t>
            </a:r>
            <a:r>
              <a:rPr lang="en-US" sz="1100" b="1" dirty="0">
                <a:solidFill>
                  <a:srgbClr val="0070C0"/>
                </a:solidFill>
                <a:latin typeface="Consolas" panose="020B0609020204030204" pitchFamily="49" charset="0"/>
                <a:cs typeface="Consolas" panose="020B0609020204030204" pitchFamily="49" charset="0"/>
              </a:rPr>
              <a:t>() + </a:t>
            </a:r>
            <a:r>
              <a:rPr lang="en-US" sz="1100" b="1" dirty="0" err="1">
                <a:solidFill>
                  <a:srgbClr val="0070C0"/>
                </a:solidFill>
                <a:latin typeface="Consolas" panose="020B0609020204030204" pitchFamily="49" charset="0"/>
                <a:cs typeface="Consolas" panose="020B0609020204030204" pitchFamily="49" charset="0"/>
              </a:rPr>
              <a:t>geom_stars</a:t>
            </a:r>
            <a:r>
              <a:rPr lang="en-US" sz="1100" b="1" dirty="0">
                <a:solidFill>
                  <a:srgbClr val="0070C0"/>
                </a:solidFill>
                <a:latin typeface="Consolas" panose="020B0609020204030204" pitchFamily="49" charset="0"/>
                <a:cs typeface="Consolas" panose="020B0609020204030204" pitchFamily="49" charset="0"/>
              </a:rPr>
              <a:t>(data = k, </a:t>
            </a:r>
            <a:r>
              <a:rPr lang="en-US" sz="1100" b="1" dirty="0" err="1">
                <a:solidFill>
                  <a:srgbClr val="0070C0"/>
                </a:solidFill>
                <a:latin typeface="Consolas" panose="020B0609020204030204" pitchFamily="49" charset="0"/>
                <a:cs typeface="Consolas" panose="020B0609020204030204" pitchFamily="49" charset="0"/>
              </a:rPr>
              <a:t>aes</a:t>
            </a:r>
            <a:r>
              <a:rPr lang="en-US" sz="1100" b="1" dirty="0">
                <a:solidFill>
                  <a:srgbClr val="0070C0"/>
                </a:solidFill>
                <a:latin typeface="Consolas" panose="020B0609020204030204" pitchFamily="49" charset="0"/>
                <a:cs typeface="Consolas" panose="020B0609020204030204" pitchFamily="49" charset="0"/>
              </a:rPr>
              <a:t>(fill = var1.pred, x = x, y = y)) + </a:t>
            </a:r>
          </a:p>
          <a:p>
            <a:pPr marL="0" indent="0">
              <a:lnSpc>
                <a:spcPct val="100000"/>
              </a:lnSpc>
              <a:spcBef>
                <a:spcPts val="400"/>
              </a:spcBef>
              <a:buNone/>
            </a:pPr>
            <a:r>
              <a:rPr lang="en-US" sz="1100" b="1" dirty="0">
                <a:solidFill>
                  <a:srgbClr val="0070C0"/>
                </a:solidFill>
                <a:latin typeface="Consolas" panose="020B0609020204030204" pitchFamily="49" charset="0"/>
                <a:cs typeface="Consolas" panose="020B0609020204030204" pitchFamily="49" charset="0"/>
              </a:rPr>
              <a:t>    </a:t>
            </a:r>
            <a:r>
              <a:rPr lang="en-US" sz="1100" b="1" dirty="0" err="1">
                <a:solidFill>
                  <a:srgbClr val="0070C0"/>
                </a:solidFill>
                <a:latin typeface="Consolas" panose="020B0609020204030204" pitchFamily="49" charset="0"/>
                <a:cs typeface="Consolas" panose="020B0609020204030204" pitchFamily="49" charset="0"/>
              </a:rPr>
              <a:t>xlab</a:t>
            </a:r>
            <a:r>
              <a:rPr lang="en-US" sz="1100" b="1" dirty="0">
                <a:solidFill>
                  <a:srgbClr val="0070C0"/>
                </a:solidFill>
                <a:latin typeface="Consolas" panose="020B0609020204030204" pitchFamily="49" charset="0"/>
                <a:cs typeface="Consolas" panose="020B0609020204030204" pitchFamily="49" charset="0"/>
              </a:rPr>
              <a:t>(NULL) + </a:t>
            </a:r>
            <a:r>
              <a:rPr lang="en-US" sz="1100" b="1" dirty="0" err="1">
                <a:solidFill>
                  <a:srgbClr val="0070C0"/>
                </a:solidFill>
                <a:latin typeface="Consolas" panose="020B0609020204030204" pitchFamily="49" charset="0"/>
                <a:cs typeface="Consolas" panose="020B0609020204030204" pitchFamily="49" charset="0"/>
              </a:rPr>
              <a:t>ylab</a:t>
            </a:r>
            <a:r>
              <a:rPr lang="en-US" sz="1100" b="1" dirty="0">
                <a:solidFill>
                  <a:srgbClr val="0070C0"/>
                </a:solidFill>
                <a:latin typeface="Consolas" panose="020B0609020204030204" pitchFamily="49" charset="0"/>
                <a:cs typeface="Consolas" panose="020B0609020204030204" pitchFamily="49" charset="0"/>
              </a:rPr>
              <a:t>(NULL) +</a:t>
            </a:r>
          </a:p>
          <a:p>
            <a:pPr marL="0" indent="0">
              <a:lnSpc>
                <a:spcPct val="100000"/>
              </a:lnSpc>
              <a:spcBef>
                <a:spcPts val="400"/>
              </a:spcBef>
              <a:buNone/>
            </a:pPr>
            <a:r>
              <a:rPr lang="en-US" sz="1100" b="1" dirty="0">
                <a:solidFill>
                  <a:srgbClr val="0070C0"/>
                </a:solidFill>
                <a:latin typeface="Consolas" panose="020B0609020204030204" pitchFamily="49" charset="0"/>
                <a:cs typeface="Consolas" panose="020B0609020204030204" pitchFamily="49" charset="0"/>
              </a:rPr>
              <a:t>    </a:t>
            </a:r>
            <a:r>
              <a:rPr lang="en-US" sz="1100" b="1" dirty="0" err="1">
                <a:solidFill>
                  <a:srgbClr val="0070C0"/>
                </a:solidFill>
                <a:latin typeface="Consolas" panose="020B0609020204030204" pitchFamily="49" charset="0"/>
                <a:cs typeface="Consolas" panose="020B0609020204030204" pitchFamily="49" charset="0"/>
              </a:rPr>
              <a:t>geom_sf</a:t>
            </a:r>
            <a:r>
              <a:rPr lang="en-US" sz="1100" b="1" dirty="0">
                <a:solidFill>
                  <a:srgbClr val="0070C0"/>
                </a:solidFill>
                <a:latin typeface="Consolas" panose="020B0609020204030204" pitchFamily="49" charset="0"/>
                <a:cs typeface="Consolas" panose="020B0609020204030204" pitchFamily="49" charset="0"/>
              </a:rPr>
              <a:t>(data = </a:t>
            </a:r>
            <a:r>
              <a:rPr lang="en-US" sz="1100" b="1" dirty="0" err="1">
                <a:solidFill>
                  <a:srgbClr val="0070C0"/>
                </a:solidFill>
                <a:latin typeface="Consolas" panose="020B0609020204030204" pitchFamily="49" charset="0"/>
                <a:cs typeface="Consolas" panose="020B0609020204030204" pitchFamily="49" charset="0"/>
              </a:rPr>
              <a:t>st_cast</a:t>
            </a:r>
            <a:r>
              <a:rPr lang="en-US" sz="1100" b="1" dirty="0">
                <a:solidFill>
                  <a:srgbClr val="0070C0"/>
                </a:solidFill>
                <a:latin typeface="Consolas" panose="020B0609020204030204" pitchFamily="49" charset="0"/>
                <a:cs typeface="Consolas" panose="020B0609020204030204" pitchFamily="49" charset="0"/>
              </a:rPr>
              <a:t>(de, "MULTILINESTRING")) + </a:t>
            </a:r>
          </a:p>
          <a:p>
            <a:pPr marL="0" indent="0">
              <a:lnSpc>
                <a:spcPct val="100000"/>
              </a:lnSpc>
              <a:spcBef>
                <a:spcPts val="400"/>
              </a:spcBef>
              <a:buNone/>
            </a:pPr>
            <a:r>
              <a:rPr lang="en-US" sz="1100" b="1" dirty="0">
                <a:solidFill>
                  <a:srgbClr val="0070C0"/>
                </a:solidFill>
                <a:latin typeface="Consolas" panose="020B0609020204030204" pitchFamily="49" charset="0"/>
                <a:cs typeface="Consolas" panose="020B0609020204030204" pitchFamily="49" charset="0"/>
              </a:rPr>
              <a:t>    </a:t>
            </a:r>
            <a:r>
              <a:rPr lang="en-US" sz="1100" b="1" dirty="0" err="1">
                <a:solidFill>
                  <a:srgbClr val="0070C0"/>
                </a:solidFill>
                <a:latin typeface="Consolas" panose="020B0609020204030204" pitchFamily="49" charset="0"/>
                <a:cs typeface="Consolas" panose="020B0609020204030204" pitchFamily="49" charset="0"/>
              </a:rPr>
              <a:t>geom_sf</a:t>
            </a:r>
            <a:r>
              <a:rPr lang="en-US" sz="1100" b="1" dirty="0">
                <a:solidFill>
                  <a:srgbClr val="0070C0"/>
                </a:solidFill>
                <a:latin typeface="Consolas" panose="020B0609020204030204" pitchFamily="49" charset="0"/>
                <a:cs typeface="Consolas" panose="020B0609020204030204" pitchFamily="49" charset="0"/>
              </a:rPr>
              <a:t>(data = no2.sf) + </a:t>
            </a:r>
            <a:r>
              <a:rPr lang="en-US" sz="1100" b="1" dirty="0" err="1">
                <a:solidFill>
                  <a:srgbClr val="0070C0"/>
                </a:solidFill>
                <a:latin typeface="Consolas" panose="020B0609020204030204" pitchFamily="49" charset="0"/>
                <a:cs typeface="Consolas" panose="020B0609020204030204" pitchFamily="49" charset="0"/>
              </a:rPr>
              <a:t>coord_sf</a:t>
            </a:r>
            <a:r>
              <a:rPr lang="en-US" sz="1100" b="1" dirty="0">
                <a:solidFill>
                  <a:srgbClr val="0070C0"/>
                </a:solidFill>
                <a:latin typeface="Consolas" panose="020B0609020204030204" pitchFamily="49" charset="0"/>
                <a:cs typeface="Consolas" panose="020B0609020204030204" pitchFamily="49" charset="0"/>
              </a:rPr>
              <a:t>(</a:t>
            </a:r>
            <a:r>
              <a:rPr lang="en-US" sz="1100" b="1" dirty="0" err="1">
                <a:solidFill>
                  <a:srgbClr val="0070C0"/>
                </a:solidFill>
                <a:latin typeface="Consolas" panose="020B0609020204030204" pitchFamily="49" charset="0"/>
                <a:cs typeface="Consolas" panose="020B0609020204030204" pitchFamily="49" charset="0"/>
              </a:rPr>
              <a:t>lims_method</a:t>
            </a:r>
            <a:r>
              <a:rPr lang="en-US" sz="1100" b="1" dirty="0">
                <a:solidFill>
                  <a:srgbClr val="0070C0"/>
                </a:solidFill>
                <a:latin typeface="Consolas" panose="020B0609020204030204" pitchFamily="49" charset="0"/>
                <a:cs typeface="Consolas" panose="020B0609020204030204" pitchFamily="49" charset="0"/>
              </a:rPr>
              <a:t> = "</a:t>
            </a:r>
            <a:r>
              <a:rPr lang="en-US" sz="1100" b="1" dirty="0" err="1">
                <a:solidFill>
                  <a:srgbClr val="0070C0"/>
                </a:solidFill>
                <a:latin typeface="Consolas" panose="020B0609020204030204" pitchFamily="49" charset="0"/>
                <a:cs typeface="Consolas" panose="020B0609020204030204" pitchFamily="49" charset="0"/>
              </a:rPr>
              <a:t>geometry_bbox</a:t>
            </a:r>
            <a:r>
              <a:rPr lang="en-US" sz="1100" b="1" dirty="0">
                <a:solidFill>
                  <a:srgbClr val="0070C0"/>
                </a:solidFill>
                <a:latin typeface="Consolas" panose="020B0609020204030204" pitchFamily="49" charset="0"/>
                <a:cs typeface="Consolas" panose="020B0609020204030204" pitchFamily="49" charset="0"/>
              </a:rPr>
              <a:t>")</a:t>
            </a:r>
          </a:p>
        </p:txBody>
      </p:sp>
      <p:cxnSp>
        <p:nvCxnSpPr>
          <p:cNvPr id="10" name="Straight Arrow Connector 9">
            <a:extLst>
              <a:ext uri="{FF2B5EF4-FFF2-40B4-BE49-F238E27FC236}">
                <a16:creationId xmlns:a16="http://schemas.microsoft.com/office/drawing/2014/main" id="{710CF4D4-8374-FC12-C650-4D6AE27F4510}"/>
              </a:ext>
            </a:extLst>
          </p:cNvPr>
          <p:cNvCxnSpPr>
            <a:cxnSpLocks/>
          </p:cNvCxnSpPr>
          <p:nvPr/>
        </p:nvCxnSpPr>
        <p:spPr>
          <a:xfrm flipV="1">
            <a:off x="4358640" y="3755118"/>
            <a:ext cx="1695867" cy="623842"/>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39E7944-2AE4-BA40-8A6E-8B2297938897}"/>
              </a:ext>
            </a:extLst>
          </p:cNvPr>
          <p:cNvSpPr txBox="1"/>
          <p:nvPr/>
        </p:nvSpPr>
        <p:spPr>
          <a:xfrm>
            <a:off x="457200" y="6290589"/>
            <a:ext cx="4114800" cy="430887"/>
          </a:xfrm>
          <a:prstGeom prst="rect">
            <a:avLst/>
          </a:prstGeom>
          <a:solidFill>
            <a:srgbClr val="FFD84C"/>
          </a:solidFill>
        </p:spPr>
        <p:txBody>
          <a:bodyPr wrap="square" rtlCol="0">
            <a:spAutoFit/>
          </a:bodyPr>
          <a:lstStyle/>
          <a:p>
            <a:r>
              <a:rPr lang="en-US" sz="1050" dirty="0"/>
              <a:t>Check full code at:</a:t>
            </a:r>
          </a:p>
          <a:p>
            <a:r>
              <a:rPr lang="en-US" sz="1050" dirty="0">
                <a:hlinkClick r:id="rId4"/>
              </a:rPr>
              <a:t>https://r-spatial.org/book/12-Interpolation.html</a:t>
            </a:r>
            <a:endParaRPr lang="en-US" sz="1050" dirty="0"/>
          </a:p>
        </p:txBody>
      </p:sp>
    </p:spTree>
    <p:extLst>
      <p:ext uri="{BB962C8B-B14F-4D97-AF65-F5344CB8AC3E}">
        <p14:creationId xmlns:p14="http://schemas.microsoft.com/office/powerpoint/2010/main" val="276588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62183F7-89EA-9A68-1A69-F5E6FEA87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50E41-2E39-E43E-5295-1F5CA4FD9E2A}"/>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E2FB43DE-EACC-8822-7145-5389C9F57F1D}"/>
              </a:ext>
            </a:extLst>
          </p:cNvPr>
          <p:cNvSpPr>
            <a:spLocks noGrp="1"/>
          </p:cNvSpPr>
          <p:nvPr>
            <p:ph idx="1"/>
          </p:nvPr>
        </p:nvSpPr>
        <p:spPr/>
        <p:txBody>
          <a:bodyPr/>
          <a:lstStyle/>
          <a:p>
            <a:r>
              <a:rPr lang="en-US" dirty="0"/>
              <a:t>Spatial Data Science</a:t>
            </a:r>
            <a:br>
              <a:rPr lang="en-US" dirty="0"/>
            </a:br>
            <a:r>
              <a:rPr lang="en-US" sz="1800" dirty="0">
                <a:hlinkClick r:id="rId2"/>
              </a:rPr>
              <a:t>https://r-spatial.org/book/</a:t>
            </a:r>
            <a:endParaRPr lang="en-US" dirty="0"/>
          </a:p>
          <a:p>
            <a:r>
              <a:rPr lang="en-US" dirty="0"/>
              <a:t>Exploratory Spatial Data Analysis</a:t>
            </a:r>
            <a:br>
              <a:rPr lang="en-US" dirty="0"/>
            </a:br>
            <a:r>
              <a:rPr lang="en-US" sz="1800" dirty="0">
                <a:hlinkClick r:id="rId3"/>
              </a:rPr>
              <a:t>https://cran.r-project.org/web/packages/geostan/vignettes/measuring-sa.html</a:t>
            </a:r>
            <a:endParaRPr lang="en-US" sz="1800"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F379B02-505A-1D31-BDF3-236A0DEF457C}"/>
              </a:ext>
            </a:extLst>
          </p:cNvPr>
          <p:cNvSpPr>
            <a:spLocks noGrp="1"/>
          </p:cNvSpPr>
          <p:nvPr>
            <p:ph type="sldNum" sz="quarter" idx="12"/>
          </p:nvPr>
        </p:nvSpPr>
        <p:spPr/>
        <p:txBody>
          <a:bodyPr/>
          <a:lstStyle/>
          <a:p>
            <a:fld id="{C0343C75-1924-D247-85A3-0CB62E67E5D1}" type="slidenum">
              <a:rPr lang="en-US" smtClean="0"/>
              <a:t>29</a:t>
            </a:fld>
            <a:endParaRPr lang="en-US"/>
          </a:p>
        </p:txBody>
      </p:sp>
    </p:spTree>
    <p:extLst>
      <p:ext uri="{BB962C8B-B14F-4D97-AF65-F5344CB8AC3E}">
        <p14:creationId xmlns:p14="http://schemas.microsoft.com/office/powerpoint/2010/main" val="2623367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778A9-DF75-760E-5946-D5CB9BB0CCCA}"/>
              </a:ext>
            </a:extLst>
          </p:cNvPr>
          <p:cNvSpPr>
            <a:spLocks noGrp="1"/>
          </p:cNvSpPr>
          <p:nvPr>
            <p:ph type="title"/>
          </p:nvPr>
        </p:nvSpPr>
        <p:spPr/>
        <p:txBody>
          <a:bodyPr/>
          <a:lstStyle/>
          <a:p>
            <a:r>
              <a:rPr lang="en-US" dirty="0"/>
              <a:t>Next</a:t>
            </a:r>
            <a:br>
              <a:rPr lang="en-US" dirty="0"/>
            </a:br>
            <a:r>
              <a:rPr lang="en-US" b="1" dirty="0"/>
              <a:t>Spatial Modeling</a:t>
            </a:r>
          </a:p>
        </p:txBody>
      </p:sp>
      <p:sp>
        <p:nvSpPr>
          <p:cNvPr id="3" name="Content Placeholder 2">
            <a:extLst>
              <a:ext uri="{FF2B5EF4-FFF2-40B4-BE49-F238E27FC236}">
                <a16:creationId xmlns:a16="http://schemas.microsoft.com/office/drawing/2014/main" id="{9D8C69DB-0DB5-ECA1-24D0-4233342F2729}"/>
              </a:ext>
            </a:extLst>
          </p:cNvPr>
          <p:cNvSpPr>
            <a:spLocks noGrp="1"/>
          </p:cNvSpPr>
          <p:nvPr>
            <p:ph idx="1"/>
          </p:nvPr>
        </p:nvSpPr>
        <p:spPr/>
        <p:txBody>
          <a:bodyPr/>
          <a:lstStyle/>
          <a:p>
            <a:r>
              <a:rPr lang="en-US" dirty="0"/>
              <a:t>Spatial Regression</a:t>
            </a:r>
            <a:br>
              <a:rPr lang="en-US" dirty="0"/>
            </a:br>
            <a:r>
              <a:rPr lang="en-US" dirty="0">
                <a:hlinkClick r:id="rId2"/>
              </a:rPr>
              <a:t>https://r-spatial.org/book/16-SpatialRegression.html</a:t>
            </a:r>
            <a:endParaRPr lang="en-US" dirty="0"/>
          </a:p>
          <a:p>
            <a:r>
              <a:rPr lang="en-US" dirty="0"/>
              <a:t>Spatial Econometrics Models</a:t>
            </a:r>
            <a:br>
              <a:rPr lang="en-US" dirty="0"/>
            </a:br>
            <a:r>
              <a:rPr lang="en-US" dirty="0">
                <a:hlinkClick r:id="rId3"/>
              </a:rPr>
              <a:t>https://r-spatial.org/book/17-Econometrics.html</a:t>
            </a:r>
            <a:endParaRPr lang="en-US" dirty="0"/>
          </a:p>
          <a:p>
            <a:pPr lvl="1"/>
            <a:endParaRPr lang="en-US" dirty="0"/>
          </a:p>
        </p:txBody>
      </p:sp>
      <p:sp>
        <p:nvSpPr>
          <p:cNvPr id="4" name="Slide Number Placeholder 3">
            <a:extLst>
              <a:ext uri="{FF2B5EF4-FFF2-40B4-BE49-F238E27FC236}">
                <a16:creationId xmlns:a16="http://schemas.microsoft.com/office/drawing/2014/main" id="{D2808ED0-60BE-81B0-39D1-0C0EE44FDD5E}"/>
              </a:ext>
            </a:extLst>
          </p:cNvPr>
          <p:cNvSpPr>
            <a:spLocks noGrp="1"/>
          </p:cNvSpPr>
          <p:nvPr>
            <p:ph type="sldNum" sz="quarter" idx="12"/>
          </p:nvPr>
        </p:nvSpPr>
        <p:spPr/>
        <p:txBody>
          <a:bodyPr/>
          <a:lstStyle/>
          <a:p>
            <a:fld id="{C0343C75-1924-D247-85A3-0CB62E67E5D1}" type="slidenum">
              <a:rPr lang="en-US" smtClean="0"/>
              <a:t>30</a:t>
            </a:fld>
            <a:endParaRPr lang="en-US"/>
          </a:p>
        </p:txBody>
      </p:sp>
    </p:spTree>
    <p:extLst>
      <p:ext uri="{BB962C8B-B14F-4D97-AF65-F5344CB8AC3E}">
        <p14:creationId xmlns:p14="http://schemas.microsoft.com/office/powerpoint/2010/main" val="239341678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AAD8946F-0F31-3B4A-8CB9-5FA22C3CE7DB}" vid="{C0D572B3-B117-984B-94A9-96E09E0151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4491</TotalTime>
  <Words>4917</Words>
  <Application>Microsoft Macintosh PowerPoint</Application>
  <PresentationFormat>On-screen Show (4:3)</PresentationFormat>
  <Paragraphs>497</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Aptos Display</vt:lpstr>
      <vt:lpstr>Arial</vt:lpstr>
      <vt:lpstr>Cambria Math</vt:lpstr>
      <vt:lpstr>Consolas</vt:lpstr>
      <vt:lpstr>Office Theme</vt:lpstr>
      <vt:lpstr>Spatial Statistics</vt:lpstr>
      <vt:lpstr>Today</vt:lpstr>
      <vt:lpstr>Exploratory Data Analysis (EDA)</vt:lpstr>
      <vt:lpstr>Exploratory Data Analysis (EDA)</vt:lpstr>
      <vt:lpstr>Exploratory Data Analysis (EDA)</vt:lpstr>
      <vt:lpstr>Exploratory Spatial Data Analysis (ESDA)</vt:lpstr>
      <vt:lpstr>Tobler's First Law of Geography</vt:lpstr>
      <vt:lpstr>(Spatial) Diagnostic Summary</vt:lpstr>
      <vt:lpstr>Spatial Diagnostic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Next Spatial Modeling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Alexander Abuabara</dc:creator>
  <cp:keywords/>
  <dc:description/>
  <cp:lastModifiedBy>Alexander Abuabara</cp:lastModifiedBy>
  <cp:revision>255</cp:revision>
  <dcterms:created xsi:type="dcterms:W3CDTF">2026-03-25T20:47:13Z</dcterms:created>
  <dcterms:modified xsi:type="dcterms:W3CDTF">2026-04-09T17:24:28Z</dcterms:modified>
  <cp:category/>
</cp:coreProperties>
</file>