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317" r:id="rId3"/>
    <p:sldId id="336" r:id="rId4"/>
    <p:sldId id="344" r:id="rId5"/>
    <p:sldId id="347" r:id="rId6"/>
    <p:sldId id="345" r:id="rId7"/>
    <p:sldId id="346" r:id="rId8"/>
    <p:sldId id="348" r:id="rId9"/>
    <p:sldId id="342" r:id="rId10"/>
    <p:sldId id="343" r:id="rId11"/>
    <p:sldId id="305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5A1FBEB-8E98-2648-AACA-444C6CF94B58}">
          <p14:sldIdLst>
            <p14:sldId id="256"/>
          </p14:sldIdLst>
        </p14:section>
        <p14:section name="Intro" id="{AAAF4145-0111-8840-BC27-A001451B4C1C}">
          <p14:sldIdLst>
            <p14:sldId id="317"/>
          </p14:sldIdLst>
        </p14:section>
        <p14:section name="ESDA" id="{726521BA-6FDD-E141-85CC-06ADFED5112F}">
          <p14:sldIdLst>
            <p14:sldId id="336"/>
            <p14:sldId id="344"/>
            <p14:sldId id="347"/>
            <p14:sldId id="345"/>
            <p14:sldId id="346"/>
            <p14:sldId id="348"/>
            <p14:sldId id="342"/>
          </p14:sldIdLst>
        </p14:section>
        <p14:section name="Autocorrelation" id="{53927C2D-7BF2-7C4A-8F49-AF0199F08B9A}">
          <p14:sldIdLst/>
        </p14:section>
        <p14:section name="Point-pattern" id="{3B4263D5-AE2C-504D-A27F-EEEB4EBC5B3D}">
          <p14:sldIdLst/>
        </p14:section>
        <p14:section name="Interpolation" id="{8107A08D-8E25-5A4B-B6E5-4FDF6CDDA291}">
          <p14:sldIdLst/>
        </p14:section>
        <p14:section name="References" id="{80CE1547-8FED-EB40-BEB2-D4CEAADA67FE}">
          <p14:sldIdLst>
            <p14:sldId id="343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84C"/>
    <a:srgbClr val="FFC000"/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85"/>
    <p:restoredTop sz="95545"/>
  </p:normalViewPr>
  <p:slideViewPr>
    <p:cSldViewPr snapToGrid="0">
      <p:cViewPr varScale="1">
        <p:scale>
          <a:sx n="126" d="100"/>
          <a:sy n="126" d="100"/>
        </p:scale>
        <p:origin x="4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4FB6DC-B598-8B49-8FDB-37BE75E655AD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5A32-F46A-7344-9EED-8329BFD459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731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122363"/>
            <a:ext cx="82296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199" y="3602038"/>
            <a:ext cx="8229599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A6D9-2D7F-9442-BED1-4D7FFC9A34F4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5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E58ED-569E-7141-BEA4-8F66F85D6EA8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09739"/>
            <a:ext cx="8229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589464"/>
            <a:ext cx="8229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2CD10-D7BB-1A41-A802-BCEB6EE7274C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383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96072"/>
            <a:ext cx="4057650" cy="45808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96072"/>
            <a:ext cx="4057650" cy="4580891"/>
          </a:xfrm>
          <a:solidFill>
            <a:srgbClr val="002060"/>
          </a:solidFill>
        </p:spPr>
        <p:txBody>
          <a:bodyPr/>
          <a:lstStyle>
            <a:lvl1pPr>
              <a:buNone/>
              <a:defRPr sz="1600" b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buNone/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63A2C-1A5C-EB4D-A972-6AE3285E62FE}" type="datetime1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86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126"/>
            <a:ext cx="8229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81163"/>
            <a:ext cx="4040982" cy="549081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96932"/>
            <a:ext cx="4040982" cy="3792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4057650" cy="549081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96932"/>
            <a:ext cx="4057650" cy="3792731"/>
          </a:xfrm>
          <a:solidFill>
            <a:srgbClr val="002060"/>
          </a:solidFill>
        </p:spPr>
        <p:txBody>
          <a:bodyPr/>
          <a:lstStyle>
            <a:lvl1pPr>
              <a:buNone/>
              <a:defRPr sz="16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0F2D4-C57D-2449-85CE-67A0F42FDA3B}" type="datetime1">
              <a:rPr lang="en-US" smtClean="0"/>
              <a:t>4/6/26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008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5B4F-A2D4-8548-B798-9B676580887F}" type="datetime1">
              <a:rPr lang="en-US" smtClean="0"/>
              <a:t>4/6/26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247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3453A-5CCA-2B47-B840-00C815B24B38}" type="datetime1">
              <a:rPr lang="en-US" smtClean="0"/>
              <a:t>4/6/26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1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36524"/>
            <a:ext cx="8229600" cy="12801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517"/>
            <a:ext cx="8229600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50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088FA9-E09B-F247-9C69-3141F5729F41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43200" y="6356351"/>
            <a:ext cx="3657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2940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433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r-spatial.org/book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r-spatial.org/book/17-Econometrics.html" TargetMode="External"/><Relationship Id="rId2" Type="http://schemas.openxmlformats.org/officeDocument/2006/relationships/hyperlink" Target="https://r-spatial.org/book/16-SpatialRegression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E524-E5FF-51D1-243B-26982FBA4E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Spatial Statistics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E24C6C-7F39-D280-5F4E-FDDD50584F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Alexander Abuabara</a:t>
            </a:r>
          </a:p>
          <a:p>
            <a:r>
              <a:rPr lang="en-US" dirty="0"/>
              <a:t>DAEN 489 ISEN 489 Spring 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A8EBE0-BF84-E506-2E75-D9731D5BB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48" y="5861278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912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0D4F4-56EF-F0A2-DABF-D2E0DDA11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57A74-6E54-A3C6-164F-19148FEF33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200" dirty="0"/>
              <a:t>Exploratory spatial data analysis</a:t>
            </a:r>
          </a:p>
          <a:p>
            <a:r>
              <a:rPr lang="en-US" sz="2200" dirty="0"/>
              <a:t>Measures of Spatial Autocorrelation</a:t>
            </a:r>
          </a:p>
          <a:p>
            <a:r>
              <a:rPr lang="en-US" sz="2200" dirty="0"/>
              <a:t>Point Pattern Analysis</a:t>
            </a:r>
          </a:p>
          <a:p>
            <a:r>
              <a:rPr lang="en-US" sz="2200" dirty="0"/>
              <a:t>Spatial Interpolation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5888D-A593-654D-089C-4B3A6249D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093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F6F88-6323-2A0E-407C-0CA9E0344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b="1" dirty="0"/>
              <a:t>ESDA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002690-4C33-925D-21A5-1837F5C78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6684"/>
            <a:ext cx="8229600" cy="4939667"/>
          </a:xfrm>
        </p:spPr>
        <p:txBody>
          <a:bodyPr>
            <a:noAutofit/>
          </a:bodyPr>
          <a:lstStyle/>
          <a:p>
            <a:r>
              <a:rPr lang="en-US" sz="1800" dirty="0"/>
              <a:t>Exploratory Data Analysis (EDA) uses a range of visual techniques (such as histograms, scatter plots, and similar tools) to summarize complex datasets.</a:t>
            </a:r>
          </a:p>
          <a:p>
            <a:pPr lvl="1"/>
            <a:r>
              <a:rPr lang="en-US" sz="1800" dirty="0"/>
              <a:t>By </a:t>
            </a:r>
            <a:r>
              <a:rPr lang="en-US" sz="1800" u="sng" dirty="0"/>
              <a:t>condensing</a:t>
            </a:r>
            <a:r>
              <a:rPr lang="en-US" sz="1800" dirty="0"/>
              <a:t> the data and </a:t>
            </a:r>
            <a:r>
              <a:rPr lang="en-US" sz="1800" u="sng" dirty="0"/>
              <a:t>filtering out</a:t>
            </a:r>
            <a:r>
              <a:rPr lang="en-US" sz="1800" dirty="0"/>
              <a:t> less relevant details, these methods highlight key </a:t>
            </a:r>
            <a:r>
              <a:rPr lang="en-US" sz="1800" b="1" dirty="0"/>
              <a:t>patterns</a:t>
            </a:r>
            <a:r>
              <a:rPr lang="en-US" sz="1800" dirty="0"/>
              <a:t>, </a:t>
            </a:r>
            <a:r>
              <a:rPr lang="en-US" sz="1800" b="1" dirty="0"/>
              <a:t>trends</a:t>
            </a:r>
            <a:r>
              <a:rPr lang="en-US" sz="1800" dirty="0"/>
              <a:t>, and </a:t>
            </a:r>
            <a:r>
              <a:rPr lang="en-US" sz="1800" b="1" dirty="0"/>
              <a:t>variations</a:t>
            </a:r>
            <a:r>
              <a:rPr lang="en-US" sz="1800" dirty="0"/>
              <a:t>, making the most important features easier to interpret.</a:t>
            </a:r>
          </a:p>
          <a:p>
            <a:r>
              <a:rPr lang="en-US" sz="1800" dirty="0"/>
              <a:t>Exploratory Spatial Data Analysis (ESDA) extends traditional EDA by incorporating the spatial dimension of data.</a:t>
            </a:r>
          </a:p>
          <a:p>
            <a:pPr lvl="1"/>
            <a:r>
              <a:rPr lang="en-US" sz="1800" dirty="0"/>
              <a:t>In addition to standard visual summaries, it emphasizes mapping (including residual patterns), breaking down spatial structures into meaningful components, and quantifying the degree of spatial dependence or clustering.</a:t>
            </a:r>
          </a:p>
          <a:p>
            <a:pPr lvl="1"/>
            <a:r>
              <a:rPr lang="en-US" sz="1800" dirty="0"/>
              <a:t>By highlighting unusual observations (such as values that differ markedly from their neighbors), ESDA allows analysts to interpret these patterns in their geographic context.</a:t>
            </a:r>
          </a:p>
          <a:p>
            <a:pPr lvl="1"/>
            <a:r>
              <a:rPr lang="en-US" sz="1800" dirty="0"/>
              <a:t>More broadly, the principles of exploratory analysis emphasize open-ended investigation and typically avoid formal hypothesis testing in the early stages of analysis.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24484-BA1F-A97D-DBB9-E1A062068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30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5A0F6-67E4-849A-B4E5-B7E1D3E96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9A9-E414-6ABF-6E76-4D39E714A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Spatial Diagnostic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342E5-F82C-7554-61EA-7965B26E07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6684"/>
            <a:ext cx="8229600" cy="4939667"/>
          </a:xfrm>
        </p:spPr>
        <p:txBody>
          <a:bodyPr>
            <a:noAutofit/>
          </a:bodyPr>
          <a:lstStyle/>
          <a:p>
            <a:r>
              <a:rPr lang="en-US" sz="1800" dirty="0"/>
              <a:t>If we pass any variable x and its corresponding spatial object (e.g., simple features) to the </a:t>
            </a:r>
            <a:r>
              <a:rPr lang="en-US" sz="1800" b="1" dirty="0" err="1"/>
              <a:t>sp_diag</a:t>
            </a:r>
            <a:r>
              <a:rPr lang="en-US" sz="1800" b="1" dirty="0"/>
              <a:t> </a:t>
            </a:r>
            <a:r>
              <a:rPr lang="en-US" sz="1800" dirty="0"/>
              <a:t>function, it returns a histogram, Moran scatter plot, and map of the estimates: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02E20-9D16-8446-1F54-1BA728C53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4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46E5102-B399-EDF3-F949-D51A3C405115}"/>
              </a:ext>
            </a:extLst>
          </p:cNvPr>
          <p:cNvSpPr txBox="1">
            <a:spLocks/>
          </p:cNvSpPr>
          <p:nvPr/>
        </p:nvSpPr>
        <p:spPr>
          <a:xfrm>
            <a:off x="457200" y="2511306"/>
            <a:ext cx="8229600" cy="40249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library(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geostan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library(ggplot2)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library(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gridExtra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data("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georgia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summary(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georgia$college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Min. 1st Qu.  Median    Mean 3rd Qu.    Max. 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 7.0    12.0    15.2    18.2    21.4    51.7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AD22AD-BAFB-97D4-F581-A4DE8C026BE3}"/>
              </a:ext>
            </a:extLst>
          </p:cNvPr>
          <p:cNvSpPr txBox="1"/>
          <p:nvPr/>
        </p:nvSpPr>
        <p:spPr>
          <a:xfrm>
            <a:off x="4049133" y="2141974"/>
            <a:ext cx="1045734" cy="369332"/>
          </a:xfrm>
          <a:prstGeom prst="rect">
            <a:avLst/>
          </a:prstGeom>
          <a:solidFill>
            <a:srgbClr val="C00000"/>
          </a:solidFill>
        </p:spPr>
        <p:txBody>
          <a:bodyPr wrap="none" rtlCol="0" anchor="ctr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16712537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9FC1-06EB-2699-FFA2-1078A94D4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33B54-1962-5316-BE65-22F0625EB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Spatial Diagnostic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FF396-579B-0FC4-3D52-912A19ED8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6684"/>
            <a:ext cx="8229600" cy="4939667"/>
          </a:xfrm>
        </p:spPr>
        <p:txBody>
          <a:bodyPr>
            <a:noAutofit/>
          </a:bodyPr>
          <a:lstStyle/>
          <a:p>
            <a:r>
              <a:rPr lang="en-US" sz="1800" dirty="0"/>
              <a:t>If we pass any variable x and its corresponding spatial object (e.g., simple features) to the </a:t>
            </a:r>
            <a:r>
              <a:rPr lang="en-US" sz="1800" b="1" dirty="0" err="1"/>
              <a:t>sp_diag</a:t>
            </a:r>
            <a:r>
              <a:rPr lang="en-US" sz="1800" b="1" dirty="0"/>
              <a:t> </a:t>
            </a:r>
            <a:r>
              <a:rPr lang="en-US" sz="1800" dirty="0"/>
              <a:t>function, it returns a histogram, Moran scatter plot, and map of the estimates: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ECC80-AC18-A3FE-C652-14317D409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5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F3C7D18-1B3D-1465-DB15-266C53B3C1EC}"/>
              </a:ext>
            </a:extLst>
          </p:cNvPr>
          <p:cNvSpPr txBox="1">
            <a:spLocks/>
          </p:cNvSpPr>
          <p:nvPr/>
        </p:nvSpPr>
        <p:spPr>
          <a:xfrm>
            <a:off x="457200" y="2511306"/>
            <a:ext cx="8229600" cy="40249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library(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geostan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library(ggplot2)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library(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gridExtra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data("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georgia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sp_diag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georgia$college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2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georgia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, name = "College (%)")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3C3E2E-EC8D-76C3-980E-B0A912CB3036}"/>
              </a:ext>
            </a:extLst>
          </p:cNvPr>
          <p:cNvSpPr txBox="1"/>
          <p:nvPr/>
        </p:nvSpPr>
        <p:spPr>
          <a:xfrm>
            <a:off x="4049133" y="2141974"/>
            <a:ext cx="1045734" cy="369332"/>
          </a:xfrm>
          <a:prstGeom prst="rect">
            <a:avLst/>
          </a:prstGeom>
          <a:solidFill>
            <a:srgbClr val="C00000"/>
          </a:solidFill>
        </p:spPr>
        <p:txBody>
          <a:bodyPr wrap="none" rtlCol="0" anchor="ctr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B1D7CC-74E0-32B8-0ECF-5C12F2B15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161563"/>
            <a:ext cx="7772400" cy="2374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50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46FAF-0A58-A3BA-74A8-936E0A3F7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01CEB3-889F-0CF7-5429-63BD8F578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21734"/>
            <a:ext cx="8229600" cy="60346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/>
              <a:t>Spatial Lag</a:t>
            </a:r>
          </a:p>
          <a:p>
            <a:r>
              <a:rPr lang="en-US" sz="1800" dirty="0"/>
              <a:t>The spatial lag (y-axis) represents the average value of the variable in neighboring locations for each observation.</a:t>
            </a:r>
          </a:p>
          <a:p>
            <a:pPr lvl="1"/>
            <a:r>
              <a:rPr lang="en-US" sz="1800" dirty="0"/>
              <a:t>In this case, for each county, it is the average College (%) of its neighboring counties.</a:t>
            </a:r>
          </a:p>
          <a:p>
            <a:pPr lvl="1"/>
            <a:r>
              <a:rPr lang="en-US" sz="1800" dirty="0"/>
              <a:t>It provides a way to compare a location's value (x-axis) with the surrounding context.</a:t>
            </a:r>
          </a:p>
          <a:p>
            <a:pPr lvl="2"/>
            <a:r>
              <a:rPr lang="en-US" sz="1800" dirty="0"/>
              <a:t>Points along the upward trend indicate that counties with high (or low) college attainment tend to be surrounded by similar counties.</a:t>
            </a:r>
          </a:p>
          <a:p>
            <a:pPr lvl="2"/>
            <a:r>
              <a:rPr lang="en-US" sz="1800" dirty="0"/>
              <a:t>Points far from the trend suggest local anomalies (e.g., a county very different from its neighbors).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B853FC-DD10-4B16-03F6-972DC000A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150E02-77AB-34E3-2408-B2D0C61AC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161563"/>
            <a:ext cx="7772400" cy="2374704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D9A2F6D5-AB38-EBAA-C89F-A584B3410B67}"/>
              </a:ext>
            </a:extLst>
          </p:cNvPr>
          <p:cNvSpPr>
            <a:spLocks/>
          </p:cNvSpPr>
          <p:nvPr/>
        </p:nvSpPr>
        <p:spPr>
          <a:xfrm>
            <a:off x="3088640" y="3795396"/>
            <a:ext cx="3017520" cy="2926080"/>
          </a:xfrm>
          <a:prstGeom prst="ellipse">
            <a:avLst/>
          </a:prstGeom>
          <a:solidFill>
            <a:srgbClr val="FFC000">
              <a:alpha val="5098"/>
            </a:srgbClr>
          </a:solidFill>
          <a:ln w="38100">
            <a:solidFill>
              <a:srgbClr val="C00000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99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10D98-1C85-6059-AB54-03AD882CE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83515-487B-B04A-44A6-60C3CAF35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21734"/>
            <a:ext cx="8229600" cy="60346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/>
              <a:t>Moran's I Coefficient</a:t>
            </a:r>
          </a:p>
          <a:p>
            <a:r>
              <a:rPr lang="en-US" sz="1800" dirty="0"/>
              <a:t>A measure of spatial autocorrelation:</a:t>
            </a:r>
          </a:p>
          <a:p>
            <a:pPr lvl="1"/>
            <a:r>
              <a:rPr lang="en-US" sz="1800" dirty="0"/>
              <a:t>Quantifies how similar values are across nearby locations.</a:t>
            </a:r>
          </a:p>
          <a:p>
            <a:pPr lvl="1"/>
            <a:r>
              <a:rPr lang="en-US" sz="1800" dirty="0"/>
              <a:t>The value ranges roughly from -1 to +1:</a:t>
            </a:r>
          </a:p>
          <a:p>
            <a:pPr lvl="2"/>
            <a:r>
              <a:rPr lang="en-US" sz="1600" dirty="0"/>
              <a:t>Positive (0.422) → nearby areas tend to have similar values (clustering)</a:t>
            </a:r>
          </a:p>
          <a:p>
            <a:pPr lvl="2"/>
            <a:r>
              <a:rPr lang="en-US" sz="1600" dirty="0"/>
              <a:t>Near 0 → spatial randomness</a:t>
            </a:r>
          </a:p>
          <a:p>
            <a:pPr lvl="2"/>
            <a:r>
              <a:rPr lang="en-US" sz="1600" dirty="0"/>
              <a:t>Negative → nearby areas tend to be dissimilar (dispersion)</a:t>
            </a:r>
          </a:p>
          <a:p>
            <a:r>
              <a:rPr lang="en-US" sz="1800" dirty="0"/>
              <a:t>A value of 0.422 indicates a </a:t>
            </a:r>
            <a:r>
              <a:rPr lang="en-US" sz="1800" u="sng" dirty="0"/>
              <a:t>moderate positive spatial autocorrelation</a:t>
            </a:r>
            <a:r>
              <a:rPr lang="en-US" sz="1800" dirty="0"/>
              <a:t>, meaning counties with similar college attainment levels tend to cluster geographically.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6CDA9E-A9BB-9184-A7D4-0FDDED670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00211D-0581-C6CC-8B93-2ED9F8825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161563"/>
            <a:ext cx="7772400" cy="2374704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633CB139-F3FE-1658-2EBA-791E432BC41F}"/>
              </a:ext>
            </a:extLst>
          </p:cNvPr>
          <p:cNvSpPr>
            <a:spLocks/>
          </p:cNvSpPr>
          <p:nvPr/>
        </p:nvSpPr>
        <p:spPr>
          <a:xfrm>
            <a:off x="3088640" y="3795396"/>
            <a:ext cx="3017520" cy="2926080"/>
          </a:xfrm>
          <a:prstGeom prst="ellipse">
            <a:avLst/>
          </a:prstGeom>
          <a:solidFill>
            <a:srgbClr val="FFC000">
              <a:alpha val="5098"/>
            </a:srgbClr>
          </a:solidFill>
          <a:ln w="38100">
            <a:solidFill>
              <a:srgbClr val="C00000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B1921B-8F9B-7DC8-50FF-432A23E7C9C2}"/>
              </a:ext>
            </a:extLst>
          </p:cNvPr>
          <p:cNvSpPr txBox="1"/>
          <p:nvPr/>
        </p:nvSpPr>
        <p:spPr>
          <a:xfrm>
            <a:off x="457200" y="3207456"/>
            <a:ext cx="4008120" cy="7386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Spatial autocorrelation refers to the degree to which values of a variable are similar </a:t>
            </a:r>
            <a:r>
              <a:rPr lang="en-US" sz="1400" b="1" baseline="30000" dirty="0">
                <a:solidFill>
                  <a:srgbClr val="C00000"/>
                </a:solidFill>
              </a:rPr>
              <a:t>(or dissimilar)</a:t>
            </a:r>
            <a:r>
              <a:rPr lang="en-US" sz="1400" b="1" dirty="0">
                <a:solidFill>
                  <a:srgbClr val="C00000"/>
                </a:solidFill>
              </a:rPr>
              <a:t> across nearby geographic locations.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0FB8B-85B7-EDEE-2F2C-04B39A1EBF14}"/>
              </a:ext>
            </a:extLst>
          </p:cNvPr>
          <p:cNvSpPr txBox="1"/>
          <p:nvPr/>
        </p:nvSpPr>
        <p:spPr>
          <a:xfrm>
            <a:off x="5120640" y="3276706"/>
            <a:ext cx="3566160" cy="600164"/>
          </a:xfrm>
          <a:prstGeom prst="rect">
            <a:avLst/>
          </a:prstGeom>
          <a:solidFill>
            <a:srgbClr val="FFD84C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 essence, it captures whether "location matters" in the distribution of </a:t>
            </a:r>
            <a:r>
              <a:rPr lang="en-US" sz="11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 variable </a:t>
            </a:r>
            <a:r>
              <a:rPr lang="en-US" sz="11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(i.e., whether what happens in one place is related to what happens nearby).</a:t>
            </a:r>
          </a:p>
        </p:txBody>
      </p:sp>
    </p:spTree>
    <p:extLst>
      <p:ext uri="{BB962C8B-B14F-4D97-AF65-F5344CB8AC3E}">
        <p14:creationId xmlns:p14="http://schemas.microsoft.com/office/powerpoint/2010/main" val="382710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C315-5B6C-D906-C41F-35B799FB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2638C-C594-EEDD-CD5A-D57EAF600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Spatial Weights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D4046-124A-CF2B-5CC1-7CB0B2F5B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6684"/>
            <a:ext cx="8229600" cy="4939667"/>
          </a:xfrm>
        </p:spPr>
        <p:txBody>
          <a:bodyPr>
            <a:noAutofit/>
          </a:bodyPr>
          <a:lstStyle/>
          <a:p>
            <a:r>
              <a:rPr lang="en-US" sz="1400" dirty="0"/>
              <a:t>To summarize spatial information for the purpose of data analysis, we use an 𝑁×𝑁 matrix, which we will call 𝑊.</a:t>
            </a:r>
          </a:p>
          <a:p>
            <a:r>
              <a:rPr lang="en-US" sz="1400" dirty="0"/>
              <a:t>Given some focal point/area on the map, the term "neighbor" will refer to any other area that is considered geographically 'near'.</a:t>
            </a:r>
          </a:p>
          <a:p>
            <a:r>
              <a:rPr lang="en-US" sz="1400" dirty="0"/>
              <a:t>The meaning is context specific, but with areal data the most common choice is to say that all areas whose borders touch each other are neighbors. Sometimes a distance threshold is used.</a:t>
            </a:r>
          </a:p>
          <a:p>
            <a:pPr lvl="1"/>
            <a:r>
              <a:rPr lang="en-US" sz="1400" dirty="0"/>
              <a:t>"B" for binary; use "W" for row-standardized weights.</a:t>
            </a:r>
          </a:p>
          <a:p>
            <a:pPr lvl="1"/>
            <a:r>
              <a:rPr lang="en-US" sz="1400" dirty="0"/>
              <a:t>Method for determining neighbors:</a:t>
            </a:r>
          </a:p>
          <a:p>
            <a:pPr lvl="2"/>
            <a:r>
              <a:rPr lang="en-US" sz="1400" dirty="0"/>
              <a:t>queen, rook, or k-nearest neighbors (see details </a:t>
            </a:r>
            <a:r>
              <a:rPr lang="en-US" sz="1400" b="1" dirty="0"/>
              <a:t>?shape2mat </a:t>
            </a:r>
            <a:r>
              <a:rPr lang="en-US" sz="1400" dirty="0"/>
              <a:t>for more information)</a:t>
            </a:r>
          </a:p>
          <a:p>
            <a:pPr lvl="1"/>
            <a:endParaRPr lang="en-US" sz="1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5C8707-1682-75F9-26E4-763F50233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BD788FB-DF5B-9A0E-6526-6CC5E6CB5BB9}"/>
              </a:ext>
            </a:extLst>
          </p:cNvPr>
          <p:cNvSpPr txBox="1">
            <a:spLocks/>
          </p:cNvSpPr>
          <p:nvPr/>
        </p:nvSpPr>
        <p:spPr>
          <a:xfrm>
            <a:off x="457200" y="4114800"/>
            <a:ext cx="8229600" cy="24214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W &lt;- shape2mat(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georgia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, style = "W")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# Contiguity condition: queen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# Number of neighbors per unit, summary: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#    Min. 1st Qu.  Median    Mean 3rd Qu.    Max. 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#   1.000   4.000   5.000   5.409   6.000  10.000 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#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# Spatial weights, summary: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#    Min. 1st Qu.  Median    Mean 3rd Qu.    Max. 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#  0.1000  0.1429  0.1667  0.1849  0.2000  1.0000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4E3C50-03DD-0FE6-C527-20B427B67260}"/>
              </a:ext>
            </a:extLst>
          </p:cNvPr>
          <p:cNvSpPr txBox="1"/>
          <p:nvPr/>
        </p:nvSpPr>
        <p:spPr>
          <a:xfrm>
            <a:off x="4049133" y="3744925"/>
            <a:ext cx="1045734" cy="369332"/>
          </a:xfrm>
          <a:prstGeom prst="rect">
            <a:avLst/>
          </a:prstGeom>
          <a:solidFill>
            <a:srgbClr val="C00000"/>
          </a:solidFill>
        </p:spPr>
        <p:txBody>
          <a:bodyPr wrap="none" rtlCol="0" anchor="ctr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561031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469C71-072F-0E19-156A-29F7C3F76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3408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83F7-89EA-9A68-1A69-F5E6FEA87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50E41-2E39-E43E-5295-1F5CA4FD9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B43DE-EACC-8822-7145-5389C9F57F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Spatial Data Science</a:t>
            </a:r>
            <a:br>
              <a:rPr lang="en-US" dirty="0"/>
            </a:br>
            <a:r>
              <a:rPr lang="en-US" dirty="0">
                <a:hlinkClick r:id="rId2"/>
              </a:rPr>
              <a:t>https://r-spatial.org/book/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379B02-505A-1D31-BDF3-236A0DEF4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367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778A9-DF75-760E-5946-D5CB9BB0C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</a:t>
            </a:r>
            <a:br>
              <a:rPr lang="en-US" dirty="0"/>
            </a:br>
            <a:r>
              <a:rPr lang="en-US" b="1" dirty="0"/>
              <a:t>Spatial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C69DB-0DB5-ECA1-24D0-4233342F2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Spatial regression</a:t>
            </a:r>
            <a:br>
              <a:rPr lang="en-US" dirty="0"/>
            </a:br>
            <a:r>
              <a:rPr lang="en-US" dirty="0">
                <a:hlinkClick r:id="rId2"/>
              </a:rPr>
              <a:t>https://r-spatial.org/book/16-SpatialRegression.html</a:t>
            </a:r>
            <a:endParaRPr lang="en-US" dirty="0"/>
          </a:p>
          <a:p>
            <a:r>
              <a:rPr lang="en-US" dirty="0"/>
              <a:t>Spatial econometrics models</a:t>
            </a:r>
            <a:br>
              <a:rPr lang="en-US" dirty="0"/>
            </a:br>
            <a:r>
              <a:rPr lang="en-US" dirty="0">
                <a:hlinkClick r:id="rId3"/>
              </a:rPr>
              <a:t>https://r-spatial.org/book/17-Econometrics.html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08ED0-60BE-81B0-39D1-0C0EE44FD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416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AD8946F-0F31-3B4A-8CB9-5FA22C3CE7DB}" vid="{C0D572B3-B117-984B-94A9-96E09E0151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1655</TotalTime>
  <Words>847</Words>
  <Application>Microsoft Macintosh PowerPoint</Application>
  <PresentationFormat>On-screen Show (4:3)</PresentationFormat>
  <Paragraphs>85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Consolas</vt:lpstr>
      <vt:lpstr>Office Theme</vt:lpstr>
      <vt:lpstr>Spatial Statistics</vt:lpstr>
      <vt:lpstr>Introduction</vt:lpstr>
      <vt:lpstr>ESDA</vt:lpstr>
      <vt:lpstr>Spatial Diagnostic Summary</vt:lpstr>
      <vt:lpstr>Spatial Diagnostic Summary</vt:lpstr>
      <vt:lpstr>PowerPoint Presentation</vt:lpstr>
      <vt:lpstr>PowerPoint Presentation</vt:lpstr>
      <vt:lpstr>Spatial Weights Matrix</vt:lpstr>
      <vt:lpstr>PowerPoint Presentation</vt:lpstr>
      <vt:lpstr>References</vt:lpstr>
      <vt:lpstr>Next Spatial Modeling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Alexander Abuabara</dc:creator>
  <cp:keywords/>
  <dc:description/>
  <cp:lastModifiedBy>Alexander Abuabara</cp:lastModifiedBy>
  <cp:revision>149</cp:revision>
  <dcterms:created xsi:type="dcterms:W3CDTF">2026-03-25T20:47:13Z</dcterms:created>
  <dcterms:modified xsi:type="dcterms:W3CDTF">2026-04-06T19:02:02Z</dcterms:modified>
  <cp:category/>
</cp:coreProperties>
</file>