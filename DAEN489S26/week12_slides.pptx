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6"/>
  </p:notesMasterIdLst>
  <p:sldIdLst>
    <p:sldId id="256" r:id="rId2"/>
    <p:sldId id="317" r:id="rId3"/>
    <p:sldId id="336" r:id="rId4"/>
    <p:sldId id="344" r:id="rId5"/>
    <p:sldId id="361" r:id="rId6"/>
    <p:sldId id="359" r:id="rId7"/>
    <p:sldId id="360" r:id="rId8"/>
    <p:sldId id="347" r:id="rId9"/>
    <p:sldId id="345" r:id="rId10"/>
    <p:sldId id="348" r:id="rId11"/>
    <p:sldId id="349" r:id="rId12"/>
    <p:sldId id="350" r:id="rId13"/>
    <p:sldId id="346" r:id="rId14"/>
    <p:sldId id="351" r:id="rId15"/>
    <p:sldId id="352" r:id="rId16"/>
    <p:sldId id="364" r:id="rId17"/>
    <p:sldId id="353" r:id="rId18"/>
    <p:sldId id="363" r:id="rId19"/>
    <p:sldId id="362" r:id="rId20"/>
    <p:sldId id="354" r:id="rId21"/>
    <p:sldId id="356" r:id="rId22"/>
    <p:sldId id="357" r:id="rId23"/>
    <p:sldId id="343" r:id="rId24"/>
    <p:sldId id="305"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5A1FBEB-8E98-2648-AACA-444C6CF94B58}">
          <p14:sldIdLst>
            <p14:sldId id="256"/>
            <p14:sldId id="317"/>
          </p14:sldIdLst>
        </p14:section>
        <p14:section name="ESDA and Autocorrelation" id="{726521BA-6FDD-E141-85CC-06ADFED5112F}">
          <p14:sldIdLst>
            <p14:sldId id="336"/>
            <p14:sldId id="344"/>
            <p14:sldId id="361"/>
            <p14:sldId id="359"/>
            <p14:sldId id="360"/>
            <p14:sldId id="347"/>
            <p14:sldId id="345"/>
            <p14:sldId id="348"/>
            <p14:sldId id="349"/>
            <p14:sldId id="350"/>
            <p14:sldId id="346"/>
            <p14:sldId id="351"/>
            <p14:sldId id="352"/>
            <p14:sldId id="364"/>
            <p14:sldId id="353"/>
            <p14:sldId id="363"/>
            <p14:sldId id="362"/>
            <p14:sldId id="354"/>
          </p14:sldIdLst>
        </p14:section>
        <p14:section name="Point-pattern" id="{3B4263D5-AE2C-504D-A27F-EEEB4EBC5B3D}">
          <p14:sldIdLst>
            <p14:sldId id="356"/>
          </p14:sldIdLst>
        </p14:section>
        <p14:section name="Interpolation" id="{8107A08D-8E25-5A4B-B6E5-4FDF6CDDA291}">
          <p14:sldIdLst>
            <p14:sldId id="357"/>
          </p14:sldIdLst>
        </p14:section>
        <p14:section name="References" id="{80CE1547-8FED-EB40-BEB2-D4CEAADA67FE}">
          <p14:sldIdLst>
            <p14:sldId id="343"/>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84C"/>
    <a:srgbClr val="FFC000"/>
    <a:srgbClr val="C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120"/>
    <p:restoredTop sz="95545"/>
  </p:normalViewPr>
  <p:slideViewPr>
    <p:cSldViewPr snapToGrid="0">
      <p:cViewPr>
        <p:scale>
          <a:sx n="108" d="100"/>
          <a:sy n="108" d="100"/>
        </p:scale>
        <p:origin x="1816" y="6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4FB6DC-B598-8B49-8FDB-37BE75E655AD}" type="datetimeFigureOut">
              <a:rPr lang="en-US" smtClean="0"/>
              <a:t>4/6/26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215A32-F46A-7344-9EED-8329BFD45968}" type="slidenum">
              <a:rPr lang="en-US" smtClean="0"/>
              <a:t>‹#›</a:t>
            </a:fld>
            <a:endParaRPr lang="en-US"/>
          </a:p>
        </p:txBody>
      </p:sp>
    </p:spTree>
    <p:extLst>
      <p:ext uri="{BB962C8B-B14F-4D97-AF65-F5344CB8AC3E}">
        <p14:creationId xmlns:p14="http://schemas.microsoft.com/office/powerpoint/2010/main" val="1041731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EA6D9-2D7F-9442-BED1-4D7FFC9A34F4}" type="datetime1">
              <a:rPr lang="en-US" smtClean="0"/>
              <a:t>4/6/26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AE58ED-569E-7141-BEA4-8F66F85D6EA8}" type="datetime1">
              <a:rPr lang="en-US" smtClean="0"/>
              <a:t>4/6/26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32CD10-D7BB-1A41-A802-BCEB6EE7274C}" type="datetime1">
              <a:rPr lang="en-US" smtClean="0"/>
              <a:t>4/6/26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37563A2C-1A5C-EB4D-A972-6AE3285E62FE}" type="datetime1">
              <a:rPr lang="en-US" smtClean="0"/>
              <a:t>4/6/26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5CC0F2D4-C57D-2449-85CE-67A0F42FDA3B}" type="datetime1">
              <a:rPr lang="en-US" smtClean="0"/>
              <a:t>4/6/26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165B4F-A2D4-8548-B798-9B676580887F}" type="datetime1">
              <a:rPr lang="en-US" smtClean="0"/>
              <a:t>4/6/26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23453A-5CCA-2B47-B840-00C815B24B38}" type="datetime1">
              <a:rPr lang="en-US" smtClean="0"/>
              <a:t>4/6/26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088FA9-E09B-F247-9C69-3141F5729F41}" type="datetime1">
              <a:rPr lang="en-US" smtClean="0"/>
              <a:t>4/6/26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r4ds.had.co.nz/exploratory-data-analysis.html"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desktop.arcgis.com/en/arcmap/latest/tools/spatial-statistics-toolbox/h-how-spatial-autocorrelation-moran-s-i-spatial-st.htm" TargetMode="External"/><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hyperlink" Target="https://gis.stackexchange.com/questions/421403/using-weight-component-in-moran-i-calculation" TargetMode="Externa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cran.r-project.org/web/packages/geostan/vignettes/measuring-sa.html" TargetMode="External"/><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r-spatial.org/book/"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r-spatial.org/book/17-Econometrics.html" TargetMode="External"/><Relationship Id="rId2" Type="http://schemas.openxmlformats.org/officeDocument/2006/relationships/hyperlink" Target="https://r-spatial.org/book/16-SpatialRegression.html"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Spatial Statistics</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C4A8EBE0-BF84-E506-2E75-D9731D5BB8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0D4F4-56EF-F0A2-DABF-D2E0DDA1155F}"/>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4F257A74-6E54-A3C6-164F-19148FEF3388}"/>
              </a:ext>
            </a:extLst>
          </p:cNvPr>
          <p:cNvSpPr>
            <a:spLocks noGrp="1"/>
          </p:cNvSpPr>
          <p:nvPr>
            <p:ph idx="1"/>
          </p:nvPr>
        </p:nvSpPr>
        <p:spPr/>
        <p:txBody>
          <a:bodyPr>
            <a:noAutofit/>
          </a:bodyPr>
          <a:lstStyle/>
          <a:p>
            <a:r>
              <a:rPr lang="en-US" sz="2200" dirty="0"/>
              <a:t>Exploratory spatial data analysis</a:t>
            </a:r>
          </a:p>
          <a:p>
            <a:r>
              <a:rPr lang="en-US" sz="2200" dirty="0"/>
              <a:t>Measures of Spatial Autocorrelation</a:t>
            </a:r>
          </a:p>
          <a:p>
            <a:r>
              <a:rPr lang="en-US" sz="2200" dirty="0"/>
              <a:t>Point Pattern Analysis</a:t>
            </a:r>
          </a:p>
          <a:p>
            <a:r>
              <a:rPr lang="en-US" sz="2200" dirty="0"/>
              <a:t>Spatial Interpolation</a:t>
            </a:r>
          </a:p>
        </p:txBody>
      </p:sp>
      <p:sp>
        <p:nvSpPr>
          <p:cNvPr id="4" name="Slide Number Placeholder 3">
            <a:extLst>
              <a:ext uri="{FF2B5EF4-FFF2-40B4-BE49-F238E27FC236}">
                <a16:creationId xmlns:a16="http://schemas.microsoft.com/office/drawing/2014/main" id="{9E65888D-A593-654D-089C-4B3A6249D528}"/>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20410934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F6F88-6323-2A0E-407C-0CA9E0344F2C}"/>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6B002690-4C33-925D-21A5-1837F5C78086}"/>
              </a:ext>
            </a:extLst>
          </p:cNvPr>
          <p:cNvSpPr>
            <a:spLocks noGrp="1"/>
          </p:cNvSpPr>
          <p:nvPr>
            <p:ph idx="1"/>
          </p:nvPr>
        </p:nvSpPr>
        <p:spPr>
          <a:xfrm>
            <a:off x="457200" y="1416684"/>
            <a:ext cx="8229600" cy="4939667"/>
          </a:xfrm>
        </p:spPr>
        <p:txBody>
          <a:bodyPr>
            <a:noAutofit/>
          </a:bodyPr>
          <a:lstStyle/>
          <a:p>
            <a:r>
              <a:rPr lang="en-US" sz="1800" dirty="0"/>
              <a:t>Exploratory Data Analysis (EDA) uses a range of visual techniques (such as histograms, scatter plots, and similar tools) to summarize complex datasets.</a:t>
            </a:r>
          </a:p>
          <a:p>
            <a:pPr lvl="1"/>
            <a:r>
              <a:rPr lang="en-US" sz="1800" dirty="0"/>
              <a:t>By </a:t>
            </a:r>
            <a:r>
              <a:rPr lang="en-US" sz="1800" u="sng" dirty="0"/>
              <a:t>condensing</a:t>
            </a:r>
            <a:r>
              <a:rPr lang="en-US" sz="1800" dirty="0"/>
              <a:t> the data and </a:t>
            </a:r>
            <a:r>
              <a:rPr lang="en-US" sz="1800" u="sng" dirty="0"/>
              <a:t>filtering out</a:t>
            </a:r>
            <a:r>
              <a:rPr lang="en-US" sz="1800" dirty="0"/>
              <a:t> less relevant details, these methods highlight key </a:t>
            </a:r>
            <a:r>
              <a:rPr lang="en-US" sz="1800" b="1" dirty="0"/>
              <a:t>patterns</a:t>
            </a:r>
            <a:r>
              <a:rPr lang="en-US" sz="1800" dirty="0"/>
              <a:t>, </a:t>
            </a:r>
            <a:r>
              <a:rPr lang="en-US" sz="1800" b="1" dirty="0"/>
              <a:t>trends</a:t>
            </a:r>
            <a:r>
              <a:rPr lang="en-US" sz="1800" dirty="0"/>
              <a:t>, and </a:t>
            </a:r>
            <a:r>
              <a:rPr lang="en-US" sz="1800" b="1" dirty="0"/>
              <a:t>variations</a:t>
            </a:r>
            <a:r>
              <a:rPr lang="en-US" sz="1800" dirty="0"/>
              <a:t>, making the most important features easier to interpret.</a:t>
            </a:r>
          </a:p>
        </p:txBody>
      </p:sp>
      <p:sp>
        <p:nvSpPr>
          <p:cNvPr id="4" name="Slide Number Placeholder 3">
            <a:extLst>
              <a:ext uri="{FF2B5EF4-FFF2-40B4-BE49-F238E27FC236}">
                <a16:creationId xmlns:a16="http://schemas.microsoft.com/office/drawing/2014/main" id="{73D24484-BA1F-A97D-DBB9-E1A062068687}"/>
              </a:ext>
            </a:extLst>
          </p:cNvPr>
          <p:cNvSpPr>
            <a:spLocks noGrp="1"/>
          </p:cNvSpPr>
          <p:nvPr>
            <p:ph type="sldNum" sz="quarter" idx="12"/>
          </p:nvPr>
        </p:nvSpPr>
        <p:spPr/>
        <p:txBody>
          <a:bodyPr/>
          <a:lstStyle/>
          <a:p>
            <a:fld id="{C0343C75-1924-D247-85A3-0CB62E67E5D1}" type="slidenum">
              <a:rPr lang="en-US" smtClean="0"/>
              <a:t>3</a:t>
            </a:fld>
            <a:endParaRPr lang="en-US"/>
          </a:p>
        </p:txBody>
      </p:sp>
      <p:grpSp>
        <p:nvGrpSpPr>
          <p:cNvPr id="7" name="Group 6">
            <a:extLst>
              <a:ext uri="{FF2B5EF4-FFF2-40B4-BE49-F238E27FC236}">
                <a16:creationId xmlns:a16="http://schemas.microsoft.com/office/drawing/2014/main" id="{59DA0F38-A2E5-6160-BCDE-E86663166283}"/>
              </a:ext>
            </a:extLst>
          </p:cNvPr>
          <p:cNvGrpSpPr/>
          <p:nvPr/>
        </p:nvGrpSpPr>
        <p:grpSpPr>
          <a:xfrm>
            <a:off x="1051560" y="2974018"/>
            <a:ext cx="7040880" cy="3564896"/>
            <a:chOff x="1197032" y="3083926"/>
            <a:chExt cx="7040880" cy="3564896"/>
          </a:xfrm>
        </p:grpSpPr>
        <p:pic>
          <p:nvPicPr>
            <p:cNvPr id="5" name="Picture 4">
              <a:extLst>
                <a:ext uri="{FF2B5EF4-FFF2-40B4-BE49-F238E27FC236}">
                  <a16:creationId xmlns:a16="http://schemas.microsoft.com/office/drawing/2014/main" id="{045B6701-151D-2BD5-2516-2383AAAB756B}"/>
                </a:ext>
              </a:extLst>
            </p:cNvPr>
            <p:cNvPicPr>
              <a:picLocks noChangeAspect="1"/>
            </p:cNvPicPr>
            <p:nvPr/>
          </p:nvPicPr>
          <p:blipFill>
            <a:blip r:embed="rId2"/>
            <a:srcRect t="10469" b="9916"/>
            <a:stretch>
              <a:fillRect/>
            </a:stretch>
          </p:blipFill>
          <p:spPr>
            <a:xfrm>
              <a:off x="1197032" y="4294455"/>
              <a:ext cx="7040880" cy="2354367"/>
            </a:xfrm>
            <a:prstGeom prst="rect">
              <a:avLst/>
            </a:prstGeom>
          </p:spPr>
        </p:pic>
        <p:pic>
          <p:nvPicPr>
            <p:cNvPr id="6" name="Picture 5">
              <a:extLst>
                <a:ext uri="{FF2B5EF4-FFF2-40B4-BE49-F238E27FC236}">
                  <a16:creationId xmlns:a16="http://schemas.microsoft.com/office/drawing/2014/main" id="{A5D5B142-65A1-3DE6-A288-C2C80BD6930C}"/>
                </a:ext>
              </a:extLst>
            </p:cNvPr>
            <p:cNvPicPr>
              <a:picLocks noChangeAspect="1"/>
            </p:cNvPicPr>
            <p:nvPr/>
          </p:nvPicPr>
          <p:blipFill>
            <a:blip r:embed="rId3"/>
            <a:srcRect t="4213" b="3812"/>
            <a:stretch>
              <a:fillRect/>
            </a:stretch>
          </p:blipFill>
          <p:spPr>
            <a:xfrm>
              <a:off x="1517072" y="3083926"/>
              <a:ext cx="6400800" cy="2943575"/>
            </a:xfrm>
            <a:prstGeom prst="rect">
              <a:avLst/>
            </a:prstGeom>
          </p:spPr>
        </p:pic>
      </p:grpSp>
    </p:spTree>
    <p:extLst>
      <p:ext uri="{BB962C8B-B14F-4D97-AF65-F5344CB8AC3E}">
        <p14:creationId xmlns:p14="http://schemas.microsoft.com/office/powerpoint/2010/main" val="40578303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5A0F6-67E4-849A-B4E5-B7E1D3E964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6A9A9-E414-6ABF-6E76-4D39E714A74A}"/>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06D342E5-F82C-7554-61EA-7965B26E075C}"/>
              </a:ext>
            </a:extLst>
          </p:cNvPr>
          <p:cNvSpPr>
            <a:spLocks noGrp="1"/>
          </p:cNvSpPr>
          <p:nvPr>
            <p:ph idx="1"/>
          </p:nvPr>
        </p:nvSpPr>
        <p:spPr>
          <a:xfrm>
            <a:off x="457200" y="1140032"/>
            <a:ext cx="8229600" cy="5216320"/>
          </a:xfrm>
        </p:spPr>
        <p:txBody>
          <a:bodyPr>
            <a:noAutofit/>
          </a:bodyPr>
          <a:lstStyle/>
          <a:p>
            <a:pPr marL="0" indent="0">
              <a:buNone/>
            </a:pPr>
            <a:r>
              <a:rPr lang="en-US" sz="1800" b="1" dirty="0"/>
              <a:t>Questions</a:t>
            </a:r>
          </a:p>
          <a:p>
            <a:r>
              <a:rPr lang="en-US" sz="1800" dirty="0"/>
              <a:t>Your goal during EDA is to develop an understanding of your data.</a:t>
            </a:r>
          </a:p>
          <a:p>
            <a:pPr lvl="1"/>
            <a:r>
              <a:rPr lang="en-US" sz="1600" dirty="0"/>
              <a:t>The easiest way to do this is to use questions as tools to guide your investigation:</a:t>
            </a:r>
          </a:p>
          <a:p>
            <a:pPr marL="800100" lvl="1" indent="-342900">
              <a:buFont typeface="+mj-lt"/>
              <a:buAutoNum type="arabicPeriod"/>
            </a:pPr>
            <a:r>
              <a:rPr lang="en-US" sz="1600" dirty="0"/>
              <a:t>What type of variation occurs within my variables?</a:t>
            </a:r>
          </a:p>
          <a:p>
            <a:pPr marL="800100" lvl="1" indent="-342900">
              <a:buFont typeface="+mj-lt"/>
              <a:buAutoNum type="arabicPeriod"/>
            </a:pPr>
            <a:r>
              <a:rPr lang="en-US" sz="1600" dirty="0"/>
              <a:t>What type of covariation occurs between my variables?</a:t>
            </a:r>
          </a:p>
          <a:p>
            <a:r>
              <a:rPr lang="en-US" sz="1800" dirty="0"/>
              <a:t>Variation is the tendency of the values of a variable to change from measurement to measurement.</a:t>
            </a:r>
          </a:p>
          <a:p>
            <a:pPr lvl="1"/>
            <a:r>
              <a:rPr lang="en-US" sz="1600" dirty="0"/>
              <a:t>Visualizing distributions:</a:t>
            </a:r>
          </a:p>
        </p:txBody>
      </p:sp>
      <p:sp>
        <p:nvSpPr>
          <p:cNvPr id="4" name="Slide Number Placeholder 3">
            <a:extLst>
              <a:ext uri="{FF2B5EF4-FFF2-40B4-BE49-F238E27FC236}">
                <a16:creationId xmlns:a16="http://schemas.microsoft.com/office/drawing/2014/main" id="{7E602E20-9D16-8446-1F54-1BA728C530DB}"/>
              </a:ext>
            </a:extLst>
          </p:cNvPr>
          <p:cNvSpPr>
            <a:spLocks noGrp="1"/>
          </p:cNvSpPr>
          <p:nvPr>
            <p:ph type="sldNum" sz="quarter" idx="12"/>
          </p:nvPr>
        </p:nvSpPr>
        <p:spPr/>
        <p:txBody>
          <a:bodyPr/>
          <a:lstStyle/>
          <a:p>
            <a:fld id="{C0343C75-1924-D247-85A3-0CB62E67E5D1}" type="slidenum">
              <a:rPr lang="en-US" smtClean="0"/>
              <a:t>4</a:t>
            </a:fld>
            <a:endParaRPr lang="en-US"/>
          </a:p>
        </p:txBody>
      </p:sp>
      <p:sp>
        <p:nvSpPr>
          <p:cNvPr id="5" name="Content Placeholder 2">
            <a:extLst>
              <a:ext uri="{FF2B5EF4-FFF2-40B4-BE49-F238E27FC236}">
                <a16:creationId xmlns:a16="http://schemas.microsoft.com/office/drawing/2014/main" id="{046E5102-B399-EDF3-F949-D51A3C405115}"/>
              </a:ext>
            </a:extLst>
          </p:cNvPr>
          <p:cNvSpPr txBox="1">
            <a:spLocks/>
          </p:cNvSpPr>
          <p:nvPr/>
        </p:nvSpPr>
        <p:spPr>
          <a:xfrm>
            <a:off x="457200" y="3515096"/>
            <a:ext cx="8229600" cy="3021172"/>
          </a:xfrm>
          <a:prstGeom prst="rect">
            <a:avLst/>
          </a:prstGeom>
        </p:spPr>
        <p:txBody>
          <a:bodyPr vert="horz" lIns="91440" tIns="45720" rIns="91440" bIns="45720" numCol="3"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library(ggplot2)</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summary(</a:t>
            </a:r>
            <a:r>
              <a:rPr lang="en-US" sz="1200" b="1" dirty="0" err="1">
                <a:latin typeface="Consolas" panose="020B0609020204030204" pitchFamily="49" charset="0"/>
                <a:cs typeface="Consolas" panose="020B0609020204030204" pitchFamily="49" charset="0"/>
              </a:rPr>
              <a:t>diamonds$cut</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Fair       1610</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Good       4906</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Very Good 12082</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Premium   13791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Ideal     21551</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count(cut)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cut           n</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&lt;</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ord</a:t>
            </a:r>
            <a:r>
              <a:rPr lang="en-US" sz="1200" b="1" dirty="0">
                <a:solidFill>
                  <a:schemeClr val="tx1">
                    <a:lumMod val="65000"/>
                    <a:lumOff val="35000"/>
                  </a:schemeClr>
                </a:solidFill>
                <a:latin typeface="Consolas" panose="020B0609020204030204" pitchFamily="49" charset="0"/>
                <a:cs typeface="Consolas" panose="020B0609020204030204" pitchFamily="49" charset="0"/>
              </a:rPr>
              <a:t>&gt;     &lt;int&gt;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1 Fair       1610</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2 Good       4906</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3 Very Good 12082</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4 Premium   13791</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5 Ideal     21551</a:t>
            </a: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11113"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11113" indent="0">
              <a:lnSpc>
                <a:spcPct val="100000"/>
              </a:lnSpc>
              <a:spcBef>
                <a:spcPts val="400"/>
              </a:spcBef>
              <a:buNone/>
            </a:pPr>
            <a:r>
              <a:rPr lang="en-US" sz="1200" b="1" dirty="0" err="1">
                <a:latin typeface="Consolas" panose="020B0609020204030204" pitchFamily="49" charset="0"/>
                <a:cs typeface="Consolas" panose="020B0609020204030204" pitchFamily="49" charset="0"/>
              </a:rPr>
              <a:t>ggplot</a:t>
            </a:r>
            <a:r>
              <a:rPr lang="en-US" sz="1200" b="1" dirty="0">
                <a:latin typeface="Consolas" panose="020B0609020204030204" pitchFamily="49" charset="0"/>
                <a:cs typeface="Consolas" panose="020B0609020204030204" pitchFamily="49" charset="0"/>
              </a:rPr>
              <a:t>(data = diamonds) +</a:t>
            </a:r>
            <a:br>
              <a:rPr lang="en-US" sz="1200" b="1" dirty="0">
                <a:latin typeface="Consolas" panose="020B0609020204030204" pitchFamily="49" charset="0"/>
                <a:cs typeface="Consolas" panose="020B0609020204030204" pitchFamily="49" charset="0"/>
              </a:rPr>
            </a:br>
            <a:r>
              <a:rPr lang="en-US" sz="1200" b="1" dirty="0">
                <a:latin typeface="Consolas" panose="020B0609020204030204" pitchFamily="49" charset="0"/>
                <a:cs typeface="Consolas" panose="020B0609020204030204" pitchFamily="49" charset="0"/>
              </a:rPr>
              <a:t> </a:t>
            </a:r>
            <a:r>
              <a:rPr lang="en-US" sz="1200" b="1" dirty="0" err="1">
                <a:latin typeface="Consolas" panose="020B0609020204030204" pitchFamily="49" charset="0"/>
                <a:cs typeface="Consolas" panose="020B0609020204030204" pitchFamily="49" charset="0"/>
              </a:rPr>
              <a:t>geom_bar</a:t>
            </a:r>
            <a:r>
              <a:rPr lang="en-US" sz="1200" b="1" dirty="0">
                <a:latin typeface="Consolas" panose="020B0609020204030204" pitchFamily="49" charset="0"/>
                <a:cs typeface="Consolas" panose="020B0609020204030204" pitchFamily="49" charset="0"/>
              </a:rPr>
              <a:t>(mapping = </a:t>
            </a:r>
            <a:r>
              <a:rPr lang="en-US" sz="1200" b="1" dirty="0" err="1">
                <a:latin typeface="Consolas" panose="020B0609020204030204" pitchFamily="49" charset="0"/>
                <a:cs typeface="Consolas" panose="020B0609020204030204" pitchFamily="49" charset="0"/>
              </a:rPr>
              <a:t>aes</a:t>
            </a:r>
            <a:r>
              <a:rPr lang="en-US" sz="1200" b="1" dirty="0">
                <a:latin typeface="Consolas" panose="020B0609020204030204" pitchFamily="49" charset="0"/>
                <a:cs typeface="Consolas" panose="020B0609020204030204" pitchFamily="49" charset="0"/>
              </a:rPr>
              <a:t>(x=cut))</a:t>
            </a:r>
          </a:p>
        </p:txBody>
      </p:sp>
      <p:sp>
        <p:nvSpPr>
          <p:cNvPr id="6" name="TextBox 5">
            <a:extLst>
              <a:ext uri="{FF2B5EF4-FFF2-40B4-BE49-F238E27FC236}">
                <a16:creationId xmlns:a16="http://schemas.microsoft.com/office/drawing/2014/main" id="{98AD22AD-BAFB-97D4-F581-A4DE8C026BE3}"/>
              </a:ext>
            </a:extLst>
          </p:cNvPr>
          <p:cNvSpPr txBox="1"/>
          <p:nvPr/>
        </p:nvSpPr>
        <p:spPr>
          <a:xfrm>
            <a:off x="3964173" y="3357750"/>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1</a:t>
            </a:r>
          </a:p>
        </p:txBody>
      </p:sp>
      <p:pic>
        <p:nvPicPr>
          <p:cNvPr id="7" name="Picture 6">
            <a:extLst>
              <a:ext uri="{FF2B5EF4-FFF2-40B4-BE49-F238E27FC236}">
                <a16:creationId xmlns:a16="http://schemas.microsoft.com/office/drawing/2014/main" id="{C44B6937-AE1A-97C1-6B2E-2DA8A7E4C7D8}"/>
              </a:ext>
            </a:extLst>
          </p:cNvPr>
          <p:cNvPicPr>
            <a:picLocks noChangeAspect="1"/>
          </p:cNvPicPr>
          <p:nvPr/>
        </p:nvPicPr>
        <p:blipFill>
          <a:blip r:embed="rId2"/>
          <a:stretch>
            <a:fillRect/>
          </a:stretch>
        </p:blipFill>
        <p:spPr>
          <a:xfrm>
            <a:off x="5484302" y="4218004"/>
            <a:ext cx="3202498" cy="1976144"/>
          </a:xfrm>
          <a:prstGeom prst="rect">
            <a:avLst/>
          </a:prstGeom>
        </p:spPr>
      </p:pic>
      <p:sp>
        <p:nvSpPr>
          <p:cNvPr id="8" name="TextBox 7">
            <a:extLst>
              <a:ext uri="{FF2B5EF4-FFF2-40B4-BE49-F238E27FC236}">
                <a16:creationId xmlns:a16="http://schemas.microsoft.com/office/drawing/2014/main" id="{6ACC22BE-8639-3BBE-FA4E-4DB6FD6B97B8}"/>
              </a:ext>
            </a:extLst>
          </p:cNvPr>
          <p:cNvSpPr txBox="1"/>
          <p:nvPr/>
        </p:nvSpPr>
        <p:spPr>
          <a:xfrm>
            <a:off x="457200" y="6013048"/>
            <a:ext cx="4340291" cy="523220"/>
          </a:xfrm>
          <a:prstGeom prst="rect">
            <a:avLst/>
          </a:prstGeom>
          <a:solidFill>
            <a:srgbClr val="FFC000"/>
          </a:solidFill>
        </p:spPr>
        <p:txBody>
          <a:bodyPr wrap="none" rtlCol="0">
            <a:spAutoFit/>
          </a:bodyPr>
          <a:lstStyle/>
          <a:p>
            <a:r>
              <a:rPr lang="en-US" sz="1400" b="1" dirty="0"/>
              <a:t>R for Data Science</a:t>
            </a:r>
            <a:r>
              <a:rPr lang="en-US" sz="1400" dirty="0"/>
              <a:t> Exploratory Data Analysis</a:t>
            </a:r>
          </a:p>
          <a:p>
            <a:r>
              <a:rPr lang="en-US" sz="1400" dirty="0">
                <a:hlinkClick r:id="rId3"/>
              </a:rPr>
              <a:t>https://r4ds.had.co.nz/exploratory-data-analysis.html</a:t>
            </a:r>
            <a:endParaRPr lang="en-US" sz="1400" dirty="0"/>
          </a:p>
        </p:txBody>
      </p:sp>
    </p:spTree>
    <p:extLst>
      <p:ext uri="{BB962C8B-B14F-4D97-AF65-F5344CB8AC3E}">
        <p14:creationId xmlns:p14="http://schemas.microsoft.com/office/powerpoint/2010/main" val="16712537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C0537-7835-CB49-E1F8-84412910B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68579C-C432-5B32-986B-3959D7BCBA7C}"/>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4B8419CE-B26D-5B84-1FB9-E3F06D943C7C}"/>
              </a:ext>
            </a:extLst>
          </p:cNvPr>
          <p:cNvSpPr>
            <a:spLocks noGrp="1"/>
          </p:cNvSpPr>
          <p:nvPr>
            <p:ph idx="1"/>
          </p:nvPr>
        </p:nvSpPr>
        <p:spPr>
          <a:xfrm>
            <a:off x="457200" y="1140032"/>
            <a:ext cx="8229600" cy="5216320"/>
          </a:xfrm>
        </p:spPr>
        <p:txBody>
          <a:bodyPr>
            <a:noAutofit/>
          </a:bodyPr>
          <a:lstStyle/>
          <a:p>
            <a:pPr marL="0" indent="0">
              <a:buNone/>
            </a:pPr>
            <a:r>
              <a:rPr lang="en-US" sz="1800" b="1" dirty="0"/>
              <a:t>Missing Values</a:t>
            </a:r>
          </a:p>
          <a:p>
            <a:r>
              <a:rPr lang="en-US" sz="1800" dirty="0"/>
              <a:t>If you've encountered unusual values in your dataset and simply want to move on to the rest of your analysis, you have two options:</a:t>
            </a:r>
          </a:p>
          <a:p>
            <a:pPr marL="800100" lvl="1" indent="-342900">
              <a:buFont typeface="+mj-lt"/>
              <a:buAutoNum type="arabicPeriod"/>
            </a:pPr>
            <a:r>
              <a:rPr lang="en-US" sz="1800" dirty="0"/>
              <a:t>Drop the entire row with the strange values.</a:t>
            </a:r>
          </a:p>
          <a:p>
            <a:pPr marL="800100" lvl="1" indent="-342900">
              <a:buFont typeface="+mj-lt"/>
              <a:buAutoNum type="arabicPeriod"/>
            </a:pPr>
            <a:r>
              <a:rPr lang="en-US" sz="1800" dirty="0"/>
              <a:t>Replacing the unusual values with missing values.</a:t>
            </a:r>
          </a:p>
        </p:txBody>
      </p:sp>
      <p:sp>
        <p:nvSpPr>
          <p:cNvPr id="4" name="Slide Number Placeholder 3">
            <a:extLst>
              <a:ext uri="{FF2B5EF4-FFF2-40B4-BE49-F238E27FC236}">
                <a16:creationId xmlns:a16="http://schemas.microsoft.com/office/drawing/2014/main" id="{537EC484-A42F-8E01-A75E-E2F1ECEC6D1C}"/>
              </a:ext>
            </a:extLst>
          </p:cNvPr>
          <p:cNvSpPr>
            <a:spLocks noGrp="1"/>
          </p:cNvSpPr>
          <p:nvPr>
            <p:ph type="sldNum" sz="quarter" idx="12"/>
          </p:nvPr>
        </p:nvSpPr>
        <p:spPr/>
        <p:txBody>
          <a:bodyPr/>
          <a:lstStyle/>
          <a:p>
            <a:fld id="{C0343C75-1924-D247-85A3-0CB62E67E5D1}" type="slidenum">
              <a:rPr lang="en-US" smtClean="0"/>
              <a:t>5</a:t>
            </a:fld>
            <a:endParaRPr lang="en-US"/>
          </a:p>
        </p:txBody>
      </p:sp>
      <p:sp>
        <p:nvSpPr>
          <p:cNvPr id="5" name="Content Placeholder 2">
            <a:extLst>
              <a:ext uri="{FF2B5EF4-FFF2-40B4-BE49-F238E27FC236}">
                <a16:creationId xmlns:a16="http://schemas.microsoft.com/office/drawing/2014/main" id="{CD24F4C2-12EB-211D-4C8E-7451DA484FD8}"/>
              </a:ext>
            </a:extLst>
          </p:cNvPr>
          <p:cNvSpPr txBox="1">
            <a:spLocks/>
          </p:cNvSpPr>
          <p:nvPr/>
        </p:nvSpPr>
        <p:spPr>
          <a:xfrm>
            <a:off x="457200" y="3108346"/>
            <a:ext cx="8229600" cy="3427922"/>
          </a:xfrm>
          <a:prstGeom prst="rect">
            <a:avLst/>
          </a:prstGeom>
        </p:spPr>
        <p:txBody>
          <a:bodyPr vert="horz" lIns="91440" tIns="45720" rIns="91440" bIns="45720" numCol="3"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I don't recommend this option</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bc</a:t>
            </a:r>
            <a:r>
              <a:rPr lang="en-US" sz="1200" dirty="0">
                <a:latin typeface="Consolas" panose="020B0609020204030204" pitchFamily="49" charset="0"/>
                <a:cs typeface="Consolas" panose="020B0609020204030204" pitchFamily="49" charset="0"/>
              </a:rPr>
              <a:t> just because one </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measurement is invalid, </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doesn't mean all the</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measurements are</a:t>
            </a: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diamonds2 &lt;- 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filter(between(y, 3, 20))</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diamonds2 &lt;- 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mutate(y = </a:t>
            </a:r>
            <a:r>
              <a:rPr lang="en-US" sz="1200" b="1" dirty="0" err="1">
                <a:latin typeface="Consolas" panose="020B0609020204030204" pitchFamily="49" charset="0"/>
                <a:cs typeface="Consolas" panose="020B0609020204030204" pitchFamily="49" charset="0"/>
              </a:rPr>
              <a:t>ifelse</a:t>
            </a:r>
            <a:r>
              <a:rPr lang="en-US" sz="1200" b="1" dirty="0">
                <a:latin typeface="Consolas" panose="020B0609020204030204" pitchFamily="49" charset="0"/>
                <a:cs typeface="Consolas" panose="020B0609020204030204" pitchFamily="49" charset="0"/>
              </a:rPr>
              <a:t>(y &lt; 3 | y &gt; 20, NA, y))</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latin typeface="Consolas" panose="020B0609020204030204" pitchFamily="49" charset="0"/>
                <a:cs typeface="Consolas" panose="020B0609020204030204" pitchFamily="49" charset="0"/>
              </a:rPr>
              <a:t>ggplot</a:t>
            </a:r>
            <a:r>
              <a:rPr lang="en-US" sz="1200" b="1" dirty="0">
                <a:latin typeface="Consolas" panose="020B0609020204030204" pitchFamily="49" charset="0"/>
                <a:cs typeface="Consolas" panose="020B0609020204030204" pitchFamily="49" charset="0"/>
              </a:rPr>
              <a:t>(data = diamonds2,</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mapping = </a:t>
            </a:r>
            <a:r>
              <a:rPr lang="en-US" sz="1200" b="1" dirty="0" err="1">
                <a:latin typeface="Consolas" panose="020B0609020204030204" pitchFamily="49" charset="0"/>
                <a:cs typeface="Consolas" panose="020B0609020204030204" pitchFamily="49" charset="0"/>
              </a:rPr>
              <a:t>aes</a:t>
            </a:r>
            <a:r>
              <a:rPr lang="en-US" sz="1200" b="1" dirty="0">
                <a:latin typeface="Consolas" panose="020B0609020204030204" pitchFamily="49" charset="0"/>
                <a:cs typeface="Consolas" panose="020B0609020204030204" pitchFamily="49" charset="0"/>
              </a:rPr>
              <a:t>(x = x,</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y = y))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a:t>
            </a:r>
            <a:r>
              <a:rPr lang="en-US" sz="1200" b="1" dirty="0" err="1">
                <a:latin typeface="Consolas" panose="020B0609020204030204" pitchFamily="49" charset="0"/>
                <a:cs typeface="Consolas" panose="020B0609020204030204" pitchFamily="49" charset="0"/>
              </a:rPr>
              <a:t>geom_point</a:t>
            </a:r>
            <a:r>
              <a:rPr lang="en-US" sz="1200" b="1" dirty="0">
                <a:latin typeface="Consolas" panose="020B0609020204030204" pitchFamily="49" charset="0"/>
                <a:cs typeface="Consolas" panose="020B0609020204030204" pitchFamily="49" charset="0"/>
              </a:rPr>
              <a:t>(</a:t>
            </a:r>
            <a:r>
              <a:rPr lang="en-US" sz="1200" b="1" dirty="0" err="1">
                <a:highlight>
                  <a:srgbClr val="FFFF00"/>
                </a:highlight>
                <a:latin typeface="Consolas" panose="020B0609020204030204" pitchFamily="49" charset="0"/>
                <a:cs typeface="Consolas" panose="020B0609020204030204" pitchFamily="49" charset="0"/>
              </a:rPr>
              <a:t>na.rm</a:t>
            </a:r>
            <a:r>
              <a:rPr lang="en-US" sz="1200" b="1" dirty="0">
                <a:highlight>
                  <a:srgbClr val="FFFF00"/>
                </a:highlight>
                <a:latin typeface="Consolas" panose="020B0609020204030204" pitchFamily="49" charset="0"/>
                <a:cs typeface="Consolas" panose="020B0609020204030204" pitchFamily="49" charset="0"/>
              </a:rPr>
              <a:t> = TRUE</a:t>
            </a:r>
            <a:r>
              <a:rPr lang="en-US" sz="1200" b="1" dirty="0">
                <a:latin typeface="Consolas" panose="020B0609020204030204" pitchFamily="49" charset="0"/>
                <a:cs typeface="Consolas" panose="020B0609020204030204" pitchFamily="49" charset="0"/>
              </a:rPr>
              <a:t>)</a:t>
            </a: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p:txBody>
      </p:sp>
      <p:sp>
        <p:nvSpPr>
          <p:cNvPr id="6" name="TextBox 5">
            <a:extLst>
              <a:ext uri="{FF2B5EF4-FFF2-40B4-BE49-F238E27FC236}">
                <a16:creationId xmlns:a16="http://schemas.microsoft.com/office/drawing/2014/main" id="{47E97A06-6F5C-AD13-26CB-CECD3C900AA7}"/>
              </a:ext>
            </a:extLst>
          </p:cNvPr>
          <p:cNvSpPr txBox="1"/>
          <p:nvPr/>
        </p:nvSpPr>
        <p:spPr>
          <a:xfrm>
            <a:off x="3964173" y="2896398"/>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1</a:t>
            </a:r>
          </a:p>
        </p:txBody>
      </p:sp>
      <p:pic>
        <p:nvPicPr>
          <p:cNvPr id="8" name="Picture 7">
            <a:extLst>
              <a:ext uri="{FF2B5EF4-FFF2-40B4-BE49-F238E27FC236}">
                <a16:creationId xmlns:a16="http://schemas.microsoft.com/office/drawing/2014/main" id="{85D8A36F-0ABA-60EE-5559-F1A6CE0D569F}"/>
              </a:ext>
            </a:extLst>
          </p:cNvPr>
          <p:cNvPicPr>
            <a:picLocks noChangeAspect="1"/>
          </p:cNvPicPr>
          <p:nvPr/>
        </p:nvPicPr>
        <p:blipFill>
          <a:blip r:embed="rId2"/>
          <a:stretch>
            <a:fillRect/>
          </a:stretch>
        </p:blipFill>
        <p:spPr>
          <a:xfrm>
            <a:off x="6126480" y="4138088"/>
            <a:ext cx="2560320" cy="1579880"/>
          </a:xfrm>
          <a:prstGeom prst="rect">
            <a:avLst/>
          </a:prstGeom>
        </p:spPr>
      </p:pic>
      <p:sp>
        <p:nvSpPr>
          <p:cNvPr id="9" name="TextBox 8">
            <a:extLst>
              <a:ext uri="{FF2B5EF4-FFF2-40B4-BE49-F238E27FC236}">
                <a16:creationId xmlns:a16="http://schemas.microsoft.com/office/drawing/2014/main" id="{AA5F970B-39E8-0223-1BB2-0E38C59D51A4}"/>
              </a:ext>
            </a:extLst>
          </p:cNvPr>
          <p:cNvSpPr txBox="1"/>
          <p:nvPr/>
        </p:nvSpPr>
        <p:spPr>
          <a:xfrm>
            <a:off x="2833752" y="5799979"/>
            <a:ext cx="3476496" cy="646331"/>
          </a:xfrm>
          <a:prstGeom prst="rect">
            <a:avLst/>
          </a:prstGeom>
          <a:solidFill>
            <a:srgbClr val="FFC000"/>
          </a:solidFill>
        </p:spPr>
        <p:txBody>
          <a:bodyPr wrap="square" rtlCol="0">
            <a:spAutoFit/>
          </a:bodyPr>
          <a:lstStyle/>
          <a:p>
            <a:pPr algn="ctr"/>
            <a:r>
              <a:rPr lang="en-US" b="1" dirty="0">
                <a:solidFill>
                  <a:srgbClr val="7030A0"/>
                </a:solidFill>
              </a:rPr>
              <a:t>missing values should never silently go missing</a:t>
            </a:r>
          </a:p>
        </p:txBody>
      </p:sp>
      <p:sp>
        <p:nvSpPr>
          <p:cNvPr id="10" name="TextBox 9">
            <a:extLst>
              <a:ext uri="{FF2B5EF4-FFF2-40B4-BE49-F238E27FC236}">
                <a16:creationId xmlns:a16="http://schemas.microsoft.com/office/drawing/2014/main" id="{E86C914F-536A-DBD6-19AC-C3A7CF85A921}"/>
              </a:ext>
            </a:extLst>
          </p:cNvPr>
          <p:cNvSpPr txBox="1"/>
          <p:nvPr/>
        </p:nvSpPr>
        <p:spPr>
          <a:xfrm>
            <a:off x="2114490" y="5797875"/>
            <a:ext cx="800219" cy="830997"/>
          </a:xfrm>
          <a:prstGeom prst="rect">
            <a:avLst/>
          </a:prstGeom>
          <a:noFill/>
        </p:spPr>
        <p:txBody>
          <a:bodyPr wrap="none" rtlCol="0">
            <a:spAutoFit/>
          </a:bodyPr>
          <a:lstStyle/>
          <a:p>
            <a:r>
              <a:rPr lang="en-US" sz="4800" dirty="0"/>
              <a:t>🥸</a:t>
            </a:r>
          </a:p>
        </p:txBody>
      </p:sp>
    </p:spTree>
    <p:extLst>
      <p:ext uri="{BB962C8B-B14F-4D97-AF65-F5344CB8AC3E}">
        <p14:creationId xmlns:p14="http://schemas.microsoft.com/office/powerpoint/2010/main" val="35278538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CB32-C173-B837-76EA-CABB16AABC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8850D4-5775-0675-37B0-E6A72D15F14A}"/>
              </a:ext>
            </a:extLst>
          </p:cNvPr>
          <p:cNvSpPr>
            <a:spLocks noGrp="1"/>
          </p:cNvSpPr>
          <p:nvPr>
            <p:ph type="title"/>
          </p:nvPr>
        </p:nvSpPr>
        <p:spPr/>
        <p:txBody>
          <a:bodyPr anchor="ctr"/>
          <a:lstStyle/>
          <a:p>
            <a:r>
              <a:rPr lang="en-US" b="1" dirty="0"/>
              <a:t>Exploratory Spatial Data Analysis (ESDA)</a:t>
            </a:r>
          </a:p>
        </p:txBody>
      </p:sp>
      <p:sp>
        <p:nvSpPr>
          <p:cNvPr id="3" name="Content Placeholder 2">
            <a:extLst>
              <a:ext uri="{FF2B5EF4-FFF2-40B4-BE49-F238E27FC236}">
                <a16:creationId xmlns:a16="http://schemas.microsoft.com/office/drawing/2014/main" id="{B90DBCA9-641A-1002-4426-F6F967D0C2C2}"/>
              </a:ext>
            </a:extLst>
          </p:cNvPr>
          <p:cNvSpPr>
            <a:spLocks noGrp="1"/>
          </p:cNvSpPr>
          <p:nvPr>
            <p:ph idx="1"/>
          </p:nvPr>
        </p:nvSpPr>
        <p:spPr>
          <a:xfrm>
            <a:off x="457200" y="1416684"/>
            <a:ext cx="8229600" cy="4939667"/>
          </a:xfrm>
        </p:spPr>
        <p:txBody>
          <a:bodyPr>
            <a:noAutofit/>
          </a:bodyPr>
          <a:lstStyle/>
          <a:p>
            <a:r>
              <a:rPr lang="en-US" sz="1800" dirty="0"/>
              <a:t>ESDA </a:t>
            </a:r>
            <a:r>
              <a:rPr lang="en-US" sz="1800" b="1" dirty="0"/>
              <a:t>extends</a:t>
            </a:r>
            <a:r>
              <a:rPr lang="en-US" sz="1800" dirty="0"/>
              <a:t> traditional EDA by incorporating the </a:t>
            </a:r>
            <a:r>
              <a:rPr lang="en-US" sz="1800" u="sng" dirty="0"/>
              <a:t>spatial dimension</a:t>
            </a:r>
            <a:r>
              <a:rPr lang="en-US" sz="1800" dirty="0"/>
              <a:t> of data.</a:t>
            </a:r>
          </a:p>
          <a:p>
            <a:pPr lvl="1"/>
            <a:r>
              <a:rPr lang="en-US" sz="1800" dirty="0"/>
              <a:t>In addition to standard visual summaries, it </a:t>
            </a:r>
            <a:r>
              <a:rPr lang="en-US" sz="1800" u="sng" dirty="0"/>
              <a:t>emphasizes mapping</a:t>
            </a:r>
            <a:r>
              <a:rPr lang="en-US" sz="1800" dirty="0"/>
              <a:t> (including residual patterns), breaking down spatial structures into meaningful components, and quantifying the degree of spatial dependence or clustering.</a:t>
            </a:r>
          </a:p>
          <a:p>
            <a:pPr lvl="1"/>
            <a:r>
              <a:rPr lang="en-US" sz="1800" dirty="0"/>
              <a:t>By highlighting unusual observations (such as </a:t>
            </a:r>
            <a:r>
              <a:rPr lang="en-US" sz="1800" u="sng" dirty="0"/>
              <a:t>values that differ markedly from their neighbors</a:t>
            </a:r>
            <a:r>
              <a:rPr lang="en-US" sz="1800" dirty="0"/>
              <a:t>), ESDA allows analysts to interpret these </a:t>
            </a:r>
            <a:r>
              <a:rPr lang="en-US" sz="1800" b="1" dirty="0"/>
              <a:t>patterns</a:t>
            </a:r>
            <a:r>
              <a:rPr lang="en-US" sz="1800" dirty="0"/>
              <a:t> in their geographic context.</a:t>
            </a:r>
          </a:p>
          <a:p>
            <a:pPr lvl="1"/>
            <a:r>
              <a:rPr lang="en-US" sz="1800" dirty="0"/>
              <a:t>More broadly, the principles of exploratory analysis emphasize </a:t>
            </a:r>
            <a:r>
              <a:rPr lang="en-US" sz="1800" u="sng" dirty="0"/>
              <a:t>open-ended investigation</a:t>
            </a:r>
            <a:r>
              <a:rPr lang="en-US" sz="1800" dirty="0"/>
              <a:t> and typically </a:t>
            </a:r>
            <a:r>
              <a:rPr lang="en-US" sz="1800" u="sng" dirty="0"/>
              <a:t>avoid formal hypothesis testing</a:t>
            </a:r>
            <a:r>
              <a:rPr lang="en-US" sz="1800" dirty="0"/>
              <a:t> in the early stages of analysis.</a:t>
            </a:r>
          </a:p>
        </p:txBody>
      </p:sp>
      <p:sp>
        <p:nvSpPr>
          <p:cNvPr id="4" name="Slide Number Placeholder 3">
            <a:extLst>
              <a:ext uri="{FF2B5EF4-FFF2-40B4-BE49-F238E27FC236}">
                <a16:creationId xmlns:a16="http://schemas.microsoft.com/office/drawing/2014/main" id="{8EB122BE-B5E2-B812-31A5-773D90C106BC}"/>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3769686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948F-2B1A-1B1D-44F9-9A1EC8DC0A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1A78BC-26EA-AD21-18B5-3DF9B6242F34}"/>
              </a:ext>
            </a:extLst>
          </p:cNvPr>
          <p:cNvSpPr>
            <a:spLocks noGrp="1"/>
          </p:cNvSpPr>
          <p:nvPr>
            <p:ph type="title"/>
          </p:nvPr>
        </p:nvSpPr>
        <p:spPr/>
        <p:txBody>
          <a:bodyPr anchor="ctr"/>
          <a:lstStyle/>
          <a:p>
            <a:r>
              <a:rPr lang="en-US" b="1" dirty="0"/>
              <a:t>Spatial Diagnostic Summary</a:t>
            </a:r>
          </a:p>
        </p:txBody>
      </p:sp>
      <p:sp>
        <p:nvSpPr>
          <p:cNvPr id="3" name="Content Placeholder 2">
            <a:extLst>
              <a:ext uri="{FF2B5EF4-FFF2-40B4-BE49-F238E27FC236}">
                <a16:creationId xmlns:a16="http://schemas.microsoft.com/office/drawing/2014/main" id="{C21542E9-15BA-3D14-00DB-755C475238B7}"/>
              </a:ext>
            </a:extLst>
          </p:cNvPr>
          <p:cNvSpPr>
            <a:spLocks noGrp="1"/>
          </p:cNvSpPr>
          <p:nvPr>
            <p:ph idx="1"/>
          </p:nvPr>
        </p:nvSpPr>
        <p:spPr>
          <a:xfrm>
            <a:off x="457200" y="1416684"/>
            <a:ext cx="8229600" cy="4939667"/>
          </a:xfrm>
        </p:spPr>
        <p:txBody>
          <a:bodyPr>
            <a:noAutofit/>
          </a:bodyPr>
          <a:lstStyle/>
          <a:p>
            <a:r>
              <a:rPr lang="en-US" sz="1800" dirty="0"/>
              <a:t>If we pass any variable x and its corresponding spatial object (e.g., simple features) to the </a:t>
            </a:r>
            <a:r>
              <a:rPr lang="en-US" sz="1800" b="1" dirty="0" err="1"/>
              <a:t>sp_diag</a:t>
            </a:r>
            <a:r>
              <a:rPr lang="en-US" sz="1800" b="1" dirty="0"/>
              <a:t> </a:t>
            </a:r>
            <a:r>
              <a:rPr lang="en-US" sz="1800" dirty="0"/>
              <a:t>function, it returns a histogram, Moran scatter plot, and map of the estimates:</a:t>
            </a:r>
          </a:p>
        </p:txBody>
      </p:sp>
      <p:sp>
        <p:nvSpPr>
          <p:cNvPr id="4" name="Slide Number Placeholder 3">
            <a:extLst>
              <a:ext uri="{FF2B5EF4-FFF2-40B4-BE49-F238E27FC236}">
                <a16:creationId xmlns:a16="http://schemas.microsoft.com/office/drawing/2014/main" id="{F2836FAC-C356-6F5D-F2DF-BC6698B88B25}"/>
              </a:ext>
            </a:extLst>
          </p:cNvPr>
          <p:cNvSpPr>
            <a:spLocks noGrp="1"/>
          </p:cNvSpPr>
          <p:nvPr>
            <p:ph type="sldNum" sz="quarter" idx="12"/>
          </p:nvPr>
        </p:nvSpPr>
        <p:spPr/>
        <p:txBody>
          <a:bodyPr/>
          <a:lstStyle/>
          <a:p>
            <a:fld id="{C0343C75-1924-D247-85A3-0CB62E67E5D1}" type="slidenum">
              <a:rPr lang="en-US" smtClean="0"/>
              <a:t>7</a:t>
            </a:fld>
            <a:endParaRPr lang="en-US"/>
          </a:p>
        </p:txBody>
      </p:sp>
      <p:sp>
        <p:nvSpPr>
          <p:cNvPr id="5" name="Content Placeholder 2">
            <a:extLst>
              <a:ext uri="{FF2B5EF4-FFF2-40B4-BE49-F238E27FC236}">
                <a16:creationId xmlns:a16="http://schemas.microsoft.com/office/drawing/2014/main" id="{DCAFB22B-EC57-2C17-EF6C-8AE63B7069DE}"/>
              </a:ext>
            </a:extLst>
          </p:cNvPr>
          <p:cNvSpPr txBox="1">
            <a:spLocks/>
          </p:cNvSpPr>
          <p:nvPr/>
        </p:nvSpPr>
        <p:spPr>
          <a:xfrm>
            <a:off x="457200" y="2511306"/>
            <a:ext cx="8229600" cy="40249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a:t>
            </a:r>
            <a:r>
              <a:rPr lang="en-US" sz="1200" b="1" dirty="0" err="1">
                <a:latin typeface="Consolas" panose="020B0609020204030204" pitchFamily="49" charset="0"/>
                <a:cs typeface="Consolas" panose="020B0609020204030204" pitchFamily="49" charset="0"/>
              </a:rPr>
              <a:t>geostan</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library(ggplot2)</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a:t>
            </a:r>
            <a:r>
              <a:rPr lang="en-US" sz="1200" b="1" dirty="0" err="1">
                <a:latin typeface="Consolas" panose="020B0609020204030204" pitchFamily="49" charset="0"/>
                <a:cs typeface="Consolas" panose="020B0609020204030204" pitchFamily="49" charset="0"/>
              </a:rPr>
              <a:t>gridExtra</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data("</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highlight>
                  <a:srgbClr val="FFFF00"/>
                </a:highlight>
                <a:latin typeface="Consolas" panose="020B0609020204030204" pitchFamily="49" charset="0"/>
                <a:cs typeface="Consolas" panose="020B0609020204030204" pitchFamily="49" charset="0"/>
              </a:rPr>
              <a:t>summary(</a:t>
            </a:r>
            <a:r>
              <a:rPr lang="en-US" sz="1200" b="1" dirty="0" err="1">
                <a:highlight>
                  <a:srgbClr val="FFFF00"/>
                </a:highlight>
                <a:latin typeface="Consolas" panose="020B0609020204030204" pitchFamily="49" charset="0"/>
                <a:cs typeface="Consolas" panose="020B0609020204030204" pitchFamily="49" charset="0"/>
              </a:rPr>
              <a:t>georgia$college</a:t>
            </a:r>
            <a:r>
              <a:rPr lang="en-US" sz="1200" b="1" dirty="0">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7.0    12.0    15.2    18.2    21.4    51.7 </a:t>
            </a:r>
          </a:p>
        </p:txBody>
      </p:sp>
      <p:sp>
        <p:nvSpPr>
          <p:cNvPr id="6" name="TextBox 5">
            <a:extLst>
              <a:ext uri="{FF2B5EF4-FFF2-40B4-BE49-F238E27FC236}">
                <a16:creationId xmlns:a16="http://schemas.microsoft.com/office/drawing/2014/main" id="{C226F259-1536-F4D3-F31A-6F586B8269DF}"/>
              </a:ext>
            </a:extLst>
          </p:cNvPr>
          <p:cNvSpPr txBox="1"/>
          <p:nvPr/>
        </p:nvSpPr>
        <p:spPr>
          <a:xfrm>
            <a:off x="3964173" y="2326097"/>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2</a:t>
            </a:r>
          </a:p>
        </p:txBody>
      </p:sp>
    </p:spTree>
    <p:extLst>
      <p:ext uri="{BB962C8B-B14F-4D97-AF65-F5344CB8AC3E}">
        <p14:creationId xmlns:p14="http://schemas.microsoft.com/office/powerpoint/2010/main" val="1970980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A9FC1-06EB-2699-FFA2-1078A94D47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33B54-1962-5316-BE65-22F0625EBA12}"/>
              </a:ext>
            </a:extLst>
          </p:cNvPr>
          <p:cNvSpPr>
            <a:spLocks noGrp="1"/>
          </p:cNvSpPr>
          <p:nvPr>
            <p:ph type="title"/>
          </p:nvPr>
        </p:nvSpPr>
        <p:spPr/>
        <p:txBody>
          <a:bodyPr anchor="ctr"/>
          <a:lstStyle/>
          <a:p>
            <a:r>
              <a:rPr lang="en-US" dirty="0"/>
              <a:t>Spatial Diagnostic Summary</a:t>
            </a:r>
          </a:p>
        </p:txBody>
      </p:sp>
      <p:sp>
        <p:nvSpPr>
          <p:cNvPr id="3" name="Content Placeholder 2">
            <a:extLst>
              <a:ext uri="{FF2B5EF4-FFF2-40B4-BE49-F238E27FC236}">
                <a16:creationId xmlns:a16="http://schemas.microsoft.com/office/drawing/2014/main" id="{CF9FF396-579B-0FC4-3D52-912A19ED8B7B}"/>
              </a:ext>
            </a:extLst>
          </p:cNvPr>
          <p:cNvSpPr>
            <a:spLocks noGrp="1"/>
          </p:cNvSpPr>
          <p:nvPr>
            <p:ph idx="1"/>
          </p:nvPr>
        </p:nvSpPr>
        <p:spPr>
          <a:xfrm>
            <a:off x="457200" y="1416684"/>
            <a:ext cx="8229600" cy="4939667"/>
          </a:xfrm>
        </p:spPr>
        <p:txBody>
          <a:bodyPr>
            <a:noAutofit/>
          </a:bodyPr>
          <a:lstStyle/>
          <a:p>
            <a:r>
              <a:rPr lang="en-US" sz="1800" dirty="0"/>
              <a:t>If we pass any variable x and its corresponding spatial object (e.g., simple features) to the </a:t>
            </a:r>
            <a:r>
              <a:rPr lang="en-US" sz="1800" b="1" dirty="0" err="1"/>
              <a:t>sp_diag</a:t>
            </a:r>
            <a:r>
              <a:rPr lang="en-US" sz="1800" b="1" dirty="0"/>
              <a:t> </a:t>
            </a:r>
            <a:r>
              <a:rPr lang="en-US" sz="1800" dirty="0"/>
              <a:t>function, it returns a histogram, Moran scatter plot, and map of the estimates:</a:t>
            </a:r>
          </a:p>
        </p:txBody>
      </p:sp>
      <p:sp>
        <p:nvSpPr>
          <p:cNvPr id="4" name="Slide Number Placeholder 3">
            <a:extLst>
              <a:ext uri="{FF2B5EF4-FFF2-40B4-BE49-F238E27FC236}">
                <a16:creationId xmlns:a16="http://schemas.microsoft.com/office/drawing/2014/main" id="{C11ECC80-AC18-A3FE-C652-14317D409C31}"/>
              </a:ext>
            </a:extLst>
          </p:cNvPr>
          <p:cNvSpPr>
            <a:spLocks noGrp="1"/>
          </p:cNvSpPr>
          <p:nvPr>
            <p:ph type="sldNum" sz="quarter" idx="12"/>
          </p:nvPr>
        </p:nvSpPr>
        <p:spPr/>
        <p:txBody>
          <a:bodyPr/>
          <a:lstStyle/>
          <a:p>
            <a:fld id="{C0343C75-1924-D247-85A3-0CB62E67E5D1}" type="slidenum">
              <a:rPr lang="en-US" smtClean="0"/>
              <a:t>8</a:t>
            </a:fld>
            <a:endParaRPr lang="en-US"/>
          </a:p>
        </p:txBody>
      </p:sp>
      <p:sp>
        <p:nvSpPr>
          <p:cNvPr id="5" name="Content Placeholder 2">
            <a:extLst>
              <a:ext uri="{FF2B5EF4-FFF2-40B4-BE49-F238E27FC236}">
                <a16:creationId xmlns:a16="http://schemas.microsoft.com/office/drawing/2014/main" id="{2F3C7D18-1B3D-1465-DB15-266C53B3C1EC}"/>
              </a:ext>
            </a:extLst>
          </p:cNvPr>
          <p:cNvSpPr txBox="1">
            <a:spLocks/>
          </p:cNvSpPr>
          <p:nvPr/>
        </p:nvSpPr>
        <p:spPr>
          <a:xfrm>
            <a:off x="457200" y="2511306"/>
            <a:ext cx="8229600" cy="40249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a:t>
            </a:r>
            <a:r>
              <a:rPr lang="en-US" sz="1200" b="1" dirty="0" err="1">
                <a:latin typeface="Consolas" panose="020B0609020204030204" pitchFamily="49" charset="0"/>
                <a:cs typeface="Consolas" panose="020B0609020204030204" pitchFamily="49" charset="0"/>
              </a:rPr>
              <a:t>geostan</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library(ggplot2)</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a:t>
            </a:r>
            <a:r>
              <a:rPr lang="en-US" sz="1200" b="1" dirty="0" err="1">
                <a:latin typeface="Consolas" panose="020B0609020204030204" pitchFamily="49" charset="0"/>
                <a:cs typeface="Consolas" panose="020B0609020204030204" pitchFamily="49" charset="0"/>
              </a:rPr>
              <a:t>gridExtra</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data("</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highlight>
                  <a:srgbClr val="FFFF00"/>
                </a:highlight>
                <a:latin typeface="Consolas" panose="020B0609020204030204" pitchFamily="49" charset="0"/>
                <a:cs typeface="Consolas" panose="020B0609020204030204" pitchFamily="49" charset="0"/>
              </a:rPr>
              <a:t>sp_diag</a:t>
            </a:r>
            <a:r>
              <a:rPr lang="en-US" sz="1200" b="1" dirty="0">
                <a:highlight>
                  <a:srgbClr val="FFFF00"/>
                </a:highlight>
                <a:latin typeface="Consolas" panose="020B0609020204030204" pitchFamily="49" charset="0"/>
                <a:cs typeface="Consolas" panose="020B0609020204030204" pitchFamily="49" charset="0"/>
              </a:rPr>
              <a:t>(</a:t>
            </a:r>
            <a:r>
              <a:rPr lang="en-US" sz="1200" b="1" dirty="0" err="1">
                <a:highlight>
                  <a:srgbClr val="FFFF00"/>
                </a:highlight>
                <a:latin typeface="Consolas" panose="020B0609020204030204" pitchFamily="49" charset="0"/>
                <a:cs typeface="Consolas" panose="020B0609020204030204" pitchFamily="49" charset="0"/>
              </a:rPr>
              <a:t>georgia$college</a:t>
            </a:r>
            <a:r>
              <a:rPr lang="en-US" sz="1200" b="1" dirty="0">
                <a:highlight>
                  <a:srgbClr val="FFFF00"/>
                </a:highlight>
                <a:latin typeface="Consolas" panose="020B0609020204030204" pitchFamily="49" charset="0"/>
                <a:cs typeface="Consolas" panose="020B0609020204030204" pitchFamily="49" charset="0"/>
              </a:rPr>
              <a:t>, </a:t>
            </a:r>
            <a:r>
              <a:rPr lang="en-US" sz="1200" b="1" dirty="0" err="1">
                <a:highlight>
                  <a:srgbClr val="FFFF00"/>
                </a:highlight>
                <a:latin typeface="Consolas" panose="020B0609020204030204" pitchFamily="49" charset="0"/>
                <a:cs typeface="Consolas" panose="020B0609020204030204" pitchFamily="49" charset="0"/>
              </a:rPr>
              <a:t>georgia</a:t>
            </a:r>
            <a:r>
              <a:rPr lang="en-US" sz="1200" b="1" dirty="0">
                <a:highlight>
                  <a:srgbClr val="FFFF00"/>
                </a:highlight>
                <a:latin typeface="Consolas" panose="020B0609020204030204" pitchFamily="49" charset="0"/>
                <a:cs typeface="Consolas" panose="020B0609020204030204" pitchFamily="49" charset="0"/>
              </a:rPr>
              <a:t>, name = "College (%)")</a:t>
            </a:r>
          </a:p>
        </p:txBody>
      </p:sp>
      <p:sp>
        <p:nvSpPr>
          <p:cNvPr id="6" name="TextBox 5">
            <a:extLst>
              <a:ext uri="{FF2B5EF4-FFF2-40B4-BE49-F238E27FC236}">
                <a16:creationId xmlns:a16="http://schemas.microsoft.com/office/drawing/2014/main" id="{D83C3E2E-EC8D-76C3-980E-B0A912CB3036}"/>
              </a:ext>
            </a:extLst>
          </p:cNvPr>
          <p:cNvSpPr txBox="1"/>
          <p:nvPr/>
        </p:nvSpPr>
        <p:spPr>
          <a:xfrm>
            <a:off x="3964173" y="2327105"/>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2</a:t>
            </a:r>
          </a:p>
        </p:txBody>
      </p:sp>
      <p:pic>
        <p:nvPicPr>
          <p:cNvPr id="7" name="Picture 6">
            <a:extLst>
              <a:ext uri="{FF2B5EF4-FFF2-40B4-BE49-F238E27FC236}">
                <a16:creationId xmlns:a16="http://schemas.microsoft.com/office/drawing/2014/main" id="{C4B1D7CC-74E0-32B8-0ECF-5C12F2B15F33}"/>
              </a:ext>
            </a:extLst>
          </p:cNvPr>
          <p:cNvPicPr>
            <a:picLocks noChangeAspect="1"/>
          </p:cNvPicPr>
          <p:nvPr/>
        </p:nvPicPr>
        <p:blipFill>
          <a:blip r:embed="rId2"/>
          <a:stretch>
            <a:fillRect/>
          </a:stretch>
        </p:blipFill>
        <p:spPr>
          <a:xfrm>
            <a:off x="685800" y="4161563"/>
            <a:ext cx="7772400" cy="2374704"/>
          </a:xfrm>
          <a:prstGeom prst="rect">
            <a:avLst/>
          </a:prstGeom>
        </p:spPr>
      </p:pic>
    </p:spTree>
    <p:extLst>
      <p:ext uri="{BB962C8B-B14F-4D97-AF65-F5344CB8AC3E}">
        <p14:creationId xmlns:p14="http://schemas.microsoft.com/office/powerpoint/2010/main" val="2149050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46FAF-0A58-A3BA-74A8-936E0A3F71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01CEB3-889F-0CF7-5429-63BD8F57861C}"/>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800" dirty="0"/>
              <a:t>The spatial lag (y-axis) represents the </a:t>
            </a:r>
            <a:r>
              <a:rPr lang="en-US" sz="1800" u="sng" dirty="0"/>
              <a:t>average value</a:t>
            </a:r>
            <a:r>
              <a:rPr lang="en-US" sz="1800" dirty="0"/>
              <a:t> of the variable in neighboring locations for each observation.</a:t>
            </a:r>
          </a:p>
          <a:p>
            <a:pPr lvl="1"/>
            <a:r>
              <a:rPr lang="en-US" sz="1600" dirty="0"/>
              <a:t>In this case, for each county, it is the average College (%) of its neighboring counties.</a:t>
            </a:r>
          </a:p>
          <a:p>
            <a:pPr lvl="1"/>
            <a:r>
              <a:rPr lang="en-US" sz="1600" dirty="0"/>
              <a:t>It provides a way to compare a location's value (x-axis) with the surrounding context.</a:t>
            </a:r>
          </a:p>
          <a:p>
            <a:pPr lvl="2"/>
            <a:r>
              <a:rPr lang="en-US" sz="1600" dirty="0"/>
              <a:t>Points along the upward trend indicate that counties with high (or low) college attainment tend to be surrounded by similar counties.</a:t>
            </a:r>
          </a:p>
          <a:p>
            <a:pPr lvl="2"/>
            <a:r>
              <a:rPr lang="en-US" sz="1600" dirty="0"/>
              <a:t>Points far from the trend suggest local anomalies (e.g., a county very different from its neighbors).</a:t>
            </a:r>
          </a:p>
          <a:p>
            <a:pPr lvl="1"/>
            <a:r>
              <a:rPr lang="en-US" sz="1600" b="1" dirty="0"/>
              <a:t>Spatial Weights Matrix </a:t>
            </a:r>
            <a:r>
              <a:rPr lang="en-US" sz="1600" dirty="0"/>
              <a:t>(𝑊): Defines the structure of the neighborhood. Common types include connectivity </a:t>
            </a:r>
            <a:r>
              <a:rPr lang="en-US" sz="1600" baseline="30000" dirty="0"/>
              <a:t>(neighbors get equal weight)</a:t>
            </a:r>
            <a:r>
              <a:rPr lang="en-US" sz="1600" dirty="0"/>
              <a:t> and inverse distance </a:t>
            </a:r>
            <a:r>
              <a:rPr lang="en-US" sz="1600" baseline="30000" dirty="0"/>
              <a:t>(closer neighbors get higher weight)</a:t>
            </a:r>
            <a:r>
              <a:rPr lang="en-US" sz="1600" dirty="0"/>
              <a:t>.</a:t>
            </a:r>
          </a:p>
        </p:txBody>
      </p:sp>
      <p:sp>
        <p:nvSpPr>
          <p:cNvPr id="4" name="Slide Number Placeholder 3">
            <a:extLst>
              <a:ext uri="{FF2B5EF4-FFF2-40B4-BE49-F238E27FC236}">
                <a16:creationId xmlns:a16="http://schemas.microsoft.com/office/drawing/2014/main" id="{57B853FC-DD10-4B16-03F6-972DC000AC14}"/>
              </a:ext>
            </a:extLst>
          </p:cNvPr>
          <p:cNvSpPr>
            <a:spLocks noGrp="1"/>
          </p:cNvSpPr>
          <p:nvPr>
            <p:ph type="sldNum" sz="quarter" idx="12"/>
          </p:nvPr>
        </p:nvSpPr>
        <p:spPr/>
        <p:txBody>
          <a:bodyPr/>
          <a:lstStyle/>
          <a:p>
            <a:fld id="{C0343C75-1924-D247-85A3-0CB62E67E5D1}" type="slidenum">
              <a:rPr lang="en-US" smtClean="0"/>
              <a:t>9</a:t>
            </a:fld>
            <a:endParaRPr lang="en-US"/>
          </a:p>
        </p:txBody>
      </p:sp>
      <p:pic>
        <p:nvPicPr>
          <p:cNvPr id="7" name="Picture 6">
            <a:extLst>
              <a:ext uri="{FF2B5EF4-FFF2-40B4-BE49-F238E27FC236}">
                <a16:creationId xmlns:a16="http://schemas.microsoft.com/office/drawing/2014/main" id="{54150E02-77AB-34E3-2408-B2D0C61AC0BA}"/>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D9A2F6D5-AB38-EBAA-C89F-A584B3410B67}"/>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699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8C315-5B6C-D906-C41F-35B799FB00D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2D4046-124A-CF2B-5CC1-7CB0B2F5B45E}"/>
              </a:ext>
            </a:extLst>
          </p:cNvPr>
          <p:cNvSpPr>
            <a:spLocks noGrp="1"/>
          </p:cNvSpPr>
          <p:nvPr>
            <p:ph idx="1"/>
          </p:nvPr>
        </p:nvSpPr>
        <p:spPr>
          <a:xfrm>
            <a:off x="457200" y="321734"/>
            <a:ext cx="8229600" cy="6034618"/>
          </a:xfrm>
        </p:spPr>
        <p:txBody>
          <a:bodyPr>
            <a:noAutofit/>
          </a:bodyPr>
          <a:lstStyle/>
          <a:p>
            <a:pPr marL="0" indent="0">
              <a:buNone/>
            </a:pPr>
            <a:r>
              <a:rPr lang="en-US" sz="1800" b="1" dirty="0"/>
              <a:t>Spatial Weights Matrix</a:t>
            </a:r>
          </a:p>
          <a:p>
            <a:r>
              <a:rPr lang="en-US" sz="1400" dirty="0"/>
              <a:t>To summarize spatial information for the purpose of data analysis, we use an 𝑁×𝑁 matrix, which we will call 𝑊.</a:t>
            </a:r>
          </a:p>
          <a:p>
            <a:r>
              <a:rPr lang="en-US" sz="1400" dirty="0"/>
              <a:t>Given some focal point/area on the map, the term "neighbor" will refer to any other area that is considered geographically 'near'.</a:t>
            </a:r>
          </a:p>
          <a:p>
            <a:r>
              <a:rPr lang="en-US" sz="1400" dirty="0"/>
              <a:t>The meaning is context specific, but with areal data the most common choice is to say that all areas whose borders touch each other are neighbors. Sometimes a distance threshold is used.</a:t>
            </a:r>
          </a:p>
          <a:p>
            <a:pPr lvl="1"/>
            <a:r>
              <a:rPr lang="en-US" sz="1400" dirty="0"/>
              <a:t>"B" for binary; use "W" for row-standardized weights.</a:t>
            </a:r>
          </a:p>
          <a:p>
            <a:pPr lvl="1"/>
            <a:r>
              <a:rPr lang="en-US" sz="1400" dirty="0"/>
              <a:t>Method for determining neighbors:</a:t>
            </a:r>
          </a:p>
          <a:p>
            <a:pPr lvl="2"/>
            <a:r>
              <a:rPr lang="en-US" sz="1400" b="1" dirty="0"/>
              <a:t>queen</a:t>
            </a:r>
            <a:r>
              <a:rPr lang="en-US" sz="1400" dirty="0"/>
              <a:t>, </a:t>
            </a:r>
            <a:r>
              <a:rPr lang="en-US" sz="1400" b="1" dirty="0"/>
              <a:t>rook</a:t>
            </a:r>
            <a:r>
              <a:rPr lang="en-US" sz="1400" dirty="0"/>
              <a:t>, or </a:t>
            </a:r>
            <a:r>
              <a:rPr lang="en-US" sz="1400" b="1" dirty="0"/>
              <a:t>k-nearest</a:t>
            </a:r>
            <a:r>
              <a:rPr lang="en-US" sz="1400" dirty="0"/>
              <a:t> neighbors</a:t>
            </a:r>
            <a:br>
              <a:rPr lang="en-US" sz="1400" dirty="0"/>
            </a:br>
            <a:r>
              <a:rPr lang="en-US" sz="1400" dirty="0"/>
              <a:t>(see details </a:t>
            </a:r>
            <a:r>
              <a:rPr lang="en-US" sz="1400" b="1" dirty="0"/>
              <a:t>?shape2mat </a:t>
            </a:r>
            <a:r>
              <a:rPr lang="en-US" sz="1400" dirty="0"/>
              <a:t>for more information)</a:t>
            </a:r>
          </a:p>
          <a:p>
            <a:pPr lvl="1"/>
            <a:endParaRPr lang="en-US" sz="1400" dirty="0"/>
          </a:p>
        </p:txBody>
      </p:sp>
      <p:sp>
        <p:nvSpPr>
          <p:cNvPr id="4" name="Slide Number Placeholder 3">
            <a:extLst>
              <a:ext uri="{FF2B5EF4-FFF2-40B4-BE49-F238E27FC236}">
                <a16:creationId xmlns:a16="http://schemas.microsoft.com/office/drawing/2014/main" id="{525C8707-1682-75F9-26E4-763F502336C4}"/>
              </a:ext>
            </a:extLst>
          </p:cNvPr>
          <p:cNvSpPr>
            <a:spLocks noGrp="1"/>
          </p:cNvSpPr>
          <p:nvPr>
            <p:ph type="sldNum" sz="quarter" idx="12"/>
          </p:nvPr>
        </p:nvSpPr>
        <p:spPr/>
        <p:txBody>
          <a:bodyPr/>
          <a:lstStyle/>
          <a:p>
            <a:fld id="{C0343C75-1924-D247-85A3-0CB62E67E5D1}" type="slidenum">
              <a:rPr lang="en-US" smtClean="0"/>
              <a:t>10</a:t>
            </a:fld>
            <a:endParaRPr lang="en-US"/>
          </a:p>
        </p:txBody>
      </p:sp>
      <p:sp>
        <p:nvSpPr>
          <p:cNvPr id="5" name="Content Placeholder 2">
            <a:extLst>
              <a:ext uri="{FF2B5EF4-FFF2-40B4-BE49-F238E27FC236}">
                <a16:creationId xmlns:a16="http://schemas.microsoft.com/office/drawing/2014/main" id="{BBD788FB-DF5B-9A0E-6526-6CC5E6CB5BB9}"/>
              </a:ext>
            </a:extLst>
          </p:cNvPr>
          <p:cNvSpPr txBox="1">
            <a:spLocks/>
          </p:cNvSpPr>
          <p:nvPr/>
        </p:nvSpPr>
        <p:spPr>
          <a:xfrm>
            <a:off x="457200" y="3934885"/>
            <a:ext cx="8229600" cy="24214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style = "W")</a:t>
            </a:r>
          </a:p>
          <a:p>
            <a:pPr marL="0" indent="0">
              <a:lnSpc>
                <a:spcPct val="100000"/>
              </a:lnSpc>
              <a:spcBef>
                <a:spcPts val="400"/>
              </a:spcBef>
              <a:buNone/>
            </a:pPr>
            <a:endParaRPr lang="en-US" sz="1200"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p:txBody>
      </p:sp>
      <p:sp>
        <p:nvSpPr>
          <p:cNvPr id="6" name="TextBox 5">
            <a:extLst>
              <a:ext uri="{FF2B5EF4-FFF2-40B4-BE49-F238E27FC236}">
                <a16:creationId xmlns:a16="http://schemas.microsoft.com/office/drawing/2014/main" id="{B84E3C50-03DD-0FE6-C527-20B427B67260}"/>
              </a:ext>
            </a:extLst>
          </p:cNvPr>
          <p:cNvSpPr txBox="1"/>
          <p:nvPr/>
        </p:nvSpPr>
        <p:spPr>
          <a:xfrm>
            <a:off x="3964174" y="3744925"/>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2</a:t>
            </a:r>
          </a:p>
        </p:txBody>
      </p:sp>
    </p:spTree>
    <p:extLst>
      <p:ext uri="{BB962C8B-B14F-4D97-AF65-F5344CB8AC3E}">
        <p14:creationId xmlns:p14="http://schemas.microsoft.com/office/powerpoint/2010/main" val="5610318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B4AC9-E013-34E7-B669-1BA43A382C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5397204-3486-4D4B-4E37-345AF98CDAF7}"/>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600" dirty="0"/>
                  <a:t>To calculate the spatial lag for a specific location, we use this formula:</a:t>
                </a:r>
              </a:p>
              <a:p>
                <a:pPr lvl="1"/>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𝑦</m:t>
                        </m:r>
                      </m:e>
                      <m:sub>
                        <m:r>
                          <a:rPr lang="en-US" sz="1600" b="0" i="1" smtClean="0">
                            <a:latin typeface="Cambria Math" panose="02040503050406030204" pitchFamily="18" charset="0"/>
                          </a:rPr>
                          <m:t>𝑙𝑎𝑔</m:t>
                        </m:r>
                        <m:r>
                          <a:rPr lang="en-US" sz="1600" b="0" i="1" smtClean="0">
                            <a:latin typeface="Cambria Math" panose="02040503050406030204" pitchFamily="18" charset="0"/>
                          </a:rPr>
                          <m:t>,</m:t>
                        </m:r>
                        <m:r>
                          <a:rPr lang="en-US" sz="1600" b="0" i="1" smtClean="0">
                            <a:latin typeface="Cambria Math" panose="02040503050406030204" pitchFamily="18" charset="0"/>
                          </a:rPr>
                          <m:t>𝑖</m:t>
                        </m:r>
                      </m:sub>
                    </m:sSub>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𝑗</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𝑖𝑗</m:t>
                            </m:r>
                          </m:sub>
                        </m:sSub>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𝑦</m:t>
                            </m:r>
                          </m:e>
                          <m:sub>
                            <m:r>
                              <a:rPr lang="en-US" sz="1600" b="0" i="1" smtClean="0">
                                <a:latin typeface="Cambria Math" panose="02040503050406030204" pitchFamily="18" charset="0"/>
                              </a:rPr>
                              <m:t>𝑗</m:t>
                            </m:r>
                          </m:sub>
                        </m:sSub>
                      </m:e>
                    </m:nary>
                  </m:oMath>
                </a14:m>
                <a:endParaRPr lang="en-US" sz="1600" dirty="0"/>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𝑙𝑎𝑔</m:t>
                        </m:r>
                        <m:r>
                          <a:rPr lang="en-US" sz="1600" i="1">
                            <a:latin typeface="Cambria Math" panose="02040503050406030204" pitchFamily="18" charset="0"/>
                          </a:rPr>
                          <m:t>,</m:t>
                        </m:r>
                        <m:r>
                          <a:rPr lang="en-US" sz="1600" i="1">
                            <a:latin typeface="Cambria Math" panose="02040503050406030204" pitchFamily="18" charset="0"/>
                          </a:rPr>
                          <m:t>𝑖</m:t>
                        </m:r>
                      </m:sub>
                    </m:sSub>
                  </m:oMath>
                </a14:m>
                <a:r>
                  <a:rPr lang="en-US" sz="1600" dirty="0"/>
                  <a:t> is the spatial lag value for location </a:t>
                </a:r>
                <a14:m>
                  <m:oMath xmlns:m="http://schemas.openxmlformats.org/officeDocument/2006/math">
                    <m:r>
                      <a:rPr lang="en-US" sz="1600" b="0" i="1" smtClean="0">
                        <a:latin typeface="Cambria Math" panose="02040503050406030204" pitchFamily="18" charset="0"/>
                      </a:rPr>
                      <m:t>𝑖</m:t>
                    </m:r>
                  </m:oMath>
                </a14:m>
                <a:endParaRPr lang="en-US" sz="1600" i="1" dirty="0"/>
              </a:p>
              <a:p>
                <a:pPr lvl="2"/>
                <a:r>
                  <a:rPr lang="en-US" sz="1600" dirty="0"/>
                  <a:t>The summation adds up the weighted values of all neighbors.</a:t>
                </a:r>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𝑤</m:t>
                        </m:r>
                      </m:e>
                      <m:sub>
                        <m:r>
                          <a:rPr lang="en-US" sz="1600" i="1">
                            <a:latin typeface="Cambria Math" panose="02040503050406030204" pitchFamily="18" charset="0"/>
                          </a:rPr>
                          <m:t>𝑖𝑗</m:t>
                        </m:r>
                      </m:sub>
                    </m:sSub>
                  </m:oMath>
                </a14:m>
                <a:r>
                  <a:rPr lang="en-US" sz="1600" dirty="0"/>
                  <a:t> is the spatial weight.</a:t>
                </a:r>
              </a:p>
              <a:p>
                <a:pPr lvl="4"/>
                <a:r>
                  <a:rPr lang="en-US" sz="1400" dirty="0"/>
                  <a:t>This number tells how much location </a:t>
                </a:r>
                <a14:m>
                  <m:oMath xmlns:m="http://schemas.openxmlformats.org/officeDocument/2006/math">
                    <m:r>
                      <a:rPr lang="en-US" sz="1400" b="0" i="1" smtClean="0">
                        <a:latin typeface="Cambria Math" panose="02040503050406030204" pitchFamily="18" charset="0"/>
                      </a:rPr>
                      <m:t>𝑗</m:t>
                    </m:r>
                  </m:oMath>
                </a14:m>
                <a:r>
                  <a:rPr lang="en-US" sz="1400" dirty="0"/>
                  <a:t> influences location </a:t>
                </a:r>
                <a14:m>
                  <m:oMath xmlns:m="http://schemas.openxmlformats.org/officeDocument/2006/math">
                    <m:r>
                      <a:rPr lang="en-US" sz="1400" i="1">
                        <a:latin typeface="Cambria Math" panose="02040503050406030204" pitchFamily="18" charset="0"/>
                      </a:rPr>
                      <m:t>𝑖</m:t>
                    </m:r>
                  </m:oMath>
                </a14:m>
                <a:endParaRPr lang="en-US" sz="1400" dirty="0"/>
              </a:p>
              <a:p>
                <a:pPr lvl="4"/>
                <a:r>
                  <a:rPr lang="en-US" sz="1400" dirty="0"/>
                  <a:t>If they are neighbors, </a:t>
                </a:r>
                <a14:m>
                  <m:oMath xmlns:m="http://schemas.openxmlformats.org/officeDocument/2006/math">
                    <m:r>
                      <a:rPr lang="en-US" sz="1400" b="0" i="1" smtClean="0">
                        <a:latin typeface="Cambria Math" panose="02040503050406030204" pitchFamily="18" charset="0"/>
                      </a:rPr>
                      <m:t>𝑤</m:t>
                    </m:r>
                  </m:oMath>
                </a14:m>
                <a:r>
                  <a:rPr lang="en-US" sz="1400" dirty="0"/>
                  <a:t> might be 1 (or a fraction)</a:t>
                </a:r>
              </a:p>
              <a:p>
                <a:pPr lvl="4"/>
                <a:r>
                  <a:rPr lang="en-US" sz="1400" dirty="0"/>
                  <a:t>If they are far apart, </a:t>
                </a:r>
                <a14:m>
                  <m:oMath xmlns:m="http://schemas.openxmlformats.org/officeDocument/2006/math">
                    <m:r>
                      <a:rPr lang="en-US" sz="1400" i="1">
                        <a:latin typeface="Cambria Math" panose="02040503050406030204" pitchFamily="18" charset="0"/>
                      </a:rPr>
                      <m:t>𝑤</m:t>
                    </m:r>
                    <m:r>
                      <a:rPr lang="en-US" sz="1400" b="0" i="1" smtClean="0">
                        <a:latin typeface="Cambria Math" panose="02040503050406030204" pitchFamily="18" charset="0"/>
                      </a:rPr>
                      <m:t>=0</m:t>
                    </m:r>
                  </m:oMath>
                </a14:m>
                <a:endParaRPr lang="en-US" sz="1400" dirty="0"/>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𝑗</m:t>
                        </m:r>
                      </m:sub>
                    </m:sSub>
                  </m:oMath>
                </a14:m>
                <a:r>
                  <a:rPr lang="en-US" sz="1600" dirty="0"/>
                  <a:t> is the actual value of the variable (like price or temperature) at the neighboring location </a:t>
                </a:r>
                <a14:m>
                  <m:oMath xmlns:m="http://schemas.openxmlformats.org/officeDocument/2006/math">
                    <m:r>
                      <a:rPr lang="en-US" sz="1600" b="0" i="1" smtClean="0">
                        <a:latin typeface="Cambria Math" panose="02040503050406030204" pitchFamily="18" charset="0"/>
                      </a:rPr>
                      <m:t>𝑗</m:t>
                    </m:r>
                  </m:oMath>
                </a14:m>
                <a:r>
                  <a:rPr lang="en-US" sz="1600" dirty="0"/>
                  <a:t>.</a:t>
                </a:r>
              </a:p>
              <a:p>
                <a:endParaRPr lang="en-US" sz="1600" dirty="0"/>
              </a:p>
            </p:txBody>
          </p:sp>
        </mc:Choice>
        <mc:Fallback xmlns="">
          <p:sp>
            <p:nvSpPr>
              <p:cNvPr id="3" name="Content Placeholder 2">
                <a:extLst>
                  <a:ext uri="{FF2B5EF4-FFF2-40B4-BE49-F238E27FC236}">
                    <a16:creationId xmlns:a16="http://schemas.microsoft.com/office/drawing/2014/main" id="{45397204-3486-4D4B-4E37-345AF98CDAF7}"/>
                  </a:ext>
                </a:extLst>
              </p:cNvPr>
              <p:cNvSpPr>
                <a:spLocks noGrp="1" noRot="1" noChangeAspect="1" noMove="1" noResize="1" noEditPoints="1" noAdjustHandles="1" noChangeArrowheads="1" noChangeShapeType="1" noTextEdit="1"/>
              </p:cNvSpPr>
              <p:nvPr>
                <p:ph idx="1"/>
              </p:nvPr>
            </p:nvSpPr>
            <p:spPr>
              <a:xfrm>
                <a:off x="457200" y="321734"/>
                <a:ext cx="8229600" cy="6034618"/>
              </a:xfrm>
              <a:blipFill>
                <a:blip r:embed="rId2"/>
                <a:stretch>
                  <a:fillRect l="-617" t="-84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1DE766B-631B-B892-AF71-95EE436C24F9}"/>
              </a:ext>
            </a:extLst>
          </p:cNvPr>
          <p:cNvSpPr>
            <a:spLocks noGrp="1"/>
          </p:cNvSpPr>
          <p:nvPr>
            <p:ph type="sldNum" sz="quarter" idx="12"/>
          </p:nvPr>
        </p:nvSpPr>
        <p:spPr/>
        <p:txBody>
          <a:bodyPr/>
          <a:lstStyle/>
          <a:p>
            <a:fld id="{C0343C75-1924-D247-85A3-0CB62E67E5D1}" type="slidenum">
              <a:rPr lang="en-US" smtClean="0"/>
              <a:t>11</a:t>
            </a:fld>
            <a:endParaRPr lang="en-US"/>
          </a:p>
        </p:txBody>
      </p:sp>
      <p:pic>
        <p:nvPicPr>
          <p:cNvPr id="7" name="Picture 6">
            <a:extLst>
              <a:ext uri="{FF2B5EF4-FFF2-40B4-BE49-F238E27FC236}">
                <a16:creationId xmlns:a16="http://schemas.microsoft.com/office/drawing/2014/main" id="{2305377F-ED7D-F060-7EBE-BC1A44715FEA}"/>
              </a:ext>
            </a:extLst>
          </p:cNvPr>
          <p:cNvPicPr>
            <a:picLocks noChangeAspect="1"/>
          </p:cNvPicPr>
          <p:nvPr/>
        </p:nvPicPr>
        <p:blipFill>
          <a:blip r:embed="rId3"/>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41ABC899-E9BA-1384-00BD-253D7C565EE4}"/>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0864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6F816-C1DB-BC53-C3E4-C9DCF68BE87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2ED8A1-0F18-F4CA-09B2-078BE43143F8}"/>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600" dirty="0"/>
              <a:t>Example:</a:t>
            </a:r>
          </a:p>
          <a:p>
            <a:pPr lvl="1"/>
            <a:r>
              <a:rPr lang="en-US" sz="1600" dirty="0"/>
              <a:t>If you have three neighbors with college graduation rates of 30%, 32%, and 28%</a:t>
            </a:r>
          </a:p>
          <a:p>
            <a:pPr lvl="1"/>
            <a:r>
              <a:rPr lang="en-US" sz="1600" dirty="0"/>
              <a:t>They are all weighted equally (1/3 each)</a:t>
            </a:r>
          </a:p>
          <a:p>
            <a:pPr lvl="1"/>
            <a:r>
              <a:rPr lang="en-US" sz="1600" dirty="0"/>
              <a:t>The spatial lag for your county is:</a:t>
            </a:r>
            <a:br>
              <a:rPr lang="en-US" sz="1600" dirty="0"/>
            </a:br>
            <a:r>
              <a:rPr lang="en-US" sz="1600" dirty="0"/>
              <a:t>= (0.33 × 30%) + (0.33 × 32%) + (0.33 × 28%) = 9.9% + 10.56% + 9.24% = 29.7%</a:t>
            </a:r>
          </a:p>
          <a:p>
            <a:pPr lvl="1"/>
            <a:r>
              <a:rPr lang="en-US" sz="1600" dirty="0"/>
              <a:t>If your county actual rate is 45% and the county spatial lag (neighborhood average): 29.7%, the county is an "outlier" or a "hot spot." Even though it is surrounded by counties where only about 30% of people have degrees, your county is performing significantly higher.</a:t>
            </a:r>
          </a:p>
          <a:p>
            <a:pPr lvl="1"/>
            <a:r>
              <a:rPr lang="en-US" sz="1600" dirty="0"/>
              <a:t>In a research paper, this might lead to ask: "Why is your county different? Does it have a major university or a specific industry that its neighbors lack?"</a:t>
            </a:r>
          </a:p>
          <a:p>
            <a:pPr lvl="1"/>
            <a:r>
              <a:rPr lang="en-US" sz="1600" dirty="0"/>
              <a:t>Without the spatial lag, you wouldn't realize just how much your county stands out from its local context.</a:t>
            </a:r>
          </a:p>
        </p:txBody>
      </p:sp>
      <p:sp>
        <p:nvSpPr>
          <p:cNvPr id="4" name="Slide Number Placeholder 3">
            <a:extLst>
              <a:ext uri="{FF2B5EF4-FFF2-40B4-BE49-F238E27FC236}">
                <a16:creationId xmlns:a16="http://schemas.microsoft.com/office/drawing/2014/main" id="{F0BDEA07-ABAE-4A1A-2BF2-6EE5F467C477}"/>
              </a:ext>
            </a:extLst>
          </p:cNvPr>
          <p:cNvSpPr>
            <a:spLocks noGrp="1"/>
          </p:cNvSpPr>
          <p:nvPr>
            <p:ph type="sldNum" sz="quarter" idx="12"/>
          </p:nvPr>
        </p:nvSpPr>
        <p:spPr/>
        <p:txBody>
          <a:bodyPr/>
          <a:lstStyle/>
          <a:p>
            <a:fld id="{C0343C75-1924-D247-85A3-0CB62E67E5D1}" type="slidenum">
              <a:rPr lang="en-US" smtClean="0"/>
              <a:t>12</a:t>
            </a:fld>
            <a:endParaRPr lang="en-US"/>
          </a:p>
        </p:txBody>
      </p:sp>
      <p:pic>
        <p:nvPicPr>
          <p:cNvPr id="7" name="Picture 6">
            <a:extLst>
              <a:ext uri="{FF2B5EF4-FFF2-40B4-BE49-F238E27FC236}">
                <a16:creationId xmlns:a16="http://schemas.microsoft.com/office/drawing/2014/main" id="{E7303135-0DFE-3C41-669E-10EF5A54B752}"/>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4A3E7A08-2CF9-CAE2-592E-9D267F119D7D}"/>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129556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10D98-1C85-6059-AB54-03AD882CE1B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683515-487B-B04A-44A6-60C3CAF35D16}"/>
              </a:ext>
            </a:extLst>
          </p:cNvPr>
          <p:cNvSpPr>
            <a:spLocks noGrp="1"/>
          </p:cNvSpPr>
          <p:nvPr>
            <p:ph idx="1"/>
          </p:nvPr>
        </p:nvSpPr>
        <p:spPr>
          <a:xfrm>
            <a:off x="457200" y="321734"/>
            <a:ext cx="8229600" cy="6034618"/>
          </a:xfrm>
        </p:spPr>
        <p:txBody>
          <a:bodyPr>
            <a:noAutofit/>
          </a:bodyPr>
          <a:lstStyle/>
          <a:p>
            <a:pPr marL="0" indent="0">
              <a:buNone/>
            </a:pPr>
            <a:r>
              <a:rPr lang="en-US" sz="1800" b="1" dirty="0"/>
              <a:t>Moran's I Coefficient</a:t>
            </a:r>
          </a:p>
          <a:p>
            <a:r>
              <a:rPr lang="en-US" sz="1800" dirty="0"/>
              <a:t>A measure of spatial autocorrelation:</a:t>
            </a:r>
          </a:p>
          <a:p>
            <a:pPr lvl="1"/>
            <a:r>
              <a:rPr lang="en-US" sz="1600" dirty="0"/>
              <a:t>Quantifies how similar values are across nearby locations.</a:t>
            </a:r>
          </a:p>
          <a:p>
            <a:pPr lvl="1"/>
            <a:r>
              <a:rPr lang="en-US" sz="1600" dirty="0"/>
              <a:t>The value ranges roughly from -1 to +1:</a:t>
            </a:r>
          </a:p>
          <a:p>
            <a:pPr lvl="2"/>
            <a:r>
              <a:rPr lang="en-US" sz="1600" dirty="0"/>
              <a:t>Positive (0.422) → nearby areas tend to have similar values (clustering)</a:t>
            </a:r>
          </a:p>
          <a:p>
            <a:pPr lvl="2"/>
            <a:r>
              <a:rPr lang="en-US" sz="1600" dirty="0"/>
              <a:t>Near 0 → spatial randomness</a:t>
            </a:r>
          </a:p>
          <a:p>
            <a:pPr lvl="2"/>
            <a:r>
              <a:rPr lang="en-US" sz="1600" dirty="0"/>
              <a:t>Negative → nearby areas tend to be dissimilar (dispersion)</a:t>
            </a:r>
          </a:p>
          <a:p>
            <a:r>
              <a:rPr lang="en-US" sz="1800" dirty="0"/>
              <a:t>A value of 0.422 indicates a </a:t>
            </a:r>
            <a:r>
              <a:rPr lang="en-US" sz="1800" u="sng" dirty="0"/>
              <a:t>moderate positive spatial autocorrelation</a:t>
            </a:r>
            <a:r>
              <a:rPr lang="en-US" sz="1800" dirty="0"/>
              <a:t>, meaning counties with similar college attainment levels tend to cluster geographically.</a:t>
            </a:r>
          </a:p>
        </p:txBody>
      </p:sp>
      <p:sp>
        <p:nvSpPr>
          <p:cNvPr id="4" name="Slide Number Placeholder 3">
            <a:extLst>
              <a:ext uri="{FF2B5EF4-FFF2-40B4-BE49-F238E27FC236}">
                <a16:creationId xmlns:a16="http://schemas.microsoft.com/office/drawing/2014/main" id="{F76CDA9E-A9BB-9184-A7D4-0FDDED6704E3}"/>
              </a:ext>
            </a:extLst>
          </p:cNvPr>
          <p:cNvSpPr>
            <a:spLocks noGrp="1"/>
          </p:cNvSpPr>
          <p:nvPr>
            <p:ph type="sldNum" sz="quarter" idx="12"/>
          </p:nvPr>
        </p:nvSpPr>
        <p:spPr/>
        <p:txBody>
          <a:bodyPr/>
          <a:lstStyle/>
          <a:p>
            <a:fld id="{C0343C75-1924-D247-85A3-0CB62E67E5D1}" type="slidenum">
              <a:rPr lang="en-US" smtClean="0"/>
              <a:t>13</a:t>
            </a:fld>
            <a:endParaRPr lang="en-US"/>
          </a:p>
        </p:txBody>
      </p:sp>
      <p:pic>
        <p:nvPicPr>
          <p:cNvPr id="7" name="Picture 6">
            <a:extLst>
              <a:ext uri="{FF2B5EF4-FFF2-40B4-BE49-F238E27FC236}">
                <a16:creationId xmlns:a16="http://schemas.microsoft.com/office/drawing/2014/main" id="{7700211D-0581-C6CC-8B93-2ED9F8825F25}"/>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633CB139-F3FE-1658-2EBA-791E432BC41F}"/>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B6B1921B-8F9B-7DC8-50FF-432A23E7C9C2}"/>
              </a:ext>
            </a:extLst>
          </p:cNvPr>
          <p:cNvSpPr txBox="1"/>
          <p:nvPr/>
        </p:nvSpPr>
        <p:spPr>
          <a:xfrm>
            <a:off x="457200" y="3138206"/>
            <a:ext cx="3366654" cy="954107"/>
          </a:xfrm>
          <a:prstGeom prst="rect">
            <a:avLst/>
          </a:prstGeom>
          <a:solidFill>
            <a:srgbClr val="FFC000"/>
          </a:solidFill>
          <a:ln>
            <a:noFill/>
          </a:ln>
        </p:spPr>
        <p:txBody>
          <a:bodyPr wrap="square" rtlCol="0">
            <a:spAutoFit/>
          </a:bodyPr>
          <a:lstStyle/>
          <a:p>
            <a:r>
              <a:rPr lang="en-US" sz="1400" b="1" dirty="0">
                <a:solidFill>
                  <a:srgbClr val="C00000"/>
                </a:solidFill>
              </a:rPr>
              <a:t>Spatial autocorrelation refers to the degree to which values of a variable are similar </a:t>
            </a:r>
            <a:r>
              <a:rPr lang="en-US" sz="1400" b="1" baseline="30000" dirty="0">
                <a:solidFill>
                  <a:srgbClr val="C00000"/>
                </a:solidFill>
              </a:rPr>
              <a:t>(or dissimilar)</a:t>
            </a:r>
            <a:r>
              <a:rPr lang="en-US" sz="1400" b="1" dirty="0">
                <a:solidFill>
                  <a:srgbClr val="C00000"/>
                </a:solidFill>
              </a:rPr>
              <a:t> across nearby geographic locations.</a:t>
            </a:r>
          </a:p>
        </p:txBody>
      </p:sp>
      <p:sp>
        <p:nvSpPr>
          <p:cNvPr id="5" name="TextBox 4">
            <a:extLst>
              <a:ext uri="{FF2B5EF4-FFF2-40B4-BE49-F238E27FC236}">
                <a16:creationId xmlns:a16="http://schemas.microsoft.com/office/drawing/2014/main" id="{C8E0FB8B-85B7-EDEE-2F2C-04B39A1EBF14}"/>
              </a:ext>
            </a:extLst>
          </p:cNvPr>
          <p:cNvSpPr txBox="1"/>
          <p:nvPr/>
        </p:nvSpPr>
        <p:spPr>
          <a:xfrm>
            <a:off x="5320145" y="3138206"/>
            <a:ext cx="3366654" cy="954107"/>
          </a:xfrm>
          <a:prstGeom prst="rect">
            <a:avLst/>
          </a:prstGeom>
          <a:solidFill>
            <a:srgbClr val="FFD84C"/>
          </a:solidFill>
          <a:ln>
            <a:noFill/>
          </a:ln>
        </p:spPr>
        <p:txBody>
          <a:bodyPr wrap="square" rtlCol="0">
            <a:spAutoFit/>
          </a:bodyPr>
          <a:lstStyle/>
          <a:p>
            <a:pPr algn="r"/>
            <a:r>
              <a:rPr lang="en-US" sz="1400" i="1" dirty="0">
                <a:solidFill>
                  <a:srgbClr val="0070C0"/>
                </a:solidFill>
              </a:rPr>
              <a:t>In essence, it captures whether "location matters" in the distribution of </a:t>
            </a:r>
            <a:r>
              <a:rPr lang="en-US" sz="1400" b="1" i="1" dirty="0">
                <a:solidFill>
                  <a:srgbClr val="0070C0"/>
                </a:solidFill>
              </a:rPr>
              <a:t>a variable </a:t>
            </a:r>
            <a:r>
              <a:rPr lang="en-US" sz="1400" i="1" dirty="0">
                <a:solidFill>
                  <a:srgbClr val="0070C0"/>
                </a:solidFill>
              </a:rPr>
              <a:t>(i.e., whether what happens in one place is related to what happens nearby).</a:t>
            </a:r>
          </a:p>
        </p:txBody>
      </p:sp>
    </p:spTree>
    <p:extLst>
      <p:ext uri="{BB962C8B-B14F-4D97-AF65-F5344CB8AC3E}">
        <p14:creationId xmlns:p14="http://schemas.microsoft.com/office/powerpoint/2010/main" val="3827104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4FE6D-45D7-4BE2-D8F1-0B53EF29FAC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397B20-98C1-4F5C-FE6B-4258EB961C07}"/>
              </a:ext>
            </a:extLst>
          </p:cNvPr>
          <p:cNvSpPr>
            <a:spLocks noGrp="1"/>
          </p:cNvSpPr>
          <p:nvPr>
            <p:ph idx="1"/>
          </p:nvPr>
        </p:nvSpPr>
        <p:spPr>
          <a:xfrm>
            <a:off x="457200" y="321734"/>
            <a:ext cx="8229600" cy="6034618"/>
          </a:xfrm>
        </p:spPr>
        <p:txBody>
          <a:bodyPr>
            <a:noAutofit/>
          </a:bodyPr>
          <a:lstStyle/>
          <a:p>
            <a:pPr marL="0" indent="0">
              <a:buNone/>
            </a:pPr>
            <a:r>
              <a:rPr lang="en-US" sz="1800" b="1" dirty="0"/>
              <a:t>Moran's I Coefficient</a:t>
            </a:r>
          </a:p>
          <a:p>
            <a:r>
              <a:rPr lang="en-US" sz="1600" dirty="0"/>
              <a:t>Moran's I is calculated as </a:t>
            </a:r>
            <a:r>
              <a:rPr lang="en-US" sz="1600" i="1" dirty="0"/>
              <a:t>a version</a:t>
            </a:r>
            <a:r>
              <a:rPr lang="en-US" sz="1600" dirty="0"/>
              <a:t> of the standard correlation coefficient, but instead of comparing two different variables (like height and weight), it compares the same variable with its spatial lag (</a:t>
            </a:r>
            <a:r>
              <a:rPr lang="en-US" sz="1600" b="1" dirty="0"/>
              <a:t>itself vs. its neighbors</a:t>
            </a:r>
            <a:r>
              <a:rPr lang="en-US" sz="1600" dirty="0"/>
              <a:t>).</a:t>
            </a:r>
          </a:p>
          <a:p>
            <a:r>
              <a:rPr lang="en-US" sz="1600" dirty="0"/>
              <a:t>It essentially tells you if the pattern is </a:t>
            </a:r>
            <a:r>
              <a:rPr lang="en-US" sz="1600" b="1" dirty="0"/>
              <a:t>clustered</a:t>
            </a:r>
            <a:r>
              <a:rPr lang="en-US" sz="1600" dirty="0"/>
              <a:t> (similar values together), </a:t>
            </a:r>
            <a:br>
              <a:rPr lang="en-US" sz="1600" dirty="0"/>
            </a:br>
            <a:r>
              <a:rPr lang="en-US" sz="1600" b="1" dirty="0"/>
              <a:t>dispersed</a:t>
            </a:r>
            <a:r>
              <a:rPr lang="en-US" sz="1600" dirty="0"/>
              <a:t> (like a checkerboard), or </a:t>
            </a:r>
            <a:r>
              <a:rPr lang="en-US" sz="1600" b="1" dirty="0"/>
              <a:t>random</a:t>
            </a:r>
            <a:r>
              <a:rPr lang="en-US" sz="1600" dirty="0"/>
              <a:t>.</a:t>
            </a:r>
          </a:p>
        </p:txBody>
      </p:sp>
      <p:sp>
        <p:nvSpPr>
          <p:cNvPr id="4" name="Slide Number Placeholder 3">
            <a:extLst>
              <a:ext uri="{FF2B5EF4-FFF2-40B4-BE49-F238E27FC236}">
                <a16:creationId xmlns:a16="http://schemas.microsoft.com/office/drawing/2014/main" id="{825BC843-D6D7-F2FB-CA33-A597157C3FFA}"/>
              </a:ext>
            </a:extLst>
          </p:cNvPr>
          <p:cNvSpPr>
            <a:spLocks noGrp="1"/>
          </p:cNvSpPr>
          <p:nvPr>
            <p:ph type="sldNum" sz="quarter" idx="12"/>
          </p:nvPr>
        </p:nvSpPr>
        <p:spPr/>
        <p:txBody>
          <a:bodyPr/>
          <a:lstStyle/>
          <a:p>
            <a:fld id="{C0343C75-1924-D247-85A3-0CB62E67E5D1}" type="slidenum">
              <a:rPr lang="en-US" smtClean="0"/>
              <a:t>14</a:t>
            </a:fld>
            <a:endParaRPr lang="en-US"/>
          </a:p>
        </p:txBody>
      </p:sp>
      <p:pic>
        <p:nvPicPr>
          <p:cNvPr id="6" name="Picture 5">
            <a:extLst>
              <a:ext uri="{FF2B5EF4-FFF2-40B4-BE49-F238E27FC236}">
                <a16:creationId xmlns:a16="http://schemas.microsoft.com/office/drawing/2014/main" id="{148D22AE-B163-B50E-5EA5-CD14E7255564}"/>
              </a:ext>
            </a:extLst>
          </p:cNvPr>
          <p:cNvPicPr>
            <a:picLocks noChangeAspect="1"/>
          </p:cNvPicPr>
          <p:nvPr/>
        </p:nvPicPr>
        <p:blipFill>
          <a:blip r:embed="rId2"/>
          <a:stretch>
            <a:fillRect/>
          </a:stretch>
        </p:blipFill>
        <p:spPr>
          <a:xfrm>
            <a:off x="587217" y="2073529"/>
            <a:ext cx="4663440" cy="4112968"/>
          </a:xfrm>
          <a:prstGeom prst="rect">
            <a:avLst/>
          </a:prstGeom>
        </p:spPr>
      </p:pic>
      <p:sp>
        <p:nvSpPr>
          <p:cNvPr id="8" name="TextBox 7">
            <a:extLst>
              <a:ext uri="{FF2B5EF4-FFF2-40B4-BE49-F238E27FC236}">
                <a16:creationId xmlns:a16="http://schemas.microsoft.com/office/drawing/2014/main" id="{3C18DF7B-B392-6843-D9BB-D744D095B85E}"/>
              </a:ext>
            </a:extLst>
          </p:cNvPr>
          <p:cNvSpPr txBox="1"/>
          <p:nvPr/>
        </p:nvSpPr>
        <p:spPr>
          <a:xfrm>
            <a:off x="509830" y="6109552"/>
            <a:ext cx="8124340" cy="369332"/>
          </a:xfrm>
          <a:prstGeom prst="rect">
            <a:avLst/>
          </a:prstGeom>
          <a:noFill/>
        </p:spPr>
        <p:txBody>
          <a:bodyPr wrap="none" rtlCol="0">
            <a:spAutoFit/>
          </a:bodyPr>
          <a:lstStyle/>
          <a:p>
            <a:r>
              <a:rPr lang="en-US" b="1" dirty="0"/>
              <a:t>⤷</a:t>
            </a:r>
            <a:r>
              <a:rPr lang="en-US" sz="1050" dirty="0"/>
              <a:t> </a:t>
            </a:r>
            <a:r>
              <a:rPr lang="en-US" sz="1050" dirty="0">
                <a:hlinkClick r:id="rId3"/>
              </a:rPr>
              <a:t>https://desktop.arcgis.com/en/arcmap/latest/tools/spatial-statistics-toolbox/h-how-spatial-autocorrelation-moran-s-i-spatial-st.htm</a:t>
            </a:r>
            <a:endParaRPr lang="en-US" sz="1050" dirty="0"/>
          </a:p>
        </p:txBody>
      </p:sp>
      <p:pic>
        <p:nvPicPr>
          <p:cNvPr id="9" name="Picture 8">
            <a:extLst>
              <a:ext uri="{FF2B5EF4-FFF2-40B4-BE49-F238E27FC236}">
                <a16:creationId xmlns:a16="http://schemas.microsoft.com/office/drawing/2014/main" id="{B226563D-EC8B-FFC3-A82A-F34CEAAFBAE8}"/>
              </a:ext>
            </a:extLst>
          </p:cNvPr>
          <p:cNvPicPr>
            <a:picLocks noChangeAspect="1"/>
          </p:cNvPicPr>
          <p:nvPr/>
        </p:nvPicPr>
        <p:blipFill>
          <a:blip r:embed="rId4"/>
          <a:stretch>
            <a:fillRect/>
          </a:stretch>
        </p:blipFill>
        <p:spPr>
          <a:xfrm>
            <a:off x="5380673" y="2195449"/>
            <a:ext cx="3306127" cy="1345312"/>
          </a:xfrm>
          <a:prstGeom prst="rect">
            <a:avLst/>
          </a:prstGeom>
        </p:spPr>
      </p:pic>
      <p:sp>
        <p:nvSpPr>
          <p:cNvPr id="11" name="TextBox 10">
            <a:extLst>
              <a:ext uri="{FF2B5EF4-FFF2-40B4-BE49-F238E27FC236}">
                <a16:creationId xmlns:a16="http://schemas.microsoft.com/office/drawing/2014/main" id="{592AD2A3-C26F-B5D6-0949-A49B755E504C}"/>
              </a:ext>
            </a:extLst>
          </p:cNvPr>
          <p:cNvSpPr txBox="1"/>
          <p:nvPr/>
        </p:nvSpPr>
        <p:spPr>
          <a:xfrm>
            <a:off x="5380673" y="3540761"/>
            <a:ext cx="3306127" cy="954107"/>
          </a:xfrm>
          <a:prstGeom prst="rect">
            <a:avLst/>
          </a:prstGeom>
          <a:solidFill>
            <a:srgbClr val="FFD84C"/>
          </a:solidFill>
        </p:spPr>
        <p:txBody>
          <a:bodyPr wrap="square" rtlCol="0">
            <a:spAutoFit/>
          </a:bodyPr>
          <a:lstStyle/>
          <a:p>
            <a:r>
              <a:rPr lang="en-US" sz="1400" dirty="0"/>
              <a:t>Check: </a:t>
            </a:r>
            <a:r>
              <a:rPr lang="en-US" sz="1400" dirty="0">
                <a:hlinkClick r:id="rId5"/>
              </a:rPr>
              <a:t>https://gis.stackexchange.com/questions/421403/using-weight-component-in-moran-i-calculation</a:t>
            </a:r>
            <a:endParaRPr lang="en-US" sz="1400" dirty="0"/>
          </a:p>
        </p:txBody>
      </p:sp>
    </p:spTree>
    <p:extLst>
      <p:ext uri="{BB962C8B-B14F-4D97-AF65-F5344CB8AC3E}">
        <p14:creationId xmlns:p14="http://schemas.microsoft.com/office/powerpoint/2010/main" val="3745227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0F26E-020A-6252-17E4-590FB305B07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CE1C48-26B8-5274-51F8-9BB494FCD38F}"/>
              </a:ext>
            </a:extLst>
          </p:cNvPr>
          <p:cNvSpPr>
            <a:spLocks noGrp="1"/>
          </p:cNvSpPr>
          <p:nvPr>
            <p:ph idx="1"/>
          </p:nvPr>
        </p:nvSpPr>
        <p:spPr>
          <a:xfrm>
            <a:off x="457200" y="321734"/>
            <a:ext cx="8229600" cy="6034618"/>
          </a:xfrm>
        </p:spPr>
        <p:txBody>
          <a:bodyPr>
            <a:noAutofit/>
          </a:bodyPr>
          <a:lstStyle/>
          <a:p>
            <a:pPr marL="0" indent="0">
              <a:buNone/>
            </a:pPr>
            <a:r>
              <a:rPr lang="en-US" sz="1800" b="1" dirty="0"/>
              <a:t>Moran scatter plot</a:t>
            </a:r>
          </a:p>
        </p:txBody>
      </p:sp>
      <p:sp>
        <p:nvSpPr>
          <p:cNvPr id="4" name="Slide Number Placeholder 3">
            <a:extLst>
              <a:ext uri="{FF2B5EF4-FFF2-40B4-BE49-F238E27FC236}">
                <a16:creationId xmlns:a16="http://schemas.microsoft.com/office/drawing/2014/main" id="{A4CA9D08-815E-0D9C-92AD-520D283B84AF}"/>
              </a:ext>
            </a:extLst>
          </p:cNvPr>
          <p:cNvSpPr>
            <a:spLocks noGrp="1"/>
          </p:cNvSpPr>
          <p:nvPr>
            <p:ph type="sldNum" sz="quarter" idx="12"/>
          </p:nvPr>
        </p:nvSpPr>
        <p:spPr/>
        <p:txBody>
          <a:bodyPr/>
          <a:lstStyle/>
          <a:p>
            <a:fld id="{C0343C75-1924-D247-85A3-0CB62E67E5D1}" type="slidenum">
              <a:rPr lang="en-US" smtClean="0"/>
              <a:t>15</a:t>
            </a:fld>
            <a:endParaRPr lang="en-US"/>
          </a:p>
        </p:txBody>
      </p:sp>
      <p:sp>
        <p:nvSpPr>
          <p:cNvPr id="6" name="Content Placeholder 2">
            <a:extLst>
              <a:ext uri="{FF2B5EF4-FFF2-40B4-BE49-F238E27FC236}">
                <a16:creationId xmlns:a16="http://schemas.microsoft.com/office/drawing/2014/main" id="{A969C0F9-EE64-B0B9-CE57-05CC4EFCF4A1}"/>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err="1">
                <a:latin typeface="Consolas" panose="020B0609020204030204" pitchFamily="49" charset="0"/>
                <a:cs typeface="Consolas" panose="020B0609020204030204" pitchFamily="49" charset="0"/>
              </a:rPr>
              <a:t>moran_plot</a:t>
            </a:r>
            <a:r>
              <a:rPr lang="en-US" sz="1200" b="1" dirty="0">
                <a:latin typeface="Consolas" panose="020B0609020204030204" pitchFamily="49" charset="0"/>
                <a:cs typeface="Consolas" panose="020B0609020204030204" pitchFamily="49" charset="0"/>
              </a:rPr>
              <a:t>(</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mc(</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0.422</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gr(</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0.567</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mc(x, W) + gr(x,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0.989</a:t>
            </a:r>
          </a:p>
        </p:txBody>
      </p:sp>
      <p:pic>
        <p:nvPicPr>
          <p:cNvPr id="9" name="Picture 8">
            <a:extLst>
              <a:ext uri="{FF2B5EF4-FFF2-40B4-BE49-F238E27FC236}">
                <a16:creationId xmlns:a16="http://schemas.microsoft.com/office/drawing/2014/main" id="{37B9CB8F-8554-CC34-4161-075E5776F5D9}"/>
              </a:ext>
            </a:extLst>
          </p:cNvPr>
          <p:cNvPicPr>
            <a:picLocks noChangeAspect="1"/>
          </p:cNvPicPr>
          <p:nvPr/>
        </p:nvPicPr>
        <p:blipFill>
          <a:blip r:embed="rId2"/>
          <a:stretch>
            <a:fillRect/>
          </a:stretch>
        </p:blipFill>
        <p:spPr>
          <a:xfrm>
            <a:off x="3324860" y="863600"/>
            <a:ext cx="4023360" cy="2970208"/>
          </a:xfrm>
          <a:prstGeom prst="rect">
            <a:avLst/>
          </a:prstGeom>
        </p:spPr>
      </p:pic>
      <p:sp>
        <p:nvSpPr>
          <p:cNvPr id="11" name="TextBox 10">
            <a:extLst>
              <a:ext uri="{FF2B5EF4-FFF2-40B4-BE49-F238E27FC236}">
                <a16:creationId xmlns:a16="http://schemas.microsoft.com/office/drawing/2014/main" id="{1ACFA216-B548-49B7-C8BF-1EDF20A69EED}"/>
              </a:ext>
            </a:extLst>
          </p:cNvPr>
          <p:cNvSpPr txBox="1"/>
          <p:nvPr/>
        </p:nvSpPr>
        <p:spPr>
          <a:xfrm>
            <a:off x="2880361" y="5313118"/>
            <a:ext cx="5735319" cy="738664"/>
          </a:xfrm>
          <a:prstGeom prst="rect">
            <a:avLst/>
          </a:prstGeom>
          <a:solidFill>
            <a:srgbClr val="FFD84C"/>
          </a:solidFill>
        </p:spPr>
        <p:txBody>
          <a:bodyPr wrap="square" rtlCol="0">
            <a:spAutoFit/>
          </a:bodyPr>
          <a:lstStyle/>
          <a:p>
            <a:r>
              <a:rPr lang="en-US" sz="1400" dirty="0"/>
              <a:t>The </a:t>
            </a:r>
            <a:r>
              <a:rPr lang="en-US" sz="1400" b="1" dirty="0"/>
              <a:t>GR is more sensitive </a:t>
            </a:r>
            <a:r>
              <a:rPr lang="en-US" sz="1400" dirty="0"/>
              <a:t>than the MC </a:t>
            </a:r>
            <a:r>
              <a:rPr lang="en-US" sz="1400" b="1" dirty="0"/>
              <a:t>to negative SA</a:t>
            </a:r>
            <a:r>
              <a:rPr lang="en-US" sz="1400" dirty="0"/>
              <a:t>, and, as such, it is sensitive to local outliers. When a variable does not contain influential local outliers, the sum of its GR and MC values will be equal to about 1.</a:t>
            </a:r>
          </a:p>
        </p:txBody>
      </p:sp>
      <p:cxnSp>
        <p:nvCxnSpPr>
          <p:cNvPr id="13" name="Straight Connector 12">
            <a:extLst>
              <a:ext uri="{FF2B5EF4-FFF2-40B4-BE49-F238E27FC236}">
                <a16:creationId xmlns:a16="http://schemas.microsoft.com/office/drawing/2014/main" id="{57A8A61B-4D8C-4005-5C16-FB5338970340}"/>
              </a:ext>
            </a:extLst>
          </p:cNvPr>
          <p:cNvCxnSpPr/>
          <p:nvPr/>
        </p:nvCxnSpPr>
        <p:spPr>
          <a:xfrm>
            <a:off x="386080" y="3941029"/>
            <a:ext cx="8229600" cy="0"/>
          </a:xfrm>
          <a:prstGeom prst="line">
            <a:avLst/>
          </a:prstGeom>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CDA971EC-68CF-14ED-FC0D-B83DCDC93EB5}"/>
              </a:ext>
            </a:extLst>
          </p:cNvPr>
          <p:cNvSpPr txBox="1"/>
          <p:nvPr/>
        </p:nvSpPr>
        <p:spPr>
          <a:xfrm>
            <a:off x="2880361" y="4136472"/>
            <a:ext cx="5735319" cy="954107"/>
          </a:xfrm>
          <a:prstGeom prst="rect">
            <a:avLst/>
          </a:prstGeom>
          <a:solidFill>
            <a:srgbClr val="FFD84C"/>
          </a:solidFill>
        </p:spPr>
        <p:txBody>
          <a:bodyPr wrap="square" rtlCol="0">
            <a:spAutoFit/>
          </a:bodyPr>
          <a:lstStyle/>
          <a:p>
            <a:r>
              <a:rPr lang="en-US" sz="1400" dirty="0"/>
              <a:t>The </a:t>
            </a:r>
            <a:r>
              <a:rPr lang="en-US" sz="1400" b="1" dirty="0"/>
              <a:t>Geary Ratio </a:t>
            </a:r>
            <a:r>
              <a:rPr lang="en-US" sz="1400" dirty="0"/>
              <a:t>(often called Geary's C) is another way to measure spatial autocorrelation. While Moran's I focuses on how values "co-vary" (move together), Geary's C focuses on the </a:t>
            </a:r>
            <a:r>
              <a:rPr lang="en-US" sz="1400" b="1" dirty="0"/>
              <a:t>actual distance or difference between neighboring values</a:t>
            </a:r>
            <a:r>
              <a:rPr lang="en-US" sz="1400" dirty="0"/>
              <a:t>.</a:t>
            </a:r>
          </a:p>
        </p:txBody>
      </p:sp>
    </p:spTree>
    <p:extLst>
      <p:ext uri="{BB962C8B-B14F-4D97-AF65-F5344CB8AC3E}">
        <p14:creationId xmlns:p14="http://schemas.microsoft.com/office/powerpoint/2010/main" val="35197011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CC58-61B5-7E21-8542-AB657EE2FB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1F03CE-3D47-4C3D-F4BF-C9A208F407E0}"/>
              </a:ext>
            </a:extLst>
          </p:cNvPr>
          <p:cNvSpPr>
            <a:spLocks noGrp="1"/>
          </p:cNvSpPr>
          <p:nvPr>
            <p:ph idx="1"/>
          </p:nvPr>
        </p:nvSpPr>
        <p:spPr>
          <a:xfrm>
            <a:off x="457199" y="321734"/>
            <a:ext cx="8354291" cy="6034618"/>
          </a:xfrm>
        </p:spPr>
        <p:txBody>
          <a:bodyPr>
            <a:noAutofit/>
          </a:bodyPr>
          <a:lstStyle/>
          <a:p>
            <a:pPr marL="0" indent="0">
              <a:buNone/>
            </a:pPr>
            <a:r>
              <a:rPr lang="en-US" sz="1800" b="1" dirty="0"/>
              <a:t>Local Indicators of Spatial Association (LISAs)</a:t>
            </a:r>
            <a:endParaRPr lang="en-US" sz="1600" dirty="0"/>
          </a:p>
          <a:p>
            <a:r>
              <a:rPr lang="en-US" sz="1600" dirty="0"/>
              <a:t>The LISA is a class of local SA statistics.</a:t>
            </a:r>
          </a:p>
          <a:p>
            <a:pPr lvl="1"/>
            <a:r>
              <a:rPr lang="en-US" sz="1400" dirty="0"/>
              <a:t>Every LISA is related to a global SA index (such as the MC and GR).</a:t>
            </a:r>
          </a:p>
          <a:p>
            <a:r>
              <a:rPr lang="en-US" sz="1600" dirty="0"/>
              <a:t>A LISA statistic does two specific things for every location:</a:t>
            </a:r>
          </a:p>
          <a:p>
            <a:pPr lvl="1"/>
            <a:r>
              <a:rPr lang="en-US" sz="1400" b="1" dirty="0"/>
              <a:t>Indicates Clustering</a:t>
            </a:r>
            <a:r>
              <a:rPr lang="en-US" sz="1400" dirty="0"/>
              <a:t>: It tells you if that specific spot is surrounded by similar values </a:t>
            </a:r>
            <a:br>
              <a:rPr lang="en-US" sz="1400" dirty="0"/>
            </a:br>
            <a:r>
              <a:rPr lang="en-US" sz="1400" dirty="0"/>
              <a:t>(forming a cluster).</a:t>
            </a:r>
          </a:p>
          <a:p>
            <a:pPr lvl="1"/>
            <a:r>
              <a:rPr lang="en-US" sz="1400" b="1" dirty="0"/>
              <a:t>Summing to Global</a:t>
            </a:r>
            <a:r>
              <a:rPr lang="en-US" sz="1400" dirty="0"/>
              <a:t>: If you added up all the LISA values for every location on the map, </a:t>
            </a:r>
            <a:br>
              <a:rPr lang="en-US" sz="1400" dirty="0"/>
            </a:br>
            <a:r>
              <a:rPr lang="en-US" sz="1400" dirty="0"/>
              <a:t>they would equal the "Global" Moran's I.</a:t>
            </a:r>
          </a:p>
          <a:p>
            <a:r>
              <a:rPr lang="en-US" sz="1600" dirty="0"/>
              <a:t>Four Categories of LISA (Moran Scatterplot categories):</a:t>
            </a:r>
          </a:p>
          <a:p>
            <a:pPr marL="800100" lvl="1" indent="-342900">
              <a:buFont typeface="+mj-lt"/>
              <a:buAutoNum type="arabicPeriod"/>
            </a:pPr>
            <a:r>
              <a:rPr lang="en-US" sz="1600" b="1" dirty="0"/>
              <a:t>High-High (</a:t>
            </a:r>
            <a:r>
              <a:rPr lang="en-US" sz="1600" b="1" dirty="0">
                <a:solidFill>
                  <a:srgbClr val="FF0000"/>
                </a:solidFill>
              </a:rPr>
              <a:t>Hot Spots</a:t>
            </a:r>
            <a:r>
              <a:rPr lang="en-US" sz="1600" b="1" dirty="0"/>
              <a:t>)</a:t>
            </a:r>
          </a:p>
          <a:p>
            <a:pPr lvl="2"/>
            <a:r>
              <a:rPr lang="en-US" sz="1400" dirty="0"/>
              <a:t>A high-value location surrounded by other high-value neighbors.</a:t>
            </a:r>
          </a:p>
          <a:p>
            <a:pPr lvl="2"/>
            <a:r>
              <a:rPr lang="en-US" sz="1400" dirty="0"/>
              <a:t>Example: A wealthy neighborhood surrounded by other wealthy neighborhoods.</a:t>
            </a:r>
          </a:p>
          <a:p>
            <a:pPr marL="800100" lvl="1" indent="-342900">
              <a:buFont typeface="+mj-lt"/>
              <a:buAutoNum type="arabicPeriod"/>
            </a:pPr>
            <a:r>
              <a:rPr lang="en-US" sz="1600" b="1" dirty="0"/>
              <a:t>Low-Low (</a:t>
            </a:r>
            <a:r>
              <a:rPr lang="en-US" sz="1600" b="1" dirty="0">
                <a:solidFill>
                  <a:srgbClr val="0070C0"/>
                </a:solidFill>
              </a:rPr>
              <a:t>Cold Spots</a:t>
            </a:r>
            <a:r>
              <a:rPr lang="en-US" sz="1600" b="1" dirty="0"/>
              <a:t>)</a:t>
            </a:r>
          </a:p>
          <a:p>
            <a:pPr lvl="2"/>
            <a:r>
              <a:rPr lang="en-US" sz="1400" dirty="0"/>
              <a:t>A low-value location surrounded by other low-value neighbors.</a:t>
            </a:r>
          </a:p>
          <a:p>
            <a:pPr lvl="2"/>
            <a:r>
              <a:rPr lang="en-US" sz="1400" dirty="0"/>
              <a:t>Example: A rural area with low internet speeds surrounded by other areas with slow internet.</a:t>
            </a:r>
          </a:p>
          <a:p>
            <a:pPr marL="800100" lvl="1" indent="-342900">
              <a:buFont typeface="+mj-lt"/>
              <a:buAutoNum type="arabicPeriod"/>
            </a:pPr>
            <a:r>
              <a:rPr lang="en-US" sz="1600" b="1" dirty="0"/>
              <a:t>High-Low (</a:t>
            </a:r>
            <a:r>
              <a:rPr lang="en-US" sz="1600" b="1" dirty="0">
                <a:solidFill>
                  <a:srgbClr val="7030A0"/>
                </a:solidFill>
              </a:rPr>
              <a:t>Spatial Outlier</a:t>
            </a:r>
            <a:r>
              <a:rPr lang="en-US" sz="1600" b="1" dirty="0"/>
              <a:t>)</a:t>
            </a:r>
          </a:p>
          <a:p>
            <a:pPr lvl="2"/>
            <a:r>
              <a:rPr lang="en-US" sz="1400" dirty="0"/>
              <a:t>A "High" value location surrounded by "Low" value neighbors.</a:t>
            </a:r>
          </a:p>
          <a:p>
            <a:pPr lvl="2"/>
            <a:r>
              <a:rPr lang="en-US" sz="1400" dirty="0"/>
              <a:t>Example: A single skyscraper in the middle of a small farming town.</a:t>
            </a:r>
          </a:p>
          <a:p>
            <a:pPr marL="800100" lvl="1" indent="-342900">
              <a:buFont typeface="+mj-lt"/>
              <a:buAutoNum type="arabicPeriod"/>
            </a:pPr>
            <a:r>
              <a:rPr lang="en-US" sz="1600" b="1" dirty="0"/>
              <a:t>Low-High (</a:t>
            </a:r>
            <a:r>
              <a:rPr lang="en-US" sz="1600" b="1" dirty="0">
                <a:solidFill>
                  <a:srgbClr val="7030A0"/>
                </a:solidFill>
              </a:rPr>
              <a:t>Spatial Outlier</a:t>
            </a:r>
            <a:r>
              <a:rPr lang="en-US" sz="1600" b="1" dirty="0"/>
              <a:t>)</a:t>
            </a:r>
          </a:p>
          <a:p>
            <a:pPr lvl="2"/>
            <a:r>
              <a:rPr lang="en-US" sz="1400" dirty="0"/>
              <a:t>A "Low" value location surrounded by "High" value neighbors.</a:t>
            </a:r>
          </a:p>
          <a:p>
            <a:pPr lvl="2"/>
            <a:r>
              <a:rPr lang="en-US" sz="1400" dirty="0"/>
              <a:t>Example: A small park or vacant lot in the middle of a dense, expensive downtown.</a:t>
            </a:r>
          </a:p>
        </p:txBody>
      </p:sp>
      <p:sp>
        <p:nvSpPr>
          <p:cNvPr id="4" name="Slide Number Placeholder 3">
            <a:extLst>
              <a:ext uri="{FF2B5EF4-FFF2-40B4-BE49-F238E27FC236}">
                <a16:creationId xmlns:a16="http://schemas.microsoft.com/office/drawing/2014/main" id="{58F9033B-16CF-89E8-DEE0-D80111EB1AB7}"/>
              </a:ext>
            </a:extLst>
          </p:cNvPr>
          <p:cNvSpPr>
            <a:spLocks noGrp="1"/>
          </p:cNvSpPr>
          <p:nvPr>
            <p:ph type="sldNum" sz="quarter" idx="12"/>
          </p:nvPr>
        </p:nvSpPr>
        <p:spPr/>
        <p:txBody>
          <a:bodyPr/>
          <a:lstStyle/>
          <a:p>
            <a:fld id="{C0343C75-1924-D247-85A3-0CB62E67E5D1}" type="slidenum">
              <a:rPr lang="en-US" smtClean="0"/>
              <a:t>16</a:t>
            </a:fld>
            <a:endParaRPr lang="en-US"/>
          </a:p>
        </p:txBody>
      </p:sp>
    </p:spTree>
    <p:extLst>
      <p:ext uri="{BB962C8B-B14F-4D97-AF65-F5344CB8AC3E}">
        <p14:creationId xmlns:p14="http://schemas.microsoft.com/office/powerpoint/2010/main" val="2944899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CDAC-39D5-60EF-022F-2B9C0F18332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8CC1957-5FC1-F2BC-6C92-70CCCF0D54CF}"/>
                  </a:ext>
                </a:extLst>
              </p:cNvPr>
              <p:cNvSpPr>
                <a:spLocks noGrp="1"/>
              </p:cNvSpPr>
              <p:nvPr>
                <p:ph idx="1"/>
              </p:nvPr>
            </p:nvSpPr>
            <p:spPr>
              <a:xfrm>
                <a:off x="457199" y="321734"/>
                <a:ext cx="8354291" cy="6034618"/>
              </a:xfrm>
            </p:spPr>
            <p:txBody>
              <a:bodyPr>
                <a:noAutofit/>
              </a:bodyPr>
              <a:lstStyle/>
              <a:p>
                <a:pPr marL="0" indent="0">
                  <a:buNone/>
                </a:pPr>
                <a:r>
                  <a:rPr lang="en-US" sz="1800" b="1" dirty="0"/>
                  <a:t>Local Indicators of Spatial Association (LISAs)</a:t>
                </a:r>
                <a:endParaRPr lang="en-US" sz="1600" dirty="0"/>
              </a:p>
              <a:p>
                <a:r>
                  <a:rPr lang="en-US" sz="1600" dirty="0"/>
                  <a:t>The LISA is a class of local SA statistics.</a:t>
                </a:r>
              </a:p>
              <a:p>
                <a:pPr lvl="1"/>
                <a:r>
                  <a:rPr lang="en-US" sz="1400" dirty="0"/>
                  <a:t>Every LISA is related to a global SA index (such as the MC and GR).</a:t>
                </a:r>
              </a:p>
              <a:p>
                <a:pPr lvl="1"/>
                <a:r>
                  <a:rPr lang="en-US" sz="1400" dirty="0"/>
                  <a:t>Local Moran's I for the 𝑖</a:t>
                </a:r>
                <a:r>
                  <a:rPr lang="en-US" sz="1400" baseline="30000" dirty="0"/>
                  <a:t>𝑡</a:t>
                </a:r>
                <a:r>
                  <a:rPr lang="en-US" sz="1400" baseline="30000" dirty="0" err="1"/>
                  <a:t>ℎ</a:t>
                </a:r>
                <a:r>
                  <a:rPr lang="en-US" sz="1400" dirty="0"/>
                  <a:t> unit is</a:t>
                </a:r>
                <a:br>
                  <a:rPr lang="en-US" sz="140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𝑧</m:t>
                        </m:r>
                      </m:e>
                      <m:sub>
                        <m:r>
                          <a:rPr lang="en-US" sz="1400" b="0" i="1" smtClean="0">
                            <a:latin typeface="Cambria Math" panose="02040503050406030204" pitchFamily="18" charset="0"/>
                          </a:rPr>
                          <m:t>𝑖</m:t>
                        </m:r>
                      </m:sub>
                    </m:sSub>
                    <m:nary>
                      <m:naryPr>
                        <m:chr m:val="∑"/>
                        <m:limLoc m:val="subSup"/>
                        <m:ctrlPr>
                          <a:rPr lang="en-US" sz="1400" b="0" i="1" smtClean="0">
                            <a:latin typeface="Cambria Math" panose="02040503050406030204" pitchFamily="18" charset="0"/>
                          </a:rPr>
                        </m:ctrlPr>
                      </m:naryPr>
                      <m:sub>
                        <m:r>
                          <m:rPr>
                            <m:brk m:alnAt="25"/>
                          </m:rPr>
                          <a:rPr lang="en-US" sz="1400" b="0" i="1" smtClean="0">
                            <a:latin typeface="Cambria Math" panose="02040503050406030204" pitchFamily="18" charset="0"/>
                          </a:rPr>
                          <m:t>𝑗</m:t>
                        </m:r>
                      </m:sub>
                      <m:sup>
                        <m:r>
                          <a:rPr lang="en-US" sz="1400" b="0" i="1" smtClean="0">
                            <a:latin typeface="Cambria Math" panose="02040503050406030204" pitchFamily="18" charset="0"/>
                          </a:rPr>
                          <m:t>𝑛</m:t>
                        </m:r>
                      </m:sup>
                      <m:e>
                        <m:sSub>
                          <m:sSubPr>
                            <m:ctrlPr>
                              <a:rPr lang="en-US" sz="1400" i="1">
                                <a:latin typeface="Cambria Math" panose="02040503050406030204" pitchFamily="18" charset="0"/>
                              </a:rPr>
                            </m:ctrlPr>
                          </m:sSubPr>
                          <m:e>
                            <m:r>
                              <a:rPr lang="en-US" sz="1400" i="1">
                                <a:latin typeface="Cambria Math" panose="02040503050406030204" pitchFamily="18" charset="0"/>
                              </a:rPr>
                              <m:t>𝑤</m:t>
                            </m:r>
                          </m:e>
                          <m:sub>
                            <m:r>
                              <a:rPr lang="en-US" sz="1400" i="1">
                                <a:latin typeface="Cambria Math" panose="02040503050406030204" pitchFamily="18" charset="0"/>
                              </a:rPr>
                              <m:t>𝑖𝑗</m:t>
                            </m:r>
                          </m:sub>
                        </m:sSub>
                        <m:sSub>
                          <m:sSubPr>
                            <m:ctrlPr>
                              <a:rPr lang="en-US" sz="1400" i="1">
                                <a:latin typeface="Cambria Math" panose="02040503050406030204" pitchFamily="18" charset="0"/>
                              </a:rPr>
                            </m:ctrlPr>
                          </m:sSubPr>
                          <m:e>
                            <m:r>
                              <a:rPr lang="en-US" sz="1400" i="1">
                                <a:latin typeface="Cambria Math" panose="02040503050406030204" pitchFamily="18" charset="0"/>
                              </a:rPr>
                              <m:t>𝑧</m:t>
                            </m:r>
                          </m:e>
                          <m:sub>
                            <m:r>
                              <a:rPr lang="en-US" sz="1400" i="1">
                                <a:latin typeface="Cambria Math" panose="02040503050406030204" pitchFamily="18" charset="0"/>
                              </a:rPr>
                              <m:t>𝑗</m:t>
                            </m:r>
                          </m:sub>
                        </m:sSub>
                      </m:e>
                    </m:nary>
                  </m:oMath>
                </a14:m>
                <a:endParaRPr lang="en-US" sz="1400" dirty="0"/>
              </a:p>
              <a:p>
                <a:pPr lvl="1"/>
                <a:r>
                  <a:rPr lang="en-US" sz="1400" dirty="0"/>
                  <a:t>And the Local Geary statistic 𝐶</a:t>
                </a:r>
                <a:r>
                  <a:rPr lang="en-US" sz="1400" baseline="-25000" dirty="0"/>
                  <a:t>𝑖</a:t>
                </a:r>
                <a:r>
                  <a:rPr lang="en-US" sz="1400" dirty="0"/>
                  <a:t> is the weighted sum of squared differences </a:t>
                </a:r>
                <a:r>
                  <a:rPr lang="en-US" sz="1400" baseline="30000" dirty="0"/>
                  <a:t>found in the numerator in the GR</a:t>
                </a:r>
                <a:r>
                  <a:rPr lang="en-US" sz="1400" dirty="0"/>
                  <a:t>:</a:t>
                </a:r>
                <a:br>
                  <a:rPr lang="en-US" sz="1400" dirty="0"/>
                </a:br>
                <a14:m>
                  <m:oMath xmlns:m="http://schemas.openxmlformats.org/officeDocument/2006/math">
                    <m:sSub>
                      <m:sSubPr>
                        <m:ctrlPr>
                          <a:rPr lang="en-US" sz="1400" i="1">
                            <a:latin typeface="Cambria Math" panose="02040503050406030204" pitchFamily="18" charset="0"/>
                          </a:rPr>
                        </m:ctrlPr>
                      </m:sSubPr>
                      <m:e>
                        <m:r>
                          <a:rPr lang="en-US" sz="1400" b="0" i="1" smtClean="0">
                            <a:latin typeface="Cambria Math" panose="02040503050406030204" pitchFamily="18" charset="0"/>
                          </a:rPr>
                          <m:t>𝐶</m:t>
                        </m:r>
                      </m:e>
                      <m:sub>
                        <m:r>
                          <a:rPr lang="en-US" sz="1400" i="1">
                            <a:latin typeface="Cambria Math" panose="02040503050406030204" pitchFamily="18" charset="0"/>
                          </a:rPr>
                          <m:t>𝑖</m:t>
                        </m:r>
                      </m:sub>
                    </m:sSub>
                    <m:r>
                      <a:rPr lang="en-US" sz="1400" i="1">
                        <a:latin typeface="Cambria Math" panose="02040503050406030204" pitchFamily="18" charset="0"/>
                      </a:rPr>
                      <m:t>=</m:t>
                    </m:r>
                    <m:nary>
                      <m:naryPr>
                        <m:chr m:val="∑"/>
                        <m:limLoc m:val="subSup"/>
                        <m:ctrlPr>
                          <a:rPr lang="en-US" sz="1400" i="1">
                            <a:latin typeface="Cambria Math" panose="02040503050406030204" pitchFamily="18" charset="0"/>
                          </a:rPr>
                        </m:ctrlPr>
                      </m:naryPr>
                      <m:sub>
                        <m:r>
                          <m:rPr>
                            <m:brk m:alnAt="25"/>
                          </m:rPr>
                          <a:rPr lang="en-US" sz="1400" i="1">
                            <a:latin typeface="Cambria Math" panose="02040503050406030204" pitchFamily="18" charset="0"/>
                          </a:rPr>
                          <m:t>𝑗</m:t>
                        </m:r>
                      </m:sub>
                      <m:sup>
                        <m:r>
                          <a:rPr lang="en-US" sz="1400" i="1">
                            <a:latin typeface="Cambria Math" panose="02040503050406030204" pitchFamily="18" charset="0"/>
                          </a:rPr>
                          <m:t>𝑛</m:t>
                        </m:r>
                      </m:sup>
                      <m:e>
                        <m:sSub>
                          <m:sSubPr>
                            <m:ctrlPr>
                              <a:rPr lang="en-US" sz="1400" i="1">
                                <a:latin typeface="Cambria Math" panose="02040503050406030204" pitchFamily="18" charset="0"/>
                              </a:rPr>
                            </m:ctrlPr>
                          </m:sSubPr>
                          <m:e>
                            <m:r>
                              <a:rPr lang="en-US" sz="1400" i="1">
                                <a:latin typeface="Cambria Math" panose="02040503050406030204" pitchFamily="18" charset="0"/>
                              </a:rPr>
                              <m:t>𝑤</m:t>
                            </m:r>
                          </m:e>
                          <m:sub>
                            <m:r>
                              <a:rPr lang="en-US" sz="1400" i="1">
                                <a:latin typeface="Cambria Math" panose="02040503050406030204" pitchFamily="18" charset="0"/>
                              </a:rPr>
                              <m:t>𝑖𝑗</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𝑗</m:t>
                            </m:r>
                          </m:sub>
                        </m:sSub>
                        <m:r>
                          <a:rPr lang="en-US" sz="1400" i="1">
                            <a:latin typeface="Cambria Math" panose="02040503050406030204" pitchFamily="18" charset="0"/>
                          </a:rPr>
                          <m:t>)</m:t>
                        </m:r>
                      </m:e>
                    </m:nary>
                  </m:oMath>
                </a14:m>
                <a:endParaRPr lang="en-US" sz="1400" dirty="0"/>
              </a:p>
              <a:p>
                <a:pPr marL="457200" lvl="1" indent="0">
                  <a:buNone/>
                </a:pPr>
                <a:r>
                  <a:rPr lang="en-US" sz="1400" dirty="0"/>
                  <a:t>where </a:t>
                </a:r>
                <a14:m>
                  <m:oMath xmlns:m="http://schemas.openxmlformats.org/officeDocument/2006/math">
                    <m:r>
                      <a:rPr lang="en-US" sz="1400" i="1">
                        <a:latin typeface="Cambria Math" panose="02040503050406030204" pitchFamily="18" charset="0"/>
                      </a:rPr>
                      <m:t>𝑧</m:t>
                    </m:r>
                  </m:oMath>
                </a14:m>
                <a:r>
                  <a:rPr lang="en-US" sz="1400" dirty="0"/>
                  <a:t> is the original variable in deviation form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𝑧</m:t>
                        </m:r>
                      </m:e>
                      <m:sub>
                        <m:r>
                          <a:rPr lang="en-US" sz="1400" i="1">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𝑦</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𝑦</m:t>
                        </m:r>
                      </m:e>
                    </m:acc>
                  </m:oMath>
                </a14:m>
                <a:r>
                  <a:rPr lang="en-US" sz="1400" dirty="0"/>
                  <a:t>), and 𝑊 is the spatial connectivity matrix</a:t>
                </a:r>
              </a:p>
              <a:p>
                <a:r>
                  <a:rPr lang="en-US" sz="1600" dirty="0"/>
                  <a:t>A LISA statistic does two specific things for every location:</a:t>
                </a:r>
              </a:p>
              <a:p>
                <a:pPr lvl="1"/>
                <a:r>
                  <a:rPr lang="en-US" sz="1400" b="1" dirty="0"/>
                  <a:t>Indicates Clustering</a:t>
                </a:r>
                <a:r>
                  <a:rPr lang="en-US" sz="1400" dirty="0"/>
                  <a:t>: It tells you if that specific spot is surrounded by similar values </a:t>
                </a:r>
                <a:br>
                  <a:rPr lang="en-US" sz="1400" dirty="0"/>
                </a:br>
                <a:r>
                  <a:rPr lang="en-US" sz="1400" dirty="0"/>
                  <a:t>(forming a cluster).</a:t>
                </a:r>
              </a:p>
              <a:p>
                <a:pPr lvl="1"/>
                <a:r>
                  <a:rPr lang="en-US" sz="1400" b="1" dirty="0"/>
                  <a:t>Summing to Global</a:t>
                </a:r>
                <a:r>
                  <a:rPr lang="en-US" sz="1400" dirty="0"/>
                  <a:t>: If you added up all the LISA values for every location on the map, </a:t>
                </a:r>
                <a:br>
                  <a:rPr lang="en-US" sz="1400" dirty="0"/>
                </a:br>
                <a:r>
                  <a:rPr lang="en-US" sz="1400" dirty="0"/>
                  <a:t>they would equal the "Global" Moran's I.</a:t>
                </a:r>
              </a:p>
              <a:p>
                <a:r>
                  <a:rPr lang="en-US" sz="1600" b="1" dirty="0" err="1"/>
                  <a:t>geostan</a:t>
                </a:r>
                <a:r>
                  <a:rPr lang="en-US" sz="1600" dirty="0"/>
                  <a:t> contains functions for calculating local Geary's C and a local version of the MC, known as local Moran's I.</a:t>
                </a:r>
              </a:p>
              <a:p>
                <a:pPr lvl="1"/>
                <a:r>
                  <a:rPr lang="en-US" sz="1400" dirty="0"/>
                  <a:t>The </a:t>
                </a:r>
                <a:r>
                  <a:rPr lang="en-US" sz="1400" b="1" dirty="0" err="1"/>
                  <a:t>lisa</a:t>
                </a:r>
                <a:r>
                  <a:rPr lang="en-US" sz="1400" dirty="0"/>
                  <a:t> function returns local Moran's I values and indicates which quadrant of the Moran plot the point is found.</a:t>
                </a:r>
              </a:p>
              <a:p>
                <a:pPr lvl="1"/>
                <a:r>
                  <a:rPr lang="en-US" sz="1400" dirty="0"/>
                  <a:t>The </a:t>
                </a:r>
                <a:r>
                  <a:rPr lang="en-US" sz="1400" u="sng" dirty="0"/>
                  <a:t>local Geary statistic*</a:t>
                </a:r>
                <a:r>
                  <a:rPr lang="en-US" sz="1400" dirty="0"/>
                  <a:t> is sensitive to local outliers (negative SA), more so than local Moran's I.</a:t>
                </a:r>
              </a:p>
              <a:p>
                <a:pPr lvl="1"/>
                <a:r>
                  <a:rPr lang="en-US" sz="1400" dirty="0"/>
                  <a:t>This makes these two LISAs complementary: 𝐼</a:t>
                </a:r>
                <a:r>
                  <a:rPr lang="en-US" sz="1400" baseline="-25000" dirty="0"/>
                  <a:t>𝑖</a:t>
                </a:r>
                <a:r>
                  <a:rPr lang="en-US" sz="1400" dirty="0"/>
                  <a:t> is most useful to visualizing clustering behavior, whereas 𝐶</a:t>
                </a:r>
                <a:r>
                  <a:rPr lang="en-US" sz="1400" baseline="-25000" dirty="0"/>
                  <a:t>𝑖</a:t>
                </a:r>
                <a:r>
                  <a:rPr lang="en-US" sz="1400" dirty="0"/>
                  <a:t> is useful for visualizing local outliers.</a:t>
                </a:r>
              </a:p>
              <a:p>
                <a:pPr lvl="1"/>
                <a:r>
                  <a:rPr lang="en-US" sz="1400" dirty="0"/>
                  <a:t>By default, </a:t>
                </a:r>
                <a:r>
                  <a:rPr lang="en-US" sz="1400" b="1" dirty="0" err="1"/>
                  <a:t>geostan</a:t>
                </a:r>
                <a:r>
                  <a:rPr lang="en-US" sz="1400" dirty="0"/>
                  <a:t> will first scale 𝑦 using </a:t>
                </a:r>
                <a:r>
                  <a:rPr lang="en-US" sz="1400" b="1" dirty="0"/>
                  <a:t>z &lt;- scale(y, center = TRUE, scale = TRUE)</a:t>
                </a:r>
                <a:r>
                  <a:rPr lang="en-US" sz="1400" dirty="0"/>
                  <a:t> before calculating either of these LISAs.</a:t>
                </a:r>
              </a:p>
            </p:txBody>
          </p:sp>
        </mc:Choice>
        <mc:Fallback>
          <p:sp>
            <p:nvSpPr>
              <p:cNvPr id="3" name="Content Placeholder 2">
                <a:extLst>
                  <a:ext uri="{FF2B5EF4-FFF2-40B4-BE49-F238E27FC236}">
                    <a16:creationId xmlns:a16="http://schemas.microsoft.com/office/drawing/2014/main" id="{38CC1957-5FC1-F2BC-6C92-70CCCF0D54CF}"/>
                  </a:ext>
                </a:extLst>
              </p:cNvPr>
              <p:cNvSpPr>
                <a:spLocks noGrp="1" noRot="1" noChangeAspect="1" noMove="1" noResize="1" noEditPoints="1" noAdjustHandles="1" noChangeArrowheads="1" noChangeShapeType="1" noTextEdit="1"/>
              </p:cNvSpPr>
              <p:nvPr>
                <p:ph idx="1"/>
              </p:nvPr>
            </p:nvSpPr>
            <p:spPr>
              <a:xfrm>
                <a:off x="457199" y="321734"/>
                <a:ext cx="8354291" cy="6034618"/>
              </a:xfrm>
              <a:blipFill>
                <a:blip r:embed="rId2"/>
                <a:stretch>
                  <a:fillRect l="-608" t="-840" r="-608"/>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BA63220-8599-0404-5D5F-2EEBC477BB60}"/>
              </a:ext>
            </a:extLst>
          </p:cNvPr>
          <p:cNvSpPr>
            <a:spLocks noGrp="1"/>
          </p:cNvSpPr>
          <p:nvPr>
            <p:ph type="sldNum" sz="quarter" idx="12"/>
          </p:nvPr>
        </p:nvSpPr>
        <p:spPr/>
        <p:txBody>
          <a:bodyPr/>
          <a:lstStyle/>
          <a:p>
            <a:fld id="{C0343C75-1924-D247-85A3-0CB62E67E5D1}" type="slidenum">
              <a:rPr lang="en-US" smtClean="0"/>
              <a:t>17</a:t>
            </a:fld>
            <a:endParaRPr lang="en-US"/>
          </a:p>
        </p:txBody>
      </p:sp>
      <p:sp>
        <p:nvSpPr>
          <p:cNvPr id="2" name="TextBox 1">
            <a:extLst>
              <a:ext uri="{FF2B5EF4-FFF2-40B4-BE49-F238E27FC236}">
                <a16:creationId xmlns:a16="http://schemas.microsoft.com/office/drawing/2014/main" id="{BAFEC387-4ECF-C239-30F0-46380C6E0AD8}"/>
              </a:ext>
            </a:extLst>
          </p:cNvPr>
          <p:cNvSpPr txBox="1"/>
          <p:nvPr/>
        </p:nvSpPr>
        <p:spPr>
          <a:xfrm>
            <a:off x="457199" y="6261914"/>
            <a:ext cx="5485925" cy="276999"/>
          </a:xfrm>
          <a:prstGeom prst="rect">
            <a:avLst/>
          </a:prstGeom>
          <a:noFill/>
        </p:spPr>
        <p:txBody>
          <a:bodyPr wrap="none" rtlCol="0">
            <a:spAutoFit/>
          </a:bodyPr>
          <a:lstStyle/>
          <a:p>
            <a:r>
              <a:rPr lang="en-US" sz="1200" dirty="0"/>
              <a:t>* </a:t>
            </a:r>
            <a:r>
              <a:rPr lang="en-US" sz="1200" dirty="0">
                <a:hlinkClick r:id="rId3"/>
              </a:rPr>
              <a:t>https://cran.r-project.org/web/packages/geostan/vignettes/measuring-sa.html</a:t>
            </a:r>
            <a:endParaRPr lang="en-US" sz="1200" dirty="0"/>
          </a:p>
        </p:txBody>
      </p:sp>
    </p:spTree>
    <p:extLst>
      <p:ext uri="{BB962C8B-B14F-4D97-AF65-F5344CB8AC3E}">
        <p14:creationId xmlns:p14="http://schemas.microsoft.com/office/powerpoint/2010/main" val="18755796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9AC70-EC1D-111E-B813-F5879CF378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E5C7E-697D-650E-9BD5-153565327557}"/>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p:txBody>
      </p:sp>
      <p:sp>
        <p:nvSpPr>
          <p:cNvPr id="4" name="Slide Number Placeholder 3">
            <a:extLst>
              <a:ext uri="{FF2B5EF4-FFF2-40B4-BE49-F238E27FC236}">
                <a16:creationId xmlns:a16="http://schemas.microsoft.com/office/drawing/2014/main" id="{11A82876-8F30-5703-A18A-61DD7EF3918B}"/>
              </a:ext>
            </a:extLst>
          </p:cNvPr>
          <p:cNvSpPr>
            <a:spLocks noGrp="1"/>
          </p:cNvSpPr>
          <p:nvPr>
            <p:ph type="sldNum" sz="quarter" idx="12"/>
          </p:nvPr>
        </p:nvSpPr>
        <p:spPr/>
        <p:txBody>
          <a:bodyPr/>
          <a:lstStyle/>
          <a:p>
            <a:fld id="{C0343C75-1924-D247-85A3-0CB62E67E5D1}" type="slidenum">
              <a:rPr lang="en-US" smtClean="0"/>
              <a:t>18</a:t>
            </a:fld>
            <a:endParaRPr lang="en-US"/>
          </a:p>
        </p:txBody>
      </p:sp>
      <p:sp>
        <p:nvSpPr>
          <p:cNvPr id="6" name="Content Placeholder 2">
            <a:extLst>
              <a:ext uri="{FF2B5EF4-FFF2-40B4-BE49-F238E27FC236}">
                <a16:creationId xmlns:a16="http://schemas.microsoft.com/office/drawing/2014/main" id="{DB6056BA-4FCB-3D96-2BE3-C112C0601F12}"/>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x &lt;- log(</a:t>
            </a:r>
            <a:r>
              <a:rPr lang="en-US" sz="1200" b="1" dirty="0" err="1">
                <a:solidFill>
                  <a:srgbClr val="0070C0"/>
                </a:solidFill>
                <a:latin typeface="Consolas" panose="020B0609020204030204" pitchFamily="49" charset="0"/>
                <a:cs typeface="Consolas" panose="020B0609020204030204" pitchFamily="49" charset="0"/>
              </a:rPr>
              <a:t>georgia$income</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lisa</a:t>
            </a:r>
            <a:r>
              <a:rPr lang="en-US" sz="1200" b="1" dirty="0">
                <a:solidFill>
                  <a:srgbClr val="0070C0"/>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head(</a:t>
            </a: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Li type</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0.139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2  0.574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3  1.327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4  1.473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5 -0.688   HL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6  3.282   HH</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Ci &lt;- lg(x, W)</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head(Ci)</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1.183 0.381 1.049 0.347 6.307 0.509</a:t>
            </a:r>
          </a:p>
        </p:txBody>
      </p:sp>
      <p:grpSp>
        <p:nvGrpSpPr>
          <p:cNvPr id="15" name="Group 14">
            <a:extLst>
              <a:ext uri="{FF2B5EF4-FFF2-40B4-BE49-F238E27FC236}">
                <a16:creationId xmlns:a16="http://schemas.microsoft.com/office/drawing/2014/main" id="{497169D3-955D-8A0D-9F19-668FB5533495}"/>
              </a:ext>
            </a:extLst>
          </p:cNvPr>
          <p:cNvGrpSpPr/>
          <p:nvPr/>
        </p:nvGrpSpPr>
        <p:grpSpPr>
          <a:xfrm>
            <a:off x="1918463" y="4136831"/>
            <a:ext cx="4636716" cy="1448790"/>
            <a:chOff x="1965963" y="4386208"/>
            <a:chExt cx="4636716" cy="1448790"/>
          </a:xfrm>
        </p:grpSpPr>
        <p:sp>
          <p:nvSpPr>
            <p:cNvPr id="7" name="TextBox 6">
              <a:extLst>
                <a:ext uri="{FF2B5EF4-FFF2-40B4-BE49-F238E27FC236}">
                  <a16:creationId xmlns:a16="http://schemas.microsoft.com/office/drawing/2014/main" id="{D92C91C3-4F76-3835-E02E-A0C2F1C80FD8}"/>
                </a:ext>
              </a:extLst>
            </p:cNvPr>
            <p:cNvSpPr txBox="1"/>
            <p:nvPr/>
          </p:nvSpPr>
          <p:spPr>
            <a:xfrm>
              <a:off x="2227218" y="4848993"/>
              <a:ext cx="4375461" cy="523220"/>
            </a:xfrm>
            <a:prstGeom prst="rect">
              <a:avLst/>
            </a:prstGeom>
            <a:solidFill>
              <a:srgbClr val="FFD84C"/>
            </a:solidFill>
            <a:ln>
              <a:solidFill>
                <a:srgbClr val="C00000"/>
              </a:solidFill>
            </a:ln>
          </p:spPr>
          <p:txBody>
            <a:bodyPr wrap="square" rtlCol="0">
              <a:spAutoFit/>
            </a:bodyPr>
            <a:lstStyle/>
            <a:p>
              <a:r>
                <a:rPr lang="en-US" sz="1400" dirty="0">
                  <a:solidFill>
                    <a:srgbClr val="C00000"/>
                  </a:solidFill>
                </a:rPr>
                <a:t>"HH" indicates a high value surrounded by high values;</a:t>
              </a:r>
              <a:br>
                <a:rPr lang="en-US" sz="1400" dirty="0">
                  <a:solidFill>
                    <a:srgbClr val="C00000"/>
                  </a:solidFill>
                </a:rPr>
              </a:br>
              <a:r>
                <a:rPr lang="en-US" sz="1400" dirty="0">
                  <a:solidFill>
                    <a:srgbClr val="C00000"/>
                  </a:solidFill>
                </a:rPr>
                <a:t>"LL" is a low surrounded by low values, and so on.</a:t>
              </a:r>
            </a:p>
          </p:txBody>
        </p:sp>
        <p:sp>
          <p:nvSpPr>
            <p:cNvPr id="8" name="Right Brace 7">
              <a:extLst>
                <a:ext uri="{FF2B5EF4-FFF2-40B4-BE49-F238E27FC236}">
                  <a16:creationId xmlns:a16="http://schemas.microsoft.com/office/drawing/2014/main" id="{9C52360B-E612-A1DB-C0B9-E3D802EF9C4E}"/>
                </a:ext>
              </a:extLst>
            </p:cNvPr>
            <p:cNvSpPr/>
            <p:nvPr/>
          </p:nvSpPr>
          <p:spPr>
            <a:xfrm>
              <a:off x="1965963" y="4386208"/>
              <a:ext cx="178130" cy="1448790"/>
            </a:xfrm>
            <a:prstGeom prst="rightBrace">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4" name="TextBox 13">
            <a:extLst>
              <a:ext uri="{FF2B5EF4-FFF2-40B4-BE49-F238E27FC236}">
                <a16:creationId xmlns:a16="http://schemas.microsoft.com/office/drawing/2014/main" id="{7D693B98-FCCE-0173-DD1B-7A4FC72D2D6B}"/>
              </a:ext>
            </a:extLst>
          </p:cNvPr>
          <p:cNvSpPr txBox="1"/>
          <p:nvPr/>
        </p:nvSpPr>
        <p:spPr>
          <a:xfrm>
            <a:off x="3589912" y="5931530"/>
            <a:ext cx="5096888" cy="307777"/>
          </a:xfrm>
          <a:prstGeom prst="rect">
            <a:avLst/>
          </a:prstGeom>
          <a:solidFill>
            <a:srgbClr val="FFD84C"/>
          </a:solidFill>
        </p:spPr>
        <p:txBody>
          <a:bodyPr wrap="square" rtlCol="0">
            <a:spAutoFit/>
          </a:bodyPr>
          <a:lstStyle/>
          <a:p>
            <a:r>
              <a:rPr lang="en-US" sz="1400" dirty="0"/>
              <a:t>The local Geary statistic can be calculated using the lg function.</a:t>
            </a:r>
          </a:p>
        </p:txBody>
      </p:sp>
    </p:spTree>
    <p:extLst>
      <p:ext uri="{BB962C8B-B14F-4D97-AF65-F5344CB8AC3E}">
        <p14:creationId xmlns:p14="http://schemas.microsoft.com/office/powerpoint/2010/main" val="42064839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C4CAB-5A85-3178-1511-A6CF8B4FB04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8118A0-9B7E-71FA-870C-890A4CB63BC1}"/>
              </a:ext>
            </a:extLst>
          </p:cNvPr>
          <p:cNvSpPr>
            <a:spLocks noGrp="1"/>
          </p:cNvSpPr>
          <p:nvPr>
            <p:ph type="sldNum" sz="quarter" idx="12"/>
          </p:nvPr>
        </p:nvSpPr>
        <p:spPr/>
        <p:txBody>
          <a:bodyPr/>
          <a:lstStyle/>
          <a:p>
            <a:fld id="{C0343C75-1924-D247-85A3-0CB62E67E5D1}" type="slidenum">
              <a:rPr lang="en-US" smtClean="0"/>
              <a:t>19</a:t>
            </a:fld>
            <a:endParaRPr lang="en-US"/>
          </a:p>
        </p:txBody>
      </p:sp>
      <p:pic>
        <p:nvPicPr>
          <p:cNvPr id="2" name="Picture 1">
            <a:extLst>
              <a:ext uri="{FF2B5EF4-FFF2-40B4-BE49-F238E27FC236}">
                <a16:creationId xmlns:a16="http://schemas.microsoft.com/office/drawing/2014/main" id="{9520A0C6-FDAA-4C7F-C42D-FA10936E7E3E}"/>
              </a:ext>
            </a:extLst>
          </p:cNvPr>
          <p:cNvPicPr>
            <a:picLocks noChangeAspect="1"/>
          </p:cNvPicPr>
          <p:nvPr/>
        </p:nvPicPr>
        <p:blipFill>
          <a:blip r:embed="rId2"/>
          <a:stretch>
            <a:fillRect/>
          </a:stretch>
        </p:blipFill>
        <p:spPr>
          <a:xfrm>
            <a:off x="1005840" y="1471901"/>
            <a:ext cx="7132320" cy="2925574"/>
          </a:xfrm>
          <a:prstGeom prst="rect">
            <a:avLst/>
          </a:prstGeom>
        </p:spPr>
      </p:pic>
      <p:sp>
        <p:nvSpPr>
          <p:cNvPr id="5" name="Content Placeholder 2">
            <a:extLst>
              <a:ext uri="{FF2B5EF4-FFF2-40B4-BE49-F238E27FC236}">
                <a16:creationId xmlns:a16="http://schemas.microsoft.com/office/drawing/2014/main" id="{78529DC2-9770-9311-C49C-0F0367C90251}"/>
              </a:ext>
            </a:extLst>
          </p:cNvPr>
          <p:cNvSpPr txBox="1">
            <a:spLocks/>
          </p:cNvSpPr>
          <p:nvPr/>
        </p:nvSpPr>
        <p:spPr>
          <a:xfrm>
            <a:off x="457200" y="4144487"/>
            <a:ext cx="8229600" cy="23917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Ci_map</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ggplot</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geom_sf</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aes</a:t>
            </a:r>
            <a:r>
              <a:rPr lang="en-US" sz="1200" b="1" dirty="0">
                <a:solidFill>
                  <a:srgbClr val="0070C0"/>
                </a:solidFill>
                <a:latin typeface="Consolas" panose="020B0609020204030204" pitchFamily="49" charset="0"/>
                <a:cs typeface="Consolas" panose="020B0609020204030204" pitchFamily="49" charset="0"/>
              </a:rPr>
              <a:t>(fill=Ci))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scale_fill_gradient</a:t>
            </a:r>
            <a:r>
              <a:rPr lang="en-US" sz="1200" b="1" dirty="0">
                <a:solidFill>
                  <a:srgbClr val="0070C0"/>
                </a:solidFill>
                <a:latin typeface="Consolas" panose="020B0609020204030204" pitchFamily="49" charset="0"/>
                <a:cs typeface="Consolas" panose="020B0609020204030204" pitchFamily="49" charset="0"/>
              </a:rPr>
              <a:t>(high = "navy",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low = "white") + </a:t>
            </a:r>
            <a:r>
              <a:rPr lang="en-US" sz="1200" b="1" dirty="0" err="1">
                <a:solidFill>
                  <a:srgbClr val="0070C0"/>
                </a:solidFill>
                <a:latin typeface="Consolas" panose="020B0609020204030204" pitchFamily="49" charset="0"/>
                <a:cs typeface="Consolas" panose="020B0609020204030204" pitchFamily="49" charset="0"/>
              </a:rPr>
              <a:t>theme_void</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C00000"/>
                </a:solidFill>
                <a:latin typeface="Consolas" panose="020B0609020204030204" pitchFamily="49" charset="0"/>
                <a:cs typeface="Consolas" panose="020B0609020204030204" pitchFamily="49" charset="0"/>
              </a:rPr>
              <a:t>Li_map</a:t>
            </a:r>
            <a:r>
              <a:rPr lang="en-US" sz="1200" b="1" dirty="0">
                <a:solidFill>
                  <a:srgbClr val="C00000"/>
                </a:solidFill>
                <a:latin typeface="Consolas" panose="020B0609020204030204" pitchFamily="49" charset="0"/>
                <a:cs typeface="Consolas" panose="020B0609020204030204" pitchFamily="49" charset="0"/>
              </a:rPr>
              <a:t> &lt;- </a:t>
            </a:r>
            <a:r>
              <a:rPr lang="en-US" sz="1200" b="1" dirty="0" err="1">
                <a:solidFill>
                  <a:srgbClr val="C00000"/>
                </a:solidFill>
                <a:latin typeface="Consolas" panose="020B0609020204030204" pitchFamily="49" charset="0"/>
                <a:cs typeface="Consolas" panose="020B0609020204030204" pitchFamily="49" charset="0"/>
              </a:rPr>
              <a:t>ggplot</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georgia</a:t>
            </a:r>
            <a:r>
              <a:rPr lang="en-US" sz="1200" b="1" dirty="0">
                <a:solidFill>
                  <a:srgbClr val="C0000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a:t>
            </a:r>
            <a:r>
              <a:rPr lang="en-US" sz="1200" b="1" dirty="0" err="1">
                <a:solidFill>
                  <a:srgbClr val="C00000"/>
                </a:solidFill>
                <a:latin typeface="Consolas" panose="020B0609020204030204" pitchFamily="49" charset="0"/>
                <a:cs typeface="Consolas" panose="020B0609020204030204" pitchFamily="49" charset="0"/>
              </a:rPr>
              <a:t>geom_sf</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aes</a:t>
            </a:r>
            <a:r>
              <a:rPr lang="en-US" sz="1200" b="1" dirty="0">
                <a:solidFill>
                  <a:srgbClr val="C00000"/>
                </a:solidFill>
                <a:latin typeface="Consolas" panose="020B0609020204030204" pitchFamily="49" charset="0"/>
                <a:cs typeface="Consolas" panose="020B0609020204030204" pitchFamily="49" charset="0"/>
              </a:rPr>
              <a:t>(fill=</a:t>
            </a:r>
            <a:r>
              <a:rPr lang="en-US" sz="1200" b="1" dirty="0" err="1">
                <a:solidFill>
                  <a:srgbClr val="C00000"/>
                </a:solidFill>
                <a:latin typeface="Consolas" panose="020B0609020204030204" pitchFamily="49" charset="0"/>
                <a:cs typeface="Consolas" panose="020B0609020204030204" pitchFamily="49" charset="0"/>
              </a:rPr>
              <a:t>Ii$Li</a:t>
            </a:r>
            <a:r>
              <a:rPr lang="en-US" sz="1200" b="1" dirty="0">
                <a:solidFill>
                  <a:srgbClr val="C0000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scale_fill_gradient2(name = "</a:t>
            </a:r>
            <a:r>
              <a:rPr lang="en-US" sz="1200" b="1" dirty="0" err="1">
                <a:solidFill>
                  <a:srgbClr val="C00000"/>
                </a:solidFill>
                <a:latin typeface="Consolas" panose="020B0609020204030204" pitchFamily="49" charset="0"/>
                <a:cs typeface="Consolas" panose="020B0609020204030204" pitchFamily="49" charset="0"/>
              </a:rPr>
              <a:t>Ii</a:t>
            </a:r>
            <a:r>
              <a:rPr lang="en-US" sz="1200" b="1" dirty="0">
                <a:solidFill>
                  <a:srgbClr val="C00000"/>
                </a:solidFill>
                <a:latin typeface="Consolas" panose="020B0609020204030204" pitchFamily="49" charset="0"/>
                <a:cs typeface="Consolas" panose="020B0609020204030204" pitchFamily="49" charset="0"/>
              </a:rPr>
              <a:t>") + </a:t>
            </a:r>
            <a:r>
              <a:rPr lang="en-US" sz="1200" b="1" dirty="0" err="1">
                <a:solidFill>
                  <a:srgbClr val="C00000"/>
                </a:solidFill>
                <a:latin typeface="Consolas" panose="020B0609020204030204" pitchFamily="49" charset="0"/>
                <a:cs typeface="Consolas" panose="020B0609020204030204" pitchFamily="49" charset="0"/>
              </a:rPr>
              <a:t>theme_void</a:t>
            </a:r>
            <a:r>
              <a:rPr lang="en-US" sz="1200" b="1" dirty="0">
                <a:solidFill>
                  <a:srgbClr val="C0000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C0000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00B050"/>
                </a:solidFill>
                <a:latin typeface="Consolas" panose="020B0609020204030204" pitchFamily="49" charset="0"/>
                <a:cs typeface="Consolas" panose="020B0609020204030204" pitchFamily="49" charset="0"/>
              </a:rPr>
              <a:t>gridExtra</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grid.arrange</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Ci_map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Li_map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nrow</a:t>
            </a:r>
            <a:r>
              <a:rPr lang="en-US" sz="1200" b="1" dirty="0">
                <a:solidFill>
                  <a:srgbClr val="00B050"/>
                </a:solidFill>
                <a:latin typeface="Consolas" panose="020B0609020204030204" pitchFamily="49" charset="0"/>
                <a:cs typeface="Consolas" panose="020B0609020204030204" pitchFamily="49" charset="0"/>
              </a:rPr>
              <a:t> = 1)</a:t>
            </a:r>
          </a:p>
        </p:txBody>
      </p:sp>
      <p:sp>
        <p:nvSpPr>
          <p:cNvPr id="6" name="TextBox 5">
            <a:extLst>
              <a:ext uri="{FF2B5EF4-FFF2-40B4-BE49-F238E27FC236}">
                <a16:creationId xmlns:a16="http://schemas.microsoft.com/office/drawing/2014/main" id="{73F749A4-A12A-59AF-0252-5CB3987BF56B}"/>
              </a:ext>
            </a:extLst>
          </p:cNvPr>
          <p:cNvSpPr txBox="1"/>
          <p:nvPr/>
        </p:nvSpPr>
        <p:spPr>
          <a:xfrm>
            <a:off x="7212776" y="1090701"/>
            <a:ext cx="1474024" cy="1015663"/>
          </a:xfrm>
          <a:prstGeom prst="rect">
            <a:avLst/>
          </a:prstGeom>
          <a:solidFill>
            <a:srgbClr val="FFD84C"/>
          </a:solidFill>
        </p:spPr>
        <p:txBody>
          <a:bodyPr wrap="square" rtlCol="0">
            <a:spAutoFit/>
          </a:bodyPr>
          <a:lstStyle/>
          <a:p>
            <a:pPr algn="r"/>
            <a:r>
              <a:rPr lang="en-US" sz="1200" dirty="0"/>
              <a:t>Due to their complementary strengths, these two indices are best used together.</a:t>
            </a:r>
          </a:p>
        </p:txBody>
      </p:sp>
      <p:sp>
        <p:nvSpPr>
          <p:cNvPr id="7" name="TextBox 6">
            <a:extLst>
              <a:ext uri="{FF2B5EF4-FFF2-40B4-BE49-F238E27FC236}">
                <a16:creationId xmlns:a16="http://schemas.microsoft.com/office/drawing/2014/main" id="{D5434B6F-A2DB-E9FD-4665-C1D617CAAF32}"/>
              </a:ext>
            </a:extLst>
          </p:cNvPr>
          <p:cNvSpPr txBox="1"/>
          <p:nvPr/>
        </p:nvSpPr>
        <p:spPr>
          <a:xfrm>
            <a:off x="5153891" y="4325025"/>
            <a:ext cx="3532909" cy="2031325"/>
          </a:xfrm>
          <a:prstGeom prst="rect">
            <a:avLst/>
          </a:prstGeom>
          <a:solidFill>
            <a:srgbClr val="FFD84C"/>
          </a:solidFill>
        </p:spPr>
        <p:txBody>
          <a:bodyPr wrap="square" rtlCol="0">
            <a:spAutoFit/>
          </a:bodyPr>
          <a:lstStyle/>
          <a:p>
            <a:r>
              <a:rPr lang="en-US" sz="1400" dirty="0"/>
              <a:t>LISA is the most useful tool because it provides a </a:t>
            </a:r>
            <a:r>
              <a:rPr lang="en-US" sz="1400" b="1" dirty="0"/>
              <a:t>Cluster Map</a:t>
            </a:r>
            <a:r>
              <a:rPr lang="en-US" sz="1400" dirty="0"/>
              <a:t>.</a:t>
            </a:r>
          </a:p>
          <a:p>
            <a:endParaRPr lang="en-US" sz="1400" dirty="0"/>
          </a:p>
          <a:p>
            <a:r>
              <a:rPr lang="en-US" sz="1400" dirty="0"/>
              <a:t>Instead of just saying "the state has a high crime rate," a LISA map can show you the specific blocks where the crime is clustered (Hot Spots) or the specific safe zones (Cold Spots). It helps people put resources exactly where they are needed most.</a:t>
            </a:r>
          </a:p>
        </p:txBody>
      </p:sp>
      <p:sp>
        <p:nvSpPr>
          <p:cNvPr id="3" name="Content Placeholder 2">
            <a:extLst>
              <a:ext uri="{FF2B5EF4-FFF2-40B4-BE49-F238E27FC236}">
                <a16:creationId xmlns:a16="http://schemas.microsoft.com/office/drawing/2014/main" id="{FBC64C5A-3C74-D26A-C53B-4CFA2FB24CA1}"/>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a:p>
            <a:r>
              <a:rPr lang="en-US" sz="1600" dirty="0"/>
              <a:t>Maps of the two local statistics highlight different qualities:</a:t>
            </a:r>
          </a:p>
          <a:p>
            <a:pPr lvl="1"/>
            <a:r>
              <a:rPr lang="en-US" sz="1600" dirty="0"/>
              <a:t>𝐼</a:t>
            </a:r>
            <a:r>
              <a:rPr lang="en-US" sz="1600" baseline="-25000" dirty="0"/>
              <a:t>𝑖</a:t>
            </a:r>
            <a:r>
              <a:rPr lang="en-US" sz="1600" dirty="0"/>
              <a:t> draws attention to clustering,</a:t>
            </a:r>
          </a:p>
          <a:p>
            <a:pPr lvl="1"/>
            <a:r>
              <a:rPr lang="en-US" sz="1600" dirty="0"/>
              <a:t>𝐶</a:t>
            </a:r>
            <a:r>
              <a:rPr lang="en-US" sz="1600" baseline="-25000" dirty="0"/>
              <a:t>𝑖</a:t>
            </a:r>
            <a:r>
              <a:rPr lang="en-US" sz="1600" dirty="0"/>
              <a:t> draws attention to discontinuities and outliers.</a:t>
            </a:r>
          </a:p>
        </p:txBody>
      </p:sp>
    </p:spTree>
    <p:extLst>
      <p:ext uri="{BB962C8B-B14F-4D97-AF65-F5344CB8AC3E}">
        <p14:creationId xmlns:p14="http://schemas.microsoft.com/office/powerpoint/2010/main" val="4319849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5C746-258A-4683-1545-B1EE7B03B93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58B825-D805-C9DF-7CD2-A1F721D0B669}"/>
              </a:ext>
            </a:extLst>
          </p:cNvPr>
          <p:cNvSpPr>
            <a:spLocks noGrp="1"/>
          </p:cNvSpPr>
          <p:nvPr>
            <p:ph idx="1"/>
          </p:nvPr>
        </p:nvSpPr>
        <p:spPr>
          <a:xfrm>
            <a:off x="457200" y="321734"/>
            <a:ext cx="8229600" cy="6034618"/>
          </a:xfrm>
        </p:spPr>
        <p:txBody>
          <a:bodyPr>
            <a:noAutofit/>
          </a:bodyPr>
          <a:lstStyle/>
          <a:p>
            <a:pPr marL="0" indent="0">
              <a:buNone/>
            </a:pPr>
            <a:r>
              <a:rPr lang="en-US" sz="1800" b="1" dirty="0"/>
              <a:t>Effective Sample Size</a:t>
            </a:r>
          </a:p>
          <a:p>
            <a:endParaRPr lang="en-US" sz="1600" dirty="0"/>
          </a:p>
        </p:txBody>
      </p:sp>
      <p:sp>
        <p:nvSpPr>
          <p:cNvPr id="4" name="Slide Number Placeholder 3">
            <a:extLst>
              <a:ext uri="{FF2B5EF4-FFF2-40B4-BE49-F238E27FC236}">
                <a16:creationId xmlns:a16="http://schemas.microsoft.com/office/drawing/2014/main" id="{1E1AD20C-9FD5-FAF7-E84B-F94ED338BC26}"/>
              </a:ext>
            </a:extLst>
          </p:cNvPr>
          <p:cNvSpPr>
            <a:spLocks noGrp="1"/>
          </p:cNvSpPr>
          <p:nvPr>
            <p:ph type="sldNum" sz="quarter" idx="12"/>
          </p:nvPr>
        </p:nvSpPr>
        <p:spPr/>
        <p:txBody>
          <a:bodyPr/>
          <a:lstStyle/>
          <a:p>
            <a:fld id="{C0343C75-1924-D247-85A3-0CB62E67E5D1}" type="slidenum">
              <a:rPr lang="en-US" smtClean="0"/>
              <a:t>20</a:t>
            </a:fld>
            <a:endParaRPr lang="en-US"/>
          </a:p>
        </p:txBody>
      </p:sp>
    </p:spTree>
    <p:extLst>
      <p:ext uri="{BB962C8B-B14F-4D97-AF65-F5344CB8AC3E}">
        <p14:creationId xmlns:p14="http://schemas.microsoft.com/office/powerpoint/2010/main" val="32497082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E4B0E-94C3-DD25-A198-12D7E66BE00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5233D4-C3DA-BED4-5A6C-1B34DFBBDD72}"/>
              </a:ext>
            </a:extLst>
          </p:cNvPr>
          <p:cNvSpPr>
            <a:spLocks noGrp="1"/>
          </p:cNvSpPr>
          <p:nvPr>
            <p:ph idx="1"/>
          </p:nvPr>
        </p:nvSpPr>
        <p:spPr>
          <a:xfrm>
            <a:off x="457200" y="321734"/>
            <a:ext cx="8229600" cy="6034618"/>
          </a:xfrm>
        </p:spPr>
        <p:txBody>
          <a:bodyPr>
            <a:noAutofit/>
          </a:bodyPr>
          <a:lstStyle/>
          <a:p>
            <a:pPr marL="0" indent="0">
              <a:buNone/>
            </a:pPr>
            <a:r>
              <a:rPr lang="en-US" sz="1800" b="1" dirty="0"/>
              <a:t>Point Pattern</a:t>
            </a:r>
          </a:p>
          <a:p>
            <a:endParaRPr lang="en-US" sz="1600" dirty="0"/>
          </a:p>
        </p:txBody>
      </p:sp>
      <p:sp>
        <p:nvSpPr>
          <p:cNvPr id="4" name="Slide Number Placeholder 3">
            <a:extLst>
              <a:ext uri="{FF2B5EF4-FFF2-40B4-BE49-F238E27FC236}">
                <a16:creationId xmlns:a16="http://schemas.microsoft.com/office/drawing/2014/main" id="{999A8398-E0C9-18EB-3566-0BE9669B31C2}"/>
              </a:ext>
            </a:extLst>
          </p:cNvPr>
          <p:cNvSpPr>
            <a:spLocks noGrp="1"/>
          </p:cNvSpPr>
          <p:nvPr>
            <p:ph type="sldNum" sz="quarter" idx="12"/>
          </p:nvPr>
        </p:nvSpPr>
        <p:spPr/>
        <p:txBody>
          <a:bodyPr/>
          <a:lstStyle/>
          <a:p>
            <a:fld id="{C0343C75-1924-D247-85A3-0CB62E67E5D1}" type="slidenum">
              <a:rPr lang="en-US" smtClean="0"/>
              <a:t>21</a:t>
            </a:fld>
            <a:endParaRPr lang="en-US"/>
          </a:p>
        </p:txBody>
      </p:sp>
    </p:spTree>
    <p:extLst>
      <p:ext uri="{BB962C8B-B14F-4D97-AF65-F5344CB8AC3E}">
        <p14:creationId xmlns:p14="http://schemas.microsoft.com/office/powerpoint/2010/main" val="4562763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48ED1-B3FF-B33C-9383-8FD78C71318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B56AE6-2093-FE10-2CC6-5CC4A65790F6}"/>
              </a:ext>
            </a:extLst>
          </p:cNvPr>
          <p:cNvSpPr>
            <a:spLocks noGrp="1"/>
          </p:cNvSpPr>
          <p:nvPr>
            <p:ph idx="1"/>
          </p:nvPr>
        </p:nvSpPr>
        <p:spPr>
          <a:xfrm>
            <a:off x="457200" y="321734"/>
            <a:ext cx="8229600" cy="6034618"/>
          </a:xfrm>
        </p:spPr>
        <p:txBody>
          <a:bodyPr>
            <a:noAutofit/>
          </a:bodyPr>
          <a:lstStyle/>
          <a:p>
            <a:pPr marL="0" indent="0">
              <a:buNone/>
            </a:pPr>
            <a:r>
              <a:rPr lang="en-US" sz="1800" b="1" dirty="0"/>
              <a:t>Interpolation</a:t>
            </a:r>
          </a:p>
          <a:p>
            <a:endParaRPr lang="en-US" sz="1600" dirty="0"/>
          </a:p>
        </p:txBody>
      </p:sp>
      <p:sp>
        <p:nvSpPr>
          <p:cNvPr id="4" name="Slide Number Placeholder 3">
            <a:extLst>
              <a:ext uri="{FF2B5EF4-FFF2-40B4-BE49-F238E27FC236}">
                <a16:creationId xmlns:a16="http://schemas.microsoft.com/office/drawing/2014/main" id="{E0471A3A-81F9-50F1-C215-02E64CAC70DD}"/>
              </a:ext>
            </a:extLst>
          </p:cNvPr>
          <p:cNvSpPr>
            <a:spLocks noGrp="1"/>
          </p:cNvSpPr>
          <p:nvPr>
            <p:ph type="sldNum" sz="quarter" idx="12"/>
          </p:nvPr>
        </p:nvSpPr>
        <p:spPr/>
        <p:txBody>
          <a:bodyPr/>
          <a:lstStyle/>
          <a:p>
            <a:fld id="{C0343C75-1924-D247-85A3-0CB62E67E5D1}" type="slidenum">
              <a:rPr lang="en-US" smtClean="0"/>
              <a:t>22</a:t>
            </a:fld>
            <a:endParaRPr lang="en-US"/>
          </a:p>
        </p:txBody>
      </p:sp>
    </p:spTree>
    <p:extLst>
      <p:ext uri="{BB962C8B-B14F-4D97-AF65-F5344CB8AC3E}">
        <p14:creationId xmlns:p14="http://schemas.microsoft.com/office/powerpoint/2010/main" val="42477472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183F7-89EA-9A68-1A69-F5E6FEA87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50E41-2E39-E43E-5295-1F5CA4FD9E2A}"/>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E2FB43DE-EACC-8822-7145-5389C9F57F1D}"/>
              </a:ext>
            </a:extLst>
          </p:cNvPr>
          <p:cNvSpPr>
            <a:spLocks noGrp="1"/>
          </p:cNvSpPr>
          <p:nvPr>
            <p:ph idx="1"/>
          </p:nvPr>
        </p:nvSpPr>
        <p:spPr/>
        <p:txBody>
          <a:bodyPr/>
          <a:lstStyle/>
          <a:p>
            <a:r>
              <a:rPr lang="en-US" dirty="0"/>
              <a:t>Spatial Data Science</a:t>
            </a:r>
            <a:br>
              <a:rPr lang="en-US" dirty="0"/>
            </a:br>
            <a:r>
              <a:rPr lang="en-US" dirty="0">
                <a:hlinkClick r:id="rId2"/>
              </a:rPr>
              <a:t>https://r-spatial.org/book/</a:t>
            </a:r>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5F379B02-505A-1D31-BDF3-236A0DEF457C}"/>
              </a:ext>
            </a:extLst>
          </p:cNvPr>
          <p:cNvSpPr>
            <a:spLocks noGrp="1"/>
          </p:cNvSpPr>
          <p:nvPr>
            <p:ph type="sldNum" sz="quarter" idx="12"/>
          </p:nvPr>
        </p:nvSpPr>
        <p:spPr/>
        <p:txBody>
          <a:bodyPr/>
          <a:lstStyle/>
          <a:p>
            <a:fld id="{C0343C75-1924-D247-85A3-0CB62E67E5D1}" type="slidenum">
              <a:rPr lang="en-US" smtClean="0"/>
              <a:t>23</a:t>
            </a:fld>
            <a:endParaRPr lang="en-US"/>
          </a:p>
        </p:txBody>
      </p:sp>
    </p:spTree>
    <p:extLst>
      <p:ext uri="{BB962C8B-B14F-4D97-AF65-F5344CB8AC3E}">
        <p14:creationId xmlns:p14="http://schemas.microsoft.com/office/powerpoint/2010/main" val="26233671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778A9-DF75-760E-5946-D5CB9BB0CCCA}"/>
              </a:ext>
            </a:extLst>
          </p:cNvPr>
          <p:cNvSpPr>
            <a:spLocks noGrp="1"/>
          </p:cNvSpPr>
          <p:nvPr>
            <p:ph type="title"/>
          </p:nvPr>
        </p:nvSpPr>
        <p:spPr/>
        <p:txBody>
          <a:bodyPr/>
          <a:lstStyle/>
          <a:p>
            <a:r>
              <a:rPr lang="en-US" dirty="0"/>
              <a:t>Next</a:t>
            </a:r>
            <a:br>
              <a:rPr lang="en-US" dirty="0"/>
            </a:br>
            <a:r>
              <a:rPr lang="en-US" b="1" dirty="0"/>
              <a:t>Spatial Modeling</a:t>
            </a:r>
          </a:p>
        </p:txBody>
      </p:sp>
      <p:sp>
        <p:nvSpPr>
          <p:cNvPr id="3" name="Content Placeholder 2">
            <a:extLst>
              <a:ext uri="{FF2B5EF4-FFF2-40B4-BE49-F238E27FC236}">
                <a16:creationId xmlns:a16="http://schemas.microsoft.com/office/drawing/2014/main" id="{9D8C69DB-0DB5-ECA1-24D0-4233342F2729}"/>
              </a:ext>
            </a:extLst>
          </p:cNvPr>
          <p:cNvSpPr>
            <a:spLocks noGrp="1"/>
          </p:cNvSpPr>
          <p:nvPr>
            <p:ph idx="1"/>
          </p:nvPr>
        </p:nvSpPr>
        <p:spPr/>
        <p:txBody>
          <a:bodyPr/>
          <a:lstStyle/>
          <a:p>
            <a:r>
              <a:rPr lang="en-US" dirty="0"/>
              <a:t>Spatial regression</a:t>
            </a:r>
            <a:br>
              <a:rPr lang="en-US" dirty="0"/>
            </a:br>
            <a:r>
              <a:rPr lang="en-US" dirty="0">
                <a:hlinkClick r:id="rId2"/>
              </a:rPr>
              <a:t>https://r-spatial.org/book/16-SpatialRegression.html</a:t>
            </a:r>
            <a:endParaRPr lang="en-US" dirty="0"/>
          </a:p>
          <a:p>
            <a:r>
              <a:rPr lang="en-US" dirty="0"/>
              <a:t>Spatial econometrics models</a:t>
            </a:r>
            <a:br>
              <a:rPr lang="en-US" dirty="0"/>
            </a:br>
            <a:r>
              <a:rPr lang="en-US" dirty="0">
                <a:hlinkClick r:id="rId3"/>
              </a:rPr>
              <a:t>https://r-spatial.org/book/17-Econometrics.html</a:t>
            </a:r>
            <a:endParaRPr lang="en-US" dirty="0"/>
          </a:p>
          <a:p>
            <a:pPr lvl="1"/>
            <a:endParaRPr lang="en-US" dirty="0"/>
          </a:p>
        </p:txBody>
      </p:sp>
      <p:sp>
        <p:nvSpPr>
          <p:cNvPr id="4" name="Slide Number Placeholder 3">
            <a:extLst>
              <a:ext uri="{FF2B5EF4-FFF2-40B4-BE49-F238E27FC236}">
                <a16:creationId xmlns:a16="http://schemas.microsoft.com/office/drawing/2014/main" id="{D2808ED0-60BE-81B0-39D1-0C0EE44FDD5E}"/>
              </a:ext>
            </a:extLst>
          </p:cNvPr>
          <p:cNvSpPr>
            <a:spLocks noGrp="1"/>
          </p:cNvSpPr>
          <p:nvPr>
            <p:ph type="sldNum" sz="quarter" idx="12"/>
          </p:nvPr>
        </p:nvSpPr>
        <p:spPr/>
        <p:txBody>
          <a:bodyPr/>
          <a:lstStyle/>
          <a:p>
            <a:fld id="{C0343C75-1924-D247-85A3-0CB62E67E5D1}" type="slidenum">
              <a:rPr lang="en-US" smtClean="0"/>
              <a:t>24</a:t>
            </a:fld>
            <a:endParaRPr lang="en-US"/>
          </a:p>
        </p:txBody>
      </p:sp>
    </p:spTree>
    <p:extLst>
      <p:ext uri="{BB962C8B-B14F-4D97-AF65-F5344CB8AC3E}">
        <p14:creationId xmlns:p14="http://schemas.microsoft.com/office/powerpoint/2010/main" val="239341678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2887</TotalTime>
  <Words>2701</Words>
  <Application>Microsoft Macintosh PowerPoint</Application>
  <PresentationFormat>On-screen Show (4:3)</PresentationFormat>
  <Paragraphs>305</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Aptos Display</vt:lpstr>
      <vt:lpstr>Arial</vt:lpstr>
      <vt:lpstr>Cambria Math</vt:lpstr>
      <vt:lpstr>Consolas</vt:lpstr>
      <vt:lpstr>Office Theme</vt:lpstr>
      <vt:lpstr>Spatial Statistics</vt:lpstr>
      <vt:lpstr>Introduction</vt:lpstr>
      <vt:lpstr>Exploratory Data Analysis (EDA)</vt:lpstr>
      <vt:lpstr>Exploratory Data Analysis (EDA)</vt:lpstr>
      <vt:lpstr>Exploratory Data Analysis (EDA)</vt:lpstr>
      <vt:lpstr>Exploratory Spatial Data Analysis (ESDA)</vt:lpstr>
      <vt:lpstr>Spatial Diagnostic Summary</vt:lpstr>
      <vt:lpstr>Spatial Diagnostic Summary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lpstr>Next Spatial Modeling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211</cp:revision>
  <dcterms:created xsi:type="dcterms:W3CDTF">2026-03-25T20:47:13Z</dcterms:created>
  <dcterms:modified xsi:type="dcterms:W3CDTF">2026-04-07T15:34:16Z</dcterms:modified>
  <cp:category/>
</cp:coreProperties>
</file>