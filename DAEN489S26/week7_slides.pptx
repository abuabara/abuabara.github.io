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67" r:id="rId4"/>
    <p:sldId id="296" r:id="rId5"/>
    <p:sldId id="288" r:id="rId6"/>
    <p:sldId id="297" r:id="rId7"/>
    <p:sldId id="298" r:id="rId8"/>
    <p:sldId id="289" r:id="rId9"/>
    <p:sldId id="299" r:id="rId10"/>
    <p:sldId id="304" r:id="rId11"/>
    <p:sldId id="300" r:id="rId12"/>
    <p:sldId id="290" r:id="rId13"/>
    <p:sldId id="301" r:id="rId14"/>
    <p:sldId id="302" r:id="rId15"/>
    <p:sldId id="303" r:id="rId16"/>
    <p:sldId id="291" r:id="rId17"/>
    <p:sldId id="292" r:id="rId18"/>
    <p:sldId id="295" r:id="rId19"/>
    <p:sldId id="294" r:id="rId20"/>
    <p:sldId id="293" r:id="rId21"/>
    <p:sldId id="279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29"/>
    <p:restoredTop sz="96018"/>
  </p:normalViewPr>
  <p:slideViewPr>
    <p:cSldViewPr snapToGrid="0">
      <p:cViewPr varScale="1">
        <p:scale>
          <a:sx n="113" d="100"/>
          <a:sy n="113" d="100"/>
        </p:scale>
        <p:origin x="10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2F70FD-45DF-D14B-B6FE-A6D04F2C79F0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C4083-6C9E-084E-A27C-A5BB2AE87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13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22363"/>
            <a:ext cx="8229600" cy="238760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3602038"/>
            <a:ext cx="822959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31D44-236A-C843-8182-5704827BA0F6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5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5A892-01FD-2F41-809C-F890B92419CA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9739"/>
            <a:ext cx="8229600" cy="28527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89464"/>
            <a:ext cx="8229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69A6F-ACD5-994F-B247-654BDC891833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383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96072"/>
            <a:ext cx="4057650" cy="45808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96072"/>
            <a:ext cx="4057650" cy="4580891"/>
          </a:xfrm>
          <a:solidFill>
            <a:srgbClr val="002060"/>
          </a:solidFill>
        </p:spPr>
        <p:txBody>
          <a:bodyPr/>
          <a:lstStyle>
            <a:lvl1pPr>
              <a:buNone/>
              <a:defRPr sz="1600" b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buNone/>
              <a:defRPr sz="1600" b="1"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600" b="1"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600" b="1"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600" b="1"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7175-78AB-A74E-9ECE-39FF5F899C02}" type="datetime1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86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1163"/>
            <a:ext cx="4040982" cy="549081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96932"/>
            <a:ext cx="4040982" cy="3792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4057650" cy="549081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96932"/>
            <a:ext cx="4057650" cy="3792731"/>
          </a:xfrm>
          <a:solidFill>
            <a:srgbClr val="002060"/>
          </a:solidFill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8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8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8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8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AD2F-BBEA-2A45-A0B9-5B838D8041BF}" type="datetime1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008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81B88-FE34-1E45-886A-BE4F9C9C06A2}" type="datetime1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47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EEFD-B4DB-C047-A842-8842BF21D202}" type="datetime1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1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36524"/>
            <a:ext cx="8229600" cy="1280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517"/>
            <a:ext cx="8229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50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3150E4-AE27-B545-A133-8B8C18F4DB12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356351"/>
            <a:ext cx="3657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2940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433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sciences/exactextractr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1E524-E5FF-51D1-243B-26982FBA4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Raster-Vector</a:t>
            </a:r>
            <a:br>
              <a:rPr lang="en-US" dirty="0"/>
            </a:br>
            <a:r>
              <a:rPr lang="en-US" dirty="0"/>
              <a:t>Interactions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24C6C-7F39-D280-5F4E-FDDD50584F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Alexander Abuabara</a:t>
            </a:r>
          </a:p>
          <a:p>
            <a:r>
              <a:rPr lang="en-US" dirty="0"/>
              <a:t>DAEN 489 ISEN 489 Spring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51EB84-04E8-C58A-2147-BF7DB59DD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48" y="5861278"/>
            <a:ext cx="40005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912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CE511-C700-6D49-801A-89DFC254A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6C31E-2EA5-01F6-E74F-08DAB40A9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Raster data represent continuous</a:t>
            </a:r>
            <a:br>
              <a:rPr lang="en-US" dirty="0"/>
            </a:br>
            <a:r>
              <a:rPr lang="en-US" dirty="0"/>
              <a:t>spatial variation as a grid of cells (pixels).</a:t>
            </a:r>
          </a:p>
          <a:p>
            <a:r>
              <a:rPr lang="en-US" dirty="0"/>
              <a:t>Vector data represent discrete geographic</a:t>
            </a:r>
            <a:br>
              <a:rPr lang="en-US" dirty="0"/>
            </a:br>
            <a:r>
              <a:rPr lang="en-US" dirty="0"/>
              <a:t>features as points, lines, or polygons.</a:t>
            </a:r>
          </a:p>
          <a:p>
            <a:r>
              <a:rPr lang="en-US" dirty="0"/>
              <a:t>Many practical geospatial problems </a:t>
            </a:r>
            <a:br>
              <a:rPr lang="en-US" dirty="0"/>
            </a:br>
            <a:r>
              <a:rPr lang="en-US" dirty="0"/>
              <a:t>require blending these models:</a:t>
            </a:r>
          </a:p>
          <a:p>
            <a:pPr lvl="1"/>
            <a:r>
              <a:rPr lang="en-US" dirty="0"/>
              <a:t>Satellite imagery + Administrative boundaries</a:t>
            </a:r>
          </a:p>
          <a:p>
            <a:pPr lvl="1"/>
            <a:r>
              <a:rPr lang="en-US" dirty="0"/>
              <a:t>Terrain surfaces + Sampled field locations</a:t>
            </a:r>
          </a:p>
          <a:p>
            <a:pPr lvl="1"/>
            <a:r>
              <a:rPr lang="en-US" dirty="0"/>
              <a:t>Continuous environmental surfaces + Spatial regions of interest</a:t>
            </a:r>
          </a:p>
          <a:p>
            <a:r>
              <a:rPr lang="en-US" dirty="0"/>
              <a:t>The focus of raster–vector interaction is on how to </a:t>
            </a:r>
            <a:r>
              <a:rPr lang="en-US" b="1" dirty="0"/>
              <a:t>combine</a:t>
            </a:r>
            <a:r>
              <a:rPr lang="en-US" dirty="0"/>
              <a:t>, </a:t>
            </a:r>
            <a:r>
              <a:rPr lang="en-US" b="1" dirty="0"/>
              <a:t>extract</a:t>
            </a:r>
            <a:r>
              <a:rPr lang="en-US" dirty="0"/>
              <a:t>, </a:t>
            </a:r>
            <a:r>
              <a:rPr lang="en-US" b="1" dirty="0"/>
              <a:t>convert</a:t>
            </a:r>
            <a:r>
              <a:rPr lang="en-US" dirty="0"/>
              <a:t>, and </a:t>
            </a:r>
            <a:r>
              <a:rPr lang="en-US" b="1" dirty="0"/>
              <a:t>analyze together</a:t>
            </a:r>
            <a:r>
              <a:rPr lang="en-US" dirty="0"/>
              <a:t> raster and vector datasets in a consistent spatial framework.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A9D94-F7A5-94AC-8A99-C86C6FA7D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0D25DC-E2C1-DC9C-8E75-603BD4C4D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00517"/>
            <a:ext cx="2560320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954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1C294-4581-C552-91DE-3B4FCF37D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Raster Cropping and</a:t>
            </a:r>
            <a:br>
              <a:rPr lang="en-US" dirty="0"/>
            </a:br>
            <a:r>
              <a:rPr lang="en-US" dirty="0"/>
              <a:t>Masking with Vector Boundaries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CE5080-553D-E9BB-B541-A344CD71E9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596072"/>
            <a:ext cx="4057650" cy="4849884"/>
          </a:xfrm>
        </p:spPr>
        <p:txBody>
          <a:bodyPr>
            <a:normAutofit fontScale="92500"/>
          </a:bodyPr>
          <a:lstStyle/>
          <a:p>
            <a:r>
              <a:rPr lang="en-US" sz="2000" dirty="0"/>
              <a:t>Raster datasets often extend far beyond the area of interest.</a:t>
            </a:r>
          </a:p>
          <a:p>
            <a:r>
              <a:rPr lang="en-US" sz="2000" dirty="0"/>
              <a:t>Cropping reduces spatial extent, improving performance.</a:t>
            </a:r>
          </a:p>
          <a:p>
            <a:r>
              <a:rPr lang="en-US" sz="2000" dirty="0"/>
              <a:t>Masking sets values outside a vector boundary to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NA</a:t>
            </a:r>
            <a:r>
              <a:rPr lang="en-US" sz="2000" dirty="0"/>
              <a:t>, focusing analysis on relevant regions.</a:t>
            </a:r>
          </a:p>
          <a:p>
            <a:pPr lvl="1"/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crop()</a:t>
            </a:r>
            <a:r>
              <a:rPr lang="en-US" sz="1600" dirty="0"/>
              <a:t> reduces the raster's geographical extent.</a:t>
            </a:r>
          </a:p>
          <a:p>
            <a:pPr lvl="1"/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mask()</a:t>
            </a:r>
            <a:r>
              <a:rPr lang="en-US" sz="1600" dirty="0"/>
              <a:t> applies a spatial filter based on vector boundaries.</a:t>
            </a:r>
          </a:p>
          <a:p>
            <a:r>
              <a:rPr lang="en-US" sz="2000" dirty="0"/>
              <a:t>We use both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crop()</a:t>
            </a:r>
            <a:r>
              <a:rPr lang="en-US" sz="2000" dirty="0"/>
              <a:t> and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mask()</a:t>
            </a:r>
            <a:r>
              <a:rPr lang="en-US" sz="2000" dirty="0"/>
              <a:t> together in most cases .</a:t>
            </a:r>
          </a:p>
          <a:p>
            <a:r>
              <a:rPr lang="en-US" sz="2000" dirty="0"/>
              <a:t>This two-step process ensures efficient focus on the study area.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650F84-451A-0BDC-5425-71BD0A9F0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96072"/>
            <a:ext cx="4057650" cy="484988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/>
              <a:t>library(sf)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/>
              <a:t>library(terra)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/>
              <a:t>library(</a:t>
            </a:r>
            <a:r>
              <a:rPr lang="en-US" sz="1200" dirty="0" err="1"/>
              <a:t>dplyr</a:t>
            </a:r>
            <a:r>
              <a:rPr lang="en-US" sz="1200" dirty="0"/>
              <a:t>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12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# Read and reproject data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 err="1"/>
              <a:t>srtm</a:t>
            </a:r>
            <a:r>
              <a:rPr lang="en-US" sz="1200" dirty="0"/>
              <a:t> = </a:t>
            </a:r>
            <a:r>
              <a:rPr lang="en-US" sz="1200" dirty="0" err="1"/>
              <a:t>rast</a:t>
            </a:r>
            <a:r>
              <a:rPr lang="en-US" sz="1200" dirty="0"/>
              <a:t>(</a:t>
            </a:r>
            <a:r>
              <a:rPr lang="en-US" sz="1200" dirty="0" err="1"/>
              <a:t>system.file</a:t>
            </a:r>
            <a:r>
              <a:rPr lang="en-US" sz="1200" dirty="0"/>
              <a:t>("raster/</a:t>
            </a:r>
            <a:r>
              <a:rPr lang="en-US" sz="1200" dirty="0" err="1"/>
              <a:t>srtm.tif</a:t>
            </a:r>
            <a:r>
              <a:rPr lang="en-US" sz="1200" dirty="0"/>
              <a:t>", package = "</a:t>
            </a:r>
            <a:r>
              <a:rPr lang="en-US" sz="1200" dirty="0" err="1"/>
              <a:t>spDataLarge</a:t>
            </a:r>
            <a:r>
              <a:rPr lang="en-US" sz="1200" dirty="0"/>
              <a:t>"))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 err="1"/>
              <a:t>zion</a:t>
            </a:r>
            <a:r>
              <a:rPr lang="en-US" sz="1200" dirty="0"/>
              <a:t> = </a:t>
            </a:r>
            <a:r>
              <a:rPr lang="en-US" sz="1200" dirty="0" err="1"/>
              <a:t>read_sf</a:t>
            </a:r>
            <a:r>
              <a:rPr lang="en-US" sz="1200" dirty="0"/>
              <a:t>(</a:t>
            </a:r>
            <a:r>
              <a:rPr lang="en-US" sz="1200" dirty="0" err="1"/>
              <a:t>system.file</a:t>
            </a:r>
            <a:r>
              <a:rPr lang="en-US" sz="1200" dirty="0"/>
              <a:t>("vector/</a:t>
            </a:r>
            <a:r>
              <a:rPr lang="en-US" sz="1200" dirty="0" err="1"/>
              <a:t>zion.gpkg</a:t>
            </a:r>
            <a:r>
              <a:rPr lang="en-US" sz="1200" dirty="0"/>
              <a:t>", package = "</a:t>
            </a:r>
            <a:r>
              <a:rPr lang="en-US" sz="1200" dirty="0" err="1"/>
              <a:t>spDataLarge</a:t>
            </a:r>
            <a:r>
              <a:rPr lang="en-US" sz="1200" dirty="0"/>
              <a:t>"))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 err="1"/>
              <a:t>zion</a:t>
            </a:r>
            <a:r>
              <a:rPr lang="en-US" sz="1200" dirty="0"/>
              <a:t> = </a:t>
            </a:r>
            <a:r>
              <a:rPr lang="en-US" sz="1200" dirty="0" err="1"/>
              <a:t>st_transform</a:t>
            </a:r>
            <a:r>
              <a:rPr lang="en-US" sz="1200" dirty="0"/>
              <a:t>(</a:t>
            </a:r>
            <a:r>
              <a:rPr lang="en-US" sz="1200" dirty="0" err="1"/>
              <a:t>zion</a:t>
            </a:r>
            <a:r>
              <a:rPr lang="en-US" sz="1200" dirty="0"/>
              <a:t>, </a:t>
            </a:r>
            <a:r>
              <a:rPr lang="en-US" sz="1200" dirty="0" err="1"/>
              <a:t>st_crs</a:t>
            </a:r>
            <a:r>
              <a:rPr lang="en-US" sz="1200" dirty="0"/>
              <a:t>(</a:t>
            </a:r>
            <a:r>
              <a:rPr lang="en-US" sz="1200" dirty="0" err="1"/>
              <a:t>srtm</a:t>
            </a:r>
            <a:r>
              <a:rPr lang="en-US" sz="1200" dirty="0"/>
              <a:t>))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12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# Crop and mask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 err="1"/>
              <a:t>srtm_cropped</a:t>
            </a:r>
            <a:r>
              <a:rPr lang="en-US" sz="1200" dirty="0"/>
              <a:t> = crop(</a:t>
            </a:r>
            <a:r>
              <a:rPr lang="en-US" sz="1200" dirty="0" err="1"/>
              <a:t>srtm</a:t>
            </a:r>
            <a:r>
              <a:rPr lang="en-US" sz="1200" dirty="0"/>
              <a:t>, </a:t>
            </a:r>
            <a:r>
              <a:rPr lang="en-US" sz="1200" dirty="0" err="1"/>
              <a:t>zion</a:t>
            </a:r>
            <a:r>
              <a:rPr lang="en-US" sz="1200" dirty="0"/>
              <a:t>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 err="1"/>
              <a:t>srtm_masked</a:t>
            </a:r>
            <a:r>
              <a:rPr lang="en-US" sz="1200" dirty="0"/>
              <a:t> = mask(</a:t>
            </a:r>
            <a:r>
              <a:rPr lang="en-US" sz="1200" dirty="0" err="1"/>
              <a:t>srtm</a:t>
            </a:r>
            <a:r>
              <a:rPr lang="en-US" sz="1200" dirty="0"/>
              <a:t>, </a:t>
            </a:r>
            <a:r>
              <a:rPr lang="en-US" sz="1200" dirty="0" err="1"/>
              <a:t>zion</a:t>
            </a:r>
            <a:r>
              <a:rPr lang="en-US" sz="1200" dirty="0"/>
              <a:t>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 err="1"/>
              <a:t>srtm_cropped</a:t>
            </a:r>
            <a:r>
              <a:rPr lang="en-US" sz="1200" dirty="0"/>
              <a:t> = crop(</a:t>
            </a:r>
            <a:r>
              <a:rPr lang="en-US" sz="1200" dirty="0" err="1"/>
              <a:t>srtm</a:t>
            </a:r>
            <a:r>
              <a:rPr lang="en-US" sz="1200" dirty="0"/>
              <a:t>, </a:t>
            </a:r>
            <a:r>
              <a:rPr lang="en-US" sz="1200" dirty="0" err="1"/>
              <a:t>zion</a:t>
            </a:r>
            <a:r>
              <a:rPr lang="en-US" sz="1200" dirty="0"/>
              <a:t>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 err="1"/>
              <a:t>srtm_final</a:t>
            </a:r>
            <a:r>
              <a:rPr lang="en-US" sz="1200" dirty="0"/>
              <a:t> = mask(</a:t>
            </a:r>
            <a:r>
              <a:rPr lang="en-US" sz="1200" dirty="0" err="1"/>
              <a:t>srtm_cropped</a:t>
            </a:r>
            <a:r>
              <a:rPr lang="en-US" sz="1200" dirty="0"/>
              <a:t>, </a:t>
            </a:r>
            <a:r>
              <a:rPr lang="en-US" sz="1200" dirty="0" err="1"/>
              <a:t>zion</a:t>
            </a:r>
            <a:r>
              <a:rPr lang="en-US" sz="1200" dirty="0"/>
              <a:t>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12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 err="1"/>
              <a:t>srtm_inv_masked</a:t>
            </a:r>
            <a:r>
              <a:rPr lang="en-US" sz="1200" dirty="0"/>
              <a:t> = mask(</a:t>
            </a:r>
            <a:r>
              <a:rPr lang="en-US" sz="1200" dirty="0" err="1"/>
              <a:t>srtm</a:t>
            </a:r>
            <a:r>
              <a:rPr lang="en-US" sz="1200" dirty="0"/>
              <a:t>, </a:t>
            </a:r>
            <a:r>
              <a:rPr lang="en-US" sz="1200" dirty="0" err="1"/>
              <a:t>zion</a:t>
            </a:r>
            <a:r>
              <a:rPr lang="en-US" sz="1200" dirty="0"/>
              <a:t>, inverse = TRUE)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B5A24C-55BE-3EFA-564F-ABC7E3220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36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A58C7A-1D6E-34D2-D9A8-902829543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3890"/>
            <a:ext cx="7772400" cy="27851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DE903B-F339-EA0B-C365-4936A2ECFD06}"/>
              </a:ext>
            </a:extLst>
          </p:cNvPr>
          <p:cNvSpPr txBox="1"/>
          <p:nvPr/>
        </p:nvSpPr>
        <p:spPr>
          <a:xfrm>
            <a:off x="2694338" y="3429000"/>
            <a:ext cx="3755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Raster cropping and raster masking.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0DAFD-D97D-D7F7-7E2A-525795726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73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378EE-2F8B-978C-BA2B-214FC0DB6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1E97-B9A0-AFA7-809F-76A91A99B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Raster Extraction:</a:t>
            </a:r>
            <a:br>
              <a:rPr lang="en-US" dirty="0"/>
            </a:br>
            <a:r>
              <a:rPr lang="en-US" dirty="0"/>
              <a:t>Linking Raster Values to Vector Geometry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D2F293-6F76-B72D-C7F8-2CF107422B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Raster extraction retrieves raster values at spatial locations defined by a vector dataset.</a:t>
            </a:r>
          </a:p>
          <a:p>
            <a:r>
              <a:rPr lang="en-US" sz="2000" dirty="0"/>
              <a:t>Depending on the vector feature type (points, lines or polygons) the nature of extracted results changes.</a:t>
            </a:r>
          </a:p>
          <a:p>
            <a:r>
              <a:rPr lang="en-US" sz="2000" dirty="0"/>
              <a:t>Examples</a:t>
            </a:r>
          </a:p>
          <a:p>
            <a:pPr lvl="1"/>
            <a:r>
              <a:rPr lang="en-US" sz="1600" b="1" dirty="0"/>
              <a:t>Points</a:t>
            </a:r>
            <a:r>
              <a:rPr lang="en-US" sz="1600" dirty="0"/>
              <a:t>: returns values at cell centroids closest to each point.</a:t>
            </a:r>
          </a:p>
          <a:p>
            <a:pPr lvl="1"/>
            <a:r>
              <a:rPr lang="en-US" sz="1600" b="1" dirty="0"/>
              <a:t>Lines</a:t>
            </a:r>
            <a:r>
              <a:rPr lang="en-US" sz="1600" dirty="0"/>
              <a:t>: yields values for raster cells intersected by the line (or along sampled points).</a:t>
            </a:r>
          </a:p>
          <a:p>
            <a:pPr lvl="1"/>
            <a:r>
              <a:rPr lang="en-US" sz="1600" b="1" dirty="0"/>
              <a:t>Polygons</a:t>
            </a:r>
            <a:r>
              <a:rPr lang="en-US" sz="1600" dirty="0"/>
              <a:t>: retrieves all cell values inside a polygon, allowing summary statistics.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9DB442-8F14-5CA8-0E57-D78964A30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96073"/>
            <a:ext cx="4057650" cy="1280160"/>
          </a:xfrm>
        </p:spPr>
        <p:txBody>
          <a:bodyPr>
            <a:normAutofit/>
          </a:bodyPr>
          <a:lstStyle/>
          <a:p>
            <a:r>
              <a:rPr lang="en-US" sz="12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# Elevation Sampling (Points)</a:t>
            </a:r>
          </a:p>
          <a:p>
            <a:r>
              <a:rPr lang="en-US" sz="1200" dirty="0"/>
              <a:t>data("</a:t>
            </a:r>
            <a:r>
              <a:rPr lang="en-US" sz="1200" dirty="0" err="1"/>
              <a:t>zion_points</a:t>
            </a:r>
            <a:r>
              <a:rPr lang="en-US" sz="1200" dirty="0"/>
              <a:t>", package = "</a:t>
            </a:r>
            <a:r>
              <a:rPr lang="en-US" sz="1200" dirty="0" err="1"/>
              <a:t>spDataLarge</a:t>
            </a:r>
            <a:r>
              <a:rPr lang="en-US" sz="1200" dirty="0"/>
              <a:t>")</a:t>
            </a:r>
          </a:p>
          <a:p>
            <a:r>
              <a:rPr lang="en-US" sz="1200" dirty="0"/>
              <a:t>elevation = terra::extract(</a:t>
            </a:r>
            <a:r>
              <a:rPr lang="en-US" sz="1200" dirty="0" err="1"/>
              <a:t>srtm</a:t>
            </a:r>
            <a:r>
              <a:rPr lang="en-US" sz="1200" dirty="0"/>
              <a:t>, </a:t>
            </a:r>
            <a:r>
              <a:rPr lang="en-US" sz="1200" dirty="0" err="1"/>
              <a:t>zion_points</a:t>
            </a:r>
            <a:r>
              <a:rPr lang="en-US" sz="1200" dirty="0"/>
              <a:t>)</a:t>
            </a:r>
          </a:p>
          <a:p>
            <a:r>
              <a:rPr lang="en-US" sz="1200" dirty="0" err="1"/>
              <a:t>zion_points</a:t>
            </a:r>
            <a:r>
              <a:rPr lang="en-US" sz="1200" dirty="0"/>
              <a:t> = </a:t>
            </a:r>
            <a:r>
              <a:rPr lang="en-US" sz="1200" dirty="0" err="1"/>
              <a:t>cbind</a:t>
            </a:r>
            <a:r>
              <a:rPr lang="en-US" sz="1200" dirty="0"/>
              <a:t>(</a:t>
            </a:r>
            <a:r>
              <a:rPr lang="en-US" sz="1200" dirty="0" err="1"/>
              <a:t>zion_points</a:t>
            </a:r>
            <a:r>
              <a:rPr lang="en-US" sz="1200" dirty="0"/>
              <a:t>, elevation)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64E6F1-D1AC-70FB-385E-E06AF63F93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82" r="11523"/>
          <a:stretch>
            <a:fillRect/>
          </a:stretch>
        </p:blipFill>
        <p:spPr>
          <a:xfrm>
            <a:off x="4629150" y="2876233"/>
            <a:ext cx="4057650" cy="34625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1A9267-1480-262C-C95F-2541CB914EE4}"/>
              </a:ext>
            </a:extLst>
          </p:cNvPr>
          <p:cNvSpPr txBox="1"/>
          <p:nvPr/>
        </p:nvSpPr>
        <p:spPr>
          <a:xfrm>
            <a:off x="5067539" y="6338813"/>
            <a:ext cx="31808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Locations of points used for raster extraction.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C87AF-FE8C-E316-3AFE-019C9EFFB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212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4D066-DC64-4A5D-2C99-8BFF64835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596071"/>
            <a:ext cx="4057650" cy="4580891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en-US" sz="1200" dirty="0" err="1"/>
              <a:t>zion_transect</a:t>
            </a:r>
            <a:r>
              <a:rPr lang="en-US" sz="1200" dirty="0"/>
              <a:t> = </a:t>
            </a:r>
            <a:r>
              <a:rPr lang="en-US" sz="1200" dirty="0" err="1"/>
              <a:t>cbind</a:t>
            </a:r>
            <a:r>
              <a:rPr lang="en-US" sz="1200" dirty="0"/>
              <a:t>(c(-113.2, -112.9), c(37.45, 37.2)) |&gt;</a:t>
            </a:r>
          </a:p>
          <a:p>
            <a:pPr>
              <a:spcBef>
                <a:spcPts val="400"/>
              </a:spcBef>
            </a:pPr>
            <a:r>
              <a:rPr lang="en-US" sz="1200" dirty="0"/>
              <a:t>  </a:t>
            </a:r>
            <a:r>
              <a:rPr lang="en-US" sz="1200" dirty="0" err="1"/>
              <a:t>st_linestring</a:t>
            </a:r>
            <a:r>
              <a:rPr lang="en-US" sz="1200" dirty="0"/>
              <a:t>() |&gt; </a:t>
            </a:r>
          </a:p>
          <a:p>
            <a:pPr>
              <a:spcBef>
                <a:spcPts val="400"/>
              </a:spcBef>
            </a:pPr>
            <a:r>
              <a:rPr lang="en-US" sz="1200" dirty="0"/>
              <a:t>  </a:t>
            </a:r>
            <a:r>
              <a:rPr lang="en-US" sz="1200" dirty="0" err="1"/>
              <a:t>st_sfc</a:t>
            </a:r>
            <a:r>
              <a:rPr lang="en-US" sz="1200" dirty="0"/>
              <a:t>(</a:t>
            </a:r>
            <a:r>
              <a:rPr lang="en-US" sz="1200" dirty="0" err="1"/>
              <a:t>crs</a:t>
            </a:r>
            <a:r>
              <a:rPr lang="en-US" sz="1200" dirty="0"/>
              <a:t> = </a:t>
            </a:r>
            <a:r>
              <a:rPr lang="en-US" sz="1200" dirty="0" err="1"/>
              <a:t>crs</a:t>
            </a:r>
            <a:r>
              <a:rPr lang="en-US" sz="1200" dirty="0"/>
              <a:t>(</a:t>
            </a:r>
            <a:r>
              <a:rPr lang="en-US" sz="1200" dirty="0" err="1"/>
              <a:t>srtm</a:t>
            </a:r>
            <a:r>
              <a:rPr lang="en-US" sz="1200" dirty="0"/>
              <a:t>)) |&gt;</a:t>
            </a:r>
          </a:p>
          <a:p>
            <a:pPr>
              <a:spcBef>
                <a:spcPts val="400"/>
              </a:spcBef>
            </a:pPr>
            <a:r>
              <a:rPr lang="en-US" sz="1200" dirty="0"/>
              <a:t>  </a:t>
            </a:r>
            <a:r>
              <a:rPr lang="en-US" sz="1200" dirty="0" err="1"/>
              <a:t>st_sf</a:t>
            </a:r>
            <a:r>
              <a:rPr lang="en-US" sz="1200" dirty="0"/>
              <a:t>(geometry = _)</a:t>
            </a:r>
          </a:p>
          <a:p>
            <a:pPr>
              <a:spcBef>
                <a:spcPts val="400"/>
              </a:spcBef>
            </a:pPr>
            <a:endParaRPr lang="en-US" sz="1200" dirty="0"/>
          </a:p>
          <a:p>
            <a:pPr>
              <a:spcBef>
                <a:spcPts val="400"/>
              </a:spcBef>
            </a:pPr>
            <a:r>
              <a:rPr lang="en-US" sz="1200" dirty="0" err="1"/>
              <a:t>zion_transect$id</a:t>
            </a:r>
            <a:r>
              <a:rPr lang="en-US" sz="1200" dirty="0"/>
              <a:t> = 1:nrow(</a:t>
            </a:r>
            <a:r>
              <a:rPr lang="en-US" sz="1200" dirty="0" err="1"/>
              <a:t>zion_transect</a:t>
            </a:r>
            <a:r>
              <a:rPr lang="en-US" sz="1200" dirty="0"/>
              <a:t>)</a:t>
            </a:r>
          </a:p>
          <a:p>
            <a:pPr>
              <a:spcBef>
                <a:spcPts val="400"/>
              </a:spcBef>
            </a:pPr>
            <a:r>
              <a:rPr lang="en-US" sz="1200" dirty="0" err="1"/>
              <a:t>zion_transect</a:t>
            </a:r>
            <a:r>
              <a:rPr lang="en-US" sz="1200" dirty="0"/>
              <a:t> = </a:t>
            </a:r>
            <a:r>
              <a:rPr lang="en-US" sz="1200" dirty="0" err="1"/>
              <a:t>st_segmentize</a:t>
            </a:r>
            <a:r>
              <a:rPr lang="en-US" sz="1200" dirty="0"/>
              <a:t>(</a:t>
            </a:r>
            <a:r>
              <a:rPr lang="en-US" sz="1200" dirty="0" err="1"/>
              <a:t>zion_transect</a:t>
            </a:r>
            <a:r>
              <a:rPr lang="en-US" sz="1200" dirty="0"/>
              <a:t>, </a:t>
            </a:r>
            <a:r>
              <a:rPr lang="en-US" sz="1200" dirty="0" err="1"/>
              <a:t>dfMaxLength</a:t>
            </a:r>
            <a:r>
              <a:rPr lang="en-US" sz="1200" dirty="0"/>
              <a:t> = 250)</a:t>
            </a:r>
          </a:p>
          <a:p>
            <a:pPr>
              <a:spcBef>
                <a:spcPts val="400"/>
              </a:spcBef>
            </a:pPr>
            <a:r>
              <a:rPr lang="en-US" sz="1200" dirty="0" err="1"/>
              <a:t>zion_transect</a:t>
            </a:r>
            <a:r>
              <a:rPr lang="en-US" sz="1200" dirty="0"/>
              <a:t> = </a:t>
            </a:r>
            <a:r>
              <a:rPr lang="en-US" sz="1200" dirty="0" err="1"/>
              <a:t>st_cast</a:t>
            </a:r>
            <a:r>
              <a:rPr lang="en-US" sz="1200" dirty="0"/>
              <a:t>(</a:t>
            </a:r>
            <a:r>
              <a:rPr lang="en-US" sz="1200" dirty="0" err="1"/>
              <a:t>zion_transect</a:t>
            </a:r>
            <a:r>
              <a:rPr lang="en-US" sz="1200" dirty="0"/>
              <a:t>, "POINT")</a:t>
            </a:r>
          </a:p>
          <a:p>
            <a:pPr>
              <a:spcBef>
                <a:spcPts val="400"/>
              </a:spcBef>
            </a:pPr>
            <a:endParaRPr lang="en-US" sz="1200" dirty="0"/>
          </a:p>
          <a:p>
            <a:pPr>
              <a:spcBef>
                <a:spcPts val="400"/>
              </a:spcBef>
            </a:pPr>
            <a:r>
              <a:rPr lang="en-US" sz="1200" dirty="0" err="1"/>
              <a:t>zion_transect</a:t>
            </a:r>
            <a:r>
              <a:rPr lang="en-US" sz="1200" dirty="0"/>
              <a:t> = </a:t>
            </a:r>
            <a:r>
              <a:rPr lang="en-US" sz="1200" dirty="0" err="1"/>
              <a:t>zion_transect</a:t>
            </a:r>
            <a:r>
              <a:rPr lang="en-US" sz="1200" dirty="0"/>
              <a:t> |&gt; </a:t>
            </a:r>
          </a:p>
          <a:p>
            <a:pPr>
              <a:spcBef>
                <a:spcPts val="400"/>
              </a:spcBef>
            </a:pPr>
            <a:r>
              <a:rPr lang="en-US" sz="1200" dirty="0"/>
              <a:t>  </a:t>
            </a:r>
            <a:r>
              <a:rPr lang="en-US" sz="1200" dirty="0" err="1"/>
              <a:t>group_by</a:t>
            </a:r>
            <a:r>
              <a:rPr lang="en-US" sz="1200" dirty="0"/>
              <a:t>(id) |&gt; </a:t>
            </a:r>
          </a:p>
          <a:p>
            <a:pPr>
              <a:spcBef>
                <a:spcPts val="400"/>
              </a:spcBef>
            </a:pPr>
            <a:r>
              <a:rPr lang="en-US" sz="1200" dirty="0"/>
              <a:t>  mutate(</a:t>
            </a:r>
            <a:r>
              <a:rPr lang="en-US" sz="1200" dirty="0" err="1"/>
              <a:t>dist</a:t>
            </a:r>
            <a:r>
              <a:rPr lang="en-US" sz="1200" dirty="0"/>
              <a:t> = </a:t>
            </a:r>
            <a:r>
              <a:rPr lang="en-US" sz="1200" dirty="0" err="1"/>
              <a:t>st_distance</a:t>
            </a:r>
            <a:r>
              <a:rPr lang="en-US" sz="1200" dirty="0"/>
              <a:t>(geometry)[, 1])</a:t>
            </a:r>
          </a:p>
          <a:p>
            <a:pPr>
              <a:spcBef>
                <a:spcPts val="400"/>
              </a:spcBef>
            </a:pPr>
            <a:endParaRPr lang="en-US" sz="1200" dirty="0"/>
          </a:p>
          <a:p>
            <a:pPr>
              <a:spcBef>
                <a:spcPts val="400"/>
              </a:spcBef>
            </a:pPr>
            <a:r>
              <a:rPr lang="en-US" sz="1200" dirty="0" err="1"/>
              <a:t>zion_elev</a:t>
            </a:r>
            <a:r>
              <a:rPr lang="en-US" sz="1200" dirty="0"/>
              <a:t> = terra::extract(</a:t>
            </a:r>
            <a:r>
              <a:rPr lang="en-US" sz="1200" dirty="0" err="1"/>
              <a:t>srtm</a:t>
            </a:r>
            <a:r>
              <a:rPr lang="en-US" sz="1200" dirty="0"/>
              <a:t>, </a:t>
            </a:r>
            <a:r>
              <a:rPr lang="en-US" sz="1200" dirty="0" err="1"/>
              <a:t>zion_transect</a:t>
            </a:r>
            <a:r>
              <a:rPr lang="en-US" sz="1200" dirty="0"/>
              <a:t>)</a:t>
            </a:r>
          </a:p>
          <a:p>
            <a:pPr>
              <a:spcBef>
                <a:spcPts val="400"/>
              </a:spcBef>
            </a:pPr>
            <a:endParaRPr lang="en-US" sz="1200" dirty="0"/>
          </a:p>
          <a:p>
            <a:pPr>
              <a:spcBef>
                <a:spcPts val="400"/>
              </a:spcBef>
            </a:pPr>
            <a:r>
              <a:rPr lang="en-US" sz="1200" dirty="0" err="1"/>
              <a:t>zion_transect</a:t>
            </a:r>
            <a:r>
              <a:rPr lang="en-US" sz="1200" dirty="0"/>
              <a:t> = </a:t>
            </a:r>
            <a:r>
              <a:rPr lang="en-US" sz="1200" dirty="0" err="1"/>
              <a:t>cbind</a:t>
            </a:r>
            <a:r>
              <a:rPr lang="en-US" sz="1200" dirty="0"/>
              <a:t>(</a:t>
            </a:r>
            <a:r>
              <a:rPr lang="en-US" sz="1200" dirty="0" err="1"/>
              <a:t>zion_transect</a:t>
            </a:r>
            <a:r>
              <a:rPr lang="en-US" sz="1200" dirty="0"/>
              <a:t>, </a:t>
            </a:r>
            <a:r>
              <a:rPr lang="en-US" sz="1200" dirty="0" err="1"/>
              <a:t>zion_elev</a:t>
            </a:r>
            <a:r>
              <a:rPr lang="en-US" sz="1200" dirty="0"/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B1B56-D5B6-F4A1-C132-B1BC9F5F9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Raster Extraction With Line Selectors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463DB0-20CB-FA73-323F-EC61B231AB1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629152" y="1596071"/>
            <a:ext cx="4057650" cy="249846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ED6DD7-E15A-6082-504B-7C0C155A4D9C}"/>
              </a:ext>
            </a:extLst>
          </p:cNvPr>
          <p:cNvSpPr txBox="1"/>
          <p:nvPr/>
        </p:nvSpPr>
        <p:spPr>
          <a:xfrm>
            <a:off x="4629152" y="4094531"/>
            <a:ext cx="4057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Location of a line used for (A) raster extraction and (B) the elevation along this line.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7371E-73DE-73BF-07EF-50F2967F6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167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2493AA-BC93-89BB-BF78-1AA510BC9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11339"/>
            <a:ext cx="6858000" cy="4229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E146E1-C801-2862-F533-387C3CC9C4F6}"/>
              </a:ext>
            </a:extLst>
          </p:cNvPr>
          <p:cNvSpPr txBox="1"/>
          <p:nvPr/>
        </p:nvSpPr>
        <p:spPr>
          <a:xfrm>
            <a:off x="1262279" y="4640439"/>
            <a:ext cx="6619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Area used for (A) continuous and (B) categorical raster extraction.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6AC41-2AFB-0E3A-C12F-46BA241CD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01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6A9ED-A05E-4D84-1C36-C4CC66557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9069F-6924-228B-78F4-4AC00403F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Rasterization:</a:t>
            </a:r>
            <a:br>
              <a:rPr lang="en-US" dirty="0"/>
            </a:br>
            <a:r>
              <a:rPr lang="en-US" dirty="0"/>
              <a:t>Converting Vector Features to Raster Form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7C09C-1272-F2E2-6CBC-5452C8657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596072"/>
            <a:ext cx="4057650" cy="4883750"/>
          </a:xfrm>
        </p:spPr>
        <p:txBody>
          <a:bodyPr>
            <a:normAutofit/>
          </a:bodyPr>
          <a:lstStyle/>
          <a:p>
            <a:r>
              <a:rPr lang="en-US" sz="2000" dirty="0"/>
              <a:t>Rasterization transforms vector features into a raster grid aligned with a template:</a:t>
            </a:r>
          </a:p>
          <a:p>
            <a:pPr lvl="1"/>
            <a:r>
              <a:rPr lang="en-US" sz="1600" dirty="0"/>
              <a:t>Simplifies feature topology,</a:t>
            </a:r>
          </a:p>
          <a:p>
            <a:pPr lvl="1"/>
            <a:r>
              <a:rPr lang="en-US" sz="1600" dirty="0"/>
              <a:t>Enables raster-based modeling (e.g., machine learning, surface modeling),</a:t>
            </a:r>
          </a:p>
          <a:p>
            <a:pPr lvl="1"/>
            <a:r>
              <a:rPr lang="en-US" sz="1600" dirty="0"/>
              <a:t>Aligns disparate datasets to a common grid for analysis.</a:t>
            </a:r>
          </a:p>
          <a:p>
            <a:r>
              <a:rPr lang="en-US" sz="2000" dirty="0"/>
              <a:t>Using varying summary statistics or criteria creates different raster outputs:</a:t>
            </a:r>
          </a:p>
          <a:p>
            <a:pPr lvl="1"/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Default</a:t>
            </a:r>
            <a:r>
              <a:rPr lang="en-US" sz="1600" dirty="0"/>
              <a:t>: presence/absence grid</a:t>
            </a:r>
          </a:p>
          <a:p>
            <a:pPr lvl="1"/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fun = "length"</a:t>
            </a:r>
            <a:br>
              <a:rPr lang="en-US" sz="1600" dirty="0"/>
            </a:br>
            <a:r>
              <a:rPr lang="en-US" sz="1600" dirty="0"/>
              <a:t>count of vector points per cell</a:t>
            </a:r>
          </a:p>
          <a:p>
            <a:pPr lvl="1"/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fun = sum on attribute</a:t>
            </a:r>
            <a:br>
              <a:rPr lang="en-US" sz="1600" dirty="0"/>
            </a:br>
            <a:r>
              <a:rPr lang="en-US" sz="1600" dirty="0"/>
              <a:t>aggregated attribute value per cell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0C5740-3315-CAB4-D55C-0E0FAD554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96073"/>
            <a:ext cx="4057650" cy="3836948"/>
          </a:xfrm>
        </p:spPr>
        <p:txBody>
          <a:bodyPr>
            <a:normAutofit/>
          </a:bodyPr>
          <a:lstStyle/>
          <a:p>
            <a:r>
              <a:rPr lang="en-US" sz="1200" dirty="0" err="1"/>
              <a:t>cycle_hire_osm</a:t>
            </a:r>
            <a:r>
              <a:rPr lang="en-US" sz="1200" dirty="0"/>
              <a:t> = </a:t>
            </a:r>
            <a:r>
              <a:rPr lang="en-US" sz="1200" dirty="0" err="1"/>
              <a:t>spData</a:t>
            </a:r>
            <a:r>
              <a:rPr lang="en-US" sz="1200" dirty="0"/>
              <a:t>::</a:t>
            </a:r>
            <a:r>
              <a:rPr lang="en-US" sz="1200" dirty="0" err="1"/>
              <a:t>cycle_hire_osm</a:t>
            </a:r>
            <a:endParaRPr lang="en-US" sz="1200" dirty="0"/>
          </a:p>
          <a:p>
            <a:r>
              <a:rPr lang="en-US" sz="1200" dirty="0" err="1"/>
              <a:t>cycle_hire_osm_projected</a:t>
            </a:r>
            <a:r>
              <a:rPr lang="en-US" sz="1200" dirty="0"/>
              <a:t> = </a:t>
            </a:r>
            <a:r>
              <a:rPr lang="en-US" sz="1200" dirty="0" err="1"/>
              <a:t>st_transform</a:t>
            </a:r>
            <a:r>
              <a:rPr lang="en-US" sz="1200" dirty="0"/>
              <a:t>(</a:t>
            </a:r>
            <a:r>
              <a:rPr lang="en-US" sz="1200" dirty="0" err="1"/>
              <a:t>cycle_hire_osm</a:t>
            </a:r>
            <a:r>
              <a:rPr lang="en-US" sz="1200" dirty="0"/>
              <a:t>, "EPSG:27700")</a:t>
            </a:r>
          </a:p>
          <a:p>
            <a:r>
              <a:rPr lang="en-US" sz="1200" dirty="0" err="1"/>
              <a:t>raster_template</a:t>
            </a:r>
            <a:r>
              <a:rPr lang="en-US" sz="1200" dirty="0"/>
              <a:t> = </a:t>
            </a:r>
            <a:r>
              <a:rPr lang="en-US" sz="1200" dirty="0" err="1"/>
              <a:t>rast</a:t>
            </a:r>
            <a:r>
              <a:rPr lang="en-US" sz="1200" dirty="0"/>
              <a:t>(</a:t>
            </a:r>
            <a:r>
              <a:rPr lang="en-US" sz="1200" dirty="0" err="1"/>
              <a:t>ext</a:t>
            </a:r>
            <a:r>
              <a:rPr lang="en-US" sz="1200" dirty="0"/>
              <a:t>(</a:t>
            </a:r>
            <a:r>
              <a:rPr lang="en-US" sz="1200" dirty="0" err="1"/>
              <a:t>cycle_hire_osm_projected</a:t>
            </a:r>
            <a:r>
              <a:rPr lang="en-US" sz="1200" dirty="0"/>
              <a:t>), resolution = 1000, </a:t>
            </a:r>
            <a:r>
              <a:rPr lang="en-US" sz="1200" dirty="0" err="1"/>
              <a:t>crs</a:t>
            </a:r>
            <a:r>
              <a:rPr lang="en-US" sz="1200" dirty="0"/>
              <a:t> = </a:t>
            </a:r>
            <a:r>
              <a:rPr lang="en-US" sz="1200" dirty="0" err="1"/>
              <a:t>crs</a:t>
            </a:r>
            <a:r>
              <a:rPr lang="en-US" sz="1200" dirty="0"/>
              <a:t>(</a:t>
            </a:r>
            <a:r>
              <a:rPr lang="en-US" sz="1200" dirty="0" err="1"/>
              <a:t>cycle_hire_osm_projected</a:t>
            </a:r>
            <a:r>
              <a:rPr lang="en-US" sz="1200" dirty="0"/>
              <a:t>))</a:t>
            </a:r>
          </a:p>
          <a:p>
            <a:r>
              <a:rPr lang="en-US" sz="1200" dirty="0"/>
              <a:t>ch_raster1 = rasterize(</a:t>
            </a:r>
            <a:r>
              <a:rPr lang="en-US" sz="1200" dirty="0" err="1"/>
              <a:t>cycle_hire_osm_projected</a:t>
            </a:r>
            <a:r>
              <a:rPr lang="en-US" sz="1200" dirty="0"/>
              <a:t>, </a:t>
            </a:r>
            <a:r>
              <a:rPr lang="en-US" sz="1200" dirty="0" err="1"/>
              <a:t>raster_template</a:t>
            </a:r>
            <a:r>
              <a:rPr lang="en-US" sz="1200" dirty="0"/>
              <a:t>)</a:t>
            </a:r>
          </a:p>
          <a:p>
            <a:r>
              <a:rPr lang="en-US" sz="1200" dirty="0"/>
              <a:t>ch_raster2 = rasterize(</a:t>
            </a:r>
            <a:r>
              <a:rPr lang="en-US" sz="1200" dirty="0" err="1"/>
              <a:t>cycle_hire_osm_projected</a:t>
            </a:r>
            <a:r>
              <a:rPr lang="en-US" sz="1200" dirty="0"/>
              <a:t>, </a:t>
            </a:r>
            <a:r>
              <a:rPr lang="en-US" sz="1200" dirty="0" err="1"/>
              <a:t>raster_template</a:t>
            </a:r>
            <a:r>
              <a:rPr lang="en-US" sz="1200" dirty="0"/>
              <a:t>, fun = "length")</a:t>
            </a:r>
          </a:p>
          <a:p>
            <a:r>
              <a:rPr lang="en-US" sz="1200" dirty="0"/>
              <a:t>ch_raster3 = rasterize(</a:t>
            </a:r>
            <a:r>
              <a:rPr lang="en-US" sz="1200" dirty="0" err="1"/>
              <a:t>cycle_hire_osm_projected</a:t>
            </a:r>
            <a:r>
              <a:rPr lang="en-US" sz="1200" dirty="0"/>
              <a:t>, </a:t>
            </a:r>
            <a:r>
              <a:rPr lang="en-US" sz="1200" dirty="0" err="1"/>
              <a:t>raster_template</a:t>
            </a:r>
            <a:r>
              <a:rPr lang="en-US" sz="1200" dirty="0"/>
              <a:t>, field = "capacity", fun = sum, </a:t>
            </a:r>
            <a:r>
              <a:rPr lang="en-US" sz="1200" dirty="0" err="1"/>
              <a:t>na.rm</a:t>
            </a:r>
            <a:r>
              <a:rPr lang="en-US" sz="1200" dirty="0"/>
              <a:t> = TRUE)</a:t>
            </a:r>
          </a:p>
          <a:p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D7269F-6616-A65A-3401-EDC28F13A120}"/>
              </a:ext>
            </a:extLst>
          </p:cNvPr>
          <p:cNvSpPr txBox="1"/>
          <p:nvPr/>
        </p:nvSpPr>
        <p:spPr>
          <a:xfrm>
            <a:off x="4629150" y="5463799"/>
            <a:ext cx="40576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Rasterization of lines and polygons requires careful handling of cell touch rules (e.g., using 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touches = TRUE</a:t>
            </a:r>
            <a:r>
              <a:rPr lang="en-US" sz="1600" dirty="0"/>
              <a:t>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7393-F090-B6ED-9F48-9E91FB24D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11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8E193F-8591-590A-4248-E0268FC5A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8345"/>
            <a:ext cx="5486400" cy="3378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ADB5D7-8A5E-51C8-3B37-0109346B3D47}"/>
              </a:ext>
            </a:extLst>
          </p:cNvPr>
          <p:cNvSpPr txBox="1"/>
          <p:nvPr/>
        </p:nvSpPr>
        <p:spPr>
          <a:xfrm>
            <a:off x="2918085" y="4666545"/>
            <a:ext cx="3307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Examples of point rasterization.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E9D73-9864-0C29-E67B-B85275F6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69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182F6-21E8-7943-7420-4D5BC6EB8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1A86-C72E-E54B-D614-8D9C66136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Rasterization:</a:t>
            </a:r>
            <a:br>
              <a:rPr lang="en-US" dirty="0"/>
            </a:br>
            <a:r>
              <a:rPr lang="en-US" dirty="0"/>
              <a:t>Converting Vector Features to Raster Form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3693B-8292-2447-E41F-A11E6458E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596072"/>
            <a:ext cx="4057650" cy="4883750"/>
          </a:xfrm>
        </p:spPr>
        <p:txBody>
          <a:bodyPr>
            <a:normAutofit/>
          </a:bodyPr>
          <a:lstStyle/>
          <a:p>
            <a:r>
              <a:rPr lang="en-US" sz="2000" dirty="0"/>
              <a:t>Another dataset based on California's polygons and borders (created below) illustrates rasterization of lines. </a:t>
            </a:r>
          </a:p>
          <a:p>
            <a:r>
              <a:rPr lang="en-US" sz="2000" dirty="0"/>
              <a:t>After casting the polygon objects into a multilinestring, a template raster is created with a resolution of a 0.5 degree.</a:t>
            </a:r>
          </a:p>
          <a:p>
            <a:endParaRPr lang="en-US" sz="1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EEF058-57AF-A997-4807-822EA9B66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96073"/>
            <a:ext cx="4057650" cy="2603394"/>
          </a:xfrm>
        </p:spPr>
        <p:txBody>
          <a:bodyPr>
            <a:normAutofit/>
          </a:bodyPr>
          <a:lstStyle/>
          <a:p>
            <a:r>
              <a:rPr lang="en-US" sz="1200" dirty="0" err="1"/>
              <a:t>california</a:t>
            </a:r>
            <a:r>
              <a:rPr lang="en-US" sz="1200" dirty="0"/>
              <a:t> = </a:t>
            </a:r>
            <a:r>
              <a:rPr lang="en-US" sz="1200" dirty="0" err="1"/>
              <a:t>dplyr</a:t>
            </a:r>
            <a:r>
              <a:rPr lang="en-US" sz="1200" dirty="0"/>
              <a:t>::filter(</a:t>
            </a:r>
            <a:r>
              <a:rPr lang="en-US" sz="1200" dirty="0" err="1"/>
              <a:t>us_states</a:t>
            </a:r>
            <a:r>
              <a:rPr lang="en-US" sz="1200" dirty="0"/>
              <a:t>, NAME == "California")</a:t>
            </a:r>
          </a:p>
          <a:p>
            <a:r>
              <a:rPr lang="en-US" sz="1200" dirty="0" err="1"/>
              <a:t>california_borders</a:t>
            </a:r>
            <a:r>
              <a:rPr lang="en-US" sz="1200" dirty="0"/>
              <a:t> = </a:t>
            </a:r>
            <a:r>
              <a:rPr lang="en-US" sz="1200" dirty="0" err="1"/>
              <a:t>st_cast</a:t>
            </a:r>
            <a:r>
              <a:rPr lang="en-US" sz="1200" dirty="0"/>
              <a:t>(</a:t>
            </a:r>
            <a:r>
              <a:rPr lang="en-US" sz="1200" dirty="0" err="1"/>
              <a:t>california</a:t>
            </a:r>
            <a:r>
              <a:rPr lang="en-US" sz="1200" dirty="0"/>
              <a:t>, "MULTILINESTRING")</a:t>
            </a:r>
          </a:p>
          <a:p>
            <a:r>
              <a:rPr lang="en-US" sz="1200" dirty="0"/>
              <a:t>raster_template2 = </a:t>
            </a:r>
            <a:r>
              <a:rPr lang="en-US" sz="1200" dirty="0" err="1"/>
              <a:t>rast</a:t>
            </a:r>
            <a:r>
              <a:rPr lang="en-US" sz="1200" dirty="0"/>
              <a:t>(</a:t>
            </a:r>
            <a:r>
              <a:rPr lang="en-US" sz="1200" dirty="0" err="1"/>
              <a:t>ext</a:t>
            </a:r>
            <a:r>
              <a:rPr lang="en-US" sz="1200" dirty="0"/>
              <a:t>(</a:t>
            </a:r>
            <a:r>
              <a:rPr lang="en-US" sz="1200" dirty="0" err="1"/>
              <a:t>california</a:t>
            </a:r>
            <a:r>
              <a:rPr lang="en-US" sz="1200" dirty="0"/>
              <a:t>), resolution = 0.5, </a:t>
            </a:r>
            <a:r>
              <a:rPr lang="en-US" sz="1200" dirty="0" err="1"/>
              <a:t>crs</a:t>
            </a:r>
            <a:r>
              <a:rPr lang="en-US" sz="1200" dirty="0"/>
              <a:t> = </a:t>
            </a:r>
            <a:r>
              <a:rPr lang="en-US" sz="1200" dirty="0" err="1"/>
              <a:t>st_crs</a:t>
            </a:r>
            <a:r>
              <a:rPr lang="en-US" sz="1200" dirty="0"/>
              <a:t>(</a:t>
            </a:r>
            <a:r>
              <a:rPr lang="en-US" sz="1200" dirty="0" err="1"/>
              <a:t>california</a:t>
            </a:r>
            <a:r>
              <a:rPr lang="en-US" sz="1200" dirty="0"/>
              <a:t>)$</a:t>
            </a:r>
            <a:r>
              <a:rPr lang="en-US" sz="1200" dirty="0" err="1"/>
              <a:t>wkt</a:t>
            </a:r>
            <a:r>
              <a:rPr lang="en-US" sz="1200" dirty="0"/>
              <a:t>)</a:t>
            </a:r>
          </a:p>
          <a:p>
            <a:r>
              <a:rPr lang="en-US" sz="1200" dirty="0">
                <a:solidFill>
                  <a:srgbClr val="92D050"/>
                </a:solidFill>
              </a:rPr>
              <a:t>california_raster1 = rasterize(</a:t>
            </a:r>
            <a:r>
              <a:rPr lang="en-US" sz="1200" dirty="0" err="1">
                <a:solidFill>
                  <a:srgbClr val="92D050"/>
                </a:solidFill>
              </a:rPr>
              <a:t>california_borders</a:t>
            </a:r>
            <a:r>
              <a:rPr lang="en-US" sz="1200" dirty="0">
                <a:solidFill>
                  <a:srgbClr val="92D050"/>
                </a:solidFill>
              </a:rPr>
              <a:t>, raster_template2, touches = TRUE)</a:t>
            </a:r>
          </a:p>
          <a:p>
            <a:r>
              <a:rPr lang="en-US" sz="1200" dirty="0">
                <a:solidFill>
                  <a:srgbClr val="FFC000"/>
                </a:solidFill>
              </a:rPr>
              <a:t>california_raster2 = rasterize(</a:t>
            </a:r>
            <a:r>
              <a:rPr lang="en-US" sz="1200" dirty="0" err="1">
                <a:solidFill>
                  <a:srgbClr val="FFC000"/>
                </a:solidFill>
              </a:rPr>
              <a:t>california</a:t>
            </a:r>
            <a:r>
              <a:rPr lang="en-US" sz="1200" dirty="0">
                <a:solidFill>
                  <a:srgbClr val="FFC000"/>
                </a:solidFill>
              </a:rPr>
              <a:t>, raster_template2)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4112E-8E5C-4F6B-CD30-062C424C1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81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ECAF8-58C8-625D-1978-E9F173EF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385A10-D8CC-900D-1D7F-A7C7E5D950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836440" y="1288345"/>
            <a:ext cx="5471120" cy="3378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A8FCC5-B6BE-F4FC-3E6E-5CF07759D5B7}"/>
              </a:ext>
            </a:extLst>
          </p:cNvPr>
          <p:cNvSpPr txBox="1"/>
          <p:nvPr/>
        </p:nvSpPr>
        <p:spPr>
          <a:xfrm>
            <a:off x="2311381" y="4666545"/>
            <a:ext cx="4521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Examples of line and polygon rasterizations.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468719-8504-5717-48CE-09B9EB8E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6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21C85-D453-8D13-1FD8-7C0DA5DEE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9F417-BAC8-6CF5-B553-019DB133B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Vectorization:</a:t>
            </a:r>
            <a:br>
              <a:rPr lang="en-US" dirty="0"/>
            </a:br>
            <a:r>
              <a:rPr lang="en-US" dirty="0"/>
              <a:t>Raster → Vector Conversion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64687-5537-A7F7-01A8-C4E9318343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596072"/>
            <a:ext cx="4057650" cy="4883750"/>
          </a:xfrm>
        </p:spPr>
        <p:txBody>
          <a:bodyPr>
            <a:normAutofit/>
          </a:bodyPr>
          <a:lstStyle/>
          <a:p>
            <a:r>
              <a:rPr lang="en-US" sz="2000" dirty="0"/>
              <a:t>Vectorized output may be better suited for feature extraction, topology building, or certain types of spatial queries.</a:t>
            </a:r>
          </a:p>
          <a:p>
            <a:r>
              <a:rPr lang="en-US" sz="2000" dirty="0"/>
              <a:t>Common vectorization tasks include:</a:t>
            </a:r>
          </a:p>
          <a:p>
            <a:pPr lvl="1"/>
            <a:r>
              <a:rPr lang="en-US" sz="1600" b="1" dirty="0"/>
              <a:t>Cell centroid extraction </a:t>
            </a:r>
            <a:r>
              <a:rPr lang="en-US" sz="1600" dirty="0"/>
              <a:t>→ point representation</a:t>
            </a:r>
          </a:p>
          <a:p>
            <a:pPr lvl="1"/>
            <a:r>
              <a:rPr lang="en-US" sz="1600" b="1" dirty="0"/>
              <a:t>Contour line generation </a:t>
            </a:r>
            <a:r>
              <a:rPr lang="en-US" sz="1600" dirty="0"/>
              <a:t>→ isolines for continuous surfaces</a:t>
            </a:r>
          </a:p>
          <a:p>
            <a:pPr lvl="1"/>
            <a:r>
              <a:rPr lang="en-US" sz="1600" b="1" dirty="0"/>
              <a:t>Polygonization</a:t>
            </a:r>
            <a:r>
              <a:rPr lang="en-US" sz="1600" dirty="0"/>
              <a:t> → vector polygons for raster classes or objects</a:t>
            </a:r>
          </a:p>
          <a:p>
            <a:r>
              <a:rPr lang="en-US" sz="2000" dirty="0"/>
              <a:t>Vectorization supports advanced feature analysis and integration with other vector-based spatial models.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A0718C-0CDD-2BE9-0319-69FB0CA3A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96072"/>
            <a:ext cx="4057650" cy="2377617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en-US" sz="1100" dirty="0" err="1">
                <a:solidFill>
                  <a:srgbClr val="FFFF00"/>
                </a:solidFill>
              </a:rPr>
              <a:t>elev</a:t>
            </a:r>
            <a:r>
              <a:rPr lang="en-US" sz="1100" dirty="0">
                <a:solidFill>
                  <a:srgbClr val="FFFF00"/>
                </a:solidFill>
              </a:rPr>
              <a:t> = </a:t>
            </a:r>
            <a:r>
              <a:rPr lang="en-US" sz="1100" dirty="0" err="1">
                <a:solidFill>
                  <a:srgbClr val="FFFF00"/>
                </a:solidFill>
              </a:rPr>
              <a:t>rast</a:t>
            </a:r>
            <a:r>
              <a:rPr lang="en-US" sz="1100" dirty="0">
                <a:solidFill>
                  <a:srgbClr val="FFFF00"/>
                </a:solidFill>
              </a:rPr>
              <a:t>(</a:t>
            </a:r>
            <a:r>
              <a:rPr lang="en-US" sz="1100" dirty="0" err="1">
                <a:solidFill>
                  <a:srgbClr val="FFFF00"/>
                </a:solidFill>
              </a:rPr>
              <a:t>system.file</a:t>
            </a:r>
            <a:r>
              <a:rPr lang="en-US" sz="1100" dirty="0">
                <a:solidFill>
                  <a:srgbClr val="FFFF00"/>
                </a:solidFill>
              </a:rPr>
              <a:t>("raster/</a:t>
            </a:r>
            <a:r>
              <a:rPr lang="en-US" sz="1100" dirty="0" err="1">
                <a:solidFill>
                  <a:srgbClr val="FFFF00"/>
                </a:solidFill>
              </a:rPr>
              <a:t>elev.tif</a:t>
            </a:r>
            <a:r>
              <a:rPr lang="en-US" sz="1100" dirty="0">
                <a:solidFill>
                  <a:srgbClr val="FFFF00"/>
                </a:solidFill>
              </a:rPr>
              <a:t>", package = "</a:t>
            </a:r>
            <a:r>
              <a:rPr lang="en-US" sz="1100" dirty="0" err="1">
                <a:solidFill>
                  <a:srgbClr val="FFFF00"/>
                </a:solidFill>
              </a:rPr>
              <a:t>spData</a:t>
            </a:r>
            <a:r>
              <a:rPr lang="en-US" sz="1100" dirty="0">
                <a:solidFill>
                  <a:srgbClr val="FFFF00"/>
                </a:solidFill>
              </a:rPr>
              <a:t>"))</a:t>
            </a:r>
          </a:p>
          <a:p>
            <a:pPr>
              <a:spcBef>
                <a:spcPts val="400"/>
              </a:spcBef>
            </a:pPr>
            <a:r>
              <a:rPr lang="en-US" sz="1100" dirty="0" err="1">
                <a:solidFill>
                  <a:srgbClr val="FFFF00"/>
                </a:solidFill>
              </a:rPr>
              <a:t>elev_point</a:t>
            </a:r>
            <a:r>
              <a:rPr lang="en-US" sz="1100" dirty="0">
                <a:solidFill>
                  <a:srgbClr val="FFFF00"/>
                </a:solidFill>
              </a:rPr>
              <a:t> = </a:t>
            </a:r>
            <a:r>
              <a:rPr lang="en-US" sz="1100" dirty="0" err="1">
                <a:solidFill>
                  <a:srgbClr val="FFFF00"/>
                </a:solidFill>
              </a:rPr>
              <a:t>as.points</a:t>
            </a:r>
            <a:r>
              <a:rPr lang="en-US" sz="1100" dirty="0">
                <a:solidFill>
                  <a:srgbClr val="FFFF00"/>
                </a:solidFill>
              </a:rPr>
              <a:t>(</a:t>
            </a:r>
            <a:r>
              <a:rPr lang="en-US" sz="1100" dirty="0" err="1">
                <a:solidFill>
                  <a:srgbClr val="FFFF00"/>
                </a:solidFill>
              </a:rPr>
              <a:t>elev</a:t>
            </a:r>
            <a:r>
              <a:rPr lang="en-US" sz="1100" dirty="0">
                <a:solidFill>
                  <a:srgbClr val="FFFF00"/>
                </a:solidFill>
              </a:rPr>
              <a:t>) |&gt; </a:t>
            </a:r>
            <a:r>
              <a:rPr lang="en-US" sz="1100" dirty="0" err="1">
                <a:solidFill>
                  <a:srgbClr val="FFFF00"/>
                </a:solidFill>
              </a:rPr>
              <a:t>st_as_sf</a:t>
            </a:r>
            <a:r>
              <a:rPr lang="en-US" sz="1100" dirty="0">
                <a:solidFill>
                  <a:srgbClr val="FFFF00"/>
                </a:solidFill>
              </a:rPr>
              <a:t>()</a:t>
            </a:r>
          </a:p>
          <a:p>
            <a:pPr>
              <a:spcBef>
                <a:spcPts val="400"/>
              </a:spcBef>
            </a:pP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dem = </a:t>
            </a:r>
            <a:r>
              <a:rPr lang="en-US" sz="11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rast</a:t>
            </a:r>
            <a:r>
              <a:rPr lang="en-US"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11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system.file</a:t>
            </a:r>
            <a:r>
              <a:rPr lang="en-US"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("raster/</a:t>
            </a:r>
            <a:r>
              <a:rPr lang="en-US" sz="11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dem.tif</a:t>
            </a:r>
            <a:r>
              <a:rPr lang="en-US"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", package = "</a:t>
            </a:r>
            <a:r>
              <a:rPr lang="en-US" sz="11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spDataLarge</a:t>
            </a:r>
            <a:r>
              <a:rPr lang="en-US"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"))</a:t>
            </a:r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cl = </a:t>
            </a:r>
            <a:r>
              <a:rPr lang="en-US" sz="11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as.contour</a:t>
            </a:r>
            <a:r>
              <a:rPr lang="en-US"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(dem) |&gt; </a:t>
            </a:r>
            <a:r>
              <a:rPr lang="en-US" sz="11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st_as_sf</a:t>
            </a:r>
            <a:r>
              <a:rPr lang="en-US"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()</a:t>
            </a:r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plot(dem, axes = FALSE); plot(cl, add = TRUE)</a:t>
            </a:r>
          </a:p>
          <a:p>
            <a:pPr>
              <a:spcBef>
                <a:spcPts val="400"/>
              </a:spcBef>
            </a:pP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FF0000"/>
                </a:solidFill>
              </a:rPr>
              <a:t>grain = </a:t>
            </a:r>
            <a:r>
              <a:rPr lang="en-US" sz="1100" dirty="0" err="1">
                <a:solidFill>
                  <a:srgbClr val="FF0000"/>
                </a:solidFill>
              </a:rPr>
              <a:t>rast</a:t>
            </a:r>
            <a:r>
              <a:rPr lang="en-US" sz="1100" dirty="0">
                <a:solidFill>
                  <a:srgbClr val="FF0000"/>
                </a:solidFill>
              </a:rPr>
              <a:t>(</a:t>
            </a:r>
            <a:r>
              <a:rPr lang="en-US" sz="1100" dirty="0" err="1">
                <a:solidFill>
                  <a:srgbClr val="FF0000"/>
                </a:solidFill>
              </a:rPr>
              <a:t>system.file</a:t>
            </a:r>
            <a:r>
              <a:rPr lang="en-US" sz="1100" dirty="0">
                <a:solidFill>
                  <a:srgbClr val="FF0000"/>
                </a:solidFill>
              </a:rPr>
              <a:t>("raster/</a:t>
            </a:r>
            <a:r>
              <a:rPr lang="en-US" sz="1100" dirty="0" err="1">
                <a:solidFill>
                  <a:srgbClr val="FF0000"/>
                </a:solidFill>
              </a:rPr>
              <a:t>grain.tif</a:t>
            </a:r>
            <a:r>
              <a:rPr lang="en-US" sz="1100" dirty="0">
                <a:solidFill>
                  <a:srgbClr val="FF0000"/>
                </a:solidFill>
              </a:rPr>
              <a:t>", package = "</a:t>
            </a:r>
            <a:r>
              <a:rPr lang="en-US" sz="1100" dirty="0" err="1">
                <a:solidFill>
                  <a:srgbClr val="FF0000"/>
                </a:solidFill>
              </a:rPr>
              <a:t>spData</a:t>
            </a:r>
            <a:r>
              <a:rPr lang="en-US" sz="1100" dirty="0">
                <a:solidFill>
                  <a:srgbClr val="FF0000"/>
                </a:solidFill>
              </a:rPr>
              <a:t>"))</a:t>
            </a:r>
          </a:p>
          <a:p>
            <a:pPr>
              <a:spcBef>
                <a:spcPts val="400"/>
              </a:spcBef>
            </a:pPr>
            <a:r>
              <a:rPr lang="en-US" sz="1100" dirty="0" err="1">
                <a:solidFill>
                  <a:srgbClr val="FF0000"/>
                </a:solidFill>
              </a:rPr>
              <a:t>grain_poly</a:t>
            </a:r>
            <a:r>
              <a:rPr lang="en-US" sz="1100" dirty="0">
                <a:solidFill>
                  <a:srgbClr val="FF0000"/>
                </a:solidFill>
              </a:rPr>
              <a:t> = </a:t>
            </a:r>
            <a:r>
              <a:rPr lang="en-US" sz="1100" dirty="0" err="1">
                <a:solidFill>
                  <a:srgbClr val="FF0000"/>
                </a:solidFill>
              </a:rPr>
              <a:t>as.polygons</a:t>
            </a:r>
            <a:r>
              <a:rPr lang="en-US" sz="1100" dirty="0">
                <a:solidFill>
                  <a:srgbClr val="FF0000"/>
                </a:solidFill>
              </a:rPr>
              <a:t>(grain) |&gt; </a:t>
            </a:r>
            <a:r>
              <a:rPr lang="en-US" sz="1100" dirty="0" err="1">
                <a:solidFill>
                  <a:srgbClr val="FF0000"/>
                </a:solidFill>
              </a:rPr>
              <a:t>st_as_sf</a:t>
            </a:r>
            <a:r>
              <a:rPr lang="en-US" sz="1100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91BDA5-DC9D-73DC-2A06-E3896C46EB39}"/>
              </a:ext>
            </a:extLst>
          </p:cNvPr>
          <p:cNvSpPr txBox="1"/>
          <p:nvPr/>
        </p:nvSpPr>
        <p:spPr>
          <a:xfrm>
            <a:off x="4629150" y="3973689"/>
            <a:ext cx="4057650" cy="230832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dirty="0"/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Points</a:t>
            </a:r>
            <a:r>
              <a:rPr lang="en-US" dirty="0"/>
              <a:t>: every non-NA raster cell becomes a point geometry.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Contours</a:t>
            </a:r>
            <a:r>
              <a:rPr lang="en-US" dirty="0"/>
              <a:t>: lines representing constant value intervals.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Polygons</a:t>
            </a:r>
            <a:r>
              <a:rPr lang="en-US" dirty="0"/>
              <a:t>: convert clusters of cells into polygons, with optional aggregation via dissolved borders.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8E60C-C4CD-4A7F-3BC3-A9DF2F730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81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B15B0-43E3-BC80-282A-1728A9974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F9A1F2-2C24-8C05-4F33-1B09DE50F9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836440" y="1288345"/>
            <a:ext cx="5471120" cy="33781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46C508-88C4-F880-54FC-DA03CBAEF809}"/>
              </a:ext>
            </a:extLst>
          </p:cNvPr>
          <p:cNvSpPr txBox="1"/>
          <p:nvPr/>
        </p:nvSpPr>
        <p:spPr>
          <a:xfrm>
            <a:off x="2005143" y="4666544"/>
            <a:ext cx="5133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Raster and point representation of the </a:t>
            </a:r>
            <a:r>
              <a:rPr lang="en-US" dirty="0" err="1"/>
              <a:t>elev</a:t>
            </a:r>
            <a:r>
              <a:rPr lang="en-US" dirty="0"/>
              <a:t> object.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F57285-47A0-6AF2-C9AE-DC3A046FB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157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5BE7F-BD81-330B-13D9-8762BFB52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843A16-C139-589B-3873-1EC1B6FFD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456" y="518735"/>
            <a:ext cx="5486400" cy="548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76A160-E2FF-E5DF-080A-588E95EB5582}"/>
              </a:ext>
            </a:extLst>
          </p:cNvPr>
          <p:cNvSpPr txBox="1"/>
          <p:nvPr/>
        </p:nvSpPr>
        <p:spPr>
          <a:xfrm>
            <a:off x="2005144" y="5816045"/>
            <a:ext cx="5133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Digital elevation model with </a:t>
            </a:r>
            <a:r>
              <a:rPr lang="en-US" sz="1400" dirty="0" err="1"/>
              <a:t>hillshading</a:t>
            </a:r>
            <a:r>
              <a:rPr lang="en-US" sz="1400" dirty="0"/>
              <a:t>, showing the southern flank of Mt. </a:t>
            </a:r>
            <a:r>
              <a:rPr lang="en-US" sz="1400" dirty="0" err="1"/>
              <a:t>Mongón</a:t>
            </a:r>
            <a:r>
              <a:rPr lang="en-US" sz="1400" dirty="0"/>
              <a:t> overlaid with contour lines.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D886BE-C32F-5C3C-F830-980C337A2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272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67424C-CA3F-FAB7-91B7-E91591F95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44600"/>
            <a:ext cx="5486400" cy="218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A6BAD2-1BF8-6B46-DEC8-844236AA9CD5}"/>
              </a:ext>
            </a:extLst>
          </p:cNvPr>
          <p:cNvSpPr txBox="1"/>
          <p:nvPr/>
        </p:nvSpPr>
        <p:spPr>
          <a:xfrm>
            <a:off x="1828800" y="3429000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Vectorization of (A) raster into (B) polygons (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dissolve = FALSE</a:t>
            </a:r>
            <a:r>
              <a:rPr lang="en-US" dirty="0"/>
              <a:t>) and aggregated polygons (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dissolve = TRUE</a:t>
            </a:r>
            <a:r>
              <a:rPr lang="en-US" dirty="0"/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513CA-5A42-F8B5-6C6B-ADE4546C3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08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F0E00-E0B7-91F0-F892-EDFED6B14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689CE-C759-AC62-FA9F-B9B4CFE49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Considerations</a:t>
            </a:r>
            <a:br>
              <a:rPr lang="en-US" dirty="0"/>
            </a:br>
            <a:r>
              <a:rPr lang="en-US" dirty="0"/>
              <a:t>Integrating Raster &amp; Vector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24463-D99D-9F93-32B5-A9C11219F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92100" indent="-292100">
              <a:buFont typeface="+mj-lt"/>
              <a:buAutoNum type="arabicPeriod"/>
            </a:pPr>
            <a:r>
              <a:rPr lang="en-US" dirty="0"/>
              <a:t>Coordinate Reference System (CRS) Consistency</a:t>
            </a:r>
          </a:p>
          <a:p>
            <a:pPr lvl="1"/>
            <a:r>
              <a:rPr lang="en-US" dirty="0"/>
              <a:t>Always ensure that raster and vector data share the same CRS before interaction, otherwise extractions or overlays may misalign.</a:t>
            </a:r>
          </a:p>
          <a:p>
            <a:pPr marL="292100" indent="-292100">
              <a:buFont typeface="+mj-lt"/>
              <a:buAutoNum type="arabicPeriod"/>
            </a:pPr>
            <a:r>
              <a:rPr lang="en-US" dirty="0"/>
              <a:t>Resolution and Pixel Size Influence</a:t>
            </a:r>
          </a:p>
          <a:p>
            <a:pPr lvl="1"/>
            <a:r>
              <a:rPr lang="en-US" dirty="0"/>
              <a:t>Raster resolution affects spatial detail and computational costs:</a:t>
            </a:r>
          </a:p>
          <a:p>
            <a:pPr lvl="2"/>
            <a:r>
              <a:rPr lang="en-US" dirty="0"/>
              <a:t>Too coarse → loss of meaningful detail.</a:t>
            </a:r>
          </a:p>
          <a:p>
            <a:pPr lvl="2"/>
            <a:r>
              <a:rPr lang="en-US" dirty="0"/>
              <a:t>Too fine → heavier processing and memory use.</a:t>
            </a:r>
          </a:p>
          <a:p>
            <a:pPr marL="292100" indent="-292100">
              <a:buFont typeface="+mj-lt"/>
              <a:buAutoNum type="arabicPeriod"/>
            </a:pPr>
            <a:r>
              <a:rPr lang="en-US" dirty="0"/>
              <a:t>Use Appropriate Extraction Tools</a:t>
            </a:r>
          </a:p>
          <a:p>
            <a:pPr lvl="1"/>
            <a:r>
              <a:rPr lang="en-US" dirty="0"/>
              <a:t>Standard extraction tools may underperform on large datasets; specialized packages (e.g.,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  <a:hlinkClick r:id="rId2"/>
              </a:rPr>
              <a:t>exactextractr</a:t>
            </a:r>
            <a:r>
              <a:rPr lang="en-US" dirty="0"/>
              <a:t>) offer faster and more precise operations for polygon extraction.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E5FED-56FE-F870-75BE-D442F6D72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35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0AFAA-5D03-7B86-2189-FB3E30206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2C9E6-A638-4525-BAC9-BBB5157C4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Practical Use </a:t>
            </a:r>
            <a:r>
              <a:rPr lang="en-US" sz="2800" baseline="30000" dirty="0"/>
              <a:t>(ideas for projects, maybe?)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DA548-63D6-835C-3F85-6D947FCE2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1156"/>
            <a:ext cx="8229600" cy="5475111"/>
          </a:xfrm>
        </p:spPr>
        <p:txBody>
          <a:bodyPr>
            <a:normAutofit/>
          </a:bodyPr>
          <a:lstStyle/>
          <a:p>
            <a:pPr marL="292100" indent="-292100">
              <a:buFont typeface="+mj-lt"/>
              <a:buAutoNum type="arabicPeriod"/>
            </a:pPr>
            <a:r>
              <a:rPr lang="en-US" dirty="0"/>
              <a:t>Environmental &amp; Civil Engineering</a:t>
            </a:r>
          </a:p>
          <a:p>
            <a:pPr lvl="1"/>
            <a:r>
              <a:rPr lang="en-US" dirty="0"/>
              <a:t>Extract elevation values within watershed polygons.</a:t>
            </a:r>
          </a:p>
          <a:p>
            <a:pPr lvl="1"/>
            <a:r>
              <a:rPr lang="en-US" dirty="0"/>
              <a:t>Rasterize stormwater network buffers to identify influence zones.</a:t>
            </a:r>
          </a:p>
          <a:p>
            <a:pPr lvl="1"/>
            <a:r>
              <a:rPr lang="en-US" dirty="0"/>
              <a:t>Overlay rainfall rasters with parcel polygons for exposure assessment.</a:t>
            </a:r>
          </a:p>
          <a:p>
            <a:pPr marL="292100" indent="-292100">
              <a:buFont typeface="+mj-lt"/>
              <a:buAutoNum type="arabicPeriod"/>
            </a:pPr>
            <a:r>
              <a:rPr lang="en-US" dirty="0"/>
              <a:t>Transportation Engineering</a:t>
            </a:r>
          </a:p>
          <a:p>
            <a:pPr lvl="1"/>
            <a:r>
              <a:rPr lang="en-US" dirty="0"/>
              <a:t>Extract raster values along road lines.</a:t>
            </a:r>
          </a:p>
          <a:p>
            <a:pPr lvl="1"/>
            <a:r>
              <a:rPr lang="en-US" dirty="0"/>
              <a:t>Aggregate risk metrics by district polygon.</a:t>
            </a:r>
          </a:p>
          <a:p>
            <a:pPr lvl="1"/>
            <a:r>
              <a:rPr lang="en-US" dirty="0"/>
              <a:t>Rasterize maintenance zones to align with predictive risk models.</a:t>
            </a:r>
          </a:p>
          <a:p>
            <a:pPr marL="292100" indent="-292100">
              <a:buFont typeface="+mj-lt"/>
              <a:buAutoNum type="arabicPeriod"/>
            </a:pPr>
            <a:r>
              <a:rPr lang="en-US" dirty="0"/>
              <a:t>Energy &amp; Utilities Engineering</a:t>
            </a:r>
          </a:p>
          <a:p>
            <a:pPr lvl="1"/>
            <a:r>
              <a:rPr lang="en-US" dirty="0"/>
              <a:t>Extract slope and vegetation cost surfaces along candidate corridors.</a:t>
            </a:r>
          </a:p>
          <a:p>
            <a:pPr lvl="1"/>
            <a:r>
              <a:rPr lang="en-US" dirty="0"/>
              <a:t>Mask cost surfaces by exclusion zones.</a:t>
            </a:r>
          </a:p>
          <a:p>
            <a:pPr lvl="1"/>
            <a:r>
              <a:rPr lang="en-US" dirty="0"/>
              <a:t>Rasterize corridor alternatives into a common cost grid.</a:t>
            </a:r>
          </a:p>
          <a:p>
            <a:pPr marL="292100" indent="-292100">
              <a:buFont typeface="+mj-lt"/>
              <a:buAutoNum type="arabicPeriod"/>
            </a:pPr>
            <a:r>
              <a:rPr lang="en-US" dirty="0"/>
              <a:t>Urban Systems Engineering</a:t>
            </a:r>
          </a:p>
          <a:p>
            <a:pPr lvl="1"/>
            <a:r>
              <a:rPr lang="en-US" dirty="0"/>
              <a:t>Extract mean temperature by census tract.</a:t>
            </a:r>
          </a:p>
          <a:p>
            <a:pPr lvl="1"/>
            <a:r>
              <a:rPr lang="en-US" dirty="0" err="1"/>
              <a:t>Polygonize</a:t>
            </a:r>
            <a:r>
              <a:rPr lang="en-US" dirty="0"/>
              <a:t> high-temperature raster clusters.</a:t>
            </a:r>
          </a:p>
          <a:p>
            <a:pPr lvl="1"/>
            <a:r>
              <a:rPr lang="en-US" dirty="0"/>
              <a:t>Join heat intensity with demographic indicators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2862A-D1C9-E0CB-3742-0A7B85291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24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FDA0-7268-A963-F4B6-C7A46147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B9CA7-90FF-20BD-E576-361FD678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Raster–vector Workloads</a:t>
            </a:r>
            <a:br>
              <a:rPr lang="en-US" dirty="0"/>
            </a:br>
            <a:r>
              <a:rPr lang="en-US" dirty="0"/>
              <a:t>Are Compute-Intensive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16F71-8B35-9179-BE02-078E42D31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517"/>
            <a:ext cx="8229600" cy="4935750"/>
          </a:xfrm>
        </p:spPr>
        <p:txBody>
          <a:bodyPr>
            <a:normAutofit/>
          </a:bodyPr>
          <a:lstStyle/>
          <a:p>
            <a:r>
              <a:rPr lang="en-US" dirty="0"/>
              <a:t>Common patterns:</a:t>
            </a:r>
          </a:p>
          <a:p>
            <a:pPr lvl="1"/>
            <a:r>
              <a:rPr lang="en-US" dirty="0"/>
              <a:t>Chunked raster processing</a:t>
            </a:r>
          </a:p>
          <a:p>
            <a:pPr lvl="1"/>
            <a:r>
              <a:rPr lang="en-US" dirty="0"/>
              <a:t>Parallel extraction jobs</a:t>
            </a:r>
          </a:p>
          <a:p>
            <a:pPr lvl="1"/>
            <a:r>
              <a:rPr lang="en-US" dirty="0"/>
              <a:t>Distributed tiling strategies</a:t>
            </a:r>
          </a:p>
          <a:p>
            <a:pPr lvl="1"/>
            <a:r>
              <a:rPr lang="en-US" dirty="0"/>
              <a:t>Serverless raster clipping APIs</a:t>
            </a:r>
          </a:p>
          <a:p>
            <a:r>
              <a:rPr lang="en-US" dirty="0"/>
              <a:t>Engineering implications:</a:t>
            </a:r>
          </a:p>
          <a:p>
            <a:pPr lvl="1"/>
            <a:r>
              <a:rPr lang="en-US" dirty="0"/>
              <a:t>Partition by spatial tile.</a:t>
            </a:r>
          </a:p>
          <a:p>
            <a:pPr lvl="1"/>
            <a:r>
              <a:rPr lang="en-US" dirty="0"/>
              <a:t>Cache derived raster products.</a:t>
            </a:r>
          </a:p>
          <a:p>
            <a:pPr lvl="1"/>
            <a:r>
              <a:rPr lang="en-US" dirty="0"/>
              <a:t>Maintain metadata lineage for spatial transformations.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7258A7-F37A-7B46-FEAE-FC13A4A84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321733"/>
            <a:ext cx="2834640" cy="159500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EB6BD3-E90B-CFC1-F3A5-3EB8A6D0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75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96CD5-F3BF-5CCD-B240-AC0A949F7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8A841-C57A-542D-CD36-6B513E4B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Pipelines &amp; ETL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3F8C9-B264-3870-2D02-8214F6060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517"/>
            <a:ext cx="8229600" cy="4935750"/>
          </a:xfrm>
        </p:spPr>
        <p:txBody>
          <a:bodyPr>
            <a:normAutofit/>
          </a:bodyPr>
          <a:lstStyle/>
          <a:p>
            <a:r>
              <a:rPr lang="en-US" dirty="0"/>
              <a:t>Engineering teams can:</a:t>
            </a:r>
          </a:p>
          <a:p>
            <a:pPr lvl="1"/>
            <a:r>
              <a:rPr lang="en-US" dirty="0"/>
              <a:t>Store rasters in cloud object storage (Cloud-Optimized </a:t>
            </a:r>
            <a:r>
              <a:rPr lang="en-US" dirty="0" err="1"/>
              <a:t>GeoTIFFs</a:t>
            </a:r>
            <a:r>
              <a:rPr lang="en-US" dirty="0"/>
              <a:t>, COGs).</a:t>
            </a:r>
          </a:p>
          <a:p>
            <a:pPr lvl="1"/>
            <a:r>
              <a:rPr lang="en-US" dirty="0"/>
              <a:t>Store vectors in spatial databases (</a:t>
            </a:r>
            <a:r>
              <a:rPr lang="en-US" dirty="0" err="1"/>
              <a:t>PostGIS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Precompute extraction summaries for analytics layers.</a:t>
            </a:r>
          </a:p>
          <a:p>
            <a:pPr lvl="1"/>
            <a:r>
              <a:rPr lang="en-US" dirty="0"/>
              <a:t>Maintain consistent CRS and grid alignment standards.</a:t>
            </a:r>
          </a:p>
          <a:p>
            <a:r>
              <a:rPr lang="en-US" dirty="0"/>
              <a:t>Rasterization is often used to:</a:t>
            </a:r>
          </a:p>
          <a:p>
            <a:pPr lvl="1"/>
            <a:r>
              <a:rPr lang="en-US" dirty="0"/>
              <a:t>Convert operational vector data into ML-ready gridded features.</a:t>
            </a:r>
          </a:p>
          <a:p>
            <a:pPr lvl="1"/>
            <a:r>
              <a:rPr lang="en-US" dirty="0"/>
              <a:t>Create feature stacks for spatial machine learning.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4C67A-263B-4A9D-8152-C02DA5BBBE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924"/>
          <a:stretch>
            <a:fillRect/>
          </a:stretch>
        </p:blipFill>
        <p:spPr>
          <a:xfrm>
            <a:off x="685800" y="4433089"/>
            <a:ext cx="7772400" cy="210317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B95C2-8EC8-7391-6CA0-699D96B81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01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26D80-24C0-9976-A3A7-CC054CAE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56130-C02C-C052-3DB2-A65884AC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Pipelines &amp; ETL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A4AE1-C922-A584-B114-5C2ED8004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517"/>
            <a:ext cx="8229600" cy="4935750"/>
          </a:xfrm>
        </p:spPr>
        <p:txBody>
          <a:bodyPr>
            <a:normAutofit/>
          </a:bodyPr>
          <a:lstStyle/>
          <a:p>
            <a:r>
              <a:rPr lang="en-US" sz="2000" dirty="0"/>
              <a:t>Raster–vector interaction becomes a structured spatial ETL problem: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Raster–vector interaction is not just GIS, it is:</a:t>
            </a:r>
          </a:p>
          <a:p>
            <a:pPr lvl="1"/>
            <a:r>
              <a:rPr lang="en-US" sz="2000" dirty="0"/>
              <a:t>Spatial feature engineering</a:t>
            </a:r>
          </a:p>
          <a:p>
            <a:pPr lvl="1"/>
            <a:r>
              <a:rPr lang="en-US" sz="2000" dirty="0"/>
              <a:t>Infrastructure modeling</a:t>
            </a:r>
          </a:p>
          <a:p>
            <a:pPr lvl="1"/>
            <a:r>
              <a:rPr lang="en-US" sz="2000" dirty="0"/>
              <a:t>Data-driven operations/intelligence</a:t>
            </a:r>
          </a:p>
          <a:p>
            <a:pPr lvl="1"/>
            <a:r>
              <a:rPr lang="en-US" sz="2000" dirty="0"/>
              <a:t>Scalable geospatial data systems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F1742D-CB0C-DA86-3981-A09E799559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587564"/>
              </p:ext>
            </p:extLst>
          </p:nvPr>
        </p:nvGraphicFramePr>
        <p:xfrm>
          <a:off x="1552423" y="2045547"/>
          <a:ext cx="6039154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8323">
                  <a:extLst>
                    <a:ext uri="{9D8B030D-6E8A-4147-A177-3AD203B41FA5}">
                      <a16:colId xmlns:a16="http://schemas.microsoft.com/office/drawing/2014/main" val="543550993"/>
                    </a:ext>
                  </a:extLst>
                </a:gridCol>
                <a:gridCol w="4770831">
                  <a:extLst>
                    <a:ext uri="{9D8B030D-6E8A-4147-A177-3AD203B41FA5}">
                      <a16:colId xmlns:a16="http://schemas.microsoft.com/office/drawing/2014/main" val="1184278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314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Ingest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Load satellite raster + vector shapefiles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409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Transform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Reproject, align resolution, crop/mask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42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Enrich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Extract raster values to vector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017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Aggregate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Summarize metrics per region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557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Serve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Store in spatial database or data warehouse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4476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0BB9AF-DBA7-D9DB-50A6-FBB0EF81E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97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4E7B3B8-6BB4-4254-DA82-9065CD70D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EDE536-7AFB-0F0B-8D77-A99907EC7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95275" indent="-295275">
              <a:buFont typeface="+mj-lt"/>
              <a:buAutoNum type="arabicPeriod"/>
            </a:pPr>
            <a:r>
              <a:rPr lang="en-US" sz="2000" i="1" dirty="0"/>
              <a:t>Suppose</a:t>
            </a:r>
            <a:r>
              <a:rPr lang="en-US" sz="2000" dirty="0"/>
              <a:t> your Digital Elevation Model (DEM) has 30m resolution, but parcel boundaries are highly irregular and small. What biases might arise when extracting mean elevation per parcel?</a:t>
            </a:r>
          </a:p>
          <a:p>
            <a:pPr marL="295275" indent="-295275">
              <a:buFont typeface="+mj-lt"/>
              <a:buAutoNum type="arabicPeriod"/>
            </a:pPr>
            <a:r>
              <a:rPr lang="en-US" sz="2000" i="1" dirty="0"/>
              <a:t>How would </a:t>
            </a:r>
            <a:r>
              <a:rPr lang="en-US" sz="2000" dirty="0"/>
              <a:t>raster resolution influence flood depth estimate when summarized at the parcel level?</a:t>
            </a:r>
          </a:p>
          <a:p>
            <a:pPr marL="295275" indent="-295275">
              <a:buFont typeface="+mj-lt"/>
              <a:buAutoNum type="arabicPeriod"/>
            </a:pPr>
            <a:r>
              <a:rPr lang="en-US" sz="2000" i="1" dirty="0"/>
              <a:t>If</a:t>
            </a:r>
            <a:r>
              <a:rPr lang="en-US" sz="2000" dirty="0"/>
              <a:t> rainfall rasters and elevation rasters have different resolutions and CRSs, what preprocessing steps are required before interaction?</a:t>
            </a:r>
          </a:p>
          <a:p>
            <a:pPr marL="295275" indent="-295275">
              <a:buFont typeface="+mj-lt"/>
              <a:buAutoNum type="arabicPeriod"/>
            </a:pPr>
            <a:r>
              <a:rPr lang="en-US" sz="2000" i="1" dirty="0"/>
              <a:t>Design</a:t>
            </a:r>
            <a:r>
              <a:rPr lang="en-US" sz="2000" dirty="0"/>
              <a:t> a reproducible pipeline that updates flood exposure metrics monthly as new rainfall rasters become available.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8D4D27-6A78-3926-E611-2A2128B7E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AEA1C7-11CB-4B1C-F498-EA3D3C966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622" y="4585510"/>
            <a:ext cx="2940755" cy="19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22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AAD8946F-0F31-3B4A-8CB9-5FA22C3CE7DB}" vid="{C0D572B3-B117-984B-94A9-96E09E0151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235</TotalTime>
  <Words>1838</Words>
  <Application>Microsoft Macintosh PowerPoint</Application>
  <PresentationFormat>On-screen Show (4:3)</PresentationFormat>
  <Paragraphs>211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Consolas</vt:lpstr>
      <vt:lpstr>Office Theme</vt:lpstr>
      <vt:lpstr>Raster-Vector Interactions</vt:lpstr>
      <vt:lpstr>Overview</vt:lpstr>
      <vt:lpstr>Raster Cropping and Masking with Vector Boundaries</vt:lpstr>
      <vt:lpstr>PowerPoint Presentation</vt:lpstr>
      <vt:lpstr>Raster Extraction: Linking Raster Values to Vector Geometry</vt:lpstr>
      <vt:lpstr>Raster Extraction With Line Selectors</vt:lpstr>
      <vt:lpstr>PowerPoint Presentation</vt:lpstr>
      <vt:lpstr>Rasterization: Converting Vector Features to Raster Form</vt:lpstr>
      <vt:lpstr>PowerPoint Presentation</vt:lpstr>
      <vt:lpstr>Rasterization: Converting Vector Features to Raster Form</vt:lpstr>
      <vt:lpstr>PowerPoint Presentation</vt:lpstr>
      <vt:lpstr>Spatial Vectorization: Raster → Vector Conversion</vt:lpstr>
      <vt:lpstr>PowerPoint Presentation</vt:lpstr>
      <vt:lpstr>PowerPoint Presentation</vt:lpstr>
      <vt:lpstr>PowerPoint Presentation</vt:lpstr>
      <vt:lpstr>Key Considerations Integrating Raster &amp; Vector Data</vt:lpstr>
      <vt:lpstr>Practical Use (ideas for projects, maybe?)</vt:lpstr>
      <vt:lpstr>Raster–vector Workloads Are Compute-Intensive</vt:lpstr>
      <vt:lpstr>Data Pipelines &amp; ETL Design</vt:lpstr>
      <vt:lpstr>Data Pipelines &amp; ETL Design</vt:lpstr>
      <vt:lpstr>Practice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Alexander Abuabara</dc:creator>
  <cp:keywords/>
  <dc:description/>
  <cp:lastModifiedBy>Alexander Abuabara</cp:lastModifiedBy>
  <cp:revision>72</cp:revision>
  <dcterms:created xsi:type="dcterms:W3CDTF">2026-02-09T02:58:06Z</dcterms:created>
  <dcterms:modified xsi:type="dcterms:W3CDTF">2026-02-26T05:31:56Z</dcterms:modified>
  <cp:category/>
</cp:coreProperties>
</file>