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59"/>
  </p:notesMasterIdLst>
  <p:sldIdLst>
    <p:sldId id="256" r:id="rId2"/>
    <p:sldId id="259" r:id="rId3"/>
    <p:sldId id="260" r:id="rId4"/>
    <p:sldId id="275" r:id="rId5"/>
    <p:sldId id="277" r:id="rId6"/>
    <p:sldId id="306" r:id="rId7"/>
    <p:sldId id="286" r:id="rId8"/>
    <p:sldId id="309" r:id="rId9"/>
    <p:sldId id="278" r:id="rId10"/>
    <p:sldId id="311" r:id="rId11"/>
    <p:sldId id="257" r:id="rId12"/>
    <p:sldId id="307" r:id="rId13"/>
    <p:sldId id="313" r:id="rId14"/>
    <p:sldId id="315" r:id="rId15"/>
    <p:sldId id="316" r:id="rId16"/>
    <p:sldId id="317" r:id="rId17"/>
    <p:sldId id="318" r:id="rId18"/>
    <p:sldId id="319" r:id="rId19"/>
    <p:sldId id="320" r:id="rId20"/>
    <p:sldId id="314" r:id="rId21"/>
    <p:sldId id="321" r:id="rId22"/>
    <p:sldId id="322" r:id="rId23"/>
    <p:sldId id="261" r:id="rId24"/>
    <p:sldId id="268" r:id="rId25"/>
    <p:sldId id="279" r:id="rId26"/>
    <p:sldId id="266" r:id="rId27"/>
    <p:sldId id="281" r:id="rId28"/>
    <p:sldId id="270" r:id="rId29"/>
    <p:sldId id="282" r:id="rId30"/>
    <p:sldId id="272" r:id="rId31"/>
    <p:sldId id="274" r:id="rId32"/>
    <p:sldId id="262" r:id="rId33"/>
    <p:sldId id="283" r:id="rId34"/>
    <p:sldId id="324" r:id="rId35"/>
    <p:sldId id="263" r:id="rId36"/>
    <p:sldId id="284" r:id="rId37"/>
    <p:sldId id="285" r:id="rId38"/>
    <p:sldId id="264" r:id="rId39"/>
    <p:sldId id="287" r:id="rId40"/>
    <p:sldId id="323" r:id="rId41"/>
    <p:sldId id="265" r:id="rId42"/>
    <p:sldId id="294" r:id="rId43"/>
    <p:sldId id="296" r:id="rId44"/>
    <p:sldId id="297" r:id="rId45"/>
    <p:sldId id="303" r:id="rId46"/>
    <p:sldId id="298" r:id="rId47"/>
    <p:sldId id="305" r:id="rId48"/>
    <p:sldId id="300" r:id="rId49"/>
    <p:sldId id="304" r:id="rId50"/>
    <p:sldId id="302" r:id="rId51"/>
    <p:sldId id="308" r:id="rId52"/>
    <p:sldId id="301" r:id="rId53"/>
    <p:sldId id="292" r:id="rId54"/>
    <p:sldId id="288" r:id="rId55"/>
    <p:sldId id="290" r:id="rId56"/>
    <p:sldId id="289" r:id="rId57"/>
    <p:sldId id="291" r:id="rId5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60" userDrawn="1">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23232"/>
    <a:srgbClr val="44444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437"/>
    <p:restoredTop sz="96018"/>
  </p:normalViewPr>
  <p:slideViewPr>
    <p:cSldViewPr snapToGrid="0">
      <p:cViewPr varScale="1">
        <p:scale>
          <a:sx n="94" d="100"/>
          <a:sy n="94" d="100"/>
        </p:scale>
        <p:origin x="200" y="608"/>
      </p:cViewPr>
      <p:guideLst>
        <p:guide pos="360"/>
        <p:guide orient="horz"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889108-C277-F143-B801-EB0C1F747A0D}" type="datetimeFigureOut">
              <a:rPr lang="en-US" smtClean="0"/>
              <a:t>2/2/26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F60A50-D8C8-3044-B12D-4CB82C33C077}" type="slidenum">
              <a:rPr lang="en-US" smtClean="0"/>
              <a:t>‹#›</a:t>
            </a:fld>
            <a:endParaRPr lang="en-US"/>
          </a:p>
        </p:txBody>
      </p:sp>
    </p:spTree>
    <p:extLst>
      <p:ext uri="{BB962C8B-B14F-4D97-AF65-F5344CB8AC3E}">
        <p14:creationId xmlns:p14="http://schemas.microsoft.com/office/powerpoint/2010/main" val="1758074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122363"/>
            <a:ext cx="8229600" cy="2387600"/>
          </a:xfrm>
        </p:spPr>
        <p:txBody>
          <a:bodyPr anchor="b"/>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457199" y="3602038"/>
            <a:ext cx="8229599"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B2E7E5E-97B6-C845-AB07-AA6308AD4B55}" type="datetime1">
              <a:rPr lang="en-US" smtClean="0"/>
              <a:t>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1029759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7D3709-BB92-2C48-8E79-2DF916E566E8}" type="datetime1">
              <a:rPr lang="en-US" smtClean="0"/>
              <a:t>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12960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1709739"/>
            <a:ext cx="8229600" cy="2852737"/>
          </a:xfrm>
        </p:spPr>
        <p:txBody>
          <a:bodyPr anchor="b"/>
          <a:lstStyle>
            <a:lvl1pPr>
              <a:defRPr sz="5400"/>
            </a:lvl1pPr>
          </a:lstStyle>
          <a:p>
            <a:r>
              <a:rPr lang="en-US"/>
              <a:t>Click to edit Master title style</a:t>
            </a:r>
            <a:endParaRPr lang="en-US" dirty="0"/>
          </a:p>
        </p:txBody>
      </p:sp>
      <p:sp>
        <p:nvSpPr>
          <p:cNvPr id="3" name="Text Placeholder 2"/>
          <p:cNvSpPr>
            <a:spLocks noGrp="1"/>
          </p:cNvSpPr>
          <p:nvPr>
            <p:ph type="body" idx="1"/>
          </p:nvPr>
        </p:nvSpPr>
        <p:spPr>
          <a:xfrm>
            <a:off x="457200" y="4589464"/>
            <a:ext cx="8229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45E2309-84AF-464E-9606-EA1DC5ECE8CB}" type="datetime1">
              <a:rPr lang="en-US" smtClean="0"/>
              <a:t>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458383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596072"/>
            <a:ext cx="4057650" cy="45808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596072"/>
            <a:ext cx="4057650" cy="45808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5E926C3-C97B-FE48-BA40-F5BC1B01E531}" type="datetime1">
              <a:rPr lang="en-US" smtClean="0"/>
              <a:t>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15254860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65126"/>
            <a:ext cx="8229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457200" y="1681163"/>
            <a:ext cx="404098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505075"/>
            <a:ext cx="404098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405765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405765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FE3A36A-7CDE-E14A-A354-8818A68E5D62}" type="datetime1">
              <a:rPr lang="en-US" smtClean="0"/>
              <a:t>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34260088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B782D31-0AFE-E544-8C7B-24A356F05664}" type="datetime1">
              <a:rPr lang="en-US" smtClean="0"/>
              <a:t>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3871247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068432-01B9-8643-8594-3EE4C5266373}" type="datetime1">
              <a:rPr lang="en-US" smtClean="0"/>
              <a:t>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73421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36524"/>
            <a:ext cx="8229600" cy="128016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517"/>
            <a:ext cx="8229600" cy="4572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6356507"/>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8BBCE9B-9677-9142-924B-F2418F452FF4}" type="datetime1">
              <a:rPr lang="en-US" smtClean="0"/>
              <a:t>2/2/26</a:t>
            </a:fld>
            <a:endParaRPr lang="en-US"/>
          </a:p>
        </p:txBody>
      </p:sp>
      <p:sp>
        <p:nvSpPr>
          <p:cNvPr id="5" name="Footer Placeholder 4"/>
          <p:cNvSpPr>
            <a:spLocks noGrp="1"/>
          </p:cNvSpPr>
          <p:nvPr>
            <p:ph type="ftr" sz="quarter" idx="3"/>
          </p:nvPr>
        </p:nvSpPr>
        <p:spPr>
          <a:xfrm>
            <a:off x="2743200" y="6356351"/>
            <a:ext cx="36576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62940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343C75-1924-D247-85A3-0CB62E67E5D1}" type="slidenum">
              <a:rPr lang="en-US" smtClean="0"/>
              <a:t>‹#›</a:t>
            </a:fld>
            <a:endParaRPr lang="en-US"/>
          </a:p>
        </p:txBody>
      </p:sp>
    </p:spTree>
    <p:extLst>
      <p:ext uri="{BB962C8B-B14F-4D97-AF65-F5344CB8AC3E}">
        <p14:creationId xmlns:p14="http://schemas.microsoft.com/office/powerpoint/2010/main" val="24234336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hf hdr="0" ftr="0" dt="0"/>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colorbrewer2.org/" TargetMode="External"/><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tnris.org/stratmap/land-parcels.html"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1E524-E5FF-51D1-243B-26982FBA4E2C}"/>
              </a:ext>
            </a:extLst>
          </p:cNvPr>
          <p:cNvSpPr>
            <a:spLocks noGrp="1"/>
          </p:cNvSpPr>
          <p:nvPr>
            <p:ph type="ctrTitle"/>
          </p:nvPr>
        </p:nvSpPr>
        <p:spPr/>
        <p:txBody>
          <a:bodyPr/>
          <a:lstStyle/>
          <a:p>
            <a:r>
              <a:rPr lang="en-US" dirty="0"/>
              <a:t>Geographic Data</a:t>
            </a:r>
            <a:br>
              <a:rPr lang="en-US" dirty="0"/>
            </a:br>
            <a:r>
              <a:rPr lang="en-US" dirty="0"/>
              <a:t>and Spatial ETL</a:t>
            </a:r>
          </a:p>
        </p:txBody>
      </p:sp>
      <p:sp>
        <p:nvSpPr>
          <p:cNvPr id="3" name="Subtitle 2">
            <a:extLst>
              <a:ext uri="{FF2B5EF4-FFF2-40B4-BE49-F238E27FC236}">
                <a16:creationId xmlns:a16="http://schemas.microsoft.com/office/drawing/2014/main" id="{D7E24C6C-7F39-D280-5F4E-FDDD50584FA2}"/>
              </a:ext>
            </a:extLst>
          </p:cNvPr>
          <p:cNvSpPr>
            <a:spLocks noGrp="1"/>
          </p:cNvSpPr>
          <p:nvPr>
            <p:ph type="subTitle" idx="1"/>
          </p:nvPr>
        </p:nvSpPr>
        <p:spPr/>
        <p:txBody>
          <a:bodyPr>
            <a:normAutofit/>
          </a:bodyPr>
          <a:lstStyle/>
          <a:p>
            <a:r>
              <a:rPr lang="en-US" i="1" dirty="0"/>
              <a:t>Attribute Operations, Pre-processing, Workflows</a:t>
            </a:r>
          </a:p>
          <a:p>
            <a:r>
              <a:rPr lang="en-US" dirty="0"/>
              <a:t>Alexander Abuabara</a:t>
            </a:r>
          </a:p>
          <a:p>
            <a:r>
              <a:rPr lang="en-US" dirty="0"/>
              <a:t>DAEN 489 ISEN 489 Spring 2026</a:t>
            </a:r>
          </a:p>
        </p:txBody>
      </p:sp>
      <p:pic>
        <p:nvPicPr>
          <p:cNvPr id="4" name="Picture 3">
            <a:extLst>
              <a:ext uri="{FF2B5EF4-FFF2-40B4-BE49-F238E27FC236}">
                <a16:creationId xmlns:a16="http://schemas.microsoft.com/office/drawing/2014/main" id="{7B028A02-0EA1-9C8B-87E6-9FAA651FFE8C}"/>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571748" y="5861278"/>
            <a:ext cx="4000500" cy="762000"/>
          </a:xfrm>
          <a:prstGeom prst="rect">
            <a:avLst/>
          </a:prstGeom>
        </p:spPr>
      </p:pic>
      <p:sp>
        <p:nvSpPr>
          <p:cNvPr id="5" name="Slide Number Placeholder 4">
            <a:extLst>
              <a:ext uri="{FF2B5EF4-FFF2-40B4-BE49-F238E27FC236}">
                <a16:creationId xmlns:a16="http://schemas.microsoft.com/office/drawing/2014/main" id="{5C1A5AF8-5F84-A103-9300-DA89117A8DBA}"/>
              </a:ext>
            </a:extLst>
          </p:cNvPr>
          <p:cNvSpPr>
            <a:spLocks noGrp="1"/>
          </p:cNvSpPr>
          <p:nvPr>
            <p:ph type="sldNum" sz="quarter" idx="12"/>
          </p:nvPr>
        </p:nvSpPr>
        <p:spPr/>
        <p:txBody>
          <a:bodyPr/>
          <a:lstStyle/>
          <a:p>
            <a:fld id="{C0343C75-1924-D247-85A3-0CB62E67E5D1}" type="slidenum">
              <a:rPr lang="en-US" smtClean="0"/>
              <a:t>1</a:t>
            </a:fld>
            <a:endParaRPr lang="en-US"/>
          </a:p>
        </p:txBody>
      </p:sp>
    </p:spTree>
    <p:extLst>
      <p:ext uri="{BB962C8B-B14F-4D97-AF65-F5344CB8AC3E}">
        <p14:creationId xmlns:p14="http://schemas.microsoft.com/office/powerpoint/2010/main" val="3381912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BAA6E-E398-40C2-CADA-51157C6DF68A}"/>
              </a:ext>
            </a:extLst>
          </p:cNvPr>
          <p:cNvSpPr>
            <a:spLocks noGrp="1"/>
          </p:cNvSpPr>
          <p:nvPr>
            <p:ph type="title"/>
          </p:nvPr>
        </p:nvSpPr>
        <p:spPr/>
        <p:txBody>
          <a:bodyPr/>
          <a:lstStyle/>
          <a:p>
            <a:r>
              <a:rPr lang="en-US" dirty="0"/>
              <a:t>Plan for Today</a:t>
            </a:r>
          </a:p>
        </p:txBody>
      </p:sp>
      <p:sp>
        <p:nvSpPr>
          <p:cNvPr id="3" name="Content Placeholder 2">
            <a:extLst>
              <a:ext uri="{FF2B5EF4-FFF2-40B4-BE49-F238E27FC236}">
                <a16:creationId xmlns:a16="http://schemas.microsoft.com/office/drawing/2014/main" id="{0B8B1B72-3EC2-62D1-21CB-A357877FF9B9}"/>
              </a:ext>
            </a:extLst>
          </p:cNvPr>
          <p:cNvSpPr>
            <a:spLocks noGrp="1"/>
          </p:cNvSpPr>
          <p:nvPr>
            <p:ph idx="1"/>
          </p:nvPr>
        </p:nvSpPr>
        <p:spPr/>
        <p:txBody>
          <a:bodyPr/>
          <a:lstStyle/>
          <a:p>
            <a:pPr marL="457200" indent="-457200">
              <a:buFont typeface="+mj-lt"/>
              <a:buAutoNum type="arabicPeriod"/>
            </a:pPr>
            <a:r>
              <a:rPr lang="en-US" dirty="0"/>
              <a:t>Previously</a:t>
            </a:r>
          </a:p>
          <a:p>
            <a:pPr marL="457200" indent="-457200">
              <a:buFont typeface="+mj-lt"/>
              <a:buAutoNum type="arabicPeriod"/>
            </a:pPr>
            <a:r>
              <a:rPr lang="en-US" dirty="0"/>
              <a:t>Attribute Data in Spatial ETL</a:t>
            </a:r>
          </a:p>
          <a:p>
            <a:pPr lvl="1"/>
            <a:r>
              <a:rPr lang="en-US" dirty="0"/>
              <a:t>Intro to Thematic Maps</a:t>
            </a:r>
          </a:p>
          <a:p>
            <a:pPr marL="457200" indent="-457200">
              <a:buFont typeface="+mj-lt"/>
              <a:buAutoNum type="arabicPeriod"/>
            </a:pPr>
            <a:r>
              <a:rPr lang="en-US" dirty="0"/>
              <a:t>Vector Attribute Operations</a:t>
            </a:r>
          </a:p>
          <a:p>
            <a:pPr marL="457200" indent="-457200">
              <a:buFont typeface="+mj-lt"/>
              <a:buAutoNum type="arabicPeriod"/>
            </a:pPr>
            <a:r>
              <a:rPr lang="en-US" dirty="0"/>
              <a:t>Raster Attribute Operations</a:t>
            </a:r>
          </a:p>
          <a:p>
            <a:pPr marL="457200" indent="-457200">
              <a:buFont typeface="+mj-lt"/>
              <a:buAutoNum type="arabicPeriod"/>
            </a:pPr>
            <a:r>
              <a:rPr lang="en-US" dirty="0"/>
              <a:t>Pre-Processing Workflows in Spatial ETL</a:t>
            </a:r>
          </a:p>
          <a:p>
            <a:pPr marL="457200" indent="-457200">
              <a:buFont typeface="+mj-lt"/>
              <a:buAutoNum type="arabicPeriod"/>
            </a:pPr>
            <a:r>
              <a:rPr lang="en-US" dirty="0"/>
              <a:t>Questions to Practice</a:t>
            </a:r>
          </a:p>
          <a:p>
            <a:pPr marL="457200" indent="-457200">
              <a:buFont typeface="+mj-lt"/>
              <a:buAutoNum type="arabicPeriod"/>
            </a:pPr>
            <a:r>
              <a:rPr lang="en-US" dirty="0"/>
              <a:t>Assignment #2</a:t>
            </a:r>
          </a:p>
        </p:txBody>
      </p:sp>
      <p:sp>
        <p:nvSpPr>
          <p:cNvPr id="4" name="Slide Number Placeholder 3">
            <a:extLst>
              <a:ext uri="{FF2B5EF4-FFF2-40B4-BE49-F238E27FC236}">
                <a16:creationId xmlns:a16="http://schemas.microsoft.com/office/drawing/2014/main" id="{B34DF6E0-ECB4-229F-AABC-958B799A14BB}"/>
              </a:ext>
            </a:extLst>
          </p:cNvPr>
          <p:cNvSpPr>
            <a:spLocks noGrp="1"/>
          </p:cNvSpPr>
          <p:nvPr>
            <p:ph type="sldNum" sz="quarter" idx="12"/>
          </p:nvPr>
        </p:nvSpPr>
        <p:spPr/>
        <p:txBody>
          <a:bodyPr/>
          <a:lstStyle/>
          <a:p>
            <a:fld id="{C0343C75-1924-D247-85A3-0CB62E67E5D1}" type="slidenum">
              <a:rPr lang="en-US" smtClean="0"/>
              <a:t>2</a:t>
            </a:fld>
            <a:endParaRPr lang="en-US"/>
          </a:p>
        </p:txBody>
      </p:sp>
    </p:spTree>
    <p:extLst>
      <p:ext uri="{BB962C8B-B14F-4D97-AF65-F5344CB8AC3E}">
        <p14:creationId xmlns:p14="http://schemas.microsoft.com/office/powerpoint/2010/main" val="1014141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99709-0A9B-1335-4F38-7A6A157D27E1}"/>
              </a:ext>
            </a:extLst>
          </p:cNvPr>
          <p:cNvSpPr>
            <a:spLocks noGrp="1"/>
          </p:cNvSpPr>
          <p:nvPr>
            <p:ph type="title"/>
          </p:nvPr>
        </p:nvSpPr>
        <p:spPr/>
        <p:txBody>
          <a:bodyPr/>
          <a:lstStyle/>
          <a:p>
            <a:r>
              <a:rPr lang="en-US" dirty="0"/>
              <a:t>Previously</a:t>
            </a:r>
          </a:p>
        </p:txBody>
      </p:sp>
      <p:sp>
        <p:nvSpPr>
          <p:cNvPr id="3" name="Content Placeholder 2">
            <a:extLst>
              <a:ext uri="{FF2B5EF4-FFF2-40B4-BE49-F238E27FC236}">
                <a16:creationId xmlns:a16="http://schemas.microsoft.com/office/drawing/2014/main" id="{68C3B69A-6E9F-F056-230C-611F69D88948}"/>
              </a:ext>
            </a:extLst>
          </p:cNvPr>
          <p:cNvSpPr>
            <a:spLocks noGrp="1"/>
          </p:cNvSpPr>
          <p:nvPr>
            <p:ph idx="1"/>
          </p:nvPr>
        </p:nvSpPr>
        <p:spPr/>
        <p:txBody>
          <a:bodyPr/>
          <a:lstStyle/>
          <a:p>
            <a:pPr marL="0" indent="0">
              <a:buNone/>
            </a:pPr>
            <a:r>
              <a:rPr lang="en-US" dirty="0"/>
              <a:t>Spatial Data Models</a:t>
            </a:r>
          </a:p>
          <a:p>
            <a:r>
              <a:rPr lang="en-US" dirty="0"/>
              <a:t>Vector vs Raster</a:t>
            </a:r>
          </a:p>
          <a:p>
            <a:r>
              <a:rPr lang="en-US" dirty="0"/>
              <a:t>Coordinate reference systems (CRS)</a:t>
            </a:r>
          </a:p>
          <a:p>
            <a:endParaRPr lang="en-US" dirty="0"/>
          </a:p>
          <a:p>
            <a:pPr marL="0" indent="0">
              <a:buNone/>
            </a:pPr>
            <a:r>
              <a:rPr lang="en-US" dirty="0"/>
              <a:t>Spatial Objects</a:t>
            </a:r>
          </a:p>
          <a:p>
            <a:r>
              <a:rPr lang="en-US" dirty="0">
                <a:solidFill>
                  <a:srgbClr val="C00000"/>
                </a:solidFill>
                <a:latin typeface="OSAKA-MONO" panose="020B0600000000000000" pitchFamily="34" charset="-128"/>
                <a:ea typeface="OSAKA-MONO" panose="020B0600000000000000" pitchFamily="34" charset="-128"/>
                <a:cs typeface="Fira Code" panose="020B0809050000020004" pitchFamily="34" charset="0"/>
              </a:rPr>
              <a:t>sf</a:t>
            </a:r>
            <a:r>
              <a:rPr lang="en-US" dirty="0">
                <a:latin typeface="OSAKA-MONO" panose="020B0600000000000000" pitchFamily="34" charset="-128"/>
                <a:ea typeface="OSAKA-MONO" panose="020B0600000000000000" pitchFamily="34" charset="-128"/>
              </a:rPr>
              <a:t> </a:t>
            </a:r>
            <a:r>
              <a:rPr lang="en-US" dirty="0"/>
              <a:t>objects: geometry + attributes</a:t>
            </a:r>
          </a:p>
          <a:p>
            <a:r>
              <a:rPr lang="en-US" dirty="0">
                <a:solidFill>
                  <a:srgbClr val="C00000"/>
                </a:solidFill>
                <a:latin typeface="OSAKA-MONO" panose="020B0600000000000000" pitchFamily="34" charset="-128"/>
                <a:ea typeface="OSAKA-MONO" panose="020B0600000000000000" pitchFamily="34" charset="-128"/>
                <a:cs typeface="Cascadia Code PL SemiLight" panose="020B0609020000020004" pitchFamily="34" charset="0"/>
              </a:rPr>
              <a:t>terra</a:t>
            </a:r>
            <a:r>
              <a:rPr lang="en-US" dirty="0">
                <a:latin typeface="OSAKA-MONO" panose="020B0600000000000000" pitchFamily="34" charset="-128"/>
                <a:ea typeface="OSAKA-MONO" panose="020B0600000000000000" pitchFamily="34" charset="-128"/>
              </a:rPr>
              <a:t> </a:t>
            </a:r>
            <a:r>
              <a:rPr lang="en-US" dirty="0"/>
              <a:t>rasters: value grids with implicit spatial metadata</a:t>
            </a:r>
          </a:p>
          <a:p>
            <a:endParaRPr lang="en-US" dirty="0"/>
          </a:p>
        </p:txBody>
      </p:sp>
      <p:sp>
        <p:nvSpPr>
          <p:cNvPr id="5" name="Slide Number Placeholder 4">
            <a:extLst>
              <a:ext uri="{FF2B5EF4-FFF2-40B4-BE49-F238E27FC236}">
                <a16:creationId xmlns:a16="http://schemas.microsoft.com/office/drawing/2014/main" id="{859381AD-8E71-4DBB-2FD8-C48802AFE341}"/>
              </a:ext>
            </a:extLst>
          </p:cNvPr>
          <p:cNvSpPr>
            <a:spLocks noGrp="1"/>
          </p:cNvSpPr>
          <p:nvPr>
            <p:ph type="sldNum" sz="quarter" idx="12"/>
          </p:nvPr>
        </p:nvSpPr>
        <p:spPr/>
        <p:txBody>
          <a:bodyPr/>
          <a:lstStyle/>
          <a:p>
            <a:fld id="{C0343C75-1924-D247-85A3-0CB62E67E5D1}" type="slidenum">
              <a:rPr lang="en-US" smtClean="0"/>
              <a:t>3</a:t>
            </a:fld>
            <a:endParaRPr lang="en-US"/>
          </a:p>
        </p:txBody>
      </p:sp>
    </p:spTree>
    <p:extLst>
      <p:ext uri="{BB962C8B-B14F-4D97-AF65-F5344CB8AC3E}">
        <p14:creationId xmlns:p14="http://schemas.microsoft.com/office/powerpoint/2010/main" val="2552687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461E444-3A38-D9AA-1CD2-75A38AA9BAE0}"/>
              </a:ext>
            </a:extLst>
          </p:cNvPr>
          <p:cNvSpPr>
            <a:spLocks noGrp="1"/>
          </p:cNvSpPr>
          <p:nvPr>
            <p:ph type="title"/>
          </p:nvPr>
        </p:nvSpPr>
        <p:spPr/>
        <p:txBody>
          <a:bodyPr/>
          <a:lstStyle/>
          <a:p>
            <a:r>
              <a:rPr lang="en-US" dirty="0"/>
              <a:t>Spatial Data Models</a:t>
            </a:r>
          </a:p>
        </p:txBody>
      </p:sp>
      <p:sp>
        <p:nvSpPr>
          <p:cNvPr id="3" name="Content Placeholder 2">
            <a:extLst>
              <a:ext uri="{FF2B5EF4-FFF2-40B4-BE49-F238E27FC236}">
                <a16:creationId xmlns:a16="http://schemas.microsoft.com/office/drawing/2014/main" id="{41835B0C-A665-A4DF-F71A-95627BDDF092}"/>
              </a:ext>
            </a:extLst>
          </p:cNvPr>
          <p:cNvSpPr>
            <a:spLocks noGrp="1"/>
          </p:cNvSpPr>
          <p:nvPr>
            <p:ph sz="half" idx="1"/>
          </p:nvPr>
        </p:nvSpPr>
        <p:spPr/>
        <p:txBody>
          <a:bodyPr/>
          <a:lstStyle/>
          <a:p>
            <a:pPr marL="0" indent="0">
              <a:buNone/>
            </a:pPr>
            <a:r>
              <a:rPr lang="en-US" b="1" dirty="0"/>
              <a:t>Vector</a:t>
            </a:r>
          </a:p>
          <a:p>
            <a:r>
              <a:rPr lang="en-US" dirty="0"/>
              <a:t>Points, Lines, Polygons</a:t>
            </a:r>
          </a:p>
          <a:p>
            <a:r>
              <a:rPr lang="en-US" dirty="0"/>
              <a:t>Discrete features with attributes</a:t>
            </a:r>
          </a:p>
          <a:p>
            <a:r>
              <a:rPr lang="en-US" dirty="0">
                <a:latin typeface="OSAKA-MONO" panose="020B0600000000000000" pitchFamily="34" charset="-128"/>
                <a:ea typeface="OSAKA-MONO" panose="020B0600000000000000" pitchFamily="34" charset="-128"/>
              </a:rPr>
              <a:t>sf</a:t>
            </a:r>
            <a:r>
              <a:rPr lang="en-US" dirty="0"/>
              <a:t> package</a:t>
            </a:r>
          </a:p>
          <a:p>
            <a:endParaRPr lang="en-US" dirty="0"/>
          </a:p>
        </p:txBody>
      </p:sp>
      <p:sp>
        <p:nvSpPr>
          <p:cNvPr id="5" name="Content Placeholder 4">
            <a:extLst>
              <a:ext uri="{FF2B5EF4-FFF2-40B4-BE49-F238E27FC236}">
                <a16:creationId xmlns:a16="http://schemas.microsoft.com/office/drawing/2014/main" id="{B4A8CCF3-4A87-C994-6397-E3FFB5E7D79F}"/>
              </a:ext>
            </a:extLst>
          </p:cNvPr>
          <p:cNvSpPr>
            <a:spLocks noGrp="1"/>
          </p:cNvSpPr>
          <p:nvPr>
            <p:ph sz="half" idx="2"/>
          </p:nvPr>
        </p:nvSpPr>
        <p:spPr/>
        <p:txBody>
          <a:bodyPr/>
          <a:lstStyle/>
          <a:p>
            <a:pPr marL="0" indent="0">
              <a:buNone/>
            </a:pPr>
            <a:r>
              <a:rPr lang="en-US" b="1" dirty="0"/>
              <a:t>Raster</a:t>
            </a:r>
          </a:p>
          <a:p>
            <a:r>
              <a:rPr lang="en-US" dirty="0"/>
              <a:t>Grid cells with values</a:t>
            </a:r>
          </a:p>
          <a:p>
            <a:r>
              <a:rPr lang="en-US" dirty="0"/>
              <a:t>Continuous surfaces</a:t>
            </a:r>
          </a:p>
          <a:p>
            <a:r>
              <a:rPr lang="en-US" dirty="0">
                <a:latin typeface="OSAKA-MONO" panose="020B0600000000000000" pitchFamily="34" charset="-128"/>
                <a:ea typeface="OSAKA-MONO" panose="020B0600000000000000" pitchFamily="34" charset="-128"/>
              </a:rPr>
              <a:t>terra</a:t>
            </a:r>
            <a:r>
              <a:rPr lang="en-US" dirty="0"/>
              <a:t> package</a:t>
            </a:r>
          </a:p>
        </p:txBody>
      </p:sp>
      <p:sp>
        <p:nvSpPr>
          <p:cNvPr id="6" name="Slide Number Placeholder 5">
            <a:extLst>
              <a:ext uri="{FF2B5EF4-FFF2-40B4-BE49-F238E27FC236}">
                <a16:creationId xmlns:a16="http://schemas.microsoft.com/office/drawing/2014/main" id="{39DC623B-3D4C-B7FF-8E2D-2468C8B53310}"/>
              </a:ext>
            </a:extLst>
          </p:cNvPr>
          <p:cNvSpPr>
            <a:spLocks noGrp="1"/>
          </p:cNvSpPr>
          <p:nvPr>
            <p:ph type="sldNum" sz="quarter" idx="12"/>
          </p:nvPr>
        </p:nvSpPr>
        <p:spPr/>
        <p:txBody>
          <a:bodyPr/>
          <a:lstStyle/>
          <a:p>
            <a:fld id="{C0343C75-1924-D247-85A3-0CB62E67E5D1}" type="slidenum">
              <a:rPr lang="en-US" smtClean="0"/>
              <a:t>4</a:t>
            </a:fld>
            <a:endParaRPr lang="en-US"/>
          </a:p>
        </p:txBody>
      </p:sp>
    </p:spTree>
    <p:extLst>
      <p:ext uri="{BB962C8B-B14F-4D97-AF65-F5344CB8AC3E}">
        <p14:creationId xmlns:p14="http://schemas.microsoft.com/office/powerpoint/2010/main" val="113869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9CA7E26-423E-3504-8BC9-319D197233F6}"/>
              </a:ext>
            </a:extLst>
          </p:cNvPr>
          <p:cNvSpPr>
            <a:spLocks noGrp="1"/>
          </p:cNvSpPr>
          <p:nvPr>
            <p:ph type="title"/>
          </p:nvPr>
        </p:nvSpPr>
        <p:spPr/>
        <p:txBody>
          <a:bodyPr/>
          <a:lstStyle/>
          <a:p>
            <a:r>
              <a:rPr lang="en-US" dirty="0"/>
              <a:t>Coordinate Reference Systems (CRS)</a:t>
            </a:r>
          </a:p>
        </p:txBody>
      </p:sp>
      <p:sp>
        <p:nvSpPr>
          <p:cNvPr id="7" name="Slide Number Placeholder 6">
            <a:extLst>
              <a:ext uri="{FF2B5EF4-FFF2-40B4-BE49-F238E27FC236}">
                <a16:creationId xmlns:a16="http://schemas.microsoft.com/office/drawing/2014/main" id="{C691F072-0824-7A07-DDFE-2FBFF214F574}"/>
              </a:ext>
            </a:extLst>
          </p:cNvPr>
          <p:cNvSpPr>
            <a:spLocks noGrp="1"/>
          </p:cNvSpPr>
          <p:nvPr>
            <p:ph type="sldNum" sz="quarter" idx="12"/>
          </p:nvPr>
        </p:nvSpPr>
        <p:spPr/>
        <p:txBody>
          <a:bodyPr/>
          <a:lstStyle/>
          <a:p>
            <a:fld id="{C0343C75-1924-D247-85A3-0CB62E67E5D1}" type="slidenum">
              <a:rPr lang="en-US" smtClean="0"/>
              <a:t>5</a:t>
            </a:fld>
            <a:endParaRPr lang="en-US"/>
          </a:p>
        </p:txBody>
      </p:sp>
      <p:sp>
        <p:nvSpPr>
          <p:cNvPr id="4" name="TextBox 3">
            <a:extLst>
              <a:ext uri="{FF2B5EF4-FFF2-40B4-BE49-F238E27FC236}">
                <a16:creationId xmlns:a16="http://schemas.microsoft.com/office/drawing/2014/main" id="{96817751-6C7E-EC40-CD29-A118B4394BE4}"/>
              </a:ext>
            </a:extLst>
          </p:cNvPr>
          <p:cNvSpPr txBox="1"/>
          <p:nvPr/>
        </p:nvSpPr>
        <p:spPr>
          <a:xfrm>
            <a:off x="571500" y="5829625"/>
            <a:ext cx="8083068" cy="523220"/>
          </a:xfrm>
          <a:prstGeom prst="rect">
            <a:avLst/>
          </a:prstGeom>
          <a:noFill/>
        </p:spPr>
        <p:txBody>
          <a:bodyPr wrap="square" rtlCol="0">
            <a:spAutoFit/>
          </a:bodyPr>
          <a:lstStyle/>
          <a:p>
            <a:pPr algn="ctr"/>
            <a:r>
              <a:rPr lang="en-US" sz="1400" dirty="0"/>
              <a:t>Geocentric and local geodetic datums shown on top of a geoid (in false color and the vertical exaggeration by 10,000 scale factor). Image of the geoid is adapted from the work of Ince et al. (2019).</a:t>
            </a:r>
          </a:p>
        </p:txBody>
      </p:sp>
      <p:pic>
        <p:nvPicPr>
          <p:cNvPr id="10" name="Content Placeholder 9" descr="Geocentric and local geodetic datums shown on top of a geoid (in false color and the vertical exaggeration by 10,000 scale factor). Image of the geoid is adapted from the work of Ince et al. (2019).">
            <a:extLst>
              <a:ext uri="{FF2B5EF4-FFF2-40B4-BE49-F238E27FC236}">
                <a16:creationId xmlns:a16="http://schemas.microsoft.com/office/drawing/2014/main" id="{9E99094F-C96B-E66A-5C2F-0B3FCDFF2914}"/>
              </a:ext>
            </a:extLst>
          </p:cNvPr>
          <p:cNvPicPr>
            <a:picLocks noGrp="1" noChangeAspect="1"/>
          </p:cNvPicPr>
          <p:nvPr>
            <p:ph idx="1"/>
          </p:nvPr>
        </p:nvPicPr>
        <p:blipFill>
          <a:blip r:embed="rId2"/>
          <a:stretch>
            <a:fillRect/>
          </a:stretch>
        </p:blipFill>
        <p:spPr>
          <a:xfrm>
            <a:off x="774700" y="1943100"/>
            <a:ext cx="7594600" cy="3886200"/>
          </a:xfrm>
        </p:spPr>
      </p:pic>
    </p:spTree>
    <p:extLst>
      <p:ext uri="{BB962C8B-B14F-4D97-AF65-F5344CB8AC3E}">
        <p14:creationId xmlns:p14="http://schemas.microsoft.com/office/powerpoint/2010/main" val="2062137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E9BB2-5C29-1A92-E651-1BACEC5608F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AF95B02-B8F4-1696-6F32-7862F2A521F4}"/>
              </a:ext>
            </a:extLst>
          </p:cNvPr>
          <p:cNvSpPr>
            <a:spLocks noGrp="1"/>
          </p:cNvSpPr>
          <p:nvPr>
            <p:ph type="title"/>
          </p:nvPr>
        </p:nvSpPr>
        <p:spPr/>
        <p:txBody>
          <a:bodyPr/>
          <a:lstStyle/>
          <a:p>
            <a:r>
              <a:rPr lang="en-US" dirty="0"/>
              <a:t>CRS Example</a:t>
            </a:r>
          </a:p>
        </p:txBody>
      </p:sp>
      <p:pic>
        <p:nvPicPr>
          <p:cNvPr id="3" name="Content Placeholder 2" descr="Examples of geographic (WGS 84; left) and projected (NAD83 / UTM zone 12N; right) coordinate systems for a vector data type.">
            <a:extLst>
              <a:ext uri="{FF2B5EF4-FFF2-40B4-BE49-F238E27FC236}">
                <a16:creationId xmlns:a16="http://schemas.microsoft.com/office/drawing/2014/main" id="{7CB3BB87-0BA3-790A-5172-8FA71F1C7190}"/>
              </a:ext>
            </a:extLst>
          </p:cNvPr>
          <p:cNvPicPr>
            <a:picLocks noGrp="1" noChangeAspect="1"/>
          </p:cNvPicPr>
          <p:nvPr>
            <p:ph idx="1"/>
          </p:nvPr>
        </p:nvPicPr>
        <p:blipFill>
          <a:blip r:embed="rId2"/>
          <a:stretch>
            <a:fillRect/>
          </a:stretch>
        </p:blipFill>
        <p:spPr>
          <a:xfrm>
            <a:off x="489431" y="1416684"/>
            <a:ext cx="8165138" cy="4572000"/>
          </a:xfrm>
        </p:spPr>
      </p:pic>
      <p:sp>
        <p:nvSpPr>
          <p:cNvPr id="7" name="Slide Number Placeholder 6">
            <a:extLst>
              <a:ext uri="{FF2B5EF4-FFF2-40B4-BE49-F238E27FC236}">
                <a16:creationId xmlns:a16="http://schemas.microsoft.com/office/drawing/2014/main" id="{D485C14A-CF1B-DF84-C862-54ACECFA20C9}"/>
              </a:ext>
            </a:extLst>
          </p:cNvPr>
          <p:cNvSpPr>
            <a:spLocks noGrp="1"/>
          </p:cNvSpPr>
          <p:nvPr>
            <p:ph type="sldNum" sz="quarter" idx="12"/>
          </p:nvPr>
        </p:nvSpPr>
        <p:spPr/>
        <p:txBody>
          <a:bodyPr/>
          <a:lstStyle/>
          <a:p>
            <a:fld id="{C0343C75-1924-D247-85A3-0CB62E67E5D1}" type="slidenum">
              <a:rPr lang="en-US" smtClean="0"/>
              <a:t>6</a:t>
            </a:fld>
            <a:endParaRPr lang="en-US"/>
          </a:p>
        </p:txBody>
      </p:sp>
      <p:sp>
        <p:nvSpPr>
          <p:cNvPr id="4" name="TextBox 3">
            <a:extLst>
              <a:ext uri="{FF2B5EF4-FFF2-40B4-BE49-F238E27FC236}">
                <a16:creationId xmlns:a16="http://schemas.microsoft.com/office/drawing/2014/main" id="{503EA546-0EF0-F980-F881-728B63522EB7}"/>
              </a:ext>
            </a:extLst>
          </p:cNvPr>
          <p:cNvSpPr txBox="1"/>
          <p:nvPr/>
        </p:nvSpPr>
        <p:spPr>
          <a:xfrm>
            <a:off x="571500" y="5829625"/>
            <a:ext cx="8083068" cy="523220"/>
          </a:xfrm>
          <a:prstGeom prst="rect">
            <a:avLst/>
          </a:prstGeom>
          <a:noFill/>
        </p:spPr>
        <p:txBody>
          <a:bodyPr wrap="square" rtlCol="0">
            <a:spAutoFit/>
          </a:bodyPr>
          <a:lstStyle/>
          <a:p>
            <a:pPr algn="ctr"/>
            <a:r>
              <a:rPr lang="en-US" sz="1400" dirty="0"/>
              <a:t>Examples of geographic (WGS 84; left) and projected (NAD83 / UTM zone 12N; right) coordinate systems for a vector data type.</a:t>
            </a:r>
          </a:p>
        </p:txBody>
      </p:sp>
    </p:spTree>
    <p:extLst>
      <p:ext uri="{BB962C8B-B14F-4D97-AF65-F5344CB8AC3E}">
        <p14:creationId xmlns:p14="http://schemas.microsoft.com/office/powerpoint/2010/main" val="35140571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D1A2F3F8-A4F3-9E15-FCAC-303B4E47B58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73CB890-FB5C-E1E3-8F41-A37BB21A200F}"/>
              </a:ext>
            </a:extLst>
          </p:cNvPr>
          <p:cNvSpPr>
            <a:spLocks noGrp="1"/>
          </p:cNvSpPr>
          <p:nvPr>
            <p:ph type="title"/>
          </p:nvPr>
        </p:nvSpPr>
        <p:spPr/>
        <p:txBody>
          <a:bodyPr>
            <a:normAutofit/>
          </a:bodyPr>
          <a:lstStyle/>
          <a:p>
            <a:r>
              <a:rPr lang="en-US" dirty="0">
                <a:solidFill>
                  <a:srgbClr val="002060"/>
                </a:solidFill>
              </a:rPr>
              <a:t>Some Essential R Packages</a:t>
            </a:r>
          </a:p>
        </p:txBody>
      </p:sp>
      <p:sp>
        <p:nvSpPr>
          <p:cNvPr id="6" name="Content Placeholder 5">
            <a:extLst>
              <a:ext uri="{FF2B5EF4-FFF2-40B4-BE49-F238E27FC236}">
                <a16:creationId xmlns:a16="http://schemas.microsoft.com/office/drawing/2014/main" id="{B8F78C41-D4AF-3EA4-EB9A-1F8A3E7FD7F2}"/>
              </a:ext>
            </a:extLst>
          </p:cNvPr>
          <p:cNvSpPr>
            <a:spLocks noGrp="1"/>
          </p:cNvSpPr>
          <p:nvPr>
            <p:ph idx="1"/>
          </p:nvPr>
        </p:nvSpPr>
        <p:spPr/>
        <p:txBody>
          <a:bodyPr numCol="2">
            <a:normAutofit/>
          </a:bodyPr>
          <a:lstStyle/>
          <a:p>
            <a:pPr marL="0" indent="0">
              <a:buNone/>
            </a:pPr>
            <a:r>
              <a:rPr lang="en-US" sz="1600" b="1" dirty="0" err="1">
                <a:solidFill>
                  <a:srgbClr val="002060"/>
                </a:solidFill>
                <a:latin typeface="OSAKA-MONO" panose="020B0600000000000000" pitchFamily="34" charset="-128"/>
                <a:ea typeface="OSAKA-MONO" panose="020B0600000000000000" pitchFamily="34" charset="-128"/>
              </a:rPr>
              <a:t>dplyr</a:t>
            </a:r>
            <a:endParaRPr lang="en-US" sz="1600" b="1" dirty="0">
              <a:solidFill>
                <a:srgbClr val="002060"/>
              </a:solidFill>
              <a:latin typeface="OSAKA-MONO" panose="020B0600000000000000" pitchFamily="34" charset="-128"/>
              <a:ea typeface="OSAKA-MONO" panose="020B0600000000000000" pitchFamily="34" charset="-128"/>
            </a:endParaRPr>
          </a:p>
          <a:p>
            <a:r>
              <a:rPr lang="en-US" sz="1600" dirty="0">
                <a:solidFill>
                  <a:srgbClr val="002060"/>
                </a:solidFill>
              </a:rPr>
              <a:t>Pipe operators (</a:t>
            </a:r>
            <a:r>
              <a:rPr lang="en-US" sz="1600" b="1" dirty="0">
                <a:solidFill>
                  <a:srgbClr val="002060"/>
                </a:solidFill>
                <a:latin typeface="OSAKA-MONO" panose="020B0600000000000000" pitchFamily="34" charset="-128"/>
                <a:ea typeface="OSAKA-MONO" panose="020B0600000000000000" pitchFamily="34" charset="-128"/>
              </a:rPr>
              <a:t>%&gt;%</a:t>
            </a:r>
            <a:r>
              <a:rPr lang="en-US" sz="1600" dirty="0">
                <a:solidFill>
                  <a:srgbClr val="002060"/>
                </a:solidFill>
              </a:rPr>
              <a:t>)</a:t>
            </a:r>
          </a:p>
          <a:p>
            <a:r>
              <a:rPr lang="en-US" sz="1600" b="1" dirty="0">
                <a:solidFill>
                  <a:srgbClr val="002060"/>
                </a:solidFill>
                <a:latin typeface="OSAKA-MONO" panose="020B0600000000000000" pitchFamily="34" charset="-128"/>
                <a:ea typeface="OSAKA-MONO" panose="020B0600000000000000" pitchFamily="34" charset="-128"/>
              </a:rPr>
              <a:t>filter()</a:t>
            </a:r>
            <a:r>
              <a:rPr lang="en-US" sz="1600" dirty="0">
                <a:solidFill>
                  <a:srgbClr val="002060"/>
                </a:solidFill>
              </a:rPr>
              <a:t>, </a:t>
            </a:r>
            <a:r>
              <a:rPr lang="en-US" sz="1600" b="1" dirty="0">
                <a:solidFill>
                  <a:srgbClr val="002060"/>
                </a:solidFill>
                <a:latin typeface="OSAKA-MONO" panose="020B0600000000000000" pitchFamily="34" charset="-128"/>
                <a:ea typeface="OSAKA-MONO" panose="020B0600000000000000" pitchFamily="34" charset="-128"/>
              </a:rPr>
              <a:t>select()</a:t>
            </a:r>
            <a:r>
              <a:rPr lang="en-US" sz="1600" dirty="0">
                <a:solidFill>
                  <a:srgbClr val="002060"/>
                </a:solidFill>
              </a:rPr>
              <a:t>, </a:t>
            </a:r>
            <a:r>
              <a:rPr lang="en-US" sz="1600" b="1" dirty="0">
                <a:solidFill>
                  <a:srgbClr val="002060"/>
                </a:solidFill>
                <a:latin typeface="OSAKA-MONO" panose="020B0600000000000000" pitchFamily="34" charset="-128"/>
                <a:ea typeface="OSAKA-MONO" panose="020B0600000000000000" pitchFamily="34" charset="-128"/>
              </a:rPr>
              <a:t>mutate()</a:t>
            </a:r>
          </a:p>
          <a:p>
            <a:r>
              <a:rPr lang="en-US" sz="1600" b="1" dirty="0" err="1">
                <a:solidFill>
                  <a:srgbClr val="002060"/>
                </a:solidFill>
                <a:latin typeface="OSAKA-MONO" panose="020B0600000000000000" pitchFamily="34" charset="-128"/>
                <a:ea typeface="OSAKA-MONO" panose="020B0600000000000000" pitchFamily="34" charset="-128"/>
              </a:rPr>
              <a:t>group_by</a:t>
            </a:r>
            <a:r>
              <a:rPr lang="en-US" sz="1600" b="1" dirty="0">
                <a:solidFill>
                  <a:srgbClr val="002060"/>
                </a:solidFill>
                <a:latin typeface="OSAKA-MONO" panose="020B0600000000000000" pitchFamily="34" charset="-128"/>
                <a:ea typeface="OSAKA-MONO" panose="020B0600000000000000" pitchFamily="34" charset="-128"/>
              </a:rPr>
              <a:t>()</a:t>
            </a:r>
            <a:r>
              <a:rPr lang="en-US" sz="1600" dirty="0">
                <a:solidFill>
                  <a:srgbClr val="002060"/>
                </a:solidFill>
              </a:rPr>
              <a:t>, </a:t>
            </a:r>
            <a:r>
              <a:rPr lang="en-US" sz="1600" b="1" dirty="0">
                <a:solidFill>
                  <a:srgbClr val="002060"/>
                </a:solidFill>
                <a:latin typeface="OSAKA-MONO" panose="020B0600000000000000" pitchFamily="34" charset="-128"/>
                <a:ea typeface="OSAKA-MONO" panose="020B0600000000000000" pitchFamily="34" charset="-128"/>
              </a:rPr>
              <a:t>summarize()</a:t>
            </a:r>
          </a:p>
          <a:p>
            <a:r>
              <a:rPr lang="en-US" sz="1600" dirty="0">
                <a:solidFill>
                  <a:srgbClr val="002060"/>
                </a:solidFill>
              </a:rPr>
              <a:t>Works with sf objects</a:t>
            </a:r>
          </a:p>
          <a:p>
            <a:pPr marL="0" indent="0">
              <a:buNone/>
            </a:pPr>
            <a:r>
              <a:rPr lang="en-US" sz="1600" b="1" dirty="0">
                <a:solidFill>
                  <a:srgbClr val="002060"/>
                </a:solidFill>
                <a:latin typeface="OSAKA-MONO" panose="020B0600000000000000" pitchFamily="34" charset="-128"/>
                <a:ea typeface="OSAKA-MONO" panose="020B0600000000000000" pitchFamily="34" charset="-128"/>
              </a:rPr>
              <a:t>sf</a:t>
            </a:r>
          </a:p>
          <a:p>
            <a:r>
              <a:rPr lang="en-US" sz="1600" dirty="0">
                <a:solidFill>
                  <a:srgbClr val="002060"/>
                </a:solidFill>
              </a:rPr>
              <a:t>Vector data handling</a:t>
            </a:r>
          </a:p>
          <a:p>
            <a:r>
              <a:rPr lang="en-US" sz="1600" dirty="0">
                <a:solidFill>
                  <a:srgbClr val="002060"/>
                </a:solidFill>
              </a:rPr>
              <a:t>Integrates with </a:t>
            </a:r>
            <a:r>
              <a:rPr lang="en-US" sz="1600" b="1" dirty="0" err="1">
                <a:solidFill>
                  <a:srgbClr val="002060"/>
                </a:solidFill>
                <a:latin typeface="OSAKA-MONO" panose="020B0600000000000000" pitchFamily="34" charset="-128"/>
                <a:ea typeface="OSAKA-MONO" panose="020B0600000000000000" pitchFamily="34" charset="-128"/>
              </a:rPr>
              <a:t>tidyverse</a:t>
            </a:r>
            <a:endParaRPr lang="en-US" sz="1600" b="1" dirty="0">
              <a:solidFill>
                <a:srgbClr val="002060"/>
              </a:solidFill>
              <a:latin typeface="OSAKA-MONO" panose="020B0600000000000000" pitchFamily="34" charset="-128"/>
              <a:ea typeface="OSAKA-MONO" panose="020B0600000000000000" pitchFamily="34" charset="-128"/>
            </a:endParaRPr>
          </a:p>
          <a:p>
            <a:r>
              <a:rPr lang="en-US" sz="1600" dirty="0">
                <a:solidFill>
                  <a:srgbClr val="002060"/>
                </a:solidFill>
              </a:rPr>
              <a:t>Sticky geometry column</a:t>
            </a:r>
          </a:p>
          <a:p>
            <a:r>
              <a:rPr lang="en-US" sz="1600" dirty="0">
                <a:solidFill>
                  <a:srgbClr val="002060"/>
                </a:solidFill>
              </a:rPr>
              <a:t>Fast spatial operations</a:t>
            </a:r>
          </a:p>
          <a:p>
            <a:pPr marL="0" indent="0">
              <a:buNone/>
            </a:pPr>
            <a:r>
              <a:rPr lang="en-US" sz="1600" b="1" dirty="0" err="1">
                <a:solidFill>
                  <a:srgbClr val="002060"/>
                </a:solidFill>
                <a:latin typeface="OSAKA-MONO" panose="020B0600000000000000" pitchFamily="34" charset="-128"/>
                <a:ea typeface="OSAKA-MONO" panose="020B0600000000000000" pitchFamily="34" charset="-128"/>
              </a:rPr>
              <a:t>spData</a:t>
            </a:r>
            <a:endParaRPr lang="en-US" sz="1600" b="1" dirty="0">
              <a:solidFill>
                <a:srgbClr val="002060"/>
              </a:solidFill>
              <a:latin typeface="OSAKA-MONO" panose="020B0600000000000000" pitchFamily="34" charset="-128"/>
              <a:ea typeface="OSAKA-MONO" panose="020B0600000000000000" pitchFamily="34" charset="-128"/>
            </a:endParaRPr>
          </a:p>
          <a:p>
            <a:r>
              <a:rPr lang="en-US" sz="1600" dirty="0">
                <a:solidFill>
                  <a:srgbClr val="002060"/>
                </a:solidFill>
              </a:rPr>
              <a:t>Datasets for Spatial Analysis</a:t>
            </a:r>
          </a:p>
          <a:p>
            <a:endParaRPr lang="en-US" sz="1600" dirty="0">
              <a:solidFill>
                <a:srgbClr val="002060"/>
              </a:solidFill>
            </a:endParaRPr>
          </a:p>
          <a:p>
            <a:pPr marL="0" indent="0">
              <a:buNone/>
            </a:pPr>
            <a:r>
              <a:rPr lang="en-US" sz="1600" b="1" dirty="0">
                <a:solidFill>
                  <a:srgbClr val="002060"/>
                </a:solidFill>
                <a:latin typeface="OSAKA-MONO" panose="020B0600000000000000" pitchFamily="34" charset="-128"/>
                <a:ea typeface="OSAKA-MONO" panose="020B0600000000000000" pitchFamily="34" charset="-128"/>
              </a:rPr>
              <a:t>units</a:t>
            </a:r>
          </a:p>
          <a:p>
            <a:r>
              <a:rPr lang="en-US" sz="1600" b="1" dirty="0">
                <a:solidFill>
                  <a:srgbClr val="002060"/>
                </a:solidFill>
                <a:latin typeface="OSAKA-MONO" panose="020B0600000000000000" pitchFamily="34" charset="-128"/>
                <a:ea typeface="OSAKA-MONO" panose="020B0600000000000000" pitchFamily="34" charset="-128"/>
              </a:rPr>
              <a:t>sf</a:t>
            </a:r>
            <a:r>
              <a:rPr lang="en-US" sz="1600" dirty="0">
                <a:solidFill>
                  <a:srgbClr val="002060"/>
                </a:solidFill>
              </a:rPr>
              <a:t> objects have native support for </a:t>
            </a:r>
            <a:r>
              <a:rPr lang="en-US" sz="1600" dirty="0">
                <a:solidFill>
                  <a:srgbClr val="002060"/>
                </a:solidFill>
                <a:latin typeface="OSAKA-MONO" panose="020B0600000000000000" pitchFamily="34" charset="-128"/>
                <a:ea typeface="OSAKA-MONO" panose="020B0600000000000000" pitchFamily="34" charset="-128"/>
              </a:rPr>
              <a:t>units</a:t>
            </a:r>
          </a:p>
          <a:p>
            <a:endParaRPr lang="en-US" sz="1600" dirty="0">
              <a:solidFill>
                <a:srgbClr val="002060"/>
              </a:solidFill>
            </a:endParaRPr>
          </a:p>
          <a:p>
            <a:endParaRPr lang="en-US" sz="1600" dirty="0">
              <a:solidFill>
                <a:srgbClr val="002060"/>
              </a:solidFill>
            </a:endParaRPr>
          </a:p>
          <a:p>
            <a:endParaRPr lang="en-US" sz="1600" dirty="0">
              <a:solidFill>
                <a:srgbClr val="002060"/>
              </a:solidFill>
            </a:endParaRPr>
          </a:p>
          <a:p>
            <a:pPr marL="0" indent="0">
              <a:buNone/>
            </a:pPr>
            <a:r>
              <a:rPr lang="en-US" sz="1600" b="1" dirty="0">
                <a:solidFill>
                  <a:srgbClr val="002060"/>
                </a:solidFill>
                <a:latin typeface="OSAKA-MONO" panose="020B0600000000000000" pitchFamily="34" charset="-128"/>
                <a:ea typeface="OSAKA-MONO" panose="020B0600000000000000" pitchFamily="34" charset="-128"/>
              </a:rPr>
              <a:t>terra</a:t>
            </a:r>
          </a:p>
          <a:p>
            <a:r>
              <a:rPr lang="en-US" sz="1600" dirty="0">
                <a:solidFill>
                  <a:srgbClr val="002060"/>
                </a:solidFill>
              </a:rPr>
              <a:t>Raster data handling</a:t>
            </a:r>
          </a:p>
          <a:p>
            <a:r>
              <a:rPr lang="en-US" sz="1600" dirty="0">
                <a:solidFill>
                  <a:srgbClr val="002060"/>
                </a:solidFill>
              </a:rPr>
              <a:t>Fast computation</a:t>
            </a:r>
          </a:p>
          <a:p>
            <a:r>
              <a:rPr lang="en-US" sz="1600" dirty="0">
                <a:solidFill>
                  <a:srgbClr val="002060"/>
                </a:solidFill>
              </a:rPr>
              <a:t>Multi-layer support</a:t>
            </a:r>
          </a:p>
          <a:p>
            <a:r>
              <a:rPr lang="en-US" sz="1600" dirty="0">
                <a:solidFill>
                  <a:srgbClr val="002060"/>
                </a:solidFill>
              </a:rPr>
              <a:t>Memory efficient</a:t>
            </a:r>
          </a:p>
        </p:txBody>
      </p:sp>
      <p:sp>
        <p:nvSpPr>
          <p:cNvPr id="2" name="Slide Number Placeholder 1">
            <a:extLst>
              <a:ext uri="{FF2B5EF4-FFF2-40B4-BE49-F238E27FC236}">
                <a16:creationId xmlns:a16="http://schemas.microsoft.com/office/drawing/2014/main" id="{F490C8DC-693F-D119-D650-05C46948F87C}"/>
              </a:ext>
            </a:extLst>
          </p:cNvPr>
          <p:cNvSpPr>
            <a:spLocks noGrp="1"/>
          </p:cNvSpPr>
          <p:nvPr>
            <p:ph type="sldNum" sz="quarter" idx="12"/>
          </p:nvPr>
        </p:nvSpPr>
        <p:spPr/>
        <p:txBody>
          <a:bodyPr/>
          <a:lstStyle/>
          <a:p>
            <a:fld id="{C0343C75-1924-D247-85A3-0CB62E67E5D1}" type="slidenum">
              <a:rPr lang="en-US" smtClean="0"/>
              <a:t>7</a:t>
            </a:fld>
            <a:endParaRPr lang="en-US"/>
          </a:p>
        </p:txBody>
      </p:sp>
    </p:spTree>
    <p:extLst>
      <p:ext uri="{BB962C8B-B14F-4D97-AF65-F5344CB8AC3E}">
        <p14:creationId xmlns:p14="http://schemas.microsoft.com/office/powerpoint/2010/main" val="1795899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EB993-9335-A11B-3023-80BA1985D7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6EA444-13D1-9735-CDD7-5C57D003A610}"/>
              </a:ext>
            </a:extLst>
          </p:cNvPr>
          <p:cNvSpPr>
            <a:spLocks noGrp="1"/>
          </p:cNvSpPr>
          <p:nvPr>
            <p:ph type="title"/>
          </p:nvPr>
        </p:nvSpPr>
        <p:spPr/>
        <p:txBody>
          <a:bodyPr/>
          <a:lstStyle/>
          <a:p>
            <a:r>
              <a:rPr lang="en-US" dirty="0"/>
              <a:t>Features and Attribute Data</a:t>
            </a:r>
          </a:p>
        </p:txBody>
      </p:sp>
      <p:sp>
        <p:nvSpPr>
          <p:cNvPr id="4" name="Slide Number Placeholder 3">
            <a:extLst>
              <a:ext uri="{FF2B5EF4-FFF2-40B4-BE49-F238E27FC236}">
                <a16:creationId xmlns:a16="http://schemas.microsoft.com/office/drawing/2014/main" id="{703F0F1F-1308-A8CC-6F0F-7DD99BA7BBC0}"/>
              </a:ext>
            </a:extLst>
          </p:cNvPr>
          <p:cNvSpPr>
            <a:spLocks noGrp="1"/>
          </p:cNvSpPr>
          <p:nvPr>
            <p:ph type="sldNum" sz="quarter" idx="12"/>
          </p:nvPr>
        </p:nvSpPr>
        <p:spPr/>
        <p:txBody>
          <a:bodyPr/>
          <a:lstStyle/>
          <a:p>
            <a:fld id="{C0343C75-1924-D247-85A3-0CB62E67E5D1}" type="slidenum">
              <a:rPr lang="en-US" smtClean="0"/>
              <a:t>8</a:t>
            </a:fld>
            <a:endParaRPr lang="en-US"/>
          </a:p>
        </p:txBody>
      </p:sp>
      <p:sp>
        <p:nvSpPr>
          <p:cNvPr id="6" name="Content Placeholder 5">
            <a:extLst>
              <a:ext uri="{FF2B5EF4-FFF2-40B4-BE49-F238E27FC236}">
                <a16:creationId xmlns:a16="http://schemas.microsoft.com/office/drawing/2014/main" id="{9D877F02-0027-197A-54F8-750C7A6DBF78}"/>
              </a:ext>
            </a:extLst>
          </p:cNvPr>
          <p:cNvSpPr>
            <a:spLocks noGrp="1"/>
          </p:cNvSpPr>
          <p:nvPr>
            <p:ph idx="1"/>
          </p:nvPr>
        </p:nvSpPr>
        <p:spPr>
          <a:xfrm>
            <a:off x="457200" y="1600517"/>
            <a:ext cx="5123089" cy="4572000"/>
          </a:xfrm>
        </p:spPr>
        <p:txBody>
          <a:bodyPr>
            <a:normAutofit/>
          </a:bodyPr>
          <a:lstStyle/>
          <a:p>
            <a:r>
              <a:rPr lang="en-US" b="1" dirty="0"/>
              <a:t>Features</a:t>
            </a:r>
            <a:r>
              <a:rPr lang="en-US" dirty="0"/>
              <a:t> are real world things such as roads, property boundaries, sites and so on</a:t>
            </a:r>
          </a:p>
          <a:p>
            <a:r>
              <a:rPr lang="en-US" dirty="0"/>
              <a:t>A feature has a:</a:t>
            </a:r>
          </a:p>
          <a:p>
            <a:pPr lvl="1"/>
            <a:r>
              <a:rPr lang="en-US" sz="2400" b="1" dirty="0"/>
              <a:t>Geometry</a:t>
            </a:r>
            <a:br>
              <a:rPr lang="en-US" sz="2400" dirty="0"/>
            </a:br>
            <a:r>
              <a:rPr lang="en-US" sz="2400" dirty="0"/>
              <a:t>(which determines if it is a point, polyline or polygon)</a:t>
            </a:r>
          </a:p>
          <a:p>
            <a:pPr lvl="1"/>
            <a:r>
              <a:rPr lang="en-US" sz="2400" b="1" dirty="0"/>
              <a:t>Attributes</a:t>
            </a:r>
            <a:br>
              <a:rPr lang="en-US" sz="2400" dirty="0"/>
            </a:br>
            <a:r>
              <a:rPr lang="en-US" sz="2400" dirty="0"/>
              <a:t>(which describe the feature)</a:t>
            </a:r>
          </a:p>
        </p:txBody>
      </p:sp>
      <p:grpSp>
        <p:nvGrpSpPr>
          <p:cNvPr id="7" name="Group 6" descr="Diagram showing the relation between feature, geometry, and attributes.">
            <a:extLst>
              <a:ext uri="{FF2B5EF4-FFF2-40B4-BE49-F238E27FC236}">
                <a16:creationId xmlns:a16="http://schemas.microsoft.com/office/drawing/2014/main" id="{260C89E8-C50A-BB7E-5822-68AD8FDA4AB5}"/>
              </a:ext>
              <a:ext uri="{C183D7F6-B498-43B3-948B-1728B52AA6E4}">
                <adec:decorative xmlns:adec="http://schemas.microsoft.com/office/drawing/2017/decorative" val="0"/>
              </a:ext>
            </a:extLst>
          </p:cNvPr>
          <p:cNvGrpSpPr/>
          <p:nvPr/>
        </p:nvGrpSpPr>
        <p:grpSpPr>
          <a:xfrm>
            <a:off x="5015138" y="1600517"/>
            <a:ext cx="3228523" cy="3806701"/>
            <a:chOff x="4572000" y="1825625"/>
            <a:chExt cx="3228523" cy="3806701"/>
          </a:xfrm>
        </p:grpSpPr>
        <p:sp>
          <p:nvSpPr>
            <p:cNvPr id="8" name="Rectangle 7">
              <a:extLst>
                <a:ext uri="{FF2B5EF4-FFF2-40B4-BE49-F238E27FC236}">
                  <a16:creationId xmlns:a16="http://schemas.microsoft.com/office/drawing/2014/main" id="{8F1BA66D-E2D6-A280-110A-C3DC4AA89493}"/>
                </a:ext>
              </a:extLst>
            </p:cNvPr>
            <p:cNvSpPr/>
            <p:nvPr/>
          </p:nvSpPr>
          <p:spPr>
            <a:xfrm>
              <a:off x="6120496" y="1825625"/>
              <a:ext cx="1099457" cy="48985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dirty="0">
                  <a:solidFill>
                    <a:schemeClr val="bg1"/>
                  </a:solidFill>
                </a:rPr>
                <a:t>Feature</a:t>
              </a:r>
            </a:p>
          </p:txBody>
        </p:sp>
        <p:sp>
          <p:nvSpPr>
            <p:cNvPr id="9" name="Rectangle 8">
              <a:extLst>
                <a:ext uri="{FF2B5EF4-FFF2-40B4-BE49-F238E27FC236}">
                  <a16:creationId xmlns:a16="http://schemas.microsoft.com/office/drawing/2014/main" id="{2B30F3FF-AFEE-C6A4-6D50-BA96B0CECD0C}"/>
                </a:ext>
              </a:extLst>
            </p:cNvPr>
            <p:cNvSpPr/>
            <p:nvPr/>
          </p:nvSpPr>
          <p:spPr>
            <a:xfrm>
              <a:off x="5486400" y="3484020"/>
              <a:ext cx="1099457" cy="4898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b="1" dirty="0">
                  <a:solidFill>
                    <a:schemeClr val="tx1"/>
                  </a:solidFill>
                </a:rPr>
                <a:t>Geometry</a:t>
              </a:r>
            </a:p>
          </p:txBody>
        </p:sp>
        <p:sp>
          <p:nvSpPr>
            <p:cNvPr id="10" name="Rectangle 9">
              <a:extLst>
                <a:ext uri="{FF2B5EF4-FFF2-40B4-BE49-F238E27FC236}">
                  <a16:creationId xmlns:a16="http://schemas.microsoft.com/office/drawing/2014/main" id="{3925B8F7-7D6D-28E9-6CDD-DBEADF87C8DA}"/>
                </a:ext>
              </a:extLst>
            </p:cNvPr>
            <p:cNvSpPr/>
            <p:nvPr/>
          </p:nvSpPr>
          <p:spPr>
            <a:xfrm>
              <a:off x="6701066" y="3484020"/>
              <a:ext cx="1099457" cy="4898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b="1" dirty="0">
                  <a:solidFill>
                    <a:schemeClr val="tx1"/>
                  </a:solidFill>
                </a:rPr>
                <a:t>Attributes</a:t>
              </a:r>
            </a:p>
          </p:txBody>
        </p:sp>
        <p:cxnSp>
          <p:nvCxnSpPr>
            <p:cNvPr id="11" name="Straight Arrow Connector 10">
              <a:extLst>
                <a:ext uri="{FF2B5EF4-FFF2-40B4-BE49-F238E27FC236}">
                  <a16:creationId xmlns:a16="http://schemas.microsoft.com/office/drawing/2014/main" id="{9FFE1490-2FFC-C38B-2DAC-8B82F92C67C7}"/>
                </a:ext>
              </a:extLst>
            </p:cNvPr>
            <p:cNvCxnSpPr>
              <a:cxnSpLocks/>
              <a:stCxn id="8" idx="2"/>
              <a:endCxn id="9" idx="0"/>
            </p:cNvCxnSpPr>
            <p:nvPr/>
          </p:nvCxnSpPr>
          <p:spPr>
            <a:xfrm flipH="1">
              <a:off x="6036129" y="2315482"/>
              <a:ext cx="634096" cy="1168538"/>
            </a:xfrm>
            <a:prstGeom prst="straightConnector1">
              <a:avLst/>
            </a:prstGeom>
            <a:ln w="28575">
              <a:tailEnd type="triangle" w="med" len="lg"/>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065C222F-6835-D903-9A5A-9BCD93DEE6DE}"/>
                </a:ext>
              </a:extLst>
            </p:cNvPr>
            <p:cNvCxnSpPr>
              <a:cxnSpLocks/>
              <a:stCxn id="8" idx="2"/>
              <a:endCxn id="10" idx="0"/>
            </p:cNvCxnSpPr>
            <p:nvPr/>
          </p:nvCxnSpPr>
          <p:spPr>
            <a:xfrm>
              <a:off x="6670225" y="2315482"/>
              <a:ext cx="580570" cy="1168538"/>
            </a:xfrm>
            <a:prstGeom prst="straightConnector1">
              <a:avLst/>
            </a:prstGeom>
            <a:ln w="28575">
              <a:tailEnd type="triangle" w="med" len="lg"/>
            </a:ln>
          </p:spPr>
          <p:style>
            <a:lnRef idx="2">
              <a:schemeClr val="dk1"/>
            </a:lnRef>
            <a:fillRef idx="0">
              <a:schemeClr val="dk1"/>
            </a:fillRef>
            <a:effectRef idx="1">
              <a:schemeClr val="dk1"/>
            </a:effectRef>
            <a:fontRef idx="minor">
              <a:schemeClr val="tx1"/>
            </a:fontRef>
          </p:style>
        </p:cxnSp>
        <p:sp>
          <p:nvSpPr>
            <p:cNvPr id="13" name="Rectangle 12">
              <a:extLst>
                <a:ext uri="{FF2B5EF4-FFF2-40B4-BE49-F238E27FC236}">
                  <a16:creationId xmlns:a16="http://schemas.microsoft.com/office/drawing/2014/main" id="{ED577076-5477-2B68-3750-801D2FE84ECD}"/>
                </a:ext>
              </a:extLst>
            </p:cNvPr>
            <p:cNvSpPr/>
            <p:nvPr/>
          </p:nvSpPr>
          <p:spPr>
            <a:xfrm>
              <a:off x="4572000" y="5142469"/>
              <a:ext cx="914400" cy="4898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b="1" dirty="0">
                  <a:solidFill>
                    <a:schemeClr val="tx1"/>
                  </a:solidFill>
                </a:rPr>
                <a:t>Point</a:t>
              </a:r>
            </a:p>
          </p:txBody>
        </p:sp>
        <p:sp>
          <p:nvSpPr>
            <p:cNvPr id="14" name="Rectangle 13">
              <a:extLst>
                <a:ext uri="{FF2B5EF4-FFF2-40B4-BE49-F238E27FC236}">
                  <a16:creationId xmlns:a16="http://schemas.microsoft.com/office/drawing/2014/main" id="{A967ECF3-34EC-D7DB-F3CD-D67AA843B366}"/>
                </a:ext>
              </a:extLst>
            </p:cNvPr>
            <p:cNvSpPr/>
            <p:nvPr/>
          </p:nvSpPr>
          <p:spPr>
            <a:xfrm>
              <a:off x="5594351" y="5142417"/>
              <a:ext cx="914400" cy="4898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b="1" dirty="0">
                  <a:solidFill>
                    <a:schemeClr val="tx1"/>
                  </a:solidFill>
                </a:rPr>
                <a:t>Polyline</a:t>
              </a:r>
            </a:p>
          </p:txBody>
        </p:sp>
        <p:sp>
          <p:nvSpPr>
            <p:cNvPr id="15" name="Rectangle 14">
              <a:extLst>
                <a:ext uri="{FF2B5EF4-FFF2-40B4-BE49-F238E27FC236}">
                  <a16:creationId xmlns:a16="http://schemas.microsoft.com/office/drawing/2014/main" id="{75323B3E-3366-DC46-7568-2596D6C71844}"/>
                </a:ext>
              </a:extLst>
            </p:cNvPr>
            <p:cNvSpPr/>
            <p:nvPr/>
          </p:nvSpPr>
          <p:spPr>
            <a:xfrm>
              <a:off x="6616702" y="5142416"/>
              <a:ext cx="914400" cy="4898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b="1" dirty="0">
                  <a:solidFill>
                    <a:schemeClr val="tx1"/>
                  </a:solidFill>
                </a:rPr>
                <a:t>Polygon</a:t>
              </a:r>
            </a:p>
          </p:txBody>
        </p:sp>
        <p:cxnSp>
          <p:nvCxnSpPr>
            <p:cNvPr id="16" name="Straight Arrow Connector 15">
              <a:extLst>
                <a:ext uri="{FF2B5EF4-FFF2-40B4-BE49-F238E27FC236}">
                  <a16:creationId xmlns:a16="http://schemas.microsoft.com/office/drawing/2014/main" id="{1760B8C8-1D25-F2AF-EF54-D99CD205BDF6}"/>
                </a:ext>
              </a:extLst>
            </p:cNvPr>
            <p:cNvCxnSpPr>
              <a:cxnSpLocks/>
              <a:stCxn id="9" idx="2"/>
              <a:endCxn id="13" idx="0"/>
            </p:cNvCxnSpPr>
            <p:nvPr/>
          </p:nvCxnSpPr>
          <p:spPr>
            <a:xfrm flipH="1">
              <a:off x="5029200" y="3973877"/>
              <a:ext cx="1006929" cy="1168592"/>
            </a:xfrm>
            <a:prstGeom prst="straightConnector1">
              <a:avLst/>
            </a:prstGeom>
            <a:ln w="28575">
              <a:tailEnd type="triangle" w="med" len="lg"/>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5B9B7FD1-A51D-9AC3-1B45-8AF2BBBCDFEF}"/>
                </a:ext>
              </a:extLst>
            </p:cNvPr>
            <p:cNvCxnSpPr>
              <a:cxnSpLocks/>
              <a:stCxn id="9" idx="2"/>
              <a:endCxn id="14" idx="0"/>
            </p:cNvCxnSpPr>
            <p:nvPr/>
          </p:nvCxnSpPr>
          <p:spPr>
            <a:xfrm>
              <a:off x="6036129" y="3973877"/>
              <a:ext cx="15422" cy="1168540"/>
            </a:xfrm>
            <a:prstGeom prst="straightConnector1">
              <a:avLst/>
            </a:prstGeom>
            <a:ln w="28575">
              <a:tailEnd type="triangle" w="med" len="lg"/>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E710CC60-C10C-4335-4826-98AD34BC031D}"/>
                </a:ext>
              </a:extLst>
            </p:cNvPr>
            <p:cNvCxnSpPr>
              <a:cxnSpLocks/>
              <a:stCxn id="9" idx="2"/>
              <a:endCxn id="15" idx="0"/>
            </p:cNvCxnSpPr>
            <p:nvPr/>
          </p:nvCxnSpPr>
          <p:spPr>
            <a:xfrm>
              <a:off x="6036129" y="3973877"/>
              <a:ext cx="1037773" cy="1168539"/>
            </a:xfrm>
            <a:prstGeom prst="straightConnector1">
              <a:avLst/>
            </a:prstGeom>
            <a:ln w="28575">
              <a:tailEnd type="triangle" w="med" len="lg"/>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2348300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B891D-7B15-03F9-E1A6-D1B2173079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A7B6FC-A9AD-1C7F-FD7A-A0A7232B404B}"/>
              </a:ext>
            </a:extLst>
          </p:cNvPr>
          <p:cNvSpPr>
            <a:spLocks noGrp="1"/>
          </p:cNvSpPr>
          <p:nvPr>
            <p:ph type="title"/>
          </p:nvPr>
        </p:nvSpPr>
        <p:spPr/>
        <p:txBody>
          <a:bodyPr/>
          <a:lstStyle/>
          <a:p>
            <a:r>
              <a:rPr lang="en-US" dirty="0"/>
              <a:t>Attribute Data</a:t>
            </a:r>
          </a:p>
        </p:txBody>
      </p:sp>
      <p:sp>
        <p:nvSpPr>
          <p:cNvPr id="3" name="Content Placeholder 2">
            <a:extLst>
              <a:ext uri="{FF2B5EF4-FFF2-40B4-BE49-F238E27FC236}">
                <a16:creationId xmlns:a16="http://schemas.microsoft.com/office/drawing/2014/main" id="{D32F85AE-537D-35A2-7A90-4E537FD5DD0E}"/>
              </a:ext>
            </a:extLst>
          </p:cNvPr>
          <p:cNvSpPr>
            <a:spLocks noGrp="1"/>
          </p:cNvSpPr>
          <p:nvPr>
            <p:ph idx="1"/>
          </p:nvPr>
        </p:nvSpPr>
        <p:spPr/>
        <p:txBody>
          <a:bodyPr>
            <a:normAutofit/>
          </a:bodyPr>
          <a:lstStyle/>
          <a:p>
            <a:pPr marL="0" indent="0">
              <a:buNone/>
            </a:pPr>
            <a:r>
              <a:rPr lang="en-US" b="1" dirty="0"/>
              <a:t>What are attributes?</a:t>
            </a:r>
          </a:p>
          <a:p>
            <a:r>
              <a:rPr lang="en-US" dirty="0"/>
              <a:t>Non-spatial data </a:t>
            </a:r>
            <a:r>
              <a:rPr lang="en-US" u="sng" dirty="0"/>
              <a:t>combined</a:t>
            </a:r>
            <a:r>
              <a:rPr lang="en-US" dirty="0"/>
              <a:t> with spatial features</a:t>
            </a:r>
            <a:br>
              <a:rPr lang="en-US" dirty="0"/>
            </a:br>
            <a:r>
              <a:rPr lang="en-US" sz="1600" dirty="0"/>
              <a:t>(Examples: bus stop </a:t>
            </a:r>
            <a:r>
              <a:rPr lang="en-US" sz="1600" b="1" dirty="0"/>
              <a:t>name</a:t>
            </a:r>
            <a:r>
              <a:rPr lang="en-US" sz="1600" dirty="0"/>
              <a:t>, population </a:t>
            </a:r>
            <a:r>
              <a:rPr lang="en-US" sz="1600" b="1" dirty="0"/>
              <a:t>count</a:t>
            </a:r>
            <a:r>
              <a:rPr lang="en-US" sz="1600" dirty="0"/>
              <a:t>, elevation </a:t>
            </a:r>
            <a:r>
              <a:rPr lang="en-US" sz="1600" b="1" dirty="0"/>
              <a:t>value</a:t>
            </a:r>
            <a:r>
              <a:rPr lang="en-US" sz="1600" dirty="0"/>
              <a:t>, land use </a:t>
            </a:r>
            <a:r>
              <a:rPr lang="en-US" sz="1600" b="1" dirty="0"/>
              <a:t>category</a:t>
            </a:r>
            <a:r>
              <a:rPr lang="en-US" sz="1600" dirty="0"/>
              <a:t>)</a:t>
            </a:r>
          </a:p>
          <a:p>
            <a:pPr marL="0" indent="0">
              <a:buNone/>
            </a:pPr>
            <a:r>
              <a:rPr lang="en-US" b="1" dirty="0"/>
              <a:t>Difference between geometry and attribute data</a:t>
            </a:r>
          </a:p>
          <a:p>
            <a:r>
              <a:rPr lang="en-US" dirty="0"/>
              <a:t>Geometry data defines the </a:t>
            </a:r>
            <a:r>
              <a:rPr lang="en-US" u="sng" dirty="0"/>
              <a:t>spatial location and shape</a:t>
            </a:r>
            <a:r>
              <a:rPr lang="en-US" dirty="0"/>
              <a:t> of features using coordinates, answering “where” an object is</a:t>
            </a:r>
          </a:p>
          <a:p>
            <a:r>
              <a:rPr lang="en-US" dirty="0"/>
              <a:t>Attribute data describes the </a:t>
            </a:r>
            <a:r>
              <a:rPr lang="en-US" u="sng" dirty="0"/>
              <a:t>non-spatial</a:t>
            </a:r>
            <a:r>
              <a:rPr lang="en-US" dirty="0"/>
              <a:t>, qualitative, or quantitative </a:t>
            </a:r>
            <a:r>
              <a:rPr lang="en-US" u="sng" dirty="0"/>
              <a:t>characteristics</a:t>
            </a:r>
            <a:r>
              <a:rPr lang="en-US" dirty="0"/>
              <a:t> of those features, such as names, types, or values, answering “what” the object is</a:t>
            </a:r>
          </a:p>
          <a:p>
            <a:r>
              <a:rPr lang="en-US" dirty="0"/>
              <a:t>They are </a:t>
            </a:r>
            <a:r>
              <a:rPr lang="en-US" u="sng" dirty="0"/>
              <a:t>linked</a:t>
            </a:r>
            <a:r>
              <a:rPr lang="en-US" dirty="0"/>
              <a:t> by </a:t>
            </a:r>
            <a:r>
              <a:rPr lang="en-US" u="sng" dirty="0"/>
              <a:t>unique identifiers</a:t>
            </a:r>
            <a:r>
              <a:rPr lang="en-US" dirty="0"/>
              <a:t> in GIS</a:t>
            </a:r>
          </a:p>
        </p:txBody>
      </p:sp>
      <p:sp>
        <p:nvSpPr>
          <p:cNvPr id="4" name="Slide Number Placeholder 3">
            <a:extLst>
              <a:ext uri="{FF2B5EF4-FFF2-40B4-BE49-F238E27FC236}">
                <a16:creationId xmlns:a16="http://schemas.microsoft.com/office/drawing/2014/main" id="{1E1F6997-A779-750B-5E85-9672CC8CA6BE}"/>
              </a:ext>
            </a:extLst>
          </p:cNvPr>
          <p:cNvSpPr>
            <a:spLocks noGrp="1"/>
          </p:cNvSpPr>
          <p:nvPr>
            <p:ph type="sldNum" sz="quarter" idx="12"/>
          </p:nvPr>
        </p:nvSpPr>
        <p:spPr/>
        <p:txBody>
          <a:bodyPr/>
          <a:lstStyle/>
          <a:p>
            <a:fld id="{C0343C75-1924-D247-85A3-0CB62E67E5D1}" type="slidenum">
              <a:rPr lang="en-US" smtClean="0"/>
              <a:t>9</a:t>
            </a:fld>
            <a:endParaRPr lang="en-US"/>
          </a:p>
        </p:txBody>
      </p:sp>
    </p:spTree>
    <p:extLst>
      <p:ext uri="{BB962C8B-B14F-4D97-AF65-F5344CB8AC3E}">
        <p14:creationId xmlns:p14="http://schemas.microsoft.com/office/powerpoint/2010/main" val="255003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ACB159-F17B-5C80-72EC-616499267162}"/>
              </a:ext>
            </a:extLst>
          </p:cNvPr>
          <p:cNvSpPr>
            <a:spLocks noGrp="1"/>
          </p:cNvSpPr>
          <p:nvPr>
            <p:ph type="title"/>
          </p:nvPr>
        </p:nvSpPr>
        <p:spPr/>
        <p:txBody>
          <a:bodyPr/>
          <a:lstStyle/>
          <a:p>
            <a:r>
              <a:rPr lang="en-US" dirty="0"/>
              <a:t>Attribute Table</a:t>
            </a:r>
          </a:p>
        </p:txBody>
      </p:sp>
      <p:sp>
        <p:nvSpPr>
          <p:cNvPr id="2" name="Slide Number Placeholder 1">
            <a:extLst>
              <a:ext uri="{FF2B5EF4-FFF2-40B4-BE49-F238E27FC236}">
                <a16:creationId xmlns:a16="http://schemas.microsoft.com/office/drawing/2014/main" id="{43FD49E9-EE61-E615-DDCB-74274323FE62}"/>
              </a:ext>
            </a:extLst>
          </p:cNvPr>
          <p:cNvSpPr>
            <a:spLocks noGrp="1"/>
          </p:cNvSpPr>
          <p:nvPr>
            <p:ph type="sldNum" sz="quarter" idx="12"/>
          </p:nvPr>
        </p:nvSpPr>
        <p:spPr/>
        <p:txBody>
          <a:bodyPr/>
          <a:lstStyle/>
          <a:p>
            <a:fld id="{C0343C75-1924-D247-85A3-0CB62E67E5D1}" type="slidenum">
              <a:rPr lang="en-US" smtClean="0"/>
              <a:t>10</a:t>
            </a:fld>
            <a:endParaRPr lang="en-US"/>
          </a:p>
        </p:txBody>
      </p:sp>
      <p:pic>
        <p:nvPicPr>
          <p:cNvPr id="3" name="Picture 2" descr="Example of attribute table from the Census.">
            <a:extLst>
              <a:ext uri="{FF2B5EF4-FFF2-40B4-BE49-F238E27FC236}">
                <a16:creationId xmlns:a16="http://schemas.microsoft.com/office/drawing/2014/main" id="{29FF1339-DFBD-690F-AD50-2F79A7EFEC6E}"/>
              </a:ext>
            </a:extLst>
          </p:cNvPr>
          <p:cNvPicPr>
            <a:picLocks noChangeAspect="1"/>
          </p:cNvPicPr>
          <p:nvPr/>
        </p:nvPicPr>
        <p:blipFill>
          <a:blip r:embed="rId2"/>
          <a:stretch>
            <a:fillRect/>
          </a:stretch>
        </p:blipFill>
        <p:spPr>
          <a:xfrm>
            <a:off x="1247359" y="1682523"/>
            <a:ext cx="6680105" cy="4589461"/>
          </a:xfrm>
          <a:prstGeom prst="rect">
            <a:avLst/>
          </a:prstGeom>
        </p:spPr>
      </p:pic>
      <p:pic>
        <p:nvPicPr>
          <p:cNvPr id="5" name="Picture 4">
            <a:extLst>
              <a:ext uri="{FF2B5EF4-FFF2-40B4-BE49-F238E27FC236}">
                <a16:creationId xmlns:a16="http://schemas.microsoft.com/office/drawing/2014/main" id="{56A184C7-2D89-6032-BFE1-386F02B253F6}"/>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216536" y="1766890"/>
            <a:ext cx="6680105" cy="4589461"/>
          </a:xfrm>
          <a:prstGeom prst="rect">
            <a:avLst/>
          </a:prstGeom>
        </p:spPr>
      </p:pic>
      <p:grpSp>
        <p:nvGrpSpPr>
          <p:cNvPr id="6" name="Group 5">
            <a:extLst>
              <a:ext uri="{FF2B5EF4-FFF2-40B4-BE49-F238E27FC236}">
                <a16:creationId xmlns:a16="http://schemas.microsoft.com/office/drawing/2014/main" id="{B0A202CC-BDA7-4D02-AE56-4E0871F90DA3}"/>
              </a:ext>
              <a:ext uri="{C183D7F6-B498-43B3-948B-1728B52AA6E4}">
                <adec:decorative xmlns:adec="http://schemas.microsoft.com/office/drawing/2017/decorative" val="1"/>
              </a:ext>
            </a:extLst>
          </p:cNvPr>
          <p:cNvGrpSpPr/>
          <p:nvPr/>
        </p:nvGrpSpPr>
        <p:grpSpPr>
          <a:xfrm>
            <a:off x="3987800" y="1289684"/>
            <a:ext cx="1177161" cy="5086351"/>
            <a:chOff x="4053436" y="409897"/>
            <a:chExt cx="1282174" cy="5668871"/>
          </a:xfrm>
        </p:grpSpPr>
        <p:sp>
          <p:nvSpPr>
            <p:cNvPr id="7" name="Rounded Rectangle 6">
              <a:extLst>
                <a:ext uri="{FF2B5EF4-FFF2-40B4-BE49-F238E27FC236}">
                  <a16:creationId xmlns:a16="http://schemas.microsoft.com/office/drawing/2014/main" id="{D7CC0FC0-134F-82CB-69EE-8A461C98D376}"/>
                </a:ext>
              </a:extLst>
            </p:cNvPr>
            <p:cNvSpPr/>
            <p:nvPr/>
          </p:nvSpPr>
          <p:spPr>
            <a:xfrm>
              <a:off x="4053436" y="779229"/>
              <a:ext cx="1282174" cy="5299539"/>
            </a:xfrm>
            <a:prstGeom prst="roundRect">
              <a:avLst/>
            </a:prstGeom>
            <a:noFill/>
            <a:ln w="38100">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22E9780-CCB2-B84A-EC2F-818C2D0261D2}"/>
                </a:ext>
              </a:extLst>
            </p:cNvPr>
            <p:cNvSpPr txBox="1"/>
            <p:nvPr/>
          </p:nvSpPr>
          <p:spPr>
            <a:xfrm>
              <a:off x="4136677" y="409897"/>
              <a:ext cx="1115691" cy="369332"/>
            </a:xfrm>
            <a:prstGeom prst="rect">
              <a:avLst/>
            </a:prstGeom>
            <a:noFill/>
          </p:spPr>
          <p:txBody>
            <a:bodyPr wrap="none" rtlCol="0">
              <a:spAutoFit/>
            </a:bodyPr>
            <a:lstStyle/>
            <a:p>
              <a:pPr algn="ctr"/>
              <a:r>
                <a:rPr lang="en-US" b="1" dirty="0">
                  <a:solidFill>
                    <a:srgbClr val="C00000"/>
                  </a:solidFill>
                </a:rPr>
                <a:t>Attribute</a:t>
              </a:r>
            </a:p>
          </p:txBody>
        </p:sp>
      </p:grpSp>
      <p:grpSp>
        <p:nvGrpSpPr>
          <p:cNvPr id="9" name="Group 8">
            <a:extLst>
              <a:ext uri="{FF2B5EF4-FFF2-40B4-BE49-F238E27FC236}">
                <a16:creationId xmlns:a16="http://schemas.microsoft.com/office/drawing/2014/main" id="{296AFC19-B009-78D9-2A3E-52D19FAC7CF9}"/>
              </a:ext>
              <a:ext uri="{C183D7F6-B498-43B3-948B-1728B52AA6E4}">
                <adec:decorative xmlns:adec="http://schemas.microsoft.com/office/drawing/2017/decorative" val="1"/>
              </a:ext>
            </a:extLst>
          </p:cNvPr>
          <p:cNvGrpSpPr/>
          <p:nvPr/>
        </p:nvGrpSpPr>
        <p:grpSpPr>
          <a:xfrm>
            <a:off x="306423" y="1955233"/>
            <a:ext cx="7621041" cy="330756"/>
            <a:chOff x="261141" y="3960734"/>
            <a:chExt cx="8266410" cy="513020"/>
          </a:xfrm>
        </p:grpSpPr>
        <p:sp>
          <p:nvSpPr>
            <p:cNvPr id="10" name="Rounded Rectangle 9">
              <a:extLst>
                <a:ext uri="{FF2B5EF4-FFF2-40B4-BE49-F238E27FC236}">
                  <a16:creationId xmlns:a16="http://schemas.microsoft.com/office/drawing/2014/main" id="{1FFBC37F-7C27-A486-D726-6655324C9E27}"/>
                </a:ext>
              </a:extLst>
            </p:cNvPr>
            <p:cNvSpPr/>
            <p:nvPr/>
          </p:nvSpPr>
          <p:spPr>
            <a:xfrm>
              <a:off x="1171254" y="4068194"/>
              <a:ext cx="7356297" cy="405560"/>
            </a:xfrm>
            <a:prstGeom prst="roundRect">
              <a:avLst/>
            </a:prstGeom>
            <a:noFill/>
            <a:ln w="38100">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F40426E-B98D-2D42-90C4-AAA1947C3326}"/>
                </a:ext>
              </a:extLst>
            </p:cNvPr>
            <p:cNvSpPr txBox="1"/>
            <p:nvPr/>
          </p:nvSpPr>
          <p:spPr>
            <a:xfrm>
              <a:off x="261141" y="3960734"/>
              <a:ext cx="935513" cy="369334"/>
            </a:xfrm>
            <a:prstGeom prst="rect">
              <a:avLst/>
            </a:prstGeom>
            <a:noFill/>
          </p:spPr>
          <p:txBody>
            <a:bodyPr wrap="none" rtlCol="0">
              <a:spAutoFit/>
            </a:bodyPr>
            <a:lstStyle/>
            <a:p>
              <a:pPr algn="ctr"/>
              <a:r>
                <a:rPr lang="en-US" b="1" dirty="0">
                  <a:solidFill>
                    <a:srgbClr val="C00000"/>
                  </a:solidFill>
                </a:rPr>
                <a:t>Record</a:t>
              </a:r>
            </a:p>
          </p:txBody>
        </p:sp>
      </p:grpSp>
    </p:spTree>
    <p:extLst>
      <p:ext uri="{BB962C8B-B14F-4D97-AF65-F5344CB8AC3E}">
        <p14:creationId xmlns:p14="http://schemas.microsoft.com/office/powerpoint/2010/main" val="3987394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49FB8-7CBD-2DDC-AC6D-C3994DC44AED}"/>
              </a:ext>
            </a:extLst>
          </p:cNvPr>
          <p:cNvSpPr>
            <a:spLocks noGrp="1"/>
          </p:cNvSpPr>
          <p:nvPr>
            <p:ph type="title"/>
          </p:nvPr>
        </p:nvSpPr>
        <p:spPr>
          <a:xfrm>
            <a:off x="457200" y="136524"/>
            <a:ext cx="8427156" cy="1280160"/>
          </a:xfrm>
        </p:spPr>
        <p:txBody>
          <a:bodyPr/>
          <a:lstStyle/>
          <a:p>
            <a:r>
              <a:rPr lang="en-US" dirty="0"/>
              <a:t>Attribute Data; Extract, Transform, Load</a:t>
            </a:r>
          </a:p>
        </p:txBody>
      </p:sp>
      <p:sp>
        <p:nvSpPr>
          <p:cNvPr id="3" name="Content Placeholder 2">
            <a:extLst>
              <a:ext uri="{FF2B5EF4-FFF2-40B4-BE49-F238E27FC236}">
                <a16:creationId xmlns:a16="http://schemas.microsoft.com/office/drawing/2014/main" id="{B5C650A1-52F0-4C36-0C0C-6E2EF9EBF79D}"/>
              </a:ext>
            </a:extLst>
          </p:cNvPr>
          <p:cNvSpPr>
            <a:spLocks noGrp="1"/>
          </p:cNvSpPr>
          <p:nvPr>
            <p:ph idx="1"/>
          </p:nvPr>
        </p:nvSpPr>
        <p:spPr/>
        <p:txBody>
          <a:bodyPr>
            <a:normAutofit/>
          </a:bodyPr>
          <a:lstStyle/>
          <a:p>
            <a:pPr marL="0" indent="0">
              <a:buNone/>
            </a:pPr>
            <a:r>
              <a:rPr lang="en-US" b="1" dirty="0"/>
              <a:t>Why attribute operations are central to ETL</a:t>
            </a:r>
          </a:p>
          <a:p>
            <a:r>
              <a:rPr lang="en-US" dirty="0"/>
              <a:t>Essential for </a:t>
            </a:r>
            <a:r>
              <a:rPr lang="en-US" u="sng" dirty="0"/>
              <a:t>filtering</a:t>
            </a:r>
            <a:r>
              <a:rPr lang="en-US" dirty="0"/>
              <a:t>, </a:t>
            </a:r>
            <a:r>
              <a:rPr lang="en-US" u="sng" dirty="0"/>
              <a:t>merging</a:t>
            </a:r>
            <a:r>
              <a:rPr lang="en-US" dirty="0"/>
              <a:t>, </a:t>
            </a:r>
            <a:r>
              <a:rPr lang="en-US" u="sng" dirty="0"/>
              <a:t>aggregating</a:t>
            </a:r>
            <a:r>
              <a:rPr lang="en-US" dirty="0"/>
              <a:t>,</a:t>
            </a:r>
            <a:br>
              <a:rPr lang="en-US" dirty="0"/>
            </a:br>
            <a:r>
              <a:rPr lang="en-US" dirty="0"/>
              <a:t>and </a:t>
            </a:r>
            <a:r>
              <a:rPr lang="en-US" u="sng" dirty="0"/>
              <a:t>reshaping</a:t>
            </a:r>
            <a:r>
              <a:rPr lang="en-US" dirty="0"/>
              <a:t> datasets</a:t>
            </a:r>
          </a:p>
          <a:p>
            <a:r>
              <a:rPr lang="en-US" dirty="0"/>
              <a:t>Direct impact on analytics outcomes</a:t>
            </a:r>
          </a:p>
        </p:txBody>
      </p:sp>
      <p:sp>
        <p:nvSpPr>
          <p:cNvPr id="5" name="Slide Number Placeholder 4">
            <a:extLst>
              <a:ext uri="{FF2B5EF4-FFF2-40B4-BE49-F238E27FC236}">
                <a16:creationId xmlns:a16="http://schemas.microsoft.com/office/drawing/2014/main" id="{97BF6C55-3D67-6C2E-7D18-2F29F3BC6BB8}"/>
              </a:ext>
            </a:extLst>
          </p:cNvPr>
          <p:cNvSpPr>
            <a:spLocks noGrp="1"/>
          </p:cNvSpPr>
          <p:nvPr>
            <p:ph type="sldNum" sz="quarter" idx="12"/>
          </p:nvPr>
        </p:nvSpPr>
        <p:spPr/>
        <p:txBody>
          <a:bodyPr/>
          <a:lstStyle/>
          <a:p>
            <a:fld id="{C0343C75-1924-D247-85A3-0CB62E67E5D1}" type="slidenum">
              <a:rPr lang="en-US" smtClean="0"/>
              <a:t>11</a:t>
            </a:fld>
            <a:endParaRPr lang="en-US"/>
          </a:p>
        </p:txBody>
      </p:sp>
    </p:spTree>
    <p:extLst>
      <p:ext uri="{BB962C8B-B14F-4D97-AF65-F5344CB8AC3E}">
        <p14:creationId xmlns:p14="http://schemas.microsoft.com/office/powerpoint/2010/main" val="3220785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B624D-F393-E90C-BB91-54CCF4DB16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BCE424-05F2-2724-D5EB-66A35C0AE94E}"/>
              </a:ext>
            </a:extLst>
          </p:cNvPr>
          <p:cNvSpPr>
            <a:spLocks noGrp="1"/>
          </p:cNvSpPr>
          <p:nvPr>
            <p:ph type="title"/>
          </p:nvPr>
        </p:nvSpPr>
        <p:spPr/>
        <p:txBody>
          <a:bodyPr/>
          <a:lstStyle/>
          <a:p>
            <a:r>
              <a:rPr lang="en-US" dirty="0"/>
              <a:t>Attribute Data Workflow</a:t>
            </a:r>
          </a:p>
        </p:txBody>
      </p:sp>
      <p:sp>
        <p:nvSpPr>
          <p:cNvPr id="5" name="Slide Number Placeholder 4">
            <a:extLst>
              <a:ext uri="{FF2B5EF4-FFF2-40B4-BE49-F238E27FC236}">
                <a16:creationId xmlns:a16="http://schemas.microsoft.com/office/drawing/2014/main" id="{6236ED31-D2AD-2496-540A-171B07913D09}"/>
              </a:ext>
            </a:extLst>
          </p:cNvPr>
          <p:cNvSpPr>
            <a:spLocks noGrp="1"/>
          </p:cNvSpPr>
          <p:nvPr>
            <p:ph type="sldNum" sz="quarter" idx="12"/>
          </p:nvPr>
        </p:nvSpPr>
        <p:spPr/>
        <p:txBody>
          <a:bodyPr/>
          <a:lstStyle/>
          <a:p>
            <a:fld id="{C0343C75-1924-D247-85A3-0CB62E67E5D1}" type="slidenum">
              <a:rPr lang="en-US" smtClean="0"/>
              <a:t>12</a:t>
            </a:fld>
            <a:endParaRPr lang="en-US"/>
          </a:p>
        </p:txBody>
      </p:sp>
      <p:pic>
        <p:nvPicPr>
          <p:cNvPr id="9" name="Content Placeholder 8" descr="Basic idea of a spatial join of attribute data.">
            <a:extLst>
              <a:ext uri="{FF2B5EF4-FFF2-40B4-BE49-F238E27FC236}">
                <a16:creationId xmlns:a16="http://schemas.microsoft.com/office/drawing/2014/main" id="{4FE740E4-4ADE-6ADD-9557-5C0F1F23A0A3}"/>
              </a:ext>
            </a:extLst>
          </p:cNvPr>
          <p:cNvPicPr>
            <a:picLocks noGrp="1" noChangeAspect="1"/>
          </p:cNvPicPr>
          <p:nvPr>
            <p:ph idx="1"/>
          </p:nvPr>
        </p:nvPicPr>
        <p:blipFill>
          <a:blip r:embed="rId2"/>
          <a:stretch>
            <a:fillRect/>
          </a:stretch>
        </p:blipFill>
        <p:spPr>
          <a:xfrm>
            <a:off x="658283" y="1416684"/>
            <a:ext cx="7827433" cy="4665060"/>
          </a:xfrm>
        </p:spPr>
      </p:pic>
    </p:spTree>
    <p:extLst>
      <p:ext uri="{BB962C8B-B14F-4D97-AF65-F5344CB8AC3E}">
        <p14:creationId xmlns:p14="http://schemas.microsoft.com/office/powerpoint/2010/main" val="2386505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4C3EF-1B4D-C6E1-D549-543E3B5C80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C3F2C7-E7B9-E9D6-FF29-F0A74AFBBC79}"/>
              </a:ext>
            </a:extLst>
          </p:cNvPr>
          <p:cNvSpPr>
            <a:spLocks noGrp="1"/>
          </p:cNvSpPr>
          <p:nvPr>
            <p:ph type="title"/>
          </p:nvPr>
        </p:nvSpPr>
        <p:spPr/>
        <p:txBody>
          <a:bodyPr/>
          <a:lstStyle/>
          <a:p>
            <a:r>
              <a:rPr lang="en-US" dirty="0"/>
              <a:t>Statistical Maps &amp; Thematic Mapping</a:t>
            </a:r>
          </a:p>
        </p:txBody>
      </p:sp>
      <p:sp>
        <p:nvSpPr>
          <p:cNvPr id="3" name="Content Placeholder 2">
            <a:extLst>
              <a:ext uri="{FF2B5EF4-FFF2-40B4-BE49-F238E27FC236}">
                <a16:creationId xmlns:a16="http://schemas.microsoft.com/office/drawing/2014/main" id="{062A22CC-DB31-47CF-69BD-9C7E1C7DD209}"/>
              </a:ext>
            </a:extLst>
          </p:cNvPr>
          <p:cNvSpPr>
            <a:spLocks noGrp="1"/>
          </p:cNvSpPr>
          <p:nvPr>
            <p:ph idx="1"/>
          </p:nvPr>
        </p:nvSpPr>
        <p:spPr>
          <a:xfrm>
            <a:off x="457199" y="1600517"/>
            <a:ext cx="8229599" cy="4572000"/>
          </a:xfrm>
        </p:spPr>
        <p:txBody>
          <a:bodyPr>
            <a:normAutofit lnSpcReduction="10000"/>
          </a:bodyPr>
          <a:lstStyle/>
          <a:p>
            <a:r>
              <a:rPr lang="en-US" dirty="0"/>
              <a:t>A </a:t>
            </a:r>
            <a:r>
              <a:rPr lang="en-US" b="1" dirty="0"/>
              <a:t>thematic map</a:t>
            </a:r>
            <a:r>
              <a:rPr lang="en-US" dirty="0"/>
              <a:t> is used to show </a:t>
            </a:r>
            <a:r>
              <a:rPr lang="en-US" b="1" dirty="0"/>
              <a:t>spatial patterns</a:t>
            </a:r>
            <a:endParaRPr lang="en-US" dirty="0"/>
          </a:p>
          <a:p>
            <a:r>
              <a:rPr lang="en-US" dirty="0"/>
              <a:t>Data is </a:t>
            </a:r>
            <a:r>
              <a:rPr lang="en-US" b="1" dirty="0"/>
              <a:t>aggregated</a:t>
            </a:r>
            <a:r>
              <a:rPr lang="en-US" dirty="0"/>
              <a:t> by predefined spatial units</a:t>
            </a:r>
            <a:br>
              <a:rPr lang="en-US" dirty="0"/>
            </a:br>
            <a:r>
              <a:rPr lang="en-US" dirty="0"/>
              <a:t>(e.g., countries, states, districts)</a:t>
            </a:r>
          </a:p>
          <a:p>
            <a:r>
              <a:rPr lang="en-US" dirty="0"/>
              <a:t>Thematic maps include types such as </a:t>
            </a:r>
            <a:r>
              <a:rPr lang="en-US" b="1" dirty="0"/>
              <a:t>choropleth</a:t>
            </a:r>
            <a:r>
              <a:rPr lang="en-US" dirty="0"/>
              <a:t>, </a:t>
            </a:r>
            <a:r>
              <a:rPr lang="en-US" b="1" dirty="0"/>
              <a:t>dot density</a:t>
            </a:r>
            <a:r>
              <a:rPr lang="en-US" dirty="0"/>
              <a:t>, </a:t>
            </a:r>
            <a:r>
              <a:rPr lang="en-US" b="1" dirty="0"/>
              <a:t>proportional symbol</a:t>
            </a:r>
            <a:r>
              <a:rPr lang="en-US" dirty="0"/>
              <a:t>, and </a:t>
            </a:r>
            <a:r>
              <a:rPr lang="en-US" b="1" dirty="0"/>
              <a:t>isopleth maps</a:t>
            </a:r>
            <a:endParaRPr lang="en-US" dirty="0"/>
          </a:p>
          <a:p>
            <a:r>
              <a:rPr lang="en-US" dirty="0"/>
              <a:t>They display the </a:t>
            </a:r>
            <a:r>
              <a:rPr lang="en-US" b="1" dirty="0"/>
              <a:t>spatial distribution </a:t>
            </a:r>
            <a:r>
              <a:rPr lang="en-US" dirty="0"/>
              <a:t>of one or more data themes across selected geographic areas</a:t>
            </a:r>
          </a:p>
          <a:p>
            <a:r>
              <a:rPr lang="en-US" dirty="0"/>
              <a:t>Data can be:</a:t>
            </a:r>
          </a:p>
          <a:p>
            <a:pPr lvl="1"/>
            <a:r>
              <a:rPr lang="en-US" dirty="0"/>
              <a:t>Quantitative (e.g., population change, income levels)</a:t>
            </a:r>
          </a:p>
          <a:p>
            <a:pPr lvl="1"/>
            <a:r>
              <a:rPr lang="en-US" dirty="0"/>
              <a:t>Qualitative  (e.g., soil types, land use)</a:t>
            </a:r>
          </a:p>
          <a:p>
            <a:r>
              <a:rPr lang="en-US" dirty="0"/>
              <a:t>To create a </a:t>
            </a:r>
            <a:r>
              <a:rPr lang="en-US" b="1" dirty="0"/>
              <a:t>vector thematic map</a:t>
            </a:r>
            <a:r>
              <a:rPr lang="en-US" dirty="0"/>
              <a:t>, select the </a:t>
            </a:r>
            <a:r>
              <a:rPr lang="en-US" b="1" dirty="0"/>
              <a:t>attribute field</a:t>
            </a:r>
            <a:r>
              <a:rPr lang="en-US" dirty="0"/>
              <a:t> in the map layer that represents the data to be mapped</a:t>
            </a:r>
          </a:p>
        </p:txBody>
      </p:sp>
      <p:sp>
        <p:nvSpPr>
          <p:cNvPr id="4" name="Slide Number Placeholder 3">
            <a:extLst>
              <a:ext uri="{FF2B5EF4-FFF2-40B4-BE49-F238E27FC236}">
                <a16:creationId xmlns:a16="http://schemas.microsoft.com/office/drawing/2014/main" id="{D8675F2F-6944-4746-272E-EFD57CC35E25}"/>
              </a:ext>
            </a:extLst>
          </p:cNvPr>
          <p:cNvSpPr>
            <a:spLocks noGrp="1"/>
          </p:cNvSpPr>
          <p:nvPr>
            <p:ph type="sldNum" sz="quarter" idx="12"/>
          </p:nvPr>
        </p:nvSpPr>
        <p:spPr/>
        <p:txBody>
          <a:bodyPr/>
          <a:lstStyle/>
          <a:p>
            <a:fld id="{C0343C75-1924-D247-85A3-0CB62E67E5D1}" type="slidenum">
              <a:rPr lang="en-US" smtClean="0"/>
              <a:t>13</a:t>
            </a:fld>
            <a:endParaRPr lang="en-US"/>
          </a:p>
        </p:txBody>
      </p:sp>
    </p:spTree>
    <p:extLst>
      <p:ext uri="{BB962C8B-B14F-4D97-AF65-F5344CB8AC3E}">
        <p14:creationId xmlns:p14="http://schemas.microsoft.com/office/powerpoint/2010/main" val="29684611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2F0C2-FCF2-5FB0-346E-B5D18AFAD50E}"/>
              </a:ext>
            </a:extLst>
          </p:cNvPr>
          <p:cNvSpPr>
            <a:spLocks noGrp="1"/>
          </p:cNvSpPr>
          <p:nvPr>
            <p:ph type="title"/>
          </p:nvPr>
        </p:nvSpPr>
        <p:spPr/>
        <p:txBody>
          <a:bodyPr/>
          <a:lstStyle/>
          <a:p>
            <a:r>
              <a:rPr lang="en-US" dirty="0"/>
              <a:t>Distribution Maps</a:t>
            </a:r>
          </a:p>
        </p:txBody>
      </p:sp>
      <p:sp>
        <p:nvSpPr>
          <p:cNvPr id="3" name="Content Placeholder 2">
            <a:extLst>
              <a:ext uri="{FF2B5EF4-FFF2-40B4-BE49-F238E27FC236}">
                <a16:creationId xmlns:a16="http://schemas.microsoft.com/office/drawing/2014/main" id="{93020475-A6F8-6386-4A12-587B0690444B}"/>
              </a:ext>
            </a:extLst>
          </p:cNvPr>
          <p:cNvSpPr>
            <a:spLocks noGrp="1"/>
          </p:cNvSpPr>
          <p:nvPr>
            <p:ph idx="1"/>
          </p:nvPr>
        </p:nvSpPr>
        <p:spPr>
          <a:xfrm>
            <a:off x="457200" y="3428999"/>
            <a:ext cx="8229600" cy="2743517"/>
          </a:xfrm>
        </p:spPr>
        <p:txBody>
          <a:bodyPr>
            <a:normAutofit/>
          </a:bodyPr>
          <a:lstStyle/>
          <a:p>
            <a:r>
              <a:rPr lang="en-US" sz="2000" dirty="0"/>
              <a:t>Example of a continuous color scheme applied to a choropleth map</a:t>
            </a:r>
          </a:p>
          <a:p>
            <a:r>
              <a:rPr lang="en-US" sz="2000" dirty="0"/>
              <a:t>Such a map</a:t>
            </a:r>
            <a:r>
              <a:rPr lang="en-US" sz="2000" baseline="30000" dirty="0"/>
              <a:t>(continuous)</a:t>
            </a:r>
            <a:r>
              <a:rPr lang="en-US" sz="2000" dirty="0"/>
              <a:t> may not be as informative as one would like it to be</a:t>
            </a:r>
          </a:p>
          <a:p>
            <a:r>
              <a:rPr lang="en-US" sz="2000" dirty="0"/>
              <a:t>In statistics, we seek to reduce large sets of continuous values to discrete entities to help us better “handle” the data</a:t>
            </a:r>
          </a:p>
        </p:txBody>
      </p:sp>
      <p:sp>
        <p:nvSpPr>
          <p:cNvPr id="4" name="Slide Number Placeholder 3">
            <a:extLst>
              <a:ext uri="{FF2B5EF4-FFF2-40B4-BE49-F238E27FC236}">
                <a16:creationId xmlns:a16="http://schemas.microsoft.com/office/drawing/2014/main" id="{A9FF03BE-DD41-FED9-62D9-C6947FCCB6DA}"/>
              </a:ext>
            </a:extLst>
          </p:cNvPr>
          <p:cNvSpPr>
            <a:spLocks noGrp="1"/>
          </p:cNvSpPr>
          <p:nvPr>
            <p:ph type="sldNum" sz="quarter" idx="12"/>
          </p:nvPr>
        </p:nvSpPr>
        <p:spPr/>
        <p:txBody>
          <a:bodyPr/>
          <a:lstStyle/>
          <a:p>
            <a:fld id="{C0343C75-1924-D247-85A3-0CB62E67E5D1}" type="slidenum">
              <a:rPr lang="en-US" smtClean="0"/>
              <a:t>14</a:t>
            </a:fld>
            <a:endParaRPr lang="en-US" dirty="0"/>
          </a:p>
        </p:txBody>
      </p:sp>
      <p:pic>
        <p:nvPicPr>
          <p:cNvPr id="5" name="Content Placeholder 4" descr="A map of massachusetts with green squares&#10;&#10;AI-generated content may be incorrect.">
            <a:extLst>
              <a:ext uri="{FF2B5EF4-FFF2-40B4-BE49-F238E27FC236}">
                <a16:creationId xmlns:a16="http://schemas.microsoft.com/office/drawing/2014/main" id="{4B5FA225-7A28-2286-BA79-E67BF9393B2A}"/>
              </a:ext>
            </a:extLst>
          </p:cNvPr>
          <p:cNvPicPr>
            <a:picLocks noChangeAspect="1"/>
          </p:cNvPicPr>
          <p:nvPr/>
        </p:nvPicPr>
        <p:blipFill>
          <a:blip r:embed="rId2"/>
          <a:stretch>
            <a:fillRect/>
          </a:stretch>
        </p:blipFill>
        <p:spPr>
          <a:xfrm>
            <a:off x="2194560" y="1416683"/>
            <a:ext cx="4754880" cy="1828800"/>
          </a:xfrm>
          <a:prstGeom prst="rect">
            <a:avLst/>
          </a:prstGeom>
        </p:spPr>
      </p:pic>
    </p:spTree>
    <p:extLst>
      <p:ext uri="{BB962C8B-B14F-4D97-AF65-F5344CB8AC3E}">
        <p14:creationId xmlns:p14="http://schemas.microsoft.com/office/powerpoint/2010/main" val="38471277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0FC43-6E8D-AB57-986B-B735338935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7AA6E9-7BB1-26D0-544E-840C6C2EA3F3}"/>
              </a:ext>
            </a:extLst>
          </p:cNvPr>
          <p:cNvSpPr>
            <a:spLocks noGrp="1"/>
          </p:cNvSpPr>
          <p:nvPr>
            <p:ph type="title"/>
          </p:nvPr>
        </p:nvSpPr>
        <p:spPr/>
        <p:txBody>
          <a:bodyPr/>
          <a:lstStyle/>
          <a:p>
            <a:r>
              <a:rPr lang="en-US" dirty="0"/>
              <a:t>Equal Interval</a:t>
            </a:r>
          </a:p>
        </p:txBody>
      </p:sp>
      <p:sp>
        <p:nvSpPr>
          <p:cNvPr id="3" name="Content Placeholder 2">
            <a:extLst>
              <a:ext uri="{FF2B5EF4-FFF2-40B4-BE49-F238E27FC236}">
                <a16:creationId xmlns:a16="http://schemas.microsoft.com/office/drawing/2014/main" id="{F1F87459-A3A1-D81A-472D-9540E7171B3A}"/>
              </a:ext>
            </a:extLst>
          </p:cNvPr>
          <p:cNvSpPr>
            <a:spLocks noGrp="1"/>
          </p:cNvSpPr>
          <p:nvPr>
            <p:ph idx="1"/>
          </p:nvPr>
        </p:nvSpPr>
        <p:spPr>
          <a:xfrm>
            <a:off x="457200" y="3428999"/>
            <a:ext cx="8229600" cy="2743517"/>
          </a:xfrm>
        </p:spPr>
        <p:txBody>
          <a:bodyPr>
            <a:normAutofit/>
          </a:bodyPr>
          <a:lstStyle/>
          <a:p>
            <a:r>
              <a:rPr lang="en-US" sz="2000" dirty="0"/>
              <a:t>An equal interval choropleth map using 10 bins</a:t>
            </a:r>
          </a:p>
          <a:p>
            <a:r>
              <a:rPr lang="en-US" sz="2000" dirty="0"/>
              <a:t>In the field of statistics, discretization of values can take on the form of a histogram where values are assigned to one of several equal width bins</a:t>
            </a:r>
          </a:p>
          <a:p>
            <a:r>
              <a:rPr lang="en-US" sz="2000" dirty="0"/>
              <a:t>A choropleth map classification equivalent is the equal interval classification scheme</a:t>
            </a:r>
          </a:p>
        </p:txBody>
      </p:sp>
      <p:sp>
        <p:nvSpPr>
          <p:cNvPr id="4" name="Slide Number Placeholder 3">
            <a:extLst>
              <a:ext uri="{FF2B5EF4-FFF2-40B4-BE49-F238E27FC236}">
                <a16:creationId xmlns:a16="http://schemas.microsoft.com/office/drawing/2014/main" id="{2E5CC26A-4445-4879-DE2E-FE6CFEBB5539}"/>
              </a:ext>
            </a:extLst>
          </p:cNvPr>
          <p:cNvSpPr>
            <a:spLocks noGrp="1"/>
          </p:cNvSpPr>
          <p:nvPr>
            <p:ph type="sldNum" sz="quarter" idx="12"/>
          </p:nvPr>
        </p:nvSpPr>
        <p:spPr/>
        <p:txBody>
          <a:bodyPr/>
          <a:lstStyle/>
          <a:p>
            <a:fld id="{C0343C75-1924-D247-85A3-0CB62E67E5D1}" type="slidenum">
              <a:rPr lang="en-US" smtClean="0"/>
              <a:t>15</a:t>
            </a:fld>
            <a:endParaRPr lang="en-US" dirty="0"/>
          </a:p>
        </p:txBody>
      </p:sp>
      <p:pic>
        <p:nvPicPr>
          <p:cNvPr id="5" name="Content Placeholder 4">
            <a:extLst>
              <a:ext uri="{FF2B5EF4-FFF2-40B4-BE49-F238E27FC236}">
                <a16:creationId xmlns:a16="http://schemas.microsoft.com/office/drawing/2014/main" id="{7B2FC209-8510-1226-BF01-59AC81D95C38}"/>
              </a:ext>
            </a:extLst>
          </p:cNvPr>
          <p:cNvPicPr>
            <a:picLocks noChangeAspect="1"/>
          </p:cNvPicPr>
          <p:nvPr/>
        </p:nvPicPr>
        <p:blipFill>
          <a:blip r:embed="rId2"/>
          <a:srcRect/>
          <a:stretch/>
        </p:blipFill>
        <p:spPr>
          <a:xfrm>
            <a:off x="2207695" y="1416364"/>
            <a:ext cx="4728610" cy="1828800"/>
          </a:xfrm>
          <a:prstGeom prst="rect">
            <a:avLst/>
          </a:prstGeom>
        </p:spPr>
      </p:pic>
    </p:spTree>
    <p:extLst>
      <p:ext uri="{BB962C8B-B14F-4D97-AF65-F5344CB8AC3E}">
        <p14:creationId xmlns:p14="http://schemas.microsoft.com/office/powerpoint/2010/main" val="21560823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D7299-683C-006A-9AA9-7F027BEE60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301EFA-56AB-4238-63EC-854CBAA48E08}"/>
              </a:ext>
            </a:extLst>
          </p:cNvPr>
          <p:cNvSpPr>
            <a:spLocks noGrp="1"/>
          </p:cNvSpPr>
          <p:nvPr>
            <p:ph type="title"/>
          </p:nvPr>
        </p:nvSpPr>
        <p:spPr/>
        <p:txBody>
          <a:bodyPr/>
          <a:lstStyle/>
          <a:p>
            <a:r>
              <a:rPr lang="en-US" dirty="0"/>
              <a:t>Quantile Map</a:t>
            </a:r>
          </a:p>
        </p:txBody>
      </p:sp>
      <p:sp>
        <p:nvSpPr>
          <p:cNvPr id="3" name="Content Placeholder 2">
            <a:extLst>
              <a:ext uri="{FF2B5EF4-FFF2-40B4-BE49-F238E27FC236}">
                <a16:creationId xmlns:a16="http://schemas.microsoft.com/office/drawing/2014/main" id="{06F23AA2-5372-F013-1AE4-1838771DE029}"/>
              </a:ext>
            </a:extLst>
          </p:cNvPr>
          <p:cNvSpPr>
            <a:spLocks noGrp="1"/>
          </p:cNvSpPr>
          <p:nvPr>
            <p:ph idx="1"/>
          </p:nvPr>
        </p:nvSpPr>
        <p:spPr>
          <a:xfrm>
            <a:off x="457200" y="3428999"/>
            <a:ext cx="8229600" cy="2743517"/>
          </a:xfrm>
        </p:spPr>
        <p:txBody>
          <a:bodyPr>
            <a:normAutofit/>
          </a:bodyPr>
          <a:lstStyle/>
          <a:p>
            <a:r>
              <a:rPr lang="en-US" sz="2000" dirty="0"/>
              <a:t>While an equal interval map benefits from its intuitiveness, it may not be well suited for data that are not uniformly distributed across their range </a:t>
            </a:r>
          </a:p>
          <a:p>
            <a:r>
              <a:rPr lang="en-US" sz="2000" dirty="0"/>
              <a:t>Quantiles define ranges of values that have equal number of observations</a:t>
            </a:r>
          </a:p>
          <a:p>
            <a:r>
              <a:rPr lang="en-US" sz="2000" dirty="0"/>
              <a:t>Six quantiles with each quantile representing the same number of observations</a:t>
            </a:r>
          </a:p>
        </p:txBody>
      </p:sp>
      <p:sp>
        <p:nvSpPr>
          <p:cNvPr id="4" name="Slide Number Placeholder 3">
            <a:extLst>
              <a:ext uri="{FF2B5EF4-FFF2-40B4-BE49-F238E27FC236}">
                <a16:creationId xmlns:a16="http://schemas.microsoft.com/office/drawing/2014/main" id="{6D5FE7D4-D868-E95F-8EB3-DBEBE559DBAA}"/>
              </a:ext>
            </a:extLst>
          </p:cNvPr>
          <p:cNvSpPr>
            <a:spLocks noGrp="1"/>
          </p:cNvSpPr>
          <p:nvPr>
            <p:ph type="sldNum" sz="quarter" idx="12"/>
          </p:nvPr>
        </p:nvSpPr>
        <p:spPr/>
        <p:txBody>
          <a:bodyPr/>
          <a:lstStyle/>
          <a:p>
            <a:fld id="{C0343C75-1924-D247-85A3-0CB62E67E5D1}" type="slidenum">
              <a:rPr lang="en-US" smtClean="0"/>
              <a:t>16</a:t>
            </a:fld>
            <a:endParaRPr lang="en-US" dirty="0"/>
          </a:p>
        </p:txBody>
      </p:sp>
      <p:pic>
        <p:nvPicPr>
          <p:cNvPr id="5" name="Content Placeholder 4">
            <a:extLst>
              <a:ext uri="{FF2B5EF4-FFF2-40B4-BE49-F238E27FC236}">
                <a16:creationId xmlns:a16="http://schemas.microsoft.com/office/drawing/2014/main" id="{3C6DDC84-1C01-250B-9886-B45DEE8A100A}"/>
              </a:ext>
            </a:extLst>
          </p:cNvPr>
          <p:cNvPicPr>
            <a:picLocks noChangeAspect="1"/>
          </p:cNvPicPr>
          <p:nvPr/>
        </p:nvPicPr>
        <p:blipFill>
          <a:blip r:embed="rId2"/>
          <a:srcRect/>
          <a:stretch/>
        </p:blipFill>
        <p:spPr>
          <a:xfrm>
            <a:off x="2207695" y="1416683"/>
            <a:ext cx="4728610" cy="1828800"/>
          </a:xfrm>
          <a:prstGeom prst="rect">
            <a:avLst/>
          </a:prstGeom>
        </p:spPr>
      </p:pic>
    </p:spTree>
    <p:extLst>
      <p:ext uri="{BB962C8B-B14F-4D97-AF65-F5344CB8AC3E}">
        <p14:creationId xmlns:p14="http://schemas.microsoft.com/office/powerpoint/2010/main" val="32209920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65348-9101-01AC-A6FC-B819C3978A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3C4013-C8B0-693E-4EAC-5F3DEC377790}"/>
              </a:ext>
            </a:extLst>
          </p:cNvPr>
          <p:cNvSpPr>
            <a:spLocks noGrp="1"/>
          </p:cNvSpPr>
          <p:nvPr>
            <p:ph type="title"/>
          </p:nvPr>
        </p:nvSpPr>
        <p:spPr/>
        <p:txBody>
          <a:bodyPr/>
          <a:lstStyle/>
          <a:p>
            <a:r>
              <a:rPr lang="en-US" dirty="0"/>
              <a:t>Boxplot Map</a:t>
            </a:r>
          </a:p>
        </p:txBody>
      </p:sp>
      <p:sp>
        <p:nvSpPr>
          <p:cNvPr id="3" name="Content Placeholder 2">
            <a:extLst>
              <a:ext uri="{FF2B5EF4-FFF2-40B4-BE49-F238E27FC236}">
                <a16:creationId xmlns:a16="http://schemas.microsoft.com/office/drawing/2014/main" id="{353D9643-1892-905A-3223-8B81BB48687B}"/>
              </a:ext>
            </a:extLst>
          </p:cNvPr>
          <p:cNvSpPr>
            <a:spLocks noGrp="1"/>
          </p:cNvSpPr>
          <p:nvPr>
            <p:ph idx="1"/>
          </p:nvPr>
        </p:nvSpPr>
        <p:spPr>
          <a:xfrm>
            <a:off x="457200" y="3428999"/>
            <a:ext cx="8229600" cy="2743517"/>
          </a:xfrm>
        </p:spPr>
        <p:txBody>
          <a:bodyPr>
            <a:normAutofit/>
          </a:bodyPr>
          <a:lstStyle/>
          <a:p>
            <a:r>
              <a:rPr lang="en-US" sz="2000" dirty="0"/>
              <a:t>The discretization of continuous values can also include measures of centrality (e.g., the mean and the median) and measures of spread (e.g., standard deviation units) with the goal of understanding the nature of the distribution such as its shape (e.g., symmetrical, skewed, normal) and range</a:t>
            </a:r>
          </a:p>
        </p:txBody>
      </p:sp>
      <p:sp>
        <p:nvSpPr>
          <p:cNvPr id="4" name="Slide Number Placeholder 3">
            <a:extLst>
              <a:ext uri="{FF2B5EF4-FFF2-40B4-BE49-F238E27FC236}">
                <a16:creationId xmlns:a16="http://schemas.microsoft.com/office/drawing/2014/main" id="{DC946931-D7E3-8FBA-3C46-7FF1F2FFEBA6}"/>
              </a:ext>
            </a:extLst>
          </p:cNvPr>
          <p:cNvSpPr>
            <a:spLocks noGrp="1"/>
          </p:cNvSpPr>
          <p:nvPr>
            <p:ph type="sldNum" sz="quarter" idx="12"/>
          </p:nvPr>
        </p:nvSpPr>
        <p:spPr/>
        <p:txBody>
          <a:bodyPr/>
          <a:lstStyle/>
          <a:p>
            <a:fld id="{C0343C75-1924-D247-85A3-0CB62E67E5D1}" type="slidenum">
              <a:rPr lang="en-US" smtClean="0"/>
              <a:t>17</a:t>
            </a:fld>
            <a:endParaRPr lang="en-US" dirty="0"/>
          </a:p>
        </p:txBody>
      </p:sp>
      <p:pic>
        <p:nvPicPr>
          <p:cNvPr id="5" name="Content Placeholder 4">
            <a:extLst>
              <a:ext uri="{FF2B5EF4-FFF2-40B4-BE49-F238E27FC236}">
                <a16:creationId xmlns:a16="http://schemas.microsoft.com/office/drawing/2014/main" id="{B875AA0B-BB77-71D2-1AAC-FE44BE461B45}"/>
              </a:ext>
            </a:extLst>
          </p:cNvPr>
          <p:cNvPicPr>
            <a:picLocks noChangeAspect="1"/>
          </p:cNvPicPr>
          <p:nvPr/>
        </p:nvPicPr>
        <p:blipFill>
          <a:blip r:embed="rId2"/>
          <a:srcRect/>
          <a:stretch/>
        </p:blipFill>
        <p:spPr>
          <a:xfrm>
            <a:off x="2207695" y="1416364"/>
            <a:ext cx="4728610" cy="1828800"/>
          </a:xfrm>
          <a:prstGeom prst="rect">
            <a:avLst/>
          </a:prstGeom>
        </p:spPr>
      </p:pic>
    </p:spTree>
    <p:extLst>
      <p:ext uri="{BB962C8B-B14F-4D97-AF65-F5344CB8AC3E}">
        <p14:creationId xmlns:p14="http://schemas.microsoft.com/office/powerpoint/2010/main" val="27201721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FB095-05A8-E125-46CB-BA8F477805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7742BF-8E6E-D734-A09A-60AB02B22841}"/>
              </a:ext>
            </a:extLst>
          </p:cNvPr>
          <p:cNvSpPr>
            <a:spLocks noGrp="1"/>
          </p:cNvSpPr>
          <p:nvPr>
            <p:ph type="title"/>
          </p:nvPr>
        </p:nvSpPr>
        <p:spPr/>
        <p:txBody>
          <a:bodyPr/>
          <a:lstStyle/>
          <a:p>
            <a:r>
              <a:rPr lang="en-US" dirty="0"/>
              <a:t>IQR Map</a:t>
            </a:r>
          </a:p>
        </p:txBody>
      </p:sp>
      <p:sp>
        <p:nvSpPr>
          <p:cNvPr id="3" name="Content Placeholder 2">
            <a:extLst>
              <a:ext uri="{FF2B5EF4-FFF2-40B4-BE49-F238E27FC236}">
                <a16:creationId xmlns:a16="http://schemas.microsoft.com/office/drawing/2014/main" id="{756AD9D0-74ED-2494-C6D9-DEC32C357A57}"/>
              </a:ext>
            </a:extLst>
          </p:cNvPr>
          <p:cNvSpPr>
            <a:spLocks noGrp="1"/>
          </p:cNvSpPr>
          <p:nvPr>
            <p:ph idx="1"/>
          </p:nvPr>
        </p:nvSpPr>
        <p:spPr>
          <a:xfrm>
            <a:off x="457200" y="3428999"/>
            <a:ext cx="8229600" cy="2743517"/>
          </a:xfrm>
        </p:spPr>
        <p:txBody>
          <a:bodyPr>
            <a:normAutofit/>
          </a:bodyPr>
          <a:lstStyle/>
          <a:p>
            <a:r>
              <a:rPr lang="en-US" sz="2000" dirty="0"/>
              <a:t>The IQR map is a reduction of the boxplot map whereby we reduce the classes to just three: the interquartile range (IQR) and the upper and lower extremes</a:t>
            </a:r>
          </a:p>
        </p:txBody>
      </p:sp>
      <p:sp>
        <p:nvSpPr>
          <p:cNvPr id="4" name="Slide Number Placeholder 3">
            <a:extLst>
              <a:ext uri="{FF2B5EF4-FFF2-40B4-BE49-F238E27FC236}">
                <a16:creationId xmlns:a16="http://schemas.microsoft.com/office/drawing/2014/main" id="{5B04DC81-99FC-9E6B-1535-71CB14ECFB53}"/>
              </a:ext>
            </a:extLst>
          </p:cNvPr>
          <p:cNvSpPr>
            <a:spLocks noGrp="1"/>
          </p:cNvSpPr>
          <p:nvPr>
            <p:ph type="sldNum" sz="quarter" idx="12"/>
          </p:nvPr>
        </p:nvSpPr>
        <p:spPr/>
        <p:txBody>
          <a:bodyPr/>
          <a:lstStyle/>
          <a:p>
            <a:fld id="{C0343C75-1924-D247-85A3-0CB62E67E5D1}" type="slidenum">
              <a:rPr lang="en-US" smtClean="0"/>
              <a:t>18</a:t>
            </a:fld>
            <a:endParaRPr lang="en-US" dirty="0"/>
          </a:p>
        </p:txBody>
      </p:sp>
      <p:pic>
        <p:nvPicPr>
          <p:cNvPr id="5" name="Content Placeholder 4">
            <a:extLst>
              <a:ext uri="{FF2B5EF4-FFF2-40B4-BE49-F238E27FC236}">
                <a16:creationId xmlns:a16="http://schemas.microsoft.com/office/drawing/2014/main" id="{0B4DA54E-D708-718B-304B-21AE287FC242}"/>
              </a:ext>
            </a:extLst>
          </p:cNvPr>
          <p:cNvPicPr>
            <a:picLocks noChangeAspect="1"/>
          </p:cNvPicPr>
          <p:nvPr/>
        </p:nvPicPr>
        <p:blipFill>
          <a:blip r:embed="rId2"/>
          <a:srcRect/>
          <a:stretch/>
        </p:blipFill>
        <p:spPr>
          <a:xfrm>
            <a:off x="2207695" y="1416683"/>
            <a:ext cx="4728610" cy="1828800"/>
          </a:xfrm>
          <a:prstGeom prst="rect">
            <a:avLst/>
          </a:prstGeom>
        </p:spPr>
      </p:pic>
    </p:spTree>
    <p:extLst>
      <p:ext uri="{BB962C8B-B14F-4D97-AF65-F5344CB8AC3E}">
        <p14:creationId xmlns:p14="http://schemas.microsoft.com/office/powerpoint/2010/main" val="7117143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DB7B1-DFEB-403A-BE03-612675EF5E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12352E-2384-211B-0E22-10BABFDEDC95}"/>
              </a:ext>
            </a:extLst>
          </p:cNvPr>
          <p:cNvSpPr>
            <a:spLocks noGrp="1"/>
          </p:cNvSpPr>
          <p:nvPr>
            <p:ph type="title"/>
          </p:nvPr>
        </p:nvSpPr>
        <p:spPr/>
        <p:txBody>
          <a:bodyPr/>
          <a:lstStyle/>
          <a:p>
            <a:r>
              <a:rPr lang="en-US" dirty="0"/>
              <a:t>Standard Deviation Map</a:t>
            </a:r>
          </a:p>
        </p:txBody>
      </p:sp>
      <p:sp>
        <p:nvSpPr>
          <p:cNvPr id="3" name="Content Placeholder 2">
            <a:extLst>
              <a:ext uri="{FF2B5EF4-FFF2-40B4-BE49-F238E27FC236}">
                <a16:creationId xmlns:a16="http://schemas.microsoft.com/office/drawing/2014/main" id="{34078521-D11C-9909-E620-28B9B3A99823}"/>
              </a:ext>
            </a:extLst>
          </p:cNvPr>
          <p:cNvSpPr>
            <a:spLocks noGrp="1"/>
          </p:cNvSpPr>
          <p:nvPr>
            <p:ph idx="1"/>
          </p:nvPr>
        </p:nvSpPr>
        <p:spPr>
          <a:xfrm>
            <a:off x="457200" y="3428999"/>
            <a:ext cx="8229600" cy="2743517"/>
          </a:xfrm>
        </p:spPr>
        <p:txBody>
          <a:bodyPr>
            <a:normAutofit/>
          </a:bodyPr>
          <a:lstStyle/>
          <a:p>
            <a:r>
              <a:rPr lang="en-US" sz="2000" dirty="0"/>
              <a:t>Note from the figure that the income data do not follow a normal distribution exactly; they have a slight skew toward higher values</a:t>
            </a:r>
          </a:p>
          <a:p>
            <a:r>
              <a:rPr lang="en-US" sz="2000" dirty="0"/>
              <a:t>This results in more polygons being assigned higher class breaks than lower ones</a:t>
            </a:r>
          </a:p>
        </p:txBody>
      </p:sp>
      <p:sp>
        <p:nvSpPr>
          <p:cNvPr id="4" name="Slide Number Placeholder 3">
            <a:extLst>
              <a:ext uri="{FF2B5EF4-FFF2-40B4-BE49-F238E27FC236}">
                <a16:creationId xmlns:a16="http://schemas.microsoft.com/office/drawing/2014/main" id="{1A6D77B7-6070-9C35-605B-52789C2342A5}"/>
              </a:ext>
            </a:extLst>
          </p:cNvPr>
          <p:cNvSpPr>
            <a:spLocks noGrp="1"/>
          </p:cNvSpPr>
          <p:nvPr>
            <p:ph type="sldNum" sz="quarter" idx="12"/>
          </p:nvPr>
        </p:nvSpPr>
        <p:spPr/>
        <p:txBody>
          <a:bodyPr/>
          <a:lstStyle/>
          <a:p>
            <a:fld id="{C0343C75-1924-D247-85A3-0CB62E67E5D1}" type="slidenum">
              <a:rPr lang="en-US" smtClean="0"/>
              <a:t>19</a:t>
            </a:fld>
            <a:endParaRPr lang="en-US" dirty="0"/>
          </a:p>
        </p:txBody>
      </p:sp>
      <p:pic>
        <p:nvPicPr>
          <p:cNvPr id="5" name="Content Placeholder 4">
            <a:extLst>
              <a:ext uri="{FF2B5EF4-FFF2-40B4-BE49-F238E27FC236}">
                <a16:creationId xmlns:a16="http://schemas.microsoft.com/office/drawing/2014/main" id="{724E2BA9-5954-44F8-FE66-20727C47D5E7}"/>
              </a:ext>
            </a:extLst>
          </p:cNvPr>
          <p:cNvPicPr>
            <a:picLocks noChangeAspect="1"/>
          </p:cNvPicPr>
          <p:nvPr/>
        </p:nvPicPr>
        <p:blipFill>
          <a:blip r:embed="rId2"/>
          <a:srcRect/>
          <a:stretch/>
        </p:blipFill>
        <p:spPr>
          <a:xfrm>
            <a:off x="2207695" y="1416683"/>
            <a:ext cx="4728610" cy="1828800"/>
          </a:xfrm>
          <a:prstGeom prst="rect">
            <a:avLst/>
          </a:prstGeom>
        </p:spPr>
      </p:pic>
    </p:spTree>
    <p:extLst>
      <p:ext uri="{BB962C8B-B14F-4D97-AF65-F5344CB8AC3E}">
        <p14:creationId xmlns:p14="http://schemas.microsoft.com/office/powerpoint/2010/main" val="37096546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6BDDB-E636-F7CF-BABC-0BA4EBF4E51D}"/>
              </a:ext>
            </a:extLst>
          </p:cNvPr>
          <p:cNvSpPr>
            <a:spLocks noGrp="1"/>
          </p:cNvSpPr>
          <p:nvPr>
            <p:ph type="title"/>
          </p:nvPr>
        </p:nvSpPr>
        <p:spPr/>
        <p:txBody>
          <a:bodyPr/>
          <a:lstStyle/>
          <a:p>
            <a:r>
              <a:rPr lang="en-US" dirty="0"/>
              <a:t>Color Ramps</a:t>
            </a:r>
          </a:p>
        </p:txBody>
      </p:sp>
      <p:sp>
        <p:nvSpPr>
          <p:cNvPr id="4" name="Slide Number Placeholder 3">
            <a:extLst>
              <a:ext uri="{FF2B5EF4-FFF2-40B4-BE49-F238E27FC236}">
                <a16:creationId xmlns:a16="http://schemas.microsoft.com/office/drawing/2014/main" id="{7719C949-39A5-EC4A-0C9E-6B76DBBD597F}"/>
              </a:ext>
            </a:extLst>
          </p:cNvPr>
          <p:cNvSpPr>
            <a:spLocks noGrp="1"/>
          </p:cNvSpPr>
          <p:nvPr>
            <p:ph type="sldNum" sz="quarter" idx="12"/>
          </p:nvPr>
        </p:nvSpPr>
        <p:spPr/>
        <p:txBody>
          <a:bodyPr/>
          <a:lstStyle/>
          <a:p>
            <a:fld id="{C0343C75-1924-D247-85A3-0CB62E67E5D1}" type="slidenum">
              <a:rPr lang="en-US" smtClean="0"/>
              <a:t>20</a:t>
            </a:fld>
            <a:endParaRPr lang="en-US"/>
          </a:p>
        </p:txBody>
      </p:sp>
      <p:pic>
        <p:nvPicPr>
          <p:cNvPr id="5" name="Content Placeholder 4" descr="A row of different colored squares">
            <a:extLst>
              <a:ext uri="{FF2B5EF4-FFF2-40B4-BE49-F238E27FC236}">
                <a16:creationId xmlns:a16="http://schemas.microsoft.com/office/drawing/2014/main" id="{A8A4BFFD-B4FA-B7C6-2F88-193831F5824B}"/>
              </a:ext>
            </a:extLst>
          </p:cNvPr>
          <p:cNvPicPr>
            <a:picLocks noGrp="1" noChangeAspect="1"/>
          </p:cNvPicPr>
          <p:nvPr>
            <p:ph idx="1"/>
          </p:nvPr>
        </p:nvPicPr>
        <p:blipFill>
          <a:blip r:embed="rId2"/>
          <a:stretch>
            <a:fillRect/>
          </a:stretch>
        </p:blipFill>
        <p:spPr>
          <a:xfrm>
            <a:off x="1728766" y="1416684"/>
            <a:ext cx="4900634" cy="3017520"/>
          </a:xfrm>
          <a:prstGeom prst="rect">
            <a:avLst/>
          </a:prstGeom>
        </p:spPr>
      </p:pic>
      <p:sp>
        <p:nvSpPr>
          <p:cNvPr id="6" name="TextBox 5">
            <a:extLst>
              <a:ext uri="{FF2B5EF4-FFF2-40B4-BE49-F238E27FC236}">
                <a16:creationId xmlns:a16="http://schemas.microsoft.com/office/drawing/2014/main" id="{3A966EF7-2300-DFAA-0CE0-9FB5B8E2DB3B}"/>
              </a:ext>
            </a:extLst>
          </p:cNvPr>
          <p:cNvSpPr txBox="1"/>
          <p:nvPr/>
        </p:nvSpPr>
        <p:spPr>
          <a:xfrm>
            <a:off x="804494" y="5071984"/>
            <a:ext cx="7535011" cy="369332"/>
          </a:xfrm>
          <a:prstGeom prst="rect">
            <a:avLst/>
          </a:prstGeom>
          <a:noFill/>
        </p:spPr>
        <p:txBody>
          <a:bodyPr wrap="none" rtlCol="0">
            <a:spAutoFit/>
          </a:bodyPr>
          <a:lstStyle/>
          <a:p>
            <a:pPr algn="ctr"/>
            <a:r>
              <a:rPr lang="en-US" dirty="0"/>
              <a:t>COLORBREWER - color advice for cartography at </a:t>
            </a:r>
            <a:r>
              <a:rPr lang="en-US" dirty="0">
                <a:hlinkClick r:id="rId3"/>
              </a:rPr>
              <a:t>https://colorbrewer2.org/</a:t>
            </a:r>
            <a:endParaRPr lang="en-US" dirty="0"/>
          </a:p>
        </p:txBody>
      </p:sp>
    </p:spTree>
    <p:extLst>
      <p:ext uri="{BB962C8B-B14F-4D97-AF65-F5344CB8AC3E}">
        <p14:creationId xmlns:p14="http://schemas.microsoft.com/office/powerpoint/2010/main" val="41796613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CEE2B-8521-28A6-9F5A-2EC5EFF4B3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F03936-7F5E-0D10-C110-815053DE1397}"/>
              </a:ext>
            </a:extLst>
          </p:cNvPr>
          <p:cNvSpPr>
            <a:spLocks noGrp="1"/>
          </p:cNvSpPr>
          <p:nvPr>
            <p:ph type="title"/>
          </p:nvPr>
        </p:nvSpPr>
        <p:spPr/>
        <p:txBody>
          <a:bodyPr/>
          <a:lstStyle/>
          <a:p>
            <a:r>
              <a:rPr lang="en-US" dirty="0"/>
              <a:t>Color Ramps Best Practices</a:t>
            </a:r>
          </a:p>
        </p:txBody>
      </p:sp>
      <p:sp>
        <p:nvSpPr>
          <p:cNvPr id="4" name="Slide Number Placeholder 3">
            <a:extLst>
              <a:ext uri="{FF2B5EF4-FFF2-40B4-BE49-F238E27FC236}">
                <a16:creationId xmlns:a16="http://schemas.microsoft.com/office/drawing/2014/main" id="{EFD15606-8D46-E21E-39ED-47D9F52F798D}"/>
              </a:ext>
            </a:extLst>
          </p:cNvPr>
          <p:cNvSpPr>
            <a:spLocks noGrp="1"/>
          </p:cNvSpPr>
          <p:nvPr>
            <p:ph type="sldNum" sz="quarter" idx="12"/>
          </p:nvPr>
        </p:nvSpPr>
        <p:spPr/>
        <p:txBody>
          <a:bodyPr/>
          <a:lstStyle/>
          <a:p>
            <a:fld id="{C0343C75-1924-D247-85A3-0CB62E67E5D1}" type="slidenum">
              <a:rPr lang="en-US" smtClean="0"/>
              <a:t>21</a:t>
            </a:fld>
            <a:endParaRPr lang="en-US"/>
          </a:p>
        </p:txBody>
      </p:sp>
      <p:sp>
        <p:nvSpPr>
          <p:cNvPr id="6" name="Content Placeholder 5">
            <a:extLst>
              <a:ext uri="{FF2B5EF4-FFF2-40B4-BE49-F238E27FC236}">
                <a16:creationId xmlns:a16="http://schemas.microsoft.com/office/drawing/2014/main" id="{BDF2E010-3F4E-85F8-622C-4CB4FC3A6E20}"/>
              </a:ext>
            </a:extLst>
          </p:cNvPr>
          <p:cNvSpPr>
            <a:spLocks noGrp="1"/>
          </p:cNvSpPr>
          <p:nvPr>
            <p:ph idx="1"/>
          </p:nvPr>
        </p:nvSpPr>
        <p:spPr/>
        <p:txBody>
          <a:bodyPr>
            <a:normAutofit/>
          </a:bodyPr>
          <a:lstStyle/>
          <a:p>
            <a:pPr marL="0" indent="0">
              <a:buNone/>
            </a:pPr>
            <a:r>
              <a:rPr lang="en-US" sz="2000" b="1" dirty="0"/>
              <a:t>Categorical palettes</a:t>
            </a:r>
          </a:p>
          <a:p>
            <a:r>
              <a:rPr lang="en-US" sz="1400" dirty="0"/>
              <a:t>Consist of </a:t>
            </a:r>
            <a:r>
              <a:rPr lang="en-US" sz="1400" u="sng" dirty="0"/>
              <a:t>easily distinguishable</a:t>
            </a:r>
            <a:r>
              <a:rPr lang="en-US" sz="1400" dirty="0"/>
              <a:t> colors and are most appropriate for categorical data </a:t>
            </a:r>
            <a:r>
              <a:rPr lang="en-US" sz="1400" u="sng" dirty="0"/>
              <a:t>without any particular order</a:t>
            </a:r>
            <a:r>
              <a:rPr lang="en-US" sz="1400" dirty="0"/>
              <a:t> such as state names or land cover classes.</a:t>
            </a:r>
          </a:p>
          <a:p>
            <a:r>
              <a:rPr lang="en-US" sz="1400" u="sng" dirty="0"/>
              <a:t>Colors should be intuitive</a:t>
            </a:r>
            <a:r>
              <a:rPr lang="en-US" sz="1400" dirty="0"/>
              <a:t>: rivers should be blue, for example, and pastures green.</a:t>
            </a:r>
          </a:p>
          <a:p>
            <a:r>
              <a:rPr lang="en-US" sz="1400" u="sng" dirty="0"/>
              <a:t>Avoid too many categories</a:t>
            </a:r>
            <a:r>
              <a:rPr lang="en-US" sz="1400" dirty="0"/>
              <a:t>: maps with large legends and many colors can be uninterpretable.</a:t>
            </a:r>
          </a:p>
          <a:p>
            <a:pPr marL="0" indent="0">
              <a:buNone/>
            </a:pPr>
            <a:r>
              <a:rPr lang="en-US" sz="2000" b="1" dirty="0"/>
              <a:t>Sequential palettes</a:t>
            </a:r>
          </a:p>
          <a:p>
            <a:r>
              <a:rPr lang="en-US" sz="1400" dirty="0"/>
              <a:t>Follow a </a:t>
            </a:r>
            <a:r>
              <a:rPr lang="en-US" sz="1400" u="sng" dirty="0"/>
              <a:t>gradient</a:t>
            </a:r>
            <a:r>
              <a:rPr lang="en-US" sz="1400" dirty="0"/>
              <a:t>, for example from light to dark colors (light colors often tend to represent lower values), and are appropriate for continuous (numeric) variables.</a:t>
            </a:r>
          </a:p>
          <a:p>
            <a:r>
              <a:rPr lang="en-US" sz="1400" dirty="0"/>
              <a:t>Sequential palettes can be </a:t>
            </a:r>
            <a:r>
              <a:rPr lang="en-US" sz="1400" u="sng" dirty="0"/>
              <a:t>single</a:t>
            </a:r>
            <a:r>
              <a:rPr lang="en-US" sz="1400" dirty="0"/>
              <a:t> (greens goes from light to dark green, for example) or </a:t>
            </a:r>
            <a:r>
              <a:rPr lang="en-US" sz="1400" u="sng" dirty="0"/>
              <a:t>multi-color/hue</a:t>
            </a:r>
            <a:r>
              <a:rPr lang="en-US" sz="1400" dirty="0"/>
              <a:t>.</a:t>
            </a:r>
          </a:p>
          <a:p>
            <a:pPr marL="0" indent="0">
              <a:buNone/>
            </a:pPr>
            <a:r>
              <a:rPr lang="en-US" sz="2000" b="1" dirty="0"/>
              <a:t>Diverging palettes</a:t>
            </a:r>
          </a:p>
          <a:p>
            <a:r>
              <a:rPr lang="en-US" sz="1400" dirty="0"/>
              <a:t>Typically </a:t>
            </a:r>
            <a:r>
              <a:rPr lang="en-US" sz="1400" u="sng" dirty="0"/>
              <a:t>range</a:t>
            </a:r>
            <a:r>
              <a:rPr lang="en-US" sz="1400" dirty="0"/>
              <a:t> between three distinct colors (purple-white-green) and are usually created by joining two single-color sequential palettes with the darker colors at each end.</a:t>
            </a:r>
          </a:p>
          <a:p>
            <a:r>
              <a:rPr lang="en-US" sz="1400" dirty="0"/>
              <a:t>Their main purpose is to visualize the </a:t>
            </a:r>
            <a:r>
              <a:rPr lang="en-US" sz="1400" u="sng" dirty="0"/>
              <a:t>difference from an important reference point</a:t>
            </a:r>
            <a:r>
              <a:rPr lang="en-US" sz="1400" dirty="0"/>
              <a:t>, e.g., a certain temperature, the median household income or the mean probability for a drought event.</a:t>
            </a:r>
          </a:p>
        </p:txBody>
      </p:sp>
    </p:spTree>
    <p:extLst>
      <p:ext uri="{BB962C8B-B14F-4D97-AF65-F5344CB8AC3E}">
        <p14:creationId xmlns:p14="http://schemas.microsoft.com/office/powerpoint/2010/main" val="5693993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D63C8-EDD1-85B6-CE01-4C2541E6BD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F2C80B-E711-449D-512D-4A85B22AE5FF}"/>
              </a:ext>
            </a:extLst>
          </p:cNvPr>
          <p:cNvSpPr>
            <a:spLocks noGrp="1"/>
          </p:cNvSpPr>
          <p:nvPr>
            <p:ph type="title"/>
          </p:nvPr>
        </p:nvSpPr>
        <p:spPr/>
        <p:txBody>
          <a:bodyPr/>
          <a:lstStyle/>
          <a:p>
            <a:r>
              <a:rPr lang="en-US" dirty="0"/>
              <a:t>Color Ramp Example</a:t>
            </a:r>
          </a:p>
        </p:txBody>
      </p:sp>
      <p:sp>
        <p:nvSpPr>
          <p:cNvPr id="4" name="Slide Number Placeholder 3">
            <a:extLst>
              <a:ext uri="{FF2B5EF4-FFF2-40B4-BE49-F238E27FC236}">
                <a16:creationId xmlns:a16="http://schemas.microsoft.com/office/drawing/2014/main" id="{8C8376C0-C011-9B7E-D57E-7D100A4FBD76}"/>
              </a:ext>
            </a:extLst>
          </p:cNvPr>
          <p:cNvSpPr>
            <a:spLocks noGrp="1"/>
          </p:cNvSpPr>
          <p:nvPr>
            <p:ph type="sldNum" sz="quarter" idx="12"/>
          </p:nvPr>
        </p:nvSpPr>
        <p:spPr/>
        <p:txBody>
          <a:bodyPr/>
          <a:lstStyle/>
          <a:p>
            <a:fld id="{C0343C75-1924-D247-85A3-0CB62E67E5D1}" type="slidenum">
              <a:rPr lang="en-US" smtClean="0"/>
              <a:t>22</a:t>
            </a:fld>
            <a:endParaRPr lang="en-US"/>
          </a:p>
        </p:txBody>
      </p:sp>
      <p:pic>
        <p:nvPicPr>
          <p:cNvPr id="7" name="Picture 6" descr="A map of the united states&#10;&#10;AI-generated content may be incorrect.">
            <a:extLst>
              <a:ext uri="{FF2B5EF4-FFF2-40B4-BE49-F238E27FC236}">
                <a16:creationId xmlns:a16="http://schemas.microsoft.com/office/drawing/2014/main" id="{B8706EE5-F67F-1CEC-93D9-A15A378518FD}"/>
              </a:ext>
            </a:extLst>
          </p:cNvPr>
          <p:cNvPicPr>
            <a:picLocks noChangeAspect="1"/>
          </p:cNvPicPr>
          <p:nvPr/>
        </p:nvPicPr>
        <p:blipFill>
          <a:blip r:embed="rId2"/>
          <a:srcRect l="10563" t="11263" r="8650" b="15646"/>
          <a:stretch>
            <a:fillRect/>
          </a:stretch>
        </p:blipFill>
        <p:spPr>
          <a:xfrm>
            <a:off x="1153801" y="1416684"/>
            <a:ext cx="6836398" cy="4375918"/>
          </a:xfrm>
          <a:prstGeom prst="rect">
            <a:avLst/>
          </a:prstGeom>
        </p:spPr>
      </p:pic>
    </p:spTree>
    <p:extLst>
      <p:ext uri="{BB962C8B-B14F-4D97-AF65-F5344CB8AC3E}">
        <p14:creationId xmlns:p14="http://schemas.microsoft.com/office/powerpoint/2010/main" val="34993260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3D4DB-41E9-3579-6CC2-63D564856BBE}"/>
              </a:ext>
            </a:extLst>
          </p:cNvPr>
          <p:cNvSpPr>
            <a:spLocks noGrp="1"/>
          </p:cNvSpPr>
          <p:nvPr>
            <p:ph type="title"/>
          </p:nvPr>
        </p:nvSpPr>
        <p:spPr/>
        <p:txBody>
          <a:bodyPr/>
          <a:lstStyle/>
          <a:p>
            <a:r>
              <a:rPr lang="en-US" dirty="0"/>
              <a:t>Vector Attribute Operations 1</a:t>
            </a:r>
          </a:p>
        </p:txBody>
      </p:sp>
      <p:sp>
        <p:nvSpPr>
          <p:cNvPr id="3" name="Content Placeholder 2">
            <a:extLst>
              <a:ext uri="{FF2B5EF4-FFF2-40B4-BE49-F238E27FC236}">
                <a16:creationId xmlns:a16="http://schemas.microsoft.com/office/drawing/2014/main" id="{FD6B5E08-2FDE-DD68-7DFD-B514B57A7A87}"/>
              </a:ext>
            </a:extLst>
          </p:cNvPr>
          <p:cNvSpPr>
            <a:spLocks noGrp="1"/>
          </p:cNvSpPr>
          <p:nvPr>
            <p:ph idx="1"/>
          </p:nvPr>
        </p:nvSpPr>
        <p:spPr/>
        <p:txBody>
          <a:bodyPr/>
          <a:lstStyle/>
          <a:p>
            <a:pPr marL="0" indent="0">
              <a:buNone/>
            </a:pPr>
            <a:r>
              <a:rPr lang="en-US" b="1" dirty="0"/>
              <a:t>Subsetting</a:t>
            </a:r>
          </a:p>
          <a:p>
            <a:r>
              <a:rPr lang="en-US" dirty="0"/>
              <a:t>Row filtering with </a:t>
            </a:r>
            <a:r>
              <a:rPr lang="en-US" dirty="0">
                <a:latin typeface="OSAKA-MONO" panose="020B0600000000000000" pitchFamily="34" charset="-128"/>
                <a:ea typeface="OSAKA-MONO" panose="020B0600000000000000" pitchFamily="34" charset="-128"/>
              </a:rPr>
              <a:t>filter()</a:t>
            </a:r>
          </a:p>
          <a:p>
            <a:r>
              <a:rPr lang="en-US" dirty="0"/>
              <a:t>Column selection with </a:t>
            </a:r>
            <a:r>
              <a:rPr lang="en-US" dirty="0">
                <a:latin typeface="OSAKA-MONO" panose="020B0600000000000000" pitchFamily="34" charset="-128"/>
                <a:ea typeface="OSAKA-MONO" panose="020B0600000000000000" pitchFamily="34" charset="-128"/>
              </a:rPr>
              <a:t>select()</a:t>
            </a:r>
          </a:p>
          <a:p>
            <a:r>
              <a:rPr lang="en-US" dirty="0"/>
              <a:t>Base </a:t>
            </a:r>
            <a:r>
              <a:rPr lang="en-US" dirty="0">
                <a:latin typeface="OSAKA-MONO" panose="020B0600000000000000" pitchFamily="34" charset="-128"/>
                <a:ea typeface="OSAKA-MONO" panose="020B0600000000000000" pitchFamily="34" charset="-128"/>
              </a:rPr>
              <a:t>R</a:t>
            </a:r>
            <a:r>
              <a:rPr lang="en-US" dirty="0"/>
              <a:t> vs </a:t>
            </a:r>
            <a:r>
              <a:rPr lang="en-US" dirty="0" err="1">
                <a:latin typeface="OSAKA-MONO" panose="020B0600000000000000" pitchFamily="34" charset="-128"/>
                <a:ea typeface="OSAKA-MONO" panose="020B0600000000000000" pitchFamily="34" charset="-128"/>
              </a:rPr>
              <a:t>tidyverse</a:t>
            </a:r>
            <a:r>
              <a:rPr lang="en-US" dirty="0"/>
              <a:t> approaches</a:t>
            </a:r>
          </a:p>
        </p:txBody>
      </p:sp>
      <p:sp>
        <p:nvSpPr>
          <p:cNvPr id="7" name="Slide Number Placeholder 6">
            <a:extLst>
              <a:ext uri="{FF2B5EF4-FFF2-40B4-BE49-F238E27FC236}">
                <a16:creationId xmlns:a16="http://schemas.microsoft.com/office/drawing/2014/main" id="{AA3927CA-D2FE-9624-FF3C-D5514A7AE932}"/>
              </a:ext>
            </a:extLst>
          </p:cNvPr>
          <p:cNvSpPr>
            <a:spLocks noGrp="1"/>
          </p:cNvSpPr>
          <p:nvPr>
            <p:ph type="sldNum" sz="quarter" idx="12"/>
          </p:nvPr>
        </p:nvSpPr>
        <p:spPr/>
        <p:txBody>
          <a:bodyPr/>
          <a:lstStyle/>
          <a:p>
            <a:fld id="{C0343C75-1924-D247-85A3-0CB62E67E5D1}" type="slidenum">
              <a:rPr lang="en-US" smtClean="0"/>
              <a:t>23</a:t>
            </a:fld>
            <a:endParaRPr lang="en-US"/>
          </a:p>
        </p:txBody>
      </p:sp>
    </p:spTree>
    <p:extLst>
      <p:ext uri="{BB962C8B-B14F-4D97-AF65-F5344CB8AC3E}">
        <p14:creationId xmlns:p14="http://schemas.microsoft.com/office/powerpoint/2010/main" val="13689953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8B845-CB2F-4070-FFBD-C1AB71757CA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3EAAF54-16E4-EC28-C842-F1D3F493CC4F}"/>
              </a:ext>
            </a:extLst>
          </p:cNvPr>
          <p:cNvSpPr txBox="1"/>
          <p:nvPr/>
        </p:nvSpPr>
        <p:spPr>
          <a:xfrm>
            <a:off x="457200" y="1416520"/>
            <a:ext cx="3301340" cy="369332"/>
          </a:xfrm>
          <a:prstGeom prst="rect">
            <a:avLst/>
          </a:prstGeom>
          <a:noFill/>
        </p:spPr>
        <p:txBody>
          <a:bodyPr wrap="square" rtlCol="0">
            <a:spAutoFit/>
          </a:bodyPr>
          <a:lstStyle/>
          <a:p>
            <a:r>
              <a:rPr lang="en-US" b="1" dirty="0">
                <a:ea typeface="OSAKA-MONO" panose="020B0600000000000000" pitchFamily="34" charset="-128"/>
                <a:cs typeface="Menlo" panose="020B0609030804020204" pitchFamily="49" charset="0"/>
              </a:rPr>
              <a:t>Base R Approach</a:t>
            </a:r>
          </a:p>
        </p:txBody>
      </p:sp>
      <p:sp>
        <p:nvSpPr>
          <p:cNvPr id="2" name="TextBox 1">
            <a:extLst>
              <a:ext uri="{FF2B5EF4-FFF2-40B4-BE49-F238E27FC236}">
                <a16:creationId xmlns:a16="http://schemas.microsoft.com/office/drawing/2014/main" id="{44836964-97C8-595F-B35C-B8C5479F0FAB}"/>
              </a:ext>
            </a:extLst>
          </p:cNvPr>
          <p:cNvSpPr txBox="1"/>
          <p:nvPr/>
        </p:nvSpPr>
        <p:spPr>
          <a:xfrm>
            <a:off x="4572000" y="2157386"/>
            <a:ext cx="3301340" cy="1754326"/>
          </a:xfrm>
          <a:prstGeom prst="rect">
            <a:avLst/>
          </a:prstGeom>
          <a:noFill/>
        </p:spPr>
        <p:txBody>
          <a:bodyPr wrap="square" rtlCol="0">
            <a:spAutoFit/>
          </a:bodyPr>
          <a:lstStyle/>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Select columns</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select(world, name, pop)</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Filter rows</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filter(world,</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area_km2 &lt; 10000)</a:t>
            </a:r>
            <a:endParaRPr lang="en-US" dirty="0">
              <a:latin typeface="OSAKA-MONO" panose="020B0600000000000000" pitchFamily="34" charset="-128"/>
              <a:ea typeface="OSAKA-MONO" panose="020B0600000000000000" pitchFamily="34" charset="-128"/>
              <a:cs typeface="Menlo" panose="020B0609030804020204" pitchFamily="49" charset="0"/>
            </a:endParaRPr>
          </a:p>
        </p:txBody>
      </p:sp>
      <p:sp>
        <p:nvSpPr>
          <p:cNvPr id="3" name="TextBox 2">
            <a:extLst>
              <a:ext uri="{FF2B5EF4-FFF2-40B4-BE49-F238E27FC236}">
                <a16:creationId xmlns:a16="http://schemas.microsoft.com/office/drawing/2014/main" id="{223C6F1D-1E71-E7D0-3437-D896DAC10CB9}"/>
              </a:ext>
            </a:extLst>
          </p:cNvPr>
          <p:cNvSpPr txBox="1"/>
          <p:nvPr/>
        </p:nvSpPr>
        <p:spPr>
          <a:xfrm>
            <a:off x="457200" y="2157386"/>
            <a:ext cx="3301340" cy="1754326"/>
          </a:xfrm>
          <a:prstGeom prst="rect">
            <a:avLst/>
          </a:prstGeom>
          <a:noFill/>
        </p:spPr>
        <p:txBody>
          <a:bodyPr wrap="square" rtlCol="0">
            <a:spAutoFit/>
          </a:bodyPr>
          <a:lstStyle/>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Subset rows &amp; columns</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world[1:5, ]</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Logical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subsetting</a:t>
            </a:r>
            <a:endPar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small = world[</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world$area</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&lt; 10000, ]</a:t>
            </a:r>
            <a:endParaRPr lang="en-US" dirty="0">
              <a:latin typeface="OSAKA-MONO" panose="020B0600000000000000" pitchFamily="34" charset="-128"/>
              <a:ea typeface="OSAKA-MONO" panose="020B0600000000000000" pitchFamily="34" charset="-128"/>
              <a:cs typeface="Menlo" panose="020B0609030804020204" pitchFamily="49" charset="0"/>
            </a:endParaRPr>
          </a:p>
        </p:txBody>
      </p:sp>
      <p:sp>
        <p:nvSpPr>
          <p:cNvPr id="4" name="TextBox 3">
            <a:extLst>
              <a:ext uri="{FF2B5EF4-FFF2-40B4-BE49-F238E27FC236}">
                <a16:creationId xmlns:a16="http://schemas.microsoft.com/office/drawing/2014/main" id="{05679373-49B4-C58D-5B4F-7FAE01EECA1F}"/>
              </a:ext>
            </a:extLst>
          </p:cNvPr>
          <p:cNvSpPr txBox="1"/>
          <p:nvPr/>
        </p:nvSpPr>
        <p:spPr>
          <a:xfrm>
            <a:off x="4572000" y="1416684"/>
            <a:ext cx="3301340" cy="369332"/>
          </a:xfrm>
          <a:prstGeom prst="rect">
            <a:avLst/>
          </a:prstGeom>
          <a:noFill/>
        </p:spPr>
        <p:txBody>
          <a:bodyPr wrap="square" rtlCol="0">
            <a:spAutoFit/>
          </a:bodyPr>
          <a:lstStyle/>
          <a:p>
            <a:r>
              <a:rPr lang="en-US" b="1" dirty="0" err="1">
                <a:ea typeface="OSAKA-MONO" panose="020B0600000000000000" pitchFamily="34" charset="-128"/>
                <a:cs typeface="Menlo" panose="020B0609030804020204" pitchFamily="49" charset="0"/>
              </a:rPr>
              <a:t>tidyverse</a:t>
            </a:r>
            <a:r>
              <a:rPr lang="en-US" b="1" dirty="0">
                <a:ea typeface="OSAKA-MONO" panose="020B0600000000000000" pitchFamily="34" charset="-128"/>
                <a:cs typeface="Menlo" panose="020B0609030804020204" pitchFamily="49" charset="0"/>
              </a:rPr>
              <a:t> Approach</a:t>
            </a:r>
          </a:p>
        </p:txBody>
      </p:sp>
      <p:sp>
        <p:nvSpPr>
          <p:cNvPr id="6" name="TextBox 5">
            <a:extLst>
              <a:ext uri="{FF2B5EF4-FFF2-40B4-BE49-F238E27FC236}">
                <a16:creationId xmlns:a16="http://schemas.microsoft.com/office/drawing/2014/main" id="{892AD604-89E1-2148-86BB-22A979B8B061}"/>
              </a:ext>
            </a:extLst>
          </p:cNvPr>
          <p:cNvSpPr txBox="1"/>
          <p:nvPr/>
        </p:nvSpPr>
        <p:spPr>
          <a:xfrm>
            <a:off x="457200" y="1788054"/>
            <a:ext cx="3301340" cy="369332"/>
          </a:xfrm>
          <a:prstGeom prst="rect">
            <a:avLst/>
          </a:prstGeom>
          <a:noFill/>
        </p:spPr>
        <p:txBody>
          <a:bodyPr wrap="square" rtlCol="0">
            <a:spAutoFit/>
          </a:bodyPr>
          <a:lstStyle/>
          <a:p>
            <a:r>
              <a:rPr lang="en-US" dirty="0">
                <a:solidFill>
                  <a:srgbClr val="00B050"/>
                </a:solidFill>
                <a:ea typeface="OSAKA-MONO" panose="020B0600000000000000" pitchFamily="34" charset="-128"/>
                <a:cs typeface="Menlo" panose="020B0609030804020204" pitchFamily="49" charset="0"/>
              </a:rPr>
              <a:t>Using </a:t>
            </a:r>
            <a:r>
              <a:rPr lang="en-US" dirty="0">
                <a:solidFill>
                  <a:srgbClr val="00B050"/>
                </a:solidFill>
                <a:latin typeface="OSAKA-MONO" panose="020B0600000000000000" pitchFamily="34" charset="-128"/>
                <a:ea typeface="OSAKA-MONO" panose="020B0600000000000000" pitchFamily="34" charset="-128"/>
                <a:cs typeface="Menlo" panose="020B0609030804020204" pitchFamily="49" charset="0"/>
              </a:rPr>
              <a:t>[ ]</a:t>
            </a:r>
            <a:r>
              <a:rPr lang="en-US" dirty="0">
                <a:solidFill>
                  <a:srgbClr val="00B050"/>
                </a:solidFill>
                <a:ea typeface="OSAKA-MONO" panose="020B0600000000000000" pitchFamily="34" charset="-128"/>
                <a:cs typeface="Menlo" panose="020B0609030804020204" pitchFamily="49" charset="0"/>
              </a:rPr>
              <a:t> operator:</a:t>
            </a:r>
          </a:p>
        </p:txBody>
      </p:sp>
      <p:sp>
        <p:nvSpPr>
          <p:cNvPr id="7" name="TextBox 6">
            <a:extLst>
              <a:ext uri="{FF2B5EF4-FFF2-40B4-BE49-F238E27FC236}">
                <a16:creationId xmlns:a16="http://schemas.microsoft.com/office/drawing/2014/main" id="{5F4DFDDB-435A-27E4-30F8-B4B79AC9F11D}"/>
              </a:ext>
            </a:extLst>
          </p:cNvPr>
          <p:cNvSpPr txBox="1"/>
          <p:nvPr/>
        </p:nvSpPr>
        <p:spPr>
          <a:xfrm>
            <a:off x="4572000" y="1785689"/>
            <a:ext cx="3301340" cy="369332"/>
          </a:xfrm>
          <a:prstGeom prst="rect">
            <a:avLst/>
          </a:prstGeom>
          <a:noFill/>
        </p:spPr>
        <p:txBody>
          <a:bodyPr wrap="square" rtlCol="0">
            <a:spAutoFit/>
          </a:bodyPr>
          <a:lstStyle/>
          <a:p>
            <a:r>
              <a:rPr lang="en-US" dirty="0">
                <a:solidFill>
                  <a:srgbClr val="00B050"/>
                </a:solidFill>
                <a:ea typeface="OSAKA-MONO" panose="020B0600000000000000" pitchFamily="34" charset="-128"/>
                <a:cs typeface="Menlo" panose="020B0609030804020204" pitchFamily="49" charset="0"/>
              </a:rPr>
              <a:t>Using </a:t>
            </a:r>
            <a:r>
              <a:rPr lang="en-US" dirty="0" err="1">
                <a:solidFill>
                  <a:srgbClr val="00B050"/>
                </a:solidFill>
                <a:latin typeface="OSAKA-MONO" panose="020B0600000000000000" pitchFamily="34" charset="-128"/>
                <a:ea typeface="OSAKA-MONO" panose="020B0600000000000000" pitchFamily="34" charset="-128"/>
                <a:cs typeface="Menlo" panose="020B0609030804020204" pitchFamily="49" charset="0"/>
              </a:rPr>
              <a:t>dplyr</a:t>
            </a:r>
            <a:r>
              <a:rPr lang="en-US" dirty="0">
                <a:solidFill>
                  <a:srgbClr val="00B050"/>
                </a:solidFill>
                <a:ea typeface="OSAKA-MONO" panose="020B0600000000000000" pitchFamily="34" charset="-128"/>
                <a:cs typeface="Menlo" panose="020B0609030804020204" pitchFamily="49" charset="0"/>
              </a:rPr>
              <a:t> verbs:</a:t>
            </a:r>
          </a:p>
        </p:txBody>
      </p:sp>
      <p:sp>
        <p:nvSpPr>
          <p:cNvPr id="8" name="TextBox 7">
            <a:extLst>
              <a:ext uri="{FF2B5EF4-FFF2-40B4-BE49-F238E27FC236}">
                <a16:creationId xmlns:a16="http://schemas.microsoft.com/office/drawing/2014/main" id="{90DB0495-D318-D15C-0503-85DF22736A6D}"/>
              </a:ext>
            </a:extLst>
          </p:cNvPr>
          <p:cNvSpPr txBox="1"/>
          <p:nvPr/>
        </p:nvSpPr>
        <p:spPr>
          <a:xfrm>
            <a:off x="457200" y="4281044"/>
            <a:ext cx="3301340" cy="369332"/>
          </a:xfrm>
          <a:prstGeom prst="rect">
            <a:avLst/>
          </a:prstGeom>
          <a:noFill/>
        </p:spPr>
        <p:txBody>
          <a:bodyPr wrap="square" rtlCol="0">
            <a:spAutoFit/>
          </a:bodyPr>
          <a:lstStyle/>
          <a:p>
            <a:r>
              <a:rPr lang="en-US" b="1" dirty="0">
                <a:ea typeface="OSAKA-MONO" panose="020B0600000000000000" pitchFamily="34" charset="-128"/>
                <a:cs typeface="Menlo" panose="020B0609030804020204" pitchFamily="49" charset="0"/>
              </a:rPr>
              <a:t>Key Functions</a:t>
            </a:r>
          </a:p>
        </p:txBody>
      </p:sp>
      <p:graphicFrame>
        <p:nvGraphicFramePr>
          <p:cNvPr id="10" name="Table 9">
            <a:extLst>
              <a:ext uri="{FF2B5EF4-FFF2-40B4-BE49-F238E27FC236}">
                <a16:creationId xmlns:a16="http://schemas.microsoft.com/office/drawing/2014/main" id="{7874B27A-E1CB-F2B9-598A-B2DB29B9EB6F}"/>
              </a:ext>
            </a:extLst>
          </p:cNvPr>
          <p:cNvGraphicFramePr>
            <a:graphicFrameLocks noGrp="1"/>
          </p:cNvGraphicFramePr>
          <p:nvPr>
            <p:extLst>
              <p:ext uri="{D42A27DB-BD31-4B8C-83A1-F6EECF244321}">
                <p14:modId xmlns:p14="http://schemas.microsoft.com/office/powerpoint/2010/main" val="1396475640"/>
              </p:ext>
            </p:extLst>
          </p:nvPr>
        </p:nvGraphicFramePr>
        <p:xfrm>
          <a:off x="457200" y="4650376"/>
          <a:ext cx="4518833" cy="1097280"/>
        </p:xfrm>
        <a:graphic>
          <a:graphicData uri="http://schemas.openxmlformats.org/drawingml/2006/table">
            <a:tbl>
              <a:tblPr firstRow="1" bandRow="1">
                <a:tableStyleId>{2D5ABB26-0587-4C30-8999-92F81FD0307C}</a:tableStyleId>
              </a:tblPr>
              <a:tblGrid>
                <a:gridCol w="1120140">
                  <a:extLst>
                    <a:ext uri="{9D8B030D-6E8A-4147-A177-3AD203B41FA5}">
                      <a16:colId xmlns:a16="http://schemas.microsoft.com/office/drawing/2014/main" val="476753131"/>
                    </a:ext>
                  </a:extLst>
                </a:gridCol>
                <a:gridCol w="3398693">
                  <a:extLst>
                    <a:ext uri="{9D8B030D-6E8A-4147-A177-3AD203B41FA5}">
                      <a16:colId xmlns:a16="http://schemas.microsoft.com/office/drawing/2014/main" val="2462109655"/>
                    </a:ext>
                  </a:extLst>
                </a:gridCol>
              </a:tblGrid>
              <a:tr h="271857">
                <a:tc>
                  <a:txBody>
                    <a:bodyPr/>
                    <a:lstStyle/>
                    <a:p>
                      <a:r>
                        <a:rPr lang="en-US" b="0" i="0" dirty="0">
                          <a:latin typeface="OSAKA-MONO" panose="020B0600000000000000" pitchFamily="34" charset="-128"/>
                          <a:ea typeface="OSAKA-MONO" panose="020B0600000000000000" pitchFamily="34" charset="-128"/>
                        </a:rPr>
                        <a:t>select()</a:t>
                      </a:r>
                    </a:p>
                  </a:txBody>
                  <a:tcPr marR="0" marT="0" marB="0"/>
                </a:tc>
                <a:tc>
                  <a:txBody>
                    <a:bodyPr/>
                    <a:lstStyle/>
                    <a:p>
                      <a:r>
                        <a:rPr lang="en-US" dirty="0"/>
                        <a:t>choose columns</a:t>
                      </a:r>
                    </a:p>
                  </a:txBody>
                  <a:tcPr marR="0" marT="0" marB="0"/>
                </a:tc>
                <a:extLst>
                  <a:ext uri="{0D108BD9-81ED-4DB2-BD59-A6C34878D82A}">
                    <a16:rowId xmlns:a16="http://schemas.microsoft.com/office/drawing/2014/main" val="4230212728"/>
                  </a:ext>
                </a:extLst>
              </a:tr>
              <a:tr h="271857">
                <a:tc>
                  <a:txBody>
                    <a:bodyPr/>
                    <a:lstStyle/>
                    <a:p>
                      <a:r>
                        <a:rPr lang="en-US" b="0" i="0" dirty="0">
                          <a:latin typeface="OSAKA-MONO" panose="020B0600000000000000" pitchFamily="34" charset="-128"/>
                          <a:ea typeface="OSAKA-MONO" panose="020B0600000000000000" pitchFamily="34" charset="-128"/>
                        </a:rPr>
                        <a:t>filter()</a:t>
                      </a:r>
                    </a:p>
                  </a:txBody>
                  <a:tcPr marR="0" marT="0" marB="0"/>
                </a:tc>
                <a:tc>
                  <a:txBody>
                    <a:bodyPr/>
                    <a:lstStyle/>
                    <a:p>
                      <a:r>
                        <a:rPr lang="en-US" dirty="0"/>
                        <a:t>subset rows by condition</a:t>
                      </a:r>
                    </a:p>
                  </a:txBody>
                  <a:tcPr marR="0" marT="0" marB="0"/>
                </a:tc>
                <a:extLst>
                  <a:ext uri="{0D108BD9-81ED-4DB2-BD59-A6C34878D82A}">
                    <a16:rowId xmlns:a16="http://schemas.microsoft.com/office/drawing/2014/main" val="3320564863"/>
                  </a:ext>
                </a:extLst>
              </a:tr>
              <a:tr h="271857">
                <a:tc>
                  <a:txBody>
                    <a:bodyPr/>
                    <a:lstStyle/>
                    <a:p>
                      <a:r>
                        <a:rPr lang="en-US" b="0" i="0" dirty="0">
                          <a:latin typeface="OSAKA-MONO" panose="020B0600000000000000" pitchFamily="34" charset="-128"/>
                          <a:ea typeface="OSAKA-MONO" panose="020B0600000000000000" pitchFamily="34" charset="-128"/>
                        </a:rPr>
                        <a:t>slice()</a:t>
                      </a:r>
                    </a:p>
                  </a:txBody>
                  <a:tcPr marR="0" marT="0" marB="0"/>
                </a:tc>
                <a:tc>
                  <a:txBody>
                    <a:bodyPr/>
                    <a:lstStyle/>
                    <a:p>
                      <a:r>
                        <a:rPr lang="en-US" dirty="0"/>
                        <a:t>select rows by position</a:t>
                      </a:r>
                    </a:p>
                  </a:txBody>
                  <a:tcPr marR="0" marT="0" marB="0"/>
                </a:tc>
                <a:extLst>
                  <a:ext uri="{0D108BD9-81ED-4DB2-BD59-A6C34878D82A}">
                    <a16:rowId xmlns:a16="http://schemas.microsoft.com/office/drawing/2014/main" val="3536313229"/>
                  </a:ext>
                </a:extLst>
              </a:tr>
              <a:tr h="271857">
                <a:tc>
                  <a:txBody>
                    <a:bodyPr/>
                    <a:lstStyle/>
                    <a:p>
                      <a:r>
                        <a:rPr lang="en-US" b="0" i="0" dirty="0">
                          <a:latin typeface="OSAKA-MONO" panose="020B0600000000000000" pitchFamily="34" charset="-128"/>
                          <a:ea typeface="OSAKA-MONO" panose="020B0600000000000000" pitchFamily="34" charset="-128"/>
                        </a:rPr>
                        <a:t>pull()</a:t>
                      </a:r>
                    </a:p>
                  </a:txBody>
                  <a:tcPr marR="0" marT="0" marB="0"/>
                </a:tc>
                <a:tc>
                  <a:txBody>
                    <a:bodyPr/>
                    <a:lstStyle/>
                    <a:p>
                      <a:r>
                        <a:rPr lang="en-US" dirty="0"/>
                        <a:t>extract single column as vector</a:t>
                      </a:r>
                    </a:p>
                  </a:txBody>
                  <a:tcPr marR="0" marT="0" marB="0"/>
                </a:tc>
                <a:extLst>
                  <a:ext uri="{0D108BD9-81ED-4DB2-BD59-A6C34878D82A}">
                    <a16:rowId xmlns:a16="http://schemas.microsoft.com/office/drawing/2014/main" val="1381834215"/>
                  </a:ext>
                </a:extLst>
              </a:tr>
            </a:tbl>
          </a:graphicData>
        </a:graphic>
      </p:graphicFrame>
      <p:sp>
        <p:nvSpPr>
          <p:cNvPr id="11" name="Title 10">
            <a:extLst>
              <a:ext uri="{FF2B5EF4-FFF2-40B4-BE49-F238E27FC236}">
                <a16:creationId xmlns:a16="http://schemas.microsoft.com/office/drawing/2014/main" id="{30B6EDBA-EE1E-17E8-A6FA-A289700D0845}"/>
              </a:ext>
            </a:extLst>
          </p:cNvPr>
          <p:cNvSpPr>
            <a:spLocks noGrp="1"/>
          </p:cNvSpPr>
          <p:nvPr>
            <p:ph type="title"/>
          </p:nvPr>
        </p:nvSpPr>
        <p:spPr/>
        <p:txBody>
          <a:bodyPr/>
          <a:lstStyle/>
          <a:p>
            <a:r>
              <a:rPr lang="en-US" dirty="0"/>
              <a:t>Subsetting</a:t>
            </a:r>
          </a:p>
        </p:txBody>
      </p:sp>
      <p:sp>
        <p:nvSpPr>
          <p:cNvPr id="12" name="Slide Number Placeholder 11">
            <a:extLst>
              <a:ext uri="{FF2B5EF4-FFF2-40B4-BE49-F238E27FC236}">
                <a16:creationId xmlns:a16="http://schemas.microsoft.com/office/drawing/2014/main" id="{137749B0-17FC-E5A0-4AED-7C199E365239}"/>
              </a:ext>
            </a:extLst>
          </p:cNvPr>
          <p:cNvSpPr>
            <a:spLocks noGrp="1"/>
          </p:cNvSpPr>
          <p:nvPr>
            <p:ph type="sldNum" sz="quarter" idx="12"/>
          </p:nvPr>
        </p:nvSpPr>
        <p:spPr/>
        <p:txBody>
          <a:bodyPr/>
          <a:lstStyle/>
          <a:p>
            <a:fld id="{C0343C75-1924-D247-85A3-0CB62E67E5D1}" type="slidenum">
              <a:rPr lang="en-US" smtClean="0"/>
              <a:t>24</a:t>
            </a:fld>
            <a:endParaRPr lang="en-US"/>
          </a:p>
        </p:txBody>
      </p:sp>
    </p:spTree>
    <p:extLst>
      <p:ext uri="{BB962C8B-B14F-4D97-AF65-F5344CB8AC3E}">
        <p14:creationId xmlns:p14="http://schemas.microsoft.com/office/powerpoint/2010/main" val="16264609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3AD8CC90-9E4B-9972-8EAD-F146B400640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6BAFDD4-1810-D433-734B-099F19E2C308}"/>
              </a:ext>
            </a:extLst>
          </p:cNvPr>
          <p:cNvSpPr txBox="1"/>
          <p:nvPr/>
        </p:nvSpPr>
        <p:spPr>
          <a:xfrm>
            <a:off x="457200" y="1416439"/>
            <a:ext cx="8229600" cy="369332"/>
          </a:xfrm>
          <a:prstGeom prst="rect">
            <a:avLst/>
          </a:prstGeom>
          <a:noFill/>
        </p:spPr>
        <p:txBody>
          <a:bodyPr wrap="square" rtlCol="0">
            <a:spAutoFit/>
          </a:bodyPr>
          <a:lstStyle/>
          <a:p>
            <a:r>
              <a:rPr lang="en-US" i="1" dirty="0">
                <a:solidFill>
                  <a:srgbClr val="002060"/>
                </a:solidFill>
                <a:ea typeface="OSAKA-MONO" panose="020B0600000000000000" pitchFamily="34" charset="-128"/>
                <a:cs typeface="Menlo" panose="020B0609030804020204" pitchFamily="49" charset="0"/>
              </a:rPr>
              <a:t>The pipe operator enables expressive, readable code</a:t>
            </a:r>
          </a:p>
        </p:txBody>
      </p:sp>
      <p:sp>
        <p:nvSpPr>
          <p:cNvPr id="2" name="TextBox 1">
            <a:extLst>
              <a:ext uri="{FF2B5EF4-FFF2-40B4-BE49-F238E27FC236}">
                <a16:creationId xmlns:a16="http://schemas.microsoft.com/office/drawing/2014/main" id="{5A6BAD60-E6C8-9F55-3B78-9EAA65688DC2}"/>
              </a:ext>
            </a:extLst>
          </p:cNvPr>
          <p:cNvSpPr txBox="1"/>
          <p:nvPr/>
        </p:nvSpPr>
        <p:spPr>
          <a:xfrm>
            <a:off x="4572000" y="2154695"/>
            <a:ext cx="4114800" cy="1477328"/>
          </a:xfrm>
          <a:prstGeom prst="rect">
            <a:avLst/>
          </a:prstGeom>
          <a:noFill/>
        </p:spPr>
        <p:txBody>
          <a:bodyPr wrap="square" rtlCol="0">
            <a:spAutoFit/>
          </a:bodyPr>
          <a:lstStyle/>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result = world |&gt;</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filter(</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continent == 'Asia') |&gt;</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select(name, continent) |&gt;</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slice(1:5)</a:t>
            </a:r>
            <a:endParaRPr lang="en-US" dirty="0">
              <a:latin typeface="OSAKA-MONO" panose="020B0600000000000000" pitchFamily="34" charset="-128"/>
              <a:ea typeface="OSAKA-MONO" panose="020B0600000000000000" pitchFamily="34" charset="-128"/>
              <a:cs typeface="Menlo" panose="020B0609030804020204" pitchFamily="49" charset="0"/>
            </a:endParaRPr>
          </a:p>
        </p:txBody>
      </p:sp>
      <p:sp>
        <p:nvSpPr>
          <p:cNvPr id="3" name="TextBox 2">
            <a:extLst>
              <a:ext uri="{FF2B5EF4-FFF2-40B4-BE49-F238E27FC236}">
                <a16:creationId xmlns:a16="http://schemas.microsoft.com/office/drawing/2014/main" id="{14E82DE0-3668-BDB5-F975-9F52D2571BE0}"/>
              </a:ext>
            </a:extLst>
          </p:cNvPr>
          <p:cNvSpPr txBox="1"/>
          <p:nvPr/>
        </p:nvSpPr>
        <p:spPr>
          <a:xfrm>
            <a:off x="457201" y="2154857"/>
            <a:ext cx="4114799" cy="1754326"/>
          </a:xfrm>
          <a:prstGeom prst="rect">
            <a:avLst/>
          </a:prstGeom>
          <a:noFill/>
        </p:spPr>
        <p:txBody>
          <a:bodyPr wrap="square" rtlCol="0">
            <a:spAutoFit/>
          </a:bodyPr>
          <a:lstStyle/>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result = slice(</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select(</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filter(world,</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continent=='Asia'),</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name, continent),</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1:5)</a:t>
            </a:r>
            <a:endParaRPr lang="en-US" dirty="0">
              <a:latin typeface="OSAKA-MONO" panose="020B0600000000000000" pitchFamily="34" charset="-128"/>
              <a:ea typeface="OSAKA-MONO" panose="020B0600000000000000" pitchFamily="34" charset="-128"/>
              <a:cs typeface="Menlo" panose="020B0609030804020204" pitchFamily="49" charset="0"/>
            </a:endParaRPr>
          </a:p>
        </p:txBody>
      </p:sp>
      <p:sp>
        <p:nvSpPr>
          <p:cNvPr id="6" name="TextBox 5">
            <a:extLst>
              <a:ext uri="{FF2B5EF4-FFF2-40B4-BE49-F238E27FC236}">
                <a16:creationId xmlns:a16="http://schemas.microsoft.com/office/drawing/2014/main" id="{54D51089-F202-0C85-8582-CEF35335F17C}"/>
              </a:ext>
            </a:extLst>
          </p:cNvPr>
          <p:cNvSpPr txBox="1"/>
          <p:nvPr/>
        </p:nvSpPr>
        <p:spPr>
          <a:xfrm>
            <a:off x="457200" y="1785567"/>
            <a:ext cx="3301340" cy="369332"/>
          </a:xfrm>
          <a:prstGeom prst="rect">
            <a:avLst/>
          </a:prstGeom>
          <a:noFill/>
        </p:spPr>
        <p:txBody>
          <a:bodyPr wrap="square" rtlCol="0">
            <a:spAutoFit/>
          </a:bodyPr>
          <a:lstStyle/>
          <a:p>
            <a:r>
              <a:rPr lang="en-US" b="1" dirty="0">
                <a:solidFill>
                  <a:srgbClr val="002060"/>
                </a:solidFill>
                <a:ea typeface="OSAKA-MONO" panose="020B0600000000000000" pitchFamily="34" charset="-128"/>
                <a:cs typeface="Menlo" panose="020B0609030804020204" pitchFamily="49" charset="0"/>
              </a:rPr>
              <a:t>Without Pipes (Nested)</a:t>
            </a:r>
          </a:p>
        </p:txBody>
      </p:sp>
      <p:sp>
        <p:nvSpPr>
          <p:cNvPr id="7" name="TextBox 6">
            <a:extLst>
              <a:ext uri="{FF2B5EF4-FFF2-40B4-BE49-F238E27FC236}">
                <a16:creationId xmlns:a16="http://schemas.microsoft.com/office/drawing/2014/main" id="{1CADDCD8-ECEF-2501-1C65-B7CBF2A88E24}"/>
              </a:ext>
            </a:extLst>
          </p:cNvPr>
          <p:cNvSpPr txBox="1"/>
          <p:nvPr/>
        </p:nvSpPr>
        <p:spPr>
          <a:xfrm>
            <a:off x="4572000" y="1785689"/>
            <a:ext cx="3301340" cy="369332"/>
          </a:xfrm>
          <a:prstGeom prst="rect">
            <a:avLst/>
          </a:prstGeom>
          <a:noFill/>
        </p:spPr>
        <p:txBody>
          <a:bodyPr wrap="square" rtlCol="0">
            <a:spAutoFit/>
          </a:bodyPr>
          <a:lstStyle/>
          <a:p>
            <a:r>
              <a:rPr lang="en-US" b="1" dirty="0">
                <a:solidFill>
                  <a:srgbClr val="002060"/>
                </a:solidFill>
                <a:ea typeface="OSAKA-MONO" panose="020B0600000000000000" pitchFamily="34" charset="-128"/>
                <a:cs typeface="Menlo" panose="020B0609030804020204" pitchFamily="49" charset="0"/>
              </a:rPr>
              <a:t>With Pipes (</a:t>
            </a:r>
            <a:r>
              <a:rPr lang="en-US" b="1" dirty="0">
                <a:solidFill>
                  <a:srgbClr val="002060"/>
                </a:solidFill>
                <a:latin typeface="OSAKA-MONO" panose="020B0600000000000000" pitchFamily="34" charset="-128"/>
                <a:ea typeface="OSAKA-MONO" panose="020B0600000000000000" pitchFamily="34" charset="-128"/>
                <a:cs typeface="Menlo" panose="020B0609030804020204" pitchFamily="49" charset="0"/>
              </a:rPr>
              <a:t>|&gt;</a:t>
            </a:r>
            <a:r>
              <a:rPr lang="en-US" b="1" dirty="0">
                <a:solidFill>
                  <a:srgbClr val="002060"/>
                </a:solidFill>
                <a:ea typeface="OSAKA-MONO" panose="020B0600000000000000" pitchFamily="34" charset="-128"/>
                <a:cs typeface="Menlo" panose="020B0609030804020204" pitchFamily="49" charset="0"/>
              </a:rPr>
              <a:t> or </a:t>
            </a:r>
            <a:r>
              <a:rPr lang="en-US" b="1" dirty="0">
                <a:solidFill>
                  <a:srgbClr val="002060"/>
                </a:solidFill>
                <a:latin typeface="OSAKA-MONO" panose="020B0600000000000000" pitchFamily="34" charset="-128"/>
                <a:ea typeface="OSAKA-MONO" panose="020B0600000000000000" pitchFamily="34" charset="-128"/>
                <a:cs typeface="Menlo" panose="020B0609030804020204" pitchFamily="49" charset="0"/>
              </a:rPr>
              <a:t>%&gt;%</a:t>
            </a:r>
            <a:r>
              <a:rPr lang="en-US" b="1" dirty="0">
                <a:solidFill>
                  <a:srgbClr val="002060"/>
                </a:solidFill>
                <a:ea typeface="OSAKA-MONO" panose="020B0600000000000000" pitchFamily="34" charset="-128"/>
                <a:cs typeface="Menlo" panose="020B0609030804020204" pitchFamily="49" charset="0"/>
              </a:rPr>
              <a:t>)</a:t>
            </a:r>
          </a:p>
        </p:txBody>
      </p:sp>
      <p:sp>
        <p:nvSpPr>
          <p:cNvPr id="8" name="TextBox 7">
            <a:extLst>
              <a:ext uri="{FF2B5EF4-FFF2-40B4-BE49-F238E27FC236}">
                <a16:creationId xmlns:a16="http://schemas.microsoft.com/office/drawing/2014/main" id="{2D8F81A1-E67A-7643-03A6-CEB8E9406D53}"/>
              </a:ext>
            </a:extLst>
          </p:cNvPr>
          <p:cNvSpPr txBox="1"/>
          <p:nvPr/>
        </p:nvSpPr>
        <p:spPr>
          <a:xfrm>
            <a:off x="457200" y="4278269"/>
            <a:ext cx="8229600" cy="1754326"/>
          </a:xfrm>
          <a:prstGeom prst="rect">
            <a:avLst/>
          </a:prstGeom>
          <a:noFill/>
        </p:spPr>
        <p:txBody>
          <a:bodyPr wrap="square" rtlCol="0">
            <a:spAutoFit/>
          </a:bodyPr>
          <a:lstStyle/>
          <a:p>
            <a:r>
              <a:rPr lang="en-US" b="1" dirty="0">
                <a:solidFill>
                  <a:srgbClr val="002060"/>
                </a:solidFill>
                <a:ea typeface="OSAKA-MONO" panose="020B0600000000000000" pitchFamily="34" charset="-128"/>
                <a:cs typeface="Menlo" panose="020B0609030804020204" pitchFamily="49" charset="0"/>
              </a:rPr>
              <a:t>Benefits of Piping</a:t>
            </a:r>
          </a:p>
          <a:p>
            <a:pPr marL="285750" indent="-285750">
              <a:buFont typeface="Arial" panose="020B0604020202020204" pitchFamily="34" charset="0"/>
              <a:buChar char="•"/>
            </a:pPr>
            <a:r>
              <a:rPr lang="en-US" dirty="0">
                <a:solidFill>
                  <a:srgbClr val="002060"/>
                </a:solidFill>
                <a:ea typeface="OSAKA-MONO" panose="020B0600000000000000" pitchFamily="34" charset="-128"/>
                <a:cs typeface="Menlo" panose="020B0609030804020204" pitchFamily="49" charset="0"/>
              </a:rPr>
              <a:t>No intermediate variable names needed</a:t>
            </a:r>
          </a:p>
          <a:p>
            <a:pPr marL="285750" indent="-285750">
              <a:buFont typeface="Arial" panose="020B0604020202020204" pitchFamily="34" charset="0"/>
              <a:buChar char="•"/>
            </a:pPr>
            <a:r>
              <a:rPr lang="en-US" dirty="0">
                <a:solidFill>
                  <a:srgbClr val="002060"/>
                </a:solidFill>
                <a:ea typeface="OSAKA-MONO" panose="020B0600000000000000" pitchFamily="34" charset="-128"/>
                <a:cs typeface="Menlo" panose="020B0609030804020204" pitchFamily="49" charset="0"/>
              </a:rPr>
              <a:t>Easy to add/remove steps</a:t>
            </a:r>
          </a:p>
          <a:p>
            <a:pPr marL="285750" indent="-285750">
              <a:buFont typeface="Arial" panose="020B0604020202020204" pitchFamily="34" charset="0"/>
              <a:buChar char="•"/>
            </a:pPr>
            <a:r>
              <a:rPr lang="en-US" dirty="0">
                <a:solidFill>
                  <a:srgbClr val="002060"/>
                </a:solidFill>
                <a:ea typeface="OSAKA-MONO" panose="020B0600000000000000" pitchFamily="34" charset="-128"/>
                <a:cs typeface="Menlo" panose="020B0609030804020204" pitchFamily="49" charset="0"/>
              </a:rPr>
              <a:t>Works with RStudio keyboard shortcuts</a:t>
            </a:r>
          </a:p>
          <a:p>
            <a:pPr marL="742950" lvl="1" indent="-285750">
              <a:buFont typeface="Arial" panose="020B0604020202020204" pitchFamily="34" charset="0"/>
              <a:buChar char="•"/>
            </a:pPr>
            <a:r>
              <a:rPr lang="en-US" b="1" dirty="0" err="1">
                <a:solidFill>
                  <a:srgbClr val="002060"/>
                </a:solidFill>
                <a:latin typeface="OSAKA-MONO" panose="020B0600000000000000" pitchFamily="34" charset="-128"/>
                <a:ea typeface="OSAKA-MONO" panose="020B0600000000000000" pitchFamily="34" charset="-128"/>
                <a:cs typeface="Menlo" panose="020B0609030804020204" pitchFamily="49" charset="0"/>
              </a:rPr>
              <a:t>Ctl</a:t>
            </a:r>
            <a:r>
              <a:rPr lang="en-US" b="1" dirty="0">
                <a:solidFill>
                  <a:srgbClr val="002060"/>
                </a:solidFill>
                <a:latin typeface="OSAKA-MONO" panose="020B0600000000000000" pitchFamily="34" charset="-128"/>
                <a:ea typeface="OSAKA-MONO" panose="020B0600000000000000" pitchFamily="34" charset="-128"/>
                <a:cs typeface="Menlo" panose="020B0609030804020204" pitchFamily="49" charset="0"/>
              </a:rPr>
              <a:t> + Shift + M</a:t>
            </a:r>
            <a:r>
              <a:rPr lang="en-US" dirty="0">
                <a:solidFill>
                  <a:srgbClr val="002060"/>
                </a:solidFill>
                <a:latin typeface="OSAKA-MONO" panose="020B0600000000000000" pitchFamily="34" charset="-128"/>
                <a:ea typeface="OSAKA-MONO" panose="020B0600000000000000" pitchFamily="34" charset="-128"/>
                <a:cs typeface="Menlo" panose="020B0609030804020204" pitchFamily="49" charset="0"/>
              </a:rPr>
              <a:t> </a:t>
            </a:r>
            <a:r>
              <a:rPr lang="en-US" dirty="0">
                <a:solidFill>
                  <a:srgbClr val="002060"/>
                </a:solidFill>
                <a:ea typeface="OSAKA-MONO" panose="020B0600000000000000" pitchFamily="34" charset="-128"/>
                <a:cs typeface="Menlo" panose="020B0609030804020204" pitchFamily="49" charset="0"/>
              </a:rPr>
              <a:t>on Windows or Linux</a:t>
            </a:r>
          </a:p>
          <a:p>
            <a:pPr marL="742950" lvl="1" indent="-285750">
              <a:buFont typeface="Arial" panose="020B0604020202020204" pitchFamily="34" charset="0"/>
              <a:buChar char="•"/>
            </a:pPr>
            <a:r>
              <a:rPr lang="en-US" b="1" dirty="0" err="1">
                <a:solidFill>
                  <a:srgbClr val="002060"/>
                </a:solidFill>
                <a:latin typeface="OSAKA-MONO" panose="020B0600000000000000" pitchFamily="34" charset="-128"/>
                <a:ea typeface="OSAKA-MONO" panose="020B0600000000000000" pitchFamily="34" charset="-128"/>
                <a:cs typeface="Menlo" panose="020B0609030804020204" pitchFamily="49" charset="0"/>
              </a:rPr>
              <a:t>Cmd</a:t>
            </a:r>
            <a:r>
              <a:rPr lang="en-US" b="1" dirty="0">
                <a:solidFill>
                  <a:srgbClr val="002060"/>
                </a:solidFill>
                <a:latin typeface="OSAKA-MONO" panose="020B0600000000000000" pitchFamily="34" charset="-128"/>
                <a:ea typeface="OSAKA-MONO" panose="020B0600000000000000" pitchFamily="34" charset="-128"/>
                <a:cs typeface="Menlo" panose="020B0609030804020204" pitchFamily="49" charset="0"/>
              </a:rPr>
              <a:t> + Shift + M</a:t>
            </a:r>
            <a:r>
              <a:rPr lang="en-US" dirty="0">
                <a:solidFill>
                  <a:srgbClr val="002060"/>
                </a:solidFill>
                <a:latin typeface="OSAKA-MONO" panose="020B0600000000000000" pitchFamily="34" charset="-128"/>
                <a:ea typeface="OSAKA-MONO" panose="020B0600000000000000" pitchFamily="34" charset="-128"/>
                <a:cs typeface="Menlo" panose="020B0609030804020204" pitchFamily="49" charset="0"/>
              </a:rPr>
              <a:t> </a:t>
            </a:r>
            <a:r>
              <a:rPr lang="en-US" dirty="0">
                <a:solidFill>
                  <a:srgbClr val="002060"/>
                </a:solidFill>
                <a:ea typeface="OSAKA-MONO" panose="020B0600000000000000" pitchFamily="34" charset="-128"/>
                <a:cs typeface="Menlo" panose="020B0609030804020204" pitchFamily="49" charset="0"/>
              </a:rPr>
              <a:t>on MacOS</a:t>
            </a:r>
          </a:p>
        </p:txBody>
      </p:sp>
      <p:sp>
        <p:nvSpPr>
          <p:cNvPr id="11" name="Title 10">
            <a:extLst>
              <a:ext uri="{FF2B5EF4-FFF2-40B4-BE49-F238E27FC236}">
                <a16:creationId xmlns:a16="http://schemas.microsoft.com/office/drawing/2014/main" id="{0F867236-8C8D-452E-7435-04E726E67100}"/>
              </a:ext>
            </a:extLst>
          </p:cNvPr>
          <p:cNvSpPr>
            <a:spLocks noGrp="1"/>
          </p:cNvSpPr>
          <p:nvPr>
            <p:ph type="title"/>
          </p:nvPr>
        </p:nvSpPr>
        <p:spPr/>
        <p:txBody>
          <a:bodyPr/>
          <a:lstStyle/>
          <a:p>
            <a:r>
              <a:rPr lang="en-US" dirty="0">
                <a:solidFill>
                  <a:srgbClr val="002060"/>
                </a:solidFill>
              </a:rPr>
              <a:t>Chaining Operations with Pipes (Ref.)</a:t>
            </a:r>
          </a:p>
        </p:txBody>
      </p:sp>
      <p:sp>
        <p:nvSpPr>
          <p:cNvPr id="12" name="TextBox 11">
            <a:extLst>
              <a:ext uri="{FF2B5EF4-FFF2-40B4-BE49-F238E27FC236}">
                <a16:creationId xmlns:a16="http://schemas.microsoft.com/office/drawing/2014/main" id="{C50FA1E6-D30B-AEC2-0C89-3F1CD67BA5EE}"/>
              </a:ext>
            </a:extLst>
          </p:cNvPr>
          <p:cNvSpPr txBox="1"/>
          <p:nvPr/>
        </p:nvSpPr>
        <p:spPr>
          <a:xfrm>
            <a:off x="1581652" y="3755091"/>
            <a:ext cx="1865895" cy="400110"/>
          </a:xfrm>
          <a:prstGeom prst="rect">
            <a:avLst/>
          </a:prstGeom>
          <a:noFill/>
        </p:spPr>
        <p:txBody>
          <a:bodyPr wrap="none" rtlCol="0">
            <a:spAutoFit/>
          </a:bodyPr>
          <a:lstStyle/>
          <a:p>
            <a:pPr algn="ctr"/>
            <a:r>
              <a:rPr lang="en-US" sz="2000" dirty="0">
                <a:solidFill>
                  <a:srgbClr val="FF0000"/>
                </a:solidFill>
              </a:rPr>
              <a:t>❌ Hard to read</a:t>
            </a:r>
          </a:p>
        </p:txBody>
      </p:sp>
      <p:sp>
        <p:nvSpPr>
          <p:cNvPr id="13" name="TextBox 12">
            <a:extLst>
              <a:ext uri="{FF2B5EF4-FFF2-40B4-BE49-F238E27FC236}">
                <a16:creationId xmlns:a16="http://schemas.microsoft.com/office/drawing/2014/main" id="{96619D13-B565-052D-B7BA-EAD5A09B3544}"/>
              </a:ext>
            </a:extLst>
          </p:cNvPr>
          <p:cNvSpPr txBox="1"/>
          <p:nvPr/>
        </p:nvSpPr>
        <p:spPr>
          <a:xfrm>
            <a:off x="5439651" y="3709086"/>
            <a:ext cx="2379498" cy="400110"/>
          </a:xfrm>
          <a:prstGeom prst="rect">
            <a:avLst/>
          </a:prstGeom>
          <a:noFill/>
        </p:spPr>
        <p:txBody>
          <a:bodyPr wrap="none" rtlCol="0">
            <a:spAutoFit/>
          </a:bodyPr>
          <a:lstStyle/>
          <a:p>
            <a:pPr algn="ctr"/>
            <a:r>
              <a:rPr lang="en-US" sz="2000" b="1" dirty="0">
                <a:solidFill>
                  <a:srgbClr val="00B050"/>
                </a:solidFill>
              </a:rPr>
              <a:t>✓ Clear &amp; readable</a:t>
            </a:r>
            <a:endParaRPr lang="en-US" sz="2000" dirty="0">
              <a:solidFill>
                <a:srgbClr val="00B050"/>
              </a:solidFill>
            </a:endParaRPr>
          </a:p>
        </p:txBody>
      </p:sp>
      <p:sp>
        <p:nvSpPr>
          <p:cNvPr id="14" name="Slide Number Placeholder 13">
            <a:extLst>
              <a:ext uri="{FF2B5EF4-FFF2-40B4-BE49-F238E27FC236}">
                <a16:creationId xmlns:a16="http://schemas.microsoft.com/office/drawing/2014/main" id="{9AE26DB7-CBBA-DE86-F7ED-31F975AE1039}"/>
              </a:ext>
            </a:extLst>
          </p:cNvPr>
          <p:cNvSpPr>
            <a:spLocks noGrp="1"/>
          </p:cNvSpPr>
          <p:nvPr>
            <p:ph type="sldNum" sz="quarter" idx="12"/>
          </p:nvPr>
        </p:nvSpPr>
        <p:spPr/>
        <p:txBody>
          <a:bodyPr/>
          <a:lstStyle/>
          <a:p>
            <a:fld id="{C0343C75-1924-D247-85A3-0CB62E67E5D1}" type="slidenum">
              <a:rPr lang="en-US" smtClean="0"/>
              <a:t>25</a:t>
            </a:fld>
            <a:endParaRPr lang="en-US"/>
          </a:p>
        </p:txBody>
      </p:sp>
    </p:spTree>
    <p:extLst>
      <p:ext uri="{BB962C8B-B14F-4D97-AF65-F5344CB8AC3E}">
        <p14:creationId xmlns:p14="http://schemas.microsoft.com/office/powerpoint/2010/main" val="4412286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8786C-AF90-F06B-882E-E7EF407DB9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8FE89E-6063-D7BE-5387-EF30B0596B62}"/>
              </a:ext>
            </a:extLst>
          </p:cNvPr>
          <p:cNvSpPr>
            <a:spLocks noGrp="1"/>
          </p:cNvSpPr>
          <p:nvPr>
            <p:ph type="title"/>
          </p:nvPr>
        </p:nvSpPr>
        <p:spPr/>
        <p:txBody>
          <a:bodyPr/>
          <a:lstStyle/>
          <a:p>
            <a:r>
              <a:rPr lang="en-US" dirty="0"/>
              <a:t>Vector Attribute Operations 2</a:t>
            </a:r>
          </a:p>
        </p:txBody>
      </p:sp>
      <p:sp>
        <p:nvSpPr>
          <p:cNvPr id="3" name="Content Placeholder 2">
            <a:extLst>
              <a:ext uri="{FF2B5EF4-FFF2-40B4-BE49-F238E27FC236}">
                <a16:creationId xmlns:a16="http://schemas.microsoft.com/office/drawing/2014/main" id="{E3D04B6D-7D1F-B642-3465-52E8B300801C}"/>
              </a:ext>
            </a:extLst>
          </p:cNvPr>
          <p:cNvSpPr>
            <a:spLocks noGrp="1"/>
          </p:cNvSpPr>
          <p:nvPr>
            <p:ph idx="1"/>
          </p:nvPr>
        </p:nvSpPr>
        <p:spPr/>
        <p:txBody>
          <a:bodyPr/>
          <a:lstStyle/>
          <a:p>
            <a:pPr marL="0" indent="0">
              <a:buNone/>
            </a:pPr>
            <a:r>
              <a:rPr lang="en-US" b="1" dirty="0"/>
              <a:t>Aggregation techniques</a:t>
            </a:r>
          </a:p>
          <a:p>
            <a:r>
              <a:rPr lang="en-US" dirty="0"/>
              <a:t>Summarizing data by groups (e.g., all or categories)</a:t>
            </a:r>
          </a:p>
          <a:p>
            <a:r>
              <a:rPr lang="en-US" dirty="0"/>
              <a:t>Use of </a:t>
            </a:r>
            <a:r>
              <a:rPr lang="en-US" dirty="0">
                <a:latin typeface="OSAKA-MONO" panose="020B0600000000000000" pitchFamily="34" charset="-128"/>
                <a:ea typeface="OSAKA-MONO" panose="020B0600000000000000" pitchFamily="34" charset="-128"/>
              </a:rPr>
              <a:t>aggregate()</a:t>
            </a:r>
            <a:r>
              <a:rPr lang="en-US" dirty="0"/>
              <a:t>, </a:t>
            </a:r>
            <a:r>
              <a:rPr lang="en-US" dirty="0" err="1">
                <a:latin typeface="OSAKA-MONO" panose="020B0600000000000000" pitchFamily="34" charset="-128"/>
                <a:ea typeface="OSAKA-MONO" panose="020B0600000000000000" pitchFamily="34" charset="-128"/>
              </a:rPr>
              <a:t>group_by</a:t>
            </a:r>
            <a:r>
              <a:rPr lang="en-US" dirty="0">
                <a:latin typeface="OSAKA-MONO" panose="020B0600000000000000" pitchFamily="34" charset="-128"/>
                <a:ea typeface="OSAKA-MONO" panose="020B0600000000000000" pitchFamily="34" charset="-128"/>
              </a:rPr>
              <a:t>()</a:t>
            </a:r>
            <a:r>
              <a:rPr lang="en-US" dirty="0"/>
              <a:t>, </a:t>
            </a:r>
            <a:r>
              <a:rPr lang="en-US" dirty="0" err="1">
                <a:latin typeface="OSAKA-MONO" panose="020B0600000000000000" pitchFamily="34" charset="-128"/>
                <a:ea typeface="OSAKA-MONO" panose="020B0600000000000000" pitchFamily="34" charset="-128"/>
              </a:rPr>
              <a:t>summarise</a:t>
            </a:r>
            <a:r>
              <a:rPr lang="en-US" dirty="0">
                <a:latin typeface="OSAKA-MONO" panose="020B0600000000000000" pitchFamily="34" charset="-128"/>
                <a:ea typeface="OSAKA-MONO" panose="020B0600000000000000" pitchFamily="34" charset="-128"/>
              </a:rPr>
              <a:t>()</a:t>
            </a:r>
          </a:p>
          <a:p>
            <a:r>
              <a:rPr lang="en-US" dirty="0"/>
              <a:t>Handling spatial attributes in aggregation</a:t>
            </a:r>
          </a:p>
        </p:txBody>
      </p:sp>
      <p:sp>
        <p:nvSpPr>
          <p:cNvPr id="4" name="Slide Number Placeholder 3">
            <a:extLst>
              <a:ext uri="{FF2B5EF4-FFF2-40B4-BE49-F238E27FC236}">
                <a16:creationId xmlns:a16="http://schemas.microsoft.com/office/drawing/2014/main" id="{DA39CF10-1E34-17FD-95C7-EF3D10E11B74}"/>
              </a:ext>
            </a:extLst>
          </p:cNvPr>
          <p:cNvSpPr>
            <a:spLocks noGrp="1"/>
          </p:cNvSpPr>
          <p:nvPr>
            <p:ph type="sldNum" sz="quarter" idx="12"/>
          </p:nvPr>
        </p:nvSpPr>
        <p:spPr/>
        <p:txBody>
          <a:bodyPr/>
          <a:lstStyle/>
          <a:p>
            <a:fld id="{C0343C75-1924-D247-85A3-0CB62E67E5D1}" type="slidenum">
              <a:rPr lang="en-US" smtClean="0"/>
              <a:t>26</a:t>
            </a:fld>
            <a:endParaRPr lang="en-US"/>
          </a:p>
        </p:txBody>
      </p:sp>
    </p:spTree>
    <p:extLst>
      <p:ext uri="{BB962C8B-B14F-4D97-AF65-F5344CB8AC3E}">
        <p14:creationId xmlns:p14="http://schemas.microsoft.com/office/powerpoint/2010/main" val="20688043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22E77-AF0A-1068-988A-6881770046E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F69215A-DE9A-5BE9-595B-8D57588FE605}"/>
              </a:ext>
            </a:extLst>
          </p:cNvPr>
          <p:cNvSpPr txBox="1"/>
          <p:nvPr/>
        </p:nvSpPr>
        <p:spPr>
          <a:xfrm>
            <a:off x="457200" y="1416439"/>
            <a:ext cx="8229600" cy="369332"/>
          </a:xfrm>
          <a:prstGeom prst="rect">
            <a:avLst/>
          </a:prstGeom>
          <a:noFill/>
        </p:spPr>
        <p:txBody>
          <a:bodyPr wrap="square" rtlCol="0">
            <a:spAutoFit/>
          </a:bodyPr>
          <a:lstStyle/>
          <a:p>
            <a:r>
              <a:rPr lang="en-US" i="1" dirty="0">
                <a:ea typeface="OSAKA-MONO" panose="020B0600000000000000" pitchFamily="34" charset="-128"/>
                <a:cs typeface="Menlo" panose="020B0609030804020204" pitchFamily="49" charset="0"/>
              </a:rPr>
              <a:t>Summarize data with grouping variables</a:t>
            </a:r>
          </a:p>
        </p:txBody>
      </p:sp>
      <p:sp>
        <p:nvSpPr>
          <p:cNvPr id="3" name="TextBox 2">
            <a:extLst>
              <a:ext uri="{FF2B5EF4-FFF2-40B4-BE49-F238E27FC236}">
                <a16:creationId xmlns:a16="http://schemas.microsoft.com/office/drawing/2014/main" id="{11A11BF9-E526-F262-5552-D69CA60D276D}"/>
              </a:ext>
            </a:extLst>
          </p:cNvPr>
          <p:cNvSpPr txBox="1"/>
          <p:nvPr/>
        </p:nvSpPr>
        <p:spPr>
          <a:xfrm>
            <a:off x="457201" y="2154857"/>
            <a:ext cx="4114799" cy="2862322"/>
          </a:xfrm>
          <a:prstGeom prst="rect">
            <a:avLst/>
          </a:prstGeom>
          <a:noFill/>
        </p:spPr>
        <p:txBody>
          <a:bodyPr wrap="square" rtlCol="0">
            <a:spAutoFit/>
          </a:bodyPr>
          <a:lstStyle/>
          <a:p>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world_agg</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 world |&gt;</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group_by</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(continent) |&gt;</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summarize(</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Pop = sum(pop),</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Area = sum(area_km2),</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N = n()</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 |&gt;</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mutate(</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Density = Pop / Area</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endParaRPr lang="en-US" dirty="0">
              <a:latin typeface="OSAKA-MONO" panose="020B0600000000000000" pitchFamily="34" charset="-128"/>
              <a:ea typeface="OSAKA-MONO" panose="020B0600000000000000" pitchFamily="34" charset="-128"/>
              <a:cs typeface="Menlo" panose="020B0609030804020204" pitchFamily="49" charset="0"/>
            </a:endParaRPr>
          </a:p>
        </p:txBody>
      </p:sp>
      <p:sp>
        <p:nvSpPr>
          <p:cNvPr id="6" name="TextBox 5">
            <a:extLst>
              <a:ext uri="{FF2B5EF4-FFF2-40B4-BE49-F238E27FC236}">
                <a16:creationId xmlns:a16="http://schemas.microsoft.com/office/drawing/2014/main" id="{68430A8C-950C-B54B-8837-2198009E7651}"/>
              </a:ext>
            </a:extLst>
          </p:cNvPr>
          <p:cNvSpPr txBox="1"/>
          <p:nvPr/>
        </p:nvSpPr>
        <p:spPr>
          <a:xfrm>
            <a:off x="457200" y="1785567"/>
            <a:ext cx="4114798" cy="369332"/>
          </a:xfrm>
          <a:prstGeom prst="rect">
            <a:avLst/>
          </a:prstGeom>
          <a:noFill/>
        </p:spPr>
        <p:txBody>
          <a:bodyPr wrap="square" rtlCol="0">
            <a:spAutoFit/>
          </a:bodyPr>
          <a:lstStyle/>
          <a:p>
            <a:r>
              <a:rPr lang="en-US" dirty="0">
                <a:solidFill>
                  <a:srgbClr val="002060"/>
                </a:solidFill>
                <a:ea typeface="OSAKA-MONO" panose="020B0600000000000000" pitchFamily="34" charset="-128"/>
                <a:cs typeface="Menlo" panose="020B0609030804020204" pitchFamily="49" charset="0"/>
              </a:rPr>
              <a:t>Example: </a:t>
            </a:r>
            <a:r>
              <a:rPr lang="en-US" b="1" dirty="0">
                <a:solidFill>
                  <a:srgbClr val="002060"/>
                </a:solidFill>
                <a:ea typeface="OSAKA-MONO" panose="020B0600000000000000" pitchFamily="34" charset="-128"/>
                <a:cs typeface="Menlo" panose="020B0609030804020204" pitchFamily="49" charset="0"/>
              </a:rPr>
              <a:t>Population by Continent</a:t>
            </a:r>
          </a:p>
        </p:txBody>
      </p:sp>
      <p:sp>
        <p:nvSpPr>
          <p:cNvPr id="11" name="Title 10">
            <a:extLst>
              <a:ext uri="{FF2B5EF4-FFF2-40B4-BE49-F238E27FC236}">
                <a16:creationId xmlns:a16="http://schemas.microsoft.com/office/drawing/2014/main" id="{27CFFD8B-5742-B236-BB5E-D1151F01ADB6}"/>
              </a:ext>
            </a:extLst>
          </p:cNvPr>
          <p:cNvSpPr>
            <a:spLocks noGrp="1"/>
          </p:cNvSpPr>
          <p:nvPr>
            <p:ph type="title"/>
          </p:nvPr>
        </p:nvSpPr>
        <p:spPr/>
        <p:txBody>
          <a:bodyPr/>
          <a:lstStyle/>
          <a:p>
            <a:r>
              <a:rPr lang="en-US" dirty="0"/>
              <a:t>Aggregation</a:t>
            </a:r>
          </a:p>
        </p:txBody>
      </p:sp>
      <p:sp>
        <p:nvSpPr>
          <p:cNvPr id="4" name="TextBox 3">
            <a:extLst>
              <a:ext uri="{FF2B5EF4-FFF2-40B4-BE49-F238E27FC236}">
                <a16:creationId xmlns:a16="http://schemas.microsoft.com/office/drawing/2014/main" id="{C2A06032-12D5-28E7-39D2-37C35A84E005}"/>
              </a:ext>
            </a:extLst>
          </p:cNvPr>
          <p:cNvSpPr txBox="1"/>
          <p:nvPr/>
        </p:nvSpPr>
        <p:spPr>
          <a:xfrm>
            <a:off x="4571998" y="2483401"/>
            <a:ext cx="3301340" cy="369332"/>
          </a:xfrm>
          <a:prstGeom prst="rect">
            <a:avLst/>
          </a:prstGeom>
          <a:noFill/>
        </p:spPr>
        <p:txBody>
          <a:bodyPr wrap="square" rtlCol="0">
            <a:spAutoFit/>
          </a:bodyPr>
          <a:lstStyle/>
          <a:p>
            <a:r>
              <a:rPr lang="en-US" b="1" dirty="0">
                <a:ea typeface="OSAKA-MONO" panose="020B0600000000000000" pitchFamily="34" charset="-128"/>
                <a:cs typeface="Menlo" panose="020B0609030804020204" pitchFamily="49" charset="0"/>
              </a:rPr>
              <a:t>Key Concepts</a:t>
            </a:r>
          </a:p>
        </p:txBody>
      </p:sp>
      <p:graphicFrame>
        <p:nvGraphicFramePr>
          <p:cNvPr id="9" name="Table 8">
            <a:extLst>
              <a:ext uri="{FF2B5EF4-FFF2-40B4-BE49-F238E27FC236}">
                <a16:creationId xmlns:a16="http://schemas.microsoft.com/office/drawing/2014/main" id="{A849A975-EE22-5B4D-604C-7149F00CB347}"/>
              </a:ext>
            </a:extLst>
          </p:cNvPr>
          <p:cNvGraphicFramePr>
            <a:graphicFrameLocks noGrp="1"/>
          </p:cNvGraphicFramePr>
          <p:nvPr>
            <p:extLst>
              <p:ext uri="{D42A27DB-BD31-4B8C-83A1-F6EECF244321}">
                <p14:modId xmlns:p14="http://schemas.microsoft.com/office/powerpoint/2010/main" val="3466227613"/>
              </p:ext>
            </p:extLst>
          </p:nvPr>
        </p:nvGraphicFramePr>
        <p:xfrm>
          <a:off x="4571999" y="2852733"/>
          <a:ext cx="4114797" cy="1097280"/>
        </p:xfrm>
        <a:graphic>
          <a:graphicData uri="http://schemas.openxmlformats.org/drawingml/2006/table">
            <a:tbl>
              <a:tblPr firstRow="1" bandRow="1">
                <a:tableStyleId>{2D5ABB26-0587-4C30-8999-92F81FD0307C}</a:tableStyleId>
              </a:tblPr>
              <a:tblGrid>
                <a:gridCol w="1429151">
                  <a:extLst>
                    <a:ext uri="{9D8B030D-6E8A-4147-A177-3AD203B41FA5}">
                      <a16:colId xmlns:a16="http://schemas.microsoft.com/office/drawing/2014/main" val="476753131"/>
                    </a:ext>
                  </a:extLst>
                </a:gridCol>
                <a:gridCol w="2685646">
                  <a:extLst>
                    <a:ext uri="{9D8B030D-6E8A-4147-A177-3AD203B41FA5}">
                      <a16:colId xmlns:a16="http://schemas.microsoft.com/office/drawing/2014/main" val="2462109655"/>
                    </a:ext>
                  </a:extLst>
                </a:gridCol>
              </a:tblGrid>
              <a:tr h="271857">
                <a:tc>
                  <a:txBody>
                    <a:bodyPr/>
                    <a:lstStyle/>
                    <a:p>
                      <a:r>
                        <a:rPr lang="en-US" b="0" i="0" dirty="0" err="1">
                          <a:latin typeface="OSAKA-MONO" panose="020B0600000000000000" pitchFamily="34" charset="-128"/>
                          <a:ea typeface="OSAKA-MONO" panose="020B0600000000000000" pitchFamily="34" charset="-128"/>
                        </a:rPr>
                        <a:t>group_by</a:t>
                      </a:r>
                      <a:r>
                        <a:rPr lang="en-US" b="0" i="0" dirty="0">
                          <a:latin typeface="OSAKA-MONO" panose="020B0600000000000000" pitchFamily="34" charset="-128"/>
                          <a:ea typeface="OSAKA-MONO" panose="020B0600000000000000" pitchFamily="34" charset="-128"/>
                        </a:rPr>
                        <a:t>()</a:t>
                      </a:r>
                    </a:p>
                  </a:txBody>
                  <a:tcPr marR="0" marT="0" marB="0">
                    <a:noFill/>
                  </a:tcPr>
                </a:tc>
                <a:tc>
                  <a:txBody>
                    <a:bodyPr/>
                    <a:lstStyle/>
                    <a:p>
                      <a:r>
                        <a:rPr lang="en-US" dirty="0"/>
                        <a:t>Define grouping variable</a:t>
                      </a:r>
                    </a:p>
                  </a:txBody>
                  <a:tcPr marR="0" marT="0" marB="0">
                    <a:noFill/>
                  </a:tcPr>
                </a:tc>
                <a:extLst>
                  <a:ext uri="{0D108BD9-81ED-4DB2-BD59-A6C34878D82A}">
                    <a16:rowId xmlns:a16="http://schemas.microsoft.com/office/drawing/2014/main" val="4230212728"/>
                  </a:ext>
                </a:extLst>
              </a:tr>
              <a:tr h="271857">
                <a:tc>
                  <a:txBody>
                    <a:bodyPr/>
                    <a:lstStyle/>
                    <a:p>
                      <a:r>
                        <a:rPr lang="en-US" b="0" i="0" dirty="0">
                          <a:latin typeface="OSAKA-MONO" panose="020B0600000000000000" pitchFamily="34" charset="-128"/>
                          <a:ea typeface="OSAKA-MONO" panose="020B0600000000000000" pitchFamily="34" charset="-128"/>
                        </a:rPr>
                        <a:t>summarize()</a:t>
                      </a:r>
                    </a:p>
                  </a:txBody>
                  <a:tcPr marR="0" marT="0" marB="0">
                    <a:noFill/>
                  </a:tcPr>
                </a:tc>
                <a:tc>
                  <a:txBody>
                    <a:bodyPr/>
                    <a:lstStyle/>
                    <a:p>
                      <a:r>
                        <a:rPr lang="en-US" dirty="0"/>
                        <a:t>Aggregate with functions</a:t>
                      </a:r>
                    </a:p>
                  </a:txBody>
                  <a:tcPr marR="0" marT="0" marB="0">
                    <a:noFill/>
                  </a:tcPr>
                </a:tc>
                <a:extLst>
                  <a:ext uri="{0D108BD9-81ED-4DB2-BD59-A6C34878D82A}">
                    <a16:rowId xmlns:a16="http://schemas.microsoft.com/office/drawing/2014/main" val="3320564863"/>
                  </a:ext>
                </a:extLst>
              </a:tr>
              <a:tr h="271857">
                <a:tc>
                  <a:txBody>
                    <a:bodyPr/>
                    <a:lstStyle/>
                    <a:p>
                      <a:r>
                        <a:rPr lang="en-US" b="0" i="0" dirty="0">
                          <a:latin typeface="OSAKA-MONO" panose="020B0600000000000000" pitchFamily="34" charset="-128"/>
                          <a:ea typeface="OSAKA-MONO" panose="020B0600000000000000" pitchFamily="34" charset="-128"/>
                        </a:rPr>
                        <a:t>mutate()</a:t>
                      </a:r>
                    </a:p>
                  </a:txBody>
                  <a:tcPr marR="0" marT="0" marB="0">
                    <a:noFill/>
                  </a:tcPr>
                </a:tc>
                <a:tc>
                  <a:txBody>
                    <a:bodyPr/>
                    <a:lstStyle/>
                    <a:p>
                      <a:r>
                        <a:rPr lang="en-US" dirty="0"/>
                        <a:t>Create new columns</a:t>
                      </a:r>
                    </a:p>
                  </a:txBody>
                  <a:tcPr marR="0" marT="0" marB="0">
                    <a:noFill/>
                  </a:tcPr>
                </a:tc>
                <a:extLst>
                  <a:ext uri="{0D108BD9-81ED-4DB2-BD59-A6C34878D82A}">
                    <a16:rowId xmlns:a16="http://schemas.microsoft.com/office/drawing/2014/main" val="3536313229"/>
                  </a:ext>
                </a:extLst>
              </a:tr>
              <a:tr h="271857">
                <a:tc>
                  <a:txBody>
                    <a:bodyPr/>
                    <a:lstStyle/>
                    <a:p>
                      <a:r>
                        <a:rPr lang="en-US" b="0" i="0" dirty="0">
                          <a:latin typeface="OSAKA-MONO" panose="020B0600000000000000" pitchFamily="34" charset="-128"/>
                          <a:ea typeface="OSAKA-MONO" panose="020B0600000000000000" pitchFamily="34" charset="-128"/>
                        </a:rPr>
                        <a:t>n()</a:t>
                      </a:r>
                    </a:p>
                  </a:txBody>
                  <a:tcPr marR="0" marT="0" marB="0">
                    <a:noFill/>
                  </a:tcPr>
                </a:tc>
                <a:tc>
                  <a:txBody>
                    <a:bodyPr/>
                    <a:lstStyle/>
                    <a:p>
                      <a:r>
                        <a:rPr lang="en-US" dirty="0"/>
                        <a:t>Count observations</a:t>
                      </a:r>
                    </a:p>
                  </a:txBody>
                  <a:tcPr marR="0" marT="0" marB="0">
                    <a:noFill/>
                  </a:tcPr>
                </a:tc>
                <a:extLst>
                  <a:ext uri="{0D108BD9-81ED-4DB2-BD59-A6C34878D82A}">
                    <a16:rowId xmlns:a16="http://schemas.microsoft.com/office/drawing/2014/main" val="1381834215"/>
                  </a:ext>
                </a:extLst>
              </a:tr>
            </a:tbl>
          </a:graphicData>
        </a:graphic>
      </p:graphicFrame>
      <p:sp>
        <p:nvSpPr>
          <p:cNvPr id="10" name="TextBox 9">
            <a:extLst>
              <a:ext uri="{FF2B5EF4-FFF2-40B4-BE49-F238E27FC236}">
                <a16:creationId xmlns:a16="http://schemas.microsoft.com/office/drawing/2014/main" id="{D3B771E9-FD62-3AB4-8413-EBDDB6870FC8}"/>
              </a:ext>
            </a:extLst>
          </p:cNvPr>
          <p:cNvSpPr txBox="1"/>
          <p:nvPr/>
        </p:nvSpPr>
        <p:spPr>
          <a:xfrm>
            <a:off x="457203" y="5022515"/>
            <a:ext cx="4114797" cy="646331"/>
          </a:xfrm>
          <a:prstGeom prst="rect">
            <a:avLst/>
          </a:prstGeom>
          <a:noFill/>
        </p:spPr>
        <p:txBody>
          <a:bodyPr wrap="square" rtlCol="0">
            <a:spAutoFit/>
          </a:bodyPr>
          <a:lstStyle/>
          <a:p>
            <a:r>
              <a:rPr lang="en-US" b="1" dirty="0">
                <a:ea typeface="OSAKA-MONO" panose="020B0600000000000000" pitchFamily="34" charset="-128"/>
                <a:cs typeface="Menlo" panose="020B0609030804020204" pitchFamily="49" charset="0"/>
              </a:rPr>
              <a:t>Result</a:t>
            </a:r>
            <a:r>
              <a:rPr lang="en-US" dirty="0">
                <a:ea typeface="OSAKA-MONO" panose="020B0600000000000000" pitchFamily="34" charset="-128"/>
                <a:cs typeface="Menlo" panose="020B0609030804020204" pitchFamily="49" charset="0"/>
              </a:rPr>
              <a:t>: New sf object with one row per group + unified geometry</a:t>
            </a:r>
          </a:p>
        </p:txBody>
      </p:sp>
      <p:sp>
        <p:nvSpPr>
          <p:cNvPr id="15" name="Slide Number Placeholder 14">
            <a:extLst>
              <a:ext uri="{FF2B5EF4-FFF2-40B4-BE49-F238E27FC236}">
                <a16:creationId xmlns:a16="http://schemas.microsoft.com/office/drawing/2014/main" id="{B3D1E71B-32C7-A961-0C61-873896AD2C5C}"/>
              </a:ext>
            </a:extLst>
          </p:cNvPr>
          <p:cNvSpPr>
            <a:spLocks noGrp="1"/>
          </p:cNvSpPr>
          <p:nvPr>
            <p:ph type="sldNum" sz="quarter" idx="12"/>
          </p:nvPr>
        </p:nvSpPr>
        <p:spPr/>
        <p:txBody>
          <a:bodyPr/>
          <a:lstStyle/>
          <a:p>
            <a:fld id="{C0343C75-1924-D247-85A3-0CB62E67E5D1}" type="slidenum">
              <a:rPr lang="en-US" smtClean="0"/>
              <a:t>27</a:t>
            </a:fld>
            <a:endParaRPr lang="en-US"/>
          </a:p>
        </p:txBody>
      </p:sp>
    </p:spTree>
    <p:extLst>
      <p:ext uri="{BB962C8B-B14F-4D97-AF65-F5344CB8AC3E}">
        <p14:creationId xmlns:p14="http://schemas.microsoft.com/office/powerpoint/2010/main" val="29795424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77776-21A0-46AD-C8E9-EAEB21986F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1DCF47-F84D-8F22-3B73-2BF1652F5517}"/>
              </a:ext>
            </a:extLst>
          </p:cNvPr>
          <p:cNvSpPr>
            <a:spLocks noGrp="1"/>
          </p:cNvSpPr>
          <p:nvPr>
            <p:ph type="title"/>
          </p:nvPr>
        </p:nvSpPr>
        <p:spPr/>
        <p:txBody>
          <a:bodyPr/>
          <a:lstStyle/>
          <a:p>
            <a:r>
              <a:rPr lang="en-US" dirty="0"/>
              <a:t>Vector Attribute Operations 3</a:t>
            </a:r>
          </a:p>
        </p:txBody>
      </p:sp>
      <p:sp>
        <p:nvSpPr>
          <p:cNvPr id="3" name="Content Placeholder 2">
            <a:extLst>
              <a:ext uri="{FF2B5EF4-FFF2-40B4-BE49-F238E27FC236}">
                <a16:creationId xmlns:a16="http://schemas.microsoft.com/office/drawing/2014/main" id="{1C34015E-70DC-5F3A-3375-A6318DB2FCC4}"/>
              </a:ext>
            </a:extLst>
          </p:cNvPr>
          <p:cNvSpPr>
            <a:spLocks noGrp="1"/>
          </p:cNvSpPr>
          <p:nvPr>
            <p:ph idx="1"/>
          </p:nvPr>
        </p:nvSpPr>
        <p:spPr/>
        <p:txBody>
          <a:bodyPr/>
          <a:lstStyle/>
          <a:p>
            <a:pPr marL="0" indent="0">
              <a:buNone/>
            </a:pPr>
            <a:r>
              <a:rPr lang="en-US" b="1" dirty="0"/>
              <a:t>Attribute joins</a:t>
            </a:r>
          </a:p>
          <a:p>
            <a:r>
              <a:rPr lang="en-US" dirty="0"/>
              <a:t>Joining non-spatial tables to spatial data via </a:t>
            </a:r>
            <a:r>
              <a:rPr lang="en-US" b="1" dirty="0"/>
              <a:t>keys</a:t>
            </a:r>
          </a:p>
          <a:p>
            <a:r>
              <a:rPr lang="en-US" dirty="0"/>
              <a:t>Differences between </a:t>
            </a:r>
            <a:r>
              <a:rPr lang="en-US" u="sng" dirty="0"/>
              <a:t>relational joins</a:t>
            </a:r>
            <a:r>
              <a:rPr lang="en-US" dirty="0"/>
              <a:t> and </a:t>
            </a:r>
            <a:r>
              <a:rPr lang="en-US" u="sng" dirty="0"/>
              <a:t>spatial joins</a:t>
            </a:r>
            <a:br>
              <a:rPr lang="en-US" dirty="0"/>
            </a:br>
            <a:r>
              <a:rPr lang="en-US" dirty="0"/>
              <a:t>(spatial joins covered later in spatial operations)</a:t>
            </a:r>
          </a:p>
        </p:txBody>
      </p:sp>
      <p:sp>
        <p:nvSpPr>
          <p:cNvPr id="4" name="Slide Number Placeholder 3">
            <a:extLst>
              <a:ext uri="{FF2B5EF4-FFF2-40B4-BE49-F238E27FC236}">
                <a16:creationId xmlns:a16="http://schemas.microsoft.com/office/drawing/2014/main" id="{D38A078A-0236-9C05-7B7E-CA6804D767A1}"/>
              </a:ext>
            </a:extLst>
          </p:cNvPr>
          <p:cNvSpPr>
            <a:spLocks noGrp="1"/>
          </p:cNvSpPr>
          <p:nvPr>
            <p:ph type="sldNum" sz="quarter" idx="12"/>
          </p:nvPr>
        </p:nvSpPr>
        <p:spPr/>
        <p:txBody>
          <a:bodyPr/>
          <a:lstStyle/>
          <a:p>
            <a:fld id="{C0343C75-1924-D247-85A3-0CB62E67E5D1}" type="slidenum">
              <a:rPr lang="en-US" smtClean="0"/>
              <a:t>28</a:t>
            </a:fld>
            <a:endParaRPr lang="en-US"/>
          </a:p>
        </p:txBody>
      </p:sp>
    </p:spTree>
    <p:extLst>
      <p:ext uri="{BB962C8B-B14F-4D97-AF65-F5344CB8AC3E}">
        <p14:creationId xmlns:p14="http://schemas.microsoft.com/office/powerpoint/2010/main" val="37606906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7832B-AE1A-14C8-B8A8-70FAE846289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D3D1867-C0E5-9E76-E370-170B105F22AD}"/>
              </a:ext>
            </a:extLst>
          </p:cNvPr>
          <p:cNvSpPr txBox="1"/>
          <p:nvPr/>
        </p:nvSpPr>
        <p:spPr>
          <a:xfrm>
            <a:off x="457200" y="1416439"/>
            <a:ext cx="8229600" cy="369332"/>
          </a:xfrm>
          <a:prstGeom prst="rect">
            <a:avLst/>
          </a:prstGeom>
          <a:noFill/>
        </p:spPr>
        <p:txBody>
          <a:bodyPr wrap="square" rtlCol="0">
            <a:spAutoFit/>
          </a:bodyPr>
          <a:lstStyle/>
          <a:p>
            <a:r>
              <a:rPr lang="en-US" i="1" dirty="0">
                <a:ea typeface="OSAKA-MONO" panose="020B0600000000000000" pitchFamily="34" charset="-128"/>
                <a:cs typeface="Menlo" panose="020B0609030804020204" pitchFamily="49" charset="0"/>
              </a:rPr>
              <a:t>Combine tables based on shared key variable</a:t>
            </a:r>
          </a:p>
        </p:txBody>
      </p:sp>
      <p:sp>
        <p:nvSpPr>
          <p:cNvPr id="6" name="TextBox 5">
            <a:extLst>
              <a:ext uri="{FF2B5EF4-FFF2-40B4-BE49-F238E27FC236}">
                <a16:creationId xmlns:a16="http://schemas.microsoft.com/office/drawing/2014/main" id="{B969DCA3-E2E7-F19A-416B-A50F64DAA288}"/>
              </a:ext>
            </a:extLst>
          </p:cNvPr>
          <p:cNvSpPr txBox="1"/>
          <p:nvPr/>
        </p:nvSpPr>
        <p:spPr>
          <a:xfrm>
            <a:off x="571500" y="1875147"/>
            <a:ext cx="5695762" cy="1190539"/>
          </a:xfrm>
          <a:prstGeom prst="roundRect">
            <a:avLst/>
          </a:prstGeom>
          <a:solidFill>
            <a:schemeClr val="tx2">
              <a:lumMod val="10000"/>
              <a:lumOff val="90000"/>
            </a:schemeClr>
          </a:solidFill>
          <a:ln w="31750">
            <a:solidFill>
              <a:srgbClr val="002060"/>
            </a:solidFill>
          </a:ln>
        </p:spPr>
        <p:txBody>
          <a:bodyPr wrap="none" tIns="91440" bIns="91440" rtlCol="0" anchor="ctr">
            <a:noAutofit/>
          </a:bodyPr>
          <a:lstStyle/>
          <a:p>
            <a:pPr>
              <a:lnSpc>
                <a:spcPct val="125000"/>
              </a:lnSpc>
            </a:pPr>
            <a:r>
              <a:rPr lang="en-US" sz="1600" b="1" dirty="0" err="1">
                <a:solidFill>
                  <a:srgbClr val="002060"/>
                </a:solidFill>
                <a:latin typeface="OSAKA-MONO" panose="020B0600000000000000" pitchFamily="34" charset="-128"/>
                <a:ea typeface="OSAKA-MONO" panose="020B0600000000000000" pitchFamily="34" charset="-128"/>
                <a:cs typeface="Menlo" panose="020B0609030804020204" pitchFamily="49" charset="0"/>
              </a:rPr>
              <a:t>left_join</a:t>
            </a:r>
            <a:r>
              <a:rPr lang="en-US" sz="1600" b="1" dirty="0">
                <a:solidFill>
                  <a:srgbClr val="002060"/>
                </a:solidFill>
                <a:latin typeface="OSAKA-MONO" panose="020B0600000000000000" pitchFamily="34" charset="-128"/>
                <a:ea typeface="OSAKA-MONO" panose="020B0600000000000000" pitchFamily="34" charset="-128"/>
                <a:cs typeface="Menlo" panose="020B0609030804020204" pitchFamily="49" charset="0"/>
              </a:rPr>
              <a:t>()</a:t>
            </a:r>
          </a:p>
          <a:p>
            <a:pPr>
              <a:lnSpc>
                <a:spcPct val="125000"/>
              </a:lnSpc>
            </a:pPr>
            <a:r>
              <a:rPr lang="en-US" sz="1600" dirty="0">
                <a:ea typeface="OSAKA-MONO" panose="020B0600000000000000" pitchFamily="34" charset="-128"/>
                <a:cs typeface="Menlo" panose="020B0609030804020204" pitchFamily="49" charset="0"/>
              </a:rPr>
              <a:t>Keep all rows from first table, add matching data from second</a:t>
            </a:r>
          </a:p>
          <a:p>
            <a:pPr>
              <a:lnSpc>
                <a:spcPct val="125000"/>
              </a:lnSpc>
            </a:pPr>
            <a:r>
              <a:rPr lang="en-US" sz="16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world_coffee</a:t>
            </a:r>
            <a:r>
              <a:rPr lang="en-US" sz="16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6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left_join</a:t>
            </a:r>
            <a:r>
              <a:rPr lang="en-US" sz="16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 </a:t>
            </a:r>
            <a:r>
              <a:rPr lang="en-US" sz="16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coffee_data</a:t>
            </a:r>
            <a:r>
              <a:rPr lang="en-US" sz="16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p:txBody>
      </p:sp>
      <p:sp>
        <p:nvSpPr>
          <p:cNvPr id="11" name="Title 10">
            <a:extLst>
              <a:ext uri="{FF2B5EF4-FFF2-40B4-BE49-F238E27FC236}">
                <a16:creationId xmlns:a16="http://schemas.microsoft.com/office/drawing/2014/main" id="{4235FF87-8B4A-1A9C-8BD8-41078C9F8AB2}"/>
              </a:ext>
            </a:extLst>
          </p:cNvPr>
          <p:cNvSpPr>
            <a:spLocks noGrp="1"/>
          </p:cNvSpPr>
          <p:nvPr>
            <p:ph type="title"/>
          </p:nvPr>
        </p:nvSpPr>
        <p:spPr/>
        <p:txBody>
          <a:bodyPr/>
          <a:lstStyle/>
          <a:p>
            <a:r>
              <a:rPr lang="en-US" dirty="0"/>
              <a:t>Attribute Joins</a:t>
            </a:r>
          </a:p>
        </p:txBody>
      </p:sp>
      <p:sp>
        <p:nvSpPr>
          <p:cNvPr id="2" name="TextBox 1">
            <a:extLst>
              <a:ext uri="{FF2B5EF4-FFF2-40B4-BE49-F238E27FC236}">
                <a16:creationId xmlns:a16="http://schemas.microsoft.com/office/drawing/2014/main" id="{ABDC85E1-77C7-FA4B-1016-0FCCB2D9CDE1}"/>
              </a:ext>
            </a:extLst>
          </p:cNvPr>
          <p:cNvSpPr txBox="1"/>
          <p:nvPr/>
        </p:nvSpPr>
        <p:spPr>
          <a:xfrm>
            <a:off x="571500" y="3197045"/>
            <a:ext cx="5695762" cy="1190539"/>
          </a:xfrm>
          <a:prstGeom prst="roundRect">
            <a:avLst/>
          </a:prstGeom>
          <a:solidFill>
            <a:schemeClr val="tx2">
              <a:lumMod val="10000"/>
              <a:lumOff val="90000"/>
            </a:schemeClr>
          </a:solidFill>
          <a:ln w="31750">
            <a:solidFill>
              <a:srgbClr val="002060"/>
            </a:solidFill>
          </a:ln>
        </p:spPr>
        <p:txBody>
          <a:bodyPr wrap="none" tIns="91440" bIns="91440" rtlCol="0" anchor="ctr">
            <a:noAutofit/>
          </a:bodyPr>
          <a:lstStyle/>
          <a:p>
            <a:pPr>
              <a:lnSpc>
                <a:spcPct val="125000"/>
              </a:lnSpc>
            </a:pPr>
            <a:r>
              <a:rPr lang="en-US" sz="1600" b="1" dirty="0" err="1">
                <a:solidFill>
                  <a:srgbClr val="002060"/>
                </a:solidFill>
                <a:latin typeface="OSAKA-MONO" panose="020B0600000000000000" pitchFamily="34" charset="-128"/>
                <a:ea typeface="OSAKA-MONO" panose="020B0600000000000000" pitchFamily="34" charset="-128"/>
                <a:cs typeface="Menlo" panose="020B0609030804020204" pitchFamily="49" charset="0"/>
              </a:rPr>
              <a:t>inner_join</a:t>
            </a:r>
            <a:r>
              <a:rPr lang="en-US" sz="1600" b="1" dirty="0">
                <a:solidFill>
                  <a:srgbClr val="002060"/>
                </a:solidFill>
                <a:latin typeface="OSAKA-MONO" panose="020B0600000000000000" pitchFamily="34" charset="-128"/>
                <a:ea typeface="OSAKA-MONO" panose="020B0600000000000000" pitchFamily="34" charset="-128"/>
                <a:cs typeface="Menlo" panose="020B0609030804020204" pitchFamily="49" charset="0"/>
              </a:rPr>
              <a:t>()</a:t>
            </a:r>
          </a:p>
          <a:p>
            <a:pPr>
              <a:lnSpc>
                <a:spcPct val="125000"/>
              </a:lnSpc>
            </a:pPr>
            <a:r>
              <a:rPr lang="en-US" sz="1600" dirty="0">
                <a:ea typeface="OSAKA-MONO" panose="020B0600000000000000" pitchFamily="34" charset="-128"/>
                <a:cs typeface="Menlo" panose="020B0609030804020204" pitchFamily="49" charset="0"/>
              </a:rPr>
              <a:t>Keep only rows with matches in both tables</a:t>
            </a:r>
          </a:p>
          <a:p>
            <a:pPr>
              <a:lnSpc>
                <a:spcPct val="125000"/>
              </a:lnSpc>
            </a:pPr>
            <a:r>
              <a:rPr lang="en-US" sz="16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world_coffee</a:t>
            </a:r>
            <a:r>
              <a:rPr lang="en-US" sz="16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6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inner_join</a:t>
            </a:r>
            <a:r>
              <a:rPr lang="en-US" sz="16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 </a:t>
            </a:r>
            <a:r>
              <a:rPr lang="en-US" sz="16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coffee_data</a:t>
            </a:r>
            <a:r>
              <a:rPr lang="en-US" sz="16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p:txBody>
      </p:sp>
      <p:sp>
        <p:nvSpPr>
          <p:cNvPr id="7" name="TextBox 6">
            <a:extLst>
              <a:ext uri="{FF2B5EF4-FFF2-40B4-BE49-F238E27FC236}">
                <a16:creationId xmlns:a16="http://schemas.microsoft.com/office/drawing/2014/main" id="{CEE1C4D5-3AF9-92DE-4082-5C7C8B1B153B}"/>
              </a:ext>
            </a:extLst>
          </p:cNvPr>
          <p:cNvSpPr txBox="1"/>
          <p:nvPr/>
        </p:nvSpPr>
        <p:spPr>
          <a:xfrm>
            <a:off x="571500" y="4518943"/>
            <a:ext cx="5695762" cy="1190539"/>
          </a:xfrm>
          <a:prstGeom prst="roundRect">
            <a:avLst/>
          </a:prstGeom>
          <a:solidFill>
            <a:schemeClr val="tx2">
              <a:lumMod val="10000"/>
              <a:lumOff val="90000"/>
            </a:schemeClr>
          </a:solidFill>
          <a:ln w="31750">
            <a:solidFill>
              <a:srgbClr val="002060"/>
            </a:solidFill>
          </a:ln>
        </p:spPr>
        <p:txBody>
          <a:bodyPr wrap="none" tIns="91440" bIns="91440" rtlCol="0" anchor="ctr">
            <a:noAutofit/>
          </a:bodyPr>
          <a:lstStyle/>
          <a:p>
            <a:pPr>
              <a:lnSpc>
                <a:spcPct val="125000"/>
              </a:lnSpc>
            </a:pPr>
            <a:r>
              <a:rPr lang="en-US" sz="1600" b="1" dirty="0" err="1">
                <a:solidFill>
                  <a:srgbClr val="002060"/>
                </a:solidFill>
                <a:latin typeface="OSAKA-MONO" panose="020B0600000000000000" pitchFamily="34" charset="-128"/>
                <a:ea typeface="OSAKA-MONO" panose="020B0600000000000000" pitchFamily="34" charset="-128"/>
                <a:cs typeface="Menlo" panose="020B0609030804020204" pitchFamily="49" charset="0"/>
              </a:rPr>
              <a:t>full_join</a:t>
            </a:r>
            <a:r>
              <a:rPr lang="en-US" sz="1600" b="1" dirty="0">
                <a:solidFill>
                  <a:srgbClr val="002060"/>
                </a:solidFill>
                <a:latin typeface="OSAKA-MONO" panose="020B0600000000000000" pitchFamily="34" charset="-128"/>
                <a:ea typeface="OSAKA-MONO" panose="020B0600000000000000" pitchFamily="34" charset="-128"/>
                <a:cs typeface="Menlo" panose="020B0609030804020204" pitchFamily="49" charset="0"/>
              </a:rPr>
              <a:t>()</a:t>
            </a:r>
          </a:p>
          <a:p>
            <a:pPr>
              <a:lnSpc>
                <a:spcPct val="125000"/>
              </a:lnSpc>
            </a:pPr>
            <a:r>
              <a:rPr lang="en-US" sz="1600" dirty="0">
                <a:ea typeface="OSAKA-MONO" panose="020B0600000000000000" pitchFamily="34" charset="-128"/>
                <a:cs typeface="Menlo" panose="020B0609030804020204" pitchFamily="49" charset="0"/>
              </a:rPr>
              <a:t>Keep all rows from both tables, fill NA where no match</a:t>
            </a:r>
          </a:p>
          <a:p>
            <a:pPr>
              <a:lnSpc>
                <a:spcPct val="125000"/>
              </a:lnSpc>
            </a:pPr>
            <a:r>
              <a:rPr lang="en-US" sz="16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world_coffee</a:t>
            </a:r>
            <a:r>
              <a:rPr lang="en-US" sz="16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6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full_join</a:t>
            </a:r>
            <a:r>
              <a:rPr lang="en-US" sz="16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 </a:t>
            </a:r>
            <a:r>
              <a:rPr lang="en-US" sz="16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coffee_data</a:t>
            </a:r>
            <a:r>
              <a:rPr lang="en-US" sz="16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p:txBody>
      </p:sp>
      <p:sp>
        <p:nvSpPr>
          <p:cNvPr id="8" name="Slide Number Placeholder 7">
            <a:extLst>
              <a:ext uri="{FF2B5EF4-FFF2-40B4-BE49-F238E27FC236}">
                <a16:creationId xmlns:a16="http://schemas.microsoft.com/office/drawing/2014/main" id="{A17FCE7C-F47A-1F89-1A8F-C9BE79F46169}"/>
              </a:ext>
            </a:extLst>
          </p:cNvPr>
          <p:cNvSpPr>
            <a:spLocks noGrp="1"/>
          </p:cNvSpPr>
          <p:nvPr>
            <p:ph type="sldNum" sz="quarter" idx="12"/>
          </p:nvPr>
        </p:nvSpPr>
        <p:spPr/>
        <p:txBody>
          <a:bodyPr/>
          <a:lstStyle/>
          <a:p>
            <a:fld id="{C0343C75-1924-D247-85A3-0CB62E67E5D1}" type="slidenum">
              <a:rPr lang="en-US" smtClean="0"/>
              <a:t>29</a:t>
            </a:fld>
            <a:endParaRPr lang="en-US"/>
          </a:p>
        </p:txBody>
      </p:sp>
    </p:spTree>
    <p:extLst>
      <p:ext uri="{BB962C8B-B14F-4D97-AF65-F5344CB8AC3E}">
        <p14:creationId xmlns:p14="http://schemas.microsoft.com/office/powerpoint/2010/main" val="39042575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B916A-049D-CA58-366B-F7501724D1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351505-5300-659C-620B-4E1A2DC64E84}"/>
              </a:ext>
            </a:extLst>
          </p:cNvPr>
          <p:cNvSpPr>
            <a:spLocks noGrp="1"/>
          </p:cNvSpPr>
          <p:nvPr>
            <p:ph type="title"/>
          </p:nvPr>
        </p:nvSpPr>
        <p:spPr/>
        <p:txBody>
          <a:bodyPr/>
          <a:lstStyle/>
          <a:p>
            <a:r>
              <a:rPr lang="en-US" dirty="0"/>
              <a:t>Vector Attribute Operations 4</a:t>
            </a:r>
          </a:p>
        </p:txBody>
      </p:sp>
      <p:sp>
        <p:nvSpPr>
          <p:cNvPr id="3" name="Content Placeholder 2">
            <a:extLst>
              <a:ext uri="{FF2B5EF4-FFF2-40B4-BE49-F238E27FC236}">
                <a16:creationId xmlns:a16="http://schemas.microsoft.com/office/drawing/2014/main" id="{EDD31BD7-9200-DF06-857F-5E1DE2B75FE3}"/>
              </a:ext>
            </a:extLst>
          </p:cNvPr>
          <p:cNvSpPr>
            <a:spLocks noGrp="1"/>
          </p:cNvSpPr>
          <p:nvPr>
            <p:ph idx="1"/>
          </p:nvPr>
        </p:nvSpPr>
        <p:spPr/>
        <p:txBody>
          <a:bodyPr/>
          <a:lstStyle/>
          <a:p>
            <a:pPr marL="0" indent="0">
              <a:buNone/>
            </a:pPr>
            <a:r>
              <a:rPr lang="en-US" b="1" dirty="0"/>
              <a:t>Creating / transforming attributes</a:t>
            </a:r>
          </a:p>
          <a:p>
            <a:r>
              <a:rPr lang="en-US" dirty="0"/>
              <a:t>Generating new metrics (e.g., density, ratios)</a:t>
            </a:r>
          </a:p>
          <a:p>
            <a:r>
              <a:rPr lang="en-US" dirty="0"/>
              <a:t>Use of </a:t>
            </a:r>
            <a:r>
              <a:rPr lang="en-US" dirty="0">
                <a:latin typeface="OSAKA-MONO" panose="020B0600000000000000" pitchFamily="34" charset="-128"/>
                <a:ea typeface="OSAKA-MONO" panose="020B0600000000000000" pitchFamily="34" charset="-128"/>
              </a:rPr>
              <a:t>mutate()</a:t>
            </a:r>
            <a:r>
              <a:rPr lang="en-US" dirty="0"/>
              <a:t>, </a:t>
            </a:r>
            <a:r>
              <a:rPr lang="en-US" dirty="0">
                <a:latin typeface="OSAKA-MONO" panose="020B0600000000000000" pitchFamily="34" charset="-128"/>
                <a:ea typeface="OSAKA-MONO" panose="020B0600000000000000" pitchFamily="34" charset="-128"/>
              </a:rPr>
              <a:t>transmute()</a:t>
            </a:r>
          </a:p>
          <a:p>
            <a:r>
              <a:rPr lang="en-US" dirty="0"/>
              <a:t>Renaming attributes with </a:t>
            </a:r>
            <a:r>
              <a:rPr lang="en-US" dirty="0">
                <a:latin typeface="OSAKA-MONO" panose="020B0600000000000000" pitchFamily="34" charset="-128"/>
                <a:ea typeface="OSAKA-MONO" panose="020B0600000000000000" pitchFamily="34" charset="-128"/>
              </a:rPr>
              <a:t>rename()</a:t>
            </a:r>
            <a:r>
              <a:rPr lang="en-US" dirty="0"/>
              <a:t>, </a:t>
            </a:r>
            <a:r>
              <a:rPr lang="en-US" dirty="0" err="1">
                <a:latin typeface="OSAKA-MONO" panose="020B0600000000000000" pitchFamily="34" charset="-128"/>
                <a:ea typeface="OSAKA-MONO" panose="020B0600000000000000" pitchFamily="34" charset="-128"/>
              </a:rPr>
              <a:t>setNames</a:t>
            </a:r>
            <a:r>
              <a:rPr lang="en-US" dirty="0">
                <a:latin typeface="OSAKA-MONO" panose="020B0600000000000000" pitchFamily="34" charset="-128"/>
                <a:ea typeface="OSAKA-MONO" panose="020B0600000000000000" pitchFamily="34" charset="-128"/>
              </a:rPr>
              <a:t>()</a:t>
            </a:r>
          </a:p>
        </p:txBody>
      </p:sp>
      <p:sp>
        <p:nvSpPr>
          <p:cNvPr id="5" name="Slide Number Placeholder 4">
            <a:extLst>
              <a:ext uri="{FF2B5EF4-FFF2-40B4-BE49-F238E27FC236}">
                <a16:creationId xmlns:a16="http://schemas.microsoft.com/office/drawing/2014/main" id="{9DC9B275-2CF3-885D-0743-A0C4B4FA8D66}"/>
              </a:ext>
            </a:extLst>
          </p:cNvPr>
          <p:cNvSpPr>
            <a:spLocks noGrp="1"/>
          </p:cNvSpPr>
          <p:nvPr>
            <p:ph type="sldNum" sz="quarter" idx="12"/>
          </p:nvPr>
        </p:nvSpPr>
        <p:spPr/>
        <p:txBody>
          <a:bodyPr/>
          <a:lstStyle/>
          <a:p>
            <a:fld id="{C0343C75-1924-D247-85A3-0CB62E67E5D1}" type="slidenum">
              <a:rPr lang="en-US" smtClean="0"/>
              <a:t>30</a:t>
            </a:fld>
            <a:endParaRPr lang="en-US"/>
          </a:p>
        </p:txBody>
      </p:sp>
    </p:spTree>
    <p:extLst>
      <p:ext uri="{BB962C8B-B14F-4D97-AF65-F5344CB8AC3E}">
        <p14:creationId xmlns:p14="http://schemas.microsoft.com/office/powerpoint/2010/main" val="29396504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B28D4-5EB4-C083-0322-9851ABD040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1A5FEB-23AC-4EB7-F9F4-D2B753BABBBB}"/>
              </a:ext>
            </a:extLst>
          </p:cNvPr>
          <p:cNvSpPr>
            <a:spLocks noGrp="1"/>
          </p:cNvSpPr>
          <p:nvPr>
            <p:ph type="title"/>
          </p:nvPr>
        </p:nvSpPr>
        <p:spPr/>
        <p:txBody>
          <a:bodyPr/>
          <a:lstStyle/>
          <a:p>
            <a:r>
              <a:rPr lang="en-US" dirty="0"/>
              <a:t>Vector Attribute Operations 4</a:t>
            </a:r>
          </a:p>
        </p:txBody>
      </p:sp>
      <p:sp>
        <p:nvSpPr>
          <p:cNvPr id="3" name="Content Placeholder 2">
            <a:extLst>
              <a:ext uri="{FF2B5EF4-FFF2-40B4-BE49-F238E27FC236}">
                <a16:creationId xmlns:a16="http://schemas.microsoft.com/office/drawing/2014/main" id="{3DB13FD5-2F34-017A-70C5-A7461021C109}"/>
              </a:ext>
            </a:extLst>
          </p:cNvPr>
          <p:cNvSpPr>
            <a:spLocks noGrp="1"/>
          </p:cNvSpPr>
          <p:nvPr>
            <p:ph idx="1"/>
          </p:nvPr>
        </p:nvSpPr>
        <p:spPr/>
        <p:txBody>
          <a:bodyPr/>
          <a:lstStyle/>
          <a:p>
            <a:pPr marL="0" indent="0">
              <a:buNone/>
            </a:pPr>
            <a:r>
              <a:rPr lang="en-US" b="1" dirty="0"/>
              <a:t>Geometry retention and removal</a:t>
            </a:r>
          </a:p>
          <a:p>
            <a:r>
              <a:rPr lang="en-US" dirty="0"/>
              <a:t>How operations preserve or drop geometry</a:t>
            </a:r>
          </a:p>
          <a:p>
            <a:r>
              <a:rPr lang="en-US" dirty="0"/>
              <a:t>When to use </a:t>
            </a:r>
            <a:r>
              <a:rPr lang="en-US" dirty="0" err="1">
                <a:latin typeface="OSAKA-MONO" panose="020B0600000000000000" pitchFamily="34" charset="-128"/>
                <a:ea typeface="OSAKA-MONO" panose="020B0600000000000000" pitchFamily="34" charset="-128"/>
              </a:rPr>
              <a:t>st_drop_geometry</a:t>
            </a:r>
            <a:r>
              <a:rPr lang="en-US" dirty="0">
                <a:latin typeface="OSAKA-MONO" panose="020B0600000000000000" pitchFamily="34" charset="-128"/>
                <a:ea typeface="OSAKA-MONO" panose="020B0600000000000000" pitchFamily="34" charset="-128"/>
              </a:rPr>
              <a:t>()</a:t>
            </a:r>
            <a:br>
              <a:rPr lang="en-US" dirty="0">
                <a:latin typeface="OSAKA-MONO" panose="020B0600000000000000" pitchFamily="34" charset="-128"/>
                <a:ea typeface="OSAKA-MONO" panose="020B0600000000000000" pitchFamily="34" charset="-128"/>
              </a:rPr>
            </a:br>
            <a:r>
              <a:rPr lang="en-US" dirty="0">
                <a:ea typeface="OSAKA-MONO" panose="020B0600000000000000" pitchFamily="34" charset="-128"/>
              </a:rPr>
              <a:t>Or </a:t>
            </a:r>
            <a:r>
              <a:rPr lang="en-US" dirty="0" err="1">
                <a:latin typeface="OSAKA-MONO" panose="020B0600000000000000" pitchFamily="34" charset="-128"/>
                <a:ea typeface="OSAKA-MONO" panose="020B0600000000000000" pitchFamily="34" charset="-128"/>
              </a:rPr>
              <a:t>st_set_geometry</a:t>
            </a:r>
            <a:r>
              <a:rPr lang="en-US" dirty="0">
                <a:latin typeface="OSAKA-MONO" panose="020B0600000000000000" pitchFamily="34" charset="-128"/>
                <a:ea typeface="OSAKA-MONO" panose="020B0600000000000000" pitchFamily="34" charset="-128"/>
              </a:rPr>
              <a:t>(NULL)</a:t>
            </a:r>
          </a:p>
        </p:txBody>
      </p:sp>
      <p:sp>
        <p:nvSpPr>
          <p:cNvPr id="4" name="Slide Number Placeholder 3">
            <a:extLst>
              <a:ext uri="{FF2B5EF4-FFF2-40B4-BE49-F238E27FC236}">
                <a16:creationId xmlns:a16="http://schemas.microsoft.com/office/drawing/2014/main" id="{3902274A-EB42-A651-42C1-A88F8A0F1D39}"/>
              </a:ext>
            </a:extLst>
          </p:cNvPr>
          <p:cNvSpPr>
            <a:spLocks noGrp="1"/>
          </p:cNvSpPr>
          <p:nvPr>
            <p:ph type="sldNum" sz="quarter" idx="12"/>
          </p:nvPr>
        </p:nvSpPr>
        <p:spPr/>
        <p:txBody>
          <a:bodyPr/>
          <a:lstStyle/>
          <a:p>
            <a:fld id="{C0343C75-1924-D247-85A3-0CB62E67E5D1}" type="slidenum">
              <a:rPr lang="en-US" smtClean="0"/>
              <a:t>31</a:t>
            </a:fld>
            <a:endParaRPr lang="en-US"/>
          </a:p>
        </p:txBody>
      </p:sp>
    </p:spTree>
    <p:extLst>
      <p:ext uri="{BB962C8B-B14F-4D97-AF65-F5344CB8AC3E}">
        <p14:creationId xmlns:p14="http://schemas.microsoft.com/office/powerpoint/2010/main" val="7385277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581A9-DB75-9D8D-2267-C72E85BBDD78}"/>
              </a:ext>
            </a:extLst>
          </p:cNvPr>
          <p:cNvSpPr>
            <a:spLocks noGrp="1"/>
          </p:cNvSpPr>
          <p:nvPr>
            <p:ph type="title"/>
          </p:nvPr>
        </p:nvSpPr>
        <p:spPr/>
        <p:txBody>
          <a:bodyPr/>
          <a:lstStyle/>
          <a:p>
            <a:r>
              <a:rPr lang="en-US" dirty="0"/>
              <a:t>Raster Attribute Operations</a:t>
            </a:r>
          </a:p>
        </p:txBody>
      </p:sp>
      <p:sp>
        <p:nvSpPr>
          <p:cNvPr id="3" name="Content Placeholder 2">
            <a:extLst>
              <a:ext uri="{FF2B5EF4-FFF2-40B4-BE49-F238E27FC236}">
                <a16:creationId xmlns:a16="http://schemas.microsoft.com/office/drawing/2014/main" id="{B8578042-6B93-C52C-6FF2-FD7CDFA848B8}"/>
              </a:ext>
            </a:extLst>
          </p:cNvPr>
          <p:cNvSpPr>
            <a:spLocks noGrp="1"/>
          </p:cNvSpPr>
          <p:nvPr>
            <p:ph idx="1"/>
          </p:nvPr>
        </p:nvSpPr>
        <p:spPr/>
        <p:txBody>
          <a:bodyPr/>
          <a:lstStyle/>
          <a:p>
            <a:pPr marL="0" indent="0">
              <a:buNone/>
            </a:pPr>
            <a:r>
              <a:rPr lang="en-US" b="1" dirty="0"/>
              <a:t>Raster attributes basics</a:t>
            </a:r>
          </a:p>
          <a:p>
            <a:r>
              <a:rPr lang="en-US" dirty="0"/>
              <a:t>Grid values as attributes</a:t>
            </a:r>
          </a:p>
          <a:p>
            <a:r>
              <a:rPr lang="en-US" dirty="0"/>
              <a:t>Spatial meaning of raster cell indices and resolution</a:t>
            </a:r>
          </a:p>
          <a:p>
            <a:pPr marL="0" indent="0">
              <a:buNone/>
            </a:pPr>
            <a:endParaRPr lang="en-US" dirty="0"/>
          </a:p>
          <a:p>
            <a:pPr marL="0" indent="0">
              <a:buNone/>
            </a:pPr>
            <a:r>
              <a:rPr lang="en-US" b="1" dirty="0"/>
              <a:t>Subsetting and extraction</a:t>
            </a:r>
          </a:p>
          <a:p>
            <a:r>
              <a:rPr lang="en-US" dirty="0"/>
              <a:t>Extracting cell values from layers</a:t>
            </a:r>
          </a:p>
          <a:p>
            <a:r>
              <a:rPr lang="en-US" dirty="0"/>
              <a:t>Working with continuous vs categorical rasters</a:t>
            </a:r>
          </a:p>
          <a:p>
            <a:pPr marL="0" indent="0">
              <a:buNone/>
            </a:pPr>
            <a:endParaRPr lang="en-US" dirty="0"/>
          </a:p>
          <a:p>
            <a:pPr marL="0" indent="0">
              <a:buNone/>
            </a:pPr>
            <a:r>
              <a:rPr lang="en-US" b="1" dirty="0"/>
              <a:t>Global raster operations</a:t>
            </a:r>
          </a:p>
          <a:p>
            <a:r>
              <a:rPr lang="en-US" dirty="0"/>
              <a:t>Summary statistics across full raster extents</a:t>
            </a:r>
          </a:p>
        </p:txBody>
      </p:sp>
      <p:sp>
        <p:nvSpPr>
          <p:cNvPr id="4" name="Slide Number Placeholder 3">
            <a:extLst>
              <a:ext uri="{FF2B5EF4-FFF2-40B4-BE49-F238E27FC236}">
                <a16:creationId xmlns:a16="http://schemas.microsoft.com/office/drawing/2014/main" id="{836104AE-E927-119A-18E1-73F8F1B073BD}"/>
              </a:ext>
            </a:extLst>
          </p:cNvPr>
          <p:cNvSpPr>
            <a:spLocks noGrp="1"/>
          </p:cNvSpPr>
          <p:nvPr>
            <p:ph type="sldNum" sz="quarter" idx="12"/>
          </p:nvPr>
        </p:nvSpPr>
        <p:spPr/>
        <p:txBody>
          <a:bodyPr/>
          <a:lstStyle/>
          <a:p>
            <a:fld id="{C0343C75-1924-D247-85A3-0CB62E67E5D1}" type="slidenum">
              <a:rPr lang="en-US" smtClean="0"/>
              <a:t>32</a:t>
            </a:fld>
            <a:endParaRPr lang="en-US"/>
          </a:p>
        </p:txBody>
      </p:sp>
    </p:spTree>
    <p:extLst>
      <p:ext uri="{BB962C8B-B14F-4D97-AF65-F5344CB8AC3E}">
        <p14:creationId xmlns:p14="http://schemas.microsoft.com/office/powerpoint/2010/main" val="5074157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DBB11-53BA-B688-C550-013F79D3EAD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CA51B14-B5F1-E0E8-5650-80A9CF87561A}"/>
              </a:ext>
            </a:extLst>
          </p:cNvPr>
          <p:cNvSpPr txBox="1"/>
          <p:nvPr/>
        </p:nvSpPr>
        <p:spPr>
          <a:xfrm>
            <a:off x="4572000" y="1786015"/>
            <a:ext cx="3301340" cy="3139321"/>
          </a:xfrm>
          <a:prstGeom prst="rect">
            <a:avLst/>
          </a:prstGeom>
          <a:noFill/>
        </p:spPr>
        <p:txBody>
          <a:bodyPr wrap="square" rtlCol="0">
            <a:spAutoFit/>
          </a:bodyPr>
          <a:lstStyle/>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Row-column indexing</a:t>
            </a:r>
          </a:p>
          <a:p>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[1, 1]</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Cell ID</a:t>
            </a:r>
          </a:p>
          <a:p>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[1]</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Extract all values</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values(</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Modify values</a:t>
            </a:r>
          </a:p>
          <a:p>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[1, 1] = 0</a:t>
            </a:r>
            <a:endParaRPr lang="en-US" dirty="0">
              <a:latin typeface="OSAKA-MONO" panose="020B0600000000000000" pitchFamily="34" charset="-128"/>
              <a:ea typeface="OSAKA-MONO" panose="020B0600000000000000" pitchFamily="34" charset="-128"/>
              <a:cs typeface="Menlo" panose="020B0609030804020204" pitchFamily="49" charset="0"/>
            </a:endParaRPr>
          </a:p>
        </p:txBody>
      </p:sp>
      <p:sp>
        <p:nvSpPr>
          <p:cNvPr id="3" name="TextBox 2">
            <a:extLst>
              <a:ext uri="{FF2B5EF4-FFF2-40B4-BE49-F238E27FC236}">
                <a16:creationId xmlns:a16="http://schemas.microsoft.com/office/drawing/2014/main" id="{6BA2B022-0B79-5DA3-1EEA-8AB2F727CF46}"/>
              </a:ext>
            </a:extLst>
          </p:cNvPr>
          <p:cNvSpPr txBox="1"/>
          <p:nvPr/>
        </p:nvSpPr>
        <p:spPr>
          <a:xfrm>
            <a:off x="457200" y="1783977"/>
            <a:ext cx="4114800" cy="3139321"/>
          </a:xfrm>
          <a:prstGeom prst="rect">
            <a:avLst/>
          </a:prstGeom>
          <a:noFill/>
        </p:spPr>
        <p:txBody>
          <a:bodyPr wrap="square" rtlCol="0">
            <a:spAutoFit/>
          </a:bodyPr>
          <a:lstStyle/>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Numeric raster</a:t>
            </a:r>
          </a:p>
          <a:p>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rast</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nrows</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 6,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ncols</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 6,</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xmin</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 -1.5,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xmax</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 1.5,</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ymin</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 -1.5,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ymax</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 1.5,</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vals</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 1:36</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Categorical raster</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grain =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rast</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vals</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 factor(</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grain_char</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endParaRPr lang="en-US" dirty="0">
              <a:latin typeface="OSAKA-MONO" panose="020B0600000000000000" pitchFamily="34" charset="-128"/>
              <a:ea typeface="OSAKA-MONO" panose="020B0600000000000000" pitchFamily="34" charset="-128"/>
              <a:cs typeface="Menlo" panose="020B0609030804020204" pitchFamily="49" charset="0"/>
            </a:endParaRPr>
          </a:p>
        </p:txBody>
      </p:sp>
      <p:sp>
        <p:nvSpPr>
          <p:cNvPr id="6" name="TextBox 5">
            <a:extLst>
              <a:ext uri="{FF2B5EF4-FFF2-40B4-BE49-F238E27FC236}">
                <a16:creationId xmlns:a16="http://schemas.microsoft.com/office/drawing/2014/main" id="{F7625B5B-5E27-142C-81CE-98A25AB66935}"/>
              </a:ext>
            </a:extLst>
          </p:cNvPr>
          <p:cNvSpPr txBox="1"/>
          <p:nvPr/>
        </p:nvSpPr>
        <p:spPr>
          <a:xfrm>
            <a:off x="457200" y="1418722"/>
            <a:ext cx="3301340" cy="369332"/>
          </a:xfrm>
          <a:prstGeom prst="rect">
            <a:avLst/>
          </a:prstGeom>
          <a:noFill/>
        </p:spPr>
        <p:txBody>
          <a:bodyPr wrap="square" rtlCol="0">
            <a:spAutoFit/>
          </a:bodyPr>
          <a:lstStyle/>
          <a:p>
            <a:r>
              <a:rPr lang="en-US" b="1" dirty="0">
                <a:solidFill>
                  <a:srgbClr val="002060"/>
                </a:solidFill>
                <a:ea typeface="OSAKA-MONO" panose="020B0600000000000000" pitchFamily="34" charset="-128"/>
                <a:cs typeface="Menlo" panose="020B0609030804020204" pitchFamily="49" charset="0"/>
              </a:rPr>
              <a:t>Raster Data Operations</a:t>
            </a:r>
          </a:p>
        </p:txBody>
      </p:sp>
      <p:sp>
        <p:nvSpPr>
          <p:cNvPr id="7" name="TextBox 6">
            <a:extLst>
              <a:ext uri="{FF2B5EF4-FFF2-40B4-BE49-F238E27FC236}">
                <a16:creationId xmlns:a16="http://schemas.microsoft.com/office/drawing/2014/main" id="{324DECC4-EA42-7E1B-5ECC-BC0298B8C05B}"/>
              </a:ext>
            </a:extLst>
          </p:cNvPr>
          <p:cNvSpPr txBox="1"/>
          <p:nvPr/>
        </p:nvSpPr>
        <p:spPr>
          <a:xfrm>
            <a:off x="4572000" y="1416684"/>
            <a:ext cx="3301340" cy="369332"/>
          </a:xfrm>
          <a:prstGeom prst="rect">
            <a:avLst/>
          </a:prstGeom>
          <a:noFill/>
        </p:spPr>
        <p:txBody>
          <a:bodyPr wrap="square" rtlCol="0">
            <a:spAutoFit/>
          </a:bodyPr>
          <a:lstStyle/>
          <a:p>
            <a:r>
              <a:rPr lang="en-US" b="1" dirty="0">
                <a:solidFill>
                  <a:srgbClr val="002060"/>
                </a:solidFill>
                <a:ea typeface="OSAKA-MONO" panose="020B0600000000000000" pitchFamily="34" charset="-128"/>
                <a:cs typeface="Menlo" panose="020B0609030804020204" pitchFamily="49" charset="0"/>
              </a:rPr>
              <a:t>Subsetting Methods</a:t>
            </a:r>
          </a:p>
        </p:txBody>
      </p:sp>
      <p:sp>
        <p:nvSpPr>
          <p:cNvPr id="8" name="TextBox 7">
            <a:extLst>
              <a:ext uri="{FF2B5EF4-FFF2-40B4-BE49-F238E27FC236}">
                <a16:creationId xmlns:a16="http://schemas.microsoft.com/office/drawing/2014/main" id="{45BC5D79-0D5B-7FC2-CC5B-A37BBEDEF3C2}"/>
              </a:ext>
            </a:extLst>
          </p:cNvPr>
          <p:cNvSpPr txBox="1"/>
          <p:nvPr/>
        </p:nvSpPr>
        <p:spPr>
          <a:xfrm>
            <a:off x="457200" y="4925336"/>
            <a:ext cx="3301340" cy="369332"/>
          </a:xfrm>
          <a:prstGeom prst="rect">
            <a:avLst/>
          </a:prstGeom>
          <a:noFill/>
        </p:spPr>
        <p:txBody>
          <a:bodyPr wrap="square" rtlCol="0">
            <a:spAutoFit/>
          </a:bodyPr>
          <a:lstStyle/>
          <a:p>
            <a:r>
              <a:rPr lang="en-US" b="1" dirty="0">
                <a:ea typeface="OSAKA-MONO" panose="020B0600000000000000" pitchFamily="34" charset="-128"/>
                <a:cs typeface="Menlo" panose="020B0609030804020204" pitchFamily="49" charset="0"/>
              </a:rPr>
              <a:t>Summary Statistics</a:t>
            </a:r>
          </a:p>
        </p:txBody>
      </p:sp>
      <p:graphicFrame>
        <p:nvGraphicFramePr>
          <p:cNvPr id="10" name="Table 9">
            <a:extLst>
              <a:ext uri="{FF2B5EF4-FFF2-40B4-BE49-F238E27FC236}">
                <a16:creationId xmlns:a16="http://schemas.microsoft.com/office/drawing/2014/main" id="{FB3A1BC6-1909-4C73-8679-F75ACDF6756C}"/>
              </a:ext>
            </a:extLst>
          </p:cNvPr>
          <p:cNvGraphicFramePr>
            <a:graphicFrameLocks noGrp="1"/>
          </p:cNvGraphicFramePr>
          <p:nvPr>
            <p:extLst>
              <p:ext uri="{D42A27DB-BD31-4B8C-83A1-F6EECF244321}">
                <p14:modId xmlns:p14="http://schemas.microsoft.com/office/powerpoint/2010/main" val="3688804068"/>
              </p:ext>
            </p:extLst>
          </p:nvPr>
        </p:nvGraphicFramePr>
        <p:xfrm>
          <a:off x="457200" y="5294668"/>
          <a:ext cx="4518833" cy="1097280"/>
        </p:xfrm>
        <a:graphic>
          <a:graphicData uri="http://schemas.openxmlformats.org/drawingml/2006/table">
            <a:tbl>
              <a:tblPr firstRow="1" bandRow="1">
                <a:tableStyleId>{2D5ABB26-0587-4C30-8999-92F81FD0307C}</a:tableStyleId>
              </a:tblPr>
              <a:tblGrid>
                <a:gridCol w="1120140">
                  <a:extLst>
                    <a:ext uri="{9D8B030D-6E8A-4147-A177-3AD203B41FA5}">
                      <a16:colId xmlns:a16="http://schemas.microsoft.com/office/drawing/2014/main" val="476753131"/>
                    </a:ext>
                  </a:extLst>
                </a:gridCol>
                <a:gridCol w="3398693">
                  <a:extLst>
                    <a:ext uri="{9D8B030D-6E8A-4147-A177-3AD203B41FA5}">
                      <a16:colId xmlns:a16="http://schemas.microsoft.com/office/drawing/2014/main" val="2462109655"/>
                    </a:ext>
                  </a:extLst>
                </a:gridCol>
              </a:tblGrid>
              <a:tr h="271857">
                <a:tc>
                  <a:txBody>
                    <a:bodyPr/>
                    <a:lstStyle/>
                    <a:p>
                      <a:r>
                        <a:rPr lang="en-US" b="0" i="0" dirty="0">
                          <a:latin typeface="OSAKA-MONO" panose="020B0600000000000000" pitchFamily="34" charset="-128"/>
                          <a:ea typeface="OSAKA-MONO" panose="020B0600000000000000" pitchFamily="34" charset="-128"/>
                        </a:rPr>
                        <a:t>global()</a:t>
                      </a:r>
                    </a:p>
                  </a:txBody>
                  <a:tcPr marR="0" marT="0" marB="0"/>
                </a:tc>
                <a:tc>
                  <a:txBody>
                    <a:bodyPr/>
                    <a:lstStyle/>
                    <a:p>
                      <a:r>
                        <a:rPr lang="en-US" dirty="0"/>
                        <a:t>Calculate statistics</a:t>
                      </a:r>
                    </a:p>
                  </a:txBody>
                  <a:tcPr marR="0" marT="0" marB="0"/>
                </a:tc>
                <a:extLst>
                  <a:ext uri="{0D108BD9-81ED-4DB2-BD59-A6C34878D82A}">
                    <a16:rowId xmlns:a16="http://schemas.microsoft.com/office/drawing/2014/main" val="4230212728"/>
                  </a:ext>
                </a:extLst>
              </a:tr>
              <a:tr h="271857">
                <a:tc>
                  <a:txBody>
                    <a:bodyPr/>
                    <a:lstStyle/>
                    <a:p>
                      <a:r>
                        <a:rPr lang="en-US" b="0" i="0" dirty="0" err="1">
                          <a:latin typeface="OSAKA-MONO" panose="020B0600000000000000" pitchFamily="34" charset="-128"/>
                          <a:ea typeface="OSAKA-MONO" panose="020B0600000000000000" pitchFamily="34" charset="-128"/>
                        </a:rPr>
                        <a:t>freq</a:t>
                      </a:r>
                      <a:r>
                        <a:rPr lang="en-US" b="0" i="0" dirty="0">
                          <a:latin typeface="OSAKA-MONO" panose="020B0600000000000000" pitchFamily="34" charset="-128"/>
                          <a:ea typeface="OSAKA-MONO" panose="020B0600000000000000" pitchFamily="34" charset="-128"/>
                        </a:rPr>
                        <a:t>()</a:t>
                      </a:r>
                    </a:p>
                  </a:txBody>
                  <a:tcPr marR="0" marT="0" marB="0"/>
                </a:tc>
                <a:tc>
                  <a:txBody>
                    <a:bodyPr/>
                    <a:lstStyle/>
                    <a:p>
                      <a:r>
                        <a:rPr lang="en-US" dirty="0"/>
                        <a:t>Frequency table</a:t>
                      </a:r>
                    </a:p>
                  </a:txBody>
                  <a:tcPr marR="0" marT="0" marB="0"/>
                </a:tc>
                <a:extLst>
                  <a:ext uri="{0D108BD9-81ED-4DB2-BD59-A6C34878D82A}">
                    <a16:rowId xmlns:a16="http://schemas.microsoft.com/office/drawing/2014/main" val="3320564863"/>
                  </a:ext>
                </a:extLst>
              </a:tr>
              <a:tr h="271857">
                <a:tc>
                  <a:txBody>
                    <a:bodyPr/>
                    <a:lstStyle/>
                    <a:p>
                      <a:r>
                        <a:rPr lang="en-US" b="0" i="0" dirty="0">
                          <a:latin typeface="OSAKA-MONO" panose="020B0600000000000000" pitchFamily="34" charset="-128"/>
                          <a:ea typeface="OSAKA-MONO" panose="020B0600000000000000" pitchFamily="34" charset="-128"/>
                        </a:rPr>
                        <a:t>summary()</a:t>
                      </a:r>
                    </a:p>
                  </a:txBody>
                  <a:tcPr marR="0" marT="0" marB="0"/>
                </a:tc>
                <a:tc>
                  <a:txBody>
                    <a:bodyPr/>
                    <a:lstStyle/>
                    <a:p>
                      <a:r>
                        <a:rPr lang="en-US" dirty="0"/>
                        <a:t>Quick overview</a:t>
                      </a:r>
                    </a:p>
                  </a:txBody>
                  <a:tcPr marR="0" marT="0" marB="0"/>
                </a:tc>
                <a:extLst>
                  <a:ext uri="{0D108BD9-81ED-4DB2-BD59-A6C34878D82A}">
                    <a16:rowId xmlns:a16="http://schemas.microsoft.com/office/drawing/2014/main" val="3536313229"/>
                  </a:ext>
                </a:extLst>
              </a:tr>
              <a:tr h="271857">
                <a:tc>
                  <a:txBody>
                    <a:bodyPr/>
                    <a:lstStyle/>
                    <a:p>
                      <a:r>
                        <a:rPr lang="en-US" b="0" i="0" dirty="0">
                          <a:latin typeface="OSAKA-MONO" panose="020B0600000000000000" pitchFamily="34" charset="-128"/>
                          <a:ea typeface="OSAKA-MONO" panose="020B0600000000000000" pitchFamily="34" charset="-128"/>
                        </a:rPr>
                        <a:t>hist()</a:t>
                      </a:r>
                    </a:p>
                  </a:txBody>
                  <a:tcPr marR="0" marT="0" marB="0"/>
                </a:tc>
                <a:tc>
                  <a:txBody>
                    <a:bodyPr/>
                    <a:lstStyle/>
                    <a:p>
                      <a:r>
                        <a:rPr lang="en-US" dirty="0"/>
                        <a:t>Visualization</a:t>
                      </a:r>
                    </a:p>
                  </a:txBody>
                  <a:tcPr marR="0" marT="0" marB="0"/>
                </a:tc>
                <a:extLst>
                  <a:ext uri="{0D108BD9-81ED-4DB2-BD59-A6C34878D82A}">
                    <a16:rowId xmlns:a16="http://schemas.microsoft.com/office/drawing/2014/main" val="1381834215"/>
                  </a:ext>
                </a:extLst>
              </a:tr>
            </a:tbl>
          </a:graphicData>
        </a:graphic>
      </p:graphicFrame>
      <p:sp>
        <p:nvSpPr>
          <p:cNvPr id="11" name="Title 10">
            <a:extLst>
              <a:ext uri="{FF2B5EF4-FFF2-40B4-BE49-F238E27FC236}">
                <a16:creationId xmlns:a16="http://schemas.microsoft.com/office/drawing/2014/main" id="{A724689F-16A6-71D3-4E22-B7893654DB95}"/>
              </a:ext>
            </a:extLst>
          </p:cNvPr>
          <p:cNvSpPr>
            <a:spLocks noGrp="1"/>
          </p:cNvSpPr>
          <p:nvPr>
            <p:ph type="title"/>
          </p:nvPr>
        </p:nvSpPr>
        <p:spPr/>
        <p:txBody>
          <a:bodyPr/>
          <a:lstStyle/>
          <a:p>
            <a:r>
              <a:rPr lang="en-US" dirty="0"/>
              <a:t>Raster Data Operations</a:t>
            </a:r>
          </a:p>
        </p:txBody>
      </p:sp>
      <p:sp>
        <p:nvSpPr>
          <p:cNvPr id="9" name="Slide Number Placeholder 8">
            <a:extLst>
              <a:ext uri="{FF2B5EF4-FFF2-40B4-BE49-F238E27FC236}">
                <a16:creationId xmlns:a16="http://schemas.microsoft.com/office/drawing/2014/main" id="{8AADCAD9-21A1-3E92-7347-EB7450D972E5}"/>
              </a:ext>
            </a:extLst>
          </p:cNvPr>
          <p:cNvSpPr>
            <a:spLocks noGrp="1"/>
          </p:cNvSpPr>
          <p:nvPr>
            <p:ph type="sldNum" sz="quarter" idx="12"/>
          </p:nvPr>
        </p:nvSpPr>
        <p:spPr/>
        <p:txBody>
          <a:bodyPr/>
          <a:lstStyle/>
          <a:p>
            <a:fld id="{C0343C75-1924-D247-85A3-0CB62E67E5D1}" type="slidenum">
              <a:rPr lang="en-US" smtClean="0"/>
              <a:t>33</a:t>
            </a:fld>
            <a:endParaRPr lang="en-US"/>
          </a:p>
        </p:txBody>
      </p:sp>
    </p:spTree>
    <p:extLst>
      <p:ext uri="{BB962C8B-B14F-4D97-AF65-F5344CB8AC3E}">
        <p14:creationId xmlns:p14="http://schemas.microsoft.com/office/powerpoint/2010/main" val="14065634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703F52D-A22F-8F9F-AE55-332F0D8A20CB}"/>
              </a:ext>
            </a:extLst>
          </p:cNvPr>
          <p:cNvSpPr>
            <a:spLocks noGrp="1"/>
          </p:cNvSpPr>
          <p:nvPr>
            <p:ph type="title"/>
          </p:nvPr>
        </p:nvSpPr>
        <p:spPr/>
        <p:txBody>
          <a:bodyPr/>
          <a:lstStyle/>
          <a:p>
            <a:r>
              <a:rPr lang="en-US" dirty="0"/>
              <a:t>Map Algebra</a:t>
            </a:r>
            <a:br>
              <a:rPr lang="en-US" dirty="0"/>
            </a:br>
            <a:r>
              <a:rPr lang="en-US" dirty="0"/>
              <a:t>(More Later in Raster Analysis)</a:t>
            </a:r>
          </a:p>
        </p:txBody>
      </p:sp>
      <p:sp>
        <p:nvSpPr>
          <p:cNvPr id="10" name="Content Placeholder 9">
            <a:extLst>
              <a:ext uri="{FF2B5EF4-FFF2-40B4-BE49-F238E27FC236}">
                <a16:creationId xmlns:a16="http://schemas.microsoft.com/office/drawing/2014/main" id="{6503188D-002D-DE7B-B281-42968377ECA8}"/>
              </a:ext>
            </a:extLst>
          </p:cNvPr>
          <p:cNvSpPr>
            <a:spLocks noGrp="1"/>
          </p:cNvSpPr>
          <p:nvPr>
            <p:ph idx="1"/>
          </p:nvPr>
        </p:nvSpPr>
        <p:spPr/>
        <p:txBody>
          <a:bodyPr/>
          <a:lstStyle/>
          <a:p>
            <a:r>
              <a:rPr lang="en-US" dirty="0"/>
              <a:t>Cell-by-cell combination of raster data layers</a:t>
            </a:r>
          </a:p>
          <a:p>
            <a:r>
              <a:rPr lang="en-US" dirty="0"/>
              <a:t>Each cell has a value</a:t>
            </a:r>
          </a:p>
          <a:p>
            <a:r>
              <a:rPr lang="en-US" dirty="0"/>
              <a:t>Simple operations can be applied to values</a:t>
            </a:r>
          </a:p>
          <a:p>
            <a:pPr lvl="1"/>
            <a:r>
              <a:rPr lang="en-US" dirty="0"/>
              <a:t>Unary operations apply to one layer</a:t>
            </a:r>
          </a:p>
          <a:p>
            <a:pPr lvl="1"/>
            <a:r>
              <a:rPr lang="en-US" dirty="0"/>
              <a:t>Binary operations apply to two data layers</a:t>
            </a:r>
          </a:p>
          <a:p>
            <a:pPr lvl="1"/>
            <a:r>
              <a:rPr lang="en-US" dirty="0"/>
              <a:t>More complex operations apply to many layers</a:t>
            </a:r>
          </a:p>
        </p:txBody>
      </p:sp>
      <p:sp>
        <p:nvSpPr>
          <p:cNvPr id="3" name="Slide Number Placeholder 2">
            <a:extLst>
              <a:ext uri="{FF2B5EF4-FFF2-40B4-BE49-F238E27FC236}">
                <a16:creationId xmlns:a16="http://schemas.microsoft.com/office/drawing/2014/main" id="{0CF37CF1-DF0A-613E-D0AD-B7CF2FB7DFBF}"/>
              </a:ext>
            </a:extLst>
          </p:cNvPr>
          <p:cNvSpPr>
            <a:spLocks noGrp="1"/>
          </p:cNvSpPr>
          <p:nvPr>
            <p:ph type="sldNum" sz="quarter" idx="12"/>
          </p:nvPr>
        </p:nvSpPr>
        <p:spPr/>
        <p:txBody>
          <a:bodyPr/>
          <a:lstStyle/>
          <a:p>
            <a:fld id="{C0343C75-1924-D247-85A3-0CB62E67E5D1}" type="slidenum">
              <a:rPr lang="en-US" smtClean="0"/>
              <a:t>34</a:t>
            </a:fld>
            <a:endParaRPr lang="en-US"/>
          </a:p>
        </p:txBody>
      </p:sp>
      <p:sp>
        <p:nvSpPr>
          <p:cNvPr id="4" name="AutoShape 3">
            <a:extLst>
              <a:ext uri="{FF2B5EF4-FFF2-40B4-BE49-F238E27FC236}">
                <a16:creationId xmlns:a16="http://schemas.microsoft.com/office/drawing/2014/main" id="{73C78D0E-2EFF-05FC-31B6-48337846F265}"/>
              </a:ext>
            </a:extLst>
          </p:cNvPr>
          <p:cNvSpPr>
            <a:spLocks noChangeArrowheads="1"/>
          </p:cNvSpPr>
          <p:nvPr/>
        </p:nvSpPr>
        <p:spPr bwMode="auto">
          <a:xfrm>
            <a:off x="2968574" y="4828069"/>
            <a:ext cx="508000" cy="477837"/>
          </a:xfrm>
          <a:prstGeom prst="rightArrow">
            <a:avLst>
              <a:gd name="adj1" fmla="val 50000"/>
              <a:gd name="adj2" fmla="val 50375"/>
            </a:avLst>
          </a:prstGeom>
          <a:solidFill>
            <a:schemeClr val="accent1"/>
          </a:solidFill>
          <a:ln w="381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560" dirty="0">
              <a:latin typeface="Arial" panose="020B0604020202020204" pitchFamily="34" charset="0"/>
            </a:endParaRPr>
          </a:p>
        </p:txBody>
      </p:sp>
      <p:sp>
        <p:nvSpPr>
          <p:cNvPr id="5" name="AutoShape 5">
            <a:extLst>
              <a:ext uri="{FF2B5EF4-FFF2-40B4-BE49-F238E27FC236}">
                <a16:creationId xmlns:a16="http://schemas.microsoft.com/office/drawing/2014/main" id="{5FC81540-179A-D6D0-6363-150FAA04EDCC}"/>
              </a:ext>
            </a:extLst>
          </p:cNvPr>
          <p:cNvSpPr>
            <a:spLocks noChangeArrowheads="1"/>
          </p:cNvSpPr>
          <p:nvPr/>
        </p:nvSpPr>
        <p:spPr bwMode="auto">
          <a:xfrm>
            <a:off x="5616525" y="4828069"/>
            <a:ext cx="508000" cy="477837"/>
          </a:xfrm>
          <a:prstGeom prst="rightArrow">
            <a:avLst>
              <a:gd name="adj1" fmla="val 50000"/>
              <a:gd name="adj2" fmla="val 50375"/>
            </a:avLst>
          </a:prstGeom>
          <a:solidFill>
            <a:schemeClr val="accent1"/>
          </a:solidFill>
          <a:ln w="381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560" dirty="0">
              <a:latin typeface="Arial" panose="020B0604020202020204" pitchFamily="34" charset="0"/>
            </a:endParaRPr>
          </a:p>
        </p:txBody>
      </p:sp>
      <p:graphicFrame>
        <p:nvGraphicFramePr>
          <p:cNvPr id="6" name="Group 6">
            <a:extLst>
              <a:ext uri="{FF2B5EF4-FFF2-40B4-BE49-F238E27FC236}">
                <a16:creationId xmlns:a16="http://schemas.microsoft.com/office/drawing/2014/main" id="{9A583F52-58E3-B5C8-F913-35C68C0AB1F5}"/>
              </a:ext>
            </a:extLst>
          </p:cNvPr>
          <p:cNvGraphicFramePr>
            <a:graphicFrameLocks noGrp="1"/>
          </p:cNvGraphicFramePr>
          <p:nvPr>
            <p:extLst>
              <p:ext uri="{D42A27DB-BD31-4B8C-83A1-F6EECF244321}">
                <p14:modId xmlns:p14="http://schemas.microsoft.com/office/powerpoint/2010/main" val="2795307562"/>
              </p:ext>
            </p:extLst>
          </p:nvPr>
        </p:nvGraphicFramePr>
        <p:xfrm>
          <a:off x="6370587" y="4088295"/>
          <a:ext cx="2028825" cy="2079625"/>
        </p:xfrm>
        <a:graphic>
          <a:graphicData uri="http://schemas.openxmlformats.org/drawingml/2006/table">
            <a:tbl>
              <a:tblPr/>
              <a:tblGrid>
                <a:gridCol w="317500">
                  <a:extLst>
                    <a:ext uri="{9D8B030D-6E8A-4147-A177-3AD203B41FA5}">
                      <a16:colId xmlns:a16="http://schemas.microsoft.com/office/drawing/2014/main" val="1322409711"/>
                    </a:ext>
                  </a:extLst>
                </a:gridCol>
                <a:gridCol w="342900">
                  <a:extLst>
                    <a:ext uri="{9D8B030D-6E8A-4147-A177-3AD203B41FA5}">
                      <a16:colId xmlns:a16="http://schemas.microsoft.com/office/drawing/2014/main" val="2161882137"/>
                    </a:ext>
                  </a:extLst>
                </a:gridCol>
                <a:gridCol w="341313">
                  <a:extLst>
                    <a:ext uri="{9D8B030D-6E8A-4147-A177-3AD203B41FA5}">
                      <a16:colId xmlns:a16="http://schemas.microsoft.com/office/drawing/2014/main" val="3152919888"/>
                    </a:ext>
                  </a:extLst>
                </a:gridCol>
                <a:gridCol w="342900">
                  <a:extLst>
                    <a:ext uri="{9D8B030D-6E8A-4147-A177-3AD203B41FA5}">
                      <a16:colId xmlns:a16="http://schemas.microsoft.com/office/drawing/2014/main" val="1862778386"/>
                    </a:ext>
                  </a:extLst>
                </a:gridCol>
                <a:gridCol w="341312">
                  <a:extLst>
                    <a:ext uri="{9D8B030D-6E8A-4147-A177-3AD203B41FA5}">
                      <a16:colId xmlns:a16="http://schemas.microsoft.com/office/drawing/2014/main" val="3055494739"/>
                    </a:ext>
                  </a:extLst>
                </a:gridCol>
                <a:gridCol w="342900">
                  <a:extLst>
                    <a:ext uri="{9D8B030D-6E8A-4147-A177-3AD203B41FA5}">
                      <a16:colId xmlns:a16="http://schemas.microsoft.com/office/drawing/2014/main" val="2106736115"/>
                    </a:ext>
                  </a:extLst>
                </a:gridCol>
              </a:tblGrid>
              <a:tr h="3429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tx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extLst>
                  <a:ext uri="{0D108BD9-81ED-4DB2-BD59-A6C34878D82A}">
                    <a16:rowId xmlns:a16="http://schemas.microsoft.com/office/drawing/2014/main" val="650650035"/>
                  </a:ext>
                </a:extLst>
              </a:tr>
              <a:tr h="3429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tx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8000"/>
                    </a:solidFill>
                  </a:tcPr>
                </a:tc>
                <a:extLst>
                  <a:ext uri="{0D108BD9-81ED-4DB2-BD59-A6C34878D82A}">
                    <a16:rowId xmlns:a16="http://schemas.microsoft.com/office/drawing/2014/main" val="3997889332"/>
                  </a:ext>
                </a:extLst>
              </a:tr>
              <a:tr h="3429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tx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8000"/>
                    </a:solidFill>
                  </a:tcPr>
                </a:tc>
                <a:extLst>
                  <a:ext uri="{0D108BD9-81ED-4DB2-BD59-A6C34878D82A}">
                    <a16:rowId xmlns:a16="http://schemas.microsoft.com/office/drawing/2014/main" val="3884706948"/>
                  </a:ext>
                </a:extLst>
              </a:tr>
              <a:tr h="365125">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tx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FF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FF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1610930099"/>
                  </a:ext>
                </a:extLst>
              </a:tr>
              <a:tr h="3429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tx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FF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FF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202880145"/>
                  </a:ext>
                </a:extLst>
              </a:tr>
              <a:tr h="3429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tx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00FF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00FF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417111078"/>
                  </a:ext>
                </a:extLst>
              </a:tr>
            </a:tbl>
          </a:graphicData>
        </a:graphic>
      </p:graphicFrame>
      <p:graphicFrame>
        <p:nvGraphicFramePr>
          <p:cNvPr id="7" name="Group 57">
            <a:extLst>
              <a:ext uri="{FF2B5EF4-FFF2-40B4-BE49-F238E27FC236}">
                <a16:creationId xmlns:a16="http://schemas.microsoft.com/office/drawing/2014/main" id="{9F128E17-1BC4-7CD3-BD9E-022800DE0DC8}"/>
              </a:ext>
            </a:extLst>
          </p:cNvPr>
          <p:cNvGraphicFramePr>
            <a:graphicFrameLocks noGrp="1"/>
          </p:cNvGraphicFramePr>
          <p:nvPr>
            <p:extLst>
              <p:ext uri="{D42A27DB-BD31-4B8C-83A1-F6EECF244321}">
                <p14:modId xmlns:p14="http://schemas.microsoft.com/office/powerpoint/2010/main" val="937077972"/>
              </p:ext>
            </p:extLst>
          </p:nvPr>
        </p:nvGraphicFramePr>
        <p:xfrm>
          <a:off x="717500" y="4027969"/>
          <a:ext cx="2028825" cy="2079625"/>
        </p:xfrm>
        <a:graphic>
          <a:graphicData uri="http://schemas.openxmlformats.org/drawingml/2006/table">
            <a:tbl>
              <a:tblPr/>
              <a:tblGrid>
                <a:gridCol w="317500">
                  <a:extLst>
                    <a:ext uri="{9D8B030D-6E8A-4147-A177-3AD203B41FA5}">
                      <a16:colId xmlns:a16="http://schemas.microsoft.com/office/drawing/2014/main" val="2788028510"/>
                    </a:ext>
                  </a:extLst>
                </a:gridCol>
                <a:gridCol w="342900">
                  <a:extLst>
                    <a:ext uri="{9D8B030D-6E8A-4147-A177-3AD203B41FA5}">
                      <a16:colId xmlns:a16="http://schemas.microsoft.com/office/drawing/2014/main" val="2954516400"/>
                    </a:ext>
                  </a:extLst>
                </a:gridCol>
                <a:gridCol w="341312">
                  <a:extLst>
                    <a:ext uri="{9D8B030D-6E8A-4147-A177-3AD203B41FA5}">
                      <a16:colId xmlns:a16="http://schemas.microsoft.com/office/drawing/2014/main" val="62345426"/>
                    </a:ext>
                  </a:extLst>
                </a:gridCol>
                <a:gridCol w="342900">
                  <a:extLst>
                    <a:ext uri="{9D8B030D-6E8A-4147-A177-3AD203B41FA5}">
                      <a16:colId xmlns:a16="http://schemas.microsoft.com/office/drawing/2014/main" val="865129576"/>
                    </a:ext>
                  </a:extLst>
                </a:gridCol>
                <a:gridCol w="341313">
                  <a:extLst>
                    <a:ext uri="{9D8B030D-6E8A-4147-A177-3AD203B41FA5}">
                      <a16:colId xmlns:a16="http://schemas.microsoft.com/office/drawing/2014/main" val="670017151"/>
                    </a:ext>
                  </a:extLst>
                </a:gridCol>
                <a:gridCol w="342900">
                  <a:extLst>
                    <a:ext uri="{9D8B030D-6E8A-4147-A177-3AD203B41FA5}">
                      <a16:colId xmlns:a16="http://schemas.microsoft.com/office/drawing/2014/main" val="3375024444"/>
                    </a:ext>
                  </a:extLst>
                </a:gridCol>
              </a:tblGrid>
              <a:tr h="3429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tx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2560642769"/>
                  </a:ext>
                </a:extLst>
              </a:tr>
              <a:tr h="3429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tx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66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66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6600FF"/>
                    </a:solidFill>
                  </a:tcPr>
                </a:tc>
                <a:extLst>
                  <a:ext uri="{0D108BD9-81ED-4DB2-BD59-A6C34878D82A}">
                    <a16:rowId xmlns:a16="http://schemas.microsoft.com/office/drawing/2014/main" val="3870682556"/>
                  </a:ext>
                </a:extLst>
              </a:tr>
              <a:tr h="3429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tx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66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66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66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6600FF"/>
                    </a:solidFill>
                  </a:tcPr>
                </a:tc>
                <a:extLst>
                  <a:ext uri="{0D108BD9-81ED-4DB2-BD59-A6C34878D82A}">
                    <a16:rowId xmlns:a16="http://schemas.microsoft.com/office/drawing/2014/main" val="2475702069"/>
                  </a:ext>
                </a:extLst>
              </a:tr>
              <a:tr h="365125">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tx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66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66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1</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1</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1</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2474764523"/>
                  </a:ext>
                </a:extLst>
              </a:tr>
              <a:tr h="3429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tx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66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66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1</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1</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1</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647344069"/>
                  </a:ext>
                </a:extLst>
              </a:tr>
              <a:tr h="3429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tx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66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66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1</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00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1</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00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1</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642428809"/>
                  </a:ext>
                </a:extLst>
              </a:tr>
            </a:tbl>
          </a:graphicData>
        </a:graphic>
      </p:graphicFrame>
      <p:sp>
        <p:nvSpPr>
          <p:cNvPr id="8" name="Text Box 4">
            <a:extLst>
              <a:ext uri="{FF2B5EF4-FFF2-40B4-BE49-F238E27FC236}">
                <a16:creationId xmlns:a16="http://schemas.microsoft.com/office/drawing/2014/main" id="{3F745139-81A0-FF04-D216-E35CAB0A947C}"/>
              </a:ext>
            </a:extLst>
          </p:cNvPr>
          <p:cNvSpPr txBox="1">
            <a:spLocks noChangeArrowheads="1"/>
          </p:cNvSpPr>
          <p:nvPr/>
        </p:nvSpPr>
        <p:spPr bwMode="auto">
          <a:xfrm>
            <a:off x="3730574" y="4809019"/>
            <a:ext cx="16700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800" b="1" i="1" dirty="0"/>
              <a:t>x </a:t>
            </a:r>
            <a:r>
              <a:rPr lang="en-US" altLang="en-US" sz="2400" b="1" dirty="0">
                <a:sym typeface="Wingdings" panose="05000000000000000000" pitchFamily="2" charset="2"/>
              </a:rPr>
              <a:t></a:t>
            </a:r>
            <a:r>
              <a:rPr lang="en-US" altLang="en-US" sz="2800" b="1" i="1" dirty="0"/>
              <a:t> 3x</a:t>
            </a:r>
            <a:endParaRPr lang="en-US" altLang="en-US" sz="2400" b="1" dirty="0">
              <a:solidFill>
                <a:srgbClr val="FF0000"/>
              </a:solidFill>
            </a:endParaRPr>
          </a:p>
        </p:txBody>
      </p:sp>
    </p:spTree>
    <p:extLst>
      <p:ext uri="{BB962C8B-B14F-4D97-AF65-F5344CB8AC3E}">
        <p14:creationId xmlns:p14="http://schemas.microsoft.com/office/powerpoint/2010/main" val="4261451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E41D8-6F0A-0AE0-FE7E-8E85BD70ABD8}"/>
              </a:ext>
            </a:extLst>
          </p:cNvPr>
          <p:cNvSpPr>
            <a:spLocks noGrp="1"/>
          </p:cNvSpPr>
          <p:nvPr>
            <p:ph type="title"/>
          </p:nvPr>
        </p:nvSpPr>
        <p:spPr/>
        <p:txBody>
          <a:bodyPr/>
          <a:lstStyle/>
          <a:p>
            <a:r>
              <a:rPr lang="en-US" dirty="0"/>
              <a:t>Pre-Processing Workflows</a:t>
            </a:r>
          </a:p>
        </p:txBody>
      </p:sp>
      <p:sp>
        <p:nvSpPr>
          <p:cNvPr id="3" name="Content Placeholder 2">
            <a:extLst>
              <a:ext uri="{FF2B5EF4-FFF2-40B4-BE49-F238E27FC236}">
                <a16:creationId xmlns:a16="http://schemas.microsoft.com/office/drawing/2014/main" id="{EB3BE44D-AFCB-2C2E-ADBE-D06264ECB490}"/>
              </a:ext>
            </a:extLst>
          </p:cNvPr>
          <p:cNvSpPr>
            <a:spLocks noGrp="1"/>
          </p:cNvSpPr>
          <p:nvPr>
            <p:ph idx="1"/>
          </p:nvPr>
        </p:nvSpPr>
        <p:spPr/>
        <p:txBody>
          <a:bodyPr/>
          <a:lstStyle/>
          <a:p>
            <a:pPr marL="0" indent="0">
              <a:buNone/>
            </a:pPr>
            <a:r>
              <a:rPr lang="en-US" b="1" dirty="0"/>
              <a:t>Establishing a reproducible workflow</a:t>
            </a:r>
          </a:p>
          <a:p>
            <a:r>
              <a:rPr lang="en-US" dirty="0"/>
              <a:t>Scripted workflows vs ad-hoc steps</a:t>
            </a:r>
          </a:p>
          <a:p>
            <a:r>
              <a:rPr lang="en-US" dirty="0"/>
              <a:t>Importance of documentation and version control</a:t>
            </a:r>
          </a:p>
          <a:p>
            <a:endParaRPr lang="en-US" dirty="0"/>
          </a:p>
          <a:p>
            <a:pPr marL="0" indent="0">
              <a:buNone/>
            </a:pPr>
            <a:r>
              <a:rPr lang="en-US" b="1" dirty="0"/>
              <a:t>Typical pre-processing steps</a:t>
            </a:r>
          </a:p>
          <a:p>
            <a:r>
              <a:rPr lang="en-US" dirty="0"/>
              <a:t>Data import and initial inspection</a:t>
            </a:r>
          </a:p>
          <a:p>
            <a:r>
              <a:rPr lang="en-US" dirty="0"/>
              <a:t>Attribute cleaning (e.g., selecting relevant fields, renaming)</a:t>
            </a:r>
          </a:p>
          <a:p>
            <a:r>
              <a:rPr lang="en-US" dirty="0"/>
              <a:t>Coordinate system standardization</a:t>
            </a:r>
          </a:p>
          <a:p>
            <a:r>
              <a:rPr lang="en-US" dirty="0"/>
              <a:t>Handling missing or inconsistent values</a:t>
            </a:r>
          </a:p>
        </p:txBody>
      </p:sp>
      <p:sp>
        <p:nvSpPr>
          <p:cNvPr id="4" name="Slide Number Placeholder 3">
            <a:extLst>
              <a:ext uri="{FF2B5EF4-FFF2-40B4-BE49-F238E27FC236}">
                <a16:creationId xmlns:a16="http://schemas.microsoft.com/office/drawing/2014/main" id="{45A4F953-E654-D7BE-470D-EF8363402647}"/>
              </a:ext>
            </a:extLst>
          </p:cNvPr>
          <p:cNvSpPr>
            <a:spLocks noGrp="1"/>
          </p:cNvSpPr>
          <p:nvPr>
            <p:ph type="sldNum" sz="quarter" idx="12"/>
          </p:nvPr>
        </p:nvSpPr>
        <p:spPr/>
        <p:txBody>
          <a:bodyPr/>
          <a:lstStyle/>
          <a:p>
            <a:fld id="{C0343C75-1924-D247-85A3-0CB62E67E5D1}" type="slidenum">
              <a:rPr lang="en-US" smtClean="0"/>
              <a:t>35</a:t>
            </a:fld>
            <a:endParaRPr lang="en-US"/>
          </a:p>
        </p:txBody>
      </p:sp>
    </p:spTree>
    <p:extLst>
      <p:ext uri="{BB962C8B-B14F-4D97-AF65-F5344CB8AC3E}">
        <p14:creationId xmlns:p14="http://schemas.microsoft.com/office/powerpoint/2010/main" val="5262787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9CC6A88A-CC78-79CD-AF6D-EC57E27C7BCC}"/>
              </a:ext>
            </a:extLst>
          </p:cNvPr>
          <p:cNvSpPr txBox="1">
            <a:spLocks/>
          </p:cNvSpPr>
          <p:nvPr/>
        </p:nvSpPr>
        <p:spPr>
          <a:xfrm>
            <a:off x="457200" y="1945327"/>
            <a:ext cx="8229600" cy="3286703"/>
          </a:xfrm>
          <a:prstGeom prst="rect">
            <a:avLst/>
          </a:prstGeom>
        </p:spPr>
        <p:txBody>
          <a:bodyPr numCol="2"/>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AutoNum type="arabicPeriod"/>
            </a:pPr>
            <a:r>
              <a:rPr lang="en-US" sz="2000" b="1" dirty="0"/>
              <a:t>Extract</a:t>
            </a:r>
          </a:p>
          <a:p>
            <a:pPr lvl="1"/>
            <a:r>
              <a:rPr lang="en-US" dirty="0"/>
              <a:t>Read spatial data </a:t>
            </a:r>
            <a:r>
              <a:rPr lang="en-US" sz="1800" dirty="0"/>
              <a:t>(</a:t>
            </a:r>
            <a:r>
              <a:rPr lang="en-US" sz="1800" dirty="0">
                <a:latin typeface="OSAKA-MONO" panose="020B0600000000000000" pitchFamily="34" charset="-128"/>
                <a:ea typeface="OSAKA-MONO" panose="020B0600000000000000" pitchFamily="34" charset="-128"/>
              </a:rPr>
              <a:t>sf</a:t>
            </a:r>
            <a:r>
              <a:rPr lang="en-US" sz="1800" dirty="0"/>
              <a:t>, </a:t>
            </a:r>
            <a:r>
              <a:rPr lang="en-US" sz="1800" dirty="0">
                <a:latin typeface="OSAKA-MONO" panose="020B0600000000000000" pitchFamily="34" charset="-128"/>
                <a:ea typeface="OSAKA-MONO" panose="020B0600000000000000" pitchFamily="34" charset="-128"/>
              </a:rPr>
              <a:t>terra</a:t>
            </a:r>
            <a:r>
              <a:rPr lang="en-US" sz="1800" dirty="0"/>
              <a:t>)</a:t>
            </a:r>
            <a:endParaRPr lang="en-US" dirty="0"/>
          </a:p>
          <a:p>
            <a:pPr lvl="1"/>
            <a:r>
              <a:rPr lang="en-US" dirty="0"/>
              <a:t>Import attributes </a:t>
            </a:r>
            <a:r>
              <a:rPr lang="en-US" sz="1800" dirty="0"/>
              <a:t>(from CSV/DB)</a:t>
            </a:r>
            <a:endParaRPr lang="en-US" dirty="0"/>
          </a:p>
          <a:p>
            <a:pPr lvl="1"/>
            <a:r>
              <a:rPr lang="en-US" dirty="0"/>
              <a:t>Web APIs &amp; services</a:t>
            </a:r>
          </a:p>
          <a:p>
            <a:pPr marL="457200" indent="-457200">
              <a:buFont typeface="Arial" panose="020B0604020202020204" pitchFamily="34" charset="0"/>
              <a:buAutoNum type="arabicPeriod"/>
            </a:pPr>
            <a:r>
              <a:rPr lang="en-US" sz="2000" b="1" dirty="0"/>
              <a:t>Transform</a:t>
            </a:r>
          </a:p>
          <a:p>
            <a:pPr lvl="1"/>
            <a:r>
              <a:rPr lang="en-US" dirty="0"/>
              <a:t>Filter &amp; subset</a:t>
            </a:r>
          </a:p>
          <a:p>
            <a:pPr lvl="1"/>
            <a:r>
              <a:rPr lang="en-US" dirty="0"/>
              <a:t>Aggregate &amp; summarize</a:t>
            </a:r>
          </a:p>
          <a:p>
            <a:pPr lvl="1"/>
            <a:r>
              <a:rPr lang="en-US" dirty="0"/>
              <a:t>Join &amp; merge</a:t>
            </a:r>
          </a:p>
          <a:p>
            <a:pPr lvl="1"/>
            <a:r>
              <a:rPr lang="en-US" dirty="0"/>
              <a:t>Create new attributes</a:t>
            </a:r>
          </a:p>
          <a:p>
            <a:pPr marL="457200" indent="-457200">
              <a:buFont typeface="Arial" panose="020B0604020202020204" pitchFamily="34" charset="0"/>
              <a:buAutoNum type="arabicPeriod"/>
            </a:pPr>
            <a:r>
              <a:rPr lang="en-US" sz="2000" b="1" dirty="0"/>
              <a:t>Load</a:t>
            </a:r>
          </a:p>
          <a:p>
            <a:pPr lvl="1"/>
            <a:r>
              <a:rPr lang="en-US" dirty="0"/>
              <a:t>Write to file formats</a:t>
            </a:r>
          </a:p>
          <a:p>
            <a:pPr lvl="1"/>
            <a:r>
              <a:rPr lang="en-US" dirty="0"/>
              <a:t>Export to database</a:t>
            </a:r>
          </a:p>
          <a:p>
            <a:pPr lvl="1"/>
            <a:r>
              <a:rPr lang="en-US" dirty="0"/>
              <a:t>Publish to web services</a:t>
            </a:r>
          </a:p>
        </p:txBody>
      </p:sp>
      <p:sp>
        <p:nvSpPr>
          <p:cNvPr id="2" name="Title 1">
            <a:extLst>
              <a:ext uri="{FF2B5EF4-FFF2-40B4-BE49-F238E27FC236}">
                <a16:creationId xmlns:a16="http://schemas.microsoft.com/office/drawing/2014/main" id="{74E6BC3D-9340-99F8-9A1D-9496F8ADC799}"/>
              </a:ext>
            </a:extLst>
          </p:cNvPr>
          <p:cNvSpPr>
            <a:spLocks noGrp="1"/>
          </p:cNvSpPr>
          <p:nvPr>
            <p:ph type="title"/>
          </p:nvPr>
        </p:nvSpPr>
        <p:spPr/>
        <p:txBody>
          <a:bodyPr/>
          <a:lstStyle/>
          <a:p>
            <a:r>
              <a:rPr lang="en-US" dirty="0"/>
              <a:t>Spatial ETL Workflow</a:t>
            </a:r>
          </a:p>
        </p:txBody>
      </p:sp>
      <p:sp>
        <p:nvSpPr>
          <p:cNvPr id="3" name="TextBox 2">
            <a:extLst>
              <a:ext uri="{FF2B5EF4-FFF2-40B4-BE49-F238E27FC236}">
                <a16:creationId xmlns:a16="http://schemas.microsoft.com/office/drawing/2014/main" id="{3F629633-FDAA-8209-4CFD-13E238077DC4}"/>
              </a:ext>
            </a:extLst>
          </p:cNvPr>
          <p:cNvSpPr txBox="1"/>
          <p:nvPr/>
        </p:nvSpPr>
        <p:spPr>
          <a:xfrm>
            <a:off x="457200" y="1416439"/>
            <a:ext cx="8229600" cy="369332"/>
          </a:xfrm>
          <a:prstGeom prst="rect">
            <a:avLst/>
          </a:prstGeom>
          <a:noFill/>
        </p:spPr>
        <p:txBody>
          <a:bodyPr wrap="square" rtlCol="0">
            <a:spAutoFit/>
          </a:bodyPr>
          <a:lstStyle/>
          <a:p>
            <a:r>
              <a:rPr lang="en-US" i="1" dirty="0">
                <a:ea typeface="OSAKA-MONO" panose="020B0600000000000000" pitchFamily="34" charset="-128"/>
                <a:cs typeface="Menlo" panose="020B0609030804020204" pitchFamily="49" charset="0"/>
              </a:rPr>
              <a:t>Extract → Transform → Load pipeline for spatial data</a:t>
            </a:r>
          </a:p>
        </p:txBody>
      </p:sp>
      <p:sp>
        <p:nvSpPr>
          <p:cNvPr id="4" name="TextBox 3">
            <a:extLst>
              <a:ext uri="{FF2B5EF4-FFF2-40B4-BE49-F238E27FC236}">
                <a16:creationId xmlns:a16="http://schemas.microsoft.com/office/drawing/2014/main" id="{B35861FD-4E5F-840C-59AE-7F59210EC22E}"/>
              </a:ext>
            </a:extLst>
          </p:cNvPr>
          <p:cNvSpPr txBox="1"/>
          <p:nvPr/>
        </p:nvSpPr>
        <p:spPr>
          <a:xfrm>
            <a:off x="457203" y="5391586"/>
            <a:ext cx="8229597" cy="923330"/>
          </a:xfrm>
          <a:prstGeom prst="rect">
            <a:avLst/>
          </a:prstGeom>
          <a:noFill/>
        </p:spPr>
        <p:txBody>
          <a:bodyPr wrap="square" rtlCol="0">
            <a:spAutoFit/>
          </a:bodyPr>
          <a:lstStyle/>
          <a:p>
            <a:r>
              <a:rPr lang="en-US" b="1" dirty="0">
                <a:ea typeface="OSAKA-MONO" panose="020B0600000000000000" pitchFamily="34" charset="-128"/>
                <a:cs typeface="Menlo" panose="020B0609030804020204" pitchFamily="49" charset="0"/>
              </a:rPr>
              <a:t>Best Practices</a:t>
            </a:r>
            <a:br>
              <a:rPr lang="en-US" dirty="0">
                <a:ea typeface="OSAKA-MONO" panose="020B0600000000000000" pitchFamily="34" charset="-128"/>
                <a:cs typeface="Menlo" panose="020B0609030804020204" pitchFamily="49" charset="0"/>
              </a:rPr>
            </a:br>
            <a:r>
              <a:rPr lang="en-US" dirty="0">
                <a:ea typeface="OSAKA-MONO" panose="020B0600000000000000" pitchFamily="34" charset="-128"/>
                <a:cs typeface="Menlo" panose="020B0609030804020204" pitchFamily="49" charset="0"/>
              </a:rPr>
              <a:t>• Use pipes for readable workflows   • Preserve geometries with sf operations</a:t>
            </a:r>
            <a:br>
              <a:rPr lang="en-US" dirty="0">
                <a:ea typeface="OSAKA-MONO" panose="020B0600000000000000" pitchFamily="34" charset="-128"/>
                <a:cs typeface="Menlo" panose="020B0609030804020204" pitchFamily="49" charset="0"/>
              </a:rPr>
            </a:br>
            <a:r>
              <a:rPr lang="en-US" dirty="0">
                <a:ea typeface="OSAKA-MONO" panose="020B0600000000000000" pitchFamily="34" charset="-128"/>
                <a:cs typeface="Menlo" panose="020B0609030804020204" pitchFamily="49" charset="0"/>
              </a:rPr>
              <a:t>• Drop geometry when speed matters   • Document transformations</a:t>
            </a:r>
          </a:p>
        </p:txBody>
      </p:sp>
      <p:sp>
        <p:nvSpPr>
          <p:cNvPr id="6" name="Slide Number Placeholder 5">
            <a:extLst>
              <a:ext uri="{FF2B5EF4-FFF2-40B4-BE49-F238E27FC236}">
                <a16:creationId xmlns:a16="http://schemas.microsoft.com/office/drawing/2014/main" id="{FFB93BAA-288C-0A6C-3469-64973D24B80F}"/>
              </a:ext>
            </a:extLst>
          </p:cNvPr>
          <p:cNvSpPr>
            <a:spLocks noGrp="1"/>
          </p:cNvSpPr>
          <p:nvPr>
            <p:ph type="sldNum" sz="quarter" idx="12"/>
          </p:nvPr>
        </p:nvSpPr>
        <p:spPr/>
        <p:txBody>
          <a:bodyPr/>
          <a:lstStyle/>
          <a:p>
            <a:fld id="{C0343C75-1924-D247-85A3-0CB62E67E5D1}" type="slidenum">
              <a:rPr lang="en-US" smtClean="0"/>
              <a:t>36</a:t>
            </a:fld>
            <a:endParaRPr lang="en-US"/>
          </a:p>
        </p:txBody>
      </p:sp>
    </p:spTree>
    <p:extLst>
      <p:ext uri="{BB962C8B-B14F-4D97-AF65-F5344CB8AC3E}">
        <p14:creationId xmlns:p14="http://schemas.microsoft.com/office/powerpoint/2010/main" val="31837499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85BCC-701A-878B-B060-A6EA57AB2B2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C0909A8-9D93-9DA1-DBCC-592F68584399}"/>
              </a:ext>
            </a:extLst>
          </p:cNvPr>
          <p:cNvSpPr txBox="1"/>
          <p:nvPr/>
        </p:nvSpPr>
        <p:spPr>
          <a:xfrm>
            <a:off x="457200" y="1724461"/>
            <a:ext cx="8229600" cy="3970318"/>
          </a:xfrm>
          <a:prstGeom prst="rect">
            <a:avLst/>
          </a:prstGeom>
          <a:noFill/>
        </p:spPr>
        <p:txBody>
          <a:bodyPr wrap="square" rtlCol="0">
            <a:spAutoFit/>
          </a:bodyPr>
          <a:lstStyle/>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1. Load data</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library(sf)</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library(</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dplyr</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library(</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spData</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2. Join spatial + attribute data</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world_coffee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left_join</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coffee_data</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by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name_long</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3. Filter &amp; aggregate</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top_producers</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world_coffee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|&gt;</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filter(!</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is.na</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(coffee_production_2017)) |&gt;</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select(</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name_long</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coffee_production_2017) |&gt;</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arrange(desc(coffee_production_2017)) |&gt;</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slice(1:10)</a:t>
            </a:r>
          </a:p>
          <a:p>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4. Visualize</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plot(</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world_coffee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['coffee_production_2017'])</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sp>
        <p:nvSpPr>
          <p:cNvPr id="11" name="Title 10">
            <a:extLst>
              <a:ext uri="{FF2B5EF4-FFF2-40B4-BE49-F238E27FC236}">
                <a16:creationId xmlns:a16="http://schemas.microsoft.com/office/drawing/2014/main" id="{391737BF-2BA1-6318-01A8-E7DAA0093BB5}"/>
              </a:ext>
            </a:extLst>
          </p:cNvPr>
          <p:cNvSpPr>
            <a:spLocks noGrp="1"/>
          </p:cNvSpPr>
          <p:nvPr>
            <p:ph type="title"/>
          </p:nvPr>
        </p:nvSpPr>
        <p:spPr/>
        <p:txBody>
          <a:bodyPr/>
          <a:lstStyle/>
          <a:p>
            <a:r>
              <a:rPr lang="en-US" dirty="0"/>
              <a:t>Practical Example: Coffee Production</a:t>
            </a:r>
          </a:p>
        </p:txBody>
      </p:sp>
      <p:sp>
        <p:nvSpPr>
          <p:cNvPr id="4" name="TextBox 3">
            <a:extLst>
              <a:ext uri="{FF2B5EF4-FFF2-40B4-BE49-F238E27FC236}">
                <a16:creationId xmlns:a16="http://schemas.microsoft.com/office/drawing/2014/main" id="{8A1AD824-CEF2-0F30-16D6-496CF3FEF1C3}"/>
              </a:ext>
            </a:extLst>
          </p:cNvPr>
          <p:cNvSpPr txBox="1"/>
          <p:nvPr/>
        </p:nvSpPr>
        <p:spPr>
          <a:xfrm>
            <a:off x="457200" y="1416684"/>
            <a:ext cx="8229600" cy="307777"/>
          </a:xfrm>
          <a:prstGeom prst="rect">
            <a:avLst/>
          </a:prstGeom>
          <a:noFill/>
        </p:spPr>
        <p:txBody>
          <a:bodyPr wrap="square" rtlCol="0">
            <a:spAutoFit/>
          </a:bodyPr>
          <a:lstStyle/>
          <a:p>
            <a:r>
              <a:rPr lang="en-US" sz="1400" i="1" dirty="0">
                <a:ea typeface="OSAKA-MONO" panose="020B0600000000000000" pitchFamily="34" charset="-128"/>
                <a:cs typeface="Menlo" panose="020B0609030804020204" pitchFamily="49" charset="0"/>
              </a:rPr>
              <a:t>Complete workflow from data join to visualization</a:t>
            </a:r>
          </a:p>
        </p:txBody>
      </p:sp>
      <p:sp>
        <p:nvSpPr>
          <p:cNvPr id="5" name="TextBox 4">
            <a:extLst>
              <a:ext uri="{FF2B5EF4-FFF2-40B4-BE49-F238E27FC236}">
                <a16:creationId xmlns:a16="http://schemas.microsoft.com/office/drawing/2014/main" id="{95483D66-BD4A-6050-2186-B58AAD8662C8}"/>
              </a:ext>
            </a:extLst>
          </p:cNvPr>
          <p:cNvSpPr txBox="1"/>
          <p:nvPr/>
        </p:nvSpPr>
        <p:spPr>
          <a:xfrm>
            <a:off x="457200" y="5740946"/>
            <a:ext cx="8229600" cy="523220"/>
          </a:xfrm>
          <a:prstGeom prst="rect">
            <a:avLst/>
          </a:prstGeom>
          <a:noFill/>
        </p:spPr>
        <p:txBody>
          <a:bodyPr wrap="square" rtlCol="0">
            <a:spAutoFit/>
          </a:bodyPr>
          <a:lstStyle/>
          <a:p>
            <a:r>
              <a:rPr lang="en-US" sz="1400" dirty="0">
                <a:ea typeface="OSAKA-MONO" panose="020B0600000000000000" pitchFamily="34" charset="-128"/>
                <a:cs typeface="Menlo" panose="020B0609030804020204" pitchFamily="49" charset="0"/>
              </a:rPr>
              <a:t>Geometry column preserved throughout!</a:t>
            </a:r>
          </a:p>
          <a:p>
            <a:r>
              <a:rPr lang="en-US" sz="1400" dirty="0">
                <a:latin typeface="OSAKA-MONO" panose="020B0600000000000000" pitchFamily="34" charset="-128"/>
                <a:ea typeface="OSAKA-MONO" panose="020B0600000000000000" pitchFamily="34" charset="-128"/>
                <a:cs typeface="Menlo" panose="020B0609030804020204" pitchFamily="49" charset="0"/>
              </a:rPr>
              <a:t>sf</a:t>
            </a:r>
            <a:r>
              <a:rPr lang="en-US" sz="1400" dirty="0">
                <a:ea typeface="OSAKA-MONO" panose="020B0600000000000000" pitchFamily="34" charset="-128"/>
                <a:cs typeface="Menlo" panose="020B0609030804020204" pitchFamily="49" charset="0"/>
              </a:rPr>
              <a:t> objects behave like </a:t>
            </a:r>
            <a:r>
              <a:rPr lang="en-US" sz="1400" b="1" dirty="0" err="1">
                <a:solidFill>
                  <a:srgbClr val="FF0000"/>
                </a:solidFill>
                <a:latin typeface="OSAKA-MONO" panose="020B0600000000000000" pitchFamily="34" charset="-128"/>
                <a:ea typeface="OSAKA-MONO" panose="020B0600000000000000" pitchFamily="34" charset="-128"/>
                <a:cs typeface="Menlo" panose="020B0609030804020204" pitchFamily="49" charset="0"/>
              </a:rPr>
              <a:t>data.frames</a:t>
            </a:r>
            <a:endParaRPr lang="en-US" sz="1400" b="1" dirty="0">
              <a:solidFill>
                <a:srgbClr val="FF0000"/>
              </a:solidFill>
              <a:latin typeface="OSAKA-MONO" panose="020B0600000000000000" pitchFamily="34" charset="-128"/>
              <a:ea typeface="OSAKA-MONO" panose="020B0600000000000000" pitchFamily="34" charset="-128"/>
              <a:cs typeface="Menlo" panose="020B0609030804020204" pitchFamily="49" charset="0"/>
            </a:endParaRPr>
          </a:p>
        </p:txBody>
      </p:sp>
      <p:sp>
        <p:nvSpPr>
          <p:cNvPr id="9" name="Slide Number Placeholder 8">
            <a:extLst>
              <a:ext uri="{FF2B5EF4-FFF2-40B4-BE49-F238E27FC236}">
                <a16:creationId xmlns:a16="http://schemas.microsoft.com/office/drawing/2014/main" id="{3F6704C6-63CD-39B8-0560-431BCA5E269D}"/>
              </a:ext>
            </a:extLst>
          </p:cNvPr>
          <p:cNvSpPr>
            <a:spLocks noGrp="1"/>
          </p:cNvSpPr>
          <p:nvPr>
            <p:ph type="sldNum" sz="quarter" idx="12"/>
          </p:nvPr>
        </p:nvSpPr>
        <p:spPr/>
        <p:txBody>
          <a:bodyPr/>
          <a:lstStyle/>
          <a:p>
            <a:fld id="{C0343C75-1924-D247-85A3-0CB62E67E5D1}" type="slidenum">
              <a:rPr lang="en-US" smtClean="0"/>
              <a:t>37</a:t>
            </a:fld>
            <a:endParaRPr lang="en-US"/>
          </a:p>
        </p:txBody>
      </p:sp>
    </p:spTree>
    <p:extLst>
      <p:ext uri="{BB962C8B-B14F-4D97-AF65-F5344CB8AC3E}">
        <p14:creationId xmlns:p14="http://schemas.microsoft.com/office/powerpoint/2010/main" val="12141407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56FA6-4DFC-8775-1C95-80AC9BD1516A}"/>
              </a:ext>
            </a:extLst>
          </p:cNvPr>
          <p:cNvSpPr>
            <a:spLocks noGrp="1"/>
          </p:cNvSpPr>
          <p:nvPr>
            <p:ph type="title"/>
          </p:nvPr>
        </p:nvSpPr>
        <p:spPr/>
        <p:txBody>
          <a:bodyPr/>
          <a:lstStyle/>
          <a:p>
            <a:r>
              <a:rPr lang="en-US" dirty="0"/>
              <a:t>Best Practices</a:t>
            </a:r>
          </a:p>
        </p:txBody>
      </p:sp>
      <p:sp>
        <p:nvSpPr>
          <p:cNvPr id="3" name="Content Placeholder 2">
            <a:extLst>
              <a:ext uri="{FF2B5EF4-FFF2-40B4-BE49-F238E27FC236}">
                <a16:creationId xmlns:a16="http://schemas.microsoft.com/office/drawing/2014/main" id="{BEEA92ED-F0BE-16C4-6F02-421030AAB4FB}"/>
              </a:ext>
            </a:extLst>
          </p:cNvPr>
          <p:cNvSpPr>
            <a:spLocks noGrp="1"/>
          </p:cNvSpPr>
          <p:nvPr>
            <p:ph idx="1"/>
          </p:nvPr>
        </p:nvSpPr>
        <p:spPr/>
        <p:txBody>
          <a:bodyPr>
            <a:normAutofit/>
          </a:bodyPr>
          <a:lstStyle/>
          <a:p>
            <a:pPr marL="0" indent="0">
              <a:buNone/>
            </a:pPr>
            <a:r>
              <a:rPr lang="en-US" b="1" dirty="0"/>
              <a:t>Efficiency considerations</a:t>
            </a:r>
          </a:p>
          <a:p>
            <a:r>
              <a:rPr lang="en-US" dirty="0"/>
              <a:t>When to drop geometry for speed</a:t>
            </a:r>
          </a:p>
          <a:p>
            <a:r>
              <a:rPr lang="en-US" dirty="0" err="1">
                <a:latin typeface="OSAKA-MONO" panose="020B0600000000000000" pitchFamily="34" charset="-128"/>
                <a:ea typeface="OSAKA-MONO" panose="020B0600000000000000" pitchFamily="34" charset="-128"/>
              </a:rPr>
              <a:t>tidyverse</a:t>
            </a:r>
            <a:r>
              <a:rPr lang="en-US" dirty="0"/>
              <a:t> vs base R performance tradeoffs</a:t>
            </a:r>
          </a:p>
          <a:p>
            <a:pPr marL="0" indent="0">
              <a:buNone/>
            </a:pPr>
            <a:endParaRPr lang="en-US" dirty="0"/>
          </a:p>
          <a:p>
            <a:pPr marL="0" indent="0">
              <a:buNone/>
            </a:pPr>
            <a:r>
              <a:rPr lang="en-US" b="1" dirty="0"/>
              <a:t>Data integrity and accuracy</a:t>
            </a:r>
          </a:p>
          <a:p>
            <a:r>
              <a:rPr lang="en-US" dirty="0"/>
              <a:t>Validate joins and aggregations</a:t>
            </a:r>
          </a:p>
          <a:p>
            <a:r>
              <a:rPr lang="en-US" dirty="0"/>
              <a:t>Check spatial and attribute consistency</a:t>
            </a:r>
          </a:p>
          <a:p>
            <a:pPr marL="0" indent="0">
              <a:buNone/>
            </a:pPr>
            <a:endParaRPr lang="en-US" dirty="0"/>
          </a:p>
          <a:p>
            <a:pPr marL="0" indent="0">
              <a:buNone/>
            </a:pPr>
            <a:r>
              <a:rPr lang="en-US" b="1" dirty="0"/>
              <a:t>Reproducibility standards</a:t>
            </a:r>
          </a:p>
          <a:p>
            <a:r>
              <a:rPr lang="en-US" dirty="0"/>
              <a:t>Use of R Markdown, notebooks, and code containers</a:t>
            </a:r>
            <a:r>
              <a:rPr lang="en-US" baseline="30000" dirty="0"/>
              <a:t>(Docker)</a:t>
            </a:r>
          </a:p>
        </p:txBody>
      </p:sp>
      <p:sp>
        <p:nvSpPr>
          <p:cNvPr id="4" name="Slide Number Placeholder 3">
            <a:extLst>
              <a:ext uri="{FF2B5EF4-FFF2-40B4-BE49-F238E27FC236}">
                <a16:creationId xmlns:a16="http://schemas.microsoft.com/office/drawing/2014/main" id="{9EB55E97-9234-256A-7DDB-B4A88BDFE596}"/>
              </a:ext>
            </a:extLst>
          </p:cNvPr>
          <p:cNvSpPr>
            <a:spLocks noGrp="1"/>
          </p:cNvSpPr>
          <p:nvPr>
            <p:ph type="sldNum" sz="quarter" idx="12"/>
          </p:nvPr>
        </p:nvSpPr>
        <p:spPr/>
        <p:txBody>
          <a:bodyPr/>
          <a:lstStyle/>
          <a:p>
            <a:fld id="{C0343C75-1924-D247-85A3-0CB62E67E5D1}" type="slidenum">
              <a:rPr lang="en-US" smtClean="0"/>
              <a:t>38</a:t>
            </a:fld>
            <a:endParaRPr lang="en-US"/>
          </a:p>
        </p:txBody>
      </p:sp>
    </p:spTree>
    <p:extLst>
      <p:ext uri="{BB962C8B-B14F-4D97-AF65-F5344CB8AC3E}">
        <p14:creationId xmlns:p14="http://schemas.microsoft.com/office/powerpoint/2010/main" val="37991583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C4D2E-D759-981F-9F08-9B11563C2C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E96E51-1F46-28A6-3F9C-C869A2AD2A64}"/>
              </a:ext>
            </a:extLst>
          </p:cNvPr>
          <p:cNvSpPr>
            <a:spLocks noGrp="1"/>
          </p:cNvSpPr>
          <p:nvPr>
            <p:ph type="title"/>
          </p:nvPr>
        </p:nvSpPr>
        <p:spPr/>
        <p:txBody>
          <a:bodyPr/>
          <a:lstStyle/>
          <a:p>
            <a:r>
              <a:rPr lang="en-US" dirty="0"/>
              <a:t>Common Pitfalls</a:t>
            </a:r>
          </a:p>
        </p:txBody>
      </p:sp>
      <p:sp>
        <p:nvSpPr>
          <p:cNvPr id="6" name="TextBox 5">
            <a:extLst>
              <a:ext uri="{FF2B5EF4-FFF2-40B4-BE49-F238E27FC236}">
                <a16:creationId xmlns:a16="http://schemas.microsoft.com/office/drawing/2014/main" id="{B8C70F8F-1C74-6EB8-A5B3-49588A77460D}"/>
              </a:ext>
            </a:extLst>
          </p:cNvPr>
          <p:cNvSpPr txBox="1"/>
          <p:nvPr/>
        </p:nvSpPr>
        <p:spPr>
          <a:xfrm>
            <a:off x="571499" y="1416684"/>
            <a:ext cx="5535353" cy="1076181"/>
          </a:xfrm>
          <a:prstGeom prst="roundRect">
            <a:avLst/>
          </a:prstGeom>
          <a:solidFill>
            <a:schemeClr val="bg2">
              <a:lumMod val="90000"/>
            </a:schemeClr>
          </a:solidFill>
          <a:ln w="25400">
            <a:solidFill>
              <a:srgbClr val="FF0000"/>
            </a:solidFill>
          </a:ln>
        </p:spPr>
        <p:txBody>
          <a:bodyPr wrap="square" tIns="91440" bIns="91440" rtlCol="0" anchor="ctr">
            <a:spAutoFit/>
          </a:bodyPr>
          <a:lstStyle/>
          <a:p>
            <a:pPr>
              <a:lnSpc>
                <a:spcPct val="125000"/>
              </a:lnSpc>
            </a:pPr>
            <a:r>
              <a:rPr lang="en-US" sz="1400" b="1" dirty="0">
                <a:solidFill>
                  <a:srgbClr val="FF0000"/>
                </a:solidFill>
                <a:ea typeface="OSAKA-MONO" panose="020B0600000000000000" pitchFamily="34" charset="-128"/>
                <a:cs typeface="Menlo" panose="020B0609030804020204" pitchFamily="49" charset="0"/>
              </a:rPr>
              <a:t>Losing geometry column </a:t>
            </a:r>
          </a:p>
          <a:p>
            <a:pPr>
              <a:lnSpc>
                <a:spcPct val="125000"/>
              </a:lnSpc>
            </a:pPr>
            <a:r>
              <a:rPr lang="en-US" sz="1400" b="1" dirty="0">
                <a:ea typeface="OSAKA-MONO" panose="020B0600000000000000" pitchFamily="34" charset="-128"/>
                <a:cs typeface="Menlo" panose="020B0609030804020204" pitchFamily="49" charset="0"/>
              </a:rPr>
              <a:t>Solution</a:t>
            </a:r>
            <a:r>
              <a:rPr lang="en-US" sz="1400" dirty="0">
                <a:ea typeface="OSAKA-MONO" panose="020B0600000000000000" pitchFamily="34" charset="-128"/>
                <a:cs typeface="Menlo" panose="020B0609030804020204" pitchFamily="49" charset="0"/>
              </a:rPr>
              <a:t>: Use </a:t>
            </a:r>
            <a:r>
              <a:rPr lang="en-US" sz="1400" dirty="0" err="1">
                <a:latin typeface="OSAKA-MONO" panose="020B0600000000000000" pitchFamily="34" charset="-128"/>
                <a:ea typeface="OSAKA-MONO" panose="020B0600000000000000" pitchFamily="34" charset="-128"/>
                <a:cs typeface="Menlo" panose="020B0609030804020204" pitchFamily="49" charset="0"/>
              </a:rPr>
              <a:t>dplyr</a:t>
            </a:r>
            <a:r>
              <a:rPr lang="en-US" sz="1400" dirty="0">
                <a:ea typeface="OSAKA-MONO" panose="020B0600000000000000" pitchFamily="34" charset="-128"/>
                <a:cs typeface="Menlo" panose="020B0609030804020204" pitchFamily="49" charset="0"/>
              </a:rPr>
              <a:t> verbs or </a:t>
            </a:r>
            <a:r>
              <a:rPr lang="en-US" sz="1400" dirty="0" err="1">
                <a:latin typeface="OSAKA-MONO" panose="020B0600000000000000" pitchFamily="34" charset="-128"/>
                <a:ea typeface="OSAKA-MONO" panose="020B0600000000000000" pitchFamily="34" charset="-128"/>
                <a:cs typeface="Menlo" panose="020B0609030804020204" pitchFamily="49" charset="0"/>
              </a:rPr>
              <a:t>st_drop_geometry</a:t>
            </a:r>
            <a:r>
              <a:rPr lang="en-US" sz="1400" dirty="0">
                <a:latin typeface="OSAKA-MONO" panose="020B0600000000000000" pitchFamily="34" charset="-128"/>
                <a:ea typeface="OSAKA-MONO" panose="020B0600000000000000" pitchFamily="34" charset="-128"/>
                <a:cs typeface="Menlo" panose="020B0609030804020204" pitchFamily="49" charset="0"/>
              </a:rPr>
              <a:t>()</a:t>
            </a:r>
            <a:r>
              <a:rPr lang="en-US" sz="1400" dirty="0">
                <a:ea typeface="OSAKA-MONO" panose="020B0600000000000000" pitchFamily="34" charset="-128"/>
                <a:cs typeface="Menlo" panose="020B0609030804020204" pitchFamily="49" charset="0"/>
              </a:rPr>
              <a:t> explicitly</a:t>
            </a:r>
          </a:p>
          <a:p>
            <a:pPr>
              <a:lnSpc>
                <a:spcPct val="125000"/>
              </a:lnSpc>
            </a:pPr>
            <a:r>
              <a:rPr lang="en-US" sz="1400" b="1" dirty="0">
                <a:ea typeface="OSAKA-MONO" panose="020B0600000000000000" pitchFamily="34" charset="-128"/>
                <a:cs typeface="Menlo" panose="020B0609030804020204" pitchFamily="49" charset="0"/>
              </a:rPr>
              <a:t>Avoid</a:t>
            </a:r>
            <a:r>
              <a:rPr lang="en-US" sz="1400" dirty="0">
                <a:ea typeface="OSAKA-MONO" panose="020B0600000000000000" pitchFamily="34" charset="-128"/>
                <a:cs typeface="Menlo" panose="020B0609030804020204" pitchFamily="49" charset="0"/>
              </a:rPr>
              <a:t>: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world$name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r>
              <a:rPr lang="en-US" sz="1400" b="1" dirty="0">
                <a:ea typeface="OSAKA-MONO" panose="020B0600000000000000" pitchFamily="34" charset="-128"/>
                <a:cs typeface="Menlo" panose="020B0609030804020204" pitchFamily="49" charset="0"/>
              </a:rPr>
              <a:t>Use</a:t>
            </a:r>
            <a:r>
              <a:rPr lang="en-US" sz="1400" dirty="0">
                <a:ea typeface="OSAKA-MONO" panose="020B0600000000000000" pitchFamily="34" charset="-128"/>
                <a:cs typeface="Menlo" panose="020B0609030804020204" pitchFamily="49" charset="0"/>
              </a:rPr>
              <a:t>: </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pull(world, name)</a:t>
            </a:r>
          </a:p>
        </p:txBody>
      </p:sp>
      <p:sp>
        <p:nvSpPr>
          <p:cNvPr id="9" name="TextBox 8">
            <a:extLst>
              <a:ext uri="{FF2B5EF4-FFF2-40B4-BE49-F238E27FC236}">
                <a16:creationId xmlns:a16="http://schemas.microsoft.com/office/drawing/2014/main" id="{5556CD7D-5AC5-AB40-C159-E949657684A1}"/>
              </a:ext>
            </a:extLst>
          </p:cNvPr>
          <p:cNvSpPr txBox="1"/>
          <p:nvPr/>
        </p:nvSpPr>
        <p:spPr>
          <a:xfrm>
            <a:off x="571499" y="2591060"/>
            <a:ext cx="5535355" cy="1076181"/>
          </a:xfrm>
          <a:prstGeom prst="roundRect">
            <a:avLst/>
          </a:prstGeom>
          <a:solidFill>
            <a:schemeClr val="bg2">
              <a:lumMod val="90000"/>
            </a:schemeClr>
          </a:solidFill>
          <a:ln w="25400">
            <a:solidFill>
              <a:srgbClr val="FF0000"/>
            </a:solidFill>
          </a:ln>
        </p:spPr>
        <p:txBody>
          <a:bodyPr wrap="none" tIns="91440" bIns="91440" rtlCol="0" anchor="ctr">
            <a:spAutoFit/>
          </a:bodyPr>
          <a:lstStyle/>
          <a:p>
            <a:pPr>
              <a:lnSpc>
                <a:spcPct val="125000"/>
              </a:lnSpc>
            </a:pPr>
            <a:r>
              <a:rPr lang="en-US" sz="1400" b="1" dirty="0">
                <a:solidFill>
                  <a:srgbClr val="FF0000"/>
                </a:solidFill>
                <a:ea typeface="OSAKA-MONO" panose="020B0600000000000000" pitchFamily="34" charset="-128"/>
                <a:cs typeface="Menlo" panose="020B0609030804020204" pitchFamily="49" charset="0"/>
              </a:rPr>
              <a:t>Mismatched join keys </a:t>
            </a:r>
          </a:p>
          <a:p>
            <a:pPr>
              <a:lnSpc>
                <a:spcPct val="125000"/>
              </a:lnSpc>
            </a:pPr>
            <a:r>
              <a:rPr lang="en-US" sz="1400" b="1" dirty="0">
                <a:ea typeface="OSAKA-MONO" panose="020B0600000000000000" pitchFamily="34" charset="-128"/>
                <a:cs typeface="Menlo" panose="020B0609030804020204" pitchFamily="49" charset="0"/>
              </a:rPr>
              <a:t>Solution</a:t>
            </a:r>
            <a:r>
              <a:rPr lang="en-US" sz="1400" dirty="0">
                <a:ea typeface="OSAKA-MONO" panose="020B0600000000000000" pitchFamily="34" charset="-128"/>
                <a:cs typeface="Menlo" panose="020B0609030804020204" pitchFamily="49" charset="0"/>
              </a:rPr>
              <a:t>: Transform to same coordinate system before operations</a:t>
            </a:r>
          </a:p>
          <a:p>
            <a:pPr>
              <a:lnSpc>
                <a:spcPct val="125000"/>
              </a:lnSpc>
            </a:pP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left_join</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 data, by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join_by</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(name == country))</a:t>
            </a:r>
          </a:p>
        </p:txBody>
      </p:sp>
      <p:sp>
        <p:nvSpPr>
          <p:cNvPr id="10" name="TextBox 9">
            <a:extLst>
              <a:ext uri="{FF2B5EF4-FFF2-40B4-BE49-F238E27FC236}">
                <a16:creationId xmlns:a16="http://schemas.microsoft.com/office/drawing/2014/main" id="{0F41121B-E0B9-2D2F-0D35-C7AD3E36560A}"/>
              </a:ext>
            </a:extLst>
          </p:cNvPr>
          <p:cNvSpPr txBox="1"/>
          <p:nvPr/>
        </p:nvSpPr>
        <p:spPr>
          <a:xfrm>
            <a:off x="571498" y="3765436"/>
            <a:ext cx="5535355" cy="1076181"/>
          </a:xfrm>
          <a:prstGeom prst="roundRect">
            <a:avLst/>
          </a:prstGeom>
          <a:solidFill>
            <a:schemeClr val="bg2">
              <a:lumMod val="90000"/>
            </a:schemeClr>
          </a:solidFill>
          <a:ln w="25400">
            <a:solidFill>
              <a:srgbClr val="FF0000"/>
            </a:solidFill>
          </a:ln>
        </p:spPr>
        <p:txBody>
          <a:bodyPr wrap="none" tIns="91440" bIns="91440" rtlCol="0" anchor="ctr">
            <a:spAutoFit/>
          </a:bodyPr>
          <a:lstStyle/>
          <a:p>
            <a:pPr>
              <a:lnSpc>
                <a:spcPct val="125000"/>
              </a:lnSpc>
            </a:pPr>
            <a:r>
              <a:rPr lang="en-US" sz="1400" b="1" dirty="0">
                <a:solidFill>
                  <a:srgbClr val="FF0000"/>
                </a:solidFill>
                <a:ea typeface="OSAKA-MONO" panose="020B0600000000000000" pitchFamily="34" charset="-128"/>
                <a:cs typeface="Menlo" panose="020B0609030804020204" pitchFamily="49" charset="0"/>
              </a:rPr>
              <a:t>Mismatched join keys</a:t>
            </a:r>
          </a:p>
          <a:p>
            <a:pPr>
              <a:lnSpc>
                <a:spcPct val="125000"/>
              </a:lnSpc>
            </a:pPr>
            <a:r>
              <a:rPr lang="en-US" sz="1400" b="1" dirty="0">
                <a:ea typeface="OSAKA-MONO" panose="020B0600000000000000" pitchFamily="34" charset="-128"/>
                <a:cs typeface="Menlo" panose="020B0609030804020204" pitchFamily="49" charset="0"/>
              </a:rPr>
              <a:t>Solution</a:t>
            </a:r>
            <a:r>
              <a:rPr lang="en-US" sz="1400" dirty="0">
                <a:ea typeface="OSAKA-MONO" panose="020B0600000000000000" pitchFamily="34" charset="-128"/>
                <a:cs typeface="Menlo" panose="020B0609030804020204" pitchFamily="49" charset="0"/>
              </a:rPr>
              <a:t>: Transform to same coordinate system before operations</a:t>
            </a:r>
          </a:p>
          <a:p>
            <a:pPr>
              <a:lnSpc>
                <a:spcPct val="125000"/>
              </a:lnSpc>
            </a:pP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left_join</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 data, by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join_by</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(name == country))</a:t>
            </a:r>
          </a:p>
        </p:txBody>
      </p:sp>
      <p:sp>
        <p:nvSpPr>
          <p:cNvPr id="11" name="TextBox 10">
            <a:extLst>
              <a:ext uri="{FF2B5EF4-FFF2-40B4-BE49-F238E27FC236}">
                <a16:creationId xmlns:a16="http://schemas.microsoft.com/office/drawing/2014/main" id="{AF0CA53E-66B1-731A-2070-6E6209E9673C}"/>
              </a:ext>
            </a:extLst>
          </p:cNvPr>
          <p:cNvSpPr txBox="1"/>
          <p:nvPr/>
        </p:nvSpPr>
        <p:spPr>
          <a:xfrm>
            <a:off x="571497" y="4939812"/>
            <a:ext cx="5535353" cy="1076181"/>
          </a:xfrm>
          <a:prstGeom prst="roundRect">
            <a:avLst/>
          </a:prstGeom>
          <a:solidFill>
            <a:schemeClr val="bg2">
              <a:lumMod val="90000"/>
            </a:schemeClr>
          </a:solidFill>
          <a:ln w="25400">
            <a:solidFill>
              <a:srgbClr val="FF0000"/>
            </a:solidFill>
          </a:ln>
        </p:spPr>
        <p:txBody>
          <a:bodyPr wrap="square" tIns="91440" bIns="91440" rtlCol="0" anchor="ctr">
            <a:spAutoFit/>
          </a:bodyPr>
          <a:lstStyle/>
          <a:p>
            <a:pPr>
              <a:lnSpc>
                <a:spcPct val="125000"/>
              </a:lnSpc>
            </a:pPr>
            <a:r>
              <a:rPr lang="en-US" sz="1400" b="1" dirty="0">
                <a:solidFill>
                  <a:srgbClr val="FF0000"/>
                </a:solidFill>
                <a:ea typeface="OSAKA-MONO" panose="020B0600000000000000" pitchFamily="34" charset="-128"/>
                <a:cs typeface="Menlo" panose="020B0609030804020204" pitchFamily="49" charset="0"/>
              </a:rPr>
              <a:t>Mismatched join keys</a:t>
            </a:r>
          </a:p>
          <a:p>
            <a:pPr>
              <a:lnSpc>
                <a:spcPct val="125000"/>
              </a:lnSpc>
            </a:pPr>
            <a:r>
              <a:rPr lang="en-US" sz="1400" b="1" dirty="0">
                <a:ea typeface="OSAKA-MONO" panose="020B0600000000000000" pitchFamily="34" charset="-128"/>
                <a:cs typeface="Menlo" panose="020B0609030804020204" pitchFamily="49" charset="0"/>
              </a:rPr>
              <a:t>Solution</a:t>
            </a:r>
            <a:r>
              <a:rPr lang="en-US" sz="1400" dirty="0">
                <a:ea typeface="OSAKA-MONO" panose="020B0600000000000000" pitchFamily="34" charset="-128"/>
                <a:cs typeface="Menlo" panose="020B0609030804020204" pitchFamily="49" charset="0"/>
              </a:rPr>
              <a:t>: Transform to same coordinate system before operations</a:t>
            </a:r>
          </a:p>
          <a:p>
            <a:pPr>
              <a:lnSpc>
                <a:spcPct val="125000"/>
              </a:lnSpc>
            </a:pP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st_transform</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(data,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crs</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st_crs</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a:t>
            </a:r>
          </a:p>
        </p:txBody>
      </p:sp>
      <p:sp>
        <p:nvSpPr>
          <p:cNvPr id="12" name="Slide Number Placeholder 11">
            <a:extLst>
              <a:ext uri="{FF2B5EF4-FFF2-40B4-BE49-F238E27FC236}">
                <a16:creationId xmlns:a16="http://schemas.microsoft.com/office/drawing/2014/main" id="{59FECEC2-E783-08AE-2101-CB20CCADA536}"/>
              </a:ext>
            </a:extLst>
          </p:cNvPr>
          <p:cNvSpPr>
            <a:spLocks noGrp="1"/>
          </p:cNvSpPr>
          <p:nvPr>
            <p:ph type="sldNum" sz="quarter" idx="12"/>
          </p:nvPr>
        </p:nvSpPr>
        <p:spPr/>
        <p:txBody>
          <a:bodyPr/>
          <a:lstStyle/>
          <a:p>
            <a:fld id="{C0343C75-1924-D247-85A3-0CB62E67E5D1}" type="slidenum">
              <a:rPr lang="en-US" smtClean="0"/>
              <a:t>39</a:t>
            </a:fld>
            <a:endParaRPr lang="en-US"/>
          </a:p>
        </p:txBody>
      </p:sp>
    </p:spTree>
    <p:extLst>
      <p:ext uri="{BB962C8B-B14F-4D97-AF65-F5344CB8AC3E}">
        <p14:creationId xmlns:p14="http://schemas.microsoft.com/office/powerpoint/2010/main" val="16686168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7A16C58-C4AC-BED3-F5DA-41E9C1CCD46B}"/>
              </a:ext>
            </a:extLst>
          </p:cNvPr>
          <p:cNvSpPr>
            <a:spLocks noGrp="1"/>
          </p:cNvSpPr>
          <p:nvPr>
            <p:ph type="title"/>
          </p:nvPr>
        </p:nvSpPr>
        <p:spPr/>
        <p:txBody>
          <a:bodyPr/>
          <a:lstStyle/>
          <a:p>
            <a:r>
              <a:rPr lang="en-US" dirty="0">
                <a:solidFill>
                  <a:schemeClr val="accent6">
                    <a:lumMod val="50000"/>
                  </a:schemeClr>
                </a:solidFill>
              </a:rPr>
              <a:t>Questions to Practice</a:t>
            </a:r>
          </a:p>
        </p:txBody>
      </p:sp>
      <p:sp>
        <p:nvSpPr>
          <p:cNvPr id="7" name="Content Placeholder 6">
            <a:extLst>
              <a:ext uri="{FF2B5EF4-FFF2-40B4-BE49-F238E27FC236}">
                <a16:creationId xmlns:a16="http://schemas.microsoft.com/office/drawing/2014/main" id="{97FED5C3-FAAF-0360-F5DC-E0E328EEF6E4}"/>
              </a:ext>
            </a:extLst>
          </p:cNvPr>
          <p:cNvSpPr>
            <a:spLocks noGrp="1"/>
          </p:cNvSpPr>
          <p:nvPr>
            <p:ph idx="1"/>
          </p:nvPr>
        </p:nvSpPr>
        <p:spPr/>
        <p:txBody>
          <a:bodyPr>
            <a:normAutofit/>
          </a:bodyPr>
          <a:lstStyle/>
          <a:p>
            <a:pPr marL="457200" indent="-457200">
              <a:buFont typeface="+mj-lt"/>
              <a:buAutoNum type="arabicPeriod"/>
            </a:pPr>
            <a:r>
              <a:rPr lang="en-US" dirty="0">
                <a:solidFill>
                  <a:schemeClr val="accent6">
                    <a:lumMod val="50000"/>
                  </a:schemeClr>
                </a:solidFill>
              </a:rPr>
              <a:t>Can you explain </a:t>
            </a:r>
            <a:r>
              <a:rPr lang="en-US" b="1" dirty="0">
                <a:solidFill>
                  <a:schemeClr val="accent6">
                    <a:lumMod val="50000"/>
                  </a:schemeClr>
                </a:solidFill>
              </a:rPr>
              <a:t>what attribute transformation is </a:t>
            </a:r>
            <a:r>
              <a:rPr lang="en-US" dirty="0">
                <a:solidFill>
                  <a:schemeClr val="accent6">
                    <a:lumMod val="50000"/>
                  </a:schemeClr>
                </a:solidFill>
              </a:rPr>
              <a:t>and give </a:t>
            </a:r>
            <a:r>
              <a:rPr lang="en-US" b="1" dirty="0">
                <a:solidFill>
                  <a:schemeClr val="accent6">
                    <a:lumMod val="50000"/>
                  </a:schemeClr>
                </a:solidFill>
              </a:rPr>
              <a:t>an example </a:t>
            </a:r>
            <a:r>
              <a:rPr lang="en-US" dirty="0">
                <a:solidFill>
                  <a:schemeClr val="accent6">
                    <a:lumMod val="50000"/>
                  </a:schemeClr>
                </a:solidFill>
              </a:rPr>
              <a:t>of when you would </a:t>
            </a:r>
            <a:r>
              <a:rPr lang="en-US" b="1" dirty="0">
                <a:solidFill>
                  <a:schemeClr val="accent6">
                    <a:lumMod val="50000"/>
                  </a:schemeClr>
                </a:solidFill>
              </a:rPr>
              <a:t>create a new feature </a:t>
            </a:r>
            <a:r>
              <a:rPr lang="en-US" dirty="0">
                <a:solidFill>
                  <a:schemeClr val="accent6">
                    <a:lumMod val="50000"/>
                  </a:schemeClr>
                </a:solidFill>
              </a:rPr>
              <a:t>from existing data?</a:t>
            </a:r>
          </a:p>
          <a:p>
            <a:pPr marL="457200" indent="-457200">
              <a:buFont typeface="+mj-lt"/>
              <a:buAutoNum type="arabicPeriod"/>
            </a:pPr>
            <a:r>
              <a:rPr lang="en-US" dirty="0">
                <a:solidFill>
                  <a:schemeClr val="accent6">
                    <a:lumMod val="50000"/>
                  </a:schemeClr>
                </a:solidFill>
              </a:rPr>
              <a:t>How do you typically handle </a:t>
            </a:r>
            <a:r>
              <a:rPr lang="en-US" b="1" dirty="0">
                <a:solidFill>
                  <a:schemeClr val="accent6">
                    <a:lumMod val="50000"/>
                  </a:schemeClr>
                </a:solidFill>
              </a:rPr>
              <a:t>missing or inconsistent values </a:t>
            </a:r>
            <a:r>
              <a:rPr lang="en-US" dirty="0">
                <a:solidFill>
                  <a:schemeClr val="accent6">
                    <a:lumMod val="50000"/>
                  </a:schemeClr>
                </a:solidFill>
              </a:rPr>
              <a:t>during the data pre-processing stage?</a:t>
            </a:r>
          </a:p>
          <a:p>
            <a:pPr marL="457200" indent="-457200">
              <a:buFont typeface="+mj-lt"/>
              <a:buAutoNum type="arabicPeriod"/>
            </a:pPr>
            <a:r>
              <a:rPr lang="en-US" dirty="0">
                <a:solidFill>
                  <a:schemeClr val="accent6">
                    <a:lumMod val="50000"/>
                  </a:schemeClr>
                </a:solidFill>
              </a:rPr>
              <a:t>Why is </a:t>
            </a:r>
            <a:r>
              <a:rPr lang="en-US" b="1" dirty="0">
                <a:solidFill>
                  <a:schemeClr val="accent6">
                    <a:lumMod val="50000"/>
                  </a:schemeClr>
                </a:solidFill>
              </a:rPr>
              <a:t>data normalization or standardization </a:t>
            </a:r>
            <a:r>
              <a:rPr lang="en-US" dirty="0">
                <a:solidFill>
                  <a:schemeClr val="accent6">
                    <a:lumMod val="50000"/>
                  </a:schemeClr>
                </a:solidFill>
              </a:rPr>
              <a:t>important, and in what situations would you apply it?</a:t>
            </a:r>
          </a:p>
          <a:p>
            <a:pPr marL="457200" indent="-457200">
              <a:buFont typeface="+mj-lt"/>
              <a:buAutoNum type="arabicPeriod"/>
            </a:pPr>
            <a:r>
              <a:rPr lang="en-US" dirty="0">
                <a:solidFill>
                  <a:schemeClr val="accent6">
                    <a:lumMod val="50000"/>
                  </a:schemeClr>
                </a:solidFill>
              </a:rPr>
              <a:t>Can you describe a </a:t>
            </a:r>
            <a:r>
              <a:rPr lang="en-US" b="1" dirty="0">
                <a:solidFill>
                  <a:schemeClr val="accent6">
                    <a:lumMod val="50000"/>
                  </a:schemeClr>
                </a:solidFill>
              </a:rPr>
              <a:t>typical data analysis workflow</a:t>
            </a:r>
            <a:r>
              <a:rPr lang="en-US" dirty="0">
                <a:solidFill>
                  <a:schemeClr val="accent6">
                    <a:lumMod val="50000"/>
                  </a:schemeClr>
                </a:solidFill>
              </a:rPr>
              <a:t>, from receiving raw data to producing final insights?</a:t>
            </a:r>
          </a:p>
        </p:txBody>
      </p:sp>
      <p:sp>
        <p:nvSpPr>
          <p:cNvPr id="3" name="Slide Number Placeholder 2">
            <a:extLst>
              <a:ext uri="{FF2B5EF4-FFF2-40B4-BE49-F238E27FC236}">
                <a16:creationId xmlns:a16="http://schemas.microsoft.com/office/drawing/2014/main" id="{5712BB5E-D3F6-C612-DDB1-D8A232258643}"/>
              </a:ext>
            </a:extLst>
          </p:cNvPr>
          <p:cNvSpPr>
            <a:spLocks noGrp="1"/>
          </p:cNvSpPr>
          <p:nvPr>
            <p:ph type="sldNum" sz="quarter" idx="12"/>
          </p:nvPr>
        </p:nvSpPr>
        <p:spPr/>
        <p:txBody>
          <a:bodyPr/>
          <a:lstStyle/>
          <a:p>
            <a:fld id="{C0343C75-1924-D247-85A3-0CB62E67E5D1}" type="slidenum">
              <a:rPr lang="en-US" smtClean="0"/>
              <a:t>40</a:t>
            </a:fld>
            <a:endParaRPr lang="en-US"/>
          </a:p>
        </p:txBody>
      </p:sp>
    </p:spTree>
    <p:extLst>
      <p:ext uri="{BB962C8B-B14F-4D97-AF65-F5344CB8AC3E}">
        <p14:creationId xmlns:p14="http://schemas.microsoft.com/office/powerpoint/2010/main" val="18514787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7C10D-1DF6-9048-4EB2-1C2FE4CBC9AA}"/>
              </a:ext>
            </a:extLst>
          </p:cNvPr>
          <p:cNvSpPr>
            <a:spLocks noGrp="1"/>
          </p:cNvSpPr>
          <p:nvPr>
            <p:ph type="title"/>
          </p:nvPr>
        </p:nvSpPr>
        <p:spPr/>
        <p:txBody>
          <a:bodyPr/>
          <a:lstStyle/>
          <a:p>
            <a:r>
              <a:rPr lang="en-US" dirty="0">
                <a:solidFill>
                  <a:schemeClr val="accent2">
                    <a:lumMod val="50000"/>
                  </a:schemeClr>
                </a:solidFill>
              </a:rPr>
              <a:t>Assignment #2 – Objective</a:t>
            </a:r>
          </a:p>
        </p:txBody>
      </p:sp>
      <p:sp>
        <p:nvSpPr>
          <p:cNvPr id="3" name="Content Placeholder 2">
            <a:extLst>
              <a:ext uri="{FF2B5EF4-FFF2-40B4-BE49-F238E27FC236}">
                <a16:creationId xmlns:a16="http://schemas.microsoft.com/office/drawing/2014/main" id="{0C91EDC0-E3C2-E8B5-D1DB-D99E280905AB}"/>
              </a:ext>
            </a:extLst>
          </p:cNvPr>
          <p:cNvSpPr>
            <a:spLocks noGrp="1"/>
          </p:cNvSpPr>
          <p:nvPr>
            <p:ph idx="1"/>
          </p:nvPr>
        </p:nvSpPr>
        <p:spPr/>
        <p:txBody>
          <a:bodyPr/>
          <a:lstStyle/>
          <a:p>
            <a:pPr marL="0" indent="0">
              <a:buNone/>
            </a:pPr>
            <a:r>
              <a:rPr lang="en-US" dirty="0">
                <a:solidFill>
                  <a:schemeClr val="accent2">
                    <a:lumMod val="50000"/>
                  </a:schemeClr>
                </a:solidFill>
              </a:rPr>
              <a:t>Workflow in </a:t>
            </a:r>
            <a:r>
              <a:rPr lang="en-US" b="1" dirty="0">
                <a:solidFill>
                  <a:schemeClr val="accent2">
                    <a:lumMod val="50000"/>
                  </a:schemeClr>
                </a:solidFill>
                <a:latin typeface="OSAKA-MONO" panose="020B0600000000000000" pitchFamily="34" charset="-128"/>
                <a:ea typeface="OSAKA-MONO" panose="020B0600000000000000" pitchFamily="34" charset="-128"/>
              </a:rPr>
              <a:t>R</a:t>
            </a:r>
            <a:r>
              <a:rPr lang="en-US" dirty="0">
                <a:solidFill>
                  <a:schemeClr val="accent2">
                    <a:lumMod val="50000"/>
                  </a:schemeClr>
                </a:solidFill>
              </a:rPr>
              <a:t> </a:t>
            </a:r>
            <a:r>
              <a:rPr lang="en-US" baseline="30000" dirty="0">
                <a:solidFill>
                  <a:schemeClr val="accent2">
                    <a:lumMod val="50000"/>
                  </a:schemeClr>
                </a:solidFill>
              </a:rPr>
              <a:t>(or </a:t>
            </a:r>
            <a:r>
              <a:rPr lang="en-US" b="1" baseline="30000" dirty="0">
                <a:solidFill>
                  <a:schemeClr val="accent2">
                    <a:lumMod val="50000"/>
                  </a:schemeClr>
                </a:solidFill>
                <a:latin typeface="OSAKA-MONO" panose="020B0600000000000000" pitchFamily="34" charset="-128"/>
                <a:ea typeface="OSAKA-MONO" panose="020B0600000000000000" pitchFamily="34" charset="-128"/>
              </a:rPr>
              <a:t>Python</a:t>
            </a:r>
            <a:r>
              <a:rPr lang="en-US" baseline="30000" dirty="0">
                <a:solidFill>
                  <a:schemeClr val="accent2">
                    <a:lumMod val="50000"/>
                  </a:schemeClr>
                </a:solidFill>
              </a:rPr>
              <a:t>)</a:t>
            </a:r>
          </a:p>
          <a:p>
            <a:r>
              <a:rPr lang="en-US" dirty="0">
                <a:solidFill>
                  <a:schemeClr val="accent2">
                    <a:lumMod val="50000"/>
                  </a:schemeClr>
                </a:solidFill>
              </a:rPr>
              <a:t>Load spatial data (</a:t>
            </a:r>
            <a:r>
              <a:rPr lang="en-US" b="1" dirty="0">
                <a:solidFill>
                  <a:schemeClr val="accent2">
                    <a:lumMod val="50000"/>
                  </a:schemeClr>
                </a:solidFill>
                <a:latin typeface="OSAKA-MONO" panose="020B0600000000000000" pitchFamily="34" charset="-128"/>
                <a:ea typeface="OSAKA-MONO" panose="020B0600000000000000" pitchFamily="34" charset="-128"/>
              </a:rPr>
              <a:t>sf</a:t>
            </a:r>
            <a:r>
              <a:rPr lang="en-US" dirty="0">
                <a:solidFill>
                  <a:schemeClr val="accent2">
                    <a:lumMod val="50000"/>
                  </a:schemeClr>
                </a:solidFill>
              </a:rPr>
              <a:t>, </a:t>
            </a:r>
            <a:r>
              <a:rPr lang="en-US" b="1" dirty="0">
                <a:solidFill>
                  <a:schemeClr val="accent2">
                    <a:lumMod val="50000"/>
                  </a:schemeClr>
                </a:solidFill>
                <a:latin typeface="OSAKA-MONO" panose="020B0600000000000000" pitchFamily="34" charset="-128"/>
                <a:ea typeface="OSAKA-MONO" panose="020B0600000000000000" pitchFamily="34" charset="-128"/>
              </a:rPr>
              <a:t>terra</a:t>
            </a:r>
            <a:r>
              <a:rPr lang="en-US" dirty="0">
                <a:solidFill>
                  <a:schemeClr val="accent2">
                    <a:lumMod val="50000"/>
                  </a:schemeClr>
                </a:solidFill>
              </a:rPr>
              <a:t>)</a:t>
            </a:r>
          </a:p>
          <a:p>
            <a:r>
              <a:rPr lang="en-US" dirty="0">
                <a:solidFill>
                  <a:schemeClr val="accent2">
                    <a:lumMod val="50000"/>
                  </a:schemeClr>
                </a:solidFill>
              </a:rPr>
              <a:t>Subset and clean attributes</a:t>
            </a:r>
          </a:p>
          <a:p>
            <a:r>
              <a:rPr lang="en-US" dirty="0">
                <a:solidFill>
                  <a:schemeClr val="accent2">
                    <a:lumMod val="50000"/>
                  </a:schemeClr>
                </a:solidFill>
              </a:rPr>
              <a:t>Join external attribute table to spatial data</a:t>
            </a:r>
          </a:p>
          <a:p>
            <a:r>
              <a:rPr lang="en-US" dirty="0">
                <a:solidFill>
                  <a:schemeClr val="accent2">
                    <a:lumMod val="50000"/>
                  </a:schemeClr>
                </a:solidFill>
              </a:rPr>
              <a:t>Compute summary statistics</a:t>
            </a:r>
          </a:p>
          <a:p>
            <a:r>
              <a:rPr lang="en-US" dirty="0">
                <a:solidFill>
                  <a:schemeClr val="accent2">
                    <a:lumMod val="50000"/>
                  </a:schemeClr>
                </a:solidFill>
              </a:rPr>
              <a:t>Export results for visualization or modeling</a:t>
            </a:r>
          </a:p>
        </p:txBody>
      </p:sp>
      <p:sp>
        <p:nvSpPr>
          <p:cNvPr id="4" name="Slide Number Placeholder 3">
            <a:extLst>
              <a:ext uri="{FF2B5EF4-FFF2-40B4-BE49-F238E27FC236}">
                <a16:creationId xmlns:a16="http://schemas.microsoft.com/office/drawing/2014/main" id="{9847A080-82E2-8D76-0847-18D8F26B3E0F}"/>
              </a:ext>
            </a:extLst>
          </p:cNvPr>
          <p:cNvSpPr>
            <a:spLocks noGrp="1"/>
          </p:cNvSpPr>
          <p:nvPr>
            <p:ph type="sldNum" sz="quarter" idx="12"/>
          </p:nvPr>
        </p:nvSpPr>
        <p:spPr/>
        <p:txBody>
          <a:bodyPr/>
          <a:lstStyle/>
          <a:p>
            <a:fld id="{C0343C75-1924-D247-85A3-0CB62E67E5D1}" type="slidenum">
              <a:rPr lang="en-US" smtClean="0"/>
              <a:t>41</a:t>
            </a:fld>
            <a:endParaRPr lang="en-US"/>
          </a:p>
        </p:txBody>
      </p:sp>
    </p:spTree>
    <p:extLst>
      <p:ext uri="{BB962C8B-B14F-4D97-AF65-F5344CB8AC3E}">
        <p14:creationId xmlns:p14="http://schemas.microsoft.com/office/powerpoint/2010/main" val="30637609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18EEE-F203-4310-E57C-6FEB3BF099B4}"/>
              </a:ext>
            </a:extLst>
          </p:cNvPr>
          <p:cNvSpPr>
            <a:spLocks noGrp="1"/>
          </p:cNvSpPr>
          <p:nvPr>
            <p:ph type="title"/>
          </p:nvPr>
        </p:nvSpPr>
        <p:spPr/>
        <p:txBody>
          <a:bodyPr/>
          <a:lstStyle/>
          <a:p>
            <a:r>
              <a:rPr lang="en-US" dirty="0">
                <a:solidFill>
                  <a:schemeClr val="accent2">
                    <a:lumMod val="50000"/>
                  </a:schemeClr>
                </a:solidFill>
              </a:rPr>
              <a:t>Assignment #2 – Background</a:t>
            </a:r>
          </a:p>
        </p:txBody>
      </p:sp>
      <p:sp>
        <p:nvSpPr>
          <p:cNvPr id="3" name="Content Placeholder 2">
            <a:extLst>
              <a:ext uri="{FF2B5EF4-FFF2-40B4-BE49-F238E27FC236}">
                <a16:creationId xmlns:a16="http://schemas.microsoft.com/office/drawing/2014/main" id="{D4C8FBC2-A87C-913A-C9C5-60353E02F0B2}"/>
              </a:ext>
            </a:extLst>
          </p:cNvPr>
          <p:cNvSpPr>
            <a:spLocks noGrp="1"/>
          </p:cNvSpPr>
          <p:nvPr>
            <p:ph idx="1"/>
          </p:nvPr>
        </p:nvSpPr>
        <p:spPr/>
        <p:txBody>
          <a:bodyPr>
            <a:noAutofit/>
          </a:bodyPr>
          <a:lstStyle/>
          <a:p>
            <a:pPr>
              <a:spcBef>
                <a:spcPts val="0"/>
              </a:spcBef>
            </a:pPr>
            <a:r>
              <a:rPr lang="en-US" sz="1800" u="sng" dirty="0">
                <a:solidFill>
                  <a:schemeClr val="accent2">
                    <a:lumMod val="50000"/>
                  </a:schemeClr>
                </a:solidFill>
              </a:rPr>
              <a:t>Land parcels</a:t>
            </a:r>
            <a:r>
              <a:rPr lang="en-US" sz="1800" dirty="0">
                <a:solidFill>
                  <a:schemeClr val="accent2">
                    <a:lumMod val="50000"/>
                  </a:schemeClr>
                </a:solidFill>
              </a:rPr>
              <a:t> are boundaries that have associated information such as property owner, land use, value, and location attributes</a:t>
            </a:r>
          </a:p>
          <a:p>
            <a:r>
              <a:rPr lang="en-US" sz="1800" u="sng" dirty="0">
                <a:solidFill>
                  <a:schemeClr val="accent2">
                    <a:lumMod val="50000"/>
                  </a:schemeClr>
                </a:solidFill>
              </a:rPr>
              <a:t>Improvement value</a:t>
            </a:r>
            <a:r>
              <a:rPr lang="en-US" sz="1800" dirty="0">
                <a:solidFill>
                  <a:schemeClr val="accent2">
                    <a:lumMod val="50000"/>
                  </a:schemeClr>
                </a:solidFill>
              </a:rPr>
              <a:t> refers to the assessed monetary value attributed not to the land itself but to the physical improvements on the land (typically buildings and other structures). In the context of property assessment, this is often used as a proxy for the built environment's contribution to total property worth (e.g., houses, garages, renovations).</a:t>
            </a:r>
            <a:endParaRPr lang="en-US" sz="1800" b="1" dirty="0">
              <a:solidFill>
                <a:schemeClr val="accent2">
                  <a:lumMod val="50000"/>
                </a:schemeClr>
              </a:solidFill>
            </a:endParaRPr>
          </a:p>
        </p:txBody>
      </p:sp>
      <p:sp>
        <p:nvSpPr>
          <p:cNvPr id="4" name="Slide Number Placeholder 3">
            <a:extLst>
              <a:ext uri="{FF2B5EF4-FFF2-40B4-BE49-F238E27FC236}">
                <a16:creationId xmlns:a16="http://schemas.microsoft.com/office/drawing/2014/main" id="{EA3645AC-50AD-D9AB-61AC-47D853F2143A}"/>
              </a:ext>
            </a:extLst>
          </p:cNvPr>
          <p:cNvSpPr>
            <a:spLocks noGrp="1"/>
          </p:cNvSpPr>
          <p:nvPr>
            <p:ph type="sldNum" sz="quarter" idx="12"/>
          </p:nvPr>
        </p:nvSpPr>
        <p:spPr/>
        <p:txBody>
          <a:bodyPr/>
          <a:lstStyle/>
          <a:p>
            <a:fld id="{C0343C75-1924-D247-85A3-0CB62E67E5D1}" type="slidenum">
              <a:rPr lang="en-US" smtClean="0"/>
              <a:t>42</a:t>
            </a:fld>
            <a:endParaRPr lang="en-US"/>
          </a:p>
        </p:txBody>
      </p:sp>
      <p:pic>
        <p:nvPicPr>
          <p:cNvPr id="5" name="Picture 4">
            <a:extLst>
              <a:ext uri="{FF2B5EF4-FFF2-40B4-BE49-F238E27FC236}">
                <a16:creationId xmlns:a16="http://schemas.microsoft.com/office/drawing/2014/main" id="{22ABB1D9-9EB1-033B-1675-8E53F681837D}"/>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71501" y="4256787"/>
            <a:ext cx="8001000" cy="2059516"/>
          </a:xfrm>
          <a:prstGeom prst="rect">
            <a:avLst/>
          </a:prstGeom>
        </p:spPr>
      </p:pic>
      <p:sp>
        <p:nvSpPr>
          <p:cNvPr id="7" name="TextBox 6">
            <a:extLst>
              <a:ext uri="{FF2B5EF4-FFF2-40B4-BE49-F238E27FC236}">
                <a16:creationId xmlns:a16="http://schemas.microsoft.com/office/drawing/2014/main" id="{195A0CC1-04C6-1FEC-6249-5DDA23089EC5}"/>
              </a:ext>
            </a:extLst>
          </p:cNvPr>
          <p:cNvSpPr txBox="1"/>
          <p:nvPr/>
        </p:nvSpPr>
        <p:spPr>
          <a:xfrm>
            <a:off x="571500" y="4198662"/>
            <a:ext cx="4000500" cy="2117641"/>
          </a:xfrm>
          <a:prstGeom prst="rect">
            <a:avLst/>
          </a:prstGeom>
          <a:solidFill>
            <a:schemeClr val="accent2">
              <a:lumMod val="20000"/>
              <a:lumOff val="80000"/>
              <a:alpha val="44800"/>
            </a:schemeClr>
          </a:solidFill>
        </p:spPr>
        <p:txBody>
          <a:bodyPr wrap="square" tIns="45720" bIns="45720" anchor="ctr">
            <a:noAutofit/>
          </a:bodyPr>
          <a:lstStyle/>
          <a:p>
            <a:pPr marL="0" indent="0">
              <a:buNone/>
            </a:pPr>
            <a:r>
              <a:rPr lang="en-US" sz="1800" b="1" dirty="0">
                <a:solidFill>
                  <a:schemeClr val="accent2">
                    <a:lumMod val="50000"/>
                  </a:schemeClr>
                </a:solidFill>
              </a:rPr>
              <a:t>Follows</a:t>
            </a:r>
          </a:p>
          <a:p>
            <a:pPr marL="296863" indent="-296863">
              <a:spcBef>
                <a:spcPts val="0"/>
              </a:spcBef>
              <a:buFont typeface="+mj-lt"/>
              <a:buAutoNum type="arabicPeriod"/>
            </a:pPr>
            <a:r>
              <a:rPr lang="en-US" sz="1800" dirty="0">
                <a:solidFill>
                  <a:schemeClr val="accent2">
                    <a:lumMod val="50000"/>
                  </a:schemeClr>
                </a:solidFill>
              </a:rPr>
              <a:t>Data Acquisition</a:t>
            </a:r>
          </a:p>
          <a:p>
            <a:pPr marL="296863" indent="-296863">
              <a:spcBef>
                <a:spcPts val="0"/>
              </a:spcBef>
              <a:buFont typeface="+mj-lt"/>
              <a:buAutoNum type="arabicPeriod"/>
            </a:pPr>
            <a:r>
              <a:rPr lang="en-US" sz="1800" dirty="0">
                <a:solidFill>
                  <a:schemeClr val="accent2">
                    <a:lumMod val="50000"/>
                  </a:schemeClr>
                </a:solidFill>
              </a:rPr>
              <a:t>Data Preparation</a:t>
            </a:r>
          </a:p>
          <a:p>
            <a:pPr marL="296863" indent="-296863">
              <a:spcBef>
                <a:spcPts val="0"/>
              </a:spcBef>
              <a:buFont typeface="+mj-lt"/>
              <a:buAutoNum type="arabicPeriod"/>
            </a:pPr>
            <a:r>
              <a:rPr lang="en-US" sz="1800" dirty="0">
                <a:solidFill>
                  <a:schemeClr val="accent2">
                    <a:lumMod val="50000"/>
                  </a:schemeClr>
                </a:solidFill>
              </a:rPr>
              <a:t>Aggregation and Analysis</a:t>
            </a:r>
          </a:p>
          <a:p>
            <a:pPr marL="296863" indent="-296863">
              <a:spcBef>
                <a:spcPts val="0"/>
              </a:spcBef>
              <a:buFont typeface="+mj-lt"/>
              <a:buAutoNum type="arabicPeriod"/>
            </a:pPr>
            <a:r>
              <a:rPr lang="en-US" sz="1800" dirty="0">
                <a:solidFill>
                  <a:schemeClr val="accent2">
                    <a:lumMod val="50000"/>
                  </a:schemeClr>
                </a:solidFill>
              </a:rPr>
              <a:t>Integrate Census Data</a:t>
            </a:r>
          </a:p>
          <a:p>
            <a:pPr marL="296863" indent="-296863">
              <a:spcBef>
                <a:spcPts val="0"/>
              </a:spcBef>
              <a:buFont typeface="+mj-lt"/>
              <a:buAutoNum type="arabicPeriod"/>
            </a:pPr>
            <a:r>
              <a:rPr lang="en-US" sz="1800" dirty="0">
                <a:solidFill>
                  <a:schemeClr val="accent2">
                    <a:lumMod val="50000"/>
                  </a:schemeClr>
                </a:solidFill>
              </a:rPr>
              <a:t>Visualizations</a:t>
            </a:r>
          </a:p>
          <a:p>
            <a:pPr marL="296863" indent="-296863">
              <a:spcBef>
                <a:spcPts val="0"/>
              </a:spcBef>
              <a:buFont typeface="+mj-lt"/>
              <a:buAutoNum type="arabicPeriod"/>
            </a:pPr>
            <a:r>
              <a:rPr lang="en-US" sz="1800" dirty="0">
                <a:solidFill>
                  <a:schemeClr val="accent2">
                    <a:lumMod val="50000"/>
                  </a:schemeClr>
                </a:solidFill>
              </a:rPr>
              <a:t>Documentation and Reporting</a:t>
            </a:r>
          </a:p>
        </p:txBody>
      </p:sp>
    </p:spTree>
    <p:extLst>
      <p:ext uri="{BB962C8B-B14F-4D97-AF65-F5344CB8AC3E}">
        <p14:creationId xmlns:p14="http://schemas.microsoft.com/office/powerpoint/2010/main" val="25411468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AA382597-0A16-E66E-C531-5897A8606C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FB4887-7DA5-679F-9358-7432B6E534D3}"/>
              </a:ext>
            </a:extLst>
          </p:cNvPr>
          <p:cNvSpPr>
            <a:spLocks noGrp="1"/>
          </p:cNvSpPr>
          <p:nvPr>
            <p:ph type="title"/>
          </p:nvPr>
        </p:nvSpPr>
        <p:spPr/>
        <p:txBody>
          <a:bodyPr/>
          <a:lstStyle/>
          <a:p>
            <a:r>
              <a:rPr lang="en-US" dirty="0">
                <a:solidFill>
                  <a:schemeClr val="accent2">
                    <a:lumMod val="50000"/>
                  </a:schemeClr>
                </a:solidFill>
              </a:rPr>
              <a:t>Assignment #2 – Part 1</a:t>
            </a:r>
          </a:p>
        </p:txBody>
      </p:sp>
      <p:sp>
        <p:nvSpPr>
          <p:cNvPr id="3" name="Content Placeholder 2">
            <a:extLst>
              <a:ext uri="{FF2B5EF4-FFF2-40B4-BE49-F238E27FC236}">
                <a16:creationId xmlns:a16="http://schemas.microsoft.com/office/drawing/2014/main" id="{694A67B5-2780-B5CE-49FF-CEA3A00E670E}"/>
              </a:ext>
            </a:extLst>
          </p:cNvPr>
          <p:cNvSpPr>
            <a:spLocks noGrp="1"/>
          </p:cNvSpPr>
          <p:nvPr>
            <p:ph idx="1"/>
          </p:nvPr>
        </p:nvSpPr>
        <p:spPr/>
        <p:txBody>
          <a:bodyPr>
            <a:noAutofit/>
          </a:bodyPr>
          <a:lstStyle/>
          <a:p>
            <a:pPr marL="0" indent="0">
              <a:buNone/>
            </a:pPr>
            <a:r>
              <a:rPr lang="en-US" sz="2000" i="1" dirty="0">
                <a:solidFill>
                  <a:schemeClr val="accent2">
                    <a:lumMod val="50000"/>
                  </a:schemeClr>
                </a:solidFill>
              </a:rPr>
              <a:t>1. Data Acquisition </a:t>
            </a:r>
          </a:p>
          <a:p>
            <a:pPr marL="0" indent="0">
              <a:buNone/>
            </a:pPr>
            <a:r>
              <a:rPr lang="en-US" sz="2000" b="1" dirty="0">
                <a:solidFill>
                  <a:schemeClr val="accent2">
                    <a:lumMod val="50000"/>
                  </a:schemeClr>
                </a:solidFill>
              </a:rPr>
              <a:t>Parcel Data</a:t>
            </a:r>
          </a:p>
          <a:p>
            <a:r>
              <a:rPr lang="en-US" sz="2000" dirty="0">
                <a:solidFill>
                  <a:schemeClr val="accent2">
                    <a:lumMod val="50000"/>
                  </a:schemeClr>
                </a:solidFill>
              </a:rPr>
              <a:t>Visit the </a:t>
            </a:r>
            <a:r>
              <a:rPr lang="en-US" sz="2000" b="1" dirty="0">
                <a:solidFill>
                  <a:schemeClr val="accent2">
                    <a:lumMod val="50000"/>
                  </a:schemeClr>
                </a:solidFill>
              </a:rPr>
              <a:t>Texas Natural Resources Information System </a:t>
            </a:r>
            <a:r>
              <a:rPr lang="en-US" sz="2000" dirty="0">
                <a:solidFill>
                  <a:schemeClr val="accent2">
                    <a:lumMod val="50000"/>
                  </a:schemeClr>
                </a:solidFill>
              </a:rPr>
              <a:t>(TNRIS) portal </a:t>
            </a:r>
            <a:r>
              <a:rPr lang="en-US" sz="2000" dirty="0">
                <a:hlinkClick r:id="rId2"/>
              </a:rPr>
              <a:t>https://tnris.org/stratmap/land-parcels.html</a:t>
            </a:r>
            <a:endParaRPr lang="en-US" sz="2000" dirty="0"/>
          </a:p>
          <a:p>
            <a:r>
              <a:rPr lang="en-US" sz="2000" dirty="0">
                <a:solidFill>
                  <a:schemeClr val="accent2">
                    <a:lumMod val="50000"/>
                  </a:schemeClr>
                </a:solidFill>
              </a:rPr>
              <a:t>Select parcel data for </a:t>
            </a:r>
            <a:r>
              <a:rPr lang="en-US" sz="2000" u="sng" dirty="0">
                <a:solidFill>
                  <a:schemeClr val="accent2">
                    <a:lumMod val="50000"/>
                  </a:schemeClr>
                </a:solidFill>
              </a:rPr>
              <a:t>5 neighboring counties of your choice</a:t>
            </a:r>
            <a:endParaRPr lang="en-US" sz="2000" dirty="0">
              <a:solidFill>
                <a:schemeClr val="accent2">
                  <a:lumMod val="50000"/>
                </a:schemeClr>
              </a:solidFill>
            </a:endParaRPr>
          </a:p>
          <a:p>
            <a:r>
              <a:rPr lang="en-US" sz="2000" dirty="0">
                <a:solidFill>
                  <a:schemeClr val="accent2">
                    <a:lumMod val="50000"/>
                  </a:schemeClr>
                </a:solidFill>
              </a:rPr>
              <a:t>Download the 2025 parcel datasets for each county and unzip in a folder (a local folder with raw parcel shapefiles files for the counties)</a:t>
            </a:r>
          </a:p>
        </p:txBody>
      </p:sp>
      <p:sp>
        <p:nvSpPr>
          <p:cNvPr id="4" name="Slide Number Placeholder 3">
            <a:extLst>
              <a:ext uri="{FF2B5EF4-FFF2-40B4-BE49-F238E27FC236}">
                <a16:creationId xmlns:a16="http://schemas.microsoft.com/office/drawing/2014/main" id="{2896EDBD-1955-D9F0-984C-FE9822B4E8D0}"/>
              </a:ext>
            </a:extLst>
          </p:cNvPr>
          <p:cNvSpPr>
            <a:spLocks noGrp="1"/>
          </p:cNvSpPr>
          <p:nvPr>
            <p:ph type="sldNum" sz="quarter" idx="12"/>
          </p:nvPr>
        </p:nvSpPr>
        <p:spPr/>
        <p:txBody>
          <a:bodyPr/>
          <a:lstStyle/>
          <a:p>
            <a:fld id="{C0343C75-1924-D247-85A3-0CB62E67E5D1}" type="slidenum">
              <a:rPr lang="en-US" smtClean="0"/>
              <a:t>43</a:t>
            </a:fld>
            <a:endParaRPr lang="en-US"/>
          </a:p>
        </p:txBody>
      </p:sp>
    </p:spTree>
    <p:extLst>
      <p:ext uri="{BB962C8B-B14F-4D97-AF65-F5344CB8AC3E}">
        <p14:creationId xmlns:p14="http://schemas.microsoft.com/office/powerpoint/2010/main" val="27229030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273B5732-00AE-208F-41D6-BA27EAF3F2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E96BC9-1624-6F9E-560E-2E93662AF191}"/>
              </a:ext>
            </a:extLst>
          </p:cNvPr>
          <p:cNvSpPr>
            <a:spLocks noGrp="1"/>
          </p:cNvSpPr>
          <p:nvPr>
            <p:ph type="title"/>
          </p:nvPr>
        </p:nvSpPr>
        <p:spPr/>
        <p:txBody>
          <a:bodyPr/>
          <a:lstStyle/>
          <a:p>
            <a:r>
              <a:rPr lang="en-US" dirty="0">
                <a:solidFill>
                  <a:schemeClr val="accent2">
                    <a:lumMod val="50000"/>
                  </a:schemeClr>
                </a:solidFill>
              </a:rPr>
              <a:t>Assignment #2 – Part 2</a:t>
            </a:r>
          </a:p>
        </p:txBody>
      </p:sp>
      <p:sp>
        <p:nvSpPr>
          <p:cNvPr id="3" name="Content Placeholder 2">
            <a:extLst>
              <a:ext uri="{FF2B5EF4-FFF2-40B4-BE49-F238E27FC236}">
                <a16:creationId xmlns:a16="http://schemas.microsoft.com/office/drawing/2014/main" id="{FBC040C0-6C80-F766-81ED-FCF4B6C6AF35}"/>
              </a:ext>
            </a:extLst>
          </p:cNvPr>
          <p:cNvSpPr>
            <a:spLocks noGrp="1"/>
          </p:cNvSpPr>
          <p:nvPr>
            <p:ph idx="1"/>
          </p:nvPr>
        </p:nvSpPr>
        <p:spPr>
          <a:xfrm>
            <a:off x="457199" y="1600517"/>
            <a:ext cx="8313821" cy="4572000"/>
          </a:xfrm>
        </p:spPr>
        <p:txBody>
          <a:bodyPr>
            <a:noAutofit/>
          </a:bodyPr>
          <a:lstStyle/>
          <a:p>
            <a:pPr marL="0" indent="0">
              <a:buNone/>
            </a:pPr>
            <a:r>
              <a:rPr lang="en-US" sz="2000" i="1" dirty="0">
                <a:solidFill>
                  <a:schemeClr val="accent2">
                    <a:lumMod val="50000"/>
                  </a:schemeClr>
                </a:solidFill>
              </a:rPr>
              <a:t>2. Data Preparation</a:t>
            </a:r>
          </a:p>
          <a:p>
            <a:pPr marL="0" indent="0">
              <a:buNone/>
            </a:pPr>
            <a:r>
              <a:rPr lang="en-US" sz="2000" dirty="0">
                <a:solidFill>
                  <a:schemeClr val="accent2">
                    <a:lumMod val="50000"/>
                  </a:schemeClr>
                </a:solidFill>
              </a:rPr>
              <a:t>Using </a:t>
            </a:r>
            <a:r>
              <a:rPr lang="en-US" sz="2000" b="1" dirty="0">
                <a:solidFill>
                  <a:schemeClr val="accent2">
                    <a:lumMod val="50000"/>
                  </a:schemeClr>
                </a:solidFill>
              </a:rPr>
              <a:t>R</a:t>
            </a:r>
            <a:r>
              <a:rPr lang="en-US" sz="2000" dirty="0">
                <a:solidFill>
                  <a:schemeClr val="accent2">
                    <a:lumMod val="50000"/>
                  </a:schemeClr>
                </a:solidFill>
              </a:rPr>
              <a:t> (with </a:t>
            </a:r>
            <a:r>
              <a:rPr lang="en-US" sz="2000" b="1" dirty="0">
                <a:solidFill>
                  <a:schemeClr val="accent2">
                    <a:lumMod val="50000"/>
                  </a:schemeClr>
                </a:solidFill>
                <a:latin typeface="OSAKA-MONO" panose="020B0600000000000000" pitchFamily="34" charset="-128"/>
                <a:ea typeface="OSAKA-MONO" panose="020B0600000000000000" pitchFamily="34" charset="-128"/>
              </a:rPr>
              <a:t>sf</a:t>
            </a:r>
            <a:r>
              <a:rPr lang="en-US" sz="2000" dirty="0">
                <a:solidFill>
                  <a:schemeClr val="accent2">
                    <a:lumMod val="50000"/>
                  </a:schemeClr>
                </a:solidFill>
              </a:rPr>
              <a:t>, </a:t>
            </a:r>
            <a:r>
              <a:rPr lang="en-US" sz="2000" b="1" dirty="0" err="1">
                <a:solidFill>
                  <a:schemeClr val="accent2">
                    <a:lumMod val="50000"/>
                  </a:schemeClr>
                </a:solidFill>
                <a:latin typeface="OSAKA-MONO" panose="020B0600000000000000" pitchFamily="34" charset="-128"/>
                <a:ea typeface="OSAKA-MONO" panose="020B0600000000000000" pitchFamily="34" charset="-128"/>
              </a:rPr>
              <a:t>dplyr</a:t>
            </a:r>
            <a:r>
              <a:rPr lang="en-US" sz="2000" dirty="0">
                <a:solidFill>
                  <a:schemeClr val="accent2">
                    <a:lumMod val="50000"/>
                  </a:schemeClr>
                </a:solidFill>
              </a:rPr>
              <a:t>, and </a:t>
            </a:r>
            <a:r>
              <a:rPr lang="en-US" sz="2000" b="1" dirty="0" err="1">
                <a:solidFill>
                  <a:schemeClr val="accent2">
                    <a:lumMod val="50000"/>
                  </a:schemeClr>
                </a:solidFill>
                <a:latin typeface="OSAKA-MONO" panose="020B0600000000000000" pitchFamily="34" charset="-128"/>
                <a:ea typeface="OSAKA-MONO" panose="020B0600000000000000" pitchFamily="34" charset="-128"/>
              </a:rPr>
              <a:t>tidyr</a:t>
            </a:r>
            <a:r>
              <a:rPr lang="en-US" sz="2000" dirty="0">
                <a:solidFill>
                  <a:schemeClr val="accent2">
                    <a:lumMod val="50000"/>
                  </a:schemeClr>
                </a:solidFill>
              </a:rPr>
              <a:t>)</a:t>
            </a:r>
          </a:p>
          <a:p>
            <a:pPr>
              <a:buFont typeface="+mj-lt"/>
              <a:buAutoNum type="alphaLcPeriod"/>
            </a:pPr>
            <a:r>
              <a:rPr lang="en-US" sz="2000" dirty="0">
                <a:solidFill>
                  <a:schemeClr val="accent2">
                    <a:lumMod val="50000"/>
                  </a:schemeClr>
                </a:solidFill>
              </a:rPr>
              <a:t>Read the parcel files, standardize and inspect</a:t>
            </a:r>
          </a:p>
          <a:p>
            <a:pPr lvl="1"/>
            <a:r>
              <a:rPr lang="en-US" dirty="0">
                <a:solidFill>
                  <a:schemeClr val="accent2">
                    <a:lumMod val="50000"/>
                  </a:schemeClr>
                </a:solidFill>
              </a:rPr>
              <a:t>Combine all counties into a single sf object</a:t>
            </a:r>
          </a:p>
          <a:p>
            <a:pPr lvl="1"/>
            <a:r>
              <a:rPr lang="en-US" dirty="0">
                <a:solidFill>
                  <a:schemeClr val="accent2">
                    <a:lumMod val="50000"/>
                  </a:schemeClr>
                </a:solidFill>
              </a:rPr>
              <a:t>If needed, ensure projections</a:t>
            </a:r>
            <a:r>
              <a:rPr lang="en-US" baseline="30000" dirty="0">
                <a:solidFill>
                  <a:schemeClr val="accent2">
                    <a:lumMod val="50000"/>
                  </a:schemeClr>
                </a:solidFill>
              </a:rPr>
              <a:t>(and fields)</a:t>
            </a:r>
            <a:r>
              <a:rPr lang="en-US" dirty="0">
                <a:solidFill>
                  <a:schemeClr val="accent2">
                    <a:lumMod val="50000"/>
                  </a:schemeClr>
                </a:solidFill>
              </a:rPr>
              <a:t> are consistent across counties</a:t>
            </a:r>
          </a:p>
          <a:p>
            <a:pPr lvl="1"/>
            <a:r>
              <a:rPr lang="en-US" dirty="0">
                <a:solidFill>
                  <a:schemeClr val="accent2">
                    <a:lumMod val="50000"/>
                  </a:schemeClr>
                </a:solidFill>
              </a:rPr>
              <a:t>Inspect </a:t>
            </a:r>
            <a:r>
              <a:rPr lang="en-US" b="1" dirty="0">
                <a:solidFill>
                  <a:schemeClr val="accent2">
                    <a:lumMod val="50000"/>
                  </a:schemeClr>
                </a:solidFill>
                <a:latin typeface="OSAKA-MONO" panose="020B0600000000000000" pitchFamily="34" charset="-128"/>
                <a:ea typeface="OSAKA-MONO" panose="020B0600000000000000" pitchFamily="34" charset="-128"/>
              </a:rPr>
              <a:t>STAT_LAND_</a:t>
            </a:r>
            <a:r>
              <a:rPr lang="en-US" b="1" dirty="0">
                <a:solidFill>
                  <a:schemeClr val="accent2">
                    <a:lumMod val="50000"/>
                  </a:schemeClr>
                </a:solidFill>
              </a:rPr>
              <a:t> and </a:t>
            </a:r>
            <a:r>
              <a:rPr lang="en-US" b="1" dirty="0">
                <a:solidFill>
                  <a:schemeClr val="accent2">
                    <a:lumMod val="50000"/>
                  </a:schemeClr>
                </a:solidFill>
                <a:latin typeface="OSAKA-MONO" panose="020B0600000000000000" pitchFamily="34" charset="-128"/>
                <a:ea typeface="OSAKA-MONO" panose="020B0600000000000000" pitchFamily="34" charset="-128"/>
              </a:rPr>
              <a:t>IMP_VALUE</a:t>
            </a:r>
          </a:p>
          <a:p>
            <a:pPr marL="238125" indent="-238125">
              <a:buFont typeface="+mj-lt"/>
              <a:buAutoNum type="alphaLcPeriod"/>
            </a:pPr>
            <a:r>
              <a:rPr lang="en-US" sz="2000" dirty="0">
                <a:solidFill>
                  <a:schemeClr val="accent2">
                    <a:lumMod val="50000"/>
                  </a:schemeClr>
                </a:solidFill>
              </a:rPr>
              <a:t>Filter for single-family houses</a:t>
            </a:r>
          </a:p>
          <a:p>
            <a:pPr lvl="1"/>
            <a:r>
              <a:rPr lang="en-US" dirty="0">
                <a:solidFill>
                  <a:schemeClr val="accent2">
                    <a:lumMod val="50000"/>
                  </a:schemeClr>
                </a:solidFill>
              </a:rPr>
              <a:t>Define single family residential by the parcel state code:</a:t>
            </a:r>
            <a:br>
              <a:rPr lang="en-US" dirty="0">
                <a:solidFill>
                  <a:schemeClr val="accent2">
                    <a:lumMod val="50000"/>
                  </a:schemeClr>
                </a:solidFill>
              </a:rPr>
            </a:br>
            <a:r>
              <a:rPr lang="en-US" b="1" dirty="0">
                <a:solidFill>
                  <a:schemeClr val="accent2">
                    <a:lumMod val="50000"/>
                  </a:schemeClr>
                </a:solidFill>
                <a:latin typeface="OSAKA-MONO" panose="020B0600000000000000" pitchFamily="34" charset="-128"/>
                <a:ea typeface="OSAKA-MONO" panose="020B0600000000000000" pitchFamily="34" charset="-128"/>
              </a:rPr>
              <a:t>STAT_LAND_ == "A"</a:t>
            </a:r>
          </a:p>
        </p:txBody>
      </p:sp>
      <p:sp>
        <p:nvSpPr>
          <p:cNvPr id="4" name="Slide Number Placeholder 3">
            <a:extLst>
              <a:ext uri="{FF2B5EF4-FFF2-40B4-BE49-F238E27FC236}">
                <a16:creationId xmlns:a16="http://schemas.microsoft.com/office/drawing/2014/main" id="{83EBED66-269A-D9D9-3E30-A76BC30A1C10}"/>
              </a:ext>
            </a:extLst>
          </p:cNvPr>
          <p:cNvSpPr>
            <a:spLocks noGrp="1"/>
          </p:cNvSpPr>
          <p:nvPr>
            <p:ph type="sldNum" sz="quarter" idx="12"/>
          </p:nvPr>
        </p:nvSpPr>
        <p:spPr/>
        <p:txBody>
          <a:bodyPr/>
          <a:lstStyle/>
          <a:p>
            <a:fld id="{C0343C75-1924-D247-85A3-0CB62E67E5D1}" type="slidenum">
              <a:rPr lang="en-US" smtClean="0"/>
              <a:t>44</a:t>
            </a:fld>
            <a:endParaRPr lang="en-US"/>
          </a:p>
        </p:txBody>
      </p:sp>
    </p:spTree>
    <p:extLst>
      <p:ext uri="{BB962C8B-B14F-4D97-AF65-F5344CB8AC3E}">
        <p14:creationId xmlns:p14="http://schemas.microsoft.com/office/powerpoint/2010/main" val="9568848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ACAA9AB4-020D-5DE7-5263-816DCB8BDB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CECCB6-3F87-3D21-B765-1B6A5EA3335B}"/>
              </a:ext>
            </a:extLst>
          </p:cNvPr>
          <p:cNvSpPr>
            <a:spLocks noGrp="1"/>
          </p:cNvSpPr>
          <p:nvPr>
            <p:ph type="title"/>
          </p:nvPr>
        </p:nvSpPr>
        <p:spPr/>
        <p:txBody>
          <a:bodyPr/>
          <a:lstStyle/>
          <a:p>
            <a:r>
              <a:rPr lang="en-US" dirty="0">
                <a:solidFill>
                  <a:schemeClr val="accent2">
                    <a:lumMod val="50000"/>
                  </a:schemeClr>
                </a:solidFill>
              </a:rPr>
              <a:t>Assignment #2 – Hints 1</a:t>
            </a:r>
          </a:p>
        </p:txBody>
      </p:sp>
      <p:sp>
        <p:nvSpPr>
          <p:cNvPr id="3" name="Content Placeholder 2">
            <a:extLst>
              <a:ext uri="{FF2B5EF4-FFF2-40B4-BE49-F238E27FC236}">
                <a16:creationId xmlns:a16="http://schemas.microsoft.com/office/drawing/2014/main" id="{EA2DB9BD-2572-1B12-FE35-F048CB4565A0}"/>
              </a:ext>
            </a:extLst>
          </p:cNvPr>
          <p:cNvSpPr>
            <a:spLocks noGrp="1"/>
          </p:cNvSpPr>
          <p:nvPr>
            <p:ph idx="1"/>
          </p:nvPr>
        </p:nvSpPr>
        <p:spPr/>
        <p:txBody>
          <a:bodyPr>
            <a:noAutofit/>
          </a:bodyPr>
          <a:lstStyle/>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library(sf)</a:t>
            </a:r>
          </a:p>
          <a:p>
            <a:pPr marL="0" indent="0">
              <a:spcBef>
                <a:spcPts val="0"/>
              </a:spcBef>
              <a:buNone/>
            </a:pPr>
            <a:r>
              <a:rPr lang="en-US" sz="1100" dirty="0" err="1">
                <a:solidFill>
                  <a:srgbClr val="0070C0"/>
                </a:solidFill>
                <a:latin typeface="OSAKA-MONO" panose="020B0600000000000000" pitchFamily="34" charset="-128"/>
                <a:ea typeface="OSAKA-MONO" panose="020B0600000000000000" pitchFamily="34" charset="-128"/>
              </a:rPr>
              <a:t>target_crs</a:t>
            </a:r>
            <a:r>
              <a:rPr lang="en-US" sz="1100" dirty="0">
                <a:solidFill>
                  <a:srgbClr val="0070C0"/>
                </a:solidFill>
                <a:latin typeface="OSAKA-MONO" panose="020B0600000000000000" pitchFamily="34" charset="-128"/>
                <a:ea typeface="OSAKA-MONO" panose="020B0600000000000000" pitchFamily="34" charset="-128"/>
              </a:rPr>
              <a:t> &lt;- 4326  # WGS84, change as needed/appropriated</a:t>
            </a:r>
          </a:p>
          <a:p>
            <a:pPr marL="0" indent="0">
              <a:spcBef>
                <a:spcPts val="0"/>
              </a:spcBef>
              <a:buNone/>
            </a:pPr>
            <a:endParaRPr lang="en-US" sz="1100" dirty="0">
              <a:solidFill>
                <a:srgbClr val="0070C0"/>
              </a:solidFill>
              <a:latin typeface="OSAKA-MONO" panose="020B0600000000000000" pitchFamily="34" charset="-128"/>
              <a:ea typeface="OSAKA-MONO" panose="020B0600000000000000" pitchFamily="34" charset="-128"/>
            </a:endParaRP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parcels &lt;- </a:t>
            </a:r>
            <a:r>
              <a:rPr lang="en-US" sz="1100" dirty="0" err="1">
                <a:solidFill>
                  <a:srgbClr val="0070C0"/>
                </a:solidFill>
                <a:latin typeface="OSAKA-MONO" panose="020B0600000000000000" pitchFamily="34" charset="-128"/>
                <a:ea typeface="OSAKA-MONO" panose="020B0600000000000000" pitchFamily="34" charset="-128"/>
              </a:rPr>
              <a:t>list.files</a:t>
            </a:r>
            <a:r>
              <a:rPr lang="en-US" sz="1100" dirty="0">
                <a:solidFill>
                  <a:srgbClr val="0070C0"/>
                </a:solidFill>
                <a:latin typeface="OSAKA-MONO" panose="020B0600000000000000" pitchFamily="34" charset="-128"/>
                <a:ea typeface="OSAKA-MONO" panose="020B0600000000000000" pitchFamily="34" charset="-128"/>
              </a:rPr>
              <a:t>(</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path = "/Users/</a:t>
            </a:r>
            <a:r>
              <a:rPr lang="en-US" sz="1100" dirty="0" err="1">
                <a:solidFill>
                  <a:srgbClr val="0070C0"/>
                </a:solidFill>
                <a:latin typeface="OSAKA-MONO" panose="020B0600000000000000" pitchFamily="34" charset="-128"/>
                <a:ea typeface="OSAKA-MONO" panose="020B0600000000000000" pitchFamily="34" charset="-128"/>
              </a:rPr>
              <a:t>abuabara</a:t>
            </a:r>
            <a:r>
              <a:rPr lang="en-US" sz="1100" dirty="0">
                <a:solidFill>
                  <a:srgbClr val="0070C0"/>
                </a:solidFill>
                <a:latin typeface="OSAKA-MONO" panose="020B0600000000000000" pitchFamily="34" charset="-128"/>
                <a:ea typeface="OSAKA-MONO" panose="020B0600000000000000" pitchFamily="34" charset="-128"/>
              </a:rPr>
              <a:t>/Downloads/DAEN489_data/parcels",</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pattern = "\\.</a:t>
            </a:r>
            <a:r>
              <a:rPr lang="en-US" sz="1100" dirty="0" err="1">
                <a:solidFill>
                  <a:srgbClr val="0070C0"/>
                </a:solidFill>
                <a:latin typeface="OSAKA-MONO" panose="020B0600000000000000" pitchFamily="34" charset="-128"/>
                <a:ea typeface="OSAKA-MONO" panose="020B0600000000000000" pitchFamily="34" charset="-128"/>
              </a:rPr>
              <a:t>shp</a:t>
            </a:r>
            <a:r>
              <a:rPr lang="en-US" sz="1100" dirty="0">
                <a:solidFill>
                  <a:srgbClr val="0070C0"/>
                </a:solidFill>
                <a:latin typeface="OSAKA-MONO" panose="020B0600000000000000" pitchFamily="34" charset="-128"/>
                <a:ea typeface="OSAKA-MONO" panose="020B0600000000000000" pitchFamily="34" charset="-128"/>
              </a:rPr>
              <a:t>$",</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a:t>
            </a:r>
            <a:r>
              <a:rPr lang="en-US" sz="1100" dirty="0" err="1">
                <a:solidFill>
                  <a:srgbClr val="0070C0"/>
                </a:solidFill>
                <a:latin typeface="OSAKA-MONO" panose="020B0600000000000000" pitchFamily="34" charset="-128"/>
                <a:ea typeface="OSAKA-MONO" panose="020B0600000000000000" pitchFamily="34" charset="-128"/>
              </a:rPr>
              <a:t>full.names</a:t>
            </a:r>
            <a:r>
              <a:rPr lang="en-US" sz="1100" dirty="0">
                <a:solidFill>
                  <a:srgbClr val="0070C0"/>
                </a:solidFill>
                <a:latin typeface="OSAKA-MONO" panose="020B0600000000000000" pitchFamily="34" charset="-128"/>
                <a:ea typeface="OSAKA-MONO" panose="020B0600000000000000" pitchFamily="34" charset="-128"/>
              </a:rPr>
              <a:t> = TRUE,</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recursive = TRUE</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a:t>
            </a:r>
          </a:p>
          <a:p>
            <a:pPr marL="0" indent="0">
              <a:spcBef>
                <a:spcPts val="0"/>
              </a:spcBef>
              <a:buNone/>
            </a:pPr>
            <a:endParaRPr lang="en-US" sz="1100" dirty="0">
              <a:solidFill>
                <a:srgbClr val="0070C0"/>
              </a:solidFill>
              <a:latin typeface="OSAKA-MONO" panose="020B0600000000000000" pitchFamily="34" charset="-128"/>
              <a:ea typeface="OSAKA-MONO" panose="020B0600000000000000" pitchFamily="34" charset="-128"/>
            </a:endParaRPr>
          </a:p>
          <a:p>
            <a:pPr marL="0" indent="0">
              <a:spcBef>
                <a:spcPts val="0"/>
              </a:spcBef>
              <a:buNone/>
            </a:pPr>
            <a:r>
              <a:rPr lang="en-US" sz="1100" dirty="0" err="1">
                <a:solidFill>
                  <a:srgbClr val="0070C0"/>
                </a:solidFill>
                <a:latin typeface="OSAKA-MONO" panose="020B0600000000000000" pitchFamily="34" charset="-128"/>
                <a:ea typeface="OSAKA-MONO" panose="020B0600000000000000" pitchFamily="34" charset="-128"/>
              </a:rPr>
              <a:t>parcels_all</a:t>
            </a:r>
            <a:r>
              <a:rPr lang="en-US" sz="1100" dirty="0">
                <a:solidFill>
                  <a:srgbClr val="0070C0"/>
                </a:solidFill>
                <a:latin typeface="OSAKA-MONO" panose="020B0600000000000000" pitchFamily="34" charset="-128"/>
                <a:ea typeface="OSAKA-MONO" panose="020B0600000000000000" pitchFamily="34" charset="-128"/>
              </a:rPr>
              <a:t> &lt;- </a:t>
            </a:r>
            <a:r>
              <a:rPr lang="en-US" sz="1100" dirty="0" err="1">
                <a:solidFill>
                  <a:srgbClr val="0070C0"/>
                </a:solidFill>
                <a:latin typeface="OSAKA-MONO" panose="020B0600000000000000" pitchFamily="34" charset="-128"/>
                <a:ea typeface="OSAKA-MONO" panose="020B0600000000000000" pitchFamily="34" charset="-128"/>
              </a:rPr>
              <a:t>do.call</a:t>
            </a:r>
            <a:r>
              <a:rPr lang="en-US" sz="1100" dirty="0">
                <a:solidFill>
                  <a:srgbClr val="0070C0"/>
                </a:solidFill>
                <a:latin typeface="OSAKA-MONO" panose="020B0600000000000000" pitchFamily="34" charset="-128"/>
                <a:ea typeface="OSAKA-MONO" panose="020B0600000000000000" pitchFamily="34" charset="-128"/>
              </a:rPr>
              <a:t>(</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a:t>
            </a:r>
            <a:r>
              <a:rPr lang="en-US" sz="1100" dirty="0" err="1">
                <a:solidFill>
                  <a:srgbClr val="0070C0"/>
                </a:solidFill>
                <a:latin typeface="OSAKA-MONO" panose="020B0600000000000000" pitchFamily="34" charset="-128"/>
                <a:ea typeface="OSAKA-MONO" panose="020B0600000000000000" pitchFamily="34" charset="-128"/>
              </a:rPr>
              <a:t>rbind</a:t>
            </a:r>
            <a:r>
              <a:rPr lang="en-US" sz="1100" dirty="0">
                <a:solidFill>
                  <a:srgbClr val="0070C0"/>
                </a:solidFill>
                <a:latin typeface="OSAKA-MONO" panose="020B0600000000000000" pitchFamily="34" charset="-128"/>
                <a:ea typeface="OSAKA-MONO" panose="020B0600000000000000" pitchFamily="34" charset="-128"/>
              </a:rPr>
              <a:t>,</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a:t>
            </a:r>
            <a:r>
              <a:rPr lang="en-US" sz="1100" dirty="0" err="1">
                <a:solidFill>
                  <a:srgbClr val="0070C0"/>
                </a:solidFill>
                <a:latin typeface="OSAKA-MONO" panose="020B0600000000000000" pitchFamily="34" charset="-128"/>
                <a:ea typeface="OSAKA-MONO" panose="020B0600000000000000" pitchFamily="34" charset="-128"/>
              </a:rPr>
              <a:t>lapply</a:t>
            </a:r>
            <a:r>
              <a:rPr lang="en-US" sz="1100" dirty="0">
                <a:solidFill>
                  <a:srgbClr val="0070C0"/>
                </a:solidFill>
                <a:latin typeface="OSAKA-MONO" panose="020B0600000000000000" pitchFamily="34" charset="-128"/>
                <a:ea typeface="OSAKA-MONO" panose="020B0600000000000000" pitchFamily="34" charset="-128"/>
              </a:rPr>
              <a:t>(</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parcels,</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function(f) {</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x &lt;- </a:t>
            </a:r>
            <a:r>
              <a:rPr lang="en-US" sz="1100" dirty="0" err="1">
                <a:solidFill>
                  <a:srgbClr val="0070C0"/>
                </a:solidFill>
                <a:latin typeface="OSAKA-MONO" panose="020B0600000000000000" pitchFamily="34" charset="-128"/>
                <a:ea typeface="OSAKA-MONO" panose="020B0600000000000000" pitchFamily="34" charset="-128"/>
              </a:rPr>
              <a:t>st_read</a:t>
            </a:r>
            <a:r>
              <a:rPr lang="en-US" sz="1100" dirty="0">
                <a:solidFill>
                  <a:srgbClr val="0070C0"/>
                </a:solidFill>
                <a:latin typeface="OSAKA-MONO" panose="020B0600000000000000" pitchFamily="34" charset="-128"/>
                <a:ea typeface="OSAKA-MONO" panose="020B0600000000000000" pitchFamily="34" charset="-128"/>
              </a:rPr>
              <a:t>(f, quiet = TRUE)</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if (</a:t>
            </a:r>
            <a:r>
              <a:rPr lang="en-US" sz="1100" dirty="0" err="1">
                <a:solidFill>
                  <a:srgbClr val="0070C0"/>
                </a:solidFill>
                <a:latin typeface="OSAKA-MONO" panose="020B0600000000000000" pitchFamily="34" charset="-128"/>
                <a:ea typeface="OSAKA-MONO" panose="020B0600000000000000" pitchFamily="34" charset="-128"/>
              </a:rPr>
              <a:t>is.na</a:t>
            </a:r>
            <a:r>
              <a:rPr lang="en-US" sz="1100" dirty="0">
                <a:solidFill>
                  <a:srgbClr val="0070C0"/>
                </a:solidFill>
                <a:latin typeface="OSAKA-MONO" panose="020B0600000000000000" pitchFamily="34" charset="-128"/>
                <a:ea typeface="OSAKA-MONO" panose="020B0600000000000000" pitchFamily="34" charset="-128"/>
              </a:rPr>
              <a:t>(</a:t>
            </a:r>
            <a:r>
              <a:rPr lang="en-US" sz="1100" dirty="0" err="1">
                <a:solidFill>
                  <a:srgbClr val="0070C0"/>
                </a:solidFill>
                <a:latin typeface="OSAKA-MONO" panose="020B0600000000000000" pitchFamily="34" charset="-128"/>
                <a:ea typeface="OSAKA-MONO" panose="020B0600000000000000" pitchFamily="34" charset="-128"/>
              </a:rPr>
              <a:t>st_crs</a:t>
            </a:r>
            <a:r>
              <a:rPr lang="en-US" sz="1100" dirty="0">
                <a:solidFill>
                  <a:srgbClr val="0070C0"/>
                </a:solidFill>
                <a:latin typeface="OSAKA-MONO" panose="020B0600000000000000" pitchFamily="34" charset="-128"/>
                <a:ea typeface="OSAKA-MONO" panose="020B0600000000000000" pitchFamily="34" charset="-128"/>
              </a:rPr>
              <a:t>(x))) {</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a:t>
            </a:r>
            <a:r>
              <a:rPr lang="en-US" sz="1100" dirty="0" err="1">
                <a:solidFill>
                  <a:srgbClr val="0070C0"/>
                </a:solidFill>
                <a:latin typeface="OSAKA-MONO" panose="020B0600000000000000" pitchFamily="34" charset="-128"/>
                <a:ea typeface="OSAKA-MONO" panose="020B0600000000000000" pitchFamily="34" charset="-128"/>
              </a:rPr>
              <a:t>st_crs</a:t>
            </a:r>
            <a:r>
              <a:rPr lang="en-US" sz="1100" dirty="0">
                <a:solidFill>
                  <a:srgbClr val="0070C0"/>
                </a:solidFill>
                <a:latin typeface="OSAKA-MONO" panose="020B0600000000000000" pitchFamily="34" charset="-128"/>
                <a:ea typeface="OSAKA-MONO" panose="020B0600000000000000" pitchFamily="34" charset="-128"/>
              </a:rPr>
              <a:t>(x) &lt;- </a:t>
            </a:r>
            <a:r>
              <a:rPr lang="en-US" sz="1100" dirty="0" err="1">
                <a:solidFill>
                  <a:srgbClr val="0070C0"/>
                </a:solidFill>
                <a:latin typeface="OSAKA-MONO" panose="020B0600000000000000" pitchFamily="34" charset="-128"/>
                <a:ea typeface="OSAKA-MONO" panose="020B0600000000000000" pitchFamily="34" charset="-128"/>
              </a:rPr>
              <a:t>target_crs</a:t>
            </a:r>
            <a:endParaRPr lang="en-US" sz="1100" dirty="0">
              <a:solidFill>
                <a:srgbClr val="0070C0"/>
              </a:solidFill>
              <a:latin typeface="OSAKA-MONO" panose="020B0600000000000000" pitchFamily="34" charset="-128"/>
              <a:ea typeface="OSAKA-MONO" panose="020B0600000000000000" pitchFamily="34" charset="-128"/>
            </a:endParaRP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x &lt;- </a:t>
            </a:r>
            <a:r>
              <a:rPr lang="en-US" sz="1100" dirty="0" err="1">
                <a:solidFill>
                  <a:srgbClr val="0070C0"/>
                </a:solidFill>
                <a:latin typeface="OSAKA-MONO" panose="020B0600000000000000" pitchFamily="34" charset="-128"/>
                <a:ea typeface="OSAKA-MONO" panose="020B0600000000000000" pitchFamily="34" charset="-128"/>
              </a:rPr>
              <a:t>st_transform</a:t>
            </a:r>
            <a:r>
              <a:rPr lang="en-US" sz="1100" dirty="0">
                <a:solidFill>
                  <a:srgbClr val="0070C0"/>
                </a:solidFill>
                <a:latin typeface="OSAKA-MONO" panose="020B0600000000000000" pitchFamily="34" charset="-128"/>
                <a:ea typeface="OSAKA-MONO" panose="020B0600000000000000" pitchFamily="34" charset="-128"/>
              </a:rPr>
              <a:t>(x, </a:t>
            </a:r>
            <a:r>
              <a:rPr lang="en-US" sz="1100" dirty="0" err="1">
                <a:solidFill>
                  <a:srgbClr val="0070C0"/>
                </a:solidFill>
                <a:latin typeface="OSAKA-MONO" panose="020B0600000000000000" pitchFamily="34" charset="-128"/>
                <a:ea typeface="OSAKA-MONO" panose="020B0600000000000000" pitchFamily="34" charset="-128"/>
              </a:rPr>
              <a:t>target_crs</a:t>
            </a:r>
            <a:r>
              <a:rPr lang="en-US" sz="1100" dirty="0">
                <a:solidFill>
                  <a:srgbClr val="0070C0"/>
                </a:solidFill>
                <a:latin typeface="OSAKA-MONO" panose="020B0600000000000000" pitchFamily="34" charset="-128"/>
                <a:ea typeface="OSAKA-MONO" panose="020B0600000000000000" pitchFamily="34" charset="-128"/>
              </a:rPr>
              <a:t>)</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a:t>
            </a:r>
            <a:r>
              <a:rPr lang="en-US" sz="1100" dirty="0" err="1">
                <a:solidFill>
                  <a:srgbClr val="0070C0"/>
                </a:solidFill>
                <a:latin typeface="OSAKA-MONO" panose="020B0600000000000000" pitchFamily="34" charset="-128"/>
                <a:ea typeface="OSAKA-MONO" panose="020B0600000000000000" pitchFamily="34" charset="-128"/>
              </a:rPr>
              <a:t>x$source_file</a:t>
            </a:r>
            <a:r>
              <a:rPr lang="en-US" sz="1100" dirty="0">
                <a:solidFill>
                  <a:srgbClr val="0070C0"/>
                </a:solidFill>
                <a:latin typeface="OSAKA-MONO" panose="020B0600000000000000" pitchFamily="34" charset="-128"/>
                <a:ea typeface="OSAKA-MONO" panose="020B0600000000000000" pitchFamily="34" charset="-128"/>
              </a:rPr>
              <a:t> &lt;- </a:t>
            </a:r>
            <a:r>
              <a:rPr lang="en-US" sz="1100" dirty="0" err="1">
                <a:solidFill>
                  <a:srgbClr val="0070C0"/>
                </a:solidFill>
                <a:latin typeface="OSAKA-MONO" panose="020B0600000000000000" pitchFamily="34" charset="-128"/>
                <a:ea typeface="OSAKA-MONO" panose="020B0600000000000000" pitchFamily="34" charset="-128"/>
              </a:rPr>
              <a:t>basename</a:t>
            </a:r>
            <a:r>
              <a:rPr lang="en-US" sz="1100" dirty="0">
                <a:solidFill>
                  <a:srgbClr val="0070C0"/>
                </a:solidFill>
                <a:latin typeface="OSAKA-MONO" panose="020B0600000000000000" pitchFamily="34" charset="-128"/>
                <a:ea typeface="OSAKA-MONO" panose="020B0600000000000000" pitchFamily="34" charset="-128"/>
              </a:rPr>
              <a:t>(f)</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x</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a:t>
            </a:r>
          </a:p>
          <a:p>
            <a:pPr marL="0" indent="0">
              <a:spcBef>
                <a:spcPts val="0"/>
              </a:spcBef>
              <a:buNone/>
            </a:pPr>
            <a:endParaRPr lang="en-US" sz="1100" dirty="0">
              <a:solidFill>
                <a:srgbClr val="0070C0"/>
              </a:solidFill>
              <a:latin typeface="OSAKA-MONO" panose="020B0600000000000000" pitchFamily="34" charset="-128"/>
              <a:ea typeface="OSAKA-MONO" panose="020B0600000000000000" pitchFamily="34" charset="-128"/>
            </a:endParaRP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parcels_all$STAT_LAND_2 &lt;- </a:t>
            </a:r>
            <a:r>
              <a:rPr lang="en-US" sz="1100" dirty="0" err="1">
                <a:solidFill>
                  <a:srgbClr val="0070C0"/>
                </a:solidFill>
                <a:latin typeface="OSAKA-MONO" panose="020B0600000000000000" pitchFamily="34" charset="-128"/>
                <a:ea typeface="OSAKA-MONO" panose="020B0600000000000000" pitchFamily="34" charset="-128"/>
              </a:rPr>
              <a:t>substr</a:t>
            </a:r>
            <a:r>
              <a:rPr lang="en-US" sz="1100" dirty="0">
                <a:solidFill>
                  <a:srgbClr val="0070C0"/>
                </a:solidFill>
                <a:latin typeface="OSAKA-MONO" panose="020B0600000000000000" pitchFamily="34" charset="-128"/>
                <a:ea typeface="OSAKA-MONO" panose="020B0600000000000000" pitchFamily="34" charset="-128"/>
              </a:rPr>
              <a:t>(</a:t>
            </a:r>
            <a:r>
              <a:rPr lang="en-US" sz="1100" dirty="0" err="1">
                <a:solidFill>
                  <a:srgbClr val="0070C0"/>
                </a:solidFill>
                <a:latin typeface="OSAKA-MONO" panose="020B0600000000000000" pitchFamily="34" charset="-128"/>
                <a:ea typeface="OSAKA-MONO" panose="020B0600000000000000" pitchFamily="34" charset="-128"/>
              </a:rPr>
              <a:t>parcels_all$STAT_LAND</a:t>
            </a:r>
            <a:r>
              <a:rPr lang="en-US" sz="1100" dirty="0">
                <a:solidFill>
                  <a:srgbClr val="0070C0"/>
                </a:solidFill>
                <a:latin typeface="OSAKA-MONO" panose="020B0600000000000000" pitchFamily="34" charset="-128"/>
                <a:ea typeface="OSAKA-MONO" panose="020B0600000000000000" pitchFamily="34" charset="-128"/>
              </a:rPr>
              <a:t>_, 1, 1)</a:t>
            </a:r>
          </a:p>
        </p:txBody>
      </p:sp>
      <p:sp>
        <p:nvSpPr>
          <p:cNvPr id="4" name="Slide Number Placeholder 3">
            <a:extLst>
              <a:ext uri="{FF2B5EF4-FFF2-40B4-BE49-F238E27FC236}">
                <a16:creationId xmlns:a16="http://schemas.microsoft.com/office/drawing/2014/main" id="{9810EA64-2F9E-0561-CC6B-BEFFEC518F67}"/>
              </a:ext>
            </a:extLst>
          </p:cNvPr>
          <p:cNvSpPr>
            <a:spLocks noGrp="1"/>
          </p:cNvSpPr>
          <p:nvPr>
            <p:ph type="sldNum" sz="quarter" idx="12"/>
          </p:nvPr>
        </p:nvSpPr>
        <p:spPr/>
        <p:txBody>
          <a:bodyPr/>
          <a:lstStyle/>
          <a:p>
            <a:fld id="{C0343C75-1924-D247-85A3-0CB62E67E5D1}" type="slidenum">
              <a:rPr lang="en-US" smtClean="0"/>
              <a:t>45</a:t>
            </a:fld>
            <a:endParaRPr lang="en-US"/>
          </a:p>
        </p:txBody>
      </p:sp>
    </p:spTree>
    <p:extLst>
      <p:ext uri="{BB962C8B-B14F-4D97-AF65-F5344CB8AC3E}">
        <p14:creationId xmlns:p14="http://schemas.microsoft.com/office/powerpoint/2010/main" val="11558858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28A35461-D07E-32CB-D1D8-791F4DF5A5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28D5EF-6D6F-BC96-14DF-8DB1788F295D}"/>
              </a:ext>
            </a:extLst>
          </p:cNvPr>
          <p:cNvSpPr>
            <a:spLocks noGrp="1"/>
          </p:cNvSpPr>
          <p:nvPr>
            <p:ph type="title"/>
          </p:nvPr>
        </p:nvSpPr>
        <p:spPr/>
        <p:txBody>
          <a:bodyPr/>
          <a:lstStyle/>
          <a:p>
            <a:r>
              <a:rPr lang="en-US" dirty="0">
                <a:solidFill>
                  <a:schemeClr val="accent2">
                    <a:lumMod val="50000"/>
                  </a:schemeClr>
                </a:solidFill>
              </a:rPr>
              <a:t>Assignment #2 – Part 3</a:t>
            </a:r>
          </a:p>
        </p:txBody>
      </p:sp>
      <p:sp>
        <p:nvSpPr>
          <p:cNvPr id="3" name="Content Placeholder 2">
            <a:extLst>
              <a:ext uri="{FF2B5EF4-FFF2-40B4-BE49-F238E27FC236}">
                <a16:creationId xmlns:a16="http://schemas.microsoft.com/office/drawing/2014/main" id="{1CF5AD25-5945-81BD-A794-CEF05FC1A123}"/>
              </a:ext>
            </a:extLst>
          </p:cNvPr>
          <p:cNvSpPr>
            <a:spLocks noGrp="1"/>
          </p:cNvSpPr>
          <p:nvPr>
            <p:ph idx="1"/>
          </p:nvPr>
        </p:nvSpPr>
        <p:spPr/>
        <p:txBody>
          <a:bodyPr>
            <a:noAutofit/>
          </a:bodyPr>
          <a:lstStyle/>
          <a:p>
            <a:pPr marL="0" indent="0">
              <a:buNone/>
            </a:pPr>
            <a:r>
              <a:rPr lang="en-US" sz="2000" i="1" dirty="0">
                <a:solidFill>
                  <a:schemeClr val="accent2">
                    <a:lumMod val="50000"/>
                  </a:schemeClr>
                </a:solidFill>
              </a:rPr>
              <a:t>3. Aggregation and Analysis</a:t>
            </a:r>
          </a:p>
          <a:p>
            <a:pPr marL="238125" indent="-238125">
              <a:buFont typeface="+mj-lt"/>
              <a:buAutoNum type="alphaLcPeriod"/>
            </a:pPr>
            <a:r>
              <a:rPr lang="en-US" sz="2000" dirty="0">
                <a:solidFill>
                  <a:schemeClr val="accent2">
                    <a:lumMod val="50000"/>
                  </a:schemeClr>
                </a:solidFill>
              </a:rPr>
              <a:t>Aggregate Improvement Value</a:t>
            </a:r>
          </a:p>
          <a:p>
            <a:pPr lvl="1"/>
            <a:r>
              <a:rPr lang="en-US" dirty="0">
                <a:solidFill>
                  <a:schemeClr val="accent2">
                    <a:lumMod val="50000"/>
                  </a:schemeClr>
                </a:solidFill>
              </a:rPr>
              <a:t>For each county, calculate:</a:t>
            </a:r>
          </a:p>
          <a:p>
            <a:pPr lvl="2">
              <a:buFont typeface="System Font Regular"/>
              <a:buChar char="–"/>
            </a:pPr>
            <a:r>
              <a:rPr lang="en-US" dirty="0">
                <a:solidFill>
                  <a:schemeClr val="accent2">
                    <a:lumMod val="50000"/>
                  </a:schemeClr>
                </a:solidFill>
              </a:rPr>
              <a:t>The total improvement value of single-family parcels</a:t>
            </a:r>
          </a:p>
          <a:p>
            <a:pPr lvl="2">
              <a:buFont typeface="System Font Regular"/>
              <a:buChar char="–"/>
            </a:pPr>
            <a:r>
              <a:rPr lang="en-US" dirty="0">
                <a:solidFill>
                  <a:schemeClr val="accent2">
                    <a:lumMod val="50000"/>
                  </a:schemeClr>
                </a:solidFill>
              </a:rPr>
              <a:t>Parcel count</a:t>
            </a:r>
          </a:p>
        </p:txBody>
      </p:sp>
      <p:sp>
        <p:nvSpPr>
          <p:cNvPr id="4" name="Slide Number Placeholder 3">
            <a:extLst>
              <a:ext uri="{FF2B5EF4-FFF2-40B4-BE49-F238E27FC236}">
                <a16:creationId xmlns:a16="http://schemas.microsoft.com/office/drawing/2014/main" id="{12B9A68D-D7CA-EAFA-B1FD-8CBAD62A8A5F}"/>
              </a:ext>
            </a:extLst>
          </p:cNvPr>
          <p:cNvSpPr>
            <a:spLocks noGrp="1"/>
          </p:cNvSpPr>
          <p:nvPr>
            <p:ph type="sldNum" sz="quarter" idx="12"/>
          </p:nvPr>
        </p:nvSpPr>
        <p:spPr/>
        <p:txBody>
          <a:bodyPr/>
          <a:lstStyle/>
          <a:p>
            <a:fld id="{C0343C75-1924-D247-85A3-0CB62E67E5D1}" type="slidenum">
              <a:rPr lang="en-US" smtClean="0"/>
              <a:t>46</a:t>
            </a:fld>
            <a:endParaRPr lang="en-US"/>
          </a:p>
        </p:txBody>
      </p:sp>
    </p:spTree>
    <p:extLst>
      <p:ext uri="{BB962C8B-B14F-4D97-AF65-F5344CB8AC3E}">
        <p14:creationId xmlns:p14="http://schemas.microsoft.com/office/powerpoint/2010/main" val="8410562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33B752AF-DB84-E3FB-29D1-A11EE636F3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F08E1D-9406-2BC8-9FEA-509705347DA1}"/>
              </a:ext>
            </a:extLst>
          </p:cNvPr>
          <p:cNvSpPr>
            <a:spLocks noGrp="1"/>
          </p:cNvSpPr>
          <p:nvPr>
            <p:ph type="title"/>
          </p:nvPr>
        </p:nvSpPr>
        <p:spPr/>
        <p:txBody>
          <a:bodyPr/>
          <a:lstStyle/>
          <a:p>
            <a:r>
              <a:rPr lang="en-US" dirty="0">
                <a:solidFill>
                  <a:schemeClr val="accent2">
                    <a:lumMod val="50000"/>
                  </a:schemeClr>
                </a:solidFill>
              </a:rPr>
              <a:t>Assignment #2 – Hints 2</a:t>
            </a:r>
          </a:p>
        </p:txBody>
      </p:sp>
      <p:sp>
        <p:nvSpPr>
          <p:cNvPr id="3" name="Content Placeholder 2">
            <a:extLst>
              <a:ext uri="{FF2B5EF4-FFF2-40B4-BE49-F238E27FC236}">
                <a16:creationId xmlns:a16="http://schemas.microsoft.com/office/drawing/2014/main" id="{A42B7DE9-0B0B-CAF9-D449-FB98C3502ADB}"/>
              </a:ext>
            </a:extLst>
          </p:cNvPr>
          <p:cNvSpPr>
            <a:spLocks noGrp="1"/>
          </p:cNvSpPr>
          <p:nvPr>
            <p:ph idx="1"/>
          </p:nvPr>
        </p:nvSpPr>
        <p:spPr/>
        <p:txBody>
          <a:bodyPr>
            <a:noAutofit/>
          </a:bodyPr>
          <a:lstStyle/>
          <a:p>
            <a:pPr marL="0"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library(</a:t>
            </a:r>
            <a:r>
              <a:rPr lang="en-US" sz="1400" dirty="0" err="1">
                <a:solidFill>
                  <a:srgbClr val="0070C0"/>
                </a:solidFill>
                <a:latin typeface="OSAKA-MONO" panose="020B0600000000000000" pitchFamily="34" charset="-128"/>
                <a:ea typeface="OSAKA-MONO" panose="020B0600000000000000" pitchFamily="34" charset="-128"/>
              </a:rPr>
              <a:t>dplyr</a:t>
            </a:r>
            <a:r>
              <a:rPr lang="en-US" sz="1400" dirty="0">
                <a:solidFill>
                  <a:srgbClr val="0070C0"/>
                </a:solidFill>
                <a:latin typeface="OSAKA-MONO" panose="020B0600000000000000" pitchFamily="34" charset="-128"/>
                <a:ea typeface="OSAKA-MONO" panose="020B0600000000000000" pitchFamily="34" charset="-128"/>
              </a:rPr>
              <a:t>)</a:t>
            </a:r>
          </a:p>
          <a:p>
            <a:pPr marL="0" indent="0">
              <a:spcBef>
                <a:spcPts val="0"/>
              </a:spcBef>
              <a:buNone/>
            </a:pPr>
            <a:endParaRPr lang="en-US" sz="1400" dirty="0">
              <a:solidFill>
                <a:srgbClr val="0070C0"/>
              </a:solidFill>
              <a:latin typeface="OSAKA-MONO" panose="020B0600000000000000" pitchFamily="34" charset="-128"/>
              <a:ea typeface="OSAKA-MONO" panose="020B0600000000000000" pitchFamily="34" charset="-128"/>
            </a:endParaRPr>
          </a:p>
          <a:p>
            <a:pPr marL="0" indent="0">
              <a:spcBef>
                <a:spcPts val="0"/>
              </a:spcBef>
              <a:buNone/>
            </a:pPr>
            <a:r>
              <a:rPr lang="en-US" sz="1400" dirty="0" err="1">
                <a:solidFill>
                  <a:srgbClr val="0070C0"/>
                </a:solidFill>
                <a:latin typeface="OSAKA-MONO" panose="020B0600000000000000" pitchFamily="34" charset="-128"/>
                <a:ea typeface="OSAKA-MONO" panose="020B0600000000000000" pitchFamily="34" charset="-128"/>
              </a:rPr>
              <a:t>agg_parcels</a:t>
            </a:r>
            <a:r>
              <a:rPr lang="en-US" sz="1400" dirty="0">
                <a:solidFill>
                  <a:srgbClr val="0070C0"/>
                </a:solidFill>
                <a:latin typeface="OSAKA-MONO" panose="020B0600000000000000" pitchFamily="34" charset="-128"/>
                <a:ea typeface="OSAKA-MONO" panose="020B0600000000000000" pitchFamily="34" charset="-128"/>
              </a:rPr>
              <a:t> &lt;- </a:t>
            </a:r>
            <a:r>
              <a:rPr lang="en-US" sz="1400" dirty="0" err="1">
                <a:solidFill>
                  <a:srgbClr val="0070C0"/>
                </a:solidFill>
                <a:latin typeface="OSAKA-MONO" panose="020B0600000000000000" pitchFamily="34" charset="-128"/>
                <a:ea typeface="OSAKA-MONO" panose="020B0600000000000000" pitchFamily="34" charset="-128"/>
              </a:rPr>
              <a:t>parcels_all</a:t>
            </a:r>
            <a:r>
              <a:rPr lang="en-US" sz="1400" dirty="0">
                <a:solidFill>
                  <a:srgbClr val="0070C0"/>
                </a:solidFill>
                <a:latin typeface="OSAKA-MONO" panose="020B0600000000000000" pitchFamily="34" charset="-128"/>
                <a:ea typeface="OSAKA-MONO" panose="020B0600000000000000" pitchFamily="34" charset="-128"/>
              </a:rPr>
              <a:t> %&gt;% </a:t>
            </a:r>
          </a:p>
          <a:p>
            <a:pPr marL="0"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filter(STAT_LAND_ == "A") %&gt;%</a:t>
            </a:r>
          </a:p>
          <a:p>
            <a:pPr marL="0"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a:t>
            </a:r>
            <a:r>
              <a:rPr lang="en-US" sz="1400" dirty="0" err="1">
                <a:solidFill>
                  <a:srgbClr val="0070C0"/>
                </a:solidFill>
                <a:highlight>
                  <a:srgbClr val="FFFF00"/>
                </a:highlight>
                <a:latin typeface="OSAKA-MONO" panose="020B0600000000000000" pitchFamily="34" charset="-128"/>
                <a:ea typeface="OSAKA-MONO" panose="020B0600000000000000" pitchFamily="34" charset="-128"/>
              </a:rPr>
              <a:t>st_set_geometry</a:t>
            </a:r>
            <a:r>
              <a:rPr lang="en-US" sz="1400" dirty="0">
                <a:solidFill>
                  <a:srgbClr val="0070C0"/>
                </a:solidFill>
                <a:highlight>
                  <a:srgbClr val="FFFF00"/>
                </a:highlight>
                <a:latin typeface="OSAKA-MONO" panose="020B0600000000000000" pitchFamily="34" charset="-128"/>
                <a:ea typeface="OSAKA-MONO" panose="020B0600000000000000" pitchFamily="34" charset="-128"/>
              </a:rPr>
              <a:t>(NULL)</a:t>
            </a:r>
            <a:r>
              <a:rPr lang="en-US" sz="1400" dirty="0">
                <a:solidFill>
                  <a:srgbClr val="0070C0"/>
                </a:solidFill>
                <a:latin typeface="OSAKA-MONO" panose="020B0600000000000000" pitchFamily="34" charset="-128"/>
                <a:ea typeface="OSAKA-MONO" panose="020B0600000000000000" pitchFamily="34" charset="-128"/>
              </a:rPr>
              <a:t> %&gt;% </a:t>
            </a:r>
          </a:p>
          <a:p>
            <a:pPr marL="0"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a:t>
            </a:r>
            <a:r>
              <a:rPr lang="en-US" sz="1400" dirty="0" err="1">
                <a:solidFill>
                  <a:srgbClr val="0070C0"/>
                </a:solidFill>
                <a:latin typeface="OSAKA-MONO" panose="020B0600000000000000" pitchFamily="34" charset="-128"/>
                <a:ea typeface="OSAKA-MONO" panose="020B0600000000000000" pitchFamily="34" charset="-128"/>
              </a:rPr>
              <a:t>group_by</a:t>
            </a:r>
            <a:r>
              <a:rPr lang="en-US" sz="1400" dirty="0">
                <a:solidFill>
                  <a:srgbClr val="0070C0"/>
                </a:solidFill>
                <a:latin typeface="OSAKA-MONO" panose="020B0600000000000000" pitchFamily="34" charset="-128"/>
                <a:ea typeface="OSAKA-MONO" panose="020B0600000000000000" pitchFamily="34" charset="-128"/>
              </a:rPr>
              <a:t>(COUNTY) %&gt;% </a:t>
            </a:r>
          </a:p>
          <a:p>
            <a:pPr marL="0"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a:t>
            </a:r>
            <a:r>
              <a:rPr lang="en-US" sz="1400" dirty="0" err="1">
                <a:solidFill>
                  <a:srgbClr val="0070C0"/>
                </a:solidFill>
                <a:latin typeface="OSAKA-MONO" panose="020B0600000000000000" pitchFamily="34" charset="-128"/>
                <a:ea typeface="OSAKA-MONO" panose="020B0600000000000000" pitchFamily="34" charset="-128"/>
              </a:rPr>
              <a:t>summarise</a:t>
            </a:r>
            <a:r>
              <a:rPr lang="en-US" sz="1400" dirty="0">
                <a:solidFill>
                  <a:srgbClr val="0070C0"/>
                </a:solidFill>
                <a:latin typeface="OSAKA-MONO" panose="020B0600000000000000" pitchFamily="34" charset="-128"/>
                <a:ea typeface="OSAKA-MONO" panose="020B0600000000000000" pitchFamily="34" charset="-128"/>
              </a:rPr>
              <a:t>(</a:t>
            </a:r>
            <a:r>
              <a:rPr lang="en-US" sz="1400" dirty="0">
                <a:solidFill>
                  <a:srgbClr val="0070C0"/>
                </a:solidFill>
                <a:highlight>
                  <a:srgbClr val="FFFF00"/>
                </a:highlight>
                <a:latin typeface="OSAKA-MONO" panose="020B0600000000000000" pitchFamily="34" charset="-128"/>
                <a:ea typeface="OSAKA-MONO" panose="020B0600000000000000" pitchFamily="34" charset="-128"/>
              </a:rPr>
              <a:t>GEOID = unique(FIPS)</a:t>
            </a:r>
            <a:r>
              <a:rPr lang="en-US" sz="1400" dirty="0">
                <a:solidFill>
                  <a:srgbClr val="0070C0"/>
                </a:solidFill>
                <a:latin typeface="OSAKA-MONO" panose="020B0600000000000000" pitchFamily="34" charset="-128"/>
                <a:ea typeface="OSAKA-MONO" panose="020B0600000000000000" pitchFamily="34" charset="-128"/>
              </a:rPr>
              <a:t>,</a:t>
            </a:r>
          </a:p>
          <a:p>
            <a:pPr marL="0"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a:t>
            </a:r>
            <a:r>
              <a:rPr lang="en-US" sz="1400" dirty="0" err="1">
                <a:solidFill>
                  <a:srgbClr val="0070C0"/>
                </a:solidFill>
                <a:latin typeface="OSAKA-MONO" panose="020B0600000000000000" pitchFamily="34" charset="-128"/>
                <a:ea typeface="OSAKA-MONO" panose="020B0600000000000000" pitchFamily="34" charset="-128"/>
              </a:rPr>
              <a:t>total_imp_value</a:t>
            </a:r>
            <a:r>
              <a:rPr lang="en-US" sz="1400" dirty="0">
                <a:solidFill>
                  <a:srgbClr val="0070C0"/>
                </a:solidFill>
                <a:latin typeface="OSAKA-MONO" panose="020B0600000000000000" pitchFamily="34" charset="-128"/>
                <a:ea typeface="OSAKA-MONO" panose="020B0600000000000000" pitchFamily="34" charset="-128"/>
              </a:rPr>
              <a:t> = sum(IMP_VALUE, </a:t>
            </a:r>
            <a:r>
              <a:rPr lang="en-US" sz="1400" dirty="0" err="1">
                <a:solidFill>
                  <a:srgbClr val="0070C0"/>
                </a:solidFill>
                <a:latin typeface="OSAKA-MONO" panose="020B0600000000000000" pitchFamily="34" charset="-128"/>
                <a:ea typeface="OSAKA-MONO" panose="020B0600000000000000" pitchFamily="34" charset="-128"/>
              </a:rPr>
              <a:t>na.rm</a:t>
            </a:r>
            <a:r>
              <a:rPr lang="en-US" sz="1400" dirty="0">
                <a:solidFill>
                  <a:srgbClr val="0070C0"/>
                </a:solidFill>
                <a:latin typeface="OSAKA-MONO" panose="020B0600000000000000" pitchFamily="34" charset="-128"/>
                <a:ea typeface="OSAKA-MONO" panose="020B0600000000000000" pitchFamily="34" charset="-128"/>
              </a:rPr>
              <a:t> = TRUE),</a:t>
            </a:r>
          </a:p>
          <a:p>
            <a:pPr marL="0"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a:t>
            </a:r>
            <a:r>
              <a:rPr lang="en-US" sz="1400" dirty="0" err="1">
                <a:solidFill>
                  <a:srgbClr val="0070C0"/>
                </a:solidFill>
                <a:latin typeface="OSAKA-MONO" panose="020B0600000000000000" pitchFamily="34" charset="-128"/>
                <a:ea typeface="OSAKA-MONO" panose="020B0600000000000000" pitchFamily="34" charset="-128"/>
              </a:rPr>
              <a:t>parcel_count</a:t>
            </a:r>
            <a:r>
              <a:rPr lang="en-US" sz="1400" dirty="0">
                <a:solidFill>
                  <a:srgbClr val="0070C0"/>
                </a:solidFill>
                <a:latin typeface="OSAKA-MONO" panose="020B0600000000000000" pitchFamily="34" charset="-128"/>
                <a:ea typeface="OSAKA-MONO" panose="020B0600000000000000" pitchFamily="34" charset="-128"/>
              </a:rPr>
              <a:t> = n())</a:t>
            </a:r>
          </a:p>
          <a:p>
            <a:pPr marL="0" indent="0">
              <a:spcBef>
                <a:spcPts val="0"/>
              </a:spcBef>
              <a:buNone/>
            </a:pPr>
            <a:endParaRPr lang="en-US" sz="1400" dirty="0">
              <a:solidFill>
                <a:srgbClr val="0070C0"/>
              </a:solidFill>
              <a:latin typeface="OSAKA-MONO" panose="020B0600000000000000" pitchFamily="34" charset="-128"/>
              <a:ea typeface="OSAKA-MONO" panose="020B0600000000000000" pitchFamily="34" charset="-128"/>
            </a:endParaRPr>
          </a:p>
          <a:p>
            <a:pPr marL="0" indent="0">
              <a:spcBef>
                <a:spcPts val="0"/>
              </a:spcBef>
              <a:buNone/>
            </a:pPr>
            <a:r>
              <a:rPr lang="en-US" sz="1400" dirty="0">
                <a:solidFill>
                  <a:srgbClr val="7030A0"/>
                </a:solidFill>
                <a:latin typeface="OSAKA-MONO" panose="020B0600000000000000" pitchFamily="34" charset="-128"/>
                <a:ea typeface="OSAKA-MONO" panose="020B0600000000000000" pitchFamily="34" charset="-128"/>
              </a:rPr>
              <a:t>library(</a:t>
            </a:r>
            <a:r>
              <a:rPr lang="en-US" sz="1400" dirty="0" err="1">
                <a:solidFill>
                  <a:srgbClr val="7030A0"/>
                </a:solidFill>
                <a:latin typeface="OSAKA-MONO" panose="020B0600000000000000" pitchFamily="34" charset="-128"/>
                <a:ea typeface="OSAKA-MONO" panose="020B0600000000000000" pitchFamily="34" charset="-128"/>
              </a:rPr>
              <a:t>tidyr</a:t>
            </a:r>
            <a:r>
              <a:rPr lang="en-US" sz="1400" dirty="0">
                <a:solidFill>
                  <a:srgbClr val="7030A0"/>
                </a:solidFill>
                <a:latin typeface="OSAKA-MONO" panose="020B0600000000000000" pitchFamily="34" charset="-128"/>
                <a:ea typeface="OSAKA-MONO" panose="020B0600000000000000" pitchFamily="34" charset="-128"/>
              </a:rPr>
              <a:t>)</a:t>
            </a:r>
          </a:p>
          <a:p>
            <a:pPr marL="0" indent="0">
              <a:spcBef>
                <a:spcPts val="0"/>
              </a:spcBef>
              <a:buNone/>
            </a:pPr>
            <a:endParaRPr lang="en-US" sz="1400" dirty="0">
              <a:solidFill>
                <a:srgbClr val="7030A0"/>
              </a:solidFill>
              <a:latin typeface="OSAKA-MONO" panose="020B0600000000000000" pitchFamily="34" charset="-128"/>
              <a:ea typeface="OSAKA-MONO" panose="020B0600000000000000" pitchFamily="34" charset="-128"/>
            </a:endParaRPr>
          </a:p>
          <a:p>
            <a:pPr marL="0" indent="0">
              <a:spcBef>
                <a:spcPts val="0"/>
              </a:spcBef>
              <a:buNone/>
            </a:pPr>
            <a:r>
              <a:rPr lang="en-US" sz="1400" dirty="0" err="1">
                <a:solidFill>
                  <a:srgbClr val="7030A0"/>
                </a:solidFill>
                <a:latin typeface="OSAKA-MONO" panose="020B0600000000000000" pitchFamily="34" charset="-128"/>
                <a:ea typeface="OSAKA-MONO" panose="020B0600000000000000" pitchFamily="34" charset="-128"/>
              </a:rPr>
              <a:t>parcels_all</a:t>
            </a:r>
            <a:r>
              <a:rPr lang="en-US" sz="1400" dirty="0">
                <a:solidFill>
                  <a:srgbClr val="7030A0"/>
                </a:solidFill>
                <a:latin typeface="OSAKA-MONO" panose="020B0600000000000000" pitchFamily="34" charset="-128"/>
                <a:ea typeface="OSAKA-MONO" panose="020B0600000000000000" pitchFamily="34" charset="-128"/>
              </a:rPr>
              <a:t> %&gt;% </a:t>
            </a:r>
          </a:p>
          <a:p>
            <a:pPr marL="0" indent="0">
              <a:spcBef>
                <a:spcPts val="0"/>
              </a:spcBef>
              <a:buNone/>
            </a:pPr>
            <a:r>
              <a:rPr lang="en-US" sz="1400" dirty="0">
                <a:solidFill>
                  <a:srgbClr val="7030A0"/>
                </a:solidFill>
                <a:latin typeface="OSAKA-MONO" panose="020B0600000000000000" pitchFamily="34" charset="-128"/>
                <a:ea typeface="OSAKA-MONO" panose="020B0600000000000000" pitchFamily="34" charset="-128"/>
              </a:rPr>
              <a:t>  </a:t>
            </a:r>
            <a:r>
              <a:rPr lang="en-US" sz="1400" dirty="0" err="1">
                <a:solidFill>
                  <a:srgbClr val="7030A0"/>
                </a:solidFill>
                <a:latin typeface="OSAKA-MONO" panose="020B0600000000000000" pitchFamily="34" charset="-128"/>
                <a:ea typeface="OSAKA-MONO" panose="020B0600000000000000" pitchFamily="34" charset="-128"/>
              </a:rPr>
              <a:t>st_drop_geometry</a:t>
            </a:r>
            <a:r>
              <a:rPr lang="en-US" sz="1400" dirty="0">
                <a:solidFill>
                  <a:srgbClr val="7030A0"/>
                </a:solidFill>
                <a:latin typeface="OSAKA-MONO" panose="020B0600000000000000" pitchFamily="34" charset="-128"/>
                <a:ea typeface="OSAKA-MONO" panose="020B0600000000000000" pitchFamily="34" charset="-128"/>
              </a:rPr>
              <a:t>() %&gt;% </a:t>
            </a:r>
          </a:p>
          <a:p>
            <a:pPr marL="0" indent="0">
              <a:spcBef>
                <a:spcPts val="0"/>
              </a:spcBef>
              <a:buNone/>
            </a:pPr>
            <a:r>
              <a:rPr lang="en-US" sz="1400" dirty="0">
                <a:solidFill>
                  <a:srgbClr val="7030A0"/>
                </a:solidFill>
                <a:latin typeface="OSAKA-MONO" panose="020B0600000000000000" pitchFamily="34" charset="-128"/>
                <a:ea typeface="OSAKA-MONO" panose="020B0600000000000000" pitchFamily="34" charset="-128"/>
              </a:rPr>
              <a:t>  filter(!</a:t>
            </a:r>
            <a:r>
              <a:rPr lang="en-US" sz="1400" dirty="0" err="1">
                <a:solidFill>
                  <a:srgbClr val="7030A0"/>
                </a:solidFill>
                <a:latin typeface="OSAKA-MONO" panose="020B0600000000000000" pitchFamily="34" charset="-128"/>
                <a:ea typeface="OSAKA-MONO" panose="020B0600000000000000" pitchFamily="34" charset="-128"/>
              </a:rPr>
              <a:t>is.na</a:t>
            </a:r>
            <a:r>
              <a:rPr lang="en-US" sz="1400" dirty="0">
                <a:solidFill>
                  <a:srgbClr val="7030A0"/>
                </a:solidFill>
                <a:latin typeface="OSAKA-MONO" panose="020B0600000000000000" pitchFamily="34" charset="-128"/>
                <a:ea typeface="OSAKA-MONO" panose="020B0600000000000000" pitchFamily="34" charset="-128"/>
              </a:rPr>
              <a:t>(IMP_VALUE) &amp; IMP_VALUE &gt; 0) %&gt;%</a:t>
            </a:r>
          </a:p>
          <a:p>
            <a:pPr marL="0" indent="0">
              <a:spcBef>
                <a:spcPts val="0"/>
              </a:spcBef>
              <a:buNone/>
            </a:pPr>
            <a:r>
              <a:rPr lang="en-US" sz="1400" dirty="0">
                <a:solidFill>
                  <a:srgbClr val="7030A0"/>
                </a:solidFill>
                <a:latin typeface="OSAKA-MONO" panose="020B0600000000000000" pitchFamily="34" charset="-128"/>
                <a:ea typeface="OSAKA-MONO" panose="020B0600000000000000" pitchFamily="34" charset="-128"/>
              </a:rPr>
              <a:t>  </a:t>
            </a:r>
            <a:r>
              <a:rPr lang="en-US" sz="1400" dirty="0" err="1">
                <a:solidFill>
                  <a:srgbClr val="7030A0"/>
                </a:solidFill>
                <a:latin typeface="OSAKA-MONO" panose="020B0600000000000000" pitchFamily="34" charset="-128"/>
                <a:ea typeface="OSAKA-MONO" panose="020B0600000000000000" pitchFamily="34" charset="-128"/>
              </a:rPr>
              <a:t>group_by</a:t>
            </a:r>
            <a:r>
              <a:rPr lang="en-US" sz="1400" dirty="0">
                <a:solidFill>
                  <a:srgbClr val="7030A0"/>
                </a:solidFill>
                <a:latin typeface="OSAKA-MONO" panose="020B0600000000000000" pitchFamily="34" charset="-128"/>
                <a:ea typeface="OSAKA-MONO" panose="020B0600000000000000" pitchFamily="34" charset="-128"/>
              </a:rPr>
              <a:t>(COUNTY, STAT_LAND_2) %&gt;% </a:t>
            </a:r>
          </a:p>
          <a:p>
            <a:pPr marL="0" indent="0">
              <a:spcBef>
                <a:spcPts val="0"/>
              </a:spcBef>
              <a:buNone/>
            </a:pPr>
            <a:r>
              <a:rPr lang="en-US" sz="1400" dirty="0">
                <a:solidFill>
                  <a:srgbClr val="7030A0"/>
                </a:solidFill>
                <a:latin typeface="OSAKA-MONO" panose="020B0600000000000000" pitchFamily="34" charset="-128"/>
                <a:ea typeface="OSAKA-MONO" panose="020B0600000000000000" pitchFamily="34" charset="-128"/>
              </a:rPr>
              <a:t>  </a:t>
            </a:r>
            <a:r>
              <a:rPr lang="en-US" sz="1400" dirty="0" err="1">
                <a:solidFill>
                  <a:srgbClr val="7030A0"/>
                </a:solidFill>
                <a:latin typeface="OSAKA-MONO" panose="020B0600000000000000" pitchFamily="34" charset="-128"/>
                <a:ea typeface="OSAKA-MONO" panose="020B0600000000000000" pitchFamily="34" charset="-128"/>
              </a:rPr>
              <a:t>summarise</a:t>
            </a:r>
            <a:r>
              <a:rPr lang="en-US" sz="1400" dirty="0">
                <a:solidFill>
                  <a:srgbClr val="7030A0"/>
                </a:solidFill>
                <a:latin typeface="OSAKA-MONO" panose="020B0600000000000000" pitchFamily="34" charset="-128"/>
                <a:ea typeface="OSAKA-MONO" panose="020B0600000000000000" pitchFamily="34" charset="-128"/>
              </a:rPr>
              <a:t>(n = n(),</a:t>
            </a:r>
          </a:p>
          <a:p>
            <a:pPr marL="0" indent="0">
              <a:spcBef>
                <a:spcPts val="0"/>
              </a:spcBef>
              <a:buNone/>
            </a:pPr>
            <a:r>
              <a:rPr lang="en-US" sz="1400" dirty="0">
                <a:solidFill>
                  <a:srgbClr val="7030A0"/>
                </a:solidFill>
                <a:latin typeface="OSAKA-MONO" panose="020B0600000000000000" pitchFamily="34" charset="-128"/>
                <a:ea typeface="OSAKA-MONO" panose="020B0600000000000000" pitchFamily="34" charset="-128"/>
              </a:rPr>
              <a:t>            IMP_VALUE = sum(IMP_VALUE, </a:t>
            </a:r>
            <a:r>
              <a:rPr lang="en-US" sz="1400" dirty="0" err="1">
                <a:solidFill>
                  <a:srgbClr val="7030A0"/>
                </a:solidFill>
                <a:latin typeface="OSAKA-MONO" panose="020B0600000000000000" pitchFamily="34" charset="-128"/>
                <a:ea typeface="OSAKA-MONO" panose="020B0600000000000000" pitchFamily="34" charset="-128"/>
              </a:rPr>
              <a:t>na.rm</a:t>
            </a:r>
            <a:r>
              <a:rPr lang="en-US" sz="1400" dirty="0">
                <a:solidFill>
                  <a:srgbClr val="7030A0"/>
                </a:solidFill>
                <a:latin typeface="OSAKA-MONO" panose="020B0600000000000000" pitchFamily="34" charset="-128"/>
                <a:ea typeface="OSAKA-MONO" panose="020B0600000000000000" pitchFamily="34" charset="-128"/>
              </a:rPr>
              <a:t> = TRUE),</a:t>
            </a:r>
          </a:p>
          <a:p>
            <a:pPr marL="0" indent="0">
              <a:spcBef>
                <a:spcPts val="0"/>
              </a:spcBef>
              <a:buNone/>
            </a:pPr>
            <a:r>
              <a:rPr lang="en-US" sz="1400" dirty="0">
                <a:solidFill>
                  <a:srgbClr val="7030A0"/>
                </a:solidFill>
                <a:latin typeface="OSAKA-MONO" panose="020B0600000000000000" pitchFamily="34" charset="-128"/>
                <a:ea typeface="OSAKA-MONO" panose="020B0600000000000000" pitchFamily="34" charset="-128"/>
              </a:rPr>
              <a:t>            .groups = 'drop') %&gt;% </a:t>
            </a:r>
          </a:p>
          <a:p>
            <a:pPr marL="0" indent="0">
              <a:spcBef>
                <a:spcPts val="0"/>
              </a:spcBef>
              <a:buNone/>
            </a:pPr>
            <a:r>
              <a:rPr lang="en-US" sz="1400" dirty="0">
                <a:solidFill>
                  <a:srgbClr val="7030A0"/>
                </a:solidFill>
                <a:latin typeface="OSAKA-MONO" panose="020B0600000000000000" pitchFamily="34" charset="-128"/>
                <a:ea typeface="OSAKA-MONO" panose="020B0600000000000000" pitchFamily="34" charset="-128"/>
              </a:rPr>
              <a:t>  arrange(desc(n)) %&gt;%</a:t>
            </a:r>
          </a:p>
          <a:p>
            <a:pPr marL="0" indent="0">
              <a:spcBef>
                <a:spcPts val="0"/>
              </a:spcBef>
              <a:buNone/>
            </a:pPr>
            <a:r>
              <a:rPr lang="en-US" sz="1400" dirty="0">
                <a:solidFill>
                  <a:srgbClr val="7030A0"/>
                </a:solidFill>
                <a:latin typeface="OSAKA-MONO" panose="020B0600000000000000" pitchFamily="34" charset="-128"/>
                <a:ea typeface="OSAKA-MONO" panose="020B0600000000000000" pitchFamily="34" charset="-128"/>
              </a:rPr>
              <a:t>  </a:t>
            </a:r>
            <a:r>
              <a:rPr lang="en-US" sz="1400" dirty="0" err="1">
                <a:solidFill>
                  <a:srgbClr val="7030A0"/>
                </a:solidFill>
                <a:latin typeface="OSAKA-MONO" panose="020B0600000000000000" pitchFamily="34" charset="-128"/>
                <a:ea typeface="OSAKA-MONO" panose="020B0600000000000000" pitchFamily="34" charset="-128"/>
              </a:rPr>
              <a:t>pivot_wider</a:t>
            </a:r>
            <a:r>
              <a:rPr lang="en-US" sz="1400" dirty="0">
                <a:solidFill>
                  <a:srgbClr val="7030A0"/>
                </a:solidFill>
                <a:latin typeface="OSAKA-MONO" panose="020B0600000000000000" pitchFamily="34" charset="-128"/>
                <a:ea typeface="OSAKA-MONO" panose="020B0600000000000000" pitchFamily="34" charset="-128"/>
              </a:rPr>
              <a:t>(</a:t>
            </a:r>
            <a:r>
              <a:rPr lang="en-US" sz="1400" dirty="0" err="1">
                <a:solidFill>
                  <a:srgbClr val="7030A0"/>
                </a:solidFill>
                <a:latin typeface="OSAKA-MONO" panose="020B0600000000000000" pitchFamily="34" charset="-128"/>
                <a:ea typeface="OSAKA-MONO" panose="020B0600000000000000" pitchFamily="34" charset="-128"/>
              </a:rPr>
              <a:t>names_from</a:t>
            </a:r>
            <a:r>
              <a:rPr lang="en-US" sz="1400" dirty="0">
                <a:solidFill>
                  <a:srgbClr val="7030A0"/>
                </a:solidFill>
                <a:latin typeface="OSAKA-MONO" panose="020B0600000000000000" pitchFamily="34" charset="-128"/>
                <a:ea typeface="OSAKA-MONO" panose="020B0600000000000000" pitchFamily="34" charset="-128"/>
              </a:rPr>
              <a:t> = STAT_LAND_2, </a:t>
            </a:r>
          </a:p>
          <a:p>
            <a:pPr marL="0" indent="0">
              <a:spcBef>
                <a:spcPts val="0"/>
              </a:spcBef>
              <a:buNone/>
            </a:pPr>
            <a:r>
              <a:rPr lang="en-US" sz="1400" dirty="0">
                <a:solidFill>
                  <a:srgbClr val="7030A0"/>
                </a:solidFill>
                <a:latin typeface="OSAKA-MONO" panose="020B0600000000000000" pitchFamily="34" charset="-128"/>
                <a:ea typeface="OSAKA-MONO" panose="020B0600000000000000" pitchFamily="34" charset="-128"/>
              </a:rPr>
              <a:t>              </a:t>
            </a:r>
            <a:r>
              <a:rPr lang="en-US" sz="1400" dirty="0" err="1">
                <a:solidFill>
                  <a:srgbClr val="7030A0"/>
                </a:solidFill>
                <a:latin typeface="OSAKA-MONO" panose="020B0600000000000000" pitchFamily="34" charset="-128"/>
                <a:ea typeface="OSAKA-MONO" panose="020B0600000000000000" pitchFamily="34" charset="-128"/>
              </a:rPr>
              <a:t>values_from</a:t>
            </a:r>
            <a:r>
              <a:rPr lang="en-US" sz="1400" dirty="0">
                <a:solidFill>
                  <a:srgbClr val="7030A0"/>
                </a:solidFill>
                <a:latin typeface="OSAKA-MONO" panose="020B0600000000000000" pitchFamily="34" charset="-128"/>
                <a:ea typeface="OSAKA-MONO" panose="020B0600000000000000" pitchFamily="34" charset="-128"/>
              </a:rPr>
              <a:t> = n, </a:t>
            </a:r>
          </a:p>
          <a:p>
            <a:pPr marL="0" indent="0">
              <a:spcBef>
                <a:spcPts val="0"/>
              </a:spcBef>
              <a:buNone/>
            </a:pPr>
            <a:r>
              <a:rPr lang="en-US" sz="1400" dirty="0">
                <a:solidFill>
                  <a:srgbClr val="7030A0"/>
                </a:solidFill>
                <a:latin typeface="OSAKA-MONO" panose="020B0600000000000000" pitchFamily="34" charset="-128"/>
                <a:ea typeface="OSAKA-MONO" panose="020B0600000000000000" pitchFamily="34" charset="-128"/>
              </a:rPr>
              <a:t>              </a:t>
            </a:r>
            <a:r>
              <a:rPr lang="en-US" sz="1400" dirty="0" err="1">
                <a:solidFill>
                  <a:srgbClr val="7030A0"/>
                </a:solidFill>
                <a:latin typeface="OSAKA-MONO" panose="020B0600000000000000" pitchFamily="34" charset="-128"/>
                <a:ea typeface="OSAKA-MONO" panose="020B0600000000000000" pitchFamily="34" charset="-128"/>
              </a:rPr>
              <a:t>values_fill</a:t>
            </a:r>
            <a:r>
              <a:rPr lang="en-US" sz="1400" dirty="0">
                <a:solidFill>
                  <a:srgbClr val="7030A0"/>
                </a:solidFill>
                <a:latin typeface="OSAKA-MONO" panose="020B0600000000000000" pitchFamily="34" charset="-128"/>
                <a:ea typeface="OSAKA-MONO" panose="020B0600000000000000" pitchFamily="34" charset="-128"/>
              </a:rPr>
              <a:t> = 0)</a:t>
            </a:r>
          </a:p>
        </p:txBody>
      </p:sp>
      <p:sp>
        <p:nvSpPr>
          <p:cNvPr id="4" name="Slide Number Placeholder 3">
            <a:extLst>
              <a:ext uri="{FF2B5EF4-FFF2-40B4-BE49-F238E27FC236}">
                <a16:creationId xmlns:a16="http://schemas.microsoft.com/office/drawing/2014/main" id="{FA335EED-FECC-6F81-45B1-D47123B6A177}"/>
              </a:ext>
            </a:extLst>
          </p:cNvPr>
          <p:cNvSpPr>
            <a:spLocks noGrp="1"/>
          </p:cNvSpPr>
          <p:nvPr>
            <p:ph type="sldNum" sz="quarter" idx="12"/>
          </p:nvPr>
        </p:nvSpPr>
        <p:spPr/>
        <p:txBody>
          <a:bodyPr/>
          <a:lstStyle/>
          <a:p>
            <a:fld id="{C0343C75-1924-D247-85A3-0CB62E67E5D1}" type="slidenum">
              <a:rPr lang="en-US" smtClean="0"/>
              <a:t>47</a:t>
            </a:fld>
            <a:endParaRPr lang="en-US"/>
          </a:p>
        </p:txBody>
      </p:sp>
    </p:spTree>
    <p:extLst>
      <p:ext uri="{BB962C8B-B14F-4D97-AF65-F5344CB8AC3E}">
        <p14:creationId xmlns:p14="http://schemas.microsoft.com/office/powerpoint/2010/main" val="21534296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CB5079A5-6577-1E12-76D2-D6EA7CE496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4FB9F2-1701-F9E8-2420-4EA5F5E73AEF}"/>
              </a:ext>
            </a:extLst>
          </p:cNvPr>
          <p:cNvSpPr>
            <a:spLocks noGrp="1"/>
          </p:cNvSpPr>
          <p:nvPr>
            <p:ph type="title"/>
          </p:nvPr>
        </p:nvSpPr>
        <p:spPr/>
        <p:txBody>
          <a:bodyPr/>
          <a:lstStyle/>
          <a:p>
            <a:r>
              <a:rPr lang="en-US" dirty="0">
                <a:solidFill>
                  <a:schemeClr val="accent2">
                    <a:lumMod val="50000"/>
                  </a:schemeClr>
                </a:solidFill>
              </a:rPr>
              <a:t>Assignment #2 – Part 4</a:t>
            </a:r>
          </a:p>
        </p:txBody>
      </p:sp>
      <p:sp>
        <p:nvSpPr>
          <p:cNvPr id="3" name="Content Placeholder 2">
            <a:extLst>
              <a:ext uri="{FF2B5EF4-FFF2-40B4-BE49-F238E27FC236}">
                <a16:creationId xmlns:a16="http://schemas.microsoft.com/office/drawing/2014/main" id="{00237399-5A63-C335-C206-13CE348D83AF}"/>
              </a:ext>
            </a:extLst>
          </p:cNvPr>
          <p:cNvSpPr>
            <a:spLocks noGrp="1"/>
          </p:cNvSpPr>
          <p:nvPr>
            <p:ph idx="1"/>
          </p:nvPr>
        </p:nvSpPr>
        <p:spPr/>
        <p:txBody>
          <a:bodyPr>
            <a:noAutofit/>
          </a:bodyPr>
          <a:lstStyle/>
          <a:p>
            <a:pPr marL="0" indent="0">
              <a:buNone/>
            </a:pPr>
            <a:r>
              <a:rPr lang="en-US" sz="1800" i="1" dirty="0">
                <a:solidFill>
                  <a:schemeClr val="accent2">
                    <a:lumMod val="50000"/>
                  </a:schemeClr>
                </a:solidFill>
              </a:rPr>
              <a:t>4. Integrate Census Data</a:t>
            </a:r>
          </a:p>
          <a:p>
            <a:pPr marL="234950" indent="-234950">
              <a:buFont typeface="+mj-lt"/>
              <a:buAutoNum type="alphaLcPeriod"/>
            </a:pPr>
            <a:r>
              <a:rPr lang="en-US" sz="1800" dirty="0">
                <a:solidFill>
                  <a:schemeClr val="accent2">
                    <a:lumMod val="50000"/>
                  </a:schemeClr>
                </a:solidFill>
              </a:rPr>
              <a:t>Acquire Census TIGER/Line Data</a:t>
            </a:r>
          </a:p>
          <a:p>
            <a:pPr lvl="1"/>
            <a:r>
              <a:rPr lang="en-US" sz="1800" dirty="0">
                <a:solidFill>
                  <a:schemeClr val="accent2">
                    <a:lumMod val="50000"/>
                  </a:schemeClr>
                </a:solidFill>
              </a:rPr>
              <a:t>Use the </a:t>
            </a:r>
            <a:r>
              <a:rPr lang="en-US" sz="1800" b="1" dirty="0" err="1">
                <a:solidFill>
                  <a:schemeClr val="accent2">
                    <a:lumMod val="50000"/>
                  </a:schemeClr>
                </a:solidFill>
                <a:latin typeface="OSAKA-MONO" panose="020B0600000000000000" pitchFamily="34" charset="-128"/>
                <a:ea typeface="OSAKA-MONO" panose="020B0600000000000000" pitchFamily="34" charset="-128"/>
              </a:rPr>
              <a:t>tidycensus</a:t>
            </a:r>
            <a:r>
              <a:rPr lang="en-US" sz="1800" dirty="0">
                <a:solidFill>
                  <a:schemeClr val="accent2">
                    <a:lumMod val="50000"/>
                  </a:schemeClr>
                </a:solidFill>
              </a:rPr>
              <a:t> packages to download:</a:t>
            </a:r>
          </a:p>
          <a:p>
            <a:pPr lvl="1"/>
            <a:r>
              <a:rPr lang="en-US" sz="1800" dirty="0">
                <a:solidFill>
                  <a:schemeClr val="accent2">
                    <a:lumMod val="50000"/>
                  </a:schemeClr>
                </a:solidFill>
              </a:rPr>
              <a:t>County boundaries</a:t>
            </a:r>
          </a:p>
          <a:p>
            <a:pPr lvl="1"/>
            <a:r>
              <a:rPr lang="en-US" sz="1800" dirty="0">
                <a:solidFill>
                  <a:schemeClr val="accent2">
                    <a:lumMod val="50000"/>
                  </a:schemeClr>
                </a:solidFill>
              </a:rPr>
              <a:t>Population estimates (e.g., ACS 5‑year estimate for total population)</a:t>
            </a:r>
          </a:p>
          <a:p>
            <a:pPr marL="234950" indent="-234950">
              <a:buFont typeface="+mj-lt"/>
              <a:buAutoNum type="alphaLcPeriod"/>
            </a:pPr>
            <a:r>
              <a:rPr lang="en-US" sz="1800" dirty="0">
                <a:solidFill>
                  <a:schemeClr val="accent2">
                    <a:lumMod val="50000"/>
                  </a:schemeClr>
                </a:solidFill>
              </a:rPr>
              <a:t>Merge with Parcel Aggregates</a:t>
            </a:r>
          </a:p>
          <a:p>
            <a:pPr lvl="1"/>
            <a:r>
              <a:rPr lang="en-US" sz="1800" dirty="0">
                <a:solidFill>
                  <a:schemeClr val="accent2">
                    <a:lumMod val="50000"/>
                  </a:schemeClr>
                </a:solidFill>
              </a:rPr>
              <a:t>Join population data by county GEOID or name</a:t>
            </a:r>
          </a:p>
          <a:p>
            <a:pPr marL="234950" indent="-234950">
              <a:buFont typeface="+mj-lt"/>
              <a:buAutoNum type="alphaLcPeriod"/>
            </a:pPr>
            <a:r>
              <a:rPr lang="en-US" sz="1800" dirty="0">
                <a:solidFill>
                  <a:schemeClr val="accent2">
                    <a:lumMod val="50000"/>
                  </a:schemeClr>
                </a:solidFill>
              </a:rPr>
              <a:t>Compute Per Capita Metrics</a:t>
            </a:r>
          </a:p>
          <a:p>
            <a:pPr lvl="1"/>
            <a:r>
              <a:rPr lang="en-US" sz="1800" dirty="0">
                <a:solidFill>
                  <a:schemeClr val="accent2">
                    <a:lumMod val="50000"/>
                  </a:schemeClr>
                </a:solidFill>
              </a:rPr>
              <a:t>Average improvement value per capita</a:t>
            </a:r>
          </a:p>
          <a:p>
            <a:pPr lvl="1"/>
            <a:r>
              <a:rPr lang="en-US" sz="1800" dirty="0">
                <a:solidFill>
                  <a:schemeClr val="accent2">
                    <a:lumMod val="50000"/>
                  </a:schemeClr>
                </a:solidFill>
              </a:rPr>
              <a:t>Average population per single-family parcel</a:t>
            </a:r>
          </a:p>
        </p:txBody>
      </p:sp>
      <p:sp>
        <p:nvSpPr>
          <p:cNvPr id="4" name="Slide Number Placeholder 3">
            <a:extLst>
              <a:ext uri="{FF2B5EF4-FFF2-40B4-BE49-F238E27FC236}">
                <a16:creationId xmlns:a16="http://schemas.microsoft.com/office/drawing/2014/main" id="{7D1A0FB8-0E14-BB73-A799-E4E65BB76B4F}"/>
              </a:ext>
            </a:extLst>
          </p:cNvPr>
          <p:cNvSpPr>
            <a:spLocks noGrp="1"/>
          </p:cNvSpPr>
          <p:nvPr>
            <p:ph type="sldNum" sz="quarter" idx="12"/>
          </p:nvPr>
        </p:nvSpPr>
        <p:spPr/>
        <p:txBody>
          <a:bodyPr/>
          <a:lstStyle/>
          <a:p>
            <a:fld id="{C0343C75-1924-D247-85A3-0CB62E67E5D1}" type="slidenum">
              <a:rPr lang="en-US" smtClean="0"/>
              <a:t>48</a:t>
            </a:fld>
            <a:endParaRPr lang="en-US"/>
          </a:p>
        </p:txBody>
      </p:sp>
    </p:spTree>
    <p:extLst>
      <p:ext uri="{BB962C8B-B14F-4D97-AF65-F5344CB8AC3E}">
        <p14:creationId xmlns:p14="http://schemas.microsoft.com/office/powerpoint/2010/main" val="16356078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42D2F00C-36A0-A08D-82AD-AC7C1DAAC9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FE88EF-4D66-5A6B-F777-0341E3782EE3}"/>
              </a:ext>
            </a:extLst>
          </p:cNvPr>
          <p:cNvSpPr>
            <a:spLocks noGrp="1"/>
          </p:cNvSpPr>
          <p:nvPr>
            <p:ph type="title"/>
          </p:nvPr>
        </p:nvSpPr>
        <p:spPr/>
        <p:txBody>
          <a:bodyPr/>
          <a:lstStyle/>
          <a:p>
            <a:r>
              <a:rPr lang="en-US" dirty="0">
                <a:solidFill>
                  <a:schemeClr val="accent2">
                    <a:lumMod val="50000"/>
                  </a:schemeClr>
                </a:solidFill>
              </a:rPr>
              <a:t>Assignment #2 – Hints 3</a:t>
            </a:r>
          </a:p>
        </p:txBody>
      </p:sp>
      <p:sp>
        <p:nvSpPr>
          <p:cNvPr id="3" name="Content Placeholder 2">
            <a:extLst>
              <a:ext uri="{FF2B5EF4-FFF2-40B4-BE49-F238E27FC236}">
                <a16:creationId xmlns:a16="http://schemas.microsoft.com/office/drawing/2014/main" id="{F35EBF29-82A6-4983-5C33-5F2A8712B267}"/>
              </a:ext>
            </a:extLst>
          </p:cNvPr>
          <p:cNvSpPr>
            <a:spLocks noGrp="1"/>
          </p:cNvSpPr>
          <p:nvPr>
            <p:ph idx="1"/>
          </p:nvPr>
        </p:nvSpPr>
        <p:spPr/>
        <p:txBody>
          <a:bodyPr>
            <a:noAutofit/>
          </a:bodyPr>
          <a:lstStyle/>
          <a:p>
            <a:pPr marL="0"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library(</a:t>
            </a:r>
            <a:r>
              <a:rPr lang="en-US" sz="1400" dirty="0" err="1">
                <a:solidFill>
                  <a:srgbClr val="0070C0"/>
                </a:solidFill>
                <a:latin typeface="OSAKA-MONO" panose="020B0600000000000000" pitchFamily="34" charset="-128"/>
                <a:ea typeface="OSAKA-MONO" panose="020B0600000000000000" pitchFamily="34" charset="-128"/>
              </a:rPr>
              <a:t>tidycensus</a:t>
            </a:r>
            <a:r>
              <a:rPr lang="en-US" sz="1400" dirty="0">
                <a:solidFill>
                  <a:srgbClr val="0070C0"/>
                </a:solidFill>
                <a:latin typeface="OSAKA-MONO" panose="020B0600000000000000" pitchFamily="34" charset="-128"/>
                <a:ea typeface="OSAKA-MONO" panose="020B0600000000000000" pitchFamily="34" charset="-128"/>
              </a:rPr>
              <a:t>)</a:t>
            </a:r>
          </a:p>
          <a:p>
            <a:pPr marL="0" indent="0">
              <a:spcBef>
                <a:spcPts val="0"/>
              </a:spcBef>
              <a:buNone/>
            </a:pPr>
            <a:endParaRPr lang="en-US" sz="1400" dirty="0">
              <a:solidFill>
                <a:srgbClr val="0070C0"/>
              </a:solidFill>
              <a:latin typeface="OSAKA-MONO" panose="020B0600000000000000" pitchFamily="34" charset="-128"/>
              <a:ea typeface="OSAKA-MONO" panose="020B0600000000000000" pitchFamily="34" charset="-128"/>
            </a:endParaRPr>
          </a:p>
          <a:p>
            <a:pPr marL="0" indent="0">
              <a:spcBef>
                <a:spcPts val="0"/>
              </a:spcBef>
              <a:buNone/>
            </a:pPr>
            <a:r>
              <a:rPr lang="en-US" sz="1400" dirty="0" err="1">
                <a:solidFill>
                  <a:srgbClr val="0070C0"/>
                </a:solidFill>
                <a:latin typeface="OSAKA-MONO" panose="020B0600000000000000" pitchFamily="34" charset="-128"/>
                <a:ea typeface="OSAKA-MONO" panose="020B0600000000000000" pitchFamily="34" charset="-128"/>
              </a:rPr>
              <a:t>census_api_key</a:t>
            </a:r>
            <a:r>
              <a:rPr lang="en-US" sz="1400" dirty="0">
                <a:solidFill>
                  <a:srgbClr val="0070C0"/>
                </a:solidFill>
                <a:latin typeface="OSAKA-MONO" panose="020B0600000000000000" pitchFamily="34" charset="-128"/>
                <a:ea typeface="OSAKA-MONO" panose="020B0600000000000000" pitchFamily="34" charset="-128"/>
              </a:rPr>
              <a:t>("YOUR API GOES HERE")</a:t>
            </a:r>
          </a:p>
          <a:p>
            <a:pPr marL="0" indent="0">
              <a:spcBef>
                <a:spcPts val="0"/>
              </a:spcBef>
              <a:buNone/>
            </a:pPr>
            <a:br>
              <a:rPr lang="en-US" sz="1400" dirty="0">
                <a:solidFill>
                  <a:srgbClr val="0070C0"/>
                </a:solidFill>
                <a:latin typeface="OSAKA-MONO" panose="020B0600000000000000" pitchFamily="34" charset="-128"/>
                <a:ea typeface="OSAKA-MONO" panose="020B0600000000000000" pitchFamily="34" charset="-128"/>
              </a:rPr>
            </a:br>
            <a:r>
              <a:rPr lang="en-US" sz="1400" dirty="0" err="1">
                <a:solidFill>
                  <a:srgbClr val="0070C0"/>
                </a:solidFill>
                <a:latin typeface="OSAKA-MONO" panose="020B0600000000000000" pitchFamily="34" charset="-128"/>
                <a:ea typeface="OSAKA-MONO" panose="020B0600000000000000" pitchFamily="34" charset="-128"/>
              </a:rPr>
              <a:t>pop_data</a:t>
            </a:r>
            <a:r>
              <a:rPr lang="en-US" sz="1400" dirty="0">
                <a:solidFill>
                  <a:srgbClr val="0070C0"/>
                </a:solidFill>
                <a:latin typeface="OSAKA-MONO" panose="020B0600000000000000" pitchFamily="34" charset="-128"/>
                <a:ea typeface="OSAKA-MONO" panose="020B0600000000000000" pitchFamily="34" charset="-128"/>
              </a:rPr>
              <a:t> &lt;- </a:t>
            </a:r>
            <a:r>
              <a:rPr lang="en-US" sz="1400" dirty="0" err="1">
                <a:solidFill>
                  <a:srgbClr val="0070C0"/>
                </a:solidFill>
                <a:latin typeface="OSAKA-MONO" panose="020B0600000000000000" pitchFamily="34" charset="-128"/>
                <a:ea typeface="OSAKA-MONO" panose="020B0600000000000000" pitchFamily="34" charset="-128"/>
              </a:rPr>
              <a:t>get_acs</a:t>
            </a:r>
            <a:r>
              <a:rPr lang="en-US" sz="1400" dirty="0">
                <a:solidFill>
                  <a:srgbClr val="0070C0"/>
                </a:solidFill>
                <a:latin typeface="OSAKA-MONO" panose="020B0600000000000000" pitchFamily="34" charset="-128"/>
                <a:ea typeface="OSAKA-MONO" panose="020B0600000000000000" pitchFamily="34" charset="-128"/>
              </a:rPr>
              <a:t>(geography = "county",</a:t>
            </a:r>
          </a:p>
          <a:p>
            <a:pPr marL="9525" lvl="1"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 county = "Brazos",</a:t>
            </a:r>
          </a:p>
          <a:p>
            <a:pPr marL="9525" lvl="1"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county = </a:t>
            </a:r>
            <a:r>
              <a:rPr lang="en-US" sz="1400" dirty="0">
                <a:solidFill>
                  <a:srgbClr val="0070C0"/>
                </a:solidFill>
                <a:highlight>
                  <a:srgbClr val="FFFF00"/>
                </a:highlight>
                <a:latin typeface="OSAKA-MONO" panose="020B0600000000000000" pitchFamily="34" charset="-128"/>
                <a:ea typeface="OSAKA-MONO" panose="020B0600000000000000" pitchFamily="34" charset="-128"/>
              </a:rPr>
              <a:t>unique(</a:t>
            </a:r>
            <a:r>
              <a:rPr lang="en-US" sz="1400" dirty="0" err="1">
                <a:solidFill>
                  <a:srgbClr val="0070C0"/>
                </a:solidFill>
                <a:highlight>
                  <a:srgbClr val="FFFF00"/>
                </a:highlight>
                <a:latin typeface="OSAKA-MONO" panose="020B0600000000000000" pitchFamily="34" charset="-128"/>
                <a:ea typeface="OSAKA-MONO" panose="020B0600000000000000" pitchFamily="34" charset="-128"/>
              </a:rPr>
              <a:t>agg_parcels$COUNTY</a:t>
            </a:r>
            <a:r>
              <a:rPr lang="en-US" sz="1400" dirty="0">
                <a:solidFill>
                  <a:srgbClr val="0070C0"/>
                </a:solidFill>
                <a:highlight>
                  <a:srgbClr val="FFFF00"/>
                </a:highlight>
                <a:latin typeface="OSAKA-MONO" panose="020B0600000000000000" pitchFamily="34" charset="-128"/>
                <a:ea typeface="OSAKA-MONO" panose="020B0600000000000000" pitchFamily="34" charset="-128"/>
              </a:rPr>
              <a:t>),</a:t>
            </a:r>
          </a:p>
          <a:p>
            <a:pPr marL="9525" lvl="1"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output = "wide",</a:t>
            </a:r>
          </a:p>
          <a:p>
            <a:pPr marL="9525" lvl="1"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geometry = </a:t>
            </a:r>
            <a:r>
              <a:rPr lang="en-US" sz="1400" dirty="0">
                <a:solidFill>
                  <a:srgbClr val="FF0000"/>
                </a:solidFill>
                <a:latin typeface="OSAKA-MONO" panose="020B0600000000000000" pitchFamily="34" charset="-128"/>
                <a:ea typeface="OSAKA-MONO" panose="020B0600000000000000" pitchFamily="34" charset="-128"/>
              </a:rPr>
              <a:t>FALSE</a:t>
            </a:r>
            <a:r>
              <a:rPr lang="en-US" sz="1400" dirty="0">
                <a:solidFill>
                  <a:srgbClr val="0070C0"/>
                </a:solidFill>
                <a:latin typeface="OSAKA-MONO" panose="020B0600000000000000" pitchFamily="34" charset="-128"/>
                <a:ea typeface="OSAKA-MONO" panose="020B0600000000000000" pitchFamily="34" charset="-128"/>
              </a:rPr>
              <a:t>,</a:t>
            </a:r>
          </a:p>
          <a:p>
            <a:pPr marL="9525" lvl="1"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variables = </a:t>
            </a:r>
            <a:r>
              <a:rPr lang="en-US" sz="1400" dirty="0">
                <a:solidFill>
                  <a:srgbClr val="0070C0"/>
                </a:solidFill>
                <a:highlight>
                  <a:srgbClr val="FFFF00"/>
                </a:highlight>
                <a:latin typeface="OSAKA-MONO" panose="020B0600000000000000" pitchFamily="34" charset="-128"/>
                <a:ea typeface="OSAKA-MONO" panose="020B0600000000000000" pitchFamily="34" charset="-128"/>
              </a:rPr>
              <a:t>c(pop = "B01001_001"),</a:t>
            </a:r>
          </a:p>
          <a:p>
            <a:pPr marL="9525" lvl="1"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state = "TX",</a:t>
            </a:r>
          </a:p>
          <a:p>
            <a:pPr marL="9525" lvl="1"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year = 2023)</a:t>
            </a:r>
          </a:p>
          <a:p>
            <a:pPr marL="457200" lvl="1" indent="0">
              <a:spcBef>
                <a:spcPts val="0"/>
              </a:spcBef>
              <a:buNone/>
            </a:pPr>
            <a:endParaRPr lang="en-US" sz="1400" dirty="0">
              <a:solidFill>
                <a:srgbClr val="0070C0"/>
              </a:solidFill>
              <a:latin typeface="OSAKA-MONO" panose="020B0600000000000000" pitchFamily="34" charset="-128"/>
              <a:ea typeface="OSAKA-MONO" panose="020B0600000000000000" pitchFamily="34" charset="-128"/>
            </a:endParaRPr>
          </a:p>
          <a:p>
            <a:pPr marL="234950" lvl="1" indent="-225425">
              <a:spcBef>
                <a:spcPts val="0"/>
              </a:spcBef>
              <a:buNone/>
            </a:pPr>
            <a:r>
              <a:rPr lang="en-US" sz="1400" dirty="0" err="1">
                <a:solidFill>
                  <a:srgbClr val="0070C0"/>
                </a:solidFill>
                <a:latin typeface="OSAKA-MONO" panose="020B0600000000000000" pitchFamily="34" charset="-128"/>
                <a:ea typeface="OSAKA-MONO" panose="020B0600000000000000" pitchFamily="34" charset="-128"/>
              </a:rPr>
              <a:t>agg_parcels</a:t>
            </a:r>
            <a:r>
              <a:rPr lang="en-US" sz="1400" dirty="0">
                <a:solidFill>
                  <a:srgbClr val="0070C0"/>
                </a:solidFill>
                <a:latin typeface="OSAKA-MONO" panose="020B0600000000000000" pitchFamily="34" charset="-128"/>
                <a:ea typeface="OSAKA-MONO" panose="020B0600000000000000" pitchFamily="34" charset="-128"/>
              </a:rPr>
              <a:t> &lt;- </a:t>
            </a:r>
            <a:r>
              <a:rPr lang="en-US" sz="1400" dirty="0" err="1">
                <a:solidFill>
                  <a:srgbClr val="0070C0"/>
                </a:solidFill>
                <a:latin typeface="OSAKA-MONO" panose="020B0600000000000000" pitchFamily="34" charset="-128"/>
                <a:ea typeface="OSAKA-MONO" panose="020B0600000000000000" pitchFamily="34" charset="-128"/>
              </a:rPr>
              <a:t>agg_parcels</a:t>
            </a:r>
            <a:r>
              <a:rPr lang="en-US" sz="1400" dirty="0">
                <a:solidFill>
                  <a:srgbClr val="0070C0"/>
                </a:solidFill>
                <a:latin typeface="OSAKA-MONO" panose="020B0600000000000000" pitchFamily="34" charset="-128"/>
                <a:ea typeface="OSAKA-MONO" panose="020B0600000000000000" pitchFamily="34" charset="-128"/>
              </a:rPr>
              <a:t> %&gt;%</a:t>
            </a:r>
          </a:p>
          <a:p>
            <a:pPr marL="234950" lvl="1" indent="-225425">
              <a:spcBef>
                <a:spcPts val="0"/>
              </a:spcBef>
              <a:buNone/>
            </a:pPr>
            <a:r>
              <a:rPr lang="en-US" sz="1400" dirty="0">
                <a:solidFill>
                  <a:srgbClr val="0070C0"/>
                </a:solidFill>
                <a:latin typeface="OSAKA-MONO" panose="020B0600000000000000" pitchFamily="34" charset="-128"/>
                <a:ea typeface="OSAKA-MONO" panose="020B0600000000000000" pitchFamily="34" charset="-128"/>
              </a:rPr>
              <a:t>		  </a:t>
            </a:r>
            <a:r>
              <a:rPr lang="en-US" sz="1400" dirty="0" err="1">
                <a:solidFill>
                  <a:srgbClr val="0070C0"/>
                </a:solidFill>
                <a:latin typeface="OSAKA-MONO" panose="020B0600000000000000" pitchFamily="34" charset="-128"/>
                <a:ea typeface="OSAKA-MONO" panose="020B0600000000000000" pitchFamily="34" charset="-128"/>
              </a:rPr>
              <a:t>left_join</a:t>
            </a:r>
            <a:r>
              <a:rPr lang="en-US" sz="1400" dirty="0">
                <a:solidFill>
                  <a:srgbClr val="0070C0"/>
                </a:solidFill>
                <a:latin typeface="OSAKA-MONO" panose="020B0600000000000000" pitchFamily="34" charset="-128"/>
                <a:ea typeface="OSAKA-MONO" panose="020B0600000000000000" pitchFamily="34" charset="-128"/>
              </a:rPr>
              <a:t>(</a:t>
            </a:r>
            <a:r>
              <a:rPr lang="en-US" sz="1400" dirty="0" err="1">
                <a:solidFill>
                  <a:srgbClr val="0070C0"/>
                </a:solidFill>
                <a:latin typeface="OSAKA-MONO" panose="020B0600000000000000" pitchFamily="34" charset="-128"/>
                <a:ea typeface="OSAKA-MONO" panose="020B0600000000000000" pitchFamily="34" charset="-128"/>
              </a:rPr>
              <a:t>pop_data</a:t>
            </a:r>
            <a:r>
              <a:rPr lang="en-US" sz="1400" dirty="0">
                <a:solidFill>
                  <a:srgbClr val="0070C0"/>
                </a:solidFill>
                <a:latin typeface="OSAKA-MONO" panose="020B0600000000000000" pitchFamily="34" charset="-128"/>
                <a:ea typeface="OSAKA-MONO" panose="020B0600000000000000" pitchFamily="34" charset="-128"/>
              </a:rPr>
              <a:t>, by = "GEOID") %&gt;%</a:t>
            </a:r>
          </a:p>
          <a:p>
            <a:pPr marL="234950" lvl="1" indent="-225425">
              <a:spcBef>
                <a:spcPts val="0"/>
              </a:spcBef>
              <a:buNone/>
            </a:pPr>
            <a:r>
              <a:rPr lang="en-US" sz="1400" dirty="0">
                <a:solidFill>
                  <a:srgbClr val="0070C0"/>
                </a:solidFill>
                <a:latin typeface="OSAKA-MONO" panose="020B0600000000000000" pitchFamily="34" charset="-128"/>
                <a:ea typeface="OSAKA-MONO" panose="020B0600000000000000" pitchFamily="34" charset="-128"/>
              </a:rPr>
              <a:t>		  mutate(</a:t>
            </a:r>
          </a:p>
          <a:p>
            <a:pPr marL="234950" lvl="1" indent="-225425">
              <a:spcBef>
                <a:spcPts val="0"/>
              </a:spcBef>
              <a:buNone/>
            </a:pPr>
            <a:r>
              <a:rPr lang="en-US" sz="1400" dirty="0">
                <a:solidFill>
                  <a:srgbClr val="0070C0"/>
                </a:solidFill>
                <a:latin typeface="OSAKA-MONO" panose="020B0600000000000000" pitchFamily="34" charset="-128"/>
                <a:ea typeface="OSAKA-MONO" panose="020B0600000000000000" pitchFamily="34" charset="-128"/>
              </a:rPr>
              <a:t>		    </a:t>
            </a:r>
            <a:r>
              <a:rPr lang="en-US" sz="1400" dirty="0" err="1">
                <a:solidFill>
                  <a:srgbClr val="0070C0"/>
                </a:solidFill>
                <a:latin typeface="OSAKA-MONO" panose="020B0600000000000000" pitchFamily="34" charset="-128"/>
                <a:ea typeface="OSAKA-MONO" panose="020B0600000000000000" pitchFamily="34" charset="-128"/>
              </a:rPr>
              <a:t>imp_value_per_capita</a:t>
            </a:r>
            <a:r>
              <a:rPr lang="en-US" sz="1400" dirty="0">
                <a:solidFill>
                  <a:srgbClr val="0070C0"/>
                </a:solidFill>
                <a:latin typeface="OSAKA-MONO" panose="020B0600000000000000" pitchFamily="34" charset="-128"/>
                <a:ea typeface="OSAKA-MONO" panose="020B0600000000000000" pitchFamily="34" charset="-128"/>
              </a:rPr>
              <a:t> = </a:t>
            </a:r>
            <a:r>
              <a:rPr lang="en-US" sz="1400" dirty="0" err="1">
                <a:solidFill>
                  <a:srgbClr val="0070C0"/>
                </a:solidFill>
                <a:latin typeface="OSAKA-MONO" panose="020B0600000000000000" pitchFamily="34" charset="-128"/>
                <a:ea typeface="OSAKA-MONO" panose="020B0600000000000000" pitchFamily="34" charset="-128"/>
              </a:rPr>
              <a:t>total_imp_value</a:t>
            </a:r>
            <a:r>
              <a:rPr lang="en-US" sz="1400" dirty="0">
                <a:solidFill>
                  <a:srgbClr val="0070C0"/>
                </a:solidFill>
                <a:latin typeface="OSAKA-MONO" panose="020B0600000000000000" pitchFamily="34" charset="-128"/>
                <a:ea typeface="OSAKA-MONO" panose="020B0600000000000000" pitchFamily="34" charset="-128"/>
              </a:rPr>
              <a:t> / </a:t>
            </a:r>
            <a:r>
              <a:rPr lang="en-US" sz="1400" dirty="0" err="1">
                <a:solidFill>
                  <a:srgbClr val="0070C0"/>
                </a:solidFill>
                <a:latin typeface="OSAKA-MONO" panose="020B0600000000000000" pitchFamily="34" charset="-128"/>
                <a:ea typeface="OSAKA-MONO" panose="020B0600000000000000" pitchFamily="34" charset="-128"/>
              </a:rPr>
              <a:t>popE</a:t>
            </a:r>
            <a:endParaRPr lang="en-US" sz="1400" dirty="0">
              <a:solidFill>
                <a:srgbClr val="0070C0"/>
              </a:solidFill>
              <a:latin typeface="OSAKA-MONO" panose="020B0600000000000000" pitchFamily="34" charset="-128"/>
              <a:ea typeface="OSAKA-MONO" panose="020B0600000000000000" pitchFamily="34" charset="-128"/>
            </a:endParaRPr>
          </a:p>
          <a:p>
            <a:pPr marL="234950" lvl="1" indent="-225425">
              <a:spcBef>
                <a:spcPts val="0"/>
              </a:spcBef>
              <a:buNone/>
            </a:pPr>
            <a:r>
              <a:rPr lang="en-US" sz="1400" dirty="0">
                <a:solidFill>
                  <a:srgbClr val="0070C0"/>
                </a:solidFill>
                <a:latin typeface="OSAKA-MONO" panose="020B0600000000000000" pitchFamily="34" charset="-128"/>
                <a:ea typeface="OSAKA-MONO" panose="020B0600000000000000" pitchFamily="34" charset="-128"/>
              </a:rPr>
              <a:t>  		  )</a:t>
            </a:r>
          </a:p>
        </p:txBody>
      </p:sp>
      <p:sp>
        <p:nvSpPr>
          <p:cNvPr id="4" name="Slide Number Placeholder 3">
            <a:extLst>
              <a:ext uri="{FF2B5EF4-FFF2-40B4-BE49-F238E27FC236}">
                <a16:creationId xmlns:a16="http://schemas.microsoft.com/office/drawing/2014/main" id="{6E7F7AB0-465A-F0F3-70B9-2A48667BA22C}"/>
              </a:ext>
            </a:extLst>
          </p:cNvPr>
          <p:cNvSpPr>
            <a:spLocks noGrp="1"/>
          </p:cNvSpPr>
          <p:nvPr>
            <p:ph type="sldNum" sz="quarter" idx="12"/>
          </p:nvPr>
        </p:nvSpPr>
        <p:spPr/>
        <p:txBody>
          <a:bodyPr/>
          <a:lstStyle/>
          <a:p>
            <a:fld id="{C0343C75-1924-D247-85A3-0CB62E67E5D1}" type="slidenum">
              <a:rPr lang="en-US" smtClean="0"/>
              <a:t>49</a:t>
            </a:fld>
            <a:endParaRPr lang="en-US"/>
          </a:p>
        </p:txBody>
      </p:sp>
    </p:spTree>
    <p:extLst>
      <p:ext uri="{BB962C8B-B14F-4D97-AF65-F5344CB8AC3E}">
        <p14:creationId xmlns:p14="http://schemas.microsoft.com/office/powerpoint/2010/main" val="29347360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D789C2E1-CF2C-A780-A7D4-E20D2F1398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EFAF85-B4E6-F649-FC43-B50111AAE9E8}"/>
              </a:ext>
            </a:extLst>
          </p:cNvPr>
          <p:cNvSpPr>
            <a:spLocks noGrp="1"/>
          </p:cNvSpPr>
          <p:nvPr>
            <p:ph type="title"/>
          </p:nvPr>
        </p:nvSpPr>
        <p:spPr/>
        <p:txBody>
          <a:bodyPr/>
          <a:lstStyle/>
          <a:p>
            <a:r>
              <a:rPr lang="en-US" dirty="0">
                <a:solidFill>
                  <a:schemeClr val="accent2">
                    <a:lumMod val="50000"/>
                  </a:schemeClr>
                </a:solidFill>
              </a:rPr>
              <a:t>Assignment #2 – Part 5</a:t>
            </a:r>
          </a:p>
        </p:txBody>
      </p:sp>
      <p:sp>
        <p:nvSpPr>
          <p:cNvPr id="3" name="Content Placeholder 2">
            <a:extLst>
              <a:ext uri="{FF2B5EF4-FFF2-40B4-BE49-F238E27FC236}">
                <a16:creationId xmlns:a16="http://schemas.microsoft.com/office/drawing/2014/main" id="{FAF8F08C-B3F6-DF50-2ABD-F18FB29872E0}"/>
              </a:ext>
            </a:extLst>
          </p:cNvPr>
          <p:cNvSpPr>
            <a:spLocks noGrp="1"/>
          </p:cNvSpPr>
          <p:nvPr>
            <p:ph idx="1"/>
          </p:nvPr>
        </p:nvSpPr>
        <p:spPr/>
        <p:txBody>
          <a:bodyPr>
            <a:noAutofit/>
          </a:bodyPr>
          <a:lstStyle/>
          <a:p>
            <a:pPr marL="0" indent="0">
              <a:buNone/>
            </a:pPr>
            <a:r>
              <a:rPr lang="en-US" sz="1800" i="1" dirty="0">
                <a:solidFill>
                  <a:schemeClr val="accent2">
                    <a:lumMod val="50000"/>
                  </a:schemeClr>
                </a:solidFill>
              </a:rPr>
              <a:t>5. Visualization</a:t>
            </a:r>
          </a:p>
          <a:p>
            <a:pPr marL="234950" indent="-234950">
              <a:buFont typeface="+mj-lt"/>
              <a:buAutoNum type="alphaLcPeriod"/>
            </a:pPr>
            <a:r>
              <a:rPr lang="en-US" sz="1800" dirty="0">
                <a:solidFill>
                  <a:schemeClr val="accent2">
                    <a:lumMod val="50000"/>
                  </a:schemeClr>
                </a:solidFill>
              </a:rPr>
              <a:t>Basic thematic maps</a:t>
            </a:r>
          </a:p>
          <a:p>
            <a:pPr lvl="1"/>
            <a:r>
              <a:rPr lang="en-US" sz="1800" dirty="0">
                <a:solidFill>
                  <a:schemeClr val="accent2">
                    <a:lumMod val="50000"/>
                  </a:schemeClr>
                </a:solidFill>
              </a:rPr>
              <a:t>Use </a:t>
            </a:r>
            <a:r>
              <a:rPr lang="en-US" sz="1800" b="1" dirty="0" err="1">
                <a:solidFill>
                  <a:schemeClr val="accent2">
                    <a:lumMod val="50000"/>
                  </a:schemeClr>
                </a:solidFill>
                <a:latin typeface="OSAKA-MONO" panose="020B0600000000000000" pitchFamily="34" charset="-128"/>
                <a:ea typeface="OSAKA-MONO" panose="020B0600000000000000" pitchFamily="34" charset="-128"/>
              </a:rPr>
              <a:t>tmap</a:t>
            </a:r>
            <a:r>
              <a:rPr lang="en-US" sz="1800" dirty="0">
                <a:solidFill>
                  <a:schemeClr val="accent2">
                    <a:lumMod val="50000"/>
                  </a:schemeClr>
                </a:solidFill>
              </a:rPr>
              <a:t> </a:t>
            </a:r>
            <a:r>
              <a:rPr lang="en-US" sz="1800" baseline="30000" dirty="0">
                <a:solidFill>
                  <a:schemeClr val="accent2">
                    <a:lumMod val="50000"/>
                  </a:schemeClr>
                </a:solidFill>
              </a:rPr>
              <a:t>(or </a:t>
            </a:r>
            <a:r>
              <a:rPr lang="en-US" sz="1800" b="1" baseline="30000" dirty="0">
                <a:solidFill>
                  <a:schemeClr val="accent2">
                    <a:lumMod val="50000"/>
                  </a:schemeClr>
                </a:solidFill>
                <a:latin typeface="OSAKA-MONO" panose="020B0600000000000000" pitchFamily="34" charset="-128"/>
                <a:ea typeface="OSAKA-MONO" panose="020B0600000000000000" pitchFamily="34" charset="-128"/>
              </a:rPr>
              <a:t>ggplot2</a:t>
            </a:r>
            <a:r>
              <a:rPr lang="en-US" sz="1800" baseline="30000" dirty="0">
                <a:solidFill>
                  <a:schemeClr val="accent2">
                    <a:lumMod val="50000"/>
                  </a:schemeClr>
                </a:solidFill>
              </a:rPr>
              <a:t>)</a:t>
            </a:r>
            <a:r>
              <a:rPr lang="en-US" sz="1800" dirty="0">
                <a:solidFill>
                  <a:schemeClr val="accent2">
                    <a:lumMod val="50000"/>
                  </a:schemeClr>
                </a:solidFill>
              </a:rPr>
              <a:t> to produce:</a:t>
            </a:r>
          </a:p>
          <a:p>
            <a:pPr lvl="2">
              <a:buFont typeface="System Font Regular"/>
              <a:buChar char="–"/>
            </a:pPr>
            <a:r>
              <a:rPr lang="en-US" sz="1800" dirty="0">
                <a:solidFill>
                  <a:schemeClr val="accent2">
                    <a:lumMod val="50000"/>
                  </a:schemeClr>
                </a:solidFill>
              </a:rPr>
              <a:t>Basic choropleth map of total improvement value by county</a:t>
            </a:r>
          </a:p>
          <a:p>
            <a:pPr lvl="2">
              <a:buFont typeface="System Font Regular"/>
              <a:buChar char="–"/>
            </a:pPr>
            <a:r>
              <a:rPr lang="en-US" sz="1800" dirty="0">
                <a:solidFill>
                  <a:schemeClr val="accent2">
                    <a:lumMod val="50000"/>
                  </a:schemeClr>
                </a:solidFill>
              </a:rPr>
              <a:t>Basic choropleth map of average improvement value per inhabitant</a:t>
            </a:r>
          </a:p>
          <a:p>
            <a:pPr marL="234950" indent="-234950">
              <a:buFont typeface="+mj-lt"/>
              <a:buAutoNum type="alphaLcPeriod"/>
            </a:pPr>
            <a:r>
              <a:rPr lang="en-US" sz="1800" dirty="0">
                <a:solidFill>
                  <a:schemeClr val="accent2">
                    <a:lumMod val="50000"/>
                  </a:schemeClr>
                </a:solidFill>
              </a:rPr>
              <a:t>You may also consider including supporting plots, such as:</a:t>
            </a:r>
          </a:p>
          <a:p>
            <a:pPr lvl="1"/>
            <a:r>
              <a:rPr lang="en-US" sz="1800" dirty="0">
                <a:solidFill>
                  <a:schemeClr val="accent2">
                    <a:lumMod val="50000"/>
                  </a:schemeClr>
                </a:solidFill>
              </a:rPr>
              <a:t>Bar charts or scatterplots showing:</a:t>
            </a:r>
          </a:p>
          <a:p>
            <a:pPr lvl="2">
              <a:buFont typeface="System Font Regular"/>
              <a:buChar char="–"/>
            </a:pPr>
            <a:r>
              <a:rPr lang="en-US" sz="1800" dirty="0">
                <a:solidFill>
                  <a:schemeClr val="accent2">
                    <a:lumMod val="50000"/>
                  </a:schemeClr>
                </a:solidFill>
              </a:rPr>
              <a:t>Population vs. improvement value</a:t>
            </a:r>
          </a:p>
          <a:p>
            <a:pPr lvl="2">
              <a:buFont typeface="System Font Regular"/>
              <a:buChar char="–"/>
            </a:pPr>
            <a:r>
              <a:rPr lang="en-US" sz="1800" dirty="0">
                <a:solidFill>
                  <a:schemeClr val="accent2">
                    <a:lumMod val="50000"/>
                  </a:schemeClr>
                </a:solidFill>
              </a:rPr>
              <a:t>Parcel count vs. per capita value</a:t>
            </a:r>
          </a:p>
          <a:p>
            <a:pPr marL="234950" indent="-234950">
              <a:buFont typeface="+mj-lt"/>
              <a:buAutoNum type="alphaLcPeriod"/>
            </a:pPr>
            <a:r>
              <a:rPr lang="en-US" sz="1800" u="sng" dirty="0">
                <a:solidFill>
                  <a:schemeClr val="accent2">
                    <a:lumMod val="50000"/>
                  </a:schemeClr>
                </a:solidFill>
                <a:highlight>
                  <a:srgbClr val="FFFF00"/>
                </a:highlight>
              </a:rPr>
              <a:t>Interpretation</a:t>
            </a:r>
          </a:p>
          <a:p>
            <a:pPr lvl="1"/>
            <a:r>
              <a:rPr lang="en-US" sz="1800" dirty="0">
                <a:solidFill>
                  <a:schemeClr val="accent2">
                    <a:lumMod val="50000"/>
                  </a:schemeClr>
                </a:solidFill>
              </a:rPr>
              <a:t>Comment on spatial patterns</a:t>
            </a:r>
            <a:br>
              <a:rPr lang="en-US" sz="1800" dirty="0">
                <a:solidFill>
                  <a:schemeClr val="accent2">
                    <a:lumMod val="50000"/>
                  </a:schemeClr>
                </a:solidFill>
              </a:rPr>
            </a:br>
            <a:r>
              <a:rPr lang="en-US" sz="1800" dirty="0">
                <a:solidFill>
                  <a:schemeClr val="accent2">
                    <a:lumMod val="50000"/>
                  </a:schemeClr>
                </a:solidFill>
              </a:rPr>
              <a:t>(e.g., regional real estate markets, population density relationships)</a:t>
            </a:r>
          </a:p>
        </p:txBody>
      </p:sp>
      <p:sp>
        <p:nvSpPr>
          <p:cNvPr id="4" name="Slide Number Placeholder 3">
            <a:extLst>
              <a:ext uri="{FF2B5EF4-FFF2-40B4-BE49-F238E27FC236}">
                <a16:creationId xmlns:a16="http://schemas.microsoft.com/office/drawing/2014/main" id="{3CEB4A32-EEDA-8DC7-D078-587139A5E75A}"/>
              </a:ext>
            </a:extLst>
          </p:cNvPr>
          <p:cNvSpPr>
            <a:spLocks noGrp="1"/>
          </p:cNvSpPr>
          <p:nvPr>
            <p:ph type="sldNum" sz="quarter" idx="12"/>
          </p:nvPr>
        </p:nvSpPr>
        <p:spPr/>
        <p:txBody>
          <a:bodyPr/>
          <a:lstStyle/>
          <a:p>
            <a:fld id="{C0343C75-1924-D247-85A3-0CB62E67E5D1}" type="slidenum">
              <a:rPr lang="en-US" smtClean="0"/>
              <a:t>50</a:t>
            </a:fld>
            <a:endParaRPr lang="en-US"/>
          </a:p>
        </p:txBody>
      </p:sp>
    </p:spTree>
    <p:extLst>
      <p:ext uri="{BB962C8B-B14F-4D97-AF65-F5344CB8AC3E}">
        <p14:creationId xmlns:p14="http://schemas.microsoft.com/office/powerpoint/2010/main" val="614032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E2ECD6E4-654B-6FA8-C674-D2BB3D8C9B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CEA7FE-886A-FC07-62D9-E08D5BABBF14}"/>
              </a:ext>
            </a:extLst>
          </p:cNvPr>
          <p:cNvSpPr>
            <a:spLocks noGrp="1"/>
          </p:cNvSpPr>
          <p:nvPr>
            <p:ph type="title"/>
          </p:nvPr>
        </p:nvSpPr>
        <p:spPr/>
        <p:txBody>
          <a:bodyPr/>
          <a:lstStyle/>
          <a:p>
            <a:r>
              <a:rPr lang="en-US" dirty="0">
                <a:solidFill>
                  <a:schemeClr val="accent2">
                    <a:lumMod val="50000"/>
                  </a:schemeClr>
                </a:solidFill>
              </a:rPr>
              <a:t>Assignment #2 – Hints 4</a:t>
            </a:r>
          </a:p>
        </p:txBody>
      </p:sp>
      <p:sp>
        <p:nvSpPr>
          <p:cNvPr id="3" name="Content Placeholder 2">
            <a:extLst>
              <a:ext uri="{FF2B5EF4-FFF2-40B4-BE49-F238E27FC236}">
                <a16:creationId xmlns:a16="http://schemas.microsoft.com/office/drawing/2014/main" id="{3ABF9788-1CF1-D9D3-EF5D-DF5B332377D1}"/>
              </a:ext>
            </a:extLst>
          </p:cNvPr>
          <p:cNvSpPr>
            <a:spLocks noGrp="1"/>
          </p:cNvSpPr>
          <p:nvPr>
            <p:ph idx="1"/>
          </p:nvPr>
        </p:nvSpPr>
        <p:spPr/>
        <p:txBody>
          <a:bodyPr>
            <a:noAutofit/>
          </a:bodyPr>
          <a:lstStyle/>
          <a:p>
            <a:pPr marL="0"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library(</a:t>
            </a:r>
            <a:r>
              <a:rPr lang="en-US" sz="1400" dirty="0" err="1">
                <a:solidFill>
                  <a:srgbClr val="0070C0"/>
                </a:solidFill>
                <a:latin typeface="OSAKA-MONO" panose="020B0600000000000000" pitchFamily="34" charset="-128"/>
                <a:ea typeface="OSAKA-MONO" panose="020B0600000000000000" pitchFamily="34" charset="-128"/>
              </a:rPr>
              <a:t>tmap</a:t>
            </a:r>
            <a:r>
              <a:rPr lang="en-US" sz="1400" dirty="0">
                <a:solidFill>
                  <a:srgbClr val="0070C0"/>
                </a:solidFill>
                <a:latin typeface="OSAKA-MONO" panose="020B0600000000000000" pitchFamily="34" charset="-128"/>
                <a:ea typeface="OSAKA-MONO" panose="020B0600000000000000" pitchFamily="34" charset="-128"/>
              </a:rPr>
              <a:t>)</a:t>
            </a:r>
          </a:p>
          <a:p>
            <a:pPr marL="0" indent="0">
              <a:spcBef>
                <a:spcPts val="0"/>
              </a:spcBef>
              <a:buNone/>
            </a:pPr>
            <a:endParaRPr lang="en-US" sz="1400" dirty="0">
              <a:solidFill>
                <a:srgbClr val="0070C0"/>
              </a:solidFill>
              <a:latin typeface="OSAKA-MONO" panose="020B0600000000000000" pitchFamily="34" charset="-128"/>
              <a:ea typeface="OSAKA-MONO" panose="020B0600000000000000" pitchFamily="34" charset="-128"/>
            </a:endParaRPr>
          </a:p>
          <a:p>
            <a:pPr marL="0" indent="0">
              <a:spcBef>
                <a:spcPts val="0"/>
              </a:spcBef>
              <a:buNone/>
            </a:pPr>
            <a:r>
              <a:rPr lang="en-US" sz="1400" dirty="0" err="1">
                <a:solidFill>
                  <a:srgbClr val="0070C0"/>
                </a:solidFill>
                <a:latin typeface="OSAKA-MONO" panose="020B0600000000000000" pitchFamily="34" charset="-128"/>
                <a:ea typeface="OSAKA-MONO" panose="020B0600000000000000" pitchFamily="34" charset="-128"/>
              </a:rPr>
              <a:t>tm_shape</a:t>
            </a:r>
            <a:r>
              <a:rPr lang="en-US" sz="1400" dirty="0">
                <a:solidFill>
                  <a:srgbClr val="0070C0"/>
                </a:solidFill>
                <a:latin typeface="OSAKA-MONO" panose="020B0600000000000000" pitchFamily="34" charset="-128"/>
                <a:ea typeface="OSAKA-MONO" panose="020B0600000000000000" pitchFamily="34" charset="-128"/>
              </a:rPr>
              <a:t>(</a:t>
            </a:r>
            <a:r>
              <a:rPr lang="en-US" sz="1400" dirty="0" err="1">
                <a:solidFill>
                  <a:srgbClr val="0070C0"/>
                </a:solidFill>
                <a:latin typeface="OSAKA-MONO" panose="020B0600000000000000" pitchFamily="34" charset="-128"/>
                <a:ea typeface="OSAKA-MONO" panose="020B0600000000000000" pitchFamily="34" charset="-128"/>
              </a:rPr>
              <a:t>parcels_all</a:t>
            </a:r>
            <a:r>
              <a:rPr lang="en-US" sz="1400" dirty="0">
                <a:solidFill>
                  <a:srgbClr val="0070C0"/>
                </a:solidFill>
                <a:latin typeface="OSAKA-MONO" panose="020B0600000000000000" pitchFamily="34" charset="-128"/>
                <a:ea typeface="OSAKA-MONO" panose="020B0600000000000000" pitchFamily="34" charset="-128"/>
              </a:rPr>
              <a:t>) +</a:t>
            </a:r>
          </a:p>
          <a:p>
            <a:pPr marL="0"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a:t>
            </a:r>
            <a:r>
              <a:rPr lang="en-US" sz="1400" dirty="0" err="1">
                <a:solidFill>
                  <a:srgbClr val="0070C0"/>
                </a:solidFill>
                <a:latin typeface="OSAKA-MONO" panose="020B0600000000000000" pitchFamily="34" charset="-128"/>
                <a:ea typeface="OSAKA-MONO" panose="020B0600000000000000" pitchFamily="34" charset="-128"/>
              </a:rPr>
              <a:t>tm_polygons</a:t>
            </a:r>
            <a:r>
              <a:rPr lang="en-US" sz="1400" dirty="0">
                <a:solidFill>
                  <a:srgbClr val="0070C0"/>
                </a:solidFill>
                <a:latin typeface="OSAKA-MONO" panose="020B0600000000000000" pitchFamily="34" charset="-128"/>
                <a:ea typeface="OSAKA-MONO" panose="020B0600000000000000" pitchFamily="34" charset="-128"/>
              </a:rPr>
              <a:t>(fill = "STAT_LAND_2", </a:t>
            </a:r>
            <a:r>
              <a:rPr lang="en-US" sz="1400" dirty="0" err="1">
                <a:solidFill>
                  <a:srgbClr val="0070C0"/>
                </a:solidFill>
                <a:latin typeface="OSAKA-MONO" panose="020B0600000000000000" pitchFamily="34" charset="-128"/>
                <a:ea typeface="OSAKA-MONO" panose="020B0600000000000000" pitchFamily="34" charset="-128"/>
              </a:rPr>
              <a:t>lwd</a:t>
            </a:r>
            <a:r>
              <a:rPr lang="en-US" sz="1400" dirty="0">
                <a:solidFill>
                  <a:srgbClr val="0070C0"/>
                </a:solidFill>
                <a:latin typeface="OSAKA-MONO" panose="020B0600000000000000" pitchFamily="34" charset="-128"/>
                <a:ea typeface="OSAKA-MONO" panose="020B0600000000000000" pitchFamily="34" charset="-128"/>
              </a:rPr>
              <a:t> = 0)</a:t>
            </a:r>
          </a:p>
        </p:txBody>
      </p:sp>
      <p:sp>
        <p:nvSpPr>
          <p:cNvPr id="4" name="Slide Number Placeholder 3">
            <a:extLst>
              <a:ext uri="{FF2B5EF4-FFF2-40B4-BE49-F238E27FC236}">
                <a16:creationId xmlns:a16="http://schemas.microsoft.com/office/drawing/2014/main" id="{D84C4E6E-C85C-5FD4-EB54-881197A86829}"/>
              </a:ext>
            </a:extLst>
          </p:cNvPr>
          <p:cNvSpPr>
            <a:spLocks noGrp="1"/>
          </p:cNvSpPr>
          <p:nvPr>
            <p:ph type="sldNum" sz="quarter" idx="12"/>
          </p:nvPr>
        </p:nvSpPr>
        <p:spPr/>
        <p:txBody>
          <a:bodyPr/>
          <a:lstStyle/>
          <a:p>
            <a:fld id="{C0343C75-1924-D247-85A3-0CB62E67E5D1}" type="slidenum">
              <a:rPr lang="en-US" smtClean="0"/>
              <a:t>51</a:t>
            </a:fld>
            <a:endParaRPr lang="en-US"/>
          </a:p>
        </p:txBody>
      </p:sp>
      <p:pic>
        <p:nvPicPr>
          <p:cNvPr id="6" name="Picture 5" descr="Sample of the use of tmap">
            <a:extLst>
              <a:ext uri="{FF2B5EF4-FFF2-40B4-BE49-F238E27FC236}">
                <a16:creationId xmlns:a16="http://schemas.microsoft.com/office/drawing/2014/main" id="{49FC0C47-4B00-970D-923C-A8FE70D3B666}"/>
              </a:ext>
            </a:extLst>
          </p:cNvPr>
          <p:cNvPicPr>
            <a:picLocks noChangeAspect="1"/>
          </p:cNvPicPr>
          <p:nvPr/>
        </p:nvPicPr>
        <p:blipFill>
          <a:blip r:embed="rId2"/>
          <a:stretch>
            <a:fillRect/>
          </a:stretch>
        </p:blipFill>
        <p:spPr>
          <a:xfrm>
            <a:off x="1543050" y="2803651"/>
            <a:ext cx="6057900" cy="336886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TextBox 4">
            <a:extLst>
              <a:ext uri="{FF2B5EF4-FFF2-40B4-BE49-F238E27FC236}">
                <a16:creationId xmlns:a16="http://schemas.microsoft.com/office/drawing/2014/main" id="{92753C86-6530-D55B-7F71-715D11CC681A}"/>
              </a:ext>
            </a:extLst>
          </p:cNvPr>
          <p:cNvSpPr txBox="1"/>
          <p:nvPr/>
        </p:nvSpPr>
        <p:spPr>
          <a:xfrm>
            <a:off x="2142066" y="5803185"/>
            <a:ext cx="1230489" cy="369332"/>
          </a:xfrm>
          <a:prstGeom prst="rect">
            <a:avLst/>
          </a:prstGeom>
          <a:noFill/>
        </p:spPr>
        <p:txBody>
          <a:bodyPr wrap="square" rtlCol="0">
            <a:spAutoFit/>
          </a:bodyPr>
          <a:lstStyle/>
          <a:p>
            <a:pPr algn="ctr"/>
            <a:r>
              <a:rPr lang="en-US" dirty="0">
                <a:solidFill>
                  <a:srgbClr val="FF0000"/>
                </a:solidFill>
              </a:rPr>
              <a:t>example</a:t>
            </a:r>
          </a:p>
        </p:txBody>
      </p:sp>
    </p:spTree>
    <p:extLst>
      <p:ext uri="{BB962C8B-B14F-4D97-AF65-F5344CB8AC3E}">
        <p14:creationId xmlns:p14="http://schemas.microsoft.com/office/powerpoint/2010/main" val="33953923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0F78F397-975B-918E-26ED-E43B58FBA5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6E2756-92A7-F7B8-0F52-C9135A4E1B71}"/>
              </a:ext>
            </a:extLst>
          </p:cNvPr>
          <p:cNvSpPr>
            <a:spLocks noGrp="1"/>
          </p:cNvSpPr>
          <p:nvPr>
            <p:ph type="title"/>
          </p:nvPr>
        </p:nvSpPr>
        <p:spPr/>
        <p:txBody>
          <a:bodyPr/>
          <a:lstStyle/>
          <a:p>
            <a:r>
              <a:rPr lang="en-US" dirty="0">
                <a:solidFill>
                  <a:schemeClr val="accent2">
                    <a:lumMod val="50000"/>
                  </a:schemeClr>
                </a:solidFill>
              </a:rPr>
              <a:t>Assignment #2 – Part 6</a:t>
            </a:r>
          </a:p>
        </p:txBody>
      </p:sp>
      <p:sp>
        <p:nvSpPr>
          <p:cNvPr id="3" name="Content Placeholder 2">
            <a:extLst>
              <a:ext uri="{FF2B5EF4-FFF2-40B4-BE49-F238E27FC236}">
                <a16:creationId xmlns:a16="http://schemas.microsoft.com/office/drawing/2014/main" id="{9C4D5F5F-4771-9A86-3D96-871FCBFFD380}"/>
              </a:ext>
            </a:extLst>
          </p:cNvPr>
          <p:cNvSpPr>
            <a:spLocks noGrp="1"/>
          </p:cNvSpPr>
          <p:nvPr>
            <p:ph idx="1"/>
          </p:nvPr>
        </p:nvSpPr>
        <p:spPr/>
        <p:txBody>
          <a:bodyPr>
            <a:noAutofit/>
          </a:bodyPr>
          <a:lstStyle/>
          <a:p>
            <a:pPr marL="0" indent="0">
              <a:buNone/>
            </a:pPr>
            <a:r>
              <a:rPr lang="en-US" sz="1800" i="1" dirty="0">
                <a:solidFill>
                  <a:schemeClr val="accent2">
                    <a:lumMod val="50000"/>
                  </a:schemeClr>
                </a:solidFill>
              </a:rPr>
              <a:t>6. Documentation and Reporting</a:t>
            </a:r>
          </a:p>
          <a:p>
            <a:pPr marL="234950" indent="-234950">
              <a:buFont typeface="+mj-lt"/>
              <a:buAutoNum type="alphaLcPeriod"/>
            </a:pPr>
            <a:r>
              <a:rPr lang="en-US" sz="1800" dirty="0">
                <a:solidFill>
                  <a:schemeClr val="accent2">
                    <a:lumMod val="50000"/>
                  </a:schemeClr>
                </a:solidFill>
              </a:rPr>
              <a:t>Reproducible script or Jupyter notebook</a:t>
            </a:r>
          </a:p>
          <a:p>
            <a:pPr lvl="1"/>
            <a:r>
              <a:rPr lang="en-US" sz="1800" dirty="0">
                <a:solidFill>
                  <a:schemeClr val="accent2">
                    <a:lumMod val="50000"/>
                  </a:schemeClr>
                </a:solidFill>
              </a:rPr>
              <a:t>Clean, commented </a:t>
            </a:r>
            <a:r>
              <a:rPr lang="en-US" sz="1800" baseline="30000" dirty="0">
                <a:solidFill>
                  <a:schemeClr val="accent2">
                    <a:lumMod val="50000"/>
                  </a:schemeClr>
                </a:solidFill>
              </a:rPr>
              <a:t>(as possible)</a:t>
            </a:r>
          </a:p>
          <a:p>
            <a:pPr lvl="1"/>
            <a:r>
              <a:rPr lang="en-US" sz="1800" dirty="0">
                <a:solidFill>
                  <a:schemeClr val="accent2">
                    <a:lumMod val="50000"/>
                  </a:schemeClr>
                </a:solidFill>
              </a:rPr>
              <a:t>Reproducible from data download to map output</a:t>
            </a:r>
          </a:p>
          <a:p>
            <a:pPr marL="234950" indent="-234950">
              <a:buFont typeface="+mj-lt"/>
              <a:buAutoNum type="alphaLcPeriod"/>
            </a:pPr>
            <a:r>
              <a:rPr lang="en-US" sz="1800" dirty="0">
                <a:solidFill>
                  <a:schemeClr val="accent2">
                    <a:lumMod val="50000"/>
                  </a:schemeClr>
                </a:solidFill>
              </a:rPr>
              <a:t>Include</a:t>
            </a:r>
          </a:p>
          <a:p>
            <a:pPr lvl="1"/>
            <a:r>
              <a:rPr lang="en-US" sz="1800" dirty="0">
                <a:solidFill>
                  <a:schemeClr val="accent2">
                    <a:lumMod val="50000"/>
                  </a:schemeClr>
                </a:solidFill>
              </a:rPr>
              <a:t>Data sources and preprocessing steps</a:t>
            </a:r>
          </a:p>
          <a:p>
            <a:pPr lvl="1"/>
            <a:r>
              <a:rPr lang="en-US" sz="1800" dirty="0">
                <a:solidFill>
                  <a:schemeClr val="accent2">
                    <a:lumMod val="50000"/>
                  </a:schemeClr>
                </a:solidFill>
              </a:rPr>
              <a:t>Results and interpretations</a:t>
            </a:r>
          </a:p>
          <a:p>
            <a:pPr lvl="1"/>
            <a:r>
              <a:rPr lang="en-US" sz="1800" dirty="0">
                <a:solidFill>
                  <a:schemeClr val="accent2">
                    <a:lumMod val="50000"/>
                  </a:schemeClr>
                </a:solidFill>
              </a:rPr>
              <a:t>Limitations and potential extensions (e.g., overlay zoning, flood risk)</a:t>
            </a:r>
          </a:p>
          <a:p>
            <a:pPr marL="234950" indent="-234950">
              <a:buFont typeface="+mj-lt"/>
              <a:buAutoNum type="alphaLcPeriod"/>
            </a:pPr>
            <a:r>
              <a:rPr lang="en-US" sz="1800" dirty="0">
                <a:solidFill>
                  <a:schemeClr val="accent2">
                    <a:lumMod val="50000"/>
                  </a:schemeClr>
                </a:solidFill>
              </a:rPr>
              <a:t>Visuals</a:t>
            </a:r>
          </a:p>
          <a:p>
            <a:pPr lvl="1"/>
            <a:r>
              <a:rPr lang="en-US" sz="1800" dirty="0">
                <a:solidFill>
                  <a:schemeClr val="accent2">
                    <a:lumMod val="50000"/>
                  </a:schemeClr>
                </a:solidFill>
              </a:rPr>
              <a:t>Please include / submit maps and charts with captions</a:t>
            </a:r>
          </a:p>
        </p:txBody>
      </p:sp>
      <p:sp>
        <p:nvSpPr>
          <p:cNvPr id="4" name="Slide Number Placeholder 3">
            <a:extLst>
              <a:ext uri="{FF2B5EF4-FFF2-40B4-BE49-F238E27FC236}">
                <a16:creationId xmlns:a16="http://schemas.microsoft.com/office/drawing/2014/main" id="{56A25718-713F-4C75-081E-711487E8F2FB}"/>
              </a:ext>
            </a:extLst>
          </p:cNvPr>
          <p:cNvSpPr>
            <a:spLocks noGrp="1"/>
          </p:cNvSpPr>
          <p:nvPr>
            <p:ph type="sldNum" sz="quarter" idx="12"/>
          </p:nvPr>
        </p:nvSpPr>
        <p:spPr/>
        <p:txBody>
          <a:bodyPr/>
          <a:lstStyle/>
          <a:p>
            <a:fld id="{C0343C75-1924-D247-85A3-0CB62E67E5D1}" type="slidenum">
              <a:rPr lang="en-US" smtClean="0"/>
              <a:t>52</a:t>
            </a:fld>
            <a:endParaRPr lang="en-US"/>
          </a:p>
        </p:txBody>
      </p:sp>
    </p:spTree>
    <p:extLst>
      <p:ext uri="{BB962C8B-B14F-4D97-AF65-F5344CB8AC3E}">
        <p14:creationId xmlns:p14="http://schemas.microsoft.com/office/powerpoint/2010/main" val="26342096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6982BE53-5A2F-E339-87E2-448EC99FE705}"/>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EA9767F2-54D4-1E5B-35E7-E77C88AA5D1B}"/>
              </a:ext>
            </a:extLst>
          </p:cNvPr>
          <p:cNvSpPr>
            <a:spLocks noGrp="1"/>
          </p:cNvSpPr>
          <p:nvPr>
            <p:ph type="title"/>
          </p:nvPr>
        </p:nvSpPr>
        <p:spPr/>
        <p:txBody>
          <a:bodyPr>
            <a:normAutofit fontScale="90000"/>
          </a:bodyPr>
          <a:lstStyle/>
          <a:p>
            <a:r>
              <a:rPr lang="en-US" sz="3200" b="1" dirty="0">
                <a:solidFill>
                  <a:srgbClr val="002060"/>
                </a:solidFill>
              </a:rPr>
              <a:t>Appendix</a:t>
            </a:r>
            <a:br>
              <a:rPr lang="en-US" sz="3200" b="1" dirty="0">
                <a:solidFill>
                  <a:srgbClr val="002060"/>
                </a:solidFill>
              </a:rPr>
            </a:br>
            <a:r>
              <a:rPr lang="en-US" sz="3200" dirty="0">
                <a:solidFill>
                  <a:srgbClr val="002060"/>
                </a:solidFill>
              </a:rPr>
              <a:t>Geographic Data &amp; Spatial ETL </a:t>
            </a:r>
            <a:r>
              <a:rPr lang="en-US" sz="3200" dirty="0">
                <a:solidFill>
                  <a:srgbClr val="002060"/>
                </a:solidFill>
                <a:highlight>
                  <a:srgbClr val="FFFF00"/>
                </a:highlight>
              </a:rPr>
              <a:t>with Python</a:t>
            </a:r>
            <a:br>
              <a:rPr lang="en-US" sz="3200" dirty="0">
                <a:solidFill>
                  <a:srgbClr val="002060"/>
                </a:solidFill>
              </a:rPr>
            </a:br>
            <a:r>
              <a:rPr lang="en-US" sz="2400" dirty="0">
                <a:solidFill>
                  <a:srgbClr val="002060"/>
                </a:solidFill>
              </a:rPr>
              <a:t>Attribute Operations 1</a:t>
            </a:r>
            <a:endParaRPr lang="en-US" sz="3200" dirty="0">
              <a:solidFill>
                <a:srgbClr val="002060"/>
              </a:solidFill>
            </a:endParaRPr>
          </a:p>
        </p:txBody>
      </p:sp>
      <p:grpSp>
        <p:nvGrpSpPr>
          <p:cNvPr id="15" name="Group 14" descr="Code for geographic data and spatial ETL with Python">
            <a:extLst>
              <a:ext uri="{FF2B5EF4-FFF2-40B4-BE49-F238E27FC236}">
                <a16:creationId xmlns:a16="http://schemas.microsoft.com/office/drawing/2014/main" id="{35E58799-BBA8-0B76-1C33-AF2C1855CF46}"/>
              </a:ext>
            </a:extLst>
          </p:cNvPr>
          <p:cNvGrpSpPr/>
          <p:nvPr/>
        </p:nvGrpSpPr>
        <p:grpSpPr>
          <a:xfrm>
            <a:off x="457200" y="1416684"/>
            <a:ext cx="8229600" cy="3011681"/>
            <a:chOff x="457200" y="1416684"/>
            <a:chExt cx="8229600" cy="3011681"/>
          </a:xfrm>
        </p:grpSpPr>
        <p:sp>
          <p:nvSpPr>
            <p:cNvPr id="3" name="TextBox 2">
              <a:extLst>
                <a:ext uri="{FF2B5EF4-FFF2-40B4-BE49-F238E27FC236}">
                  <a16:creationId xmlns:a16="http://schemas.microsoft.com/office/drawing/2014/main" id="{24EABF5F-0355-F1D9-FC74-AD68A8C9D478}"/>
                </a:ext>
              </a:extLst>
            </p:cNvPr>
            <p:cNvSpPr txBox="1"/>
            <p:nvPr/>
          </p:nvSpPr>
          <p:spPr>
            <a:xfrm>
              <a:off x="457200" y="1627598"/>
              <a:ext cx="8229600" cy="2800767"/>
            </a:xfrm>
            <a:prstGeom prst="rect">
              <a:avLst/>
            </a:prstGeom>
            <a:noFill/>
          </p:spPr>
          <p:txBody>
            <a:bodyPr wrap="square" tIns="0" bIns="0" rtlCol="0">
              <a:spAutoFit/>
            </a:bodyPr>
            <a:lstStyle/>
            <a:p>
              <a:r>
                <a:rPr lang="en-US" sz="1400" b="1" dirty="0">
                  <a:solidFill>
                    <a:srgbClr val="0070C0"/>
                  </a:solidFill>
                  <a:latin typeface="OSAKA-MONO" panose="020B0600000000000000" pitchFamily="34" charset="-128"/>
                  <a:ea typeface="OSAKA-MONO" panose="020B0600000000000000" pitchFamily="34" charset="-128"/>
                  <a:cs typeface="Menlo" panose="020B0609030804020204" pitchFamily="49" charset="0"/>
                </a:rPr>
                <a:t># Libraries</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import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numpy</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as np</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import pandas as pd</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import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geopandas</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as gpd</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import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rasterio</a:t>
              </a:r>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import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rasterio.plot</a:t>
              </a:r>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import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matplotlib.pyplot</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as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plt</a:t>
              </a:r>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sz="1400" b="1" dirty="0">
                  <a:solidFill>
                    <a:srgbClr val="0070C0"/>
                  </a:solidFill>
                  <a:latin typeface="OSAKA-MONO" panose="020B0600000000000000" pitchFamily="34" charset="-128"/>
                  <a:ea typeface="OSAKA-MONO" panose="020B0600000000000000" pitchFamily="34" charset="-128"/>
                  <a:cs typeface="Menlo" panose="020B0609030804020204" pitchFamily="49" charset="0"/>
                </a:rPr>
                <a:t># Data</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gpd.read_file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r>
                <a:rPr lang="en-US" sz="1400" dirty="0">
                  <a:solidFill>
                    <a:srgbClr val="FF0000"/>
                  </a:solidFill>
                  <a:latin typeface="OSAKA-MONO" panose="020B0600000000000000" pitchFamily="34" charset="-128"/>
                  <a:ea typeface="OSAKA-MONO" panose="020B0600000000000000" pitchFamily="34" charset="-128"/>
                  <a:cs typeface="Menlo" panose="020B0609030804020204" pitchFamily="49" charset="0"/>
                </a:rPr>
                <a:t>/Users/</a:t>
              </a:r>
              <a:r>
                <a:rPr lang="en-US" sz="1400" dirty="0" err="1">
                  <a:solidFill>
                    <a:srgbClr val="FF0000"/>
                  </a:solidFill>
                  <a:latin typeface="OSAKA-MONO" panose="020B0600000000000000" pitchFamily="34" charset="-128"/>
                  <a:ea typeface="OSAKA-MONO" panose="020B0600000000000000" pitchFamily="34" charset="-128"/>
                  <a:cs typeface="Menlo" panose="020B0609030804020204" pitchFamily="49" charset="0"/>
                </a:rPr>
                <a:t>abuabara</a:t>
              </a:r>
              <a:r>
                <a:rPr lang="en-US" sz="1400" dirty="0">
                  <a:solidFill>
                    <a:srgbClr val="FF0000"/>
                  </a:solidFill>
                  <a:latin typeface="OSAKA-MONO" panose="020B0600000000000000" pitchFamily="34" charset="-128"/>
                  <a:ea typeface="OSAKA-MONO" panose="020B0600000000000000" pitchFamily="34" charset="-128"/>
                  <a:cs typeface="Menlo" panose="020B0609030804020204" pitchFamily="49" charset="0"/>
                </a:rPr>
                <a:t>/…/DAEN489/</a:t>
              </a:r>
              <a:r>
                <a:rPr lang="en-US" sz="1400" dirty="0" err="1">
                  <a:solidFill>
                    <a:srgbClr val="FF0000"/>
                  </a:solidFill>
                  <a:latin typeface="OSAKA-MONO" panose="020B0600000000000000" pitchFamily="34" charset="-128"/>
                  <a:ea typeface="OSAKA-MONO" panose="020B0600000000000000" pitchFamily="34" charset="-128"/>
                  <a:cs typeface="Menlo" panose="020B0609030804020204" pitchFamily="49" charset="0"/>
                </a:rPr>
                <a:t>pydata</a:t>
              </a:r>
              <a:r>
                <a:rPr lang="en-US" sz="1400" dirty="0">
                  <a:solidFill>
                    <a:srgbClr val="FF0000"/>
                  </a:solidFill>
                  <a:latin typeface="OSAKA-MONO" panose="020B0600000000000000" pitchFamily="34" charset="-128"/>
                  <a:ea typeface="OSAKA-MONO" panose="020B0600000000000000" pitchFamily="34" charset="-128"/>
                  <a:cs typeface="Menlo" panose="020B0609030804020204" pitchFamily="49" charset="0"/>
                </a:rPr>
                <a:t>/</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world.gpkg</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src_elev</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rasterio.open</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r>
                <a:rPr lang="en-US" sz="1400" dirty="0">
                  <a:solidFill>
                    <a:srgbClr val="FF0000"/>
                  </a:solidFill>
                  <a:latin typeface="OSAKA-MONO" panose="020B0600000000000000" pitchFamily="34" charset="-128"/>
                  <a:ea typeface="OSAKA-MONO" panose="020B0600000000000000" pitchFamily="34" charset="-128"/>
                  <a:cs typeface="Menlo" panose="020B0609030804020204" pitchFamily="49" charset="0"/>
                </a:rPr>
                <a:t>/Users/</a:t>
              </a:r>
              <a:r>
                <a:rPr lang="en-US" sz="1400" dirty="0" err="1">
                  <a:solidFill>
                    <a:srgbClr val="FF0000"/>
                  </a:solidFill>
                  <a:latin typeface="OSAKA-MONO" panose="020B0600000000000000" pitchFamily="34" charset="-128"/>
                  <a:ea typeface="OSAKA-MONO" panose="020B0600000000000000" pitchFamily="34" charset="-128"/>
                  <a:cs typeface="Menlo" panose="020B0609030804020204" pitchFamily="49" charset="0"/>
                </a:rPr>
                <a:t>abuabara</a:t>
              </a:r>
              <a:r>
                <a:rPr lang="en-US" sz="1400" dirty="0">
                  <a:solidFill>
                    <a:srgbClr val="FF0000"/>
                  </a:solidFill>
                  <a:latin typeface="OSAKA-MONO" panose="020B0600000000000000" pitchFamily="34" charset="-128"/>
                  <a:ea typeface="OSAKA-MONO" panose="020B0600000000000000" pitchFamily="34" charset="-128"/>
                  <a:cs typeface="Menlo" panose="020B0609030804020204" pitchFamily="49" charset="0"/>
                </a:rPr>
                <a:t>/…/DAEN489/</a:t>
              </a:r>
              <a:r>
                <a:rPr lang="en-US" sz="1400" dirty="0" err="1">
                  <a:solidFill>
                    <a:srgbClr val="FF0000"/>
                  </a:solidFill>
                  <a:latin typeface="OSAKA-MONO" panose="020B0600000000000000" pitchFamily="34" charset="-128"/>
                  <a:ea typeface="OSAKA-MONO" panose="020B0600000000000000" pitchFamily="34" charset="-128"/>
                  <a:cs typeface="Menlo" panose="020B0609030804020204" pitchFamily="49" charset="0"/>
                </a:rPr>
                <a:t>pydata</a:t>
              </a:r>
              <a:r>
                <a:rPr lang="en-US" sz="1400" dirty="0">
                  <a:solidFill>
                    <a:srgbClr val="FF0000"/>
                  </a:solidFill>
                  <a:latin typeface="OSAKA-MONO" panose="020B0600000000000000" pitchFamily="34" charset="-128"/>
                  <a:ea typeface="OSAKA-MONO" panose="020B0600000000000000" pitchFamily="34" charset="-128"/>
                  <a:cs typeface="Menlo" panose="020B0609030804020204" pitchFamily="49" charset="0"/>
                </a:rPr>
                <a:t>/</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elev.tif</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src_grain</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rasterio.open</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r>
                <a:rPr lang="en-US" sz="1400" dirty="0">
                  <a:solidFill>
                    <a:srgbClr val="FF0000"/>
                  </a:solidFill>
                  <a:latin typeface="OSAKA-MONO" panose="020B0600000000000000" pitchFamily="34" charset="-128"/>
                  <a:ea typeface="OSAKA-MONO" panose="020B0600000000000000" pitchFamily="34" charset="-128"/>
                  <a:cs typeface="Menlo" panose="020B0609030804020204" pitchFamily="49" charset="0"/>
                </a:rPr>
                <a:t>/Users/</a:t>
              </a:r>
              <a:r>
                <a:rPr lang="en-US" sz="1400" dirty="0" err="1">
                  <a:solidFill>
                    <a:srgbClr val="FF0000"/>
                  </a:solidFill>
                  <a:latin typeface="OSAKA-MONO" panose="020B0600000000000000" pitchFamily="34" charset="-128"/>
                  <a:ea typeface="OSAKA-MONO" panose="020B0600000000000000" pitchFamily="34" charset="-128"/>
                  <a:cs typeface="Menlo" panose="020B0609030804020204" pitchFamily="49" charset="0"/>
                </a:rPr>
                <a:t>abuabara</a:t>
              </a:r>
              <a:r>
                <a:rPr lang="en-US" sz="1400" dirty="0">
                  <a:solidFill>
                    <a:srgbClr val="FF0000"/>
                  </a:solidFill>
                  <a:latin typeface="OSAKA-MONO" panose="020B0600000000000000" pitchFamily="34" charset="-128"/>
                  <a:ea typeface="OSAKA-MONO" panose="020B0600000000000000" pitchFamily="34" charset="-128"/>
                  <a:cs typeface="Menlo" panose="020B0609030804020204" pitchFamily="49" charset="0"/>
                </a:rPr>
                <a:t>/…/DAEN489/</a:t>
              </a:r>
              <a:r>
                <a:rPr lang="en-US" sz="1400" dirty="0" err="1">
                  <a:solidFill>
                    <a:srgbClr val="FF0000"/>
                  </a:solidFill>
                  <a:latin typeface="OSAKA-MONO" panose="020B0600000000000000" pitchFamily="34" charset="-128"/>
                  <a:ea typeface="OSAKA-MONO" panose="020B0600000000000000" pitchFamily="34" charset="-128"/>
                  <a:cs typeface="Menlo" panose="020B0609030804020204" pitchFamily="49" charset="0"/>
                </a:rPr>
                <a:t>pydata</a:t>
              </a:r>
              <a:r>
                <a:rPr lang="en-US" sz="1400" dirty="0">
                  <a:solidFill>
                    <a:srgbClr val="FF0000"/>
                  </a:solidFill>
                  <a:latin typeface="OSAKA-MONO" panose="020B0600000000000000" pitchFamily="34" charset="-128"/>
                  <a:ea typeface="OSAKA-MONO" panose="020B0600000000000000" pitchFamily="34" charset="-128"/>
                  <a:cs typeface="Menlo" panose="020B0609030804020204" pitchFamily="49" charset="0"/>
                </a:rPr>
                <a:t>/</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grain.tif</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src_multi_rast</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rasterio.open</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r>
                <a:rPr lang="en-US" sz="1400" dirty="0">
                  <a:solidFill>
                    <a:srgbClr val="FF0000"/>
                  </a:solidFill>
                  <a:latin typeface="OSAKA-MONO" panose="020B0600000000000000" pitchFamily="34" charset="-128"/>
                  <a:ea typeface="OSAKA-MONO" panose="020B0600000000000000" pitchFamily="34" charset="-128"/>
                  <a:cs typeface="Menlo" panose="020B0609030804020204" pitchFamily="49" charset="0"/>
                </a:rPr>
                <a:t>/Users/</a:t>
              </a:r>
              <a:r>
                <a:rPr lang="en-US" sz="1400" dirty="0" err="1">
                  <a:solidFill>
                    <a:srgbClr val="FF0000"/>
                  </a:solidFill>
                  <a:latin typeface="OSAKA-MONO" panose="020B0600000000000000" pitchFamily="34" charset="-128"/>
                  <a:ea typeface="OSAKA-MONO" panose="020B0600000000000000" pitchFamily="34" charset="-128"/>
                  <a:cs typeface="Menlo" panose="020B0609030804020204" pitchFamily="49" charset="0"/>
                </a:rPr>
                <a:t>abuabara</a:t>
              </a:r>
              <a:r>
                <a:rPr lang="en-US" sz="1400" dirty="0">
                  <a:solidFill>
                    <a:srgbClr val="FF0000"/>
                  </a:solidFill>
                  <a:latin typeface="OSAKA-MONO" panose="020B0600000000000000" pitchFamily="34" charset="-128"/>
                  <a:ea typeface="OSAKA-MONO" panose="020B0600000000000000" pitchFamily="34" charset="-128"/>
                  <a:cs typeface="Menlo" panose="020B0609030804020204" pitchFamily="49" charset="0"/>
                </a:rPr>
                <a:t>/…/DAEN489/</a:t>
              </a:r>
              <a:r>
                <a:rPr lang="en-US" sz="1400" dirty="0" err="1">
                  <a:solidFill>
                    <a:srgbClr val="FF0000"/>
                  </a:solidFill>
                  <a:latin typeface="OSAKA-MONO" panose="020B0600000000000000" pitchFamily="34" charset="-128"/>
                  <a:ea typeface="OSAKA-MONO" panose="020B0600000000000000" pitchFamily="34" charset="-128"/>
                  <a:cs typeface="Menlo" panose="020B0609030804020204" pitchFamily="49" charset="0"/>
                </a:rPr>
                <a:t>pydata</a:t>
              </a:r>
              <a:r>
                <a:rPr lang="en-US" sz="1400" dirty="0">
                  <a:solidFill>
                    <a:srgbClr val="FF0000"/>
                  </a:solidFill>
                  <a:latin typeface="OSAKA-MONO" panose="020B0600000000000000" pitchFamily="34" charset="-128"/>
                  <a:ea typeface="OSAKA-MONO" panose="020B0600000000000000" pitchFamily="34" charset="-128"/>
                  <a:cs typeface="Menlo" panose="020B0609030804020204" pitchFamily="49" charset="0"/>
                </a:rPr>
                <a:t>/</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landsat.tif</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sp>
          <p:nvSpPr>
            <p:cNvPr id="4" name="TextBox 3">
              <a:extLst>
                <a:ext uri="{FF2B5EF4-FFF2-40B4-BE49-F238E27FC236}">
                  <a16:creationId xmlns:a16="http://schemas.microsoft.com/office/drawing/2014/main" id="{D0851C22-4E7A-D9F7-D698-76D1E347C8BA}"/>
                </a:ext>
              </a:extLst>
            </p:cNvPr>
            <p:cNvSpPr txBox="1"/>
            <p:nvPr/>
          </p:nvSpPr>
          <p:spPr>
            <a:xfrm>
              <a:off x="457200" y="1416684"/>
              <a:ext cx="8229600" cy="215444"/>
            </a:xfrm>
            <a:prstGeom prst="rect">
              <a:avLst/>
            </a:prstGeom>
            <a:noFill/>
          </p:spPr>
          <p:txBody>
            <a:bodyPr wrap="square" tIns="0" bIns="0" rtlCol="0">
              <a:spAutoFit/>
            </a:bodyPr>
            <a:lstStyle/>
            <a:p>
              <a:r>
                <a:rPr lang="en-US" sz="1400" i="1" dirty="0">
                  <a:solidFill>
                    <a:srgbClr val="002060"/>
                  </a:solidFill>
                  <a:ea typeface="OSAKA-MONO" panose="020B0600000000000000" pitchFamily="34" charset="-128"/>
                  <a:cs typeface="Menlo" panose="020B0609030804020204" pitchFamily="49" charset="0"/>
                </a:rPr>
                <a:t>Libraries and Data</a:t>
              </a:r>
            </a:p>
          </p:txBody>
        </p:sp>
      </p:grpSp>
      <p:sp>
        <p:nvSpPr>
          <p:cNvPr id="16" name="Slide Number Placeholder 15">
            <a:extLst>
              <a:ext uri="{FF2B5EF4-FFF2-40B4-BE49-F238E27FC236}">
                <a16:creationId xmlns:a16="http://schemas.microsoft.com/office/drawing/2014/main" id="{5FD0AA0A-A0A9-E98A-F088-BAEA5A4A4E77}"/>
              </a:ext>
            </a:extLst>
          </p:cNvPr>
          <p:cNvSpPr>
            <a:spLocks noGrp="1"/>
          </p:cNvSpPr>
          <p:nvPr>
            <p:ph type="sldNum" sz="quarter" idx="12"/>
          </p:nvPr>
        </p:nvSpPr>
        <p:spPr/>
        <p:txBody>
          <a:bodyPr/>
          <a:lstStyle/>
          <a:p>
            <a:fld id="{C0343C75-1924-D247-85A3-0CB62E67E5D1}" type="slidenum">
              <a:rPr lang="en-US" smtClean="0"/>
              <a:t>53</a:t>
            </a:fld>
            <a:endParaRPr lang="en-US"/>
          </a:p>
        </p:txBody>
      </p:sp>
    </p:spTree>
    <p:extLst>
      <p:ext uri="{BB962C8B-B14F-4D97-AF65-F5344CB8AC3E}">
        <p14:creationId xmlns:p14="http://schemas.microsoft.com/office/powerpoint/2010/main" val="23878135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22D55D17-819A-559D-14AA-029F27A7572F}"/>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768CF447-E51C-75FA-A6C9-7AEAD8295301}"/>
              </a:ext>
            </a:extLst>
          </p:cNvPr>
          <p:cNvSpPr>
            <a:spLocks noGrp="1"/>
          </p:cNvSpPr>
          <p:nvPr>
            <p:ph type="title"/>
          </p:nvPr>
        </p:nvSpPr>
        <p:spPr/>
        <p:txBody>
          <a:bodyPr>
            <a:normAutofit/>
          </a:bodyPr>
          <a:lstStyle/>
          <a:p>
            <a:r>
              <a:rPr lang="en-US" sz="2400" dirty="0">
                <a:solidFill>
                  <a:srgbClr val="002060"/>
                </a:solidFill>
              </a:rPr>
              <a:t>Attribute Operations 2</a:t>
            </a:r>
            <a:endParaRPr lang="en-US" sz="3200" dirty="0">
              <a:solidFill>
                <a:srgbClr val="002060"/>
              </a:solidFill>
            </a:endParaRPr>
          </a:p>
        </p:txBody>
      </p:sp>
      <p:grpSp>
        <p:nvGrpSpPr>
          <p:cNvPr id="13" name="Group 12" descr="Code for geographic data and spatial ETL with Python">
            <a:extLst>
              <a:ext uri="{FF2B5EF4-FFF2-40B4-BE49-F238E27FC236}">
                <a16:creationId xmlns:a16="http://schemas.microsoft.com/office/drawing/2014/main" id="{B554D221-1593-7F9D-7B3B-B9362B72C007}"/>
              </a:ext>
            </a:extLst>
          </p:cNvPr>
          <p:cNvGrpSpPr/>
          <p:nvPr/>
        </p:nvGrpSpPr>
        <p:grpSpPr>
          <a:xfrm>
            <a:off x="457200" y="1416684"/>
            <a:ext cx="8229600" cy="1508105"/>
            <a:chOff x="457200" y="3535813"/>
            <a:chExt cx="8229600" cy="1508105"/>
          </a:xfrm>
        </p:grpSpPr>
        <p:sp>
          <p:nvSpPr>
            <p:cNvPr id="7" name="TextBox 6">
              <a:extLst>
                <a:ext uri="{FF2B5EF4-FFF2-40B4-BE49-F238E27FC236}">
                  <a16:creationId xmlns:a16="http://schemas.microsoft.com/office/drawing/2014/main" id="{A401425E-FF6A-56EA-C145-EC0248539383}"/>
                </a:ext>
              </a:extLst>
            </p:cNvPr>
            <p:cNvSpPr txBox="1"/>
            <p:nvPr/>
          </p:nvSpPr>
          <p:spPr>
            <a:xfrm>
              <a:off x="457200" y="3535813"/>
              <a:ext cx="8229600" cy="430887"/>
            </a:xfrm>
            <a:prstGeom prst="rect">
              <a:avLst/>
            </a:prstGeom>
            <a:noFill/>
          </p:spPr>
          <p:txBody>
            <a:bodyPr wrap="square" tIns="0" bIns="0" rtlCol="0">
              <a:spAutoFit/>
            </a:bodyPr>
            <a:lstStyle/>
            <a:p>
              <a:r>
                <a:rPr lang="en-US" sz="1400" b="1" i="1" dirty="0">
                  <a:solidFill>
                    <a:srgbClr val="002060"/>
                  </a:solidFill>
                  <a:ea typeface="OSAKA-MONO" panose="020B0600000000000000" pitchFamily="34" charset="-128"/>
                  <a:cs typeface="Menlo" panose="020B0609030804020204" pitchFamily="49" charset="0"/>
                </a:rPr>
                <a:t>Vector Attribute Subsetting</a:t>
              </a:r>
            </a:p>
            <a:p>
              <a:r>
                <a:rPr lang="en-US" sz="1400" i="1" dirty="0">
                  <a:solidFill>
                    <a:srgbClr val="002060"/>
                  </a:solidFill>
                  <a:ea typeface="OSAKA-MONO" panose="020B0600000000000000" pitchFamily="34" charset="-128"/>
                  <a:cs typeface="Menlo" panose="020B0609030804020204" pitchFamily="49" charset="0"/>
                </a:rPr>
                <a:t>Subset Countries with Small Area</a:t>
              </a:r>
            </a:p>
          </p:txBody>
        </p:sp>
        <p:sp>
          <p:nvSpPr>
            <p:cNvPr id="8" name="TextBox 7">
              <a:extLst>
                <a:ext uri="{FF2B5EF4-FFF2-40B4-BE49-F238E27FC236}">
                  <a16:creationId xmlns:a16="http://schemas.microsoft.com/office/drawing/2014/main" id="{A47FFAC3-D0A4-6CDE-53AE-2AF2F666B4E7}"/>
                </a:ext>
              </a:extLst>
            </p:cNvPr>
            <p:cNvSpPr txBox="1"/>
            <p:nvPr/>
          </p:nvSpPr>
          <p:spPr>
            <a:xfrm>
              <a:off x="457200" y="3966700"/>
              <a:ext cx="8229600" cy="1077218"/>
            </a:xfrm>
            <a:prstGeom prst="rect">
              <a:avLst/>
            </a:prstGeom>
            <a:noFill/>
          </p:spPr>
          <p:txBody>
            <a:bodyPr wrap="square" tIns="0" bIns="0" rtlCol="0">
              <a:spAutoFit/>
            </a:bodyPr>
            <a:lstStyle/>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world.head</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endParaRPr lang="en-US" sz="1400" dirty="0">
                <a:latin typeface="OSAKA-MONO" panose="020B0600000000000000" pitchFamily="34" charset="-128"/>
                <a:ea typeface="OSAKA-MONO" panose="020B0600000000000000" pitchFamily="34" charset="-128"/>
                <a:cs typeface="Menlo" panose="020B0609030804020204" pitchFamily="49" charset="0"/>
              </a:endParaRPr>
            </a:p>
            <a:p>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idx_small</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world['area_km2'] &lt; 10000</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small_countries</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world[</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idx_small</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small_countries</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grpSp>
      <p:grpSp>
        <p:nvGrpSpPr>
          <p:cNvPr id="12" name="Group 11" descr="Code for geographic data and spatial ETL with Python">
            <a:extLst>
              <a:ext uri="{FF2B5EF4-FFF2-40B4-BE49-F238E27FC236}">
                <a16:creationId xmlns:a16="http://schemas.microsoft.com/office/drawing/2014/main" id="{A78ADEB5-4688-E41A-B5EE-0226B2D3C63F}"/>
              </a:ext>
            </a:extLst>
          </p:cNvPr>
          <p:cNvGrpSpPr/>
          <p:nvPr/>
        </p:nvGrpSpPr>
        <p:grpSpPr>
          <a:xfrm>
            <a:off x="457200" y="3127731"/>
            <a:ext cx="8229600" cy="1292662"/>
            <a:chOff x="457200" y="4613032"/>
            <a:chExt cx="8229600" cy="1292662"/>
          </a:xfrm>
        </p:grpSpPr>
        <p:sp>
          <p:nvSpPr>
            <p:cNvPr id="9" name="TextBox 8">
              <a:extLst>
                <a:ext uri="{FF2B5EF4-FFF2-40B4-BE49-F238E27FC236}">
                  <a16:creationId xmlns:a16="http://schemas.microsoft.com/office/drawing/2014/main" id="{70360893-71AA-9BB1-2E0F-D5F0990943D9}"/>
                </a:ext>
              </a:extLst>
            </p:cNvPr>
            <p:cNvSpPr txBox="1"/>
            <p:nvPr/>
          </p:nvSpPr>
          <p:spPr>
            <a:xfrm>
              <a:off x="457200" y="4613032"/>
              <a:ext cx="8229600" cy="215444"/>
            </a:xfrm>
            <a:prstGeom prst="rect">
              <a:avLst/>
            </a:prstGeom>
            <a:noFill/>
          </p:spPr>
          <p:txBody>
            <a:bodyPr wrap="square" tIns="0" bIns="0" rtlCol="0">
              <a:spAutoFit/>
            </a:bodyPr>
            <a:lstStyle/>
            <a:p>
              <a:r>
                <a:rPr lang="en-US" sz="1400" i="1" dirty="0">
                  <a:solidFill>
                    <a:srgbClr val="002060"/>
                  </a:solidFill>
                  <a:ea typeface="OSAKA-MONO" panose="020B0600000000000000" pitchFamily="34" charset="-128"/>
                  <a:cs typeface="Menlo" panose="020B0609030804020204" pitchFamily="49" charset="0"/>
                </a:rPr>
                <a:t>Logic to Combine Conditions</a:t>
              </a:r>
            </a:p>
          </p:txBody>
        </p:sp>
        <p:sp>
          <p:nvSpPr>
            <p:cNvPr id="10" name="TextBox 9">
              <a:extLst>
                <a:ext uri="{FF2B5EF4-FFF2-40B4-BE49-F238E27FC236}">
                  <a16:creationId xmlns:a16="http://schemas.microsoft.com/office/drawing/2014/main" id="{A511CE2F-47B0-2762-AB16-07245F4E7494}"/>
                </a:ext>
              </a:extLst>
            </p:cNvPr>
            <p:cNvSpPr txBox="1"/>
            <p:nvPr/>
          </p:nvSpPr>
          <p:spPr>
            <a:xfrm>
              <a:off x="457200" y="4828476"/>
              <a:ext cx="8229600" cy="1077218"/>
            </a:xfrm>
            <a:prstGeom prst="rect">
              <a:avLst/>
            </a:prstGeom>
            <a:noFill/>
          </p:spPr>
          <p:txBody>
            <a:bodyPr wrap="square" tIns="0" bIns="0" rtlCol="0">
              <a:spAutoFit/>
            </a:bodyPr>
            <a:lstStyle/>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asia_small</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world[</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(world['continent'] == 'Asia') &amp;</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(world['area_km2'] &lt; 10000)</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asia_small</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name_long</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'continent', 'area_km2']]</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grpSp>
      <p:sp>
        <p:nvSpPr>
          <p:cNvPr id="16" name="Slide Number Placeholder 15">
            <a:extLst>
              <a:ext uri="{FF2B5EF4-FFF2-40B4-BE49-F238E27FC236}">
                <a16:creationId xmlns:a16="http://schemas.microsoft.com/office/drawing/2014/main" id="{C00E25E8-75E9-F8D4-F27A-60882C84506E}"/>
              </a:ext>
            </a:extLst>
          </p:cNvPr>
          <p:cNvSpPr>
            <a:spLocks noGrp="1"/>
          </p:cNvSpPr>
          <p:nvPr>
            <p:ph type="sldNum" sz="quarter" idx="12"/>
          </p:nvPr>
        </p:nvSpPr>
        <p:spPr/>
        <p:txBody>
          <a:bodyPr/>
          <a:lstStyle/>
          <a:p>
            <a:fld id="{C0343C75-1924-D247-85A3-0CB62E67E5D1}" type="slidenum">
              <a:rPr lang="en-US" smtClean="0"/>
              <a:t>54</a:t>
            </a:fld>
            <a:endParaRPr lang="en-US"/>
          </a:p>
        </p:txBody>
      </p:sp>
      <p:grpSp>
        <p:nvGrpSpPr>
          <p:cNvPr id="17" name="Group 16" descr="Code for geographic data and spatial ETL with Python">
            <a:extLst>
              <a:ext uri="{FF2B5EF4-FFF2-40B4-BE49-F238E27FC236}">
                <a16:creationId xmlns:a16="http://schemas.microsoft.com/office/drawing/2014/main" id="{B1E453A2-7750-B1B1-BBEA-884DF1A908C3}"/>
              </a:ext>
            </a:extLst>
          </p:cNvPr>
          <p:cNvGrpSpPr/>
          <p:nvPr/>
        </p:nvGrpSpPr>
        <p:grpSpPr>
          <a:xfrm>
            <a:off x="457200" y="4635837"/>
            <a:ext cx="8229600" cy="1072688"/>
            <a:chOff x="457200" y="1416684"/>
            <a:chExt cx="8229600" cy="1072688"/>
          </a:xfrm>
        </p:grpSpPr>
        <p:sp>
          <p:nvSpPr>
            <p:cNvPr id="18" name="TextBox 17">
              <a:extLst>
                <a:ext uri="{FF2B5EF4-FFF2-40B4-BE49-F238E27FC236}">
                  <a16:creationId xmlns:a16="http://schemas.microsoft.com/office/drawing/2014/main" id="{4C6169FD-3881-B4E1-BA46-1FF2174F847B}"/>
                </a:ext>
              </a:extLst>
            </p:cNvPr>
            <p:cNvSpPr txBox="1"/>
            <p:nvPr/>
          </p:nvSpPr>
          <p:spPr>
            <a:xfrm>
              <a:off x="457200" y="1627598"/>
              <a:ext cx="8229600" cy="861774"/>
            </a:xfrm>
            <a:prstGeom prst="rect">
              <a:avLst/>
            </a:prstGeom>
            <a:noFill/>
          </p:spPr>
          <p:txBody>
            <a:bodyPr wrap="square" tIns="0" bIns="0" rtlCol="0">
              <a:spAutoFit/>
            </a:bodyPr>
            <a:lstStyle/>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asia_subset</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world[world['continent'] == 'Asia'] \</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.loc[:,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name_long</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'continent']] \</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iloc</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[0:5, :]</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asia_subset</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sp>
          <p:nvSpPr>
            <p:cNvPr id="19" name="TextBox 18">
              <a:extLst>
                <a:ext uri="{FF2B5EF4-FFF2-40B4-BE49-F238E27FC236}">
                  <a16:creationId xmlns:a16="http://schemas.microsoft.com/office/drawing/2014/main" id="{C7A5D00B-29EF-4666-6904-98EA1694236B}"/>
                </a:ext>
              </a:extLst>
            </p:cNvPr>
            <p:cNvSpPr txBox="1"/>
            <p:nvPr/>
          </p:nvSpPr>
          <p:spPr>
            <a:xfrm>
              <a:off x="457200" y="1416684"/>
              <a:ext cx="8229600" cy="215444"/>
            </a:xfrm>
            <a:prstGeom prst="rect">
              <a:avLst/>
            </a:prstGeom>
            <a:noFill/>
          </p:spPr>
          <p:txBody>
            <a:bodyPr wrap="square" tIns="0" bIns="0" rtlCol="0">
              <a:spAutoFit/>
            </a:bodyPr>
            <a:lstStyle/>
            <a:p>
              <a:r>
                <a:rPr lang="en-US" sz="1400" i="1" dirty="0">
                  <a:solidFill>
                    <a:srgbClr val="002060"/>
                  </a:solidFill>
                  <a:ea typeface="OSAKA-MONO" panose="020B0600000000000000" pitchFamily="34" charset="-128"/>
                  <a:cs typeface="Menlo" panose="020B0609030804020204" pitchFamily="49" charset="0"/>
                </a:rPr>
                <a:t>Select Specific Columns &amp; Rows</a:t>
              </a:r>
            </a:p>
          </p:txBody>
        </p:sp>
      </p:grpSp>
    </p:spTree>
    <p:extLst>
      <p:ext uri="{BB962C8B-B14F-4D97-AF65-F5344CB8AC3E}">
        <p14:creationId xmlns:p14="http://schemas.microsoft.com/office/powerpoint/2010/main" val="33100382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7E37E17B-1B8C-52E5-E891-8F3E943544D5}"/>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2C2A3AC3-26D3-D60D-1D87-E327804A8E0F}"/>
              </a:ext>
            </a:extLst>
          </p:cNvPr>
          <p:cNvSpPr>
            <a:spLocks noGrp="1"/>
          </p:cNvSpPr>
          <p:nvPr>
            <p:ph type="title"/>
          </p:nvPr>
        </p:nvSpPr>
        <p:spPr/>
        <p:txBody>
          <a:bodyPr>
            <a:normAutofit/>
          </a:bodyPr>
          <a:lstStyle/>
          <a:p>
            <a:r>
              <a:rPr lang="en-US" sz="2400" dirty="0">
                <a:solidFill>
                  <a:srgbClr val="002060"/>
                </a:solidFill>
              </a:rPr>
              <a:t>Attribute Operations 3</a:t>
            </a:r>
            <a:endParaRPr lang="en-US" sz="3200" dirty="0">
              <a:solidFill>
                <a:srgbClr val="002060"/>
              </a:solidFill>
            </a:endParaRPr>
          </a:p>
        </p:txBody>
      </p:sp>
      <p:grpSp>
        <p:nvGrpSpPr>
          <p:cNvPr id="14" name="Group 13" descr="Code for geographic data and spatial ETL with Python">
            <a:extLst>
              <a:ext uri="{FF2B5EF4-FFF2-40B4-BE49-F238E27FC236}">
                <a16:creationId xmlns:a16="http://schemas.microsoft.com/office/drawing/2014/main" id="{B5199926-18F6-2014-F685-66E5675B7BB5}"/>
              </a:ext>
            </a:extLst>
          </p:cNvPr>
          <p:cNvGrpSpPr/>
          <p:nvPr/>
        </p:nvGrpSpPr>
        <p:grpSpPr>
          <a:xfrm>
            <a:off x="457200" y="1416684"/>
            <a:ext cx="8229600" cy="861774"/>
            <a:chOff x="457200" y="2797149"/>
            <a:chExt cx="8229600" cy="861774"/>
          </a:xfrm>
        </p:grpSpPr>
        <p:sp>
          <p:nvSpPr>
            <p:cNvPr id="2" name="TextBox 1">
              <a:extLst>
                <a:ext uri="{FF2B5EF4-FFF2-40B4-BE49-F238E27FC236}">
                  <a16:creationId xmlns:a16="http://schemas.microsoft.com/office/drawing/2014/main" id="{27E3B053-AB8F-B2AB-C827-E40CDB6BCA57}"/>
                </a:ext>
              </a:extLst>
            </p:cNvPr>
            <p:cNvSpPr txBox="1"/>
            <p:nvPr/>
          </p:nvSpPr>
          <p:spPr>
            <a:xfrm>
              <a:off x="457200" y="3228036"/>
              <a:ext cx="8229600" cy="430887"/>
            </a:xfrm>
            <a:prstGeom prst="rect">
              <a:avLst/>
            </a:prstGeom>
            <a:noFill/>
          </p:spPr>
          <p:txBody>
            <a:bodyPr wrap="square" tIns="0" bIns="0" rtlCol="0">
              <a:spAutoFit/>
            </a:bodyPr>
            <a:lstStyle/>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world_pop</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world.groupby</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('continent')[['pop']].sum().</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reset_index</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world_pop</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sp>
          <p:nvSpPr>
            <p:cNvPr id="6" name="TextBox 5">
              <a:extLst>
                <a:ext uri="{FF2B5EF4-FFF2-40B4-BE49-F238E27FC236}">
                  <a16:creationId xmlns:a16="http://schemas.microsoft.com/office/drawing/2014/main" id="{5C0BA579-B7D6-31FF-1696-8D4C34990034}"/>
                </a:ext>
              </a:extLst>
            </p:cNvPr>
            <p:cNvSpPr txBox="1"/>
            <p:nvPr/>
          </p:nvSpPr>
          <p:spPr>
            <a:xfrm>
              <a:off x="457200" y="2797149"/>
              <a:ext cx="8229600" cy="430887"/>
            </a:xfrm>
            <a:prstGeom prst="rect">
              <a:avLst/>
            </a:prstGeom>
            <a:noFill/>
          </p:spPr>
          <p:txBody>
            <a:bodyPr wrap="square" tIns="0" bIns="0" rtlCol="0">
              <a:spAutoFit/>
            </a:bodyPr>
            <a:lstStyle/>
            <a:p>
              <a:r>
                <a:rPr lang="en-US" sz="1400" b="1" i="1" dirty="0">
                  <a:solidFill>
                    <a:srgbClr val="002060"/>
                  </a:solidFill>
                  <a:ea typeface="OSAKA-MONO" panose="020B0600000000000000" pitchFamily="34" charset="-128"/>
                  <a:cs typeface="Menlo" panose="020B0609030804020204" pitchFamily="49" charset="0"/>
                </a:rPr>
                <a:t>Aggregation With Attributes</a:t>
              </a:r>
            </a:p>
            <a:p>
              <a:r>
                <a:rPr lang="en-US" sz="1400" i="1" dirty="0">
                  <a:solidFill>
                    <a:srgbClr val="002060"/>
                  </a:solidFill>
                  <a:ea typeface="OSAKA-MONO" panose="020B0600000000000000" pitchFamily="34" charset="-128"/>
                  <a:cs typeface="Menlo" panose="020B0609030804020204" pitchFamily="49" charset="0"/>
                </a:rPr>
                <a:t>Sum Population by Continent (Attribute Only)</a:t>
              </a:r>
            </a:p>
          </p:txBody>
        </p:sp>
      </p:grpSp>
      <p:grpSp>
        <p:nvGrpSpPr>
          <p:cNvPr id="13" name="Group 12" descr="Code for geographic data and spatial ETL with Python">
            <a:extLst>
              <a:ext uri="{FF2B5EF4-FFF2-40B4-BE49-F238E27FC236}">
                <a16:creationId xmlns:a16="http://schemas.microsoft.com/office/drawing/2014/main" id="{C26E6E71-EF77-A476-B681-2CBD912909FC}"/>
              </a:ext>
            </a:extLst>
          </p:cNvPr>
          <p:cNvGrpSpPr/>
          <p:nvPr/>
        </p:nvGrpSpPr>
        <p:grpSpPr>
          <a:xfrm>
            <a:off x="457200" y="2477519"/>
            <a:ext cx="8229600" cy="1077218"/>
            <a:chOff x="457200" y="3535813"/>
            <a:chExt cx="8229600" cy="1077218"/>
          </a:xfrm>
        </p:grpSpPr>
        <p:sp>
          <p:nvSpPr>
            <p:cNvPr id="7" name="TextBox 6">
              <a:extLst>
                <a:ext uri="{FF2B5EF4-FFF2-40B4-BE49-F238E27FC236}">
                  <a16:creationId xmlns:a16="http://schemas.microsoft.com/office/drawing/2014/main" id="{4E66409E-8A35-7211-E7D1-D0D7F2BC8C59}"/>
                </a:ext>
              </a:extLst>
            </p:cNvPr>
            <p:cNvSpPr txBox="1"/>
            <p:nvPr/>
          </p:nvSpPr>
          <p:spPr>
            <a:xfrm>
              <a:off x="457200" y="3535813"/>
              <a:ext cx="8229600" cy="215444"/>
            </a:xfrm>
            <a:prstGeom prst="rect">
              <a:avLst/>
            </a:prstGeom>
            <a:noFill/>
          </p:spPr>
          <p:txBody>
            <a:bodyPr wrap="square" tIns="0" bIns="0" rtlCol="0">
              <a:spAutoFit/>
            </a:bodyPr>
            <a:lstStyle/>
            <a:p>
              <a:r>
                <a:rPr lang="en-US" sz="1400" i="1" dirty="0">
                  <a:solidFill>
                    <a:srgbClr val="002060"/>
                  </a:solidFill>
                  <a:ea typeface="OSAKA-MONO" panose="020B0600000000000000" pitchFamily="34" charset="-128"/>
                  <a:cs typeface="Menlo" panose="020B0609030804020204" pitchFamily="49" charset="0"/>
                </a:rPr>
                <a:t>Spatial Aggregation with Geometry</a:t>
              </a:r>
            </a:p>
          </p:txBody>
        </p:sp>
        <p:sp>
          <p:nvSpPr>
            <p:cNvPr id="8" name="TextBox 7">
              <a:extLst>
                <a:ext uri="{FF2B5EF4-FFF2-40B4-BE49-F238E27FC236}">
                  <a16:creationId xmlns:a16="http://schemas.microsoft.com/office/drawing/2014/main" id="{EF26773E-85A0-0D25-3B5A-850307FE38D2}"/>
                </a:ext>
              </a:extLst>
            </p:cNvPr>
            <p:cNvSpPr txBox="1"/>
            <p:nvPr/>
          </p:nvSpPr>
          <p:spPr>
            <a:xfrm>
              <a:off x="457200" y="3751257"/>
              <a:ext cx="8229600" cy="861774"/>
            </a:xfrm>
            <a:prstGeom prst="rect">
              <a:avLst/>
            </a:prstGeom>
            <a:noFill/>
          </p:spPr>
          <p:txBody>
            <a:bodyPr wrap="square" tIns="0" bIns="0" rtlCol="0">
              <a:spAutoFit/>
            </a:bodyPr>
            <a:lstStyle/>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world_agg</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world[['</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continent','pop','geometry</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.dissolve(by='continent',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aggfunc</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='sum') \</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reset_index</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world_agg.plot</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(column='pop', legend=True)</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grpSp>
      <p:sp>
        <p:nvSpPr>
          <p:cNvPr id="17" name="Slide Number Placeholder 16">
            <a:extLst>
              <a:ext uri="{FF2B5EF4-FFF2-40B4-BE49-F238E27FC236}">
                <a16:creationId xmlns:a16="http://schemas.microsoft.com/office/drawing/2014/main" id="{10EBA1F1-FC7B-47FE-43ED-DF8D97EC41CE}"/>
              </a:ext>
            </a:extLst>
          </p:cNvPr>
          <p:cNvSpPr>
            <a:spLocks noGrp="1"/>
          </p:cNvSpPr>
          <p:nvPr>
            <p:ph type="sldNum" sz="quarter" idx="12"/>
          </p:nvPr>
        </p:nvSpPr>
        <p:spPr/>
        <p:txBody>
          <a:bodyPr/>
          <a:lstStyle/>
          <a:p>
            <a:fld id="{C0343C75-1924-D247-85A3-0CB62E67E5D1}" type="slidenum">
              <a:rPr lang="en-US" smtClean="0"/>
              <a:t>55</a:t>
            </a:fld>
            <a:endParaRPr lang="en-US"/>
          </a:p>
        </p:txBody>
      </p:sp>
      <p:grpSp>
        <p:nvGrpSpPr>
          <p:cNvPr id="19" name="Group 18" descr="Code for geographic data and spatial ETL with Python">
            <a:extLst>
              <a:ext uri="{FF2B5EF4-FFF2-40B4-BE49-F238E27FC236}">
                <a16:creationId xmlns:a16="http://schemas.microsoft.com/office/drawing/2014/main" id="{783DB5F6-B7C5-DC17-E9A0-E34A9C51E68F}"/>
              </a:ext>
            </a:extLst>
          </p:cNvPr>
          <p:cNvGrpSpPr/>
          <p:nvPr/>
        </p:nvGrpSpPr>
        <p:grpSpPr>
          <a:xfrm>
            <a:off x="457200" y="3770181"/>
            <a:ext cx="8229600" cy="1938992"/>
            <a:chOff x="457200" y="1196711"/>
            <a:chExt cx="8229600" cy="1938992"/>
          </a:xfrm>
        </p:grpSpPr>
        <p:sp>
          <p:nvSpPr>
            <p:cNvPr id="20" name="TextBox 19">
              <a:extLst>
                <a:ext uri="{FF2B5EF4-FFF2-40B4-BE49-F238E27FC236}">
                  <a16:creationId xmlns:a16="http://schemas.microsoft.com/office/drawing/2014/main" id="{B6C653AC-4036-BF56-9169-7E459C1C5A57}"/>
                </a:ext>
              </a:extLst>
            </p:cNvPr>
            <p:cNvSpPr txBox="1"/>
            <p:nvPr/>
          </p:nvSpPr>
          <p:spPr>
            <a:xfrm>
              <a:off x="457200" y="1627598"/>
              <a:ext cx="8229600" cy="1508105"/>
            </a:xfrm>
            <a:prstGeom prst="rect">
              <a:avLst/>
            </a:prstGeom>
            <a:noFill/>
          </p:spPr>
          <p:txBody>
            <a:bodyPr wrap="square" tIns="0" bIns="0" rtlCol="0">
              <a:spAutoFit/>
            </a:bodyPr>
            <a:lstStyle/>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coffee_data.head</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endParaRPr lang="en-US" sz="1400" dirty="0">
                <a:latin typeface="OSAKA-MONO" panose="020B0600000000000000" pitchFamily="34" charset="-128"/>
                <a:ea typeface="OSAKA-MONO" panose="020B0600000000000000" pitchFamily="34" charset="-128"/>
                <a:cs typeface="Menlo" panose="020B0609030804020204" pitchFamily="49" charset="0"/>
              </a:endParaRPr>
            </a:p>
            <a:p>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world_coffee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pd.merge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world,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coffee_data</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on='</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name_long</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how='left'</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world_coffee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name_long</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'coffee_production_2016']]</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sp>
          <p:nvSpPr>
            <p:cNvPr id="21" name="TextBox 20">
              <a:extLst>
                <a:ext uri="{FF2B5EF4-FFF2-40B4-BE49-F238E27FC236}">
                  <a16:creationId xmlns:a16="http://schemas.microsoft.com/office/drawing/2014/main" id="{CDAB09C9-D1FB-CD27-DE33-B326CB2B2617}"/>
                </a:ext>
              </a:extLst>
            </p:cNvPr>
            <p:cNvSpPr txBox="1"/>
            <p:nvPr/>
          </p:nvSpPr>
          <p:spPr>
            <a:xfrm>
              <a:off x="457200" y="1196711"/>
              <a:ext cx="8229600" cy="430887"/>
            </a:xfrm>
            <a:prstGeom prst="rect">
              <a:avLst/>
            </a:prstGeom>
            <a:noFill/>
          </p:spPr>
          <p:txBody>
            <a:bodyPr wrap="square" tIns="0" bIns="0" rtlCol="0">
              <a:spAutoFit/>
            </a:bodyPr>
            <a:lstStyle/>
            <a:p>
              <a:r>
                <a:rPr lang="en-US" sz="1400" b="1" i="1" dirty="0">
                  <a:solidFill>
                    <a:srgbClr val="002060"/>
                  </a:solidFill>
                  <a:ea typeface="OSAKA-MONO" panose="020B0600000000000000" pitchFamily="34" charset="-128"/>
                  <a:cs typeface="Menlo" panose="020B0609030804020204" pitchFamily="49" charset="0"/>
                </a:rPr>
                <a:t>Joining Attributes Between Datasets</a:t>
              </a:r>
            </a:p>
            <a:p>
              <a:r>
                <a:rPr lang="en-US" sz="1400" i="1" dirty="0">
                  <a:solidFill>
                    <a:srgbClr val="002060"/>
                  </a:solidFill>
                  <a:ea typeface="OSAKA-MONO" panose="020B0600000000000000" pitchFamily="34" charset="-128"/>
                  <a:cs typeface="Menlo" panose="020B0609030804020204" pitchFamily="49" charset="0"/>
                </a:rPr>
                <a:t>Attribute Join</a:t>
              </a:r>
            </a:p>
          </p:txBody>
        </p:sp>
      </p:grpSp>
      <p:grpSp>
        <p:nvGrpSpPr>
          <p:cNvPr id="22" name="Group 21" descr="Code for geographic data and spatial ETL with Python">
            <a:extLst>
              <a:ext uri="{FF2B5EF4-FFF2-40B4-BE49-F238E27FC236}">
                <a16:creationId xmlns:a16="http://schemas.microsoft.com/office/drawing/2014/main" id="{9E624821-4EF1-E414-3EEF-A0819E7DA3B4}"/>
              </a:ext>
            </a:extLst>
          </p:cNvPr>
          <p:cNvGrpSpPr/>
          <p:nvPr/>
        </p:nvGrpSpPr>
        <p:grpSpPr>
          <a:xfrm>
            <a:off x="5341171" y="3985624"/>
            <a:ext cx="3345629" cy="1292662"/>
            <a:chOff x="457200" y="2797149"/>
            <a:chExt cx="8229600" cy="1292662"/>
          </a:xfrm>
        </p:grpSpPr>
        <p:sp>
          <p:nvSpPr>
            <p:cNvPr id="23" name="TextBox 22">
              <a:extLst>
                <a:ext uri="{FF2B5EF4-FFF2-40B4-BE49-F238E27FC236}">
                  <a16:creationId xmlns:a16="http://schemas.microsoft.com/office/drawing/2014/main" id="{E7B99D3C-B06A-403F-9005-4C36759C410A}"/>
                </a:ext>
              </a:extLst>
            </p:cNvPr>
            <p:cNvSpPr txBox="1"/>
            <p:nvPr/>
          </p:nvSpPr>
          <p:spPr>
            <a:xfrm>
              <a:off x="457200" y="3012593"/>
              <a:ext cx="8229600" cy="1077218"/>
            </a:xfrm>
            <a:prstGeom prst="rect">
              <a:avLst/>
            </a:prstGeom>
            <a:noFill/>
          </p:spPr>
          <p:txBody>
            <a:bodyPr wrap="square" tIns="0" bIns="0" rtlCol="0">
              <a:spAutoFit/>
            </a:bodyPr>
            <a:lstStyle/>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coffee_inner</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pd.merge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world,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coffee_data</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on='</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name_long</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how='inner'</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coffee_inner</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sp>
          <p:nvSpPr>
            <p:cNvPr id="24" name="TextBox 23">
              <a:extLst>
                <a:ext uri="{FF2B5EF4-FFF2-40B4-BE49-F238E27FC236}">
                  <a16:creationId xmlns:a16="http://schemas.microsoft.com/office/drawing/2014/main" id="{F223FFA3-B0FE-5EB2-1076-15A045394AA6}"/>
                </a:ext>
              </a:extLst>
            </p:cNvPr>
            <p:cNvSpPr txBox="1"/>
            <p:nvPr/>
          </p:nvSpPr>
          <p:spPr>
            <a:xfrm>
              <a:off x="457200" y="2797149"/>
              <a:ext cx="8229600" cy="215444"/>
            </a:xfrm>
            <a:prstGeom prst="rect">
              <a:avLst/>
            </a:prstGeom>
            <a:noFill/>
          </p:spPr>
          <p:txBody>
            <a:bodyPr wrap="square" tIns="0" bIns="0" rtlCol="0">
              <a:spAutoFit/>
            </a:bodyPr>
            <a:lstStyle/>
            <a:p>
              <a:r>
                <a:rPr lang="en-US" sz="1400" i="1" dirty="0">
                  <a:solidFill>
                    <a:srgbClr val="002060"/>
                  </a:solidFill>
                  <a:ea typeface="OSAKA-MONO" panose="020B0600000000000000" pitchFamily="34" charset="-128"/>
                  <a:cs typeface="Menlo" panose="020B0609030804020204" pitchFamily="49" charset="0"/>
                </a:rPr>
                <a:t>Join Variation — Inner Join</a:t>
              </a:r>
            </a:p>
          </p:txBody>
        </p:sp>
      </p:grpSp>
    </p:spTree>
    <p:extLst>
      <p:ext uri="{BB962C8B-B14F-4D97-AF65-F5344CB8AC3E}">
        <p14:creationId xmlns:p14="http://schemas.microsoft.com/office/powerpoint/2010/main" val="186485212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61E5409C-EC7C-AD54-A65D-D60F777D9AC8}"/>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A15BF843-937E-2488-42C8-F253424D54B2}"/>
              </a:ext>
            </a:extLst>
          </p:cNvPr>
          <p:cNvSpPr>
            <a:spLocks noGrp="1"/>
          </p:cNvSpPr>
          <p:nvPr>
            <p:ph type="title"/>
          </p:nvPr>
        </p:nvSpPr>
        <p:spPr/>
        <p:txBody>
          <a:bodyPr>
            <a:normAutofit/>
          </a:bodyPr>
          <a:lstStyle/>
          <a:p>
            <a:r>
              <a:rPr lang="en-US" sz="2400" dirty="0">
                <a:solidFill>
                  <a:srgbClr val="002060"/>
                </a:solidFill>
              </a:rPr>
              <a:t>Attribute Operations 4</a:t>
            </a:r>
            <a:endParaRPr lang="en-US" sz="3200" dirty="0">
              <a:solidFill>
                <a:srgbClr val="002060"/>
              </a:solidFill>
            </a:endParaRPr>
          </a:p>
        </p:txBody>
      </p:sp>
      <p:grpSp>
        <p:nvGrpSpPr>
          <p:cNvPr id="13" name="Group 12" descr="Code for geographic data and spatial ETL with Python">
            <a:extLst>
              <a:ext uri="{FF2B5EF4-FFF2-40B4-BE49-F238E27FC236}">
                <a16:creationId xmlns:a16="http://schemas.microsoft.com/office/drawing/2014/main" id="{D7E1B096-E843-FDAC-89D9-6E4B432F2D39}"/>
              </a:ext>
            </a:extLst>
          </p:cNvPr>
          <p:cNvGrpSpPr/>
          <p:nvPr/>
        </p:nvGrpSpPr>
        <p:grpSpPr>
          <a:xfrm>
            <a:off x="457200" y="1416684"/>
            <a:ext cx="8229600" cy="1077218"/>
            <a:chOff x="457200" y="3535813"/>
            <a:chExt cx="8229600" cy="1077218"/>
          </a:xfrm>
        </p:grpSpPr>
        <p:sp>
          <p:nvSpPr>
            <p:cNvPr id="7" name="TextBox 6">
              <a:extLst>
                <a:ext uri="{FF2B5EF4-FFF2-40B4-BE49-F238E27FC236}">
                  <a16:creationId xmlns:a16="http://schemas.microsoft.com/office/drawing/2014/main" id="{B52F6CA1-C633-641D-6EEC-CA7714711A88}"/>
                </a:ext>
              </a:extLst>
            </p:cNvPr>
            <p:cNvSpPr txBox="1"/>
            <p:nvPr/>
          </p:nvSpPr>
          <p:spPr>
            <a:xfrm>
              <a:off x="457200" y="3535813"/>
              <a:ext cx="8229600" cy="430887"/>
            </a:xfrm>
            <a:prstGeom prst="rect">
              <a:avLst/>
            </a:prstGeom>
            <a:noFill/>
          </p:spPr>
          <p:txBody>
            <a:bodyPr wrap="square" tIns="0" bIns="0" rtlCol="0">
              <a:spAutoFit/>
            </a:bodyPr>
            <a:lstStyle/>
            <a:p>
              <a:r>
                <a:rPr lang="en-US" sz="1400" b="1" i="1" dirty="0">
                  <a:solidFill>
                    <a:srgbClr val="002060"/>
                  </a:solidFill>
                  <a:ea typeface="OSAKA-MONO" panose="020B0600000000000000" pitchFamily="34" charset="-128"/>
                  <a:cs typeface="Menlo" panose="020B0609030804020204" pitchFamily="49" charset="0"/>
                </a:rPr>
                <a:t>Creating &amp; Transforming Attributes</a:t>
              </a:r>
            </a:p>
            <a:p>
              <a:r>
                <a:rPr lang="en-US" sz="1400" i="1" dirty="0">
                  <a:solidFill>
                    <a:srgbClr val="002060"/>
                  </a:solidFill>
                  <a:ea typeface="OSAKA-MONO" panose="020B0600000000000000" pitchFamily="34" charset="-128"/>
                  <a:cs typeface="Menlo" panose="020B0609030804020204" pitchFamily="49" charset="0"/>
                </a:rPr>
                <a:t>Population Density</a:t>
              </a:r>
            </a:p>
          </p:txBody>
        </p:sp>
        <p:sp>
          <p:nvSpPr>
            <p:cNvPr id="8" name="TextBox 7">
              <a:extLst>
                <a:ext uri="{FF2B5EF4-FFF2-40B4-BE49-F238E27FC236}">
                  <a16:creationId xmlns:a16="http://schemas.microsoft.com/office/drawing/2014/main" id="{8604C67F-BA88-1B33-5A3C-4F22153AC3F8}"/>
                </a:ext>
              </a:extLst>
            </p:cNvPr>
            <p:cNvSpPr txBox="1"/>
            <p:nvPr/>
          </p:nvSpPr>
          <p:spPr>
            <a:xfrm>
              <a:off x="457200" y="3966700"/>
              <a:ext cx="8229600" cy="646331"/>
            </a:xfrm>
            <a:prstGeom prst="rect">
              <a:avLst/>
            </a:prstGeom>
            <a:noFill/>
          </p:spPr>
          <p:txBody>
            <a:bodyPr wrap="square" tIns="0" bIns="0" rtlCol="0">
              <a:spAutoFit/>
            </a:bodyPr>
            <a:lstStyle/>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world2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world.copy</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world2['</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pop_density</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world2['pop'] / world2['area_km2']</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world2[['name_long','</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pop_density</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grpSp>
      <p:sp>
        <p:nvSpPr>
          <p:cNvPr id="5" name="Slide Number Placeholder 4">
            <a:extLst>
              <a:ext uri="{FF2B5EF4-FFF2-40B4-BE49-F238E27FC236}">
                <a16:creationId xmlns:a16="http://schemas.microsoft.com/office/drawing/2014/main" id="{565DABBA-8AC2-A093-6F6E-0BAD9C7BE9A2}"/>
              </a:ext>
            </a:extLst>
          </p:cNvPr>
          <p:cNvSpPr>
            <a:spLocks noGrp="1"/>
          </p:cNvSpPr>
          <p:nvPr>
            <p:ph type="sldNum" sz="quarter" idx="12"/>
          </p:nvPr>
        </p:nvSpPr>
        <p:spPr/>
        <p:txBody>
          <a:bodyPr/>
          <a:lstStyle/>
          <a:p>
            <a:fld id="{C0343C75-1924-D247-85A3-0CB62E67E5D1}" type="slidenum">
              <a:rPr lang="en-US" smtClean="0"/>
              <a:t>56</a:t>
            </a:fld>
            <a:endParaRPr lang="en-US"/>
          </a:p>
        </p:txBody>
      </p:sp>
      <p:grpSp>
        <p:nvGrpSpPr>
          <p:cNvPr id="16" name="Group 15" descr="Code for geographic data and spatial ETL with Python">
            <a:extLst>
              <a:ext uri="{FF2B5EF4-FFF2-40B4-BE49-F238E27FC236}">
                <a16:creationId xmlns:a16="http://schemas.microsoft.com/office/drawing/2014/main" id="{E564B0AD-CB55-281C-32D1-3815FA9C48DB}"/>
              </a:ext>
            </a:extLst>
          </p:cNvPr>
          <p:cNvGrpSpPr/>
          <p:nvPr/>
        </p:nvGrpSpPr>
        <p:grpSpPr>
          <a:xfrm>
            <a:off x="457200" y="2699108"/>
            <a:ext cx="8229600" cy="857245"/>
            <a:chOff x="457200" y="1416684"/>
            <a:chExt cx="8229600" cy="857245"/>
          </a:xfrm>
        </p:grpSpPr>
        <p:sp>
          <p:nvSpPr>
            <p:cNvPr id="17" name="TextBox 16">
              <a:extLst>
                <a:ext uri="{FF2B5EF4-FFF2-40B4-BE49-F238E27FC236}">
                  <a16:creationId xmlns:a16="http://schemas.microsoft.com/office/drawing/2014/main" id="{C707A109-28CF-366C-585E-DCD5A4475229}"/>
                </a:ext>
              </a:extLst>
            </p:cNvPr>
            <p:cNvSpPr txBox="1"/>
            <p:nvPr/>
          </p:nvSpPr>
          <p:spPr>
            <a:xfrm>
              <a:off x="457200" y="1627598"/>
              <a:ext cx="8229600" cy="646331"/>
            </a:xfrm>
            <a:prstGeom prst="rect">
              <a:avLst/>
            </a:prstGeom>
            <a:noFill/>
          </p:spPr>
          <p:txBody>
            <a:bodyPr wrap="square" tIns="0" bIns="0" rtlCol="0">
              <a:spAutoFit/>
            </a:bodyPr>
            <a:lstStyle/>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world2 = world2.drop('geometry', axis=1)</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world2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pd.DataFrame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(world2)</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world2.head()</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sp>
          <p:nvSpPr>
            <p:cNvPr id="18" name="TextBox 17">
              <a:extLst>
                <a:ext uri="{FF2B5EF4-FFF2-40B4-BE49-F238E27FC236}">
                  <a16:creationId xmlns:a16="http://schemas.microsoft.com/office/drawing/2014/main" id="{C9AC872C-BE97-F599-EE0B-1A1F8DA99883}"/>
                </a:ext>
              </a:extLst>
            </p:cNvPr>
            <p:cNvSpPr txBox="1"/>
            <p:nvPr/>
          </p:nvSpPr>
          <p:spPr>
            <a:xfrm>
              <a:off x="457200" y="1416684"/>
              <a:ext cx="8229600" cy="215444"/>
            </a:xfrm>
            <a:prstGeom prst="rect">
              <a:avLst/>
            </a:prstGeom>
            <a:noFill/>
          </p:spPr>
          <p:txBody>
            <a:bodyPr wrap="square" tIns="0" bIns="0" rtlCol="0">
              <a:spAutoFit/>
            </a:bodyPr>
            <a:lstStyle/>
            <a:p>
              <a:r>
                <a:rPr lang="en-US" sz="1400" i="1" dirty="0">
                  <a:solidFill>
                    <a:srgbClr val="002060"/>
                  </a:solidFill>
                  <a:ea typeface="OSAKA-MONO" panose="020B0600000000000000" pitchFamily="34" charset="-128"/>
                  <a:cs typeface="Menlo" panose="020B0609030804020204" pitchFamily="49" charset="0"/>
                </a:rPr>
                <a:t>Drop Geometry for Pure Attribute Table</a:t>
              </a:r>
            </a:p>
          </p:txBody>
        </p:sp>
      </p:grpSp>
    </p:spTree>
    <p:extLst>
      <p:ext uri="{BB962C8B-B14F-4D97-AF65-F5344CB8AC3E}">
        <p14:creationId xmlns:p14="http://schemas.microsoft.com/office/powerpoint/2010/main" val="1423853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F4388FE8-03E6-7C7A-90B7-D2F2157EFA00}"/>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5180795F-6C98-DB15-18A8-B8F61B0237DF}"/>
              </a:ext>
            </a:extLst>
          </p:cNvPr>
          <p:cNvSpPr>
            <a:spLocks noGrp="1"/>
          </p:cNvSpPr>
          <p:nvPr>
            <p:ph type="title"/>
          </p:nvPr>
        </p:nvSpPr>
        <p:spPr/>
        <p:txBody>
          <a:bodyPr>
            <a:normAutofit/>
          </a:bodyPr>
          <a:lstStyle/>
          <a:p>
            <a:r>
              <a:rPr lang="en-US" sz="2400" dirty="0">
                <a:solidFill>
                  <a:srgbClr val="002060"/>
                </a:solidFill>
              </a:rPr>
              <a:t>Attribute Operations 5</a:t>
            </a:r>
            <a:endParaRPr lang="en-US" sz="3200" dirty="0">
              <a:solidFill>
                <a:srgbClr val="002060"/>
              </a:solidFill>
            </a:endParaRPr>
          </a:p>
        </p:txBody>
      </p:sp>
      <p:grpSp>
        <p:nvGrpSpPr>
          <p:cNvPr id="14" name="Group 13" descr="Code for geographic data and spatial ETL with Python">
            <a:extLst>
              <a:ext uri="{FF2B5EF4-FFF2-40B4-BE49-F238E27FC236}">
                <a16:creationId xmlns:a16="http://schemas.microsoft.com/office/drawing/2014/main" id="{7FE206AB-A53E-D169-AA99-A908243DEE7A}"/>
              </a:ext>
            </a:extLst>
          </p:cNvPr>
          <p:cNvGrpSpPr/>
          <p:nvPr/>
        </p:nvGrpSpPr>
        <p:grpSpPr>
          <a:xfrm>
            <a:off x="457200" y="1416684"/>
            <a:ext cx="8229600" cy="1508105"/>
            <a:chOff x="457200" y="2797149"/>
            <a:chExt cx="8229600" cy="1508105"/>
          </a:xfrm>
        </p:grpSpPr>
        <p:sp>
          <p:nvSpPr>
            <p:cNvPr id="2" name="TextBox 1">
              <a:extLst>
                <a:ext uri="{FF2B5EF4-FFF2-40B4-BE49-F238E27FC236}">
                  <a16:creationId xmlns:a16="http://schemas.microsoft.com/office/drawing/2014/main" id="{8C9613BE-000B-C73E-EF70-3DE3C0F5544F}"/>
                </a:ext>
              </a:extLst>
            </p:cNvPr>
            <p:cNvSpPr txBox="1"/>
            <p:nvPr/>
          </p:nvSpPr>
          <p:spPr>
            <a:xfrm>
              <a:off x="457200" y="3228036"/>
              <a:ext cx="8229600" cy="1077218"/>
            </a:xfrm>
            <a:prstGeom prst="rect">
              <a:avLst/>
            </a:prstGeom>
            <a:noFill/>
          </p:spPr>
          <p:txBody>
            <a:bodyPr wrap="square" tIns="0" bIns="0" rtlCol="0">
              <a:spAutoFit/>
            </a:bodyPr>
            <a:lstStyle/>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plt.close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('all')</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rasterio.plot.show</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src_elev.read</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(1)</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sp>
          <p:nvSpPr>
            <p:cNvPr id="6" name="TextBox 5">
              <a:extLst>
                <a:ext uri="{FF2B5EF4-FFF2-40B4-BE49-F238E27FC236}">
                  <a16:creationId xmlns:a16="http://schemas.microsoft.com/office/drawing/2014/main" id="{074756F3-21E3-78B0-3D86-27B3DF02A4E6}"/>
                </a:ext>
              </a:extLst>
            </p:cNvPr>
            <p:cNvSpPr txBox="1"/>
            <p:nvPr/>
          </p:nvSpPr>
          <p:spPr>
            <a:xfrm>
              <a:off x="457200" y="2797149"/>
              <a:ext cx="8229600" cy="430887"/>
            </a:xfrm>
            <a:prstGeom prst="rect">
              <a:avLst/>
            </a:prstGeom>
            <a:noFill/>
          </p:spPr>
          <p:txBody>
            <a:bodyPr wrap="square" tIns="0" bIns="0" rtlCol="0">
              <a:spAutoFit/>
            </a:bodyPr>
            <a:lstStyle/>
            <a:p>
              <a:r>
                <a:rPr lang="en-US" sz="1400" b="1" i="1" dirty="0">
                  <a:solidFill>
                    <a:srgbClr val="002060"/>
                  </a:solidFill>
                  <a:ea typeface="OSAKA-MONO" panose="020B0600000000000000" pitchFamily="34" charset="-128"/>
                  <a:cs typeface="Menlo" panose="020B0609030804020204" pitchFamily="49" charset="0"/>
                </a:rPr>
                <a:t>Read Raster as NumPy Array</a:t>
              </a:r>
            </a:p>
            <a:p>
              <a:r>
                <a:rPr lang="en-US" sz="1400" i="1" dirty="0">
                  <a:solidFill>
                    <a:srgbClr val="002060"/>
                  </a:solidFill>
                  <a:ea typeface="OSAKA-MONO" panose="020B0600000000000000" pitchFamily="34" charset="-128"/>
                  <a:cs typeface="Menlo" panose="020B0609030804020204" pitchFamily="49" charset="0"/>
                </a:rPr>
                <a:t>Read Raster as NumPy Array</a:t>
              </a:r>
            </a:p>
          </p:txBody>
        </p:sp>
      </p:grpSp>
      <p:grpSp>
        <p:nvGrpSpPr>
          <p:cNvPr id="13" name="Group 12" descr="Code for geographic data and spatial ETL with Python">
            <a:extLst>
              <a:ext uri="{FF2B5EF4-FFF2-40B4-BE49-F238E27FC236}">
                <a16:creationId xmlns:a16="http://schemas.microsoft.com/office/drawing/2014/main" id="{DB4EF5B8-6246-1B54-0099-6DCC69FB2F67}"/>
              </a:ext>
            </a:extLst>
          </p:cNvPr>
          <p:cNvGrpSpPr/>
          <p:nvPr/>
        </p:nvGrpSpPr>
        <p:grpSpPr>
          <a:xfrm>
            <a:off x="457200" y="3096066"/>
            <a:ext cx="8229600" cy="1292662"/>
            <a:chOff x="457200" y="3535813"/>
            <a:chExt cx="8229600" cy="1292662"/>
          </a:xfrm>
        </p:grpSpPr>
        <p:sp>
          <p:nvSpPr>
            <p:cNvPr id="7" name="TextBox 6">
              <a:extLst>
                <a:ext uri="{FF2B5EF4-FFF2-40B4-BE49-F238E27FC236}">
                  <a16:creationId xmlns:a16="http://schemas.microsoft.com/office/drawing/2014/main" id="{9DF4F888-C51E-22A8-B302-E0C7AA303FDF}"/>
                </a:ext>
              </a:extLst>
            </p:cNvPr>
            <p:cNvSpPr txBox="1"/>
            <p:nvPr/>
          </p:nvSpPr>
          <p:spPr>
            <a:xfrm>
              <a:off x="457200" y="3535813"/>
              <a:ext cx="8229600" cy="215444"/>
            </a:xfrm>
            <a:prstGeom prst="rect">
              <a:avLst/>
            </a:prstGeom>
            <a:noFill/>
          </p:spPr>
          <p:txBody>
            <a:bodyPr wrap="square" tIns="0" bIns="0" rtlCol="0">
              <a:spAutoFit/>
            </a:bodyPr>
            <a:lstStyle/>
            <a:p>
              <a:r>
                <a:rPr lang="en-US" sz="1400" i="1" dirty="0">
                  <a:solidFill>
                    <a:srgbClr val="002060"/>
                  </a:solidFill>
                  <a:ea typeface="OSAKA-MONO" panose="020B0600000000000000" pitchFamily="34" charset="-128"/>
                  <a:cs typeface="Menlo" panose="020B0609030804020204" pitchFamily="49" charset="0"/>
                </a:rPr>
                <a:t>Raster Summaries</a:t>
              </a:r>
            </a:p>
          </p:txBody>
        </p:sp>
        <p:sp>
          <p:nvSpPr>
            <p:cNvPr id="8" name="TextBox 7">
              <a:extLst>
                <a:ext uri="{FF2B5EF4-FFF2-40B4-BE49-F238E27FC236}">
                  <a16:creationId xmlns:a16="http://schemas.microsoft.com/office/drawing/2014/main" id="{7C1674F3-B825-F8CD-886E-7CABAE014D11}"/>
                </a:ext>
              </a:extLst>
            </p:cNvPr>
            <p:cNvSpPr txBox="1"/>
            <p:nvPr/>
          </p:nvSpPr>
          <p:spPr>
            <a:xfrm>
              <a:off x="457200" y="3751257"/>
              <a:ext cx="8229600" cy="1077218"/>
            </a:xfrm>
            <a:prstGeom prst="rect">
              <a:avLst/>
            </a:prstGeom>
            <a:noFill/>
          </p:spPr>
          <p:txBody>
            <a:bodyPr wrap="square" tIns="0" bIns="0" rtlCol="0">
              <a:spAutoFit/>
            </a:bodyPr>
            <a:lstStyle/>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np.mean</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elev_float</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elev.astype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('float64')</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elev_float</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[0,2]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np.nan</a:t>
              </a:r>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np.nanmean</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elev_float</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grpSp>
      <p:grpSp>
        <p:nvGrpSpPr>
          <p:cNvPr id="5" name="Group 4" descr="Code for geographic data and spatial ETL with Python">
            <a:extLst>
              <a:ext uri="{FF2B5EF4-FFF2-40B4-BE49-F238E27FC236}">
                <a16:creationId xmlns:a16="http://schemas.microsoft.com/office/drawing/2014/main" id="{312855C4-FFFF-2EE8-D71E-98D4FE57EDC2}"/>
              </a:ext>
            </a:extLst>
          </p:cNvPr>
          <p:cNvGrpSpPr/>
          <p:nvPr/>
        </p:nvGrpSpPr>
        <p:grpSpPr>
          <a:xfrm>
            <a:off x="457200" y="4604172"/>
            <a:ext cx="8229600" cy="1723549"/>
            <a:chOff x="457200" y="3535813"/>
            <a:chExt cx="8229600" cy="1723549"/>
          </a:xfrm>
        </p:grpSpPr>
        <p:sp>
          <p:nvSpPr>
            <p:cNvPr id="16" name="TextBox 15">
              <a:extLst>
                <a:ext uri="{FF2B5EF4-FFF2-40B4-BE49-F238E27FC236}">
                  <a16:creationId xmlns:a16="http://schemas.microsoft.com/office/drawing/2014/main" id="{E046FFBD-4CC4-E108-6505-B84B23E41893}"/>
                </a:ext>
              </a:extLst>
            </p:cNvPr>
            <p:cNvSpPr txBox="1"/>
            <p:nvPr/>
          </p:nvSpPr>
          <p:spPr>
            <a:xfrm>
              <a:off x="457200" y="3535813"/>
              <a:ext cx="8229600" cy="215444"/>
            </a:xfrm>
            <a:prstGeom prst="rect">
              <a:avLst/>
            </a:prstGeom>
            <a:noFill/>
          </p:spPr>
          <p:txBody>
            <a:bodyPr wrap="square" tIns="0" bIns="0" rtlCol="0">
              <a:spAutoFit/>
            </a:bodyPr>
            <a:lstStyle/>
            <a:p>
              <a:r>
                <a:rPr lang="en-US" sz="1400" i="1" dirty="0">
                  <a:solidFill>
                    <a:srgbClr val="002060"/>
                  </a:solidFill>
                  <a:ea typeface="OSAKA-MONO" panose="020B0600000000000000" pitchFamily="34" charset="-128"/>
                  <a:cs typeface="Menlo" panose="020B0609030804020204" pitchFamily="49" charset="0"/>
                </a:rPr>
                <a:t>Raster Categorical Frequency</a:t>
              </a:r>
            </a:p>
          </p:txBody>
        </p:sp>
        <p:sp>
          <p:nvSpPr>
            <p:cNvPr id="17" name="TextBox 16">
              <a:extLst>
                <a:ext uri="{FF2B5EF4-FFF2-40B4-BE49-F238E27FC236}">
                  <a16:creationId xmlns:a16="http://schemas.microsoft.com/office/drawing/2014/main" id="{2915B2EA-E84F-25E6-66F0-3960787C8048}"/>
                </a:ext>
              </a:extLst>
            </p:cNvPr>
            <p:cNvSpPr txBox="1"/>
            <p:nvPr/>
          </p:nvSpPr>
          <p:spPr>
            <a:xfrm>
              <a:off x="457200" y="3751257"/>
              <a:ext cx="8229600" cy="1508105"/>
            </a:xfrm>
            <a:prstGeom prst="rect">
              <a:avLst/>
            </a:prstGeom>
            <a:noFill/>
          </p:spPr>
          <p:txBody>
            <a:bodyPr wrap="square" tIns="0" bIns="0" rtlCol="0">
              <a:spAutoFit/>
            </a:bodyPr>
            <a:lstStyle/>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plt.close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('all')</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rasterio.plot.show</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(grain)</a:t>
              </a:r>
            </a:p>
            <a:p>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grain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src_grain.read</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(1)</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freq</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np.unique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(grain,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return_counts</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=True)</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plt.bar</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freq</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plt.show</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grpSp>
      <p:sp>
        <p:nvSpPr>
          <p:cNvPr id="18" name="Slide Number Placeholder 17">
            <a:extLst>
              <a:ext uri="{FF2B5EF4-FFF2-40B4-BE49-F238E27FC236}">
                <a16:creationId xmlns:a16="http://schemas.microsoft.com/office/drawing/2014/main" id="{3EFF929C-6704-164B-3A3F-FCE3119F39D7}"/>
              </a:ext>
            </a:extLst>
          </p:cNvPr>
          <p:cNvSpPr>
            <a:spLocks noGrp="1"/>
          </p:cNvSpPr>
          <p:nvPr>
            <p:ph type="sldNum" sz="quarter" idx="12"/>
          </p:nvPr>
        </p:nvSpPr>
        <p:spPr/>
        <p:txBody>
          <a:bodyPr/>
          <a:lstStyle/>
          <a:p>
            <a:fld id="{C0343C75-1924-D247-85A3-0CB62E67E5D1}" type="slidenum">
              <a:rPr lang="en-US" smtClean="0"/>
              <a:t>57</a:t>
            </a:fld>
            <a:endParaRPr lang="en-US"/>
          </a:p>
        </p:txBody>
      </p:sp>
    </p:spTree>
    <p:extLst>
      <p:ext uri="{BB962C8B-B14F-4D97-AF65-F5344CB8AC3E}">
        <p14:creationId xmlns:p14="http://schemas.microsoft.com/office/powerpoint/2010/main" val="121067822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31B9B212-964B-C243-AF67-DFBA28540867}" vid="{19089797-CD65-6D4A-A3BA-F0C0B60BAD1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722</TotalTime>
  <Words>4176</Words>
  <Application>Microsoft Macintosh PowerPoint</Application>
  <PresentationFormat>On-screen Show (4:3)</PresentationFormat>
  <Paragraphs>732</Paragraphs>
  <Slides>57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57</vt:i4>
      </vt:variant>
    </vt:vector>
  </HeadingPairs>
  <TitlesOfParts>
    <vt:vector size="64" baseType="lpstr">
      <vt:lpstr>OSAKA-MONO</vt:lpstr>
      <vt:lpstr>Aptos</vt:lpstr>
      <vt:lpstr>Aptos Display</vt:lpstr>
      <vt:lpstr>Arial</vt:lpstr>
      <vt:lpstr>System Font Regular</vt:lpstr>
      <vt:lpstr>Wingdings</vt:lpstr>
      <vt:lpstr>Office Theme</vt:lpstr>
      <vt:lpstr>Geographic Data and Spatial ETL</vt:lpstr>
      <vt:lpstr>Plan for Today</vt:lpstr>
      <vt:lpstr>Previously</vt:lpstr>
      <vt:lpstr>Spatial Data Models</vt:lpstr>
      <vt:lpstr>Coordinate Reference Systems (CRS)</vt:lpstr>
      <vt:lpstr>CRS Example</vt:lpstr>
      <vt:lpstr>Some Essential R Packages</vt:lpstr>
      <vt:lpstr>Features and Attribute Data</vt:lpstr>
      <vt:lpstr>Attribute Data</vt:lpstr>
      <vt:lpstr>Attribute Table</vt:lpstr>
      <vt:lpstr>Attribute Data; Extract, Transform, Load</vt:lpstr>
      <vt:lpstr>Attribute Data Workflow</vt:lpstr>
      <vt:lpstr>Statistical Maps &amp; Thematic Mapping</vt:lpstr>
      <vt:lpstr>Distribution Maps</vt:lpstr>
      <vt:lpstr>Equal Interval</vt:lpstr>
      <vt:lpstr>Quantile Map</vt:lpstr>
      <vt:lpstr>Boxplot Map</vt:lpstr>
      <vt:lpstr>IQR Map</vt:lpstr>
      <vt:lpstr>Standard Deviation Map</vt:lpstr>
      <vt:lpstr>Color Ramps</vt:lpstr>
      <vt:lpstr>Color Ramps Best Practices</vt:lpstr>
      <vt:lpstr>Color Ramp Example</vt:lpstr>
      <vt:lpstr>Vector Attribute Operations 1</vt:lpstr>
      <vt:lpstr>Subsetting</vt:lpstr>
      <vt:lpstr>Chaining Operations with Pipes (Ref.)</vt:lpstr>
      <vt:lpstr>Vector Attribute Operations 2</vt:lpstr>
      <vt:lpstr>Aggregation</vt:lpstr>
      <vt:lpstr>Vector Attribute Operations 3</vt:lpstr>
      <vt:lpstr>Attribute Joins</vt:lpstr>
      <vt:lpstr>Vector Attribute Operations 4</vt:lpstr>
      <vt:lpstr>Vector Attribute Operations 4</vt:lpstr>
      <vt:lpstr>Raster Attribute Operations</vt:lpstr>
      <vt:lpstr>Raster Data Operations</vt:lpstr>
      <vt:lpstr>Map Algebra (More Later in Raster Analysis)</vt:lpstr>
      <vt:lpstr>Pre-Processing Workflows</vt:lpstr>
      <vt:lpstr>Spatial ETL Workflow</vt:lpstr>
      <vt:lpstr>Practical Example: Coffee Production</vt:lpstr>
      <vt:lpstr>Best Practices</vt:lpstr>
      <vt:lpstr>Common Pitfalls</vt:lpstr>
      <vt:lpstr>Questions to Practice</vt:lpstr>
      <vt:lpstr>Assignment #2 – Objective</vt:lpstr>
      <vt:lpstr>Assignment #2 – Background</vt:lpstr>
      <vt:lpstr>Assignment #2 – Part 1</vt:lpstr>
      <vt:lpstr>Assignment #2 – Part 2</vt:lpstr>
      <vt:lpstr>Assignment #2 – Hints 1</vt:lpstr>
      <vt:lpstr>Assignment #2 – Part 3</vt:lpstr>
      <vt:lpstr>Assignment #2 – Hints 2</vt:lpstr>
      <vt:lpstr>Assignment #2 – Part 4</vt:lpstr>
      <vt:lpstr>Assignment #2 – Hints 3</vt:lpstr>
      <vt:lpstr>Assignment #2 – Part 5</vt:lpstr>
      <vt:lpstr>Assignment #2 – Hints 4</vt:lpstr>
      <vt:lpstr>Assignment #2 – Part 6</vt:lpstr>
      <vt:lpstr>Appendix Geographic Data &amp; Spatial ETL with Python Attribute Operations 1</vt:lpstr>
      <vt:lpstr>Attribute Operations 2</vt:lpstr>
      <vt:lpstr>Attribute Operations 3</vt:lpstr>
      <vt:lpstr>Attribute Operations 4</vt:lpstr>
      <vt:lpstr>Attribute Operations 5</vt:lpstr>
    </vt:vector>
  </TitlesOfParts>
  <Manager/>
  <Company>TAMU</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Alexander Abuabara</dc:creator>
  <cp:keywords/>
  <dc:description/>
  <cp:lastModifiedBy>Abuabara, Alexander</cp:lastModifiedBy>
  <cp:revision>156</cp:revision>
  <dcterms:created xsi:type="dcterms:W3CDTF">2026-01-28T15:14:05Z</dcterms:created>
  <dcterms:modified xsi:type="dcterms:W3CDTF">2026-02-02T21:13:15Z</dcterms:modified>
  <cp:category/>
</cp:coreProperties>
</file>