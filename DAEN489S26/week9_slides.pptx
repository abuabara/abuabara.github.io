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8"/>
  </p:notesMasterIdLst>
  <p:sldIdLst>
    <p:sldId id="256" r:id="rId2"/>
    <p:sldId id="290" r:id="rId3"/>
    <p:sldId id="278" r:id="rId4"/>
    <p:sldId id="289" r:id="rId5"/>
    <p:sldId id="267" r:id="rId6"/>
    <p:sldId id="268" r:id="rId7"/>
    <p:sldId id="349" r:id="rId8"/>
    <p:sldId id="274" r:id="rId9"/>
    <p:sldId id="275" r:id="rId10"/>
    <p:sldId id="276" r:id="rId11"/>
    <p:sldId id="279" r:id="rId12"/>
    <p:sldId id="280" r:id="rId13"/>
    <p:sldId id="282" r:id="rId14"/>
    <p:sldId id="281" r:id="rId15"/>
    <p:sldId id="288" r:id="rId16"/>
    <p:sldId id="292" r:id="rId17"/>
    <p:sldId id="285" r:id="rId18"/>
    <p:sldId id="286" r:id="rId19"/>
    <p:sldId id="293" r:id="rId20"/>
    <p:sldId id="272" r:id="rId21"/>
    <p:sldId id="277" r:id="rId22"/>
    <p:sldId id="295" r:id="rId23"/>
    <p:sldId id="348" r:id="rId24"/>
    <p:sldId id="347" r:id="rId25"/>
    <p:sldId id="294" r:id="rId26"/>
    <p:sldId id="324" r:id="rId27"/>
    <p:sldId id="325" r:id="rId28"/>
    <p:sldId id="326" r:id="rId29"/>
    <p:sldId id="350" r:id="rId30"/>
    <p:sldId id="334" r:id="rId31"/>
    <p:sldId id="335" r:id="rId32"/>
    <p:sldId id="336" r:id="rId33"/>
    <p:sldId id="340" r:id="rId34"/>
    <p:sldId id="342" r:id="rId35"/>
    <p:sldId id="341" r:id="rId36"/>
    <p:sldId id="346" r:id="rId3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129"/>
    <p:restoredTop sz="96018"/>
  </p:normalViewPr>
  <p:slideViewPr>
    <p:cSldViewPr snapToGrid="0">
      <p:cViewPr varScale="1">
        <p:scale>
          <a:sx n="113" d="100"/>
          <a:sy n="113" d="100"/>
        </p:scale>
        <p:origin x="13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2F70FD-45DF-D14B-B6FE-A6D04F2C79F0}" type="datetimeFigureOut">
              <a:rPr lang="en-US" smtClean="0"/>
              <a:t>3/19/26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5C4083-6C9E-084E-A27C-A5BB2AE87D4A}" type="slidenum">
              <a:rPr lang="en-US" smtClean="0"/>
              <a:t>‹#›</a:t>
            </a:fld>
            <a:endParaRPr lang="en-US"/>
          </a:p>
        </p:txBody>
      </p:sp>
    </p:spTree>
    <p:extLst>
      <p:ext uri="{BB962C8B-B14F-4D97-AF65-F5344CB8AC3E}">
        <p14:creationId xmlns:p14="http://schemas.microsoft.com/office/powerpoint/2010/main" val="3027613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122363"/>
            <a:ext cx="8229600" cy="2387600"/>
          </a:xfrm>
        </p:spPr>
        <p:txBody>
          <a:bodyPr anchor="b"/>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457199" y="3602038"/>
            <a:ext cx="822959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A31D44-236A-C843-8182-5704827BA0F6}" type="datetime1">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029759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665A892-01FD-2F41-809C-F890B92419CA}" type="datetime1">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2960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1709739"/>
            <a:ext cx="8229600" cy="2852737"/>
          </a:xfrm>
        </p:spPr>
        <p:txBody>
          <a:bodyPr anchor="b"/>
          <a:lstStyle>
            <a:lvl1pPr>
              <a:defRPr sz="4800"/>
            </a:lvl1pPr>
          </a:lstStyle>
          <a:p>
            <a:r>
              <a:rPr lang="en-US"/>
              <a:t>Click to edit Master title style</a:t>
            </a:r>
            <a:endParaRPr lang="en-US" dirty="0"/>
          </a:p>
        </p:txBody>
      </p:sp>
      <p:sp>
        <p:nvSpPr>
          <p:cNvPr id="3" name="Text Placeholder 2"/>
          <p:cNvSpPr>
            <a:spLocks noGrp="1"/>
          </p:cNvSpPr>
          <p:nvPr>
            <p:ph type="body" idx="1"/>
          </p:nvPr>
        </p:nvSpPr>
        <p:spPr>
          <a:xfrm>
            <a:off x="457200" y="4589464"/>
            <a:ext cx="8229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BA69A6F-ACD5-994F-B247-654BDC891833}" type="datetime1">
              <a:rPr lang="en-US" smtClean="0"/>
              <a:t>3/19/26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4583832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596072"/>
            <a:ext cx="4057650" cy="45808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596072"/>
            <a:ext cx="4057650" cy="4580891"/>
          </a:xfrm>
          <a:solidFill>
            <a:srgbClr val="002060"/>
          </a:solidFill>
        </p:spPr>
        <p:txBody>
          <a:bodyPr/>
          <a:lstStyle>
            <a:lvl1pPr>
              <a:buNone/>
              <a:defRPr sz="1600" b="1">
                <a:solidFill>
                  <a:schemeClr val="bg1"/>
                </a:solidFill>
                <a:latin typeface="Consolas" panose="020B0609020204030204" pitchFamily="49" charset="0"/>
                <a:cs typeface="Consolas" panose="020B0609020204030204" pitchFamily="49" charset="0"/>
              </a:defRPr>
            </a:lvl1pPr>
            <a:lvl2pPr>
              <a:buNone/>
              <a:defRPr sz="1600" b="1">
                <a:latin typeface="Consolas" panose="020B0609020204030204" pitchFamily="49" charset="0"/>
                <a:cs typeface="Consolas" panose="020B0609020204030204" pitchFamily="49" charset="0"/>
              </a:defRPr>
            </a:lvl2pPr>
            <a:lvl3pPr>
              <a:defRPr sz="1600" b="1">
                <a:latin typeface="Consolas" panose="020B0609020204030204" pitchFamily="49" charset="0"/>
                <a:cs typeface="Consolas" panose="020B0609020204030204" pitchFamily="49" charset="0"/>
              </a:defRPr>
            </a:lvl3pPr>
            <a:lvl4pPr>
              <a:defRPr sz="1600" b="1">
                <a:latin typeface="Consolas" panose="020B0609020204030204" pitchFamily="49" charset="0"/>
                <a:cs typeface="Consolas" panose="020B0609020204030204" pitchFamily="49" charset="0"/>
              </a:defRPr>
            </a:lvl4pPr>
            <a:lvl5pPr>
              <a:defRPr sz="1600" b="1">
                <a:latin typeface="Consolas" panose="020B0609020204030204" pitchFamily="49" charset="0"/>
                <a:cs typeface="Consolas" panose="020B0609020204030204" pitchFamily="49" charset="0"/>
              </a:defRPr>
            </a:lvl5pPr>
          </a:lstStyle>
          <a:p>
            <a:pPr lvl="0"/>
            <a:r>
              <a:rPr lang="en-US"/>
              <a:t>Click to edit Master text styles</a:t>
            </a:r>
          </a:p>
        </p:txBody>
      </p:sp>
      <p:sp>
        <p:nvSpPr>
          <p:cNvPr id="5" name="Date Placeholder 4"/>
          <p:cNvSpPr>
            <a:spLocks noGrp="1"/>
          </p:cNvSpPr>
          <p:nvPr>
            <p:ph type="dt" sz="half" idx="10"/>
          </p:nvPr>
        </p:nvSpPr>
        <p:spPr/>
        <p:txBody>
          <a:bodyPr/>
          <a:lstStyle/>
          <a:p>
            <a:fld id="{2A4A7175-78AB-A74E-9ECE-39FF5F899C02}" type="datetime1">
              <a:rPr lang="en-US" smtClean="0"/>
              <a:t>3/19/26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15254860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6"/>
            <a:ext cx="8229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457200" y="1681163"/>
            <a:ext cx="4040982"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396932"/>
            <a:ext cx="4040982" cy="3792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4057650" cy="549081"/>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396932"/>
            <a:ext cx="4057650" cy="3792731"/>
          </a:xfrm>
          <a:solidFill>
            <a:srgbClr val="002060"/>
          </a:solidFill>
        </p:spPr>
        <p:txBody>
          <a:bodyPr/>
          <a:lstStyle>
            <a:lvl1pPr>
              <a:buNone/>
              <a:defRPr sz="1600">
                <a:solidFill>
                  <a:schemeClr val="bg1"/>
                </a:solidFill>
                <a:latin typeface="Consolas" panose="020B0609020204030204" pitchFamily="49" charset="0"/>
                <a:cs typeface="Consolas" panose="020B0609020204030204" pitchFamily="49" charset="0"/>
              </a:defRPr>
            </a:lvl1pPr>
            <a:lvl2pPr>
              <a:defRPr sz="1800">
                <a:solidFill>
                  <a:schemeClr val="bg1"/>
                </a:solidFill>
                <a:latin typeface="Consolas" panose="020B0609020204030204" pitchFamily="49" charset="0"/>
                <a:cs typeface="Consolas" panose="020B0609020204030204" pitchFamily="49" charset="0"/>
              </a:defRPr>
            </a:lvl2pPr>
            <a:lvl3pPr>
              <a:defRPr sz="1800">
                <a:solidFill>
                  <a:schemeClr val="bg1"/>
                </a:solidFill>
                <a:latin typeface="Consolas" panose="020B0609020204030204" pitchFamily="49" charset="0"/>
                <a:cs typeface="Consolas" panose="020B0609020204030204" pitchFamily="49" charset="0"/>
              </a:defRPr>
            </a:lvl3pPr>
            <a:lvl4pPr>
              <a:defRPr sz="1800">
                <a:solidFill>
                  <a:schemeClr val="bg1"/>
                </a:solidFill>
                <a:latin typeface="Consolas" panose="020B0609020204030204" pitchFamily="49" charset="0"/>
                <a:cs typeface="Consolas" panose="020B0609020204030204" pitchFamily="49" charset="0"/>
              </a:defRPr>
            </a:lvl4pPr>
            <a:lvl5pPr>
              <a:defRPr sz="1800">
                <a:solidFill>
                  <a:schemeClr val="bg1"/>
                </a:solidFill>
                <a:latin typeface="Consolas" panose="020B0609020204030204" pitchFamily="49" charset="0"/>
                <a:cs typeface="Consolas" panose="020B0609020204030204" pitchFamily="49" charset="0"/>
              </a:defRPr>
            </a:lvl5pPr>
          </a:lstStyle>
          <a:p>
            <a:pPr lvl="0"/>
            <a:r>
              <a:rPr lang="en-US"/>
              <a:t>Click to edit Master text styles</a:t>
            </a:r>
          </a:p>
        </p:txBody>
      </p:sp>
      <p:sp>
        <p:nvSpPr>
          <p:cNvPr id="7" name="Date Placeholder 6"/>
          <p:cNvSpPr>
            <a:spLocks noGrp="1"/>
          </p:cNvSpPr>
          <p:nvPr>
            <p:ph type="dt" sz="half" idx="10"/>
          </p:nvPr>
        </p:nvSpPr>
        <p:spPr/>
        <p:txBody>
          <a:bodyPr/>
          <a:lstStyle/>
          <a:p>
            <a:fld id="{9B54AD2F-BBEA-2A45-A0B9-5B838D8041BF}" type="datetime1">
              <a:rPr lang="en-US" smtClean="0"/>
              <a:t>3/19/26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4260088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2481B88-FE34-1E45-886A-BE4F9C9C06A2}" type="datetime1">
              <a:rPr lang="en-US" smtClean="0"/>
              <a:t>3/19/26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3871247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1EEEFD-B4DB-C047-A842-8842BF21D202}" type="datetime1">
              <a:rPr lang="en-US" smtClean="0"/>
              <a:t>3/19/26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43C75-1924-D247-85A3-0CB62E67E5D1}" type="slidenum">
              <a:rPr lang="en-US" smtClean="0"/>
              <a:t>‹#›</a:t>
            </a:fld>
            <a:endParaRPr lang="en-US"/>
          </a:p>
        </p:txBody>
      </p:sp>
    </p:spTree>
    <p:extLst>
      <p:ext uri="{BB962C8B-B14F-4D97-AF65-F5344CB8AC3E}">
        <p14:creationId xmlns:p14="http://schemas.microsoft.com/office/powerpoint/2010/main" val="73421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36524"/>
            <a:ext cx="8229600" cy="128016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57200" y="1600517"/>
            <a:ext cx="8229600"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6356507"/>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3150E4-AE27-B545-A133-8B8C18F4DB12}" type="datetime1">
              <a:rPr lang="en-US" smtClean="0"/>
              <a:t>3/19/26</a:t>
            </a:fld>
            <a:endParaRPr lang="en-US"/>
          </a:p>
        </p:txBody>
      </p:sp>
      <p:sp>
        <p:nvSpPr>
          <p:cNvPr id="5" name="Footer Placeholder 4"/>
          <p:cNvSpPr>
            <a:spLocks noGrp="1"/>
          </p:cNvSpPr>
          <p:nvPr>
            <p:ph type="ftr" sz="quarter" idx="3"/>
          </p:nvPr>
        </p:nvSpPr>
        <p:spPr>
          <a:xfrm>
            <a:off x="2743200" y="6356351"/>
            <a:ext cx="36576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62940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0343C75-1924-D247-85A3-0CB62E67E5D1}" type="slidenum">
              <a:rPr lang="en-US" smtClean="0"/>
              <a:t>‹#›</a:t>
            </a:fld>
            <a:endParaRPr lang="en-US"/>
          </a:p>
        </p:txBody>
      </p:sp>
    </p:spTree>
    <p:extLst>
      <p:ext uri="{BB962C8B-B14F-4D97-AF65-F5344CB8AC3E}">
        <p14:creationId xmlns:p14="http://schemas.microsoft.com/office/powerpoint/2010/main" val="24234336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hyperlink" Target="https://en.wikipedia.org/wiki/EPSG_Geodetic_Parameter_Dataset" TargetMode="External"/><Relationship Id="rId5" Type="http://schemas.microsoft.com/office/2007/relationships/hdphoto" Target="../media/hdphoto2.wdp"/><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link.springer.com/book/10.1007/0-387-28695-0"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hyperlink" Target="https://s2geometry.io/"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s2geometry.io/"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pmassicotte.com/posts/2021-11-12-choosing-the-right-projection/index.html" TargetMode="External"/><Relationship Id="rId2" Type="http://schemas.openxmlformats.org/officeDocument/2006/relationships/hyperlink" Target="https://github.com/walkerke/crsuggest" TargetMode="External"/><Relationship Id="rId1" Type="http://schemas.openxmlformats.org/officeDocument/2006/relationships/slideLayout" Target="../slideLayouts/slideLayout4.xml"/><Relationship Id="rId5" Type="http://schemas.openxmlformats.org/officeDocument/2006/relationships/hyperlink" Target="https://en.wikipedia.org/wiki/Map_projection"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sv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landscan.ornl.gov/"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1E524-E5FF-51D1-243B-26982FBA4E2C}"/>
              </a:ext>
            </a:extLst>
          </p:cNvPr>
          <p:cNvSpPr>
            <a:spLocks noGrp="1"/>
          </p:cNvSpPr>
          <p:nvPr>
            <p:ph type="ctrTitle"/>
          </p:nvPr>
        </p:nvSpPr>
        <p:spPr/>
        <p:txBody>
          <a:bodyPr/>
          <a:lstStyle/>
          <a:p>
            <a:r>
              <a:rPr lang="en-US" sz="4000" dirty="0"/>
              <a:t>More Raster, More Vector,</a:t>
            </a:r>
            <a:br>
              <a:rPr lang="en-US" sz="4000" dirty="0"/>
            </a:br>
            <a:r>
              <a:rPr lang="en-US" dirty="0"/>
              <a:t>More Raster-Vector Interactions</a:t>
            </a:r>
          </a:p>
        </p:txBody>
      </p:sp>
      <p:sp>
        <p:nvSpPr>
          <p:cNvPr id="3" name="Subtitle 2">
            <a:extLst>
              <a:ext uri="{FF2B5EF4-FFF2-40B4-BE49-F238E27FC236}">
                <a16:creationId xmlns:a16="http://schemas.microsoft.com/office/drawing/2014/main" id="{D7E24C6C-7F39-D280-5F4E-FDDD50584FA2}"/>
              </a:ext>
            </a:extLst>
          </p:cNvPr>
          <p:cNvSpPr>
            <a:spLocks noGrp="1"/>
          </p:cNvSpPr>
          <p:nvPr>
            <p:ph type="subTitle" idx="1"/>
          </p:nvPr>
        </p:nvSpPr>
        <p:spPr/>
        <p:txBody>
          <a:bodyPr/>
          <a:lstStyle/>
          <a:p>
            <a:r>
              <a:rPr lang="en-US" dirty="0"/>
              <a:t>Alexander Abuabara</a:t>
            </a:r>
          </a:p>
          <a:p>
            <a:r>
              <a:rPr lang="en-US" dirty="0"/>
              <a:t>DAEN 489 ISEN 489 Spring 2026</a:t>
            </a:r>
          </a:p>
        </p:txBody>
      </p:sp>
      <p:pic>
        <p:nvPicPr>
          <p:cNvPr id="4" name="Picture 3">
            <a:extLst>
              <a:ext uri="{FF2B5EF4-FFF2-40B4-BE49-F238E27FC236}">
                <a16:creationId xmlns:a16="http://schemas.microsoft.com/office/drawing/2014/main" id="{1151EB84-04E8-C58A-2147-BF7DB59DD9C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2571748" y="5861278"/>
            <a:ext cx="4000500" cy="762000"/>
          </a:xfrm>
          <a:prstGeom prst="rect">
            <a:avLst/>
          </a:prstGeom>
        </p:spPr>
      </p:pic>
    </p:spTree>
    <p:extLst>
      <p:ext uri="{BB962C8B-B14F-4D97-AF65-F5344CB8AC3E}">
        <p14:creationId xmlns:p14="http://schemas.microsoft.com/office/powerpoint/2010/main" val="3381912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6ED6D-1A1E-EBEB-D82B-BEBBF736288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4B658B3E-AECC-126B-EF47-F45CEF1474D3}"/>
              </a:ext>
            </a:extLst>
          </p:cNvPr>
          <p:cNvSpPr>
            <a:spLocks noGrp="1"/>
          </p:cNvSpPr>
          <p:nvPr>
            <p:ph idx="1"/>
          </p:nvPr>
        </p:nvSpPr>
        <p:spPr/>
        <p:txBody>
          <a:bodyPr>
            <a:normAutofit/>
          </a:bodyPr>
          <a:lstStyle/>
          <a:p>
            <a:r>
              <a:rPr lang="en-US" sz="1800" dirty="0"/>
              <a:t>Three questions that analyze the integration, conversion, and spatial relationships between discrete vector features and continuous raster surfaces.</a:t>
            </a:r>
          </a:p>
          <a:p>
            <a:r>
              <a:rPr lang="en-US" sz="1800" dirty="0"/>
              <a:t>You don't have specific instructions on how to answer each question, but you should use knowledge from the classes.</a:t>
            </a:r>
          </a:p>
          <a:p>
            <a:pPr lvl="1"/>
            <a:r>
              <a:rPr lang="en-US" dirty="0"/>
              <a:t>One of your goals is to create the data analysis workflow and be able to explain it with a graph, diagram, or pseudo-code.</a:t>
            </a:r>
          </a:p>
          <a:p>
            <a:r>
              <a:rPr lang="en-US" sz="1800" b="1" dirty="0"/>
              <a:t>Q1</a:t>
            </a:r>
            <a:r>
              <a:rPr lang="en-US" sz="1800" dirty="0"/>
              <a:t>: Verify a possible internet hoax</a:t>
            </a:r>
          </a:p>
          <a:p>
            <a:r>
              <a:rPr lang="en-US" sz="1800" b="1" dirty="0"/>
              <a:t>Q2</a:t>
            </a:r>
            <a:r>
              <a:rPr lang="en-US" sz="1800" dirty="0"/>
              <a:t>: Estimate snacks needed</a:t>
            </a:r>
          </a:p>
          <a:p>
            <a:r>
              <a:rPr lang="en-US" sz="1800" b="1" dirty="0"/>
              <a:t>Q3</a:t>
            </a:r>
            <a:r>
              <a:rPr lang="en-US" sz="1800" dirty="0"/>
              <a:t>: Maybe a more accurate estimate of snacks</a:t>
            </a:r>
          </a:p>
          <a:p>
            <a:endParaRPr lang="en-US" sz="1800" dirty="0"/>
          </a:p>
        </p:txBody>
      </p:sp>
      <p:sp>
        <p:nvSpPr>
          <p:cNvPr id="4" name="Slide Number Placeholder 3">
            <a:extLst>
              <a:ext uri="{FF2B5EF4-FFF2-40B4-BE49-F238E27FC236}">
                <a16:creationId xmlns:a16="http://schemas.microsoft.com/office/drawing/2014/main" id="{121C09AB-434D-F294-D50D-B6213F241895}"/>
              </a:ext>
            </a:extLst>
          </p:cNvPr>
          <p:cNvSpPr>
            <a:spLocks noGrp="1"/>
          </p:cNvSpPr>
          <p:nvPr>
            <p:ph type="sldNum" sz="quarter" idx="12"/>
          </p:nvPr>
        </p:nvSpPr>
        <p:spPr/>
        <p:txBody>
          <a:bodyPr/>
          <a:lstStyle/>
          <a:p>
            <a:fld id="{C0343C75-1924-D247-85A3-0CB62E67E5D1}" type="slidenum">
              <a:rPr lang="en-US" smtClean="0"/>
              <a:t>2</a:t>
            </a:fld>
            <a:endParaRPr lang="en-US"/>
          </a:p>
        </p:txBody>
      </p:sp>
    </p:spTree>
    <p:extLst>
      <p:ext uri="{BB962C8B-B14F-4D97-AF65-F5344CB8AC3E}">
        <p14:creationId xmlns:p14="http://schemas.microsoft.com/office/powerpoint/2010/main" val="378023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976A22-CB8F-0019-091E-420AC1BCB046}"/>
              </a:ext>
            </a:extLst>
          </p:cNvPr>
          <p:cNvSpPr>
            <a:spLocks noGrp="1"/>
          </p:cNvSpPr>
          <p:nvPr>
            <p:ph idx="1"/>
          </p:nvPr>
        </p:nvSpPr>
        <p:spPr>
          <a:xfrm>
            <a:off x="457200" y="902043"/>
            <a:ext cx="8229600" cy="5270474"/>
          </a:xfrm>
        </p:spPr>
        <p:txBody>
          <a:bodyPr>
            <a:normAutofit/>
          </a:bodyPr>
          <a:lstStyle/>
          <a:p>
            <a:pPr marL="0" indent="0" algn="ctr">
              <a:buNone/>
            </a:pPr>
            <a:r>
              <a:rPr lang="en-US" sz="1800" dirty="0"/>
              <a:t>The other day I saw the map below on the internet (reddit).</a:t>
            </a:r>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endParaRPr lang="en-US" sz="1800" dirty="0"/>
          </a:p>
          <a:p>
            <a:r>
              <a:rPr lang="en-US" sz="1800" dirty="0"/>
              <a:t>Q1: Using the tools you have learned so far,</a:t>
            </a:r>
            <a:br>
              <a:rPr lang="en-US" sz="1800" dirty="0"/>
            </a:br>
            <a:r>
              <a:rPr lang="en-US" sz="1800" dirty="0"/>
              <a:t>		can you roughly verify if it is a hoax or real?</a:t>
            </a:r>
          </a:p>
          <a:p>
            <a:pPr lvl="1"/>
            <a:r>
              <a:rPr lang="en-US" dirty="0"/>
              <a:t>Provide a brief commentary and your conclusion (hoax or real).</a:t>
            </a:r>
          </a:p>
        </p:txBody>
      </p:sp>
      <p:sp>
        <p:nvSpPr>
          <p:cNvPr id="4" name="Slide Number Placeholder 3">
            <a:extLst>
              <a:ext uri="{FF2B5EF4-FFF2-40B4-BE49-F238E27FC236}">
                <a16:creationId xmlns:a16="http://schemas.microsoft.com/office/drawing/2014/main" id="{0F3CFEE3-8741-D2BB-8327-A0EA1B7B1767}"/>
              </a:ext>
            </a:extLst>
          </p:cNvPr>
          <p:cNvSpPr>
            <a:spLocks noGrp="1"/>
          </p:cNvSpPr>
          <p:nvPr>
            <p:ph type="sldNum" sz="quarter" idx="12"/>
          </p:nvPr>
        </p:nvSpPr>
        <p:spPr/>
        <p:txBody>
          <a:bodyPr/>
          <a:lstStyle/>
          <a:p>
            <a:fld id="{C0343C75-1924-D247-85A3-0CB62E67E5D1}" type="slidenum">
              <a:rPr lang="en-US" smtClean="0"/>
              <a:t>3</a:t>
            </a:fld>
            <a:endParaRPr lang="en-US" dirty="0"/>
          </a:p>
        </p:txBody>
      </p:sp>
      <p:pic>
        <p:nvPicPr>
          <p:cNvPr id="6" name="Picture 5">
            <a:extLst>
              <a:ext uri="{FF2B5EF4-FFF2-40B4-BE49-F238E27FC236}">
                <a16:creationId xmlns:a16="http://schemas.microsoft.com/office/drawing/2014/main" id="{A2D01DA7-E0D6-2120-ECD9-A6369A4C6D6A}"/>
              </a:ext>
            </a:extLst>
          </p:cNvPr>
          <p:cNvPicPr>
            <a:picLocks noChangeAspect="1"/>
          </p:cNvPicPr>
          <p:nvPr/>
        </p:nvPicPr>
        <p:blipFill>
          <a:blip r:embed="rId2"/>
          <a:stretch>
            <a:fillRect/>
          </a:stretch>
        </p:blipFill>
        <p:spPr>
          <a:xfrm>
            <a:off x="2402141" y="1721152"/>
            <a:ext cx="4339718" cy="2518108"/>
          </a:xfrm>
          <a:prstGeom prst="rect">
            <a:avLst/>
          </a:prstGeom>
        </p:spPr>
      </p:pic>
    </p:spTree>
    <p:extLst>
      <p:ext uri="{BB962C8B-B14F-4D97-AF65-F5344CB8AC3E}">
        <p14:creationId xmlns:p14="http://schemas.microsoft.com/office/powerpoint/2010/main" val="2934558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8462B-FE95-C995-5793-641C9CFD5004}"/>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10AE6ACF-DCB6-6067-BEA5-08FA26DE0864}"/>
              </a:ext>
            </a:extLst>
          </p:cNvPr>
          <p:cNvSpPr>
            <a:spLocks noGrp="1"/>
          </p:cNvSpPr>
          <p:nvPr>
            <p:ph idx="1"/>
          </p:nvPr>
        </p:nvSpPr>
        <p:spPr/>
        <p:txBody>
          <a:bodyPr>
            <a:normAutofit/>
          </a:bodyPr>
          <a:lstStyle/>
          <a:p>
            <a:r>
              <a:rPr lang="en-US" sz="1800" dirty="0"/>
              <a:t>Geographic vs Projected Coordinate Systems:</a:t>
            </a:r>
          </a:p>
          <a:p>
            <a:pPr lvl="1"/>
            <a:r>
              <a:rPr lang="en-US" dirty="0"/>
              <a:t>A GCS is round, and so records locations in angular units (usually degrees).</a:t>
            </a:r>
          </a:p>
          <a:p>
            <a:pPr lvl="1"/>
            <a:r>
              <a:rPr lang="en-US" dirty="0"/>
              <a:t>A PCS is flat, so it records locations in linear units (usually meters).</a:t>
            </a:r>
          </a:p>
        </p:txBody>
      </p:sp>
      <p:sp>
        <p:nvSpPr>
          <p:cNvPr id="4" name="Slide Number Placeholder 3">
            <a:extLst>
              <a:ext uri="{FF2B5EF4-FFF2-40B4-BE49-F238E27FC236}">
                <a16:creationId xmlns:a16="http://schemas.microsoft.com/office/drawing/2014/main" id="{1D406B66-4D8C-DEA9-521C-07648E87E786}"/>
              </a:ext>
            </a:extLst>
          </p:cNvPr>
          <p:cNvSpPr>
            <a:spLocks noGrp="1"/>
          </p:cNvSpPr>
          <p:nvPr>
            <p:ph type="sldNum" sz="quarter" idx="12"/>
          </p:nvPr>
        </p:nvSpPr>
        <p:spPr/>
        <p:txBody>
          <a:bodyPr/>
          <a:lstStyle/>
          <a:p>
            <a:fld id="{C0343C75-1924-D247-85A3-0CB62E67E5D1}" type="slidenum">
              <a:rPr lang="en-US" smtClean="0"/>
              <a:t>4</a:t>
            </a:fld>
            <a:endParaRPr lang="en-US"/>
          </a:p>
        </p:txBody>
      </p:sp>
      <p:pic>
        <p:nvPicPr>
          <p:cNvPr id="6" name="Picture 5">
            <a:extLst>
              <a:ext uri="{FF2B5EF4-FFF2-40B4-BE49-F238E27FC236}">
                <a16:creationId xmlns:a16="http://schemas.microsoft.com/office/drawing/2014/main" id="{50761B65-766B-B01B-4D4C-801243593F6B}"/>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tretch>
            <a:fillRect/>
          </a:stretch>
        </p:blipFill>
        <p:spPr>
          <a:xfrm>
            <a:off x="4659090" y="2578690"/>
            <a:ext cx="3266898" cy="1902561"/>
          </a:xfrm>
          <a:prstGeom prst="rect">
            <a:avLst/>
          </a:prstGeom>
        </p:spPr>
      </p:pic>
      <p:pic>
        <p:nvPicPr>
          <p:cNvPr id="5" name="Picture 4">
            <a:extLst>
              <a:ext uri="{FF2B5EF4-FFF2-40B4-BE49-F238E27FC236}">
                <a16:creationId xmlns:a16="http://schemas.microsoft.com/office/drawing/2014/main" id="{EE6CF87B-3B3C-5019-C8A9-AB4C226EAB72}"/>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tretch>
            <a:fillRect/>
          </a:stretch>
        </p:blipFill>
        <p:spPr>
          <a:xfrm>
            <a:off x="1218015" y="2578690"/>
            <a:ext cx="3266897" cy="3255146"/>
          </a:xfrm>
          <a:prstGeom prst="rect">
            <a:avLst/>
          </a:prstGeom>
        </p:spPr>
      </p:pic>
      <p:sp>
        <p:nvSpPr>
          <p:cNvPr id="7" name="TextBox 6">
            <a:extLst>
              <a:ext uri="{FF2B5EF4-FFF2-40B4-BE49-F238E27FC236}">
                <a16:creationId xmlns:a16="http://schemas.microsoft.com/office/drawing/2014/main" id="{9AA899B2-4A2B-0448-2BCE-81E9B28A2E3A}"/>
              </a:ext>
            </a:extLst>
          </p:cNvPr>
          <p:cNvSpPr txBox="1"/>
          <p:nvPr/>
        </p:nvSpPr>
        <p:spPr>
          <a:xfrm>
            <a:off x="4659090" y="4481251"/>
            <a:ext cx="3266895" cy="1815882"/>
          </a:xfrm>
          <a:prstGeom prst="rect">
            <a:avLst/>
          </a:prstGeom>
          <a:noFill/>
        </p:spPr>
        <p:txBody>
          <a:bodyPr wrap="square" rtlCol="0">
            <a:spAutoFit/>
          </a:bodyPr>
          <a:lstStyle/>
          <a:p>
            <a:r>
              <a:rPr lang="en-US" sz="1400" dirty="0"/>
              <a:t>Notes:</a:t>
            </a:r>
          </a:p>
          <a:p>
            <a:pPr marL="179388" indent="-179388">
              <a:buFont typeface="Arial" panose="020B0604020202020204" pitchFamily="34" charset="0"/>
              <a:buChar char="•"/>
            </a:pPr>
            <a:r>
              <a:rPr lang="en-US" sz="1400" dirty="0"/>
              <a:t>WKID (Well-Known ID) is a unique identifier number for the PCS, defined by its authority.</a:t>
            </a:r>
          </a:p>
          <a:p>
            <a:pPr marL="179388" indent="-179388">
              <a:buFont typeface="Arial" panose="020B0604020202020204" pitchFamily="34" charset="0"/>
              <a:buChar char="•"/>
            </a:pPr>
            <a:r>
              <a:rPr lang="en-US" sz="1400" dirty="0"/>
              <a:t>For example, </a:t>
            </a:r>
            <a:r>
              <a:rPr lang="en-US" sz="1400" dirty="0">
                <a:hlinkClick r:id="rId6"/>
              </a:rPr>
              <a:t>EPSG</a:t>
            </a:r>
            <a:r>
              <a:rPr lang="en-US" sz="1400" dirty="0"/>
              <a:t> (European Petroleum Survey Group).</a:t>
            </a:r>
          </a:p>
          <a:p>
            <a:pPr marL="179388" indent="-179388">
              <a:buFont typeface="Arial" panose="020B0604020202020204" pitchFamily="34" charset="0"/>
              <a:buChar char="•"/>
            </a:pPr>
            <a:r>
              <a:rPr lang="en-US" sz="1400" dirty="0"/>
              <a:t>Coordinates in a PCS are recorded in a linear unit (often meters :)</a:t>
            </a:r>
          </a:p>
        </p:txBody>
      </p:sp>
    </p:spTree>
    <p:extLst>
      <p:ext uri="{BB962C8B-B14F-4D97-AF65-F5344CB8AC3E}">
        <p14:creationId xmlns:p14="http://schemas.microsoft.com/office/powerpoint/2010/main" val="2777805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1C294-4581-C552-91DE-3B4FCF37D0D2}"/>
              </a:ext>
            </a:extLst>
          </p:cNvPr>
          <p:cNvSpPr>
            <a:spLocks noGrp="1"/>
          </p:cNvSpPr>
          <p:nvPr>
            <p:ph type="title"/>
          </p:nvPr>
        </p:nvSpPr>
        <p:spPr/>
        <p:txBody>
          <a:bodyPr/>
          <a:lstStyle/>
          <a:p>
            <a:r>
              <a:rPr lang="en-US" dirty="0"/>
              <a:t>GPS Coordinate</a:t>
            </a:r>
          </a:p>
        </p:txBody>
      </p:sp>
      <p:sp>
        <p:nvSpPr>
          <p:cNvPr id="4" name="Content Placeholder 3">
            <a:extLst>
              <a:ext uri="{FF2B5EF4-FFF2-40B4-BE49-F238E27FC236}">
                <a16:creationId xmlns:a16="http://schemas.microsoft.com/office/drawing/2014/main" id="{3BCE5080-553D-E9BB-B541-A344CD71E9B5}"/>
              </a:ext>
            </a:extLst>
          </p:cNvPr>
          <p:cNvSpPr>
            <a:spLocks noGrp="1"/>
          </p:cNvSpPr>
          <p:nvPr>
            <p:ph sz="half" idx="1"/>
          </p:nvPr>
        </p:nvSpPr>
        <p:spPr>
          <a:xfrm>
            <a:off x="457200" y="1596072"/>
            <a:ext cx="4057650" cy="4849884"/>
          </a:xfrm>
        </p:spPr>
        <p:txBody>
          <a:bodyPr>
            <a:normAutofit/>
          </a:bodyPr>
          <a:lstStyle/>
          <a:p>
            <a:r>
              <a:rPr lang="en-US" sz="1800" dirty="0"/>
              <a:t>Identifies a location, 2 values:</a:t>
            </a:r>
          </a:p>
          <a:p>
            <a:pPr lvl="1"/>
            <a:r>
              <a:rPr lang="en-US" b="1" dirty="0"/>
              <a:t>Longitude</a:t>
            </a:r>
            <a:r>
              <a:rPr lang="en-US" dirty="0"/>
              <a:t>: East–West location</a:t>
            </a:r>
          </a:p>
          <a:p>
            <a:pPr lvl="1"/>
            <a:r>
              <a:rPr lang="en-US" b="1" dirty="0"/>
              <a:t>Latitude</a:t>
            </a:r>
            <a:r>
              <a:rPr lang="en-US" dirty="0"/>
              <a:t>: North–South location</a:t>
            </a:r>
          </a:p>
          <a:p>
            <a:r>
              <a:rPr lang="en-US" sz="1800" dirty="0"/>
              <a:t>Coordinate order in most GIS systems: (longitude, latitude)</a:t>
            </a:r>
          </a:p>
          <a:p>
            <a:r>
              <a:rPr lang="en-US" sz="1800" dirty="0"/>
              <a:t>Common beginner mistake: reversing coordinates.</a:t>
            </a:r>
          </a:p>
          <a:p>
            <a:pPr lvl="1"/>
            <a:r>
              <a:rPr lang="en-US" dirty="0"/>
              <a:t>Example: </a:t>
            </a:r>
            <a:r>
              <a:rPr lang="en-US" b="1" dirty="0"/>
              <a:t>Texas A&amp;M University</a:t>
            </a:r>
            <a:br>
              <a:rPr lang="en-US" dirty="0"/>
            </a:br>
            <a:r>
              <a:rPr lang="en-US" dirty="0"/>
              <a:t>	               -96.3398, 30.6212</a:t>
            </a:r>
          </a:p>
        </p:txBody>
      </p:sp>
      <p:sp>
        <p:nvSpPr>
          <p:cNvPr id="5" name="Content Placeholder 4">
            <a:extLst>
              <a:ext uri="{FF2B5EF4-FFF2-40B4-BE49-F238E27FC236}">
                <a16:creationId xmlns:a16="http://schemas.microsoft.com/office/drawing/2014/main" id="{53650F84-451A-0BDC-5425-71BD0A9F06F5}"/>
              </a:ext>
            </a:extLst>
          </p:cNvPr>
          <p:cNvSpPr>
            <a:spLocks noGrp="1"/>
          </p:cNvSpPr>
          <p:nvPr>
            <p:ph sz="half" idx="2"/>
          </p:nvPr>
        </p:nvSpPr>
        <p:spPr>
          <a:xfrm>
            <a:off x="4629150" y="1596072"/>
            <a:ext cx="4057650" cy="4849883"/>
          </a:xfrm>
        </p:spPr>
        <p:txBody>
          <a:bodyPr>
            <a:normAutofit/>
          </a:bodyPr>
          <a:lstStyle/>
          <a:p>
            <a:pPr>
              <a:lnSpc>
                <a:spcPct val="150000"/>
              </a:lnSpc>
              <a:spcBef>
                <a:spcPts val="0"/>
              </a:spcBef>
            </a:pPr>
            <a:r>
              <a:rPr lang="en-US" sz="1200" dirty="0"/>
              <a:t>library(sf)</a:t>
            </a:r>
          </a:p>
          <a:p>
            <a:pPr>
              <a:lnSpc>
                <a:spcPct val="150000"/>
              </a:lnSpc>
              <a:spcBef>
                <a:spcPts val="0"/>
              </a:spcBef>
            </a:pPr>
            <a:endParaRPr lang="en-US" sz="1200" dirty="0"/>
          </a:p>
          <a:p>
            <a:pPr>
              <a:lnSpc>
                <a:spcPct val="150000"/>
              </a:lnSpc>
              <a:spcBef>
                <a:spcPts val="0"/>
              </a:spcBef>
            </a:pPr>
            <a:r>
              <a:rPr lang="en-US" sz="1200" dirty="0" err="1"/>
              <a:t>lon</a:t>
            </a:r>
            <a:r>
              <a:rPr lang="en-US" sz="1200" dirty="0"/>
              <a:t> &lt;- -96.3398</a:t>
            </a:r>
          </a:p>
          <a:p>
            <a:pPr>
              <a:lnSpc>
                <a:spcPct val="150000"/>
              </a:lnSpc>
              <a:spcBef>
                <a:spcPts val="0"/>
              </a:spcBef>
            </a:pPr>
            <a:r>
              <a:rPr lang="en-US" sz="1200" dirty="0" err="1"/>
              <a:t>lat</a:t>
            </a:r>
            <a:r>
              <a:rPr lang="en-US" sz="1200" dirty="0"/>
              <a:t> &lt;- 30.6212</a:t>
            </a:r>
          </a:p>
          <a:p>
            <a:pPr>
              <a:lnSpc>
                <a:spcPct val="150000"/>
              </a:lnSpc>
              <a:spcBef>
                <a:spcPts val="0"/>
              </a:spcBef>
            </a:pPr>
            <a:endParaRPr lang="en-US" sz="1200" dirty="0"/>
          </a:p>
          <a:p>
            <a:pPr>
              <a:lnSpc>
                <a:spcPct val="150000"/>
              </a:lnSpc>
              <a:spcBef>
                <a:spcPts val="0"/>
              </a:spcBef>
            </a:pPr>
            <a:r>
              <a:rPr lang="en-US" sz="1200" dirty="0">
                <a:solidFill>
                  <a:schemeClr val="accent1">
                    <a:lumMod val="20000"/>
                    <a:lumOff val="80000"/>
                  </a:schemeClr>
                </a:solidFill>
              </a:rPr>
              <a:t># geometry point</a:t>
            </a:r>
          </a:p>
          <a:p>
            <a:pPr>
              <a:lnSpc>
                <a:spcPct val="150000"/>
              </a:lnSpc>
              <a:spcBef>
                <a:spcPts val="0"/>
              </a:spcBef>
            </a:pPr>
            <a:r>
              <a:rPr lang="en-US" sz="1200" dirty="0" err="1"/>
              <a:t>point_geom</a:t>
            </a:r>
            <a:r>
              <a:rPr lang="en-US" sz="1200" dirty="0"/>
              <a:t> &lt;- </a:t>
            </a:r>
            <a:r>
              <a:rPr lang="en-US" sz="1200" dirty="0" err="1"/>
              <a:t>st_point</a:t>
            </a:r>
            <a:r>
              <a:rPr lang="en-US" sz="1200" dirty="0"/>
              <a:t>(c(</a:t>
            </a:r>
            <a:r>
              <a:rPr lang="en-US" sz="1200" dirty="0" err="1"/>
              <a:t>lon</a:t>
            </a:r>
            <a:r>
              <a:rPr lang="en-US" sz="1200" dirty="0"/>
              <a:t>, </a:t>
            </a:r>
            <a:r>
              <a:rPr lang="en-US" sz="1200" dirty="0" err="1"/>
              <a:t>lat</a:t>
            </a:r>
            <a:r>
              <a:rPr lang="en-US" sz="1200" dirty="0"/>
              <a:t>))</a:t>
            </a:r>
          </a:p>
          <a:p>
            <a:pPr>
              <a:lnSpc>
                <a:spcPct val="150000"/>
              </a:lnSpc>
              <a:spcBef>
                <a:spcPts val="0"/>
              </a:spcBef>
            </a:pPr>
            <a:endParaRPr lang="en-US" sz="1200" dirty="0"/>
          </a:p>
          <a:p>
            <a:pPr>
              <a:lnSpc>
                <a:spcPct val="150000"/>
              </a:lnSpc>
              <a:spcBef>
                <a:spcPts val="0"/>
              </a:spcBef>
            </a:pPr>
            <a:r>
              <a:rPr lang="en-US" sz="1200" dirty="0">
                <a:solidFill>
                  <a:schemeClr val="accent1">
                    <a:lumMod val="20000"/>
                    <a:lumOff val="80000"/>
                  </a:schemeClr>
                </a:solidFill>
              </a:rPr>
              <a:t># convert Geometry to an sf object</a:t>
            </a:r>
          </a:p>
          <a:p>
            <a:pPr>
              <a:lnSpc>
                <a:spcPct val="150000"/>
              </a:lnSpc>
              <a:spcBef>
                <a:spcPts val="0"/>
              </a:spcBef>
            </a:pPr>
            <a:r>
              <a:rPr lang="en-US" sz="1200" dirty="0" err="1"/>
              <a:t>point_sf</a:t>
            </a:r>
            <a:r>
              <a:rPr lang="en-US" sz="1200" dirty="0"/>
              <a:t> &lt;- </a:t>
            </a:r>
            <a:r>
              <a:rPr lang="en-US" sz="1200" dirty="0" err="1"/>
              <a:t>st_sf</a:t>
            </a:r>
            <a:r>
              <a:rPr lang="en-US" sz="1200" dirty="0"/>
              <a:t>(</a:t>
            </a:r>
          </a:p>
          <a:p>
            <a:pPr>
              <a:lnSpc>
                <a:spcPct val="150000"/>
              </a:lnSpc>
              <a:spcBef>
                <a:spcPts val="0"/>
              </a:spcBef>
            </a:pPr>
            <a:r>
              <a:rPr lang="en-US" sz="1200" dirty="0"/>
              <a:t>  location = "Texas A&amp;M",</a:t>
            </a:r>
          </a:p>
          <a:p>
            <a:pPr>
              <a:lnSpc>
                <a:spcPct val="150000"/>
              </a:lnSpc>
              <a:spcBef>
                <a:spcPts val="0"/>
              </a:spcBef>
            </a:pPr>
            <a:r>
              <a:rPr lang="en-US" sz="1200" dirty="0"/>
              <a:t>  geometry = </a:t>
            </a:r>
            <a:r>
              <a:rPr lang="en-US" sz="1200" dirty="0" err="1"/>
              <a:t>st_sfc</a:t>
            </a:r>
            <a:r>
              <a:rPr lang="en-US" sz="1200" dirty="0"/>
              <a:t>(</a:t>
            </a:r>
            <a:r>
              <a:rPr lang="en-US" sz="1200" dirty="0" err="1"/>
              <a:t>point_geom</a:t>
            </a:r>
            <a:r>
              <a:rPr lang="en-US" sz="1200" dirty="0"/>
              <a:t>),</a:t>
            </a:r>
          </a:p>
          <a:p>
            <a:pPr>
              <a:lnSpc>
                <a:spcPct val="150000"/>
              </a:lnSpc>
              <a:spcBef>
                <a:spcPts val="0"/>
              </a:spcBef>
            </a:pPr>
            <a:r>
              <a:rPr lang="en-US" sz="1200" dirty="0"/>
              <a:t>  </a:t>
            </a:r>
            <a:r>
              <a:rPr lang="en-US" sz="1200" dirty="0" err="1"/>
              <a:t>crs</a:t>
            </a:r>
            <a:r>
              <a:rPr lang="en-US" sz="1200" dirty="0"/>
              <a:t> = 4326 </a:t>
            </a:r>
            <a:r>
              <a:rPr lang="en-US" sz="1200" dirty="0">
                <a:solidFill>
                  <a:schemeClr val="accent1">
                    <a:lumMod val="20000"/>
                    <a:lumOff val="80000"/>
                  </a:schemeClr>
                </a:solidFill>
              </a:rPr>
              <a:t># standard GPS coordinate system</a:t>
            </a:r>
          </a:p>
          <a:p>
            <a:pPr>
              <a:lnSpc>
                <a:spcPct val="150000"/>
              </a:lnSpc>
              <a:spcBef>
                <a:spcPts val="0"/>
              </a:spcBef>
            </a:pPr>
            <a:r>
              <a:rPr lang="en-US" sz="1200" dirty="0"/>
              <a:t>)</a:t>
            </a:r>
          </a:p>
        </p:txBody>
      </p:sp>
      <p:sp>
        <p:nvSpPr>
          <p:cNvPr id="3" name="Slide Number Placeholder 2">
            <a:extLst>
              <a:ext uri="{FF2B5EF4-FFF2-40B4-BE49-F238E27FC236}">
                <a16:creationId xmlns:a16="http://schemas.microsoft.com/office/drawing/2014/main" id="{DCB5A24C-55BE-3EFA-564F-ABC7E3220DEC}"/>
              </a:ext>
            </a:extLst>
          </p:cNvPr>
          <p:cNvSpPr>
            <a:spLocks noGrp="1"/>
          </p:cNvSpPr>
          <p:nvPr>
            <p:ph type="sldNum" sz="quarter" idx="12"/>
          </p:nvPr>
        </p:nvSpPr>
        <p:spPr/>
        <p:txBody>
          <a:bodyPr/>
          <a:lstStyle/>
          <a:p>
            <a:fld id="{C0343C75-1924-D247-85A3-0CB62E67E5D1}" type="slidenum">
              <a:rPr lang="en-US" smtClean="0"/>
              <a:t>5</a:t>
            </a:fld>
            <a:endParaRPr lang="en-US"/>
          </a:p>
        </p:txBody>
      </p:sp>
    </p:spTree>
    <p:extLst>
      <p:ext uri="{BB962C8B-B14F-4D97-AF65-F5344CB8AC3E}">
        <p14:creationId xmlns:p14="http://schemas.microsoft.com/office/powerpoint/2010/main" val="17963655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09465-012F-A089-D349-89A28169EB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9DBA42-8AE0-2FC5-400A-104ED71B0BA5}"/>
              </a:ext>
            </a:extLst>
          </p:cNvPr>
          <p:cNvSpPr>
            <a:spLocks noGrp="1"/>
          </p:cNvSpPr>
          <p:nvPr>
            <p:ph type="title"/>
          </p:nvPr>
        </p:nvSpPr>
        <p:spPr/>
        <p:txBody>
          <a:bodyPr/>
          <a:lstStyle/>
          <a:p>
            <a:r>
              <a:rPr lang="en-US" dirty="0"/>
              <a:t>Multiple GPS Points</a:t>
            </a:r>
          </a:p>
        </p:txBody>
      </p:sp>
      <p:sp>
        <p:nvSpPr>
          <p:cNvPr id="3" name="Slide Number Placeholder 2">
            <a:extLst>
              <a:ext uri="{FF2B5EF4-FFF2-40B4-BE49-F238E27FC236}">
                <a16:creationId xmlns:a16="http://schemas.microsoft.com/office/drawing/2014/main" id="{73151860-8EF3-C965-DDA7-1A6E74DCA4F3}"/>
              </a:ext>
            </a:extLst>
          </p:cNvPr>
          <p:cNvSpPr>
            <a:spLocks noGrp="1"/>
          </p:cNvSpPr>
          <p:nvPr>
            <p:ph type="sldNum" sz="quarter" idx="12"/>
          </p:nvPr>
        </p:nvSpPr>
        <p:spPr/>
        <p:txBody>
          <a:bodyPr/>
          <a:lstStyle/>
          <a:p>
            <a:fld id="{C0343C75-1924-D247-85A3-0CB62E67E5D1}" type="slidenum">
              <a:rPr lang="en-US" smtClean="0"/>
              <a:t>6</a:t>
            </a:fld>
            <a:endParaRPr lang="en-US"/>
          </a:p>
        </p:txBody>
      </p:sp>
      <p:pic>
        <p:nvPicPr>
          <p:cNvPr id="10" name="Content Placeholder 8">
            <a:extLst>
              <a:ext uri="{FF2B5EF4-FFF2-40B4-BE49-F238E27FC236}">
                <a16:creationId xmlns:a16="http://schemas.microsoft.com/office/drawing/2014/main" id="{88BF43F2-D75A-1CD5-AB53-0E922091F2D0}"/>
              </a:ext>
            </a:extLst>
          </p:cNvPr>
          <p:cNvPicPr>
            <a:picLocks noChangeAspect="1"/>
          </p:cNvPicPr>
          <p:nvPr/>
        </p:nvPicPr>
        <p:blipFill>
          <a:blip r:embed="rId2"/>
          <a:stretch>
            <a:fillRect/>
          </a:stretch>
        </p:blipFill>
        <p:spPr>
          <a:xfrm>
            <a:off x="4629148" y="1595438"/>
            <a:ext cx="3955450" cy="4849883"/>
          </a:xfrm>
          <a:prstGeom prst="rect">
            <a:avLst/>
          </a:prstGeom>
        </p:spPr>
      </p:pic>
      <p:sp>
        <p:nvSpPr>
          <p:cNvPr id="11" name="Content Placeholder 4">
            <a:extLst>
              <a:ext uri="{FF2B5EF4-FFF2-40B4-BE49-F238E27FC236}">
                <a16:creationId xmlns:a16="http://schemas.microsoft.com/office/drawing/2014/main" id="{F261E4A9-5F2B-F624-E9E7-58AA04661134}"/>
              </a:ext>
            </a:extLst>
          </p:cNvPr>
          <p:cNvSpPr txBox="1">
            <a:spLocks/>
          </p:cNvSpPr>
          <p:nvPr/>
        </p:nvSpPr>
        <p:spPr>
          <a:xfrm>
            <a:off x="457200" y="1595438"/>
            <a:ext cx="4057650" cy="4849883"/>
          </a:xfrm>
          <a:prstGeom prst="rect">
            <a:avLst/>
          </a:prstGeom>
          <a:solidFill>
            <a:srgbClr val="002060"/>
          </a:solidFill>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chemeClr val="bg1"/>
                </a:solidFill>
                <a:latin typeface="Consolas" panose="020B0609020204030204" pitchFamily="49" charset="0"/>
                <a:ea typeface="+mn-ea"/>
                <a:cs typeface="Consolas" panose="020B0609020204030204" pitchFamily="49" charset="0"/>
              </a:defRPr>
            </a:lvl1pPr>
            <a:lvl2pPr marL="685800" indent="-22860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Consolas" panose="020B0609020204030204" pitchFamily="49" charset="0"/>
                <a:ea typeface="+mn-ea"/>
                <a:cs typeface="Consolas" panose="020B0609020204030204" pitchFamily="49"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chemeClr val="tx1"/>
                </a:solidFill>
                <a:latin typeface="Consolas" panose="020B0609020204030204" pitchFamily="49" charset="0"/>
                <a:ea typeface="+mn-ea"/>
                <a:cs typeface="Consolas" panose="020B0609020204030204" pitchFamily="49"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tx1"/>
                </a:solidFill>
                <a:latin typeface="Consolas" panose="020B0609020204030204" pitchFamily="49" charset="0"/>
                <a:ea typeface="+mn-ea"/>
                <a:cs typeface="Consolas" panose="020B0609020204030204" pitchFamily="49"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tx1"/>
                </a:solidFill>
                <a:latin typeface="Consolas" panose="020B0609020204030204" pitchFamily="49" charset="0"/>
                <a:ea typeface="+mn-ea"/>
                <a:cs typeface="Consolas" panose="020B0609020204030204" pitchFamily="49"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spcBef>
                <a:spcPts val="0"/>
              </a:spcBef>
            </a:pPr>
            <a:r>
              <a:rPr lang="en-US" sz="1200" dirty="0"/>
              <a:t>locations &lt;- </a:t>
            </a:r>
            <a:r>
              <a:rPr lang="en-US" sz="1200" dirty="0" err="1"/>
              <a:t>data.frame</a:t>
            </a:r>
            <a:r>
              <a:rPr lang="en-US" sz="1200" dirty="0"/>
              <a:t>(</a:t>
            </a:r>
          </a:p>
          <a:p>
            <a:pPr>
              <a:lnSpc>
                <a:spcPct val="150000"/>
              </a:lnSpc>
              <a:spcBef>
                <a:spcPts val="0"/>
              </a:spcBef>
            </a:pPr>
            <a:r>
              <a:rPr lang="en-US" sz="1200" dirty="0"/>
              <a:t>  name = c(</a:t>
            </a:r>
            <a:r>
              <a:rPr lang="en-US" sz="1200" dirty="0">
                <a:solidFill>
                  <a:schemeClr val="accent5">
                    <a:lumMod val="40000"/>
                    <a:lumOff val="60000"/>
                  </a:schemeClr>
                </a:solidFill>
              </a:rPr>
              <a:t>"Texas A&amp;M", "Austin", "Houston"</a:t>
            </a:r>
            <a:r>
              <a:rPr lang="en-US" sz="1200" dirty="0"/>
              <a:t>),</a:t>
            </a:r>
          </a:p>
          <a:p>
            <a:pPr>
              <a:lnSpc>
                <a:spcPct val="150000"/>
              </a:lnSpc>
              <a:spcBef>
                <a:spcPts val="0"/>
              </a:spcBef>
            </a:pPr>
            <a:r>
              <a:rPr lang="en-US" sz="1200" dirty="0"/>
              <a:t>  </a:t>
            </a:r>
            <a:r>
              <a:rPr lang="en-US" sz="1200" dirty="0" err="1"/>
              <a:t>lon</a:t>
            </a:r>
            <a:r>
              <a:rPr lang="en-US" sz="1200" dirty="0"/>
              <a:t> = c(</a:t>
            </a:r>
            <a:r>
              <a:rPr lang="en-US" sz="1200" dirty="0">
                <a:solidFill>
                  <a:schemeClr val="accent5">
                    <a:lumMod val="40000"/>
                    <a:lumOff val="60000"/>
                  </a:schemeClr>
                </a:solidFill>
              </a:rPr>
              <a:t>-96.3398, -97.7431, -95.3698</a:t>
            </a:r>
            <a:r>
              <a:rPr lang="en-US" sz="1200" dirty="0"/>
              <a:t>),</a:t>
            </a:r>
          </a:p>
          <a:p>
            <a:pPr>
              <a:lnSpc>
                <a:spcPct val="150000"/>
              </a:lnSpc>
              <a:spcBef>
                <a:spcPts val="0"/>
              </a:spcBef>
            </a:pPr>
            <a:r>
              <a:rPr lang="en-US" sz="1200" dirty="0"/>
              <a:t>  </a:t>
            </a:r>
            <a:r>
              <a:rPr lang="en-US" sz="1200" dirty="0" err="1"/>
              <a:t>lat</a:t>
            </a:r>
            <a:r>
              <a:rPr lang="en-US" sz="1200" dirty="0"/>
              <a:t> = c(</a:t>
            </a:r>
            <a:r>
              <a:rPr lang="en-US" sz="1200" dirty="0">
                <a:solidFill>
                  <a:schemeClr val="accent5">
                    <a:lumMod val="40000"/>
                    <a:lumOff val="60000"/>
                  </a:schemeClr>
                </a:solidFill>
              </a:rPr>
              <a:t>30.6212, 30.2672, 29.7604</a:t>
            </a:r>
            <a:r>
              <a:rPr lang="en-US" sz="1200" dirty="0"/>
              <a:t>)</a:t>
            </a:r>
          </a:p>
          <a:p>
            <a:pPr>
              <a:lnSpc>
                <a:spcPct val="150000"/>
              </a:lnSpc>
              <a:spcBef>
                <a:spcPts val="0"/>
              </a:spcBef>
            </a:pPr>
            <a:r>
              <a:rPr lang="en-US" sz="1200" dirty="0"/>
              <a:t>)</a:t>
            </a:r>
          </a:p>
          <a:p>
            <a:pPr>
              <a:lnSpc>
                <a:spcPct val="150000"/>
              </a:lnSpc>
              <a:spcBef>
                <a:spcPts val="0"/>
              </a:spcBef>
            </a:pPr>
            <a:endParaRPr lang="en-US" sz="1200" dirty="0"/>
          </a:p>
          <a:p>
            <a:pPr>
              <a:lnSpc>
                <a:spcPct val="150000"/>
              </a:lnSpc>
              <a:spcBef>
                <a:spcPts val="0"/>
              </a:spcBef>
            </a:pPr>
            <a:r>
              <a:rPr lang="en-US" sz="1200" dirty="0" err="1"/>
              <a:t>points_sf</a:t>
            </a:r>
            <a:r>
              <a:rPr lang="en-US" sz="1200" dirty="0"/>
              <a:t> &lt;- </a:t>
            </a:r>
            <a:r>
              <a:rPr lang="en-US" sz="1200" dirty="0" err="1"/>
              <a:t>st_as_sf</a:t>
            </a:r>
            <a:r>
              <a:rPr lang="en-US" sz="1200" dirty="0"/>
              <a:t>(</a:t>
            </a:r>
          </a:p>
          <a:p>
            <a:pPr>
              <a:lnSpc>
                <a:spcPct val="150000"/>
              </a:lnSpc>
              <a:spcBef>
                <a:spcPts val="0"/>
              </a:spcBef>
            </a:pPr>
            <a:r>
              <a:rPr lang="en-US" sz="1200" dirty="0"/>
              <a:t>  locations,</a:t>
            </a:r>
          </a:p>
          <a:p>
            <a:pPr>
              <a:lnSpc>
                <a:spcPct val="150000"/>
              </a:lnSpc>
              <a:spcBef>
                <a:spcPts val="0"/>
              </a:spcBef>
            </a:pPr>
            <a:r>
              <a:rPr lang="en-US" sz="1200" dirty="0"/>
              <a:t>  coords = c("</a:t>
            </a:r>
            <a:r>
              <a:rPr lang="en-US" sz="1200" dirty="0" err="1"/>
              <a:t>lon</a:t>
            </a:r>
            <a:r>
              <a:rPr lang="en-US" sz="1200" dirty="0"/>
              <a:t>","</a:t>
            </a:r>
            <a:r>
              <a:rPr lang="en-US" sz="1200" dirty="0" err="1"/>
              <a:t>lat</a:t>
            </a:r>
            <a:r>
              <a:rPr lang="en-US" sz="1200" dirty="0"/>
              <a:t>"),</a:t>
            </a:r>
          </a:p>
          <a:p>
            <a:pPr>
              <a:lnSpc>
                <a:spcPct val="150000"/>
              </a:lnSpc>
              <a:spcBef>
                <a:spcPts val="0"/>
              </a:spcBef>
            </a:pPr>
            <a:r>
              <a:rPr lang="en-US" sz="1200" dirty="0"/>
              <a:t>  </a:t>
            </a:r>
            <a:r>
              <a:rPr lang="en-US" sz="1200" dirty="0" err="1"/>
              <a:t>crs</a:t>
            </a:r>
            <a:r>
              <a:rPr lang="en-US" sz="1200" dirty="0"/>
              <a:t> = 4326</a:t>
            </a:r>
          </a:p>
          <a:p>
            <a:pPr>
              <a:lnSpc>
                <a:spcPct val="150000"/>
              </a:lnSpc>
              <a:spcBef>
                <a:spcPts val="0"/>
              </a:spcBef>
            </a:pPr>
            <a:r>
              <a:rPr lang="en-US" sz="1200" dirty="0"/>
              <a:t>)</a:t>
            </a:r>
          </a:p>
          <a:p>
            <a:pPr>
              <a:lnSpc>
                <a:spcPct val="150000"/>
              </a:lnSpc>
              <a:spcBef>
                <a:spcPts val="0"/>
              </a:spcBef>
            </a:pPr>
            <a:endParaRPr lang="en-US" sz="1200" dirty="0"/>
          </a:p>
          <a:p>
            <a:pPr>
              <a:lnSpc>
                <a:spcPct val="150000"/>
              </a:lnSpc>
              <a:spcBef>
                <a:spcPts val="0"/>
              </a:spcBef>
            </a:pPr>
            <a:r>
              <a:rPr lang="en-US" sz="1200" dirty="0"/>
              <a:t>plot(</a:t>
            </a:r>
            <a:r>
              <a:rPr lang="en-US" sz="1200" dirty="0" err="1"/>
              <a:t>st_geometry</a:t>
            </a:r>
            <a:r>
              <a:rPr lang="en-US" sz="1200" dirty="0"/>
              <a:t>(</a:t>
            </a:r>
            <a:r>
              <a:rPr lang="en-US" sz="1200" dirty="0" err="1"/>
              <a:t>points_sf</a:t>
            </a:r>
            <a:r>
              <a:rPr lang="en-US" sz="1200" dirty="0"/>
              <a:t>))</a:t>
            </a:r>
          </a:p>
          <a:p>
            <a:pPr>
              <a:lnSpc>
                <a:spcPct val="150000"/>
              </a:lnSpc>
              <a:spcBef>
                <a:spcPts val="0"/>
              </a:spcBef>
            </a:pPr>
            <a:endParaRPr lang="en-US" sz="1200" dirty="0"/>
          </a:p>
          <a:p>
            <a:pPr>
              <a:lnSpc>
                <a:spcPct val="150000"/>
              </a:lnSpc>
              <a:spcBef>
                <a:spcPts val="0"/>
              </a:spcBef>
            </a:pPr>
            <a:r>
              <a:rPr lang="en-US" sz="1200" dirty="0">
                <a:solidFill>
                  <a:schemeClr val="accent6">
                    <a:lumMod val="60000"/>
                    <a:lumOff val="40000"/>
                  </a:schemeClr>
                </a:solidFill>
              </a:rPr>
              <a:t>library(</a:t>
            </a:r>
            <a:r>
              <a:rPr lang="en-US" sz="1200" dirty="0" err="1">
                <a:solidFill>
                  <a:schemeClr val="accent6">
                    <a:lumMod val="60000"/>
                    <a:lumOff val="40000"/>
                  </a:schemeClr>
                </a:solidFill>
              </a:rPr>
              <a:t>tmap</a:t>
            </a:r>
            <a:r>
              <a:rPr lang="en-US" sz="1200" dirty="0">
                <a:solidFill>
                  <a:schemeClr val="accent6">
                    <a:lumMod val="60000"/>
                    <a:lumOff val="40000"/>
                  </a:schemeClr>
                </a:solidFill>
              </a:rPr>
              <a:t>)</a:t>
            </a:r>
          </a:p>
          <a:p>
            <a:pPr>
              <a:lnSpc>
                <a:spcPct val="150000"/>
              </a:lnSpc>
              <a:spcBef>
                <a:spcPts val="0"/>
              </a:spcBef>
            </a:pPr>
            <a:r>
              <a:rPr lang="en-US" sz="1200" dirty="0" err="1">
                <a:solidFill>
                  <a:schemeClr val="accent6">
                    <a:lumMod val="60000"/>
                    <a:lumOff val="40000"/>
                  </a:schemeClr>
                </a:solidFill>
              </a:rPr>
              <a:t>tmap_mode</a:t>
            </a:r>
            <a:r>
              <a:rPr lang="en-US" sz="1200" dirty="0">
                <a:solidFill>
                  <a:schemeClr val="accent6">
                    <a:lumMod val="60000"/>
                    <a:lumOff val="40000"/>
                  </a:schemeClr>
                </a:solidFill>
              </a:rPr>
              <a:t>("view") </a:t>
            </a:r>
          </a:p>
          <a:p>
            <a:pPr>
              <a:lnSpc>
                <a:spcPct val="150000"/>
              </a:lnSpc>
              <a:spcBef>
                <a:spcPts val="0"/>
              </a:spcBef>
            </a:pPr>
            <a:endParaRPr lang="en-US" sz="1200" dirty="0">
              <a:solidFill>
                <a:schemeClr val="accent6">
                  <a:lumMod val="60000"/>
                  <a:lumOff val="40000"/>
                </a:schemeClr>
              </a:solidFill>
            </a:endParaRPr>
          </a:p>
          <a:p>
            <a:pPr>
              <a:lnSpc>
                <a:spcPct val="150000"/>
              </a:lnSpc>
              <a:spcBef>
                <a:spcPts val="0"/>
              </a:spcBef>
            </a:pPr>
            <a:r>
              <a:rPr lang="en-US" sz="1200" dirty="0" err="1">
                <a:solidFill>
                  <a:schemeClr val="accent6">
                    <a:lumMod val="60000"/>
                    <a:lumOff val="40000"/>
                  </a:schemeClr>
                </a:solidFill>
              </a:rPr>
              <a:t>tm_shape</a:t>
            </a:r>
            <a:r>
              <a:rPr lang="en-US" sz="1200" dirty="0">
                <a:solidFill>
                  <a:schemeClr val="accent6">
                    <a:lumMod val="60000"/>
                    <a:lumOff val="40000"/>
                  </a:schemeClr>
                </a:solidFill>
              </a:rPr>
              <a:t>(</a:t>
            </a:r>
            <a:r>
              <a:rPr lang="en-US" sz="1200" dirty="0" err="1">
                <a:solidFill>
                  <a:schemeClr val="accent6">
                    <a:lumMod val="60000"/>
                    <a:lumOff val="40000"/>
                  </a:schemeClr>
                </a:solidFill>
              </a:rPr>
              <a:t>points_sf</a:t>
            </a:r>
            <a:r>
              <a:rPr lang="en-US" sz="1200" dirty="0">
                <a:solidFill>
                  <a:schemeClr val="accent6">
                    <a:lumMod val="60000"/>
                    <a:lumOff val="40000"/>
                  </a:schemeClr>
                </a:solidFill>
              </a:rPr>
              <a:t>) +</a:t>
            </a:r>
          </a:p>
          <a:p>
            <a:pPr>
              <a:lnSpc>
                <a:spcPct val="150000"/>
              </a:lnSpc>
              <a:spcBef>
                <a:spcPts val="0"/>
              </a:spcBef>
            </a:pPr>
            <a:r>
              <a:rPr lang="en-US" sz="1200" dirty="0">
                <a:solidFill>
                  <a:schemeClr val="accent6">
                    <a:lumMod val="60000"/>
                    <a:lumOff val="40000"/>
                  </a:schemeClr>
                </a:solidFill>
              </a:rPr>
              <a:t>  </a:t>
            </a:r>
            <a:r>
              <a:rPr lang="en-US" sz="1200" dirty="0" err="1">
                <a:solidFill>
                  <a:schemeClr val="accent6">
                    <a:lumMod val="60000"/>
                    <a:lumOff val="40000"/>
                  </a:schemeClr>
                </a:solidFill>
              </a:rPr>
              <a:t>tm_dots</a:t>
            </a:r>
            <a:r>
              <a:rPr lang="en-US" sz="1200" dirty="0">
                <a:solidFill>
                  <a:schemeClr val="accent6">
                    <a:lumMod val="60000"/>
                    <a:lumOff val="40000"/>
                  </a:schemeClr>
                </a:solidFill>
              </a:rPr>
              <a:t>(col = "maroon", size = 1)</a:t>
            </a:r>
          </a:p>
        </p:txBody>
      </p:sp>
    </p:spTree>
    <p:extLst>
      <p:ext uri="{BB962C8B-B14F-4D97-AF65-F5344CB8AC3E}">
        <p14:creationId xmlns:p14="http://schemas.microsoft.com/office/powerpoint/2010/main" val="3013305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D8F20-0CE5-B24B-F595-C198B15AF88E}"/>
              </a:ext>
            </a:extLst>
          </p:cNvPr>
          <p:cNvSpPr>
            <a:spLocks noGrp="1"/>
          </p:cNvSpPr>
          <p:nvPr>
            <p:ph type="title"/>
          </p:nvPr>
        </p:nvSpPr>
        <p:spPr/>
        <p:txBody>
          <a:bodyPr/>
          <a:lstStyle/>
          <a:p>
            <a:r>
              <a:rPr lang="en-US" dirty="0" err="1"/>
              <a:t>ggplot</a:t>
            </a:r>
            <a:r>
              <a:rPr lang="en-US" dirty="0"/>
              <a:t> </a:t>
            </a:r>
            <a:r>
              <a:rPr lang="en-US" sz="1800" dirty="0"/>
              <a:t>(based on </a:t>
            </a:r>
            <a:r>
              <a:rPr lang="en-US" sz="1800" dirty="0">
                <a:hlinkClick r:id="rId2"/>
              </a:rPr>
              <a:t>The Grammar of Graphics</a:t>
            </a:r>
            <a:r>
              <a:rPr lang="en-US" sz="1800" dirty="0"/>
              <a:t>, but applied to spatial data)</a:t>
            </a:r>
          </a:p>
        </p:txBody>
      </p:sp>
      <p:sp>
        <p:nvSpPr>
          <p:cNvPr id="3" name="Content Placeholder 2">
            <a:extLst>
              <a:ext uri="{FF2B5EF4-FFF2-40B4-BE49-F238E27FC236}">
                <a16:creationId xmlns:a16="http://schemas.microsoft.com/office/drawing/2014/main" id="{C5D9F662-C324-379E-8325-3415711A9E90}"/>
              </a:ext>
            </a:extLst>
          </p:cNvPr>
          <p:cNvSpPr>
            <a:spLocks noGrp="1"/>
          </p:cNvSpPr>
          <p:nvPr>
            <p:ph sz="half" idx="1"/>
          </p:nvPr>
        </p:nvSpPr>
        <p:spPr/>
        <p:txBody>
          <a:bodyPr>
            <a:normAutofit/>
          </a:bodyPr>
          <a:lstStyle/>
          <a:p>
            <a:r>
              <a:rPr lang="en-US" sz="1800" b="1" dirty="0">
                <a:latin typeface="Consolas" panose="020B0609020204030204" pitchFamily="49" charset="0"/>
                <a:cs typeface="Consolas" panose="020B0609020204030204" pitchFamily="49" charset="0"/>
              </a:rPr>
              <a:t>ggplot2</a:t>
            </a:r>
            <a:r>
              <a:rPr lang="en-US" sz="1800" dirty="0"/>
              <a:t> is like a stack of transparent pancakes. Each line of code adds a new layer:</a:t>
            </a:r>
          </a:p>
          <a:p>
            <a:pPr lvl="1"/>
            <a:r>
              <a:rPr lang="en-US" dirty="0"/>
              <a:t>The Base</a:t>
            </a:r>
          </a:p>
          <a:p>
            <a:pPr lvl="1"/>
            <a:r>
              <a:rPr lang="en-US" dirty="0"/>
              <a:t>The Map</a:t>
            </a:r>
            <a:br>
              <a:rPr lang="en-US" dirty="0"/>
            </a:br>
            <a:r>
              <a:rPr lang="en-US" dirty="0">
                <a:solidFill>
                  <a:schemeClr val="tx1">
                    <a:lumMod val="50000"/>
                    <a:lumOff val="50000"/>
                  </a:schemeClr>
                </a:solidFill>
              </a:rPr>
              <a:t>(pulls OpenStreetMap tiles)</a:t>
            </a:r>
          </a:p>
          <a:p>
            <a:pPr lvl="1"/>
            <a:r>
              <a:rPr lang="en-US" dirty="0"/>
              <a:t>The Points</a:t>
            </a:r>
          </a:p>
          <a:p>
            <a:pPr lvl="1"/>
            <a:r>
              <a:rPr lang="en-US" dirty="0"/>
              <a:t>The Labels</a:t>
            </a:r>
          </a:p>
          <a:p>
            <a:pPr lvl="1"/>
            <a:r>
              <a:rPr lang="en-US" dirty="0"/>
              <a:t>The Style</a:t>
            </a:r>
          </a:p>
          <a:p>
            <a:pPr marL="457200" lvl="1" indent="0">
              <a:buNone/>
            </a:pPr>
            <a:endParaRPr lang="en-US" dirty="0"/>
          </a:p>
          <a:p>
            <a:pPr marL="11113" lvl="1" indent="0">
              <a:buNone/>
            </a:pPr>
            <a:r>
              <a:rPr lang="en-US" dirty="0"/>
              <a:t>If the map looks "squished," R might be confused about the aspect ratio</a:t>
            </a:r>
          </a:p>
          <a:p>
            <a:pPr marL="11113" lvl="1" indent="0">
              <a:buNone/>
            </a:pPr>
            <a:r>
              <a:rPr lang="en-US" dirty="0"/>
              <a:t>Adding </a:t>
            </a:r>
            <a:r>
              <a:rPr lang="en-US" b="1" dirty="0">
                <a:latin typeface="Consolas" panose="020B0609020204030204" pitchFamily="49" charset="0"/>
                <a:cs typeface="Consolas" panose="020B0609020204030204" pitchFamily="49" charset="0"/>
              </a:rPr>
              <a:t>+ </a:t>
            </a:r>
            <a:r>
              <a:rPr lang="en-US" b="1" dirty="0" err="1">
                <a:latin typeface="Consolas" panose="020B0609020204030204" pitchFamily="49" charset="0"/>
                <a:cs typeface="Consolas" panose="020B0609020204030204" pitchFamily="49" charset="0"/>
              </a:rPr>
              <a:t>coord_sf</a:t>
            </a:r>
            <a:r>
              <a:rPr lang="en-US" b="1" dirty="0">
                <a:latin typeface="Consolas" panose="020B0609020204030204" pitchFamily="49" charset="0"/>
                <a:cs typeface="Consolas" panose="020B0609020204030204" pitchFamily="49" charset="0"/>
              </a:rPr>
              <a:t>() </a:t>
            </a:r>
            <a:r>
              <a:rPr lang="en-US" dirty="0"/>
              <a:t>at the end ensures that 1 degree North looks the same as 1 degree East</a:t>
            </a:r>
          </a:p>
        </p:txBody>
      </p:sp>
      <p:sp>
        <p:nvSpPr>
          <p:cNvPr id="4" name="Content Placeholder 3">
            <a:extLst>
              <a:ext uri="{FF2B5EF4-FFF2-40B4-BE49-F238E27FC236}">
                <a16:creationId xmlns:a16="http://schemas.microsoft.com/office/drawing/2014/main" id="{6892322A-82A7-FE91-69E0-21219347F49F}"/>
              </a:ext>
            </a:extLst>
          </p:cNvPr>
          <p:cNvSpPr>
            <a:spLocks noGrp="1"/>
          </p:cNvSpPr>
          <p:nvPr>
            <p:ph sz="half" idx="2"/>
          </p:nvPr>
        </p:nvSpPr>
        <p:spPr/>
        <p:txBody>
          <a:bodyPr>
            <a:normAutofit/>
          </a:bodyPr>
          <a:lstStyle/>
          <a:p>
            <a:r>
              <a:rPr lang="en-US" sz="1100" dirty="0"/>
              <a:t>library(ggplot2)</a:t>
            </a:r>
          </a:p>
          <a:p>
            <a:r>
              <a:rPr lang="en-US" sz="1100" dirty="0"/>
              <a:t>library(</a:t>
            </a:r>
            <a:r>
              <a:rPr lang="en-US" sz="1100" dirty="0" err="1"/>
              <a:t>ggspatial</a:t>
            </a:r>
            <a:r>
              <a:rPr lang="en-US" sz="1100" dirty="0"/>
              <a:t>)</a:t>
            </a:r>
          </a:p>
          <a:p>
            <a:endParaRPr lang="en-US" sz="1100" dirty="0"/>
          </a:p>
          <a:p>
            <a:r>
              <a:rPr lang="en-US" sz="1100" dirty="0" err="1"/>
              <a:t>ggplot</a:t>
            </a:r>
            <a:r>
              <a:rPr lang="en-US" sz="1100" dirty="0"/>
              <a:t>(data = </a:t>
            </a:r>
            <a:r>
              <a:rPr lang="en-US" sz="1100" dirty="0" err="1"/>
              <a:t>points_sf</a:t>
            </a:r>
            <a:r>
              <a:rPr lang="en-US" sz="1100" dirty="0"/>
              <a:t>) +</a:t>
            </a:r>
            <a:br>
              <a:rPr lang="en-US" sz="1100" dirty="0"/>
            </a:br>
            <a:r>
              <a:rPr lang="en-US" sz="1100" dirty="0" err="1">
                <a:solidFill>
                  <a:srgbClr val="FFFF00"/>
                </a:solidFill>
              </a:rPr>
              <a:t>annotation_map_tile</a:t>
            </a:r>
            <a:r>
              <a:rPr lang="en-US" sz="1100" dirty="0">
                <a:solidFill>
                  <a:srgbClr val="FFFF00"/>
                </a:solidFill>
              </a:rPr>
              <a:t>(type = "</a:t>
            </a:r>
            <a:r>
              <a:rPr lang="en-US" sz="1100" dirty="0" err="1">
                <a:solidFill>
                  <a:srgbClr val="FFFF00"/>
                </a:solidFill>
              </a:rPr>
              <a:t>osm</a:t>
            </a:r>
            <a:r>
              <a:rPr lang="en-US" sz="1100" dirty="0">
                <a:solidFill>
                  <a:srgbClr val="FFFF00"/>
                </a:solidFill>
              </a:rPr>
              <a:t>", zoom = 15) +</a:t>
            </a:r>
            <a:br>
              <a:rPr lang="en-US" sz="1100" dirty="0">
                <a:solidFill>
                  <a:srgbClr val="FFFF00"/>
                </a:solidFill>
              </a:rPr>
            </a:br>
            <a:r>
              <a:rPr lang="en-US" sz="1100" dirty="0" err="1"/>
              <a:t>geom_sf</a:t>
            </a:r>
            <a:r>
              <a:rPr lang="en-US" sz="1100" dirty="0"/>
              <a:t>(color = "#500000", size = 4) +</a:t>
            </a:r>
            <a:br>
              <a:rPr lang="en-US" sz="1100" dirty="0"/>
            </a:br>
            <a:r>
              <a:rPr lang="en-US" sz="1100" dirty="0" err="1">
                <a:solidFill>
                  <a:srgbClr val="92D050"/>
                </a:solidFill>
              </a:rPr>
              <a:t>geom_text</a:t>
            </a:r>
            <a:r>
              <a:rPr lang="en-US" sz="1100" dirty="0">
                <a:solidFill>
                  <a:srgbClr val="92D050"/>
                </a:solidFill>
              </a:rPr>
              <a:t>(data = locations,</a:t>
            </a:r>
            <a:br>
              <a:rPr lang="en-US" sz="1100" dirty="0">
                <a:solidFill>
                  <a:srgbClr val="92D050"/>
                </a:solidFill>
              </a:rPr>
            </a:br>
            <a:r>
              <a:rPr lang="en-US" sz="1100" dirty="0">
                <a:solidFill>
                  <a:srgbClr val="92D050"/>
                </a:solidFill>
              </a:rPr>
              <a:t>          </a:t>
            </a:r>
            <a:r>
              <a:rPr lang="en-US" sz="1100" dirty="0" err="1">
                <a:solidFill>
                  <a:srgbClr val="92D050"/>
                </a:solidFill>
              </a:rPr>
              <a:t>aes</a:t>
            </a:r>
            <a:r>
              <a:rPr lang="en-US" sz="1100" dirty="0">
                <a:solidFill>
                  <a:srgbClr val="92D050"/>
                </a:solidFill>
              </a:rPr>
              <a:t>(x = </a:t>
            </a:r>
            <a:r>
              <a:rPr lang="en-US" sz="1100" dirty="0" err="1">
                <a:solidFill>
                  <a:srgbClr val="92D050"/>
                </a:solidFill>
              </a:rPr>
              <a:t>lon</a:t>
            </a:r>
            <a:r>
              <a:rPr lang="en-US" sz="1100" dirty="0">
                <a:solidFill>
                  <a:srgbClr val="92D050"/>
                </a:solidFill>
              </a:rPr>
              <a:t>, y = </a:t>
            </a:r>
            <a:r>
              <a:rPr lang="en-US" sz="1100" dirty="0" err="1">
                <a:solidFill>
                  <a:srgbClr val="92D050"/>
                </a:solidFill>
              </a:rPr>
              <a:t>lat</a:t>
            </a:r>
            <a:r>
              <a:rPr lang="en-US" sz="1100" dirty="0">
                <a:solidFill>
                  <a:srgbClr val="92D050"/>
                </a:solidFill>
              </a:rPr>
              <a:t>, label = name), </a:t>
            </a:r>
            <a:br>
              <a:rPr lang="en-US" sz="1100" dirty="0">
                <a:solidFill>
                  <a:srgbClr val="92D050"/>
                </a:solidFill>
              </a:rPr>
            </a:br>
            <a:r>
              <a:rPr lang="en-US" sz="1100" dirty="0">
                <a:solidFill>
                  <a:srgbClr val="92D050"/>
                </a:solidFill>
              </a:rPr>
              <a:t>          </a:t>
            </a:r>
            <a:r>
              <a:rPr lang="en-US" sz="1100" dirty="0" err="1">
                <a:solidFill>
                  <a:srgbClr val="92D050"/>
                </a:solidFill>
              </a:rPr>
              <a:t>nudge_y</a:t>
            </a:r>
            <a:r>
              <a:rPr lang="en-US" sz="1100" dirty="0">
                <a:solidFill>
                  <a:srgbClr val="92D050"/>
                </a:solidFill>
              </a:rPr>
              <a:t> = 0.0005,</a:t>
            </a:r>
            <a:br>
              <a:rPr lang="en-US" sz="1100" dirty="0">
                <a:solidFill>
                  <a:srgbClr val="92D050"/>
                </a:solidFill>
              </a:rPr>
            </a:br>
            <a:r>
              <a:rPr lang="en-US" sz="1100" dirty="0">
                <a:solidFill>
                  <a:srgbClr val="92D050"/>
                </a:solidFill>
              </a:rPr>
              <a:t>          </a:t>
            </a:r>
            <a:r>
              <a:rPr lang="en-US" sz="1100" dirty="0" err="1">
                <a:solidFill>
                  <a:srgbClr val="92D050"/>
                </a:solidFill>
              </a:rPr>
              <a:t>fontface</a:t>
            </a:r>
            <a:r>
              <a:rPr lang="en-US" sz="1100" dirty="0">
                <a:solidFill>
                  <a:srgbClr val="92D050"/>
                </a:solidFill>
              </a:rPr>
              <a:t> = "bold") +</a:t>
            </a:r>
            <a:br>
              <a:rPr lang="en-US" sz="1100" dirty="0"/>
            </a:br>
            <a:r>
              <a:rPr lang="en-US" sz="1100" dirty="0" err="1"/>
              <a:t>theme_minimal</a:t>
            </a:r>
            <a:r>
              <a:rPr lang="en-US" sz="1100" dirty="0"/>
              <a:t>()</a:t>
            </a:r>
          </a:p>
        </p:txBody>
      </p:sp>
      <p:sp>
        <p:nvSpPr>
          <p:cNvPr id="5" name="Slide Number Placeholder 4">
            <a:extLst>
              <a:ext uri="{FF2B5EF4-FFF2-40B4-BE49-F238E27FC236}">
                <a16:creationId xmlns:a16="http://schemas.microsoft.com/office/drawing/2014/main" id="{203B41EA-61C9-4EB0-E848-2C2E061A9F4D}"/>
              </a:ext>
            </a:extLst>
          </p:cNvPr>
          <p:cNvSpPr>
            <a:spLocks noGrp="1"/>
          </p:cNvSpPr>
          <p:nvPr>
            <p:ph type="sldNum" sz="quarter" idx="12"/>
          </p:nvPr>
        </p:nvSpPr>
        <p:spPr/>
        <p:txBody>
          <a:bodyPr/>
          <a:lstStyle/>
          <a:p>
            <a:fld id="{C0343C75-1924-D247-85A3-0CB62E67E5D1}" type="slidenum">
              <a:rPr lang="en-US" smtClean="0"/>
              <a:t>7</a:t>
            </a:fld>
            <a:endParaRPr lang="en-US"/>
          </a:p>
        </p:txBody>
      </p:sp>
    </p:spTree>
    <p:extLst>
      <p:ext uri="{BB962C8B-B14F-4D97-AF65-F5344CB8AC3E}">
        <p14:creationId xmlns:p14="http://schemas.microsoft.com/office/powerpoint/2010/main" val="3513111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D7CF566-1DC1-AC9A-5B6A-001127C99678}"/>
              </a:ext>
            </a:extLst>
          </p:cNvPr>
          <p:cNvSpPr>
            <a:spLocks noGrp="1"/>
          </p:cNvSpPr>
          <p:nvPr>
            <p:ph type="sldNum" sz="quarter" idx="12"/>
          </p:nvPr>
        </p:nvSpPr>
        <p:spPr/>
        <p:txBody>
          <a:bodyPr/>
          <a:lstStyle/>
          <a:p>
            <a:fld id="{C0343C75-1924-D247-85A3-0CB62E67E5D1}" type="slidenum">
              <a:rPr lang="en-US" smtClean="0"/>
              <a:t>8</a:t>
            </a:fld>
            <a:endParaRPr lang="en-US"/>
          </a:p>
        </p:txBody>
      </p:sp>
      <p:pic>
        <p:nvPicPr>
          <p:cNvPr id="5" name="Picture 4">
            <a:extLst>
              <a:ext uri="{FF2B5EF4-FFF2-40B4-BE49-F238E27FC236}">
                <a16:creationId xmlns:a16="http://schemas.microsoft.com/office/drawing/2014/main" id="{DD16315F-3527-E09F-BB46-C9A333994674}"/>
              </a:ext>
            </a:extLst>
          </p:cNvPr>
          <p:cNvPicPr>
            <a:picLocks noChangeAspect="1"/>
          </p:cNvPicPr>
          <p:nvPr/>
        </p:nvPicPr>
        <p:blipFill>
          <a:blip r:embed="rId2"/>
          <a:stretch>
            <a:fillRect/>
          </a:stretch>
        </p:blipFill>
        <p:spPr>
          <a:xfrm>
            <a:off x="1689527" y="457200"/>
            <a:ext cx="5968573" cy="5943600"/>
          </a:xfrm>
          <a:prstGeom prst="rect">
            <a:avLst/>
          </a:prstGeom>
        </p:spPr>
      </p:pic>
    </p:spTree>
    <p:extLst>
      <p:ext uri="{BB962C8B-B14F-4D97-AF65-F5344CB8AC3E}">
        <p14:creationId xmlns:p14="http://schemas.microsoft.com/office/powerpoint/2010/main" val="40472711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076002-D289-15BF-E206-E922495AA2F1}"/>
              </a:ext>
            </a:extLst>
          </p:cNvPr>
          <p:cNvSpPr>
            <a:spLocks noGrp="1"/>
          </p:cNvSpPr>
          <p:nvPr>
            <p:ph type="sldNum" sz="quarter" idx="12"/>
          </p:nvPr>
        </p:nvSpPr>
        <p:spPr/>
        <p:txBody>
          <a:bodyPr/>
          <a:lstStyle/>
          <a:p>
            <a:fld id="{C0343C75-1924-D247-85A3-0CB62E67E5D1}" type="slidenum">
              <a:rPr lang="en-US" smtClean="0"/>
              <a:t>9</a:t>
            </a:fld>
            <a:endParaRPr lang="en-US"/>
          </a:p>
        </p:txBody>
      </p:sp>
      <p:pic>
        <p:nvPicPr>
          <p:cNvPr id="4" name="Picture 3">
            <a:extLst>
              <a:ext uri="{FF2B5EF4-FFF2-40B4-BE49-F238E27FC236}">
                <a16:creationId xmlns:a16="http://schemas.microsoft.com/office/drawing/2014/main" id="{0C73B84C-2C97-79AD-D25E-D066CC16E4D8}"/>
              </a:ext>
            </a:extLst>
          </p:cNvPr>
          <p:cNvPicPr>
            <a:picLocks noChangeAspect="1"/>
          </p:cNvPicPr>
          <p:nvPr/>
        </p:nvPicPr>
        <p:blipFill>
          <a:blip r:embed="rId2"/>
          <a:stretch>
            <a:fillRect/>
          </a:stretch>
        </p:blipFill>
        <p:spPr>
          <a:xfrm>
            <a:off x="822298" y="1691640"/>
            <a:ext cx="3137468" cy="3474720"/>
          </a:xfrm>
          <a:prstGeom prst="rect">
            <a:avLst/>
          </a:prstGeom>
        </p:spPr>
      </p:pic>
      <p:pic>
        <p:nvPicPr>
          <p:cNvPr id="5" name="Picture 4">
            <a:extLst>
              <a:ext uri="{FF2B5EF4-FFF2-40B4-BE49-F238E27FC236}">
                <a16:creationId xmlns:a16="http://schemas.microsoft.com/office/drawing/2014/main" id="{84F13663-7F39-A57F-79D7-CC6A78F12DEF}"/>
              </a:ext>
            </a:extLst>
          </p:cNvPr>
          <p:cNvPicPr>
            <a:picLocks noChangeAspect="1"/>
          </p:cNvPicPr>
          <p:nvPr/>
        </p:nvPicPr>
        <p:blipFill>
          <a:blip r:embed="rId3"/>
          <a:stretch>
            <a:fillRect/>
          </a:stretch>
        </p:blipFill>
        <p:spPr>
          <a:xfrm>
            <a:off x="4800600" y="1691640"/>
            <a:ext cx="3657599" cy="3291840"/>
          </a:xfrm>
          <a:prstGeom prst="rect">
            <a:avLst/>
          </a:prstGeom>
        </p:spPr>
      </p:pic>
    </p:spTree>
    <p:extLst>
      <p:ext uri="{BB962C8B-B14F-4D97-AF65-F5344CB8AC3E}">
        <p14:creationId xmlns:p14="http://schemas.microsoft.com/office/powerpoint/2010/main" val="3677736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41FC1E-DA5B-BE2D-0CD9-CEDC27E9D8C0}"/>
              </a:ext>
            </a:extLst>
          </p:cNvPr>
          <p:cNvSpPr>
            <a:spLocks noGrp="1"/>
          </p:cNvSpPr>
          <p:nvPr>
            <p:ph type="sldNum" sz="quarter" idx="12"/>
          </p:nvPr>
        </p:nvSpPr>
        <p:spPr/>
        <p:txBody>
          <a:bodyPr/>
          <a:lstStyle/>
          <a:p>
            <a:fld id="{C0343C75-1924-D247-85A3-0CB62E67E5D1}" type="slidenum">
              <a:rPr lang="en-US" smtClean="0"/>
              <a:t>10</a:t>
            </a:fld>
            <a:endParaRPr lang="en-US"/>
          </a:p>
        </p:txBody>
      </p:sp>
      <p:pic>
        <p:nvPicPr>
          <p:cNvPr id="3" name="Picture 2">
            <a:extLst>
              <a:ext uri="{FF2B5EF4-FFF2-40B4-BE49-F238E27FC236}">
                <a16:creationId xmlns:a16="http://schemas.microsoft.com/office/drawing/2014/main" id="{4D9F8A6D-D5C7-4AD2-BA66-8B5F3FBFBBE7}"/>
              </a:ext>
            </a:extLst>
          </p:cNvPr>
          <p:cNvPicPr>
            <a:picLocks noChangeAspect="1"/>
          </p:cNvPicPr>
          <p:nvPr/>
        </p:nvPicPr>
        <p:blipFill>
          <a:blip r:embed="rId2"/>
          <a:srcRect l="2212" t="4286" r="7354"/>
          <a:stretch>
            <a:fillRect/>
          </a:stretch>
        </p:blipFill>
        <p:spPr>
          <a:xfrm>
            <a:off x="3618243" y="584096"/>
            <a:ext cx="5068557" cy="4023360"/>
          </a:xfrm>
          <a:prstGeom prst="rect">
            <a:avLst/>
          </a:prstGeom>
        </p:spPr>
      </p:pic>
      <p:pic>
        <p:nvPicPr>
          <p:cNvPr id="4" name="Picture 3">
            <a:extLst>
              <a:ext uri="{FF2B5EF4-FFF2-40B4-BE49-F238E27FC236}">
                <a16:creationId xmlns:a16="http://schemas.microsoft.com/office/drawing/2014/main" id="{99390F66-3282-24C1-0B82-76CF26DAB6FD}"/>
              </a:ext>
            </a:extLst>
          </p:cNvPr>
          <p:cNvPicPr>
            <a:picLocks noChangeAspect="1"/>
          </p:cNvPicPr>
          <p:nvPr/>
        </p:nvPicPr>
        <p:blipFill>
          <a:blip r:embed="rId3"/>
          <a:stretch>
            <a:fillRect/>
          </a:stretch>
        </p:blipFill>
        <p:spPr>
          <a:xfrm>
            <a:off x="457200" y="584096"/>
            <a:ext cx="3204107" cy="3204107"/>
          </a:xfrm>
          <a:prstGeom prst="rect">
            <a:avLst/>
          </a:prstGeom>
        </p:spPr>
      </p:pic>
      <p:sp>
        <p:nvSpPr>
          <p:cNvPr id="5" name="TextBox 4">
            <a:extLst>
              <a:ext uri="{FF2B5EF4-FFF2-40B4-BE49-F238E27FC236}">
                <a16:creationId xmlns:a16="http://schemas.microsoft.com/office/drawing/2014/main" id="{09758C0A-D055-F914-238C-8C78CBEC1DF9}"/>
              </a:ext>
            </a:extLst>
          </p:cNvPr>
          <p:cNvSpPr txBox="1"/>
          <p:nvPr/>
        </p:nvSpPr>
        <p:spPr>
          <a:xfrm>
            <a:off x="457200" y="4697073"/>
            <a:ext cx="8229600" cy="1569660"/>
          </a:xfrm>
          <a:prstGeom prst="rect">
            <a:avLst/>
          </a:prstGeom>
          <a:noFill/>
        </p:spPr>
        <p:txBody>
          <a:bodyPr wrap="square" rtlCol="0">
            <a:spAutoFit/>
          </a:bodyPr>
          <a:lstStyle/>
          <a:p>
            <a:pPr marL="285750" indent="-285750">
              <a:buFont typeface="Arial" panose="020B0604020202020204" pitchFamily="34" charset="0"/>
              <a:buChar char="•"/>
            </a:pPr>
            <a:r>
              <a:rPr lang="en-US" sz="1600" dirty="0"/>
              <a:t>Earth radius is the distance from the center of Earth to a point on or near its surface.</a:t>
            </a:r>
          </a:p>
          <a:p>
            <a:pPr marL="285750" indent="-285750">
              <a:buFont typeface="Arial" panose="020B0604020202020204" pitchFamily="34" charset="0"/>
              <a:buChar char="•"/>
            </a:pPr>
            <a:r>
              <a:rPr lang="en-US" sz="1600" dirty="0"/>
              <a:t>Approximating the figure of Earth by an </a:t>
            </a:r>
            <a:r>
              <a:rPr lang="en-US" sz="1600" b="1" dirty="0"/>
              <a:t>Earth spheroid </a:t>
            </a:r>
            <a:r>
              <a:rPr lang="en-US" sz="1600" dirty="0"/>
              <a:t>(an oblate </a:t>
            </a:r>
            <a:r>
              <a:rPr lang="en-US" sz="1600" b="1" dirty="0"/>
              <a:t>ellipsoid</a:t>
            </a:r>
            <a:r>
              <a:rPr lang="en-US" sz="1600" dirty="0"/>
              <a:t>),</a:t>
            </a:r>
            <a:br>
              <a:rPr lang="en-US" sz="1600" dirty="0"/>
            </a:br>
            <a:r>
              <a:rPr lang="en-US" sz="1600" dirty="0"/>
              <a:t>the radius ranges from a maximum (equatorial radius, denoted a) of about 6,378 km (3,963 mi) to a minimum (polar radius, denoted b) of nearly 6,357 km (3,950 mi).</a:t>
            </a:r>
          </a:p>
          <a:p>
            <a:pPr marL="285750" indent="-285750">
              <a:buFont typeface="Arial" panose="020B0604020202020204" pitchFamily="34" charset="0"/>
              <a:buChar char="•"/>
            </a:pPr>
            <a:r>
              <a:rPr lang="en-US" sz="1600" dirty="0"/>
              <a:t>A globally-average value is usually considered to be 6,371 kilometers (3,959 mi) with a 0.3% variability (±10 km).</a:t>
            </a:r>
          </a:p>
        </p:txBody>
      </p:sp>
    </p:spTree>
    <p:extLst>
      <p:ext uri="{BB962C8B-B14F-4D97-AF65-F5344CB8AC3E}">
        <p14:creationId xmlns:p14="http://schemas.microsoft.com/office/powerpoint/2010/main" val="1699732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5D38E-FBEC-1B32-B97C-52702E8B38CE}"/>
              </a:ext>
            </a:extLst>
          </p:cNvPr>
          <p:cNvSpPr>
            <a:spLocks noGrp="1"/>
          </p:cNvSpPr>
          <p:nvPr>
            <p:ph type="title"/>
          </p:nvPr>
        </p:nvSpPr>
        <p:spPr/>
        <p:txBody>
          <a:bodyPr/>
          <a:lstStyle/>
          <a:p>
            <a:r>
              <a:rPr lang="en-US" dirty="0"/>
              <a:t>Distance Between Two Points</a:t>
            </a:r>
          </a:p>
        </p:txBody>
      </p:sp>
      <p:sp>
        <p:nvSpPr>
          <p:cNvPr id="3" name="Content Placeholder 2">
            <a:extLst>
              <a:ext uri="{FF2B5EF4-FFF2-40B4-BE49-F238E27FC236}">
                <a16:creationId xmlns:a16="http://schemas.microsoft.com/office/drawing/2014/main" id="{0782244B-E353-F3E6-4ACA-2C1BEEDDD370}"/>
              </a:ext>
            </a:extLst>
          </p:cNvPr>
          <p:cNvSpPr>
            <a:spLocks noGrp="1"/>
          </p:cNvSpPr>
          <p:nvPr>
            <p:ph sz="half" idx="1"/>
          </p:nvPr>
        </p:nvSpPr>
        <p:spPr/>
        <p:txBody>
          <a:bodyPr>
            <a:normAutofit/>
          </a:bodyPr>
          <a:lstStyle/>
          <a:p>
            <a:r>
              <a:rPr lang="en-US" sz="1800" dirty="0"/>
              <a:t>The </a:t>
            </a:r>
            <a:r>
              <a:rPr lang="en-US" sz="1800" b="1" dirty="0" err="1">
                <a:latin typeface="Consolas" panose="020B0609020204030204" pitchFamily="49" charset="0"/>
                <a:cs typeface="Consolas" panose="020B0609020204030204" pitchFamily="49" charset="0"/>
              </a:rPr>
              <a:t>st_distance</a:t>
            </a:r>
            <a:r>
              <a:rPr lang="en-US" sz="1800" b="1" dirty="0">
                <a:latin typeface="Consolas" panose="020B0609020204030204" pitchFamily="49" charset="0"/>
                <a:cs typeface="Consolas" panose="020B0609020204030204" pitchFamily="49" charset="0"/>
              </a:rPr>
              <a:t>()</a:t>
            </a:r>
            <a:r>
              <a:rPr lang="en-US" sz="1800" dirty="0"/>
              <a:t> function calculates the shortest distance between two geometries.</a:t>
            </a:r>
          </a:p>
          <a:p>
            <a:r>
              <a:rPr lang="en-US" sz="1800" dirty="0"/>
              <a:t>If your data is in a geographic coordinate system (like WGS84, EPSG:4326), it automatically calculates the </a:t>
            </a:r>
            <a:r>
              <a:rPr lang="en-US" sz="1800" b="1" dirty="0">
                <a:solidFill>
                  <a:srgbClr val="C00000"/>
                </a:solidFill>
              </a:rPr>
              <a:t>great-circle distance</a:t>
            </a:r>
            <a:r>
              <a:rPr lang="en-US" sz="1800" dirty="0"/>
              <a:t> in meters. </a:t>
            </a:r>
            <a:r>
              <a:rPr lang="en-US" sz="1800" i="1" dirty="0"/>
              <a:t>(more on slide 14)</a:t>
            </a:r>
          </a:p>
        </p:txBody>
      </p:sp>
      <p:sp>
        <p:nvSpPr>
          <p:cNvPr id="4" name="Content Placeholder 3">
            <a:extLst>
              <a:ext uri="{FF2B5EF4-FFF2-40B4-BE49-F238E27FC236}">
                <a16:creationId xmlns:a16="http://schemas.microsoft.com/office/drawing/2014/main" id="{FE8641F3-29C7-2EA1-A674-201E037A4D2C}"/>
              </a:ext>
            </a:extLst>
          </p:cNvPr>
          <p:cNvSpPr>
            <a:spLocks noGrp="1"/>
          </p:cNvSpPr>
          <p:nvPr>
            <p:ph sz="half" idx="2"/>
          </p:nvPr>
        </p:nvSpPr>
        <p:spPr/>
        <p:txBody>
          <a:bodyPr/>
          <a:lstStyle/>
          <a:p>
            <a:r>
              <a:rPr lang="en-US" dirty="0" err="1"/>
              <a:t>st_distance</a:t>
            </a:r>
            <a:r>
              <a:rPr lang="en-US" dirty="0"/>
              <a:t>(</a:t>
            </a:r>
            <a:br>
              <a:rPr lang="en-US" dirty="0"/>
            </a:br>
            <a:r>
              <a:rPr lang="en-US" dirty="0" err="1"/>
              <a:t>points_sf</a:t>
            </a:r>
            <a:r>
              <a:rPr lang="en-US" dirty="0"/>
              <a:t>[1,], </a:t>
            </a:r>
            <a:r>
              <a:rPr lang="en-US" dirty="0" err="1"/>
              <a:t>points_sf</a:t>
            </a:r>
            <a:r>
              <a:rPr lang="en-US" dirty="0"/>
              <a:t>[2,]</a:t>
            </a:r>
            <a:br>
              <a:rPr lang="en-US" dirty="0"/>
            </a:br>
            <a:r>
              <a:rPr lang="en-US" dirty="0"/>
              <a:t>)</a:t>
            </a:r>
          </a:p>
          <a:p>
            <a:endParaRPr lang="en-US" dirty="0"/>
          </a:p>
          <a:p>
            <a:r>
              <a:rPr lang="en-US" dirty="0"/>
              <a:t>library(units)</a:t>
            </a:r>
          </a:p>
          <a:p>
            <a:endParaRPr lang="en-US" dirty="0"/>
          </a:p>
          <a:p>
            <a:r>
              <a:rPr lang="en-US" dirty="0" err="1"/>
              <a:t>set_units</a:t>
            </a:r>
            <a:r>
              <a:rPr lang="en-US" dirty="0"/>
              <a:t>(</a:t>
            </a:r>
            <a:br>
              <a:rPr lang="en-US" dirty="0"/>
            </a:br>
            <a:r>
              <a:rPr lang="en-US" dirty="0" err="1"/>
              <a:t>st_distance</a:t>
            </a:r>
            <a:r>
              <a:rPr lang="en-US" dirty="0"/>
              <a:t>(</a:t>
            </a:r>
            <a:br>
              <a:rPr lang="en-US" dirty="0"/>
            </a:br>
            <a:r>
              <a:rPr lang="en-US" dirty="0"/>
              <a:t>  </a:t>
            </a:r>
            <a:r>
              <a:rPr lang="en-US" dirty="0" err="1"/>
              <a:t>points_sf</a:t>
            </a:r>
            <a:r>
              <a:rPr lang="en-US" dirty="0"/>
              <a:t>[1,], </a:t>
            </a:r>
            <a:r>
              <a:rPr lang="en-US" dirty="0" err="1"/>
              <a:t>points_sf</a:t>
            </a:r>
            <a:r>
              <a:rPr lang="en-US" dirty="0"/>
              <a:t>[2,]), "miles")</a:t>
            </a:r>
          </a:p>
        </p:txBody>
      </p:sp>
      <p:sp>
        <p:nvSpPr>
          <p:cNvPr id="5" name="Slide Number Placeholder 4">
            <a:extLst>
              <a:ext uri="{FF2B5EF4-FFF2-40B4-BE49-F238E27FC236}">
                <a16:creationId xmlns:a16="http://schemas.microsoft.com/office/drawing/2014/main" id="{00F651E2-7D61-B607-5A10-252F8DC989A2}"/>
              </a:ext>
            </a:extLst>
          </p:cNvPr>
          <p:cNvSpPr>
            <a:spLocks noGrp="1"/>
          </p:cNvSpPr>
          <p:nvPr>
            <p:ph type="sldNum" sz="quarter" idx="12"/>
          </p:nvPr>
        </p:nvSpPr>
        <p:spPr/>
        <p:txBody>
          <a:bodyPr/>
          <a:lstStyle/>
          <a:p>
            <a:fld id="{C0343C75-1924-D247-85A3-0CB62E67E5D1}" type="slidenum">
              <a:rPr lang="en-US" smtClean="0"/>
              <a:t>11</a:t>
            </a:fld>
            <a:endParaRPr lang="en-US"/>
          </a:p>
        </p:txBody>
      </p:sp>
    </p:spTree>
    <p:extLst>
      <p:ext uri="{BB962C8B-B14F-4D97-AF65-F5344CB8AC3E}">
        <p14:creationId xmlns:p14="http://schemas.microsoft.com/office/powerpoint/2010/main" val="3129564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F7B78-8B27-1BB8-2155-4A9198453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63B948-DE67-9159-7874-D809B06948C6}"/>
              </a:ext>
            </a:extLst>
          </p:cNvPr>
          <p:cNvSpPr>
            <a:spLocks noGrp="1"/>
          </p:cNvSpPr>
          <p:nvPr>
            <p:ph type="title"/>
          </p:nvPr>
        </p:nvSpPr>
        <p:spPr/>
        <p:txBody>
          <a:bodyPr/>
          <a:lstStyle/>
          <a:p>
            <a:r>
              <a:rPr lang="en-US" dirty="0"/>
              <a:t>Working with Data Frames</a:t>
            </a:r>
          </a:p>
        </p:txBody>
      </p:sp>
      <p:sp>
        <p:nvSpPr>
          <p:cNvPr id="3" name="Content Placeholder 2">
            <a:extLst>
              <a:ext uri="{FF2B5EF4-FFF2-40B4-BE49-F238E27FC236}">
                <a16:creationId xmlns:a16="http://schemas.microsoft.com/office/drawing/2014/main" id="{ECE93DA5-B17C-FC20-A2FA-A3EC89DF3E6D}"/>
              </a:ext>
            </a:extLst>
          </p:cNvPr>
          <p:cNvSpPr>
            <a:spLocks noGrp="1"/>
          </p:cNvSpPr>
          <p:nvPr>
            <p:ph sz="half" idx="1"/>
          </p:nvPr>
        </p:nvSpPr>
        <p:spPr/>
        <p:txBody>
          <a:bodyPr>
            <a:normAutofit/>
          </a:bodyPr>
          <a:lstStyle/>
          <a:p>
            <a:r>
              <a:rPr lang="en-US" sz="1800" dirty="0"/>
              <a:t>If you have a set of points in an sf object, </a:t>
            </a:r>
            <a:r>
              <a:rPr lang="en-US" sz="1800" b="1" dirty="0" err="1">
                <a:latin typeface="Consolas" panose="020B0609020204030204" pitchFamily="49" charset="0"/>
                <a:cs typeface="Consolas" panose="020B0609020204030204" pitchFamily="49" charset="0"/>
              </a:rPr>
              <a:t>st_distance</a:t>
            </a:r>
            <a:r>
              <a:rPr lang="en-US" sz="1800" b="1" dirty="0">
                <a:latin typeface="Consolas" panose="020B0609020204030204" pitchFamily="49" charset="0"/>
                <a:cs typeface="Consolas" panose="020B0609020204030204" pitchFamily="49" charset="0"/>
              </a:rPr>
              <a:t> </a:t>
            </a:r>
            <a:r>
              <a:rPr lang="en-US" sz="1800" dirty="0"/>
              <a:t>will return a distance matrix comparing every point in the first set to every point in the second.</a:t>
            </a:r>
          </a:p>
        </p:txBody>
      </p:sp>
      <p:sp>
        <p:nvSpPr>
          <p:cNvPr id="4" name="Content Placeholder 3">
            <a:extLst>
              <a:ext uri="{FF2B5EF4-FFF2-40B4-BE49-F238E27FC236}">
                <a16:creationId xmlns:a16="http://schemas.microsoft.com/office/drawing/2014/main" id="{A39C0551-BFE3-7531-0A8D-9337713C7B34}"/>
              </a:ext>
            </a:extLst>
          </p:cNvPr>
          <p:cNvSpPr>
            <a:spLocks noGrp="1"/>
          </p:cNvSpPr>
          <p:nvPr>
            <p:ph sz="half" idx="2"/>
          </p:nvPr>
        </p:nvSpPr>
        <p:spPr/>
        <p:txBody>
          <a:bodyPr/>
          <a:lstStyle/>
          <a:p>
            <a:r>
              <a:rPr lang="en-US" dirty="0">
                <a:solidFill>
                  <a:schemeClr val="tx1">
                    <a:lumMod val="50000"/>
                    <a:lumOff val="50000"/>
                  </a:schemeClr>
                </a:solidFill>
              </a:rPr>
              <a:t># Calculate distances between all points in '</a:t>
            </a:r>
            <a:r>
              <a:rPr lang="en-US" dirty="0" err="1">
                <a:solidFill>
                  <a:schemeClr val="tx1">
                    <a:lumMod val="50000"/>
                    <a:lumOff val="50000"/>
                  </a:schemeClr>
                </a:solidFill>
              </a:rPr>
              <a:t>cities_sf</a:t>
            </a:r>
            <a:r>
              <a:rPr lang="en-US" dirty="0">
                <a:solidFill>
                  <a:schemeClr val="tx1">
                    <a:lumMod val="50000"/>
                    <a:lumOff val="50000"/>
                  </a:schemeClr>
                </a:solidFill>
              </a:rPr>
              <a:t>'</a:t>
            </a:r>
          </a:p>
          <a:p>
            <a:r>
              <a:rPr lang="en-US" dirty="0" err="1"/>
              <a:t>dist_matrix</a:t>
            </a:r>
            <a:r>
              <a:rPr lang="en-US" dirty="0"/>
              <a:t> &lt;- </a:t>
            </a:r>
            <a:r>
              <a:rPr lang="en-US" dirty="0" err="1"/>
              <a:t>st_distance</a:t>
            </a:r>
            <a:r>
              <a:rPr lang="en-US" dirty="0"/>
              <a:t>(</a:t>
            </a:r>
            <a:r>
              <a:rPr lang="en-US" dirty="0" err="1"/>
              <a:t>cities_sf</a:t>
            </a:r>
            <a:r>
              <a:rPr lang="en-US" dirty="0"/>
              <a:t>)</a:t>
            </a:r>
          </a:p>
          <a:p>
            <a:endParaRPr lang="en-US" dirty="0"/>
          </a:p>
          <a:p>
            <a:r>
              <a:rPr lang="en-US" dirty="0">
                <a:solidFill>
                  <a:schemeClr val="tx1">
                    <a:lumMod val="50000"/>
                    <a:lumOff val="50000"/>
                  </a:schemeClr>
                </a:solidFill>
              </a:rPr>
              <a:t># To get the distance to the nearest neighbor only:</a:t>
            </a:r>
          </a:p>
          <a:p>
            <a:r>
              <a:rPr lang="en-US" dirty="0" err="1"/>
              <a:t>min_dist</a:t>
            </a:r>
            <a:r>
              <a:rPr lang="en-US" dirty="0"/>
              <a:t> &lt;- apply(</a:t>
            </a:r>
            <a:r>
              <a:rPr lang="en-US" dirty="0" err="1"/>
              <a:t>st_distance</a:t>
            </a:r>
            <a:r>
              <a:rPr lang="en-US" dirty="0"/>
              <a:t>(</a:t>
            </a:r>
            <a:r>
              <a:rPr lang="en-US" dirty="0" err="1"/>
              <a:t>cities_sf</a:t>
            </a:r>
            <a:r>
              <a:rPr lang="en-US" dirty="0"/>
              <a:t>),</a:t>
            </a:r>
            <a:br>
              <a:rPr lang="en-US" dirty="0"/>
            </a:br>
            <a:r>
              <a:rPr lang="en-US" dirty="0"/>
              <a:t>1, function(x) min(x[x &gt; 0]))</a:t>
            </a:r>
          </a:p>
          <a:p>
            <a:endParaRPr lang="en-US" dirty="0"/>
          </a:p>
          <a:p>
            <a:r>
              <a:rPr lang="en-US" dirty="0">
                <a:solidFill>
                  <a:srgbClr val="FFFF00"/>
                </a:solidFill>
              </a:rPr>
              <a:t>?apply</a:t>
            </a:r>
          </a:p>
        </p:txBody>
      </p:sp>
      <p:sp>
        <p:nvSpPr>
          <p:cNvPr id="5" name="Slide Number Placeholder 4">
            <a:extLst>
              <a:ext uri="{FF2B5EF4-FFF2-40B4-BE49-F238E27FC236}">
                <a16:creationId xmlns:a16="http://schemas.microsoft.com/office/drawing/2014/main" id="{0CF663BD-3B2B-4A5E-D143-ED8005FB2D45}"/>
              </a:ext>
            </a:extLst>
          </p:cNvPr>
          <p:cNvSpPr>
            <a:spLocks noGrp="1"/>
          </p:cNvSpPr>
          <p:nvPr>
            <p:ph type="sldNum" sz="quarter" idx="12"/>
          </p:nvPr>
        </p:nvSpPr>
        <p:spPr/>
        <p:txBody>
          <a:bodyPr/>
          <a:lstStyle/>
          <a:p>
            <a:fld id="{C0343C75-1924-D247-85A3-0CB62E67E5D1}" type="slidenum">
              <a:rPr lang="en-US" smtClean="0"/>
              <a:t>12</a:t>
            </a:fld>
            <a:endParaRPr lang="en-US"/>
          </a:p>
        </p:txBody>
      </p:sp>
    </p:spTree>
    <p:extLst>
      <p:ext uri="{BB962C8B-B14F-4D97-AF65-F5344CB8AC3E}">
        <p14:creationId xmlns:p14="http://schemas.microsoft.com/office/powerpoint/2010/main" val="2755388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8A514-AA44-1A7A-EA30-52B7E22A66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16E5CE-380A-C9CE-A2D3-B19996A10EE7}"/>
              </a:ext>
            </a:extLst>
          </p:cNvPr>
          <p:cNvSpPr>
            <a:spLocks noGrp="1"/>
          </p:cNvSpPr>
          <p:nvPr>
            <p:ph type="title"/>
          </p:nvPr>
        </p:nvSpPr>
        <p:spPr/>
        <p:txBody>
          <a:bodyPr/>
          <a:lstStyle/>
          <a:p>
            <a:r>
              <a:rPr lang="en-US" dirty="0"/>
              <a:t>Pairwise Distance (Row-by-Row)</a:t>
            </a:r>
          </a:p>
        </p:txBody>
      </p:sp>
      <p:sp>
        <p:nvSpPr>
          <p:cNvPr id="3" name="Content Placeholder 2">
            <a:extLst>
              <a:ext uri="{FF2B5EF4-FFF2-40B4-BE49-F238E27FC236}">
                <a16:creationId xmlns:a16="http://schemas.microsoft.com/office/drawing/2014/main" id="{2C0F0E93-0227-7DF7-DA51-057D2E7B58C5}"/>
              </a:ext>
            </a:extLst>
          </p:cNvPr>
          <p:cNvSpPr>
            <a:spLocks noGrp="1"/>
          </p:cNvSpPr>
          <p:nvPr>
            <p:ph sz="half" idx="1"/>
          </p:nvPr>
        </p:nvSpPr>
        <p:spPr/>
        <p:txBody>
          <a:bodyPr>
            <a:normAutofit/>
          </a:bodyPr>
          <a:lstStyle/>
          <a:p>
            <a:r>
              <a:rPr lang="en-US" sz="1800" dirty="0"/>
              <a:t>If you have two columns of points and want to calculate the distance between Point A1 and Point B1, A2 and B2, etc. (rather than a full matrix), use </a:t>
            </a:r>
            <a:r>
              <a:rPr lang="en-US" sz="1800" b="1" dirty="0" err="1">
                <a:latin typeface="Consolas" panose="020B0609020204030204" pitchFamily="49" charset="0"/>
                <a:cs typeface="Consolas" panose="020B0609020204030204" pitchFamily="49" charset="0"/>
              </a:rPr>
              <a:t>by_element</a:t>
            </a:r>
            <a:r>
              <a:rPr lang="en-US" sz="1800" b="1" dirty="0">
                <a:latin typeface="Consolas" panose="020B0609020204030204" pitchFamily="49" charset="0"/>
                <a:cs typeface="Consolas" panose="020B0609020204030204" pitchFamily="49" charset="0"/>
              </a:rPr>
              <a:t> = TRUE</a:t>
            </a:r>
            <a:endParaRPr lang="en-US" sz="1800" dirty="0"/>
          </a:p>
        </p:txBody>
      </p:sp>
      <p:sp>
        <p:nvSpPr>
          <p:cNvPr id="4" name="Content Placeholder 3">
            <a:extLst>
              <a:ext uri="{FF2B5EF4-FFF2-40B4-BE49-F238E27FC236}">
                <a16:creationId xmlns:a16="http://schemas.microsoft.com/office/drawing/2014/main" id="{BCC79BED-A3A8-2F4E-CE4C-B80656BDBA81}"/>
              </a:ext>
            </a:extLst>
          </p:cNvPr>
          <p:cNvSpPr>
            <a:spLocks noGrp="1"/>
          </p:cNvSpPr>
          <p:nvPr>
            <p:ph sz="half" idx="2"/>
          </p:nvPr>
        </p:nvSpPr>
        <p:spPr/>
        <p:txBody>
          <a:bodyPr>
            <a:normAutofit/>
          </a:bodyPr>
          <a:lstStyle/>
          <a:p>
            <a:r>
              <a:rPr lang="en-US" dirty="0"/>
              <a:t>distances &lt;- </a:t>
            </a:r>
            <a:br>
              <a:rPr lang="en-US" dirty="0"/>
            </a:br>
            <a:r>
              <a:rPr lang="en-US" dirty="0" err="1"/>
              <a:t>st_distance</a:t>
            </a:r>
            <a:r>
              <a:rPr lang="en-US" dirty="0"/>
              <a:t>(</a:t>
            </a:r>
            <a:br>
              <a:rPr lang="en-US" dirty="0"/>
            </a:br>
            <a:r>
              <a:rPr lang="en-US" dirty="0"/>
              <a:t>set_p1, set_p2, </a:t>
            </a:r>
            <a:br>
              <a:rPr lang="en-US" dirty="0"/>
            </a:br>
            <a:r>
              <a:rPr lang="en-US" dirty="0" err="1"/>
              <a:t>by_element</a:t>
            </a:r>
            <a:r>
              <a:rPr lang="en-US" dirty="0"/>
              <a:t> = TRUE)</a:t>
            </a:r>
          </a:p>
          <a:p>
            <a:endParaRPr lang="en-US" dirty="0"/>
          </a:p>
          <a:p>
            <a:r>
              <a:rPr lang="en-US" dirty="0">
                <a:solidFill>
                  <a:srgbClr val="FFFF00"/>
                </a:solidFill>
              </a:rPr>
              <a:t>? </a:t>
            </a:r>
            <a:r>
              <a:rPr lang="en-US" dirty="0" err="1">
                <a:solidFill>
                  <a:srgbClr val="FFFF00"/>
                </a:solidFill>
              </a:rPr>
              <a:t>st_distance</a:t>
            </a:r>
            <a:endParaRPr lang="en-US" dirty="0"/>
          </a:p>
        </p:txBody>
      </p:sp>
      <p:sp>
        <p:nvSpPr>
          <p:cNvPr id="5" name="Slide Number Placeholder 4">
            <a:extLst>
              <a:ext uri="{FF2B5EF4-FFF2-40B4-BE49-F238E27FC236}">
                <a16:creationId xmlns:a16="http://schemas.microsoft.com/office/drawing/2014/main" id="{5701090E-56D8-0176-7957-421287C77A99}"/>
              </a:ext>
            </a:extLst>
          </p:cNvPr>
          <p:cNvSpPr>
            <a:spLocks noGrp="1"/>
          </p:cNvSpPr>
          <p:nvPr>
            <p:ph type="sldNum" sz="quarter" idx="12"/>
          </p:nvPr>
        </p:nvSpPr>
        <p:spPr/>
        <p:txBody>
          <a:bodyPr/>
          <a:lstStyle/>
          <a:p>
            <a:fld id="{C0343C75-1924-D247-85A3-0CB62E67E5D1}" type="slidenum">
              <a:rPr lang="en-US" smtClean="0"/>
              <a:t>13</a:t>
            </a:fld>
            <a:endParaRPr lang="en-US"/>
          </a:p>
        </p:txBody>
      </p:sp>
    </p:spTree>
    <p:extLst>
      <p:ext uri="{BB962C8B-B14F-4D97-AF65-F5344CB8AC3E}">
        <p14:creationId xmlns:p14="http://schemas.microsoft.com/office/powerpoint/2010/main" val="2718024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48894-F4C2-0A4D-162F-A0B93D0281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09A055-EE78-BA9B-EB0D-CF3959CB4FEA}"/>
              </a:ext>
            </a:extLst>
          </p:cNvPr>
          <p:cNvSpPr>
            <a:spLocks noGrp="1"/>
          </p:cNvSpPr>
          <p:nvPr>
            <p:ph type="title"/>
          </p:nvPr>
        </p:nvSpPr>
        <p:spPr/>
        <p:txBody>
          <a:bodyPr/>
          <a:lstStyle/>
          <a:p>
            <a:r>
              <a:rPr lang="en-US" dirty="0"/>
              <a:t>Important</a:t>
            </a:r>
          </a:p>
        </p:txBody>
      </p:sp>
      <p:sp>
        <p:nvSpPr>
          <p:cNvPr id="3" name="Content Placeholder 2">
            <a:extLst>
              <a:ext uri="{FF2B5EF4-FFF2-40B4-BE49-F238E27FC236}">
                <a16:creationId xmlns:a16="http://schemas.microsoft.com/office/drawing/2014/main" id="{B69342BB-89DF-E827-566D-A4CE06D09D33}"/>
              </a:ext>
            </a:extLst>
          </p:cNvPr>
          <p:cNvSpPr>
            <a:spLocks noGrp="1"/>
          </p:cNvSpPr>
          <p:nvPr>
            <p:ph sz="half" idx="1"/>
          </p:nvPr>
        </p:nvSpPr>
        <p:spPr/>
        <p:txBody>
          <a:bodyPr>
            <a:noAutofit/>
          </a:bodyPr>
          <a:lstStyle/>
          <a:p>
            <a:r>
              <a:rPr lang="en-US" sz="1800" dirty="0"/>
              <a:t>The output is usually a </a:t>
            </a:r>
            <a:r>
              <a:rPr lang="en-US" sz="1800" b="1" dirty="0">
                <a:latin typeface="Consolas" panose="020B0609020204030204" pitchFamily="49" charset="0"/>
                <a:cs typeface="Consolas" panose="020B0609020204030204" pitchFamily="49" charset="0"/>
              </a:rPr>
              <a:t>units</a:t>
            </a:r>
            <a:r>
              <a:rPr lang="en-US" sz="1800" dirty="0"/>
              <a:t> object.</a:t>
            </a:r>
          </a:p>
          <a:p>
            <a:pPr lvl="1"/>
            <a:r>
              <a:rPr lang="en-US" dirty="0"/>
              <a:t>You can convert it to a standard numeric value or change units using the </a:t>
            </a:r>
            <a:r>
              <a:rPr lang="en-US" b="1" dirty="0">
                <a:latin typeface="Consolas" panose="020B0609020204030204" pitchFamily="49" charset="0"/>
                <a:cs typeface="Consolas" panose="020B0609020204030204" pitchFamily="49" charset="0"/>
              </a:rPr>
              <a:t>units</a:t>
            </a:r>
            <a:r>
              <a:rPr lang="en-US" dirty="0"/>
              <a:t> library:</a:t>
            </a:r>
          </a:p>
          <a:p>
            <a:pPr lvl="1"/>
            <a:r>
              <a:rPr lang="en-US" b="1" dirty="0" err="1">
                <a:latin typeface="Consolas" panose="020B0609020204030204" pitchFamily="49" charset="0"/>
                <a:cs typeface="Consolas" panose="020B0609020204030204" pitchFamily="49" charset="0"/>
              </a:rPr>
              <a:t>as.numeric</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dist</a:t>
            </a:r>
            <a:r>
              <a:rPr lang="en-US" b="1" dirty="0">
                <a:latin typeface="Consolas" panose="020B0609020204030204" pitchFamily="49" charset="0"/>
                <a:cs typeface="Consolas" panose="020B0609020204030204" pitchFamily="49" charset="0"/>
              </a:rPr>
              <a:t>)</a:t>
            </a:r>
            <a:br>
              <a:rPr lang="en-US" dirty="0"/>
            </a:br>
            <a:r>
              <a:rPr lang="en-US" dirty="0"/>
              <a:t>removes the "m" label.</a:t>
            </a:r>
          </a:p>
          <a:p>
            <a:pPr lvl="1"/>
            <a:r>
              <a:rPr lang="en-US" b="1" dirty="0">
                <a:latin typeface="Consolas" panose="020B0609020204030204" pitchFamily="49" charset="0"/>
                <a:cs typeface="Consolas" panose="020B0609020204030204" pitchFamily="49" charset="0"/>
              </a:rPr>
              <a:t>units::</a:t>
            </a:r>
            <a:r>
              <a:rPr lang="en-US" b="1" dirty="0" err="1">
                <a:latin typeface="Consolas" panose="020B0609020204030204" pitchFamily="49" charset="0"/>
                <a:cs typeface="Consolas" panose="020B0609020204030204" pitchFamily="49" charset="0"/>
              </a:rPr>
              <a:t>set_units</a:t>
            </a:r>
            <a:r>
              <a:rPr lang="en-US" b="1" dirty="0">
                <a:latin typeface="Consolas" panose="020B0609020204030204" pitchFamily="49" charset="0"/>
                <a:cs typeface="Consolas" panose="020B0609020204030204" pitchFamily="49" charset="0"/>
              </a:rPr>
              <a:t>(</a:t>
            </a:r>
            <a:r>
              <a:rPr lang="en-US" b="1" dirty="0" err="1">
                <a:latin typeface="Consolas" panose="020B0609020204030204" pitchFamily="49" charset="0"/>
                <a:cs typeface="Consolas" panose="020B0609020204030204" pitchFamily="49" charset="0"/>
              </a:rPr>
              <a:t>dist</a:t>
            </a:r>
            <a:r>
              <a:rPr lang="en-US" b="1" dirty="0">
                <a:latin typeface="Consolas" panose="020B0609020204030204" pitchFamily="49" charset="0"/>
                <a:cs typeface="Consolas" panose="020B0609020204030204" pitchFamily="49" charset="0"/>
              </a:rPr>
              <a:t>, km)</a:t>
            </a:r>
            <a:r>
              <a:rPr lang="en-US" dirty="0"/>
              <a:t> converts meters to kilometers.</a:t>
            </a:r>
          </a:p>
        </p:txBody>
      </p:sp>
      <p:sp>
        <p:nvSpPr>
          <p:cNvPr id="4" name="Content Placeholder 3">
            <a:extLst>
              <a:ext uri="{FF2B5EF4-FFF2-40B4-BE49-F238E27FC236}">
                <a16:creationId xmlns:a16="http://schemas.microsoft.com/office/drawing/2014/main" id="{AED7FFD7-9DEF-CC9F-5052-0C24475BCD9B}"/>
              </a:ext>
            </a:extLst>
          </p:cNvPr>
          <p:cNvSpPr>
            <a:spLocks noGrp="1"/>
          </p:cNvSpPr>
          <p:nvPr>
            <p:ph sz="half" idx="2"/>
          </p:nvPr>
        </p:nvSpPr>
        <p:spPr/>
        <p:txBody>
          <a:bodyPr>
            <a:normAutofit/>
          </a:bodyPr>
          <a:lstStyle/>
          <a:p>
            <a:r>
              <a:rPr lang="en-US" dirty="0">
                <a:solidFill>
                  <a:schemeClr val="tx1">
                    <a:lumMod val="50000"/>
                    <a:lumOff val="50000"/>
                  </a:schemeClr>
                </a:solidFill>
              </a:rPr>
              <a:t># Calculate distances between all points in '</a:t>
            </a:r>
            <a:r>
              <a:rPr lang="en-US" dirty="0" err="1">
                <a:solidFill>
                  <a:schemeClr val="tx1">
                    <a:lumMod val="50000"/>
                    <a:lumOff val="50000"/>
                  </a:schemeClr>
                </a:solidFill>
              </a:rPr>
              <a:t>cities_sf</a:t>
            </a:r>
            <a:r>
              <a:rPr lang="en-US" dirty="0">
                <a:solidFill>
                  <a:schemeClr val="tx1">
                    <a:lumMod val="50000"/>
                    <a:lumOff val="50000"/>
                  </a:schemeClr>
                </a:solidFill>
              </a:rPr>
              <a:t>'</a:t>
            </a:r>
          </a:p>
          <a:p>
            <a:r>
              <a:rPr lang="en-US" dirty="0" err="1"/>
              <a:t>dist_matrix</a:t>
            </a:r>
            <a:r>
              <a:rPr lang="en-US" dirty="0"/>
              <a:t> &lt;- </a:t>
            </a:r>
            <a:r>
              <a:rPr lang="en-US" dirty="0" err="1"/>
              <a:t>st_distance</a:t>
            </a:r>
            <a:r>
              <a:rPr lang="en-US" dirty="0"/>
              <a:t>(</a:t>
            </a:r>
            <a:r>
              <a:rPr lang="en-US" dirty="0" err="1"/>
              <a:t>cities_sf</a:t>
            </a:r>
            <a:r>
              <a:rPr lang="en-US" dirty="0"/>
              <a:t>)</a:t>
            </a:r>
          </a:p>
          <a:p>
            <a:endParaRPr lang="en-US" dirty="0"/>
          </a:p>
          <a:p>
            <a:r>
              <a:rPr lang="en-US" dirty="0">
                <a:solidFill>
                  <a:schemeClr val="tx1">
                    <a:lumMod val="50000"/>
                    <a:lumOff val="50000"/>
                  </a:schemeClr>
                </a:solidFill>
              </a:rPr>
              <a:t># To get the distance to the nearest neighbor only:</a:t>
            </a:r>
          </a:p>
          <a:p>
            <a:r>
              <a:rPr lang="en-US" dirty="0" err="1"/>
              <a:t>min_dist</a:t>
            </a:r>
            <a:r>
              <a:rPr lang="en-US" dirty="0"/>
              <a:t> &lt;- apply(</a:t>
            </a:r>
            <a:r>
              <a:rPr lang="en-US" dirty="0" err="1"/>
              <a:t>st_distance</a:t>
            </a:r>
            <a:r>
              <a:rPr lang="en-US" dirty="0"/>
              <a:t>(</a:t>
            </a:r>
            <a:r>
              <a:rPr lang="en-US" dirty="0" err="1"/>
              <a:t>cities_sf</a:t>
            </a:r>
            <a:r>
              <a:rPr lang="en-US" dirty="0"/>
              <a:t>), 1, function(x) min(x[x &gt; 0]))</a:t>
            </a:r>
          </a:p>
        </p:txBody>
      </p:sp>
      <p:sp>
        <p:nvSpPr>
          <p:cNvPr id="5" name="Slide Number Placeholder 4">
            <a:extLst>
              <a:ext uri="{FF2B5EF4-FFF2-40B4-BE49-F238E27FC236}">
                <a16:creationId xmlns:a16="http://schemas.microsoft.com/office/drawing/2014/main" id="{9DD02B78-D42C-2448-2DC5-6FC310DAE36E}"/>
              </a:ext>
            </a:extLst>
          </p:cNvPr>
          <p:cNvSpPr>
            <a:spLocks noGrp="1"/>
          </p:cNvSpPr>
          <p:nvPr>
            <p:ph type="sldNum" sz="quarter" idx="12"/>
          </p:nvPr>
        </p:nvSpPr>
        <p:spPr/>
        <p:txBody>
          <a:bodyPr/>
          <a:lstStyle/>
          <a:p>
            <a:fld id="{C0343C75-1924-D247-85A3-0CB62E67E5D1}" type="slidenum">
              <a:rPr lang="en-US" smtClean="0"/>
              <a:t>14</a:t>
            </a:fld>
            <a:endParaRPr lang="en-US"/>
          </a:p>
        </p:txBody>
      </p:sp>
    </p:spTree>
    <p:extLst>
      <p:ext uri="{BB962C8B-B14F-4D97-AF65-F5344CB8AC3E}">
        <p14:creationId xmlns:p14="http://schemas.microsoft.com/office/powerpoint/2010/main" val="35419331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53353-727E-7A89-E04A-33DE4590C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CCF3D-4DFB-402B-2436-6F3C7EE5C87A}"/>
              </a:ext>
            </a:extLst>
          </p:cNvPr>
          <p:cNvSpPr>
            <a:spLocks noGrp="1"/>
          </p:cNvSpPr>
          <p:nvPr>
            <p:ph type="title"/>
          </p:nvPr>
        </p:nvSpPr>
        <p:spPr/>
        <p:txBody>
          <a:bodyPr/>
          <a:lstStyle/>
          <a:p>
            <a:r>
              <a:rPr lang="en-US" dirty="0"/>
              <a:t>Great Circle vs. Euclidean</a:t>
            </a:r>
          </a:p>
        </p:txBody>
      </p:sp>
      <p:sp>
        <p:nvSpPr>
          <p:cNvPr id="3" name="Content Placeholder 2">
            <a:extLst>
              <a:ext uri="{FF2B5EF4-FFF2-40B4-BE49-F238E27FC236}">
                <a16:creationId xmlns:a16="http://schemas.microsoft.com/office/drawing/2014/main" id="{300F3B77-5000-E1A9-E95E-C7F76D03BE02}"/>
              </a:ext>
            </a:extLst>
          </p:cNvPr>
          <p:cNvSpPr>
            <a:spLocks noGrp="1"/>
          </p:cNvSpPr>
          <p:nvPr>
            <p:ph sz="half" idx="1"/>
          </p:nvPr>
        </p:nvSpPr>
        <p:spPr>
          <a:xfrm>
            <a:off x="457199" y="1596072"/>
            <a:ext cx="8175171" cy="4580891"/>
          </a:xfrm>
        </p:spPr>
        <p:txBody>
          <a:bodyPr>
            <a:noAutofit/>
          </a:bodyPr>
          <a:lstStyle/>
          <a:p>
            <a:r>
              <a:rPr lang="en-US" sz="1800" dirty="0"/>
              <a:t>If your CRS is geographic (degrees), </a:t>
            </a:r>
            <a:r>
              <a:rPr lang="en-US" sz="1800" b="1" dirty="0">
                <a:latin typeface="Consolas" panose="020B0609020204030204" pitchFamily="49" charset="0"/>
                <a:cs typeface="Consolas" panose="020B0609020204030204" pitchFamily="49" charset="0"/>
              </a:rPr>
              <a:t>sf</a:t>
            </a:r>
            <a:r>
              <a:rPr lang="en-US" sz="1800" dirty="0"/>
              <a:t> uses the </a:t>
            </a:r>
            <a:r>
              <a:rPr lang="en-US" sz="1800" dirty="0">
                <a:hlinkClick r:id="rId2"/>
              </a:rPr>
              <a:t>S2 geometry library </a:t>
            </a:r>
            <a:r>
              <a:rPr lang="en-US" sz="1800" dirty="0"/>
              <a:t>to calculate distance on a sphere/ellipsoid.</a:t>
            </a:r>
          </a:p>
        </p:txBody>
      </p:sp>
      <p:sp>
        <p:nvSpPr>
          <p:cNvPr id="5" name="Slide Number Placeholder 4">
            <a:extLst>
              <a:ext uri="{FF2B5EF4-FFF2-40B4-BE49-F238E27FC236}">
                <a16:creationId xmlns:a16="http://schemas.microsoft.com/office/drawing/2014/main" id="{E95D7D09-2080-D6C9-4E88-C6177AF89BA9}"/>
              </a:ext>
            </a:extLst>
          </p:cNvPr>
          <p:cNvSpPr>
            <a:spLocks noGrp="1"/>
          </p:cNvSpPr>
          <p:nvPr>
            <p:ph type="sldNum" sz="quarter" idx="12"/>
          </p:nvPr>
        </p:nvSpPr>
        <p:spPr/>
        <p:txBody>
          <a:bodyPr/>
          <a:lstStyle/>
          <a:p>
            <a:fld id="{C0343C75-1924-D247-85A3-0CB62E67E5D1}" type="slidenum">
              <a:rPr lang="en-US" smtClean="0"/>
              <a:t>15</a:t>
            </a:fld>
            <a:endParaRPr lang="en-US"/>
          </a:p>
        </p:txBody>
      </p:sp>
      <p:sp>
        <p:nvSpPr>
          <p:cNvPr id="8" name="Snip Single Corner Rectangle 7">
            <a:extLst>
              <a:ext uri="{FF2B5EF4-FFF2-40B4-BE49-F238E27FC236}">
                <a16:creationId xmlns:a16="http://schemas.microsoft.com/office/drawing/2014/main" id="{03508B59-D6E2-59CB-02FA-1878AF4FD83E}"/>
              </a:ext>
            </a:extLst>
          </p:cNvPr>
          <p:cNvSpPr/>
          <p:nvPr/>
        </p:nvSpPr>
        <p:spPr>
          <a:xfrm>
            <a:off x="511628" y="3428999"/>
            <a:ext cx="3875314" cy="2927351"/>
          </a:xfrm>
          <a:prstGeom prst="snip1Rect">
            <a:avLst/>
          </a:prstGeom>
          <a:solidFill>
            <a:schemeClr val="tx2">
              <a:lumMod val="25000"/>
              <a:lumOff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182880" tIns="0" rIns="0" bIns="0" rtlCol="0" anchor="t" anchorCtr="0">
            <a:noAutofit/>
          </a:bodyPr>
          <a:lstStyle/>
          <a:p>
            <a:r>
              <a:rPr lang="en-US" sz="1600" dirty="0">
                <a:solidFill>
                  <a:schemeClr val="tx1"/>
                </a:solidFill>
              </a:rPr>
              <a:t>By the way, the name "S2" is derived from the mathematical notation for the unit sphere, S².</a:t>
            </a:r>
          </a:p>
          <a:p>
            <a:endParaRPr lang="en-US" sz="1600" dirty="0">
              <a:solidFill>
                <a:schemeClr val="tx1"/>
              </a:solidFill>
            </a:endParaRPr>
          </a:p>
          <a:p>
            <a:r>
              <a:rPr lang="en-US" sz="1600" dirty="0">
                <a:solidFill>
                  <a:schemeClr val="tx1"/>
                </a:solidFill>
              </a:rPr>
              <a:t>S2 approaches this problem by working exclusively with spherical projections. As the name implies, spherical projections map points on the Earth's surface to a perfect mathematical sphere</a:t>
            </a:r>
          </a:p>
          <a:p>
            <a:endParaRPr lang="en-US" sz="1600" dirty="0">
              <a:solidFill>
                <a:schemeClr val="tx1"/>
              </a:solidFill>
            </a:endParaRPr>
          </a:p>
        </p:txBody>
      </p:sp>
      <p:sp>
        <p:nvSpPr>
          <p:cNvPr id="4" name="Snip Single Corner Rectangle 3">
            <a:extLst>
              <a:ext uri="{FF2B5EF4-FFF2-40B4-BE49-F238E27FC236}">
                <a16:creationId xmlns:a16="http://schemas.microsoft.com/office/drawing/2014/main" id="{E92B6FCB-D8F5-A421-C8EF-27F5C4EECEA5}"/>
              </a:ext>
            </a:extLst>
          </p:cNvPr>
          <p:cNvSpPr/>
          <p:nvPr/>
        </p:nvSpPr>
        <p:spPr>
          <a:xfrm>
            <a:off x="4757059" y="2641601"/>
            <a:ext cx="3875314" cy="3716338"/>
          </a:xfrm>
          <a:prstGeom prst="snip1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lIns="182880" tIns="0" rIns="0" bIns="0" rtlCol="0" anchor="t" anchorCtr="0">
            <a:noAutofit/>
          </a:bodyPr>
          <a:lstStyle/>
          <a:p>
            <a:r>
              <a:rPr lang="en-US" sz="1600" dirty="0">
                <a:solidFill>
                  <a:schemeClr val="tx1"/>
                </a:solidFill>
              </a:rPr>
              <a:t>Such mappings still create some distortion, of course, because the Earth is not quite spherical–but as it turns out, the Earth is much closer to being a sphere than a plane.</a:t>
            </a:r>
          </a:p>
          <a:p>
            <a:r>
              <a:rPr lang="en-US" sz="1600" dirty="0">
                <a:solidFill>
                  <a:schemeClr val="tx1"/>
                </a:solidFill>
              </a:rPr>
              <a:t>With spherical projections, it is possible to approximate the entire Earth's surface with a maximum distortion of </a:t>
            </a:r>
            <a:r>
              <a:rPr lang="en-US" sz="1600" dirty="0">
                <a:solidFill>
                  <a:schemeClr val="tx1"/>
                </a:solidFill>
                <a:highlight>
                  <a:srgbClr val="FFFF00"/>
                </a:highlight>
              </a:rPr>
              <a:t>0.56%</a:t>
            </a:r>
            <a:r>
              <a:rPr lang="en-US" sz="1600" dirty="0">
                <a:solidFill>
                  <a:schemeClr val="tx1"/>
                </a:solidFill>
              </a:rPr>
              <a:t>.</a:t>
            </a:r>
          </a:p>
          <a:p>
            <a:endParaRPr lang="en-US" sz="1600" dirty="0">
              <a:solidFill>
                <a:schemeClr val="tx1"/>
              </a:solidFill>
            </a:endParaRPr>
          </a:p>
          <a:p>
            <a:r>
              <a:rPr lang="en-US" sz="1600" dirty="0">
                <a:solidFill>
                  <a:schemeClr val="tx1"/>
                </a:solidFill>
              </a:rPr>
              <a:t>Spherical projections preserve the correct topology of the Earth; there are no singularities or discontinuities.</a:t>
            </a:r>
          </a:p>
        </p:txBody>
      </p:sp>
    </p:spTree>
    <p:extLst>
      <p:ext uri="{BB962C8B-B14F-4D97-AF65-F5344CB8AC3E}">
        <p14:creationId xmlns:p14="http://schemas.microsoft.com/office/powerpoint/2010/main" val="1672585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42A62-E9F8-3EB2-AAD8-8C5A05D34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CAE35-94D3-58AF-B44C-CD0F4A23E033}"/>
              </a:ext>
            </a:extLst>
          </p:cNvPr>
          <p:cNvSpPr>
            <a:spLocks noGrp="1"/>
          </p:cNvSpPr>
          <p:nvPr>
            <p:ph type="title"/>
          </p:nvPr>
        </p:nvSpPr>
        <p:spPr/>
        <p:txBody>
          <a:bodyPr/>
          <a:lstStyle/>
          <a:p>
            <a:r>
              <a:rPr lang="en-US" dirty="0"/>
              <a:t>Great Circle vs. Euclidean</a:t>
            </a:r>
          </a:p>
        </p:txBody>
      </p:sp>
      <p:sp>
        <p:nvSpPr>
          <p:cNvPr id="3" name="Content Placeholder 2">
            <a:extLst>
              <a:ext uri="{FF2B5EF4-FFF2-40B4-BE49-F238E27FC236}">
                <a16:creationId xmlns:a16="http://schemas.microsoft.com/office/drawing/2014/main" id="{3075D45D-8E68-B99F-E8BC-E0E6841D4EFC}"/>
              </a:ext>
            </a:extLst>
          </p:cNvPr>
          <p:cNvSpPr>
            <a:spLocks noGrp="1"/>
          </p:cNvSpPr>
          <p:nvPr>
            <p:ph sz="half" idx="1"/>
          </p:nvPr>
        </p:nvSpPr>
        <p:spPr>
          <a:xfrm>
            <a:off x="457199" y="1596072"/>
            <a:ext cx="8175171" cy="4580891"/>
          </a:xfrm>
        </p:spPr>
        <p:txBody>
          <a:bodyPr>
            <a:noAutofit/>
          </a:bodyPr>
          <a:lstStyle/>
          <a:p>
            <a:r>
              <a:rPr lang="en-US" sz="1800" dirty="0">
                <a:solidFill>
                  <a:schemeClr val="bg1">
                    <a:lumMod val="50000"/>
                  </a:schemeClr>
                </a:solidFill>
              </a:rPr>
              <a:t>If your CRS is geographic (degrees), </a:t>
            </a:r>
            <a:r>
              <a:rPr lang="en-US" sz="1800" b="1" dirty="0">
                <a:solidFill>
                  <a:schemeClr val="bg1">
                    <a:lumMod val="50000"/>
                  </a:schemeClr>
                </a:solidFill>
                <a:latin typeface="Consolas" panose="020B0609020204030204" pitchFamily="49" charset="0"/>
                <a:cs typeface="Consolas" panose="020B0609020204030204" pitchFamily="49" charset="0"/>
              </a:rPr>
              <a:t>sf</a:t>
            </a:r>
            <a:r>
              <a:rPr lang="en-US" sz="1800" dirty="0">
                <a:solidFill>
                  <a:schemeClr val="bg1">
                    <a:lumMod val="50000"/>
                  </a:schemeClr>
                </a:solidFill>
              </a:rPr>
              <a:t> uses the </a:t>
            </a:r>
            <a:r>
              <a:rPr lang="en-US" sz="1800" dirty="0">
                <a:solidFill>
                  <a:schemeClr val="bg1">
                    <a:lumMod val="50000"/>
                  </a:schemeClr>
                </a:solidFill>
                <a:hlinkClick r:id="rId2">
                  <a:extLst>
                    <a:ext uri="{A12FA001-AC4F-418D-AE19-62706E023703}">
                      <ahyp:hlinkClr xmlns:ahyp="http://schemas.microsoft.com/office/drawing/2018/hyperlinkcolor" val="tx"/>
                    </a:ext>
                  </a:extLst>
                </a:hlinkClick>
              </a:rPr>
              <a:t>S2 geometry library </a:t>
            </a:r>
            <a:r>
              <a:rPr lang="en-US" sz="1800" dirty="0">
                <a:solidFill>
                  <a:schemeClr val="bg1">
                    <a:lumMod val="50000"/>
                  </a:schemeClr>
                </a:solidFill>
              </a:rPr>
              <a:t>to calculate distance on a sphere/ellipsoid.</a:t>
            </a:r>
          </a:p>
          <a:p>
            <a:r>
              <a:rPr lang="en-US" sz="1800" dirty="0"/>
              <a:t>If your CRS is projected (meters/feet), it uses standard Euclidean geometry (Pythagorean theorem).</a:t>
            </a:r>
          </a:p>
        </p:txBody>
      </p:sp>
      <p:sp>
        <p:nvSpPr>
          <p:cNvPr id="5" name="Slide Number Placeholder 4">
            <a:extLst>
              <a:ext uri="{FF2B5EF4-FFF2-40B4-BE49-F238E27FC236}">
                <a16:creationId xmlns:a16="http://schemas.microsoft.com/office/drawing/2014/main" id="{01691C54-A801-73A1-95A0-43EE51A681A0}"/>
              </a:ext>
            </a:extLst>
          </p:cNvPr>
          <p:cNvSpPr>
            <a:spLocks noGrp="1"/>
          </p:cNvSpPr>
          <p:nvPr>
            <p:ph type="sldNum" sz="quarter" idx="12"/>
          </p:nvPr>
        </p:nvSpPr>
        <p:spPr/>
        <p:txBody>
          <a:bodyPr/>
          <a:lstStyle/>
          <a:p>
            <a:fld id="{C0343C75-1924-D247-85A3-0CB62E67E5D1}" type="slidenum">
              <a:rPr lang="en-US" smtClean="0"/>
              <a:t>16</a:t>
            </a:fld>
            <a:endParaRPr lang="en-US"/>
          </a:p>
        </p:txBody>
      </p:sp>
      <p:sp>
        <p:nvSpPr>
          <p:cNvPr id="8" name="Snip Single Corner Rectangle 7">
            <a:extLst>
              <a:ext uri="{FF2B5EF4-FFF2-40B4-BE49-F238E27FC236}">
                <a16:creationId xmlns:a16="http://schemas.microsoft.com/office/drawing/2014/main" id="{8BE4490D-3FC4-C087-76B9-A7B802070312}"/>
              </a:ext>
            </a:extLst>
          </p:cNvPr>
          <p:cNvSpPr/>
          <p:nvPr/>
        </p:nvSpPr>
        <p:spPr>
          <a:xfrm>
            <a:off x="511628" y="3243037"/>
            <a:ext cx="3875314" cy="3113314"/>
          </a:xfrm>
          <a:prstGeom prst="snip1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wrap="square" lIns="182880" tIns="0" rIns="0" bIns="0" rtlCol="0" anchor="t" anchorCtr="0">
            <a:noAutofit/>
          </a:bodyPr>
          <a:lstStyle/>
          <a:p>
            <a:r>
              <a:rPr lang="en-US" sz="1600" dirty="0">
                <a:solidFill>
                  <a:schemeClr val="tx1"/>
                </a:solidFill>
              </a:rPr>
              <a:t>When your data is in a geographic CRS (like EPSG:4326/WGS84), the coordinates are in degrees (Latitude and Longitude). Because the Earth is roughly a sphere (or an ellipsoid), the shortest distance between two points isn't a straight line through the Earth, but a curve along the surface. This is the Great Circle distance. Use to long distances (e.g., flight paths from New York to London).</a:t>
            </a:r>
          </a:p>
        </p:txBody>
      </p:sp>
      <mc:AlternateContent xmlns:mc="http://schemas.openxmlformats.org/markup-compatibility/2006">
        <mc:Choice xmlns:a14="http://schemas.microsoft.com/office/drawing/2010/main" Requires="a14">
          <p:sp>
            <p:nvSpPr>
              <p:cNvPr id="4" name="Snip Single Corner Rectangle 3">
                <a:extLst>
                  <a:ext uri="{FF2B5EF4-FFF2-40B4-BE49-F238E27FC236}">
                    <a16:creationId xmlns:a16="http://schemas.microsoft.com/office/drawing/2014/main" id="{FB3A6F1D-7AAE-6027-22AA-352D41E510DE}"/>
                  </a:ext>
                </a:extLst>
              </p:cNvPr>
              <p:cNvSpPr/>
              <p:nvPr/>
            </p:nvSpPr>
            <p:spPr>
              <a:xfrm>
                <a:off x="4757059" y="2854279"/>
                <a:ext cx="3875314" cy="3503659"/>
              </a:xfrm>
              <a:prstGeom prst="snip1Rect">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wrap="square" lIns="182880" tIns="0" rIns="0" bIns="0" rtlCol="0" anchor="t" anchorCtr="0">
                <a:noAutofit/>
              </a:bodyPr>
              <a:lstStyle/>
              <a:p>
                <a:r>
                  <a:rPr lang="en-US" sz="1600" dirty="0">
                    <a:solidFill>
                      <a:schemeClr val="tx1"/>
                    </a:solidFill>
                  </a:rPr>
                  <a:t>When your data is in a projected CRS (like UTM or State Plane), the coordinates are in linear units like meters or feet. A projection "flattens" the Earth's curve onto a 2D plane. Once the map is flat, we can use the same geometry you learned in high school, the Pythagorean theorem, </a:t>
                </a:r>
                <a14:m>
                  <m:oMath xmlns:m="http://schemas.openxmlformats.org/officeDocument/2006/math">
                    <m:r>
                      <a:rPr lang="en-US" sz="1600" b="0" i="1" smtClean="0">
                        <a:solidFill>
                          <a:schemeClr val="tx1"/>
                        </a:solidFill>
                        <a:latin typeface="Cambria Math" panose="02040503050406030204" pitchFamily="18" charset="0"/>
                      </a:rPr>
                      <m:t>𝑑</m:t>
                    </m:r>
                    <m:r>
                      <a:rPr lang="en-US" sz="1600" b="0" i="1" smtClean="0">
                        <a:solidFill>
                          <a:schemeClr val="tx1"/>
                        </a:solidFill>
                        <a:latin typeface="Cambria Math" panose="02040503050406030204" pitchFamily="18" charset="0"/>
                      </a:rPr>
                      <m:t>=</m:t>
                    </m:r>
                    <m:rad>
                      <m:radPr>
                        <m:degHide m:val="on"/>
                        <m:ctrlPr>
                          <a:rPr lang="en-US" sz="1600" b="0" i="1" smtClean="0">
                            <a:solidFill>
                              <a:schemeClr val="tx1"/>
                            </a:solidFill>
                            <a:latin typeface="Cambria Math" panose="02040503050406030204" pitchFamily="18" charset="0"/>
                          </a:rPr>
                        </m:ctrlPr>
                      </m:radPr>
                      <m:deg/>
                      <m:e>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2</m:t>
                                </m:r>
                              </m:sub>
                            </m:sSub>
                            <m:r>
                              <a:rPr lang="en-US" sz="1600" b="0" i="1" smtClean="0">
                                <a:solidFill>
                                  <a:schemeClr val="tx1"/>
                                </a:solidFill>
                                <a:latin typeface="Cambria Math" panose="02040503050406030204" pitchFamily="18" charset="0"/>
                              </a:rPr>
                              <m:t>−</m:t>
                            </m:r>
                            <m:sSub>
                              <m:sSubPr>
                                <m:ctrlPr>
                                  <a:rPr lang="en-US" sz="1600" b="0" i="1" smtClean="0">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𝑥</m:t>
                                </m:r>
                              </m:e>
                              <m:sub>
                                <m:r>
                                  <a:rPr lang="en-US" sz="1600" b="0" i="1" smtClean="0">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e>
                          <m:sup>
                            <m:r>
                              <a:rPr lang="en-US" sz="1600" b="0" i="1" smtClean="0">
                                <a:solidFill>
                                  <a:schemeClr val="tx1"/>
                                </a:solidFill>
                                <a:latin typeface="Cambria Math" panose="02040503050406030204" pitchFamily="18" charset="0"/>
                              </a:rPr>
                              <m:t>2</m:t>
                            </m:r>
                          </m:sup>
                        </m:sSup>
                        <m:r>
                          <a:rPr lang="en-US" sz="1600" b="0" i="1" smtClean="0">
                            <a:solidFill>
                              <a:schemeClr val="tx1"/>
                            </a:solidFill>
                            <a:latin typeface="Cambria Math" panose="02040503050406030204" pitchFamily="18" charset="0"/>
                          </a:rPr>
                          <m:t>+</m:t>
                        </m:r>
                        <m:sSup>
                          <m:sSupPr>
                            <m:ctrlPr>
                              <a:rPr lang="en-US" sz="1600" b="0" i="1" smtClean="0">
                                <a:solidFill>
                                  <a:schemeClr val="tx1"/>
                                </a:solidFill>
                                <a:latin typeface="Cambria Math" panose="02040503050406030204" pitchFamily="18" charset="0"/>
                              </a:rPr>
                            </m:ctrlPr>
                          </m:sSupPr>
                          <m:e>
                            <m:r>
                              <a:rPr lang="en-US" sz="1600" b="0" i="1" smtClean="0">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2</m:t>
                                </m:r>
                              </m:sub>
                            </m:sSub>
                            <m:r>
                              <a:rPr lang="en-US" sz="1600" i="1">
                                <a:solidFill>
                                  <a:schemeClr val="tx1"/>
                                </a:solidFill>
                                <a:latin typeface="Cambria Math" panose="02040503050406030204" pitchFamily="18" charset="0"/>
                              </a:rPr>
                              <m:t>−</m:t>
                            </m:r>
                            <m:sSub>
                              <m:sSubPr>
                                <m:ctrlPr>
                                  <a:rPr lang="en-US" sz="1600" i="1">
                                    <a:solidFill>
                                      <a:schemeClr val="tx1"/>
                                    </a:solidFill>
                                    <a:latin typeface="Cambria Math" panose="02040503050406030204" pitchFamily="18" charset="0"/>
                                  </a:rPr>
                                </m:ctrlPr>
                              </m:sSubPr>
                              <m:e>
                                <m:r>
                                  <a:rPr lang="en-US" sz="1600" b="0" i="1" smtClean="0">
                                    <a:solidFill>
                                      <a:schemeClr val="tx1"/>
                                    </a:solidFill>
                                    <a:latin typeface="Cambria Math" panose="02040503050406030204" pitchFamily="18" charset="0"/>
                                  </a:rPr>
                                  <m:t>𝑦</m:t>
                                </m:r>
                              </m:e>
                              <m:sub>
                                <m:r>
                                  <a:rPr lang="en-US" sz="1600" i="1">
                                    <a:solidFill>
                                      <a:schemeClr val="tx1"/>
                                    </a:solidFill>
                                    <a:latin typeface="Cambria Math" panose="02040503050406030204" pitchFamily="18" charset="0"/>
                                  </a:rPr>
                                  <m:t>1</m:t>
                                </m:r>
                              </m:sub>
                            </m:sSub>
                            <m:r>
                              <a:rPr lang="en-US" sz="1600" b="0" i="1" smtClean="0">
                                <a:solidFill>
                                  <a:schemeClr val="tx1"/>
                                </a:solidFill>
                                <a:latin typeface="Cambria Math" panose="02040503050406030204" pitchFamily="18" charset="0"/>
                              </a:rPr>
                              <m:t>)</m:t>
                            </m:r>
                          </m:e>
                          <m:sup>
                            <m:r>
                              <a:rPr lang="en-US" sz="1600" b="0" i="1" smtClean="0">
                                <a:solidFill>
                                  <a:schemeClr val="tx1"/>
                                </a:solidFill>
                                <a:latin typeface="Cambria Math" panose="02040503050406030204" pitchFamily="18" charset="0"/>
                              </a:rPr>
                              <m:t>2</m:t>
                            </m:r>
                          </m:sup>
                        </m:sSup>
                      </m:e>
                    </m:rad>
                  </m:oMath>
                </a14:m>
                <a:r>
                  <a:rPr lang="en-US" sz="1600" dirty="0">
                    <a:solidFill>
                      <a:schemeClr val="tx1"/>
                    </a:solidFill>
                  </a:rPr>
                  <a:t>. Use it for local analysis (e.g., measuring the distance between two buildings in the same city).</a:t>
                </a:r>
              </a:p>
            </p:txBody>
          </p:sp>
        </mc:Choice>
        <mc:Fallback>
          <p:sp>
            <p:nvSpPr>
              <p:cNvPr id="4" name="Snip Single Corner Rectangle 3">
                <a:extLst>
                  <a:ext uri="{FF2B5EF4-FFF2-40B4-BE49-F238E27FC236}">
                    <a16:creationId xmlns:a16="http://schemas.microsoft.com/office/drawing/2014/main" id="{FB3A6F1D-7AAE-6027-22AA-352D41E510DE}"/>
                  </a:ext>
                </a:extLst>
              </p:cNvPr>
              <p:cNvSpPr>
                <a:spLocks noRot="1" noChangeAspect="1" noMove="1" noResize="1" noEditPoints="1" noAdjustHandles="1" noChangeArrowheads="1" noChangeShapeType="1" noTextEdit="1"/>
              </p:cNvSpPr>
              <p:nvPr/>
            </p:nvSpPr>
            <p:spPr>
              <a:xfrm>
                <a:off x="4757059" y="2854279"/>
                <a:ext cx="3875314" cy="3503659"/>
              </a:xfrm>
              <a:prstGeom prst="snip1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97038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34808-53C0-DCCC-5338-0DEC45D6280B}"/>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517F4FFE-1580-6222-BA41-A8DBE8456A6A}"/>
              </a:ext>
            </a:extLst>
          </p:cNvPr>
          <p:cNvSpPr>
            <a:spLocks noGrp="1"/>
          </p:cNvSpPr>
          <p:nvPr>
            <p:ph sz="half" idx="1"/>
          </p:nvPr>
        </p:nvSpPr>
        <p:spPr/>
        <p:txBody>
          <a:bodyPr>
            <a:noAutofit/>
          </a:bodyPr>
          <a:lstStyle/>
          <a:p>
            <a:r>
              <a:rPr lang="en-US" sz="1800" dirty="0"/>
              <a:t>When you calculate distances on a sphere (unprojected), the math is computationally heavier and assumes a perfect ellipsoid. </a:t>
            </a:r>
          </a:p>
          <a:p>
            <a:r>
              <a:rPr lang="en-US" sz="1800" dirty="0"/>
              <a:t>When you project to a local UTM zone, you are "flattening" that specific part of the earth, which allows for:</a:t>
            </a:r>
          </a:p>
          <a:p>
            <a:pPr lvl="1"/>
            <a:r>
              <a:rPr lang="en-US" b="1" dirty="0"/>
              <a:t>+ Precision</a:t>
            </a:r>
            <a:r>
              <a:rPr lang="en-US" dirty="0"/>
              <a:t>: Minimal distortion within the specific zone.</a:t>
            </a:r>
          </a:p>
          <a:p>
            <a:pPr lvl="1"/>
            <a:r>
              <a:rPr lang="en-US" b="1" dirty="0"/>
              <a:t>Consistency</a:t>
            </a:r>
            <a:r>
              <a:rPr lang="en-US" dirty="0"/>
              <a:t>: Easier integration with CAD / engineering data.</a:t>
            </a:r>
          </a:p>
          <a:p>
            <a:pPr lvl="1"/>
            <a:r>
              <a:rPr lang="en-US" b="1" dirty="0"/>
              <a:t>Speed</a:t>
            </a:r>
            <a:r>
              <a:rPr lang="en-US" dirty="0"/>
              <a:t>: Linear math is faster for very large datasets (millions of points).</a:t>
            </a:r>
          </a:p>
        </p:txBody>
      </p:sp>
      <p:sp>
        <p:nvSpPr>
          <p:cNvPr id="4" name="Content Placeholder 3">
            <a:extLst>
              <a:ext uri="{FF2B5EF4-FFF2-40B4-BE49-F238E27FC236}">
                <a16:creationId xmlns:a16="http://schemas.microsoft.com/office/drawing/2014/main" id="{8E6CF208-9C1C-E216-9539-DEB56DC3AB36}"/>
              </a:ext>
            </a:extLst>
          </p:cNvPr>
          <p:cNvSpPr>
            <a:spLocks noGrp="1"/>
          </p:cNvSpPr>
          <p:nvPr>
            <p:ph sz="half" idx="2"/>
          </p:nvPr>
        </p:nvSpPr>
        <p:spPr/>
        <p:txBody>
          <a:bodyPr>
            <a:normAutofit/>
          </a:bodyPr>
          <a:lstStyle/>
          <a:p>
            <a:r>
              <a:rPr lang="en-US" sz="1200" dirty="0">
                <a:solidFill>
                  <a:schemeClr val="bg1">
                    <a:lumMod val="50000"/>
                  </a:schemeClr>
                </a:solidFill>
              </a:rPr>
              <a:t># Start with geographic points (WGS84)</a:t>
            </a:r>
          </a:p>
          <a:p>
            <a:r>
              <a:rPr lang="en-US" sz="1200" dirty="0" err="1"/>
              <a:t>pts_geo</a:t>
            </a:r>
            <a:r>
              <a:rPr lang="en-US" sz="1200" dirty="0"/>
              <a:t> &lt;- </a:t>
            </a:r>
            <a:r>
              <a:rPr lang="en-US" sz="1200" dirty="0" err="1"/>
              <a:t>st_as_sf</a:t>
            </a:r>
            <a:r>
              <a:rPr lang="en-US" sz="1200" dirty="0"/>
              <a:t>(</a:t>
            </a:r>
            <a:r>
              <a:rPr lang="en-US" sz="1200" dirty="0" err="1"/>
              <a:t>data.frame</a:t>
            </a:r>
            <a:r>
              <a:rPr lang="en-US" sz="1200" dirty="0"/>
              <a:t>(</a:t>
            </a:r>
          </a:p>
          <a:p>
            <a:r>
              <a:rPr lang="en-US" sz="1200" dirty="0"/>
              <a:t>  name = c("Point A", "Point B"),</a:t>
            </a:r>
          </a:p>
          <a:p>
            <a:r>
              <a:rPr lang="en-US" sz="1200" dirty="0"/>
              <a:t>  </a:t>
            </a:r>
            <a:r>
              <a:rPr lang="en-US" sz="1200" dirty="0" err="1"/>
              <a:t>lon</a:t>
            </a:r>
            <a:r>
              <a:rPr lang="en-US" sz="1200" dirty="0"/>
              <a:t> = c(-73.98, -73.95),</a:t>
            </a:r>
          </a:p>
          <a:p>
            <a:r>
              <a:rPr lang="en-US" sz="1200" dirty="0"/>
              <a:t>  </a:t>
            </a:r>
            <a:r>
              <a:rPr lang="en-US" sz="1200" dirty="0" err="1"/>
              <a:t>lat</a:t>
            </a:r>
            <a:r>
              <a:rPr lang="en-US" sz="1200" dirty="0"/>
              <a:t> = c(40.75, 40.78)</a:t>
            </a:r>
          </a:p>
          <a:p>
            <a:r>
              <a:rPr lang="en-US" sz="1200" dirty="0"/>
              <a:t>), coords = c("</a:t>
            </a:r>
            <a:r>
              <a:rPr lang="en-US" sz="1200" dirty="0" err="1"/>
              <a:t>lon</a:t>
            </a:r>
            <a:r>
              <a:rPr lang="en-US" sz="1200" dirty="0"/>
              <a:t>", "</a:t>
            </a:r>
            <a:r>
              <a:rPr lang="en-US" sz="1200" dirty="0" err="1"/>
              <a:t>lat</a:t>
            </a:r>
            <a:r>
              <a:rPr lang="en-US" sz="1200" dirty="0"/>
              <a:t>"), </a:t>
            </a:r>
            <a:r>
              <a:rPr lang="en-US" sz="1200" dirty="0" err="1"/>
              <a:t>crs</a:t>
            </a:r>
            <a:r>
              <a:rPr lang="en-US" sz="1200" dirty="0"/>
              <a:t> = 4326)</a:t>
            </a:r>
          </a:p>
          <a:p>
            <a:endParaRPr lang="en-US" sz="1200" dirty="0"/>
          </a:p>
          <a:p>
            <a:r>
              <a:rPr lang="en-US" sz="1200" dirty="0">
                <a:solidFill>
                  <a:schemeClr val="bg1">
                    <a:lumMod val="50000"/>
                  </a:schemeClr>
                </a:solidFill>
              </a:rPr>
              <a:t># Transform to a local projection (e.g., UTM Zone 18N for NYC)</a:t>
            </a:r>
          </a:p>
          <a:p>
            <a:r>
              <a:rPr lang="en-US" sz="1200" dirty="0" err="1"/>
              <a:t>pts_utm</a:t>
            </a:r>
            <a:r>
              <a:rPr lang="en-US" sz="1200" dirty="0"/>
              <a:t> &lt;- </a:t>
            </a:r>
            <a:r>
              <a:rPr lang="en-US" sz="1200" dirty="0" err="1"/>
              <a:t>st_transform</a:t>
            </a:r>
            <a:r>
              <a:rPr lang="en-US" sz="1200" dirty="0"/>
              <a:t>(</a:t>
            </a:r>
            <a:r>
              <a:rPr lang="en-US" sz="1200" dirty="0" err="1"/>
              <a:t>pts_geo</a:t>
            </a:r>
            <a:r>
              <a:rPr lang="en-US" sz="1200" dirty="0"/>
              <a:t>, </a:t>
            </a:r>
            <a:r>
              <a:rPr lang="en-US" sz="1200" dirty="0" err="1"/>
              <a:t>crs</a:t>
            </a:r>
            <a:r>
              <a:rPr lang="en-US" sz="1200" dirty="0"/>
              <a:t> = 32618)</a:t>
            </a:r>
          </a:p>
          <a:p>
            <a:endParaRPr lang="en-US" sz="1200" dirty="0"/>
          </a:p>
          <a:p>
            <a:r>
              <a:rPr lang="en-US" sz="1200" dirty="0">
                <a:solidFill>
                  <a:schemeClr val="bg1">
                    <a:lumMod val="50000"/>
                  </a:schemeClr>
                </a:solidFill>
              </a:rPr>
              <a:t># Calculate distance (will be in meters based on the UTM projection)</a:t>
            </a:r>
          </a:p>
          <a:p>
            <a:r>
              <a:rPr lang="en-US" sz="1200" dirty="0" err="1"/>
              <a:t>dist_planar</a:t>
            </a:r>
            <a:r>
              <a:rPr lang="en-US" sz="1200" dirty="0"/>
              <a:t> &lt;- </a:t>
            </a:r>
            <a:r>
              <a:rPr lang="en-US" sz="1200" dirty="0" err="1"/>
              <a:t>st_distance</a:t>
            </a:r>
            <a:r>
              <a:rPr lang="en-US" sz="1200" dirty="0"/>
              <a:t>(</a:t>
            </a:r>
            <a:r>
              <a:rPr lang="en-US" sz="1200" dirty="0" err="1"/>
              <a:t>pts_utm</a:t>
            </a:r>
            <a:r>
              <a:rPr lang="en-US" sz="1200" dirty="0"/>
              <a:t>[1,], </a:t>
            </a:r>
            <a:r>
              <a:rPr lang="en-US" sz="1200" dirty="0" err="1"/>
              <a:t>pts_utm</a:t>
            </a:r>
            <a:r>
              <a:rPr lang="en-US" sz="1200" dirty="0"/>
              <a:t>[2,])</a:t>
            </a:r>
          </a:p>
          <a:p>
            <a:endParaRPr lang="en-US" sz="1200" dirty="0"/>
          </a:p>
        </p:txBody>
      </p:sp>
      <p:sp>
        <p:nvSpPr>
          <p:cNvPr id="5" name="Slide Number Placeholder 4">
            <a:extLst>
              <a:ext uri="{FF2B5EF4-FFF2-40B4-BE49-F238E27FC236}">
                <a16:creationId xmlns:a16="http://schemas.microsoft.com/office/drawing/2014/main" id="{2B3C0139-0F49-1713-B867-D0A210C0444E}"/>
              </a:ext>
            </a:extLst>
          </p:cNvPr>
          <p:cNvSpPr>
            <a:spLocks noGrp="1"/>
          </p:cNvSpPr>
          <p:nvPr>
            <p:ph type="sldNum" sz="quarter" idx="12"/>
          </p:nvPr>
        </p:nvSpPr>
        <p:spPr/>
        <p:txBody>
          <a:bodyPr/>
          <a:lstStyle/>
          <a:p>
            <a:fld id="{C0343C75-1924-D247-85A3-0CB62E67E5D1}" type="slidenum">
              <a:rPr lang="en-US" smtClean="0"/>
              <a:t>17</a:t>
            </a:fld>
            <a:endParaRPr lang="en-US"/>
          </a:p>
        </p:txBody>
      </p:sp>
    </p:spTree>
    <p:extLst>
      <p:ext uri="{BB962C8B-B14F-4D97-AF65-F5344CB8AC3E}">
        <p14:creationId xmlns:p14="http://schemas.microsoft.com/office/powerpoint/2010/main" val="2047470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CEA49-25C5-1CCB-6A41-992EDE9F2C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3EAF80-7965-8DDD-9580-433FB3993DC1}"/>
              </a:ext>
            </a:extLst>
          </p:cNvPr>
          <p:cNvSpPr>
            <a:spLocks noGrp="1"/>
          </p:cNvSpPr>
          <p:nvPr>
            <p:ph type="title"/>
          </p:nvPr>
        </p:nvSpPr>
        <p:spPr/>
        <p:txBody>
          <a:bodyPr/>
          <a:lstStyle/>
          <a:p>
            <a:r>
              <a:rPr lang="en-US" dirty="0"/>
              <a:t>Tips</a:t>
            </a:r>
          </a:p>
        </p:txBody>
      </p:sp>
      <p:sp>
        <p:nvSpPr>
          <p:cNvPr id="3" name="Content Placeholder 2">
            <a:extLst>
              <a:ext uri="{FF2B5EF4-FFF2-40B4-BE49-F238E27FC236}">
                <a16:creationId xmlns:a16="http://schemas.microsoft.com/office/drawing/2014/main" id="{23F78B55-EFEF-416B-4378-EDE59537651A}"/>
              </a:ext>
            </a:extLst>
          </p:cNvPr>
          <p:cNvSpPr>
            <a:spLocks noGrp="1"/>
          </p:cNvSpPr>
          <p:nvPr>
            <p:ph sz="half" idx="1"/>
          </p:nvPr>
        </p:nvSpPr>
        <p:spPr/>
        <p:txBody>
          <a:bodyPr>
            <a:noAutofit/>
          </a:bodyPr>
          <a:lstStyle/>
          <a:p>
            <a:r>
              <a:rPr lang="en-US" sz="1800" dirty="0"/>
              <a:t>If you don't want to look up UTM zones manually, you can use the </a:t>
            </a:r>
            <a:r>
              <a:rPr lang="en-US" sz="1800" b="1" dirty="0" err="1">
                <a:latin typeface="Consolas" panose="020B0609020204030204" pitchFamily="49" charset="0"/>
                <a:cs typeface="Consolas" panose="020B0609020204030204" pitchFamily="49" charset="0"/>
              </a:rPr>
              <a:t>crsuggest</a:t>
            </a:r>
            <a:r>
              <a:rPr lang="en-US" sz="1800" dirty="0"/>
              <a:t> package to find the best CRS for your specific coordinates:</a:t>
            </a:r>
          </a:p>
          <a:p>
            <a:endParaRPr lang="en-US" sz="1800" dirty="0"/>
          </a:p>
          <a:p>
            <a:endParaRPr lang="en-US" sz="1800" dirty="0"/>
          </a:p>
          <a:p>
            <a:endParaRPr lang="en-US" sz="1800" dirty="0"/>
          </a:p>
          <a:p>
            <a:endParaRPr lang="en-US" sz="1800" dirty="0"/>
          </a:p>
          <a:p>
            <a:pPr marL="0" indent="0">
              <a:buNone/>
            </a:pPr>
            <a:endParaRPr lang="en-US" sz="1800" dirty="0"/>
          </a:p>
          <a:p>
            <a:pPr marL="0" indent="0">
              <a:buNone/>
            </a:pPr>
            <a:endParaRPr lang="en-US" sz="1800" dirty="0"/>
          </a:p>
          <a:p>
            <a:pPr marL="0" indent="0">
              <a:buNone/>
            </a:pPr>
            <a:r>
              <a:rPr lang="en-US" sz="1800" dirty="0"/>
              <a:t>Refs.:</a:t>
            </a:r>
          </a:p>
          <a:p>
            <a:pPr marL="0" indent="0">
              <a:buNone/>
            </a:pPr>
            <a:r>
              <a:rPr lang="en-US" sz="1400" dirty="0">
                <a:hlinkClick r:id="rId2"/>
              </a:rPr>
              <a:t>https://github.com/walkerke/crsuggest</a:t>
            </a:r>
            <a:endParaRPr lang="en-US" sz="1400" dirty="0"/>
          </a:p>
          <a:p>
            <a:pPr marL="0" indent="0">
              <a:buNone/>
            </a:pPr>
            <a:r>
              <a:rPr lang="en-US" sz="1400" dirty="0">
                <a:hlinkClick r:id="rId3"/>
              </a:rPr>
              <a:t>https://www.pmassicotte.com/posts/2021-11-12-choosing-the-right-projection/index.html</a:t>
            </a:r>
            <a:endParaRPr lang="en-US" sz="1400" dirty="0"/>
          </a:p>
        </p:txBody>
      </p:sp>
      <p:sp>
        <p:nvSpPr>
          <p:cNvPr id="4" name="Content Placeholder 3">
            <a:extLst>
              <a:ext uri="{FF2B5EF4-FFF2-40B4-BE49-F238E27FC236}">
                <a16:creationId xmlns:a16="http://schemas.microsoft.com/office/drawing/2014/main" id="{E0C7CF38-BA44-75EF-C810-792CB9910184}"/>
              </a:ext>
            </a:extLst>
          </p:cNvPr>
          <p:cNvSpPr>
            <a:spLocks noGrp="1"/>
          </p:cNvSpPr>
          <p:nvPr>
            <p:ph sz="half" idx="2"/>
          </p:nvPr>
        </p:nvSpPr>
        <p:spPr>
          <a:xfrm>
            <a:off x="457200" y="2710543"/>
            <a:ext cx="4057650" cy="1917901"/>
          </a:xfrm>
        </p:spPr>
        <p:txBody>
          <a:bodyPr>
            <a:normAutofit/>
          </a:bodyPr>
          <a:lstStyle/>
          <a:p>
            <a:r>
              <a:rPr lang="en-US" sz="1400" dirty="0">
                <a:solidFill>
                  <a:schemeClr val="bg1">
                    <a:lumMod val="65000"/>
                  </a:schemeClr>
                </a:solidFill>
              </a:rPr>
              <a:t># </a:t>
            </a:r>
            <a:r>
              <a:rPr lang="en-US" sz="1400" dirty="0" err="1">
                <a:solidFill>
                  <a:schemeClr val="bg1">
                    <a:lumMod val="65000"/>
                  </a:schemeClr>
                </a:solidFill>
              </a:rPr>
              <a:t>install.packages</a:t>
            </a:r>
            <a:r>
              <a:rPr lang="en-US" sz="1400" dirty="0">
                <a:solidFill>
                  <a:schemeClr val="bg1">
                    <a:lumMod val="65000"/>
                  </a:schemeClr>
                </a:solidFill>
              </a:rPr>
              <a:t>("</a:t>
            </a:r>
            <a:r>
              <a:rPr lang="en-US" sz="1400" dirty="0" err="1">
                <a:solidFill>
                  <a:schemeClr val="bg1">
                    <a:lumMod val="65000"/>
                  </a:schemeClr>
                </a:solidFill>
              </a:rPr>
              <a:t>crsuggest</a:t>
            </a:r>
            <a:r>
              <a:rPr lang="en-US" sz="1400" dirty="0">
                <a:solidFill>
                  <a:schemeClr val="bg1">
                    <a:lumMod val="65000"/>
                  </a:schemeClr>
                </a:solidFill>
              </a:rPr>
              <a:t>")</a:t>
            </a:r>
          </a:p>
          <a:p>
            <a:r>
              <a:rPr lang="en-US" sz="1400" dirty="0"/>
              <a:t>library(</a:t>
            </a:r>
            <a:r>
              <a:rPr lang="en-US" sz="1400" dirty="0" err="1"/>
              <a:t>crsuggest</a:t>
            </a:r>
            <a:r>
              <a:rPr lang="en-US" sz="1400" dirty="0"/>
              <a:t>)</a:t>
            </a:r>
          </a:p>
          <a:p>
            <a:endParaRPr lang="en-US" sz="1400" dirty="0">
              <a:solidFill>
                <a:schemeClr val="bg1">
                  <a:lumMod val="50000"/>
                </a:schemeClr>
              </a:solidFill>
            </a:endParaRPr>
          </a:p>
          <a:p>
            <a:r>
              <a:rPr lang="en-US" sz="1400" dirty="0" err="1"/>
              <a:t>suggested_crs</a:t>
            </a:r>
            <a:r>
              <a:rPr lang="en-US" sz="1400" dirty="0"/>
              <a:t> &lt;- </a:t>
            </a:r>
            <a:r>
              <a:rPr lang="en-US" sz="1400" dirty="0" err="1"/>
              <a:t>suggest_crs</a:t>
            </a:r>
            <a:r>
              <a:rPr lang="en-US" sz="1400" dirty="0"/>
              <a:t>(</a:t>
            </a:r>
            <a:r>
              <a:rPr lang="en-US" sz="1400" dirty="0" err="1"/>
              <a:t>pts_geo</a:t>
            </a:r>
            <a:r>
              <a:rPr lang="en-US" sz="1400" dirty="0"/>
              <a:t>)</a:t>
            </a:r>
          </a:p>
          <a:p>
            <a:r>
              <a:rPr lang="en-US" sz="1400" dirty="0">
                <a:solidFill>
                  <a:schemeClr val="bg1">
                    <a:lumMod val="65000"/>
                  </a:schemeClr>
                </a:solidFill>
              </a:rPr>
              <a:t># This returns a </a:t>
            </a:r>
            <a:r>
              <a:rPr lang="en-US" sz="1400" dirty="0" err="1">
                <a:solidFill>
                  <a:schemeClr val="bg1">
                    <a:lumMod val="65000"/>
                  </a:schemeClr>
                </a:solidFill>
              </a:rPr>
              <a:t>tibble</a:t>
            </a:r>
            <a:r>
              <a:rPr lang="en-US" sz="1400" dirty="0">
                <a:solidFill>
                  <a:schemeClr val="bg1">
                    <a:lumMod val="65000"/>
                  </a:schemeClr>
                </a:solidFill>
              </a:rPr>
              <a:t> of the best projections for your area!</a:t>
            </a:r>
          </a:p>
        </p:txBody>
      </p:sp>
      <p:sp>
        <p:nvSpPr>
          <p:cNvPr id="5" name="Slide Number Placeholder 4">
            <a:extLst>
              <a:ext uri="{FF2B5EF4-FFF2-40B4-BE49-F238E27FC236}">
                <a16:creationId xmlns:a16="http://schemas.microsoft.com/office/drawing/2014/main" id="{280D6D6E-D6E2-52FB-CA35-52631B325293}"/>
              </a:ext>
            </a:extLst>
          </p:cNvPr>
          <p:cNvSpPr>
            <a:spLocks noGrp="1"/>
          </p:cNvSpPr>
          <p:nvPr>
            <p:ph type="sldNum" sz="quarter" idx="12"/>
          </p:nvPr>
        </p:nvSpPr>
        <p:spPr/>
        <p:txBody>
          <a:bodyPr/>
          <a:lstStyle/>
          <a:p>
            <a:fld id="{C0343C75-1924-D247-85A3-0CB62E67E5D1}" type="slidenum">
              <a:rPr lang="en-US" smtClean="0"/>
              <a:t>18</a:t>
            </a:fld>
            <a:endParaRPr lang="en-US"/>
          </a:p>
        </p:txBody>
      </p:sp>
      <p:sp>
        <p:nvSpPr>
          <p:cNvPr id="6" name="Content Placeholder 2">
            <a:extLst>
              <a:ext uri="{FF2B5EF4-FFF2-40B4-BE49-F238E27FC236}">
                <a16:creationId xmlns:a16="http://schemas.microsoft.com/office/drawing/2014/main" id="{BD73076C-BB44-8D69-2622-EEEBDCC89E7A}"/>
              </a:ext>
            </a:extLst>
          </p:cNvPr>
          <p:cNvSpPr txBox="1">
            <a:spLocks/>
          </p:cNvSpPr>
          <p:nvPr/>
        </p:nvSpPr>
        <p:spPr>
          <a:xfrm>
            <a:off x="4629152" y="1597568"/>
            <a:ext cx="4057650" cy="458089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buFont typeface="Arial" panose="020B0604020202020204" pitchFamily="34" charset="0"/>
              <a:buNone/>
            </a:pPr>
            <a:endParaRPr lang="en-US" sz="1600" dirty="0"/>
          </a:p>
        </p:txBody>
      </p:sp>
      <p:pic>
        <p:nvPicPr>
          <p:cNvPr id="7" name="Picture 6">
            <a:extLst>
              <a:ext uri="{FF2B5EF4-FFF2-40B4-BE49-F238E27FC236}">
                <a16:creationId xmlns:a16="http://schemas.microsoft.com/office/drawing/2014/main" id="{BD12D0B4-6D9C-0AE8-D39E-9FF76601E236}"/>
              </a:ext>
            </a:extLst>
          </p:cNvPr>
          <p:cNvPicPr>
            <a:picLocks noChangeAspect="1"/>
          </p:cNvPicPr>
          <p:nvPr/>
        </p:nvPicPr>
        <p:blipFill>
          <a:blip r:embed="rId4"/>
          <a:stretch>
            <a:fillRect/>
          </a:stretch>
        </p:blipFill>
        <p:spPr>
          <a:xfrm>
            <a:off x="4629153" y="1594576"/>
            <a:ext cx="4057648" cy="2916434"/>
          </a:xfrm>
          <a:prstGeom prst="rect">
            <a:avLst/>
          </a:prstGeom>
        </p:spPr>
      </p:pic>
      <p:sp>
        <p:nvSpPr>
          <p:cNvPr id="9" name="TextBox 8">
            <a:extLst>
              <a:ext uri="{FF2B5EF4-FFF2-40B4-BE49-F238E27FC236}">
                <a16:creationId xmlns:a16="http://schemas.microsoft.com/office/drawing/2014/main" id="{29EB1DD3-D6A3-3E6E-A9CF-97F8CBB203FC}"/>
              </a:ext>
            </a:extLst>
          </p:cNvPr>
          <p:cNvSpPr txBox="1"/>
          <p:nvPr/>
        </p:nvSpPr>
        <p:spPr>
          <a:xfrm>
            <a:off x="4629147" y="4514429"/>
            <a:ext cx="4057648" cy="1200329"/>
          </a:xfrm>
          <a:prstGeom prst="rect">
            <a:avLst/>
          </a:prstGeom>
          <a:noFill/>
        </p:spPr>
        <p:txBody>
          <a:bodyPr wrap="square" rtlCol="0">
            <a:spAutoFit/>
          </a:bodyPr>
          <a:lstStyle/>
          <a:p>
            <a:r>
              <a:rPr lang="en-US" sz="1200" dirty="0"/>
              <a:t>A medieval depiction of the Ecumene (1482, Johannes Schnitzer, engraver), constructed after the coordinates in Ptolemy's Geography and using his second map projection.</a:t>
            </a:r>
          </a:p>
          <a:p>
            <a:endParaRPr lang="en-US" sz="1200" dirty="0"/>
          </a:p>
          <a:p>
            <a:r>
              <a:rPr lang="en-US" sz="1200" dirty="0"/>
              <a:t>Image from: </a:t>
            </a:r>
            <a:r>
              <a:rPr lang="en-US" sz="1200" dirty="0">
                <a:hlinkClick r:id="rId5"/>
              </a:rPr>
              <a:t>https://en.wikipedia.org/wiki/Map_projection</a:t>
            </a:r>
            <a:endParaRPr lang="en-US" sz="1200" dirty="0"/>
          </a:p>
        </p:txBody>
      </p:sp>
    </p:spTree>
    <p:extLst>
      <p:ext uri="{BB962C8B-B14F-4D97-AF65-F5344CB8AC3E}">
        <p14:creationId xmlns:p14="http://schemas.microsoft.com/office/powerpoint/2010/main" val="4170554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A141B-584C-C50F-FA43-4203ADB1C1F7}"/>
              </a:ext>
            </a:extLst>
          </p:cNvPr>
          <p:cNvSpPr>
            <a:spLocks noGrp="1"/>
          </p:cNvSpPr>
          <p:nvPr>
            <p:ph type="title"/>
          </p:nvPr>
        </p:nvSpPr>
        <p:spPr/>
        <p:txBody>
          <a:bodyPr/>
          <a:lstStyle/>
          <a:p>
            <a:r>
              <a:rPr lang="en-US" dirty="0"/>
              <a:t>Some Conclusions</a:t>
            </a:r>
          </a:p>
        </p:txBody>
      </p:sp>
      <p:sp>
        <p:nvSpPr>
          <p:cNvPr id="3" name="Content Placeholder 2">
            <a:extLst>
              <a:ext uri="{FF2B5EF4-FFF2-40B4-BE49-F238E27FC236}">
                <a16:creationId xmlns:a16="http://schemas.microsoft.com/office/drawing/2014/main" id="{61E82867-5B90-8C28-B8F9-917392A479AA}"/>
              </a:ext>
            </a:extLst>
          </p:cNvPr>
          <p:cNvSpPr>
            <a:spLocks noGrp="1"/>
          </p:cNvSpPr>
          <p:nvPr>
            <p:ph idx="1"/>
          </p:nvPr>
        </p:nvSpPr>
        <p:spPr/>
        <p:txBody>
          <a:bodyPr>
            <a:normAutofit/>
          </a:bodyPr>
          <a:lstStyle/>
          <a:p>
            <a:r>
              <a:rPr lang="en-US" sz="1800" dirty="0"/>
              <a:t>To get the most accurate local measurements, you should transform your data from a global geographic system (like WGS84) to a Projected Coordinate System (PCS) like UTM (Universal Transverse Mercator).</a:t>
            </a:r>
          </a:p>
          <a:p>
            <a:r>
              <a:rPr lang="en-US" sz="1800" dirty="0"/>
              <a:t>While geographic systems use degrees to measure a curved surface, projected systems use linear units (meters) on a flat plane, which is much more precise for distance calculations over smaller regions.</a:t>
            </a:r>
          </a:p>
        </p:txBody>
      </p:sp>
      <p:sp>
        <p:nvSpPr>
          <p:cNvPr id="4" name="Slide Number Placeholder 3">
            <a:extLst>
              <a:ext uri="{FF2B5EF4-FFF2-40B4-BE49-F238E27FC236}">
                <a16:creationId xmlns:a16="http://schemas.microsoft.com/office/drawing/2014/main" id="{0D372558-3BC4-72BC-377D-15A632DC58DE}"/>
              </a:ext>
            </a:extLst>
          </p:cNvPr>
          <p:cNvSpPr>
            <a:spLocks noGrp="1"/>
          </p:cNvSpPr>
          <p:nvPr>
            <p:ph type="sldNum" sz="quarter" idx="12"/>
          </p:nvPr>
        </p:nvSpPr>
        <p:spPr/>
        <p:txBody>
          <a:bodyPr/>
          <a:lstStyle/>
          <a:p>
            <a:fld id="{C0343C75-1924-D247-85A3-0CB62E67E5D1}" type="slidenum">
              <a:rPr lang="en-US" smtClean="0"/>
              <a:t>19</a:t>
            </a:fld>
            <a:endParaRPr lang="en-US"/>
          </a:p>
        </p:txBody>
      </p:sp>
    </p:spTree>
    <p:extLst>
      <p:ext uri="{BB962C8B-B14F-4D97-AF65-F5344CB8AC3E}">
        <p14:creationId xmlns:p14="http://schemas.microsoft.com/office/powerpoint/2010/main" val="3596238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90CD2-A531-53DA-DD63-A00C22ACBD4A}"/>
              </a:ext>
            </a:extLst>
          </p:cNvPr>
          <p:cNvSpPr>
            <a:spLocks noGrp="1"/>
          </p:cNvSpPr>
          <p:nvPr>
            <p:ph type="title"/>
          </p:nvPr>
        </p:nvSpPr>
        <p:spPr/>
        <p:txBody>
          <a:bodyPr/>
          <a:lstStyle/>
          <a:p>
            <a:r>
              <a:rPr lang="en-US" dirty="0"/>
              <a:t>Next …</a:t>
            </a:r>
          </a:p>
        </p:txBody>
      </p:sp>
      <p:sp>
        <p:nvSpPr>
          <p:cNvPr id="3" name="Content Placeholder 2">
            <a:extLst>
              <a:ext uri="{FF2B5EF4-FFF2-40B4-BE49-F238E27FC236}">
                <a16:creationId xmlns:a16="http://schemas.microsoft.com/office/drawing/2014/main" id="{EFEFAAEA-B184-52A4-6961-D8BA4FC0BEF7}"/>
              </a:ext>
            </a:extLst>
          </p:cNvPr>
          <p:cNvSpPr>
            <a:spLocks noGrp="1"/>
          </p:cNvSpPr>
          <p:nvPr>
            <p:ph idx="1"/>
          </p:nvPr>
        </p:nvSpPr>
        <p:spPr/>
        <p:txBody>
          <a:bodyPr>
            <a:normAutofit/>
          </a:bodyPr>
          <a:lstStyle/>
          <a:p>
            <a:r>
              <a:rPr lang="en-US" sz="1800" b="1" dirty="0"/>
              <a:t>Vector (sf)</a:t>
            </a:r>
          </a:p>
          <a:p>
            <a:pPr lvl="1"/>
            <a:r>
              <a:rPr lang="en-US" dirty="0"/>
              <a:t>Represents the world as discrete objects with defined boundaries (points, lines, polygons).</a:t>
            </a:r>
          </a:p>
          <a:p>
            <a:pPr lvl="1"/>
            <a:r>
              <a:rPr lang="en-US" dirty="0"/>
              <a:t>Ideal for "Where is Texas A&amp;M?"</a:t>
            </a:r>
          </a:p>
          <a:p>
            <a:r>
              <a:rPr lang="en-US" sz="1800" b="1" dirty="0"/>
              <a:t>Raster (terra)</a:t>
            </a:r>
          </a:p>
          <a:p>
            <a:pPr lvl="1"/>
            <a:r>
              <a:rPr lang="en-US" dirty="0"/>
              <a:t>Represents the world as a continuous grid of cells (pixels).</a:t>
            </a:r>
          </a:p>
          <a:p>
            <a:pPr lvl="1"/>
            <a:r>
              <a:rPr lang="en-US" dirty="0"/>
              <a:t>Ideal for "What is the population density at this specific coordinate?"</a:t>
            </a:r>
          </a:p>
        </p:txBody>
      </p:sp>
      <p:sp>
        <p:nvSpPr>
          <p:cNvPr id="4" name="Slide Number Placeholder 3">
            <a:extLst>
              <a:ext uri="{FF2B5EF4-FFF2-40B4-BE49-F238E27FC236}">
                <a16:creationId xmlns:a16="http://schemas.microsoft.com/office/drawing/2014/main" id="{BA20639D-BBCB-31A5-40A6-D95601E088A4}"/>
              </a:ext>
            </a:extLst>
          </p:cNvPr>
          <p:cNvSpPr>
            <a:spLocks noGrp="1"/>
          </p:cNvSpPr>
          <p:nvPr>
            <p:ph type="sldNum" sz="quarter" idx="12"/>
          </p:nvPr>
        </p:nvSpPr>
        <p:spPr/>
        <p:txBody>
          <a:bodyPr/>
          <a:lstStyle/>
          <a:p>
            <a:fld id="{C0343C75-1924-D247-85A3-0CB62E67E5D1}" type="slidenum">
              <a:rPr lang="en-US" smtClean="0"/>
              <a:t>20</a:t>
            </a:fld>
            <a:endParaRPr lang="en-US"/>
          </a:p>
        </p:txBody>
      </p:sp>
      <p:pic>
        <p:nvPicPr>
          <p:cNvPr id="5" name="Picture 4" descr="A red and white poster with a crown&#10;&#10;AI-generated content may be incorrect.">
            <a:extLst>
              <a:ext uri="{FF2B5EF4-FFF2-40B4-BE49-F238E27FC236}">
                <a16:creationId xmlns:a16="http://schemas.microsoft.com/office/drawing/2014/main" id="{6D5CF573-7490-F1E7-4E78-767523CB5F3F}"/>
              </a:ext>
            </a:extLst>
          </p:cNvPr>
          <p:cNvPicPr>
            <a:picLocks noChangeAspect="1"/>
          </p:cNvPicPr>
          <p:nvPr/>
        </p:nvPicPr>
        <p:blipFill>
          <a:blip r:embed="rId2"/>
          <a:stretch>
            <a:fillRect/>
          </a:stretch>
        </p:blipFill>
        <p:spPr>
          <a:xfrm>
            <a:off x="7589520" y="322672"/>
            <a:ext cx="1097280" cy="1277845"/>
          </a:xfrm>
          <a:prstGeom prst="rect">
            <a:avLst/>
          </a:prstGeom>
        </p:spPr>
      </p:pic>
    </p:spTree>
    <p:extLst>
      <p:ext uri="{BB962C8B-B14F-4D97-AF65-F5344CB8AC3E}">
        <p14:creationId xmlns:p14="http://schemas.microsoft.com/office/powerpoint/2010/main" val="242917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E7E0E-204E-8643-1A70-00EE92AEB1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7422A7-DE57-A3B4-4C43-579752C7D815}"/>
              </a:ext>
            </a:extLst>
          </p:cNvPr>
          <p:cNvSpPr>
            <a:spLocks noGrp="1"/>
          </p:cNvSpPr>
          <p:nvPr>
            <p:ph idx="1"/>
          </p:nvPr>
        </p:nvSpPr>
        <p:spPr>
          <a:xfrm>
            <a:off x="457200" y="500743"/>
            <a:ext cx="8229600" cy="5855608"/>
          </a:xfrm>
        </p:spPr>
        <p:txBody>
          <a:bodyPr>
            <a:noAutofit/>
          </a:bodyPr>
          <a:lstStyle/>
          <a:p>
            <a:r>
              <a:rPr lang="en-US" sz="1700" dirty="0"/>
              <a:t>The importance of Raster-Vector Interactions lies in the ability to </a:t>
            </a:r>
            <a:r>
              <a:rPr lang="en-US" sz="1700" u="sng" dirty="0"/>
              <a:t>bridge</a:t>
            </a:r>
            <a:r>
              <a:rPr lang="en-US" sz="1700" dirty="0"/>
              <a:t> two fundamentally different ways of representing the world.</a:t>
            </a:r>
          </a:p>
          <a:p>
            <a:r>
              <a:rPr lang="en-US" sz="1700" dirty="0"/>
              <a:t>In data engineering and GIS, these interactions are the "glue" that allows us to perform complex spatial reasoning.</a:t>
            </a:r>
          </a:p>
          <a:p>
            <a:pPr lvl="1"/>
            <a:r>
              <a:rPr lang="en-US" sz="1700" b="1" dirty="0"/>
              <a:t>Sampling (Contextual Enrichment)</a:t>
            </a:r>
            <a:r>
              <a:rPr lang="en-US" sz="1700" dirty="0"/>
              <a:t>: It allows you to assign "environmental" or "demographic" data to a specific location. For example, taking a vector point (a store location, or its buffer) and extracting the raster values (population density from </a:t>
            </a:r>
            <a:r>
              <a:rPr lang="en-US" sz="1700" dirty="0" err="1"/>
              <a:t>LandScan</a:t>
            </a:r>
            <a:r>
              <a:rPr lang="en-US" sz="1700" dirty="0"/>
              <a:t>) to understand market reach.</a:t>
            </a:r>
          </a:p>
          <a:p>
            <a:pPr lvl="1"/>
            <a:r>
              <a:rPr lang="en-US" sz="1700" b="1" dirty="0"/>
              <a:t>Zonal Statistics</a:t>
            </a:r>
            <a:r>
              <a:rPr lang="en-US" sz="1700" dirty="0"/>
              <a:t>: This is the process of calculating statistics (mean, maximum, sum) from a raster within the boundaries of a vector polygon. It's how we answer questions like, "What was the average rainfall for this specific county?"</a:t>
            </a:r>
          </a:p>
          <a:p>
            <a:pPr lvl="1"/>
            <a:r>
              <a:rPr lang="en-US" sz="1700" b="1" dirty="0"/>
              <a:t>Precision Masking &amp; Clipping</a:t>
            </a:r>
            <a:r>
              <a:rPr lang="en-US" sz="1700" dirty="0"/>
              <a:t>: Engineering workflows often involve massive datasets. Using vector boundaries (like a state or city limit) to "mask" a raster ensures that computational power is only spent on the area of interest, drastically improving processing speed.</a:t>
            </a:r>
          </a:p>
          <a:p>
            <a:pPr lvl="1"/>
            <a:r>
              <a:rPr lang="en-US" sz="1700" b="1" dirty="0"/>
              <a:t>Hybrid Modeling</a:t>
            </a:r>
            <a:r>
              <a:rPr lang="en-US" sz="1700" dirty="0"/>
              <a:t>: Many physical processes are best modeled as rasters (e.g., flood plains, heat maps, storm surge), while human infrastructure is modeled as vectors (e.g., roads, levees, power lines). Interaction is required to see how infrastructure affects, or is affected by, environmental conditions.</a:t>
            </a:r>
          </a:p>
          <a:p>
            <a:pPr lvl="1"/>
            <a:r>
              <a:rPr lang="en-US" sz="1700" b="1" dirty="0"/>
              <a:t>Temporal Analysis (Data Cubes)</a:t>
            </a:r>
            <a:r>
              <a:rPr lang="en-US" sz="1700" dirty="0"/>
              <a:t>: By stacking rasters over time and "drilling" through them with a vector point, you can track how a specific location changes over years without needing to manually inspect every map.</a:t>
            </a:r>
          </a:p>
        </p:txBody>
      </p:sp>
      <p:sp>
        <p:nvSpPr>
          <p:cNvPr id="4" name="Slide Number Placeholder 3">
            <a:extLst>
              <a:ext uri="{FF2B5EF4-FFF2-40B4-BE49-F238E27FC236}">
                <a16:creationId xmlns:a16="http://schemas.microsoft.com/office/drawing/2014/main" id="{E9AA4CAB-E3CF-6D26-9845-A3390306A70C}"/>
              </a:ext>
            </a:extLst>
          </p:cNvPr>
          <p:cNvSpPr>
            <a:spLocks noGrp="1"/>
          </p:cNvSpPr>
          <p:nvPr>
            <p:ph type="sldNum" sz="quarter" idx="12"/>
          </p:nvPr>
        </p:nvSpPr>
        <p:spPr/>
        <p:txBody>
          <a:bodyPr/>
          <a:lstStyle/>
          <a:p>
            <a:fld id="{C0343C75-1924-D247-85A3-0CB62E67E5D1}" type="slidenum">
              <a:rPr lang="en-US" smtClean="0"/>
              <a:t>21</a:t>
            </a:fld>
            <a:endParaRPr lang="en-US"/>
          </a:p>
        </p:txBody>
      </p:sp>
    </p:spTree>
    <p:extLst>
      <p:ext uri="{BB962C8B-B14F-4D97-AF65-F5344CB8AC3E}">
        <p14:creationId xmlns:p14="http://schemas.microsoft.com/office/powerpoint/2010/main" val="2698244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FCA9D-C5FE-009F-3B80-2C73AFC049E8}"/>
              </a:ext>
            </a:extLst>
          </p:cNvPr>
          <p:cNvSpPr>
            <a:spLocks noGrp="1"/>
          </p:cNvSpPr>
          <p:nvPr>
            <p:ph type="title"/>
          </p:nvPr>
        </p:nvSpPr>
        <p:spPr/>
        <p:txBody>
          <a:bodyPr/>
          <a:lstStyle/>
          <a:p>
            <a:r>
              <a:rPr lang="en-US" dirty="0"/>
              <a:t>Assessing Risk</a:t>
            </a:r>
          </a:p>
        </p:txBody>
      </p:sp>
      <p:sp>
        <p:nvSpPr>
          <p:cNvPr id="4" name="Slide Number Placeholder 3">
            <a:extLst>
              <a:ext uri="{FF2B5EF4-FFF2-40B4-BE49-F238E27FC236}">
                <a16:creationId xmlns:a16="http://schemas.microsoft.com/office/drawing/2014/main" id="{72778948-7D3A-8798-6241-789E1A36DD02}"/>
              </a:ext>
            </a:extLst>
          </p:cNvPr>
          <p:cNvSpPr>
            <a:spLocks noGrp="1"/>
          </p:cNvSpPr>
          <p:nvPr>
            <p:ph type="sldNum" sz="quarter" idx="12"/>
          </p:nvPr>
        </p:nvSpPr>
        <p:spPr/>
        <p:txBody>
          <a:bodyPr/>
          <a:lstStyle/>
          <a:p>
            <a:fld id="{C0343C75-1924-D247-85A3-0CB62E67E5D1}" type="slidenum">
              <a:rPr lang="en-US" smtClean="0"/>
              <a:t>22</a:t>
            </a:fld>
            <a:endParaRPr lang="en-US"/>
          </a:p>
        </p:txBody>
      </p:sp>
      <p:sp>
        <p:nvSpPr>
          <p:cNvPr id="7" name="Rounded Rectangle 6">
            <a:extLst>
              <a:ext uri="{FF2B5EF4-FFF2-40B4-BE49-F238E27FC236}">
                <a16:creationId xmlns:a16="http://schemas.microsoft.com/office/drawing/2014/main" id="{59D1A0B8-A34E-0F76-C277-95B52B1EC441}"/>
              </a:ext>
            </a:extLst>
          </p:cNvPr>
          <p:cNvSpPr/>
          <p:nvPr/>
        </p:nvSpPr>
        <p:spPr>
          <a:xfrm>
            <a:off x="5565421" y="2019640"/>
            <a:ext cx="3004891" cy="1471702"/>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E692201B-087F-C440-C64B-638DCCC73F97}"/>
              </a:ext>
            </a:extLst>
          </p:cNvPr>
          <p:cNvSpPr/>
          <p:nvPr/>
        </p:nvSpPr>
        <p:spPr>
          <a:xfrm>
            <a:off x="3595637" y="2019640"/>
            <a:ext cx="1576797" cy="1471702"/>
          </a:xfrm>
          <a:prstGeom prst="round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descr="Splash with solid fill">
            <a:extLst>
              <a:ext uri="{FF2B5EF4-FFF2-40B4-BE49-F238E27FC236}">
                <a16:creationId xmlns:a16="http://schemas.microsoft.com/office/drawing/2014/main" id="{D017B3B6-76D7-5ABF-7D9D-1C5888AC9F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62399" y="2849476"/>
            <a:ext cx="914400" cy="914400"/>
          </a:xfrm>
          <a:prstGeom prst="rect">
            <a:avLst/>
          </a:prstGeom>
        </p:spPr>
      </p:pic>
      <p:sp>
        <p:nvSpPr>
          <p:cNvPr id="10" name="TextBox 9">
            <a:extLst>
              <a:ext uri="{FF2B5EF4-FFF2-40B4-BE49-F238E27FC236}">
                <a16:creationId xmlns:a16="http://schemas.microsoft.com/office/drawing/2014/main" id="{21ABF916-9429-E30B-1CEE-43E33176E931}"/>
              </a:ext>
            </a:extLst>
          </p:cNvPr>
          <p:cNvSpPr txBox="1"/>
          <p:nvPr/>
        </p:nvSpPr>
        <p:spPr>
          <a:xfrm>
            <a:off x="2119897" y="2036956"/>
            <a:ext cx="898516" cy="369332"/>
          </a:xfrm>
          <a:prstGeom prst="rect">
            <a:avLst/>
          </a:prstGeom>
          <a:noFill/>
        </p:spPr>
        <p:txBody>
          <a:bodyPr wrap="none" rtlCol="0">
            <a:spAutoFit/>
          </a:bodyPr>
          <a:lstStyle/>
          <a:p>
            <a:r>
              <a:rPr lang="en-US" dirty="0"/>
              <a:t>Hazard</a:t>
            </a:r>
          </a:p>
        </p:txBody>
      </p:sp>
      <p:sp>
        <p:nvSpPr>
          <p:cNvPr id="11" name="TextBox 10">
            <a:extLst>
              <a:ext uri="{FF2B5EF4-FFF2-40B4-BE49-F238E27FC236}">
                <a16:creationId xmlns:a16="http://schemas.microsoft.com/office/drawing/2014/main" id="{4DD6869D-9AC4-0102-71FF-C36701D34C22}"/>
              </a:ext>
            </a:extLst>
          </p:cNvPr>
          <p:cNvSpPr txBox="1"/>
          <p:nvPr/>
        </p:nvSpPr>
        <p:spPr>
          <a:xfrm>
            <a:off x="3654883" y="2036956"/>
            <a:ext cx="1419428" cy="369332"/>
          </a:xfrm>
          <a:prstGeom prst="rect">
            <a:avLst/>
          </a:prstGeom>
          <a:noFill/>
        </p:spPr>
        <p:txBody>
          <a:bodyPr wrap="none" rtlCol="0">
            <a:spAutoFit/>
          </a:bodyPr>
          <a:lstStyle/>
          <a:p>
            <a:r>
              <a:rPr lang="en-US" dirty="0"/>
              <a:t>Vulnerability</a:t>
            </a:r>
          </a:p>
        </p:txBody>
      </p:sp>
      <p:sp>
        <p:nvSpPr>
          <p:cNvPr id="12" name="TextBox 11">
            <a:extLst>
              <a:ext uri="{FF2B5EF4-FFF2-40B4-BE49-F238E27FC236}">
                <a16:creationId xmlns:a16="http://schemas.microsoft.com/office/drawing/2014/main" id="{140CE439-2EF4-FC72-BC6A-A111E18ED4DC}"/>
              </a:ext>
            </a:extLst>
          </p:cNvPr>
          <p:cNvSpPr txBox="1"/>
          <p:nvPr/>
        </p:nvSpPr>
        <p:spPr>
          <a:xfrm>
            <a:off x="5582158" y="2036956"/>
            <a:ext cx="1108060" cy="369332"/>
          </a:xfrm>
          <a:prstGeom prst="rect">
            <a:avLst/>
          </a:prstGeom>
          <a:noFill/>
        </p:spPr>
        <p:txBody>
          <a:bodyPr wrap="none" rtlCol="0">
            <a:spAutoFit/>
          </a:bodyPr>
          <a:lstStyle/>
          <a:p>
            <a:r>
              <a:rPr lang="en-US" dirty="0"/>
              <a:t>Exposure</a:t>
            </a:r>
          </a:p>
        </p:txBody>
      </p:sp>
      <p:sp>
        <p:nvSpPr>
          <p:cNvPr id="13" name="TextBox 12">
            <a:extLst>
              <a:ext uri="{FF2B5EF4-FFF2-40B4-BE49-F238E27FC236}">
                <a16:creationId xmlns:a16="http://schemas.microsoft.com/office/drawing/2014/main" id="{9DE638BF-2454-1AE4-4846-3FF59EF17ED4}"/>
              </a:ext>
            </a:extLst>
          </p:cNvPr>
          <p:cNvSpPr txBox="1"/>
          <p:nvPr/>
        </p:nvSpPr>
        <p:spPr>
          <a:xfrm>
            <a:off x="5576710" y="2849476"/>
            <a:ext cx="3480498" cy="646331"/>
          </a:xfrm>
          <a:prstGeom prst="rect">
            <a:avLst/>
          </a:prstGeom>
          <a:noFill/>
        </p:spPr>
        <p:txBody>
          <a:bodyPr wrap="square" rtlCol="0">
            <a:spAutoFit/>
          </a:bodyPr>
          <a:lstStyle/>
          <a:p>
            <a:r>
              <a:rPr lang="en-US" b="1" dirty="0"/>
              <a:t>0, 1, 2, 3 ...</a:t>
            </a:r>
          </a:p>
          <a:p>
            <a:r>
              <a:rPr lang="en-US" dirty="0"/>
              <a:t>people, houses, values, etc. </a:t>
            </a:r>
          </a:p>
        </p:txBody>
      </p:sp>
      <p:sp>
        <p:nvSpPr>
          <p:cNvPr id="14" name="Left Brace 13">
            <a:extLst>
              <a:ext uri="{FF2B5EF4-FFF2-40B4-BE49-F238E27FC236}">
                <a16:creationId xmlns:a16="http://schemas.microsoft.com/office/drawing/2014/main" id="{8E4F21CA-2648-9CBC-8330-4FD837C5B919}"/>
              </a:ext>
            </a:extLst>
          </p:cNvPr>
          <p:cNvSpPr/>
          <p:nvPr/>
        </p:nvSpPr>
        <p:spPr>
          <a:xfrm rot="16200000">
            <a:off x="4364724" y="2514304"/>
            <a:ext cx="129616" cy="1124532"/>
          </a:xfrm>
          <a:prstGeom prst="leftBrace">
            <a:avLst/>
          </a:prstGeom>
          <a:ln w="254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ysClr val="windowText" lastClr="000000"/>
              </a:solidFill>
            </a:endParaRPr>
          </a:p>
        </p:txBody>
      </p:sp>
      <p:sp>
        <p:nvSpPr>
          <p:cNvPr id="15" name="TextBox 14">
            <a:extLst>
              <a:ext uri="{FF2B5EF4-FFF2-40B4-BE49-F238E27FC236}">
                <a16:creationId xmlns:a16="http://schemas.microsoft.com/office/drawing/2014/main" id="{9BA6F767-CFD8-307E-B373-17680FDB9FB9}"/>
              </a:ext>
            </a:extLst>
          </p:cNvPr>
          <p:cNvSpPr txBox="1"/>
          <p:nvPr/>
        </p:nvSpPr>
        <p:spPr>
          <a:xfrm>
            <a:off x="4183182" y="3141378"/>
            <a:ext cx="492699" cy="369332"/>
          </a:xfrm>
          <a:prstGeom prst="rect">
            <a:avLst/>
          </a:prstGeom>
          <a:noFill/>
          <a:ln>
            <a:noFill/>
          </a:ln>
        </p:spPr>
        <p:txBody>
          <a:bodyPr wrap="none" rtlCol="0">
            <a:spAutoFit/>
          </a:bodyPr>
          <a:lstStyle/>
          <a:p>
            <a:pPr algn="ctr"/>
            <a:r>
              <a:rPr lang="en-US" b="1" dirty="0">
                <a:solidFill>
                  <a:sysClr val="windowText" lastClr="000000"/>
                </a:solidFill>
              </a:rPr>
              <a:t>0-1</a:t>
            </a:r>
          </a:p>
        </p:txBody>
      </p:sp>
      <p:sp>
        <p:nvSpPr>
          <p:cNvPr id="16" name="Left Brace 15">
            <a:extLst>
              <a:ext uri="{FF2B5EF4-FFF2-40B4-BE49-F238E27FC236}">
                <a16:creationId xmlns:a16="http://schemas.microsoft.com/office/drawing/2014/main" id="{A6237B55-8A64-55FE-A1D6-C91591221A8D}"/>
              </a:ext>
            </a:extLst>
          </p:cNvPr>
          <p:cNvSpPr/>
          <p:nvPr/>
        </p:nvSpPr>
        <p:spPr>
          <a:xfrm rot="16200000">
            <a:off x="2572107" y="2630137"/>
            <a:ext cx="129620" cy="892868"/>
          </a:xfrm>
          <a:prstGeom prst="leftBrace">
            <a:avLst/>
          </a:prstGeom>
          <a:ln w="25400">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ysClr val="windowText" lastClr="000000"/>
              </a:solidFill>
            </a:endParaRPr>
          </a:p>
        </p:txBody>
      </p:sp>
      <p:sp>
        <p:nvSpPr>
          <p:cNvPr id="17" name="TextBox 16">
            <a:extLst>
              <a:ext uri="{FF2B5EF4-FFF2-40B4-BE49-F238E27FC236}">
                <a16:creationId xmlns:a16="http://schemas.microsoft.com/office/drawing/2014/main" id="{6A8C5BF3-05A0-89D8-16ED-7FC5DA7ACF2E}"/>
              </a:ext>
            </a:extLst>
          </p:cNvPr>
          <p:cNvSpPr txBox="1"/>
          <p:nvPr/>
        </p:nvSpPr>
        <p:spPr>
          <a:xfrm>
            <a:off x="2386621" y="3141378"/>
            <a:ext cx="494943" cy="369332"/>
          </a:xfrm>
          <a:prstGeom prst="rect">
            <a:avLst/>
          </a:prstGeom>
          <a:noFill/>
          <a:ln>
            <a:noFill/>
          </a:ln>
        </p:spPr>
        <p:txBody>
          <a:bodyPr wrap="none" rtlCol="0">
            <a:spAutoFit/>
          </a:bodyPr>
          <a:lstStyle/>
          <a:p>
            <a:pPr algn="ctr"/>
            <a:r>
              <a:rPr lang="en-US" b="1" dirty="0">
                <a:solidFill>
                  <a:sysClr val="windowText" lastClr="000000"/>
                </a:solidFill>
              </a:rPr>
              <a:t>0-1</a:t>
            </a:r>
          </a:p>
        </p:txBody>
      </p:sp>
      <p:sp>
        <p:nvSpPr>
          <p:cNvPr id="3" name="Content Placeholder 2">
            <a:extLst>
              <a:ext uri="{FF2B5EF4-FFF2-40B4-BE49-F238E27FC236}">
                <a16:creationId xmlns:a16="http://schemas.microsoft.com/office/drawing/2014/main" id="{7DD24081-A2BB-9CCD-7C5B-EBCF1668EC33}"/>
              </a:ext>
            </a:extLst>
          </p:cNvPr>
          <p:cNvSpPr>
            <a:spLocks noGrp="1"/>
          </p:cNvSpPr>
          <p:nvPr>
            <p:ph idx="1"/>
          </p:nvPr>
        </p:nvSpPr>
        <p:spPr/>
        <p:txBody>
          <a:bodyPr anchor="t">
            <a:normAutofit/>
          </a:bodyPr>
          <a:lstStyle/>
          <a:p>
            <a:pPr marL="0" indent="0" algn="ctr">
              <a:buNone/>
            </a:pPr>
            <a:endParaRPr lang="en-US" sz="4400" b="1" dirty="0"/>
          </a:p>
          <a:p>
            <a:pPr marL="0" indent="0">
              <a:buNone/>
            </a:pPr>
            <a:r>
              <a:rPr lang="en-US" sz="4400" b="1" dirty="0"/>
              <a:t>Risk = P(T) x P(C|T) x C</a:t>
            </a:r>
          </a:p>
        </p:txBody>
      </p:sp>
      <p:sp>
        <p:nvSpPr>
          <p:cNvPr id="20" name="TextBox 19">
            <a:extLst>
              <a:ext uri="{FF2B5EF4-FFF2-40B4-BE49-F238E27FC236}">
                <a16:creationId xmlns:a16="http://schemas.microsoft.com/office/drawing/2014/main" id="{6229AF50-BAE5-8D46-52CF-4927A7E4EFA3}"/>
              </a:ext>
            </a:extLst>
          </p:cNvPr>
          <p:cNvSpPr txBox="1">
            <a:spLocks noChangeAspect="1"/>
          </p:cNvSpPr>
          <p:nvPr/>
        </p:nvSpPr>
        <p:spPr>
          <a:xfrm>
            <a:off x="4746646" y="3158156"/>
            <a:ext cx="548640" cy="461665"/>
          </a:xfrm>
          <a:prstGeom prst="rect">
            <a:avLst/>
          </a:prstGeom>
          <a:noFill/>
        </p:spPr>
        <p:txBody>
          <a:bodyPr wrap="square" rtlCol="0" anchor="ctr">
            <a:spAutoFit/>
          </a:bodyPr>
          <a:lstStyle/>
          <a:p>
            <a:pPr algn="ctr"/>
            <a:r>
              <a:rPr lang="en-US" sz="2400" dirty="0"/>
              <a:t>✅</a:t>
            </a:r>
          </a:p>
        </p:txBody>
      </p:sp>
    </p:spTree>
    <p:extLst>
      <p:ext uri="{BB962C8B-B14F-4D97-AF65-F5344CB8AC3E}">
        <p14:creationId xmlns:p14="http://schemas.microsoft.com/office/powerpoint/2010/main" val="38193183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FA76CE-1610-EB02-67DB-4756B7FDCB32}"/>
              </a:ext>
            </a:extLst>
          </p:cNvPr>
          <p:cNvSpPr>
            <a:spLocks noGrp="1"/>
          </p:cNvSpPr>
          <p:nvPr>
            <p:ph type="title"/>
          </p:nvPr>
        </p:nvSpPr>
        <p:spPr/>
        <p:txBody>
          <a:bodyPr/>
          <a:lstStyle/>
          <a:p>
            <a:r>
              <a:rPr lang="en-US" dirty="0"/>
              <a:t>Example Points</a:t>
            </a:r>
          </a:p>
        </p:txBody>
      </p:sp>
      <p:pic>
        <p:nvPicPr>
          <p:cNvPr id="8" name="Content Placeholder 7">
            <a:extLst>
              <a:ext uri="{FF2B5EF4-FFF2-40B4-BE49-F238E27FC236}">
                <a16:creationId xmlns:a16="http://schemas.microsoft.com/office/drawing/2014/main" id="{57338870-2C6E-DC06-E35A-19F8EFF19D62}"/>
              </a:ext>
            </a:extLst>
          </p:cNvPr>
          <p:cNvPicPr>
            <a:picLocks noGrp="1" noChangeAspect="1"/>
          </p:cNvPicPr>
          <p:nvPr>
            <p:ph sz="half" idx="1"/>
          </p:nvPr>
        </p:nvPicPr>
        <p:blipFill>
          <a:blip r:embed="rId2"/>
          <a:stretch>
            <a:fillRect/>
          </a:stretch>
        </p:blipFill>
        <p:spPr>
          <a:xfrm>
            <a:off x="457200" y="2024026"/>
            <a:ext cx="4057650" cy="3896857"/>
          </a:xfrm>
          <a:prstGeom prst="rect">
            <a:avLst/>
          </a:prstGeom>
        </p:spPr>
      </p:pic>
      <p:sp>
        <p:nvSpPr>
          <p:cNvPr id="4" name="Content Placeholder 3">
            <a:extLst>
              <a:ext uri="{FF2B5EF4-FFF2-40B4-BE49-F238E27FC236}">
                <a16:creationId xmlns:a16="http://schemas.microsoft.com/office/drawing/2014/main" id="{25D3D71F-E2B6-DA6E-7D78-1FED840600DC}"/>
              </a:ext>
            </a:extLst>
          </p:cNvPr>
          <p:cNvSpPr>
            <a:spLocks noGrp="1"/>
          </p:cNvSpPr>
          <p:nvPr>
            <p:ph sz="half" idx="2"/>
          </p:nvPr>
        </p:nvSpPr>
        <p:spPr>
          <a:xfrm>
            <a:off x="4629150" y="1596073"/>
            <a:ext cx="4057650" cy="1832928"/>
          </a:xfrm>
        </p:spPr>
        <p:txBody>
          <a:bodyPr>
            <a:normAutofit/>
          </a:bodyPr>
          <a:lstStyle/>
          <a:p>
            <a:r>
              <a:rPr lang="en-US" sz="1200" dirty="0"/>
              <a:t>locations &lt;- </a:t>
            </a:r>
            <a:r>
              <a:rPr lang="en-US" sz="1200" dirty="0" err="1"/>
              <a:t>data.frame</a:t>
            </a:r>
            <a:r>
              <a:rPr lang="en-US" sz="1200" dirty="0"/>
              <a:t>(</a:t>
            </a:r>
            <a:br>
              <a:rPr lang="en-US" sz="1200" dirty="0"/>
            </a:br>
            <a:r>
              <a:rPr lang="en-US" sz="1200" dirty="0"/>
              <a:t>name = c("ETB", "Zach", "HEB"),</a:t>
            </a:r>
            <a:br>
              <a:rPr lang="en-US" sz="1200" dirty="0"/>
            </a:br>
            <a:r>
              <a:rPr lang="en-US" sz="1200" dirty="0" err="1"/>
              <a:t>lon</a:t>
            </a:r>
            <a:r>
              <a:rPr lang="en-US" sz="1200" dirty="0"/>
              <a:t> = c(-96.3395, -96.3402, -96.3187),</a:t>
            </a:r>
            <a:br>
              <a:rPr lang="en-US" sz="1200" dirty="0"/>
            </a:br>
            <a:r>
              <a:rPr lang="en-US" sz="1200" dirty="0" err="1"/>
              <a:t>lat</a:t>
            </a:r>
            <a:r>
              <a:rPr lang="en-US" sz="1200" dirty="0"/>
              <a:t> = c(30.6228, 30.6211, 30.6129))</a:t>
            </a:r>
          </a:p>
          <a:p>
            <a:r>
              <a:rPr lang="en-US" sz="1200" dirty="0" err="1"/>
              <a:t>points_sf</a:t>
            </a:r>
            <a:r>
              <a:rPr lang="en-US" sz="1200" dirty="0"/>
              <a:t> &lt;-</a:t>
            </a:r>
            <a:br>
              <a:rPr lang="en-US" sz="1200" dirty="0"/>
            </a:br>
            <a:r>
              <a:rPr lang="en-US" sz="1200" dirty="0" err="1"/>
              <a:t>st_as_sf</a:t>
            </a:r>
            <a:r>
              <a:rPr lang="en-US" sz="1200" dirty="0"/>
              <a:t>(locations,</a:t>
            </a:r>
            <a:br>
              <a:rPr lang="en-US" sz="1200" dirty="0"/>
            </a:br>
            <a:r>
              <a:rPr lang="en-US" sz="1200" dirty="0"/>
              <a:t>coords = c("</a:t>
            </a:r>
            <a:r>
              <a:rPr lang="en-US" sz="1200" dirty="0" err="1"/>
              <a:t>lon</a:t>
            </a:r>
            <a:r>
              <a:rPr lang="en-US" sz="1200" dirty="0"/>
              <a:t>","</a:t>
            </a:r>
            <a:r>
              <a:rPr lang="en-US" sz="1200" dirty="0" err="1"/>
              <a:t>lat</a:t>
            </a:r>
            <a:r>
              <a:rPr lang="en-US" sz="1200" dirty="0"/>
              <a:t>"), </a:t>
            </a:r>
            <a:r>
              <a:rPr lang="en-US" sz="1200" dirty="0" err="1"/>
              <a:t>crs</a:t>
            </a:r>
            <a:r>
              <a:rPr lang="en-US" sz="1200" dirty="0"/>
              <a:t> = 4326)</a:t>
            </a:r>
          </a:p>
        </p:txBody>
      </p:sp>
      <p:sp>
        <p:nvSpPr>
          <p:cNvPr id="5" name="Slide Number Placeholder 4">
            <a:extLst>
              <a:ext uri="{FF2B5EF4-FFF2-40B4-BE49-F238E27FC236}">
                <a16:creationId xmlns:a16="http://schemas.microsoft.com/office/drawing/2014/main" id="{ED788392-C239-EB6F-3366-524344DEA90E}"/>
              </a:ext>
            </a:extLst>
          </p:cNvPr>
          <p:cNvSpPr>
            <a:spLocks noGrp="1"/>
          </p:cNvSpPr>
          <p:nvPr>
            <p:ph type="sldNum" sz="quarter" idx="12"/>
          </p:nvPr>
        </p:nvSpPr>
        <p:spPr/>
        <p:txBody>
          <a:bodyPr/>
          <a:lstStyle/>
          <a:p>
            <a:fld id="{C0343C75-1924-D247-85A3-0CB62E67E5D1}" type="slidenum">
              <a:rPr lang="en-US" smtClean="0"/>
              <a:t>23</a:t>
            </a:fld>
            <a:endParaRPr lang="en-US"/>
          </a:p>
        </p:txBody>
      </p:sp>
      <p:pic>
        <p:nvPicPr>
          <p:cNvPr id="6" name="Picture 5">
            <a:extLst>
              <a:ext uri="{FF2B5EF4-FFF2-40B4-BE49-F238E27FC236}">
                <a16:creationId xmlns:a16="http://schemas.microsoft.com/office/drawing/2014/main" id="{FF3C4599-BF40-979D-05CB-36CB9697E35B}"/>
              </a:ext>
            </a:extLst>
          </p:cNvPr>
          <p:cNvPicPr>
            <a:picLocks noChangeAspect="1"/>
          </p:cNvPicPr>
          <p:nvPr/>
        </p:nvPicPr>
        <p:blipFill>
          <a:blip r:embed="rId3"/>
          <a:srcRect t="15441" b="17510"/>
          <a:stretch>
            <a:fillRect/>
          </a:stretch>
        </p:blipFill>
        <p:spPr>
          <a:xfrm>
            <a:off x="4634178" y="3972455"/>
            <a:ext cx="4052622" cy="2383896"/>
          </a:xfrm>
          <a:prstGeom prst="rect">
            <a:avLst/>
          </a:prstGeom>
        </p:spPr>
      </p:pic>
      <p:cxnSp>
        <p:nvCxnSpPr>
          <p:cNvPr id="10" name="Curved Connector 9">
            <a:extLst>
              <a:ext uri="{FF2B5EF4-FFF2-40B4-BE49-F238E27FC236}">
                <a16:creationId xmlns:a16="http://schemas.microsoft.com/office/drawing/2014/main" id="{56636C86-418A-9A5A-758A-45351D3FF980}"/>
              </a:ext>
            </a:extLst>
          </p:cNvPr>
          <p:cNvCxnSpPr>
            <a:stCxn id="8" idx="0"/>
          </p:cNvCxnSpPr>
          <p:nvPr/>
        </p:nvCxnSpPr>
        <p:spPr>
          <a:xfrm rot="5400000" flipH="1" flipV="1">
            <a:off x="3380599" y="832626"/>
            <a:ext cx="296826" cy="2085975"/>
          </a:xfrm>
          <a:prstGeom prst="curvedConnector2">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urved Connector 10">
            <a:extLst>
              <a:ext uri="{FF2B5EF4-FFF2-40B4-BE49-F238E27FC236}">
                <a16:creationId xmlns:a16="http://schemas.microsoft.com/office/drawing/2014/main" id="{B337E41E-4460-B7E1-0ACB-CA5E1B3CF965}"/>
              </a:ext>
            </a:extLst>
          </p:cNvPr>
          <p:cNvCxnSpPr>
            <a:cxnSpLocks/>
            <a:stCxn id="4" idx="2"/>
          </p:cNvCxnSpPr>
          <p:nvPr/>
        </p:nvCxnSpPr>
        <p:spPr>
          <a:xfrm rot="5400000">
            <a:off x="6042557" y="3663071"/>
            <a:ext cx="849488" cy="381349"/>
          </a:xfrm>
          <a:prstGeom prst="curvedConnector3">
            <a:avLst>
              <a:gd name="adj1" fmla="val 38040"/>
            </a:avLst>
          </a:prstGeom>
          <a:ln w="7620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971563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EB85C-26F8-7245-9A05-CA34D71C73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4ADA75-D934-EDC3-CEC9-9F36466238B4}"/>
              </a:ext>
            </a:extLst>
          </p:cNvPr>
          <p:cNvSpPr>
            <a:spLocks noGrp="1"/>
          </p:cNvSpPr>
          <p:nvPr>
            <p:ph type="title"/>
          </p:nvPr>
        </p:nvSpPr>
        <p:spPr/>
        <p:txBody>
          <a:bodyPr/>
          <a:lstStyle/>
          <a:p>
            <a:r>
              <a:rPr lang="en-US" dirty="0"/>
              <a:t>Buffering</a:t>
            </a:r>
          </a:p>
        </p:txBody>
      </p:sp>
      <p:sp>
        <p:nvSpPr>
          <p:cNvPr id="3" name="Content Placeholder 2">
            <a:extLst>
              <a:ext uri="{FF2B5EF4-FFF2-40B4-BE49-F238E27FC236}">
                <a16:creationId xmlns:a16="http://schemas.microsoft.com/office/drawing/2014/main" id="{A3981BF0-FD13-0DD0-C850-ADB57F2D57CE}"/>
              </a:ext>
            </a:extLst>
          </p:cNvPr>
          <p:cNvSpPr>
            <a:spLocks noGrp="1"/>
          </p:cNvSpPr>
          <p:nvPr>
            <p:ph idx="1"/>
          </p:nvPr>
        </p:nvSpPr>
        <p:spPr>
          <a:xfrm>
            <a:off x="457200" y="1600516"/>
            <a:ext cx="8229600" cy="4755833"/>
          </a:xfrm>
        </p:spPr>
        <p:txBody>
          <a:bodyPr>
            <a:normAutofit/>
          </a:bodyPr>
          <a:lstStyle/>
          <a:p>
            <a:r>
              <a:rPr lang="en-US" sz="1600" dirty="0"/>
              <a:t>A buffer expands a geometric feature (point, line, or polygon) into a new polygon that covers all areas within a specific distance (d) of the original feature.</a:t>
            </a:r>
          </a:p>
          <a:p>
            <a:r>
              <a:rPr lang="en-US" sz="1600" dirty="0"/>
              <a:t>We use the sf package to wrap our locations in a "safety zone."</a:t>
            </a:r>
          </a:p>
          <a:p>
            <a:pPr lvl="1"/>
            <a:r>
              <a:rPr lang="en-US" sz="1600" b="1" dirty="0"/>
              <a:t>Proximity Analysis</a:t>
            </a:r>
            <a:r>
              <a:rPr lang="en-US" sz="1600" dirty="0"/>
              <a:t>: "How many people live within 500 meters of this HEB?"</a:t>
            </a:r>
          </a:p>
          <a:p>
            <a:pPr lvl="1"/>
            <a:r>
              <a:rPr lang="en-US" sz="1600" b="1" dirty="0"/>
              <a:t>Environmental Impact</a:t>
            </a:r>
            <a:r>
              <a:rPr lang="en-US" sz="1600" dirty="0"/>
              <a:t>: "Which dorms are within the noise radius of the construction site?"</a:t>
            </a:r>
          </a:p>
          <a:p>
            <a:pPr lvl="1"/>
            <a:r>
              <a:rPr lang="en-US" sz="1600" b="1" dirty="0"/>
              <a:t>The Zombie Metric</a:t>
            </a:r>
            <a:r>
              <a:rPr lang="en-US" sz="1600" dirty="0"/>
              <a:t>: "If a zombie can smell a human from 50 feet, what is the 'Danger Zone' around the Zachry building?"</a:t>
            </a:r>
          </a:p>
          <a:p>
            <a:r>
              <a:rPr lang="en-US" sz="1600" dirty="0"/>
              <a:t>Buffering works best when your CRS </a:t>
            </a:r>
            <a:br>
              <a:rPr lang="en-US" sz="1600" dirty="0"/>
            </a:br>
            <a:r>
              <a:rPr lang="en-US" sz="1600" dirty="0"/>
              <a:t>uses meters or feet rather than degrees.</a:t>
            </a:r>
          </a:p>
          <a:p>
            <a:r>
              <a:rPr lang="en-US" sz="1600" dirty="0"/>
              <a:t>If you buffer by "1" in a degree-based </a:t>
            </a:r>
            <a:br>
              <a:rPr lang="en-US" sz="1600" dirty="0"/>
            </a:br>
            <a:r>
              <a:rPr lang="en-US" sz="1600" dirty="0"/>
              <a:t>system (WGS84), you'll create a bubble </a:t>
            </a:r>
            <a:br>
              <a:rPr lang="en-US" sz="1600" dirty="0"/>
            </a:br>
            <a:r>
              <a:rPr lang="en-US" sz="1600" dirty="0"/>
              <a:t>that spans an entire state!</a:t>
            </a:r>
          </a:p>
          <a:p>
            <a:r>
              <a:rPr lang="en-US" sz="1600" dirty="0"/>
              <a:t>Example:</a:t>
            </a:r>
          </a:p>
          <a:p>
            <a:pPr marL="0" indent="0">
              <a:buNone/>
            </a:pPr>
            <a:r>
              <a:rPr lang="en-US" sz="1200" b="1" dirty="0">
                <a:solidFill>
                  <a:srgbClr val="C00000"/>
                </a:solidFill>
                <a:latin typeface="Consolas" panose="020B0609020204030204" pitchFamily="49" charset="0"/>
                <a:cs typeface="Consolas" panose="020B0609020204030204" pitchFamily="49" charset="0"/>
              </a:rPr>
              <a:t>   </a:t>
            </a:r>
            <a:r>
              <a:rPr lang="en-US" sz="1200" b="1" dirty="0" err="1">
                <a:solidFill>
                  <a:srgbClr val="C00000"/>
                </a:solidFill>
                <a:latin typeface="Consolas" panose="020B0609020204030204" pitchFamily="49" charset="0"/>
                <a:cs typeface="Consolas" panose="020B0609020204030204" pitchFamily="49" charset="0"/>
              </a:rPr>
              <a:t>buffered_points</a:t>
            </a:r>
            <a:r>
              <a:rPr lang="en-US" sz="1200" b="1" dirty="0">
                <a:solidFill>
                  <a:srgbClr val="C00000"/>
                </a:solidFill>
                <a:latin typeface="Consolas" panose="020B0609020204030204" pitchFamily="49" charset="0"/>
                <a:cs typeface="Consolas" panose="020B0609020204030204" pitchFamily="49" charset="0"/>
              </a:rPr>
              <a:t> &lt;- </a:t>
            </a:r>
            <a:r>
              <a:rPr lang="en-US" sz="1200" b="1" dirty="0" err="1">
                <a:solidFill>
                  <a:srgbClr val="C00000"/>
                </a:solidFill>
                <a:latin typeface="Consolas" panose="020B0609020204030204" pitchFamily="49" charset="0"/>
                <a:cs typeface="Consolas" panose="020B0609020204030204" pitchFamily="49" charset="0"/>
              </a:rPr>
              <a:t>st_buffer</a:t>
            </a:r>
            <a:r>
              <a:rPr lang="en-US" sz="1200" b="1" dirty="0">
                <a:solidFill>
                  <a:srgbClr val="C00000"/>
                </a:solidFill>
                <a:latin typeface="Consolas" panose="020B0609020204030204" pitchFamily="49" charset="0"/>
                <a:cs typeface="Consolas" panose="020B0609020204030204" pitchFamily="49" charset="0"/>
              </a:rPr>
              <a:t>(</a:t>
            </a:r>
            <a:r>
              <a:rPr lang="en-US" sz="1200" b="1" dirty="0" err="1">
                <a:solidFill>
                  <a:srgbClr val="C00000"/>
                </a:solidFill>
                <a:latin typeface="Consolas" panose="020B0609020204030204" pitchFamily="49" charset="0"/>
                <a:cs typeface="Consolas" panose="020B0609020204030204" pitchFamily="49" charset="0"/>
              </a:rPr>
              <a:t>points_sf</a:t>
            </a:r>
            <a:r>
              <a:rPr lang="en-US" sz="1200" b="1" dirty="0">
                <a:solidFill>
                  <a:srgbClr val="C00000"/>
                </a:solidFill>
                <a:latin typeface="Consolas" panose="020B0609020204030204" pitchFamily="49" charset="0"/>
                <a:cs typeface="Consolas" panose="020B0609020204030204" pitchFamily="49" charset="0"/>
              </a:rPr>
              <a:t>, 100)</a:t>
            </a:r>
          </a:p>
        </p:txBody>
      </p:sp>
      <p:sp>
        <p:nvSpPr>
          <p:cNvPr id="4" name="Slide Number Placeholder 3">
            <a:extLst>
              <a:ext uri="{FF2B5EF4-FFF2-40B4-BE49-F238E27FC236}">
                <a16:creationId xmlns:a16="http://schemas.microsoft.com/office/drawing/2014/main" id="{F5494401-1AE8-A074-2C43-560D64CDDB9D}"/>
              </a:ext>
            </a:extLst>
          </p:cNvPr>
          <p:cNvSpPr>
            <a:spLocks noGrp="1"/>
          </p:cNvSpPr>
          <p:nvPr>
            <p:ph type="sldNum" sz="quarter" idx="12"/>
          </p:nvPr>
        </p:nvSpPr>
        <p:spPr/>
        <p:txBody>
          <a:bodyPr/>
          <a:lstStyle/>
          <a:p>
            <a:fld id="{C0343C75-1924-D247-85A3-0CB62E67E5D1}" type="slidenum">
              <a:rPr lang="en-US" smtClean="0"/>
              <a:t>24</a:t>
            </a:fld>
            <a:endParaRPr lang="en-US"/>
          </a:p>
        </p:txBody>
      </p:sp>
      <p:pic>
        <p:nvPicPr>
          <p:cNvPr id="6" name="Picture 5">
            <a:extLst>
              <a:ext uri="{FF2B5EF4-FFF2-40B4-BE49-F238E27FC236}">
                <a16:creationId xmlns:a16="http://schemas.microsoft.com/office/drawing/2014/main" id="{9D141E43-9638-6D43-325E-A3C9A3399D3C}"/>
              </a:ext>
            </a:extLst>
          </p:cNvPr>
          <p:cNvPicPr>
            <a:picLocks noChangeAspect="1"/>
          </p:cNvPicPr>
          <p:nvPr/>
        </p:nvPicPr>
        <p:blipFill>
          <a:blip r:embed="rId2"/>
          <a:srcRect t="16475" b="16475"/>
          <a:stretch/>
        </p:blipFill>
        <p:spPr>
          <a:xfrm>
            <a:off x="4662312" y="3989004"/>
            <a:ext cx="4024488" cy="2367346"/>
          </a:xfrm>
          <a:prstGeom prst="rect">
            <a:avLst/>
          </a:prstGeom>
        </p:spPr>
      </p:pic>
    </p:spTree>
    <p:extLst>
      <p:ext uri="{BB962C8B-B14F-4D97-AF65-F5344CB8AC3E}">
        <p14:creationId xmlns:p14="http://schemas.microsoft.com/office/powerpoint/2010/main" val="2398494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E0C69-5967-5A96-1D19-B1EB7490AFAB}"/>
              </a:ext>
            </a:extLst>
          </p:cNvPr>
          <p:cNvSpPr>
            <a:spLocks noGrp="1"/>
          </p:cNvSpPr>
          <p:nvPr>
            <p:ph type="title"/>
          </p:nvPr>
        </p:nvSpPr>
        <p:spPr/>
        <p:txBody>
          <a:bodyPr>
            <a:normAutofit/>
          </a:bodyPr>
          <a:lstStyle/>
          <a:p>
            <a:r>
              <a:rPr lang="en-US" sz="5400" b="1" dirty="0" err="1">
                <a:solidFill>
                  <a:schemeClr val="accent5">
                    <a:lumMod val="75000"/>
                  </a:schemeClr>
                </a:solidFill>
                <a:latin typeface="Coolvetica" panose="020B0603030602020004" pitchFamily="34" charset="0"/>
              </a:rPr>
              <a:t>L</a:t>
            </a:r>
            <a:r>
              <a:rPr lang="en-US" b="1" dirty="0" err="1">
                <a:solidFill>
                  <a:schemeClr val="accent5">
                    <a:lumMod val="75000"/>
                  </a:schemeClr>
                </a:solidFill>
                <a:latin typeface="Coolvetica" panose="020B0603030602020004" pitchFamily="34" charset="0"/>
              </a:rPr>
              <a:t>a</a:t>
            </a:r>
            <a:r>
              <a:rPr lang="en-US" sz="5400" dirty="0" err="1">
                <a:solidFill>
                  <a:schemeClr val="accent5">
                    <a:lumMod val="75000"/>
                  </a:schemeClr>
                </a:solidFill>
                <a:latin typeface="Coolvetica" panose="020B0603030602020004" pitchFamily="34" charset="0"/>
              </a:rPr>
              <a:t>n</a:t>
            </a:r>
            <a:r>
              <a:rPr lang="en-US" sz="4000" b="1" dirty="0" err="1">
                <a:solidFill>
                  <a:schemeClr val="accent5">
                    <a:lumMod val="75000"/>
                  </a:schemeClr>
                </a:solidFill>
                <a:latin typeface="Coolvetica" panose="020B0603030602020004" pitchFamily="34" charset="0"/>
              </a:rPr>
              <a:t>d</a:t>
            </a:r>
            <a:r>
              <a:rPr lang="en-US" sz="5400" b="1" dirty="0" err="1">
                <a:solidFill>
                  <a:schemeClr val="accent5">
                    <a:lumMod val="75000"/>
                  </a:schemeClr>
                </a:solidFill>
                <a:latin typeface="Coolvetica" panose="020B0603030602020004" pitchFamily="34" charset="0"/>
              </a:rPr>
              <a:t>Sc</a:t>
            </a:r>
            <a:r>
              <a:rPr lang="en-US" sz="4800" b="1" dirty="0" err="1">
                <a:solidFill>
                  <a:schemeClr val="accent5">
                    <a:lumMod val="75000"/>
                  </a:schemeClr>
                </a:solidFill>
                <a:latin typeface="Coolvetica" panose="020B0603030602020004" pitchFamily="34" charset="0"/>
              </a:rPr>
              <a:t>a</a:t>
            </a:r>
            <a:r>
              <a:rPr lang="en-US" sz="7200" b="1" dirty="0" err="1">
                <a:solidFill>
                  <a:schemeClr val="accent5">
                    <a:lumMod val="75000"/>
                  </a:schemeClr>
                </a:solidFill>
                <a:latin typeface="Coolvetica" panose="020B0603030602020004" pitchFamily="34" charset="0"/>
              </a:rPr>
              <a:t>n</a:t>
            </a:r>
            <a:endParaRPr lang="en-US" sz="5400" dirty="0"/>
          </a:p>
        </p:txBody>
      </p:sp>
      <p:sp>
        <p:nvSpPr>
          <p:cNvPr id="3" name="Content Placeholder 2">
            <a:extLst>
              <a:ext uri="{FF2B5EF4-FFF2-40B4-BE49-F238E27FC236}">
                <a16:creationId xmlns:a16="http://schemas.microsoft.com/office/drawing/2014/main" id="{FFC11BC6-D2BD-8F21-586C-B247660773D6}"/>
              </a:ext>
            </a:extLst>
          </p:cNvPr>
          <p:cNvSpPr>
            <a:spLocks noGrp="1"/>
          </p:cNvSpPr>
          <p:nvPr>
            <p:ph idx="1"/>
          </p:nvPr>
        </p:nvSpPr>
        <p:spPr/>
        <p:txBody>
          <a:bodyPr>
            <a:normAutofit fontScale="92500"/>
          </a:bodyPr>
          <a:lstStyle/>
          <a:p>
            <a:r>
              <a:rPr lang="en-US" sz="3500" dirty="0"/>
              <a:t>P</a:t>
            </a:r>
            <a:r>
              <a:rPr lang="en-US" dirty="0"/>
              <a:t>rogram initiated at </a:t>
            </a:r>
            <a:r>
              <a:rPr lang="en-US" sz="3500" b="1" dirty="0"/>
              <a:t>O</a:t>
            </a:r>
            <a:r>
              <a:rPr lang="en-US" b="1" dirty="0"/>
              <a:t>ak </a:t>
            </a:r>
            <a:r>
              <a:rPr lang="en-US" sz="3500" b="1" dirty="0"/>
              <a:t>R</a:t>
            </a:r>
            <a:r>
              <a:rPr lang="en-US" b="1" dirty="0"/>
              <a:t>idge </a:t>
            </a:r>
            <a:r>
              <a:rPr lang="en-US" sz="3500" b="1" dirty="0"/>
              <a:t>N</a:t>
            </a:r>
            <a:r>
              <a:rPr lang="en-US" b="1" dirty="0"/>
              <a:t>ational </a:t>
            </a:r>
            <a:r>
              <a:rPr lang="en-US" sz="3500" b="1" dirty="0"/>
              <a:t>L</a:t>
            </a:r>
            <a:r>
              <a:rPr lang="en-US" b="1" dirty="0"/>
              <a:t>aboratory </a:t>
            </a:r>
            <a:r>
              <a:rPr lang="en-US" dirty="0"/>
              <a:t>(ORNL) in 1997 to address the need for </a:t>
            </a:r>
            <a:r>
              <a:rPr lang="en-US" u="sng" dirty="0"/>
              <a:t>improved estimates of population</a:t>
            </a:r>
            <a:r>
              <a:rPr lang="en-US" dirty="0"/>
              <a:t>.</a:t>
            </a:r>
          </a:p>
          <a:p>
            <a:r>
              <a:rPr lang="en-US" sz="3500" dirty="0" err="1"/>
              <a:t>N</a:t>
            </a:r>
            <a:r>
              <a:rPr lang="en-US" dirty="0" err="1"/>
              <a:t>Eed</a:t>
            </a:r>
            <a:r>
              <a:rPr lang="en-US" dirty="0"/>
              <a:t> for a more </a:t>
            </a:r>
            <a:r>
              <a:rPr lang="en-US" b="1" dirty="0"/>
              <a:t>realistic population distribution </a:t>
            </a:r>
            <a:r>
              <a:rPr lang="en-US" dirty="0"/>
              <a:t>that could capture where people are likely to be throughout the course of a day (not just residential locations as are reported in official </a:t>
            </a:r>
            <a:r>
              <a:rPr lang="en-US" b="1" dirty="0"/>
              <a:t>censuses</a:t>
            </a:r>
            <a:r>
              <a:rPr lang="en-US" dirty="0"/>
              <a:t>).</a:t>
            </a:r>
          </a:p>
          <a:p>
            <a:r>
              <a:rPr lang="en-US" sz="3500" dirty="0" err="1"/>
              <a:t>T</a:t>
            </a:r>
            <a:r>
              <a:rPr lang="en-US" dirty="0" err="1"/>
              <a:t>hE</a:t>
            </a:r>
            <a:r>
              <a:rPr lang="en-US" dirty="0"/>
              <a:t> goal of capturing the diurnal variation of population is critical for a variety of analyses and actions including emergency preparedness.</a:t>
            </a:r>
          </a:p>
          <a:p>
            <a:r>
              <a:rPr lang="en-US" sz="3600" b="1" dirty="0">
                <a:solidFill>
                  <a:schemeClr val="accent5">
                    <a:lumMod val="75000"/>
                  </a:schemeClr>
                </a:solidFill>
              </a:rPr>
              <a:t>L</a:t>
            </a:r>
            <a:r>
              <a:rPr lang="en-US" b="1" dirty="0">
                <a:solidFill>
                  <a:schemeClr val="accent5">
                    <a:lumMod val="75000"/>
                  </a:schemeClr>
                </a:solidFill>
              </a:rPr>
              <a:t>and</a:t>
            </a:r>
            <a:r>
              <a:rPr lang="en-US" sz="3600" b="1" dirty="0">
                <a:solidFill>
                  <a:schemeClr val="accent5">
                    <a:lumMod val="75000"/>
                  </a:schemeClr>
                </a:solidFill>
              </a:rPr>
              <a:t>S</a:t>
            </a:r>
            <a:r>
              <a:rPr lang="en-US" b="1" dirty="0">
                <a:solidFill>
                  <a:schemeClr val="accent5">
                    <a:lumMod val="75000"/>
                  </a:schemeClr>
                </a:solidFill>
              </a:rPr>
              <a:t>can</a:t>
            </a:r>
            <a:r>
              <a:rPr lang="en-US" sz="3600" b="1" dirty="0">
                <a:solidFill>
                  <a:schemeClr val="accent5">
                    <a:lumMod val="75000"/>
                  </a:schemeClr>
                </a:solidFill>
              </a:rPr>
              <a:t>USA</a:t>
            </a:r>
            <a:r>
              <a:rPr lang="en-US" b="1" dirty="0">
                <a:solidFill>
                  <a:schemeClr val="accent5">
                    <a:lumMod val="75000"/>
                  </a:schemeClr>
                </a:solidFill>
              </a:rPr>
              <a:t>2021</a:t>
            </a:r>
          </a:p>
          <a:p>
            <a:pPr marL="457200" lvl="1" indent="0">
              <a:buNone/>
            </a:pPr>
            <a:r>
              <a:rPr lang="en-US" sz="2000" dirty="0"/>
              <a:t>Weber, E., Moehl, J., Weston, S., Rose, A., Brelsford, C., &amp; Hauser, T. (2022). </a:t>
            </a:r>
            <a:r>
              <a:rPr lang="en-US" sz="2000" dirty="0" err="1"/>
              <a:t>LandScan</a:t>
            </a:r>
            <a:r>
              <a:rPr lang="en-US" sz="2000" dirty="0"/>
              <a:t> USA 2021 [Data set]. Oak Ridge National Laboratory. </a:t>
            </a:r>
            <a:r>
              <a:rPr lang="en-US" sz="2800" b="1" dirty="0">
                <a:highlight>
                  <a:srgbClr val="FFFF00"/>
                </a:highlight>
                <a:hlinkClick r:id="rId2"/>
              </a:rPr>
              <a:t>https://landscan.ornl.gov</a:t>
            </a:r>
            <a:endParaRPr lang="en-US" sz="2000" b="1" dirty="0">
              <a:highlight>
                <a:srgbClr val="FFFF00"/>
              </a:highlight>
            </a:endParaRPr>
          </a:p>
        </p:txBody>
      </p:sp>
      <p:sp>
        <p:nvSpPr>
          <p:cNvPr id="4" name="Slide Number Placeholder 3">
            <a:extLst>
              <a:ext uri="{FF2B5EF4-FFF2-40B4-BE49-F238E27FC236}">
                <a16:creationId xmlns:a16="http://schemas.microsoft.com/office/drawing/2014/main" id="{02BF2D7B-C907-6333-35E1-C3FBF66A5240}"/>
              </a:ext>
            </a:extLst>
          </p:cNvPr>
          <p:cNvSpPr>
            <a:spLocks noGrp="1"/>
          </p:cNvSpPr>
          <p:nvPr>
            <p:ph type="sldNum" sz="quarter" idx="12"/>
          </p:nvPr>
        </p:nvSpPr>
        <p:spPr/>
        <p:txBody>
          <a:bodyPr/>
          <a:lstStyle/>
          <a:p>
            <a:fld id="{C0343C75-1924-D247-85A3-0CB62E67E5D1}" type="slidenum">
              <a:rPr lang="en-US" smtClean="0"/>
              <a:t>25</a:t>
            </a:fld>
            <a:endParaRPr lang="en-US"/>
          </a:p>
        </p:txBody>
      </p:sp>
    </p:spTree>
    <p:extLst>
      <p:ext uri="{BB962C8B-B14F-4D97-AF65-F5344CB8AC3E}">
        <p14:creationId xmlns:p14="http://schemas.microsoft.com/office/powerpoint/2010/main" val="14507302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F865BA-24C7-6661-839F-D666EC64557B}"/>
              </a:ext>
            </a:extLst>
          </p:cNvPr>
          <p:cNvPicPr>
            <a:picLocks noChangeAspect="1"/>
          </p:cNvPicPr>
          <p:nvPr/>
        </p:nvPicPr>
        <p:blipFill>
          <a:blip r:embed="rId2"/>
          <a:stretch>
            <a:fillRect/>
          </a:stretch>
        </p:blipFill>
        <p:spPr>
          <a:xfrm>
            <a:off x="2331133" y="3102692"/>
            <a:ext cx="4481735" cy="2624214"/>
          </a:xfrm>
          <a:prstGeom prst="rect">
            <a:avLst/>
          </a:prstGeom>
        </p:spPr>
      </p:pic>
      <p:sp>
        <p:nvSpPr>
          <p:cNvPr id="3" name="Content Placeholder 2">
            <a:extLst>
              <a:ext uri="{FF2B5EF4-FFF2-40B4-BE49-F238E27FC236}">
                <a16:creationId xmlns:a16="http://schemas.microsoft.com/office/drawing/2014/main" id="{4996C355-72A5-B62C-D358-CE0042BB4573}"/>
              </a:ext>
            </a:extLst>
          </p:cNvPr>
          <p:cNvSpPr>
            <a:spLocks noGrp="1"/>
          </p:cNvSpPr>
          <p:nvPr>
            <p:ph idx="1"/>
          </p:nvPr>
        </p:nvSpPr>
        <p:spPr>
          <a:xfrm>
            <a:off x="628650" y="1131094"/>
            <a:ext cx="8294915" cy="4595813"/>
          </a:xfrm>
        </p:spPr>
        <p:txBody>
          <a:bodyPr>
            <a:normAutofit/>
          </a:bodyPr>
          <a:lstStyle/>
          <a:p>
            <a:r>
              <a:rPr lang="en-US" sz="1500" b="1" dirty="0"/>
              <a:t>Download LandScan USA 2021 </a:t>
            </a:r>
            <a:r>
              <a:rPr lang="en-US" sz="1500" b="1" i="1" dirty="0">
                <a:solidFill>
                  <a:srgbClr val="FF0000"/>
                </a:solidFill>
              </a:rPr>
              <a:t>(other years later)</a:t>
            </a:r>
          </a:p>
          <a:p>
            <a:r>
              <a:rPr lang="en-US" sz="1500" b="1" dirty="0"/>
              <a:t>Unzip it</a:t>
            </a:r>
          </a:p>
          <a:p>
            <a:pPr lvl="1"/>
            <a:r>
              <a:rPr lang="en-US" sz="1350" dirty="0"/>
              <a:t>This is the file we are looking for:</a:t>
            </a:r>
            <a:br>
              <a:rPr lang="en-US" sz="1350" dirty="0"/>
            </a:br>
            <a:r>
              <a:rPr lang="en-US" sz="1500" b="1" i="1" dirty="0"/>
              <a:t>landscan-usa-2021-conus-night.tif</a:t>
            </a:r>
            <a:br>
              <a:rPr lang="en-US" sz="1350" i="1" dirty="0"/>
            </a:br>
            <a:endParaRPr lang="en-US" sz="1350" i="1" dirty="0"/>
          </a:p>
          <a:p>
            <a:pPr marL="0" indent="0">
              <a:buNone/>
            </a:pPr>
            <a:r>
              <a:rPr lang="en-US" sz="18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library(terra)</a:t>
            </a:r>
          </a:p>
          <a:p>
            <a:pPr marL="0" indent="0">
              <a:buNone/>
            </a:pP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library(sf)</a:t>
            </a:r>
          </a:p>
          <a:p>
            <a:pPr marL="0" indent="0">
              <a:buNone/>
            </a:pP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rast</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("/Users/alexander/Data/landscan-usa-2021-night/landscan-usa-2021-conus-night.tif")</a:t>
            </a:r>
          </a:p>
          <a:p>
            <a:pPr marL="0" indent="0">
              <a:buNone/>
            </a:pP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plot(</a:t>
            </a: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endParaRPr lang="en-US" sz="1500" dirty="0"/>
          </a:p>
        </p:txBody>
      </p:sp>
      <p:sp>
        <p:nvSpPr>
          <p:cNvPr id="5" name="TextBox 4">
            <a:extLst>
              <a:ext uri="{FF2B5EF4-FFF2-40B4-BE49-F238E27FC236}">
                <a16:creationId xmlns:a16="http://schemas.microsoft.com/office/drawing/2014/main" id="{85841DC6-F7CD-B7E0-E6B8-6C26C5A52359}"/>
              </a:ext>
            </a:extLst>
          </p:cNvPr>
          <p:cNvSpPr txBox="1"/>
          <p:nvPr/>
        </p:nvSpPr>
        <p:spPr>
          <a:xfrm>
            <a:off x="4776108" y="2037459"/>
            <a:ext cx="2654710" cy="715581"/>
          </a:xfrm>
          <a:prstGeom prst="rect">
            <a:avLst/>
          </a:prstGeom>
          <a:solidFill>
            <a:schemeClr val="accent4">
              <a:lumMod val="40000"/>
              <a:lumOff val="60000"/>
            </a:schemeClr>
          </a:solidFill>
        </p:spPr>
        <p:txBody>
          <a:bodyPr wrap="square" rtlCol="0">
            <a:spAutoFit/>
          </a:bodyPr>
          <a:lstStyle/>
          <a:p>
            <a:pPr algn="ctr"/>
            <a:r>
              <a:rPr lang="en-US" sz="1350" b="1" i="1" dirty="0"/>
              <a:t>terra</a:t>
            </a:r>
            <a:r>
              <a:rPr lang="en-US" sz="1350" dirty="0"/>
              <a:t> provides methods to manipulate geographic (spatial) data in "raster" and "vector" form.</a:t>
            </a:r>
          </a:p>
        </p:txBody>
      </p:sp>
      <p:cxnSp>
        <p:nvCxnSpPr>
          <p:cNvPr id="7" name="Straight Arrow Connector 6">
            <a:extLst>
              <a:ext uri="{FF2B5EF4-FFF2-40B4-BE49-F238E27FC236}">
                <a16:creationId xmlns:a16="http://schemas.microsoft.com/office/drawing/2014/main" id="{7A56C584-C69D-740F-76EA-9B69D0E94F32}"/>
              </a:ext>
            </a:extLst>
          </p:cNvPr>
          <p:cNvCxnSpPr>
            <a:cxnSpLocks/>
          </p:cNvCxnSpPr>
          <p:nvPr/>
        </p:nvCxnSpPr>
        <p:spPr>
          <a:xfrm flipV="1">
            <a:off x="2898058" y="2383708"/>
            <a:ext cx="1786305" cy="77429"/>
          </a:xfrm>
          <a:prstGeom prst="straightConnector1">
            <a:avLst/>
          </a:prstGeom>
          <a:ln w="38100">
            <a:solidFill>
              <a:srgbClr val="0070C0"/>
            </a:solidFill>
            <a:tailEnd type="arrow"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4585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717A7-5634-415D-CAC8-8134481CB644}"/>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D52B1981-E539-0F08-323F-0510EBD96825}"/>
              </a:ext>
            </a:extLst>
          </p:cNvPr>
          <p:cNvSpPr/>
          <p:nvPr/>
        </p:nvSpPr>
        <p:spPr>
          <a:xfrm>
            <a:off x="2552932" y="2142939"/>
            <a:ext cx="3241938" cy="367991"/>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7" name="Rounded Rectangle 6">
            <a:extLst>
              <a:ext uri="{FF2B5EF4-FFF2-40B4-BE49-F238E27FC236}">
                <a16:creationId xmlns:a16="http://schemas.microsoft.com/office/drawing/2014/main" id="{C132B1C0-90AC-C3B0-1E74-2056D836D57C}"/>
              </a:ext>
            </a:extLst>
          </p:cNvPr>
          <p:cNvSpPr/>
          <p:nvPr/>
        </p:nvSpPr>
        <p:spPr>
          <a:xfrm>
            <a:off x="2918832" y="1559776"/>
            <a:ext cx="3587905" cy="367991"/>
          </a:xfrm>
          <a:prstGeom prst="round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4" name="Picture 3">
            <a:extLst>
              <a:ext uri="{FF2B5EF4-FFF2-40B4-BE49-F238E27FC236}">
                <a16:creationId xmlns:a16="http://schemas.microsoft.com/office/drawing/2014/main" id="{848FCFD3-FD00-12BF-5E8F-CB6E873A02B1}"/>
              </a:ext>
            </a:extLst>
          </p:cNvPr>
          <p:cNvPicPr>
            <a:picLocks noChangeAspect="1"/>
          </p:cNvPicPr>
          <p:nvPr/>
        </p:nvPicPr>
        <p:blipFill>
          <a:blip r:embed="rId2"/>
          <a:srcRect/>
          <a:stretch/>
        </p:blipFill>
        <p:spPr>
          <a:xfrm>
            <a:off x="1395014" y="2472758"/>
            <a:ext cx="5557560" cy="3254149"/>
          </a:xfrm>
          <a:prstGeom prst="rect">
            <a:avLst/>
          </a:prstGeom>
        </p:spPr>
      </p:pic>
      <p:pic>
        <p:nvPicPr>
          <p:cNvPr id="5" name="Picture 4" descr="A map of the state of texas&#10;&#10;AI-generated content may be incorrect.">
            <a:extLst>
              <a:ext uri="{FF2B5EF4-FFF2-40B4-BE49-F238E27FC236}">
                <a16:creationId xmlns:a16="http://schemas.microsoft.com/office/drawing/2014/main" id="{A603432D-99A5-CCA0-6FFE-F489530B9989}"/>
              </a:ext>
            </a:extLst>
          </p:cNvPr>
          <p:cNvPicPr>
            <a:picLocks noChangeAspect="1"/>
          </p:cNvPicPr>
          <p:nvPr/>
        </p:nvPicPr>
        <p:blipFill>
          <a:blip r:embed="rId3"/>
          <a:srcRect l="23859" r="23156"/>
          <a:stretch/>
        </p:blipFill>
        <p:spPr>
          <a:xfrm>
            <a:off x="6733353" y="1439754"/>
            <a:ext cx="2190212" cy="2420371"/>
          </a:xfrm>
          <a:prstGeom prst="rect">
            <a:avLst/>
          </a:prstGeom>
        </p:spPr>
      </p:pic>
      <p:sp>
        <p:nvSpPr>
          <p:cNvPr id="3" name="Content Placeholder 2">
            <a:extLst>
              <a:ext uri="{FF2B5EF4-FFF2-40B4-BE49-F238E27FC236}">
                <a16:creationId xmlns:a16="http://schemas.microsoft.com/office/drawing/2014/main" id="{B55CDAF2-6A29-72AA-4B4A-5E9B1EFDCEB7}"/>
              </a:ext>
            </a:extLst>
          </p:cNvPr>
          <p:cNvSpPr>
            <a:spLocks noGrp="1"/>
          </p:cNvSpPr>
          <p:nvPr>
            <p:ph idx="1"/>
          </p:nvPr>
        </p:nvSpPr>
        <p:spPr>
          <a:xfrm>
            <a:off x="628650" y="1131094"/>
            <a:ext cx="8294915" cy="4595813"/>
          </a:xfrm>
        </p:spPr>
        <p:txBody>
          <a:bodyPr>
            <a:normAutofit/>
          </a:bodyPr>
          <a:lstStyle/>
          <a:p>
            <a:pPr marL="0" indent="0">
              <a:buNone/>
            </a:pP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rast</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("/Users/alexander/Data/landscan-usa-2021-night/landscan-usa-2021-conus-night.tif")</a:t>
            </a:r>
          </a:p>
          <a:p>
            <a:pPr marL="0" indent="0">
              <a:buNone/>
            </a:pPr>
            <a:endPar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endParaRPr>
          </a:p>
          <a:p>
            <a:pPr marL="0" indent="0">
              <a:buNone/>
            </a:pPr>
            <a:r>
              <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rPr>
              <a:t>counties &lt;- </a:t>
            </a:r>
            <a:r>
              <a:rPr lang="en-US" sz="1200" b="1" dirty="0" err="1">
                <a:solidFill>
                  <a:srgbClr val="C00000"/>
                </a:solidFill>
                <a:latin typeface="Menlo" panose="020B0609030804020204" pitchFamily="49" charset="0"/>
                <a:ea typeface="Menlo" panose="020B0609030804020204" pitchFamily="49" charset="0"/>
                <a:cs typeface="Menlo" panose="020B0609030804020204" pitchFamily="49" charset="0"/>
              </a:rPr>
              <a:t>spatial_data</a:t>
            </a:r>
            <a:r>
              <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rPr>
              <a:t> %&gt;% </a:t>
            </a:r>
            <a:r>
              <a:rPr lang="en-US" sz="1200" b="1" dirty="0" err="1">
                <a:solidFill>
                  <a:srgbClr val="C00000"/>
                </a:solidFill>
                <a:latin typeface="Menlo" panose="020B0609030804020204" pitchFamily="49" charset="0"/>
                <a:ea typeface="Menlo" panose="020B0609030804020204" pitchFamily="49" charset="0"/>
                <a:cs typeface="Menlo" panose="020B0609030804020204" pitchFamily="49" charset="0"/>
              </a:rPr>
              <a:t>group_by</a:t>
            </a:r>
            <a:r>
              <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rPr>
              <a:t>(COUNTYFP) %&gt;% </a:t>
            </a:r>
            <a:r>
              <a:rPr lang="en-US" sz="1200" b="1" dirty="0" err="1">
                <a:solidFill>
                  <a:srgbClr val="C00000"/>
                </a:solidFill>
                <a:latin typeface="Menlo" panose="020B0609030804020204" pitchFamily="49" charset="0"/>
                <a:ea typeface="Menlo" panose="020B0609030804020204" pitchFamily="49" charset="0"/>
                <a:cs typeface="Menlo" panose="020B0609030804020204" pitchFamily="49" charset="0"/>
              </a:rPr>
              <a:t>summarise</a:t>
            </a:r>
            <a:r>
              <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endPar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endParaRPr>
          </a:p>
          <a:p>
            <a:pPr marL="0" indent="0">
              <a:buNone/>
            </a:pPr>
            <a:r>
              <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rPr>
              <a:t>counties &lt;- counties %&gt;% </a:t>
            </a:r>
            <a:r>
              <a:rPr lang="en-US" sz="12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st_transform</a:t>
            </a:r>
            <a:r>
              <a:rPr lang="en-US" sz="12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2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st_crs</a:t>
            </a:r>
            <a:r>
              <a:rPr lang="en-US" sz="12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2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landscan</a:t>
            </a:r>
            <a:r>
              <a:rPr lang="en-US" sz="12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endParaRPr lang="en-US" sz="1200" b="1" dirty="0">
              <a:solidFill>
                <a:srgbClr val="C00000"/>
              </a:solidFill>
              <a:latin typeface="Menlo" panose="020B0609030804020204" pitchFamily="49" charset="0"/>
              <a:ea typeface="Menlo" panose="020B0609030804020204" pitchFamily="49" charset="0"/>
              <a:cs typeface="Menlo" panose="020B0609030804020204" pitchFamily="49" charset="0"/>
            </a:endParaRPr>
          </a:p>
        </p:txBody>
      </p:sp>
      <p:cxnSp>
        <p:nvCxnSpPr>
          <p:cNvPr id="6" name="Straight Arrow Connector 5">
            <a:extLst>
              <a:ext uri="{FF2B5EF4-FFF2-40B4-BE49-F238E27FC236}">
                <a16:creationId xmlns:a16="http://schemas.microsoft.com/office/drawing/2014/main" id="{BEA62BDE-F22C-795D-7D59-E77813F9C350}"/>
              </a:ext>
            </a:extLst>
          </p:cNvPr>
          <p:cNvCxnSpPr>
            <a:cxnSpLocks/>
          </p:cNvCxnSpPr>
          <p:nvPr/>
        </p:nvCxnSpPr>
        <p:spPr>
          <a:xfrm flipH="1">
            <a:off x="6358134" y="2748732"/>
            <a:ext cx="430525" cy="287672"/>
          </a:xfrm>
          <a:prstGeom prst="straightConnector1">
            <a:avLst/>
          </a:prstGeom>
          <a:ln w="47625" cap="flat" cmpd="sng" algn="ctr">
            <a:solidFill>
              <a:srgbClr val="C00000">
                <a:alpha val="60000"/>
              </a:srgbClr>
            </a:solidFill>
            <a:prstDash val="solid"/>
            <a:round/>
            <a:headEnd type="none"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sp>
        <p:nvSpPr>
          <p:cNvPr id="2" name="TextBox 1">
            <a:extLst>
              <a:ext uri="{FF2B5EF4-FFF2-40B4-BE49-F238E27FC236}">
                <a16:creationId xmlns:a16="http://schemas.microsoft.com/office/drawing/2014/main" id="{8214BCB4-8365-3CD5-7446-4D0D753C27E7}"/>
              </a:ext>
            </a:extLst>
          </p:cNvPr>
          <p:cNvSpPr txBox="1"/>
          <p:nvPr/>
        </p:nvSpPr>
        <p:spPr>
          <a:xfrm>
            <a:off x="2918832" y="1368126"/>
            <a:ext cx="1091967" cy="369332"/>
          </a:xfrm>
          <a:prstGeom prst="rect">
            <a:avLst/>
          </a:prstGeom>
          <a:noFill/>
        </p:spPr>
        <p:txBody>
          <a:bodyPr wrap="none" rtlCol="0">
            <a:spAutoFit/>
          </a:bodyPr>
          <a:lstStyle/>
          <a:p>
            <a:pPr algn="ctr"/>
            <a:r>
              <a:rPr lang="en-US" b="1" dirty="0">
                <a:solidFill>
                  <a:schemeClr val="tx1">
                    <a:lumMod val="65000"/>
                    <a:lumOff val="35000"/>
                  </a:schemeClr>
                </a:solidFill>
                <a:effectLst>
                  <a:outerShdw blurRad="127000" dist="127000" algn="l" rotWithShape="0">
                    <a:schemeClr val="bg1">
                      <a:alpha val="40000"/>
                    </a:schemeClr>
                  </a:outerShdw>
                </a:effectLst>
                <a:latin typeface="Ranchers" panose="020B0903030202050004" pitchFamily="34" charset="0"/>
              </a:rPr>
              <a:t>Dissolving</a:t>
            </a:r>
          </a:p>
        </p:txBody>
      </p:sp>
      <p:sp>
        <p:nvSpPr>
          <p:cNvPr id="8" name="TextBox 7">
            <a:extLst>
              <a:ext uri="{FF2B5EF4-FFF2-40B4-BE49-F238E27FC236}">
                <a16:creationId xmlns:a16="http://schemas.microsoft.com/office/drawing/2014/main" id="{F80E8DC8-F431-888E-2286-41888AE5816F}"/>
              </a:ext>
            </a:extLst>
          </p:cNvPr>
          <p:cNvSpPr txBox="1"/>
          <p:nvPr/>
        </p:nvSpPr>
        <p:spPr>
          <a:xfrm>
            <a:off x="2541643" y="1927767"/>
            <a:ext cx="1351588" cy="369332"/>
          </a:xfrm>
          <a:prstGeom prst="rect">
            <a:avLst/>
          </a:prstGeom>
          <a:noFill/>
        </p:spPr>
        <p:txBody>
          <a:bodyPr wrap="none" rtlCol="0">
            <a:spAutoFit/>
          </a:bodyPr>
          <a:lstStyle/>
          <a:p>
            <a:pPr algn="ctr"/>
            <a:r>
              <a:rPr lang="en-US" b="1" dirty="0">
                <a:solidFill>
                  <a:schemeClr val="tx1">
                    <a:lumMod val="65000"/>
                    <a:lumOff val="35000"/>
                  </a:schemeClr>
                </a:solidFill>
                <a:effectLst>
                  <a:outerShdw blurRad="127000" dist="127000" algn="l" rotWithShape="0">
                    <a:schemeClr val="bg1">
                      <a:alpha val="40000"/>
                    </a:schemeClr>
                  </a:outerShdw>
                </a:effectLst>
                <a:latin typeface="Ranchers" panose="020B0903030202050004" pitchFamily="34" charset="0"/>
              </a:rPr>
              <a:t>Reprojecting</a:t>
            </a:r>
          </a:p>
        </p:txBody>
      </p:sp>
    </p:spTree>
    <p:extLst>
      <p:ext uri="{BB962C8B-B14F-4D97-AF65-F5344CB8AC3E}">
        <p14:creationId xmlns:p14="http://schemas.microsoft.com/office/powerpoint/2010/main" val="19237478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C7D62-B444-88D7-B479-7890D760334B}"/>
            </a:ext>
          </a:extLst>
        </p:cNvPr>
        <p:cNvGrpSpPr/>
        <p:nvPr/>
      </p:nvGrpSpPr>
      <p:grpSpPr>
        <a:xfrm>
          <a:off x="0" y="0"/>
          <a:ext cx="0" cy="0"/>
          <a:chOff x="0" y="0"/>
          <a:chExt cx="0" cy="0"/>
        </a:xfrm>
      </p:grpSpPr>
      <p:pic>
        <p:nvPicPr>
          <p:cNvPr id="7" name="Picture 6" descr="A graph showing a number of particles&#10;&#10;AI-generated content may be incorrect.">
            <a:extLst>
              <a:ext uri="{FF2B5EF4-FFF2-40B4-BE49-F238E27FC236}">
                <a16:creationId xmlns:a16="http://schemas.microsoft.com/office/drawing/2014/main" id="{1601B452-BE03-48D4-B523-0463B1E44DF0}"/>
              </a:ext>
            </a:extLst>
          </p:cNvPr>
          <p:cNvPicPr>
            <a:picLocks noChangeAspect="1"/>
          </p:cNvPicPr>
          <p:nvPr/>
        </p:nvPicPr>
        <p:blipFill>
          <a:blip r:embed="rId2"/>
          <a:srcRect l="17942" r="17169"/>
          <a:stretch/>
        </p:blipFill>
        <p:spPr>
          <a:xfrm>
            <a:off x="628650" y="2896672"/>
            <a:ext cx="3731078" cy="3366774"/>
          </a:xfrm>
          <a:prstGeom prst="rect">
            <a:avLst/>
          </a:prstGeom>
        </p:spPr>
      </p:pic>
      <p:sp>
        <p:nvSpPr>
          <p:cNvPr id="3" name="Content Placeholder 2">
            <a:extLst>
              <a:ext uri="{FF2B5EF4-FFF2-40B4-BE49-F238E27FC236}">
                <a16:creationId xmlns:a16="http://schemas.microsoft.com/office/drawing/2014/main" id="{6F6B00DD-8910-2AF9-1CCE-1DA0C864188A}"/>
              </a:ext>
            </a:extLst>
          </p:cNvPr>
          <p:cNvSpPr>
            <a:spLocks noGrp="1"/>
          </p:cNvSpPr>
          <p:nvPr>
            <p:ph idx="1"/>
          </p:nvPr>
        </p:nvSpPr>
        <p:spPr>
          <a:xfrm>
            <a:off x="628650" y="1131094"/>
            <a:ext cx="8294915" cy="4595813"/>
          </a:xfrm>
        </p:spPr>
        <p:txBody>
          <a:bodyPr>
            <a:normAutofit/>
          </a:bodyPr>
          <a:lstStyle/>
          <a:p>
            <a:pPr marL="0" indent="0">
              <a:buNone/>
            </a:pP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rast</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("/Users/alexander/Data/landscan-usa-2021-night/landscan-usa-2021-conus-night.tif")</a:t>
            </a:r>
          </a:p>
          <a:p>
            <a:pPr marL="0" indent="0">
              <a:buNone/>
            </a:pP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counties &lt;- </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spatial_data</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 %&gt;% </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group_by</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(COUNTYFP) %&gt;% </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summarise</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counties &lt;- counties %&gt;% </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st_transform</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st_crs</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050"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 &lt;- crop(</a:t>
            </a: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 counties)</a:t>
            </a:r>
          </a:p>
          <a:p>
            <a:pPr marL="0" indent="0">
              <a:buNone/>
            </a:pP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 &lt;- mask(</a:t>
            </a: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 counties)</a:t>
            </a:r>
          </a:p>
          <a:p>
            <a:pPr marL="0" indent="0">
              <a:buNone/>
            </a:pP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0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050" b="1" dirty="0">
                <a:solidFill>
                  <a:srgbClr val="C00000"/>
                </a:solidFill>
                <a:latin typeface="Menlo" panose="020B0609030804020204" pitchFamily="49" charset="0"/>
                <a:ea typeface="Menlo" panose="020B0609030804020204" pitchFamily="49" charset="0"/>
                <a:cs typeface="Menlo" panose="020B0609030804020204" pitchFamily="49" charset="0"/>
              </a:rPr>
              <a:t>[] == 0] = NA</a:t>
            </a:r>
          </a:p>
        </p:txBody>
      </p:sp>
      <p:pic>
        <p:nvPicPr>
          <p:cNvPr id="9" name="Picture 8" descr="A map of the state of texas&#10;&#10;AI-generated content may be incorrect.">
            <a:extLst>
              <a:ext uri="{FF2B5EF4-FFF2-40B4-BE49-F238E27FC236}">
                <a16:creationId xmlns:a16="http://schemas.microsoft.com/office/drawing/2014/main" id="{1C4AA3E1-DA99-865B-1B1D-A672EDE12489}"/>
              </a:ext>
            </a:extLst>
          </p:cNvPr>
          <p:cNvPicPr>
            <a:picLocks noChangeAspect="1"/>
          </p:cNvPicPr>
          <p:nvPr/>
        </p:nvPicPr>
        <p:blipFill>
          <a:blip r:embed="rId3"/>
          <a:srcRect l="17941" r="17169"/>
          <a:stretch/>
        </p:blipFill>
        <p:spPr>
          <a:xfrm>
            <a:off x="4784273" y="2896672"/>
            <a:ext cx="3731078" cy="3366775"/>
          </a:xfrm>
          <a:prstGeom prst="rect">
            <a:avLst/>
          </a:prstGeom>
        </p:spPr>
      </p:pic>
      <p:sp>
        <p:nvSpPr>
          <p:cNvPr id="2" name="TextBox 1">
            <a:extLst>
              <a:ext uri="{FF2B5EF4-FFF2-40B4-BE49-F238E27FC236}">
                <a16:creationId xmlns:a16="http://schemas.microsoft.com/office/drawing/2014/main" id="{D47DE34D-591E-F755-164B-42A091B75EF8}"/>
              </a:ext>
            </a:extLst>
          </p:cNvPr>
          <p:cNvSpPr txBox="1"/>
          <p:nvPr/>
        </p:nvSpPr>
        <p:spPr>
          <a:xfrm>
            <a:off x="4946979" y="1876138"/>
            <a:ext cx="2066656" cy="507831"/>
          </a:xfrm>
          <a:prstGeom prst="rect">
            <a:avLst/>
          </a:prstGeom>
          <a:solidFill>
            <a:schemeClr val="bg1">
              <a:lumMod val="95000"/>
            </a:schemeClr>
          </a:solidFill>
        </p:spPr>
        <p:txBody>
          <a:bodyPr wrap="none" rtlCol="0">
            <a:spAutoFit/>
          </a:bodyPr>
          <a:lstStyle/>
          <a:p>
            <a:r>
              <a:rPr lang="en-US" sz="1350" dirty="0"/>
              <a:t>Crop = bound box</a:t>
            </a:r>
          </a:p>
          <a:p>
            <a:r>
              <a:rPr lang="en-US" sz="1350" dirty="0"/>
              <a:t>Masking = really cropping</a:t>
            </a:r>
          </a:p>
        </p:txBody>
      </p:sp>
      <p:sp>
        <p:nvSpPr>
          <p:cNvPr id="4" name="TextBox 3">
            <a:extLst>
              <a:ext uri="{FF2B5EF4-FFF2-40B4-BE49-F238E27FC236}">
                <a16:creationId xmlns:a16="http://schemas.microsoft.com/office/drawing/2014/main" id="{9264AAFB-858F-A8D9-D685-43CBE651C00D}"/>
              </a:ext>
            </a:extLst>
          </p:cNvPr>
          <p:cNvSpPr txBox="1"/>
          <p:nvPr/>
        </p:nvSpPr>
        <p:spPr>
          <a:xfrm>
            <a:off x="7176343" y="1876138"/>
            <a:ext cx="1538680" cy="715581"/>
          </a:xfrm>
          <a:prstGeom prst="rect">
            <a:avLst/>
          </a:prstGeom>
          <a:solidFill>
            <a:schemeClr val="bg1">
              <a:lumMod val="95000"/>
            </a:schemeClr>
          </a:solidFill>
        </p:spPr>
        <p:txBody>
          <a:bodyPr wrap="square" rtlCol="0">
            <a:spAutoFit/>
          </a:bodyPr>
          <a:lstStyle/>
          <a:p>
            <a:r>
              <a:rPr lang="en-US" sz="1350" dirty="0"/>
              <a:t>In this order the file processes much faster!</a:t>
            </a:r>
          </a:p>
        </p:txBody>
      </p:sp>
      <p:cxnSp>
        <p:nvCxnSpPr>
          <p:cNvPr id="6" name="Straight Arrow Connector 5">
            <a:extLst>
              <a:ext uri="{FF2B5EF4-FFF2-40B4-BE49-F238E27FC236}">
                <a16:creationId xmlns:a16="http://schemas.microsoft.com/office/drawing/2014/main" id="{7592F695-F13B-2D3F-1BF3-0AE92FD9FDC5}"/>
              </a:ext>
            </a:extLst>
          </p:cNvPr>
          <p:cNvCxnSpPr/>
          <p:nvPr/>
        </p:nvCxnSpPr>
        <p:spPr>
          <a:xfrm>
            <a:off x="3767003" y="2061313"/>
            <a:ext cx="1017270" cy="0"/>
          </a:xfrm>
          <a:prstGeom prst="straightConnector1">
            <a:avLst/>
          </a:prstGeom>
          <a:ln>
            <a:solidFill>
              <a:schemeClr val="tx1"/>
            </a:solidFill>
            <a:tailEnd type="arrow" w="lg" len="lg"/>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71430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EEDBF-F964-A294-A8C8-75908A0B7584}"/>
              </a:ext>
            </a:extLst>
          </p:cNvPr>
          <p:cNvSpPr>
            <a:spLocks noGrp="1"/>
          </p:cNvSpPr>
          <p:nvPr>
            <p:ph type="title"/>
          </p:nvPr>
        </p:nvSpPr>
        <p:spPr/>
        <p:txBody>
          <a:bodyPr/>
          <a:lstStyle/>
          <a:p>
            <a:r>
              <a:rPr lang="en-US" dirty="0"/>
              <a:t>Data Cubes</a:t>
            </a:r>
          </a:p>
        </p:txBody>
      </p:sp>
      <p:sp>
        <p:nvSpPr>
          <p:cNvPr id="3" name="Content Placeholder 2">
            <a:extLst>
              <a:ext uri="{FF2B5EF4-FFF2-40B4-BE49-F238E27FC236}">
                <a16:creationId xmlns:a16="http://schemas.microsoft.com/office/drawing/2014/main" id="{C1191B09-F704-2724-24B6-F62ADBB6A31B}"/>
              </a:ext>
            </a:extLst>
          </p:cNvPr>
          <p:cNvSpPr>
            <a:spLocks noGrp="1"/>
          </p:cNvSpPr>
          <p:nvPr>
            <p:ph idx="1"/>
          </p:nvPr>
        </p:nvSpPr>
        <p:spPr/>
        <p:txBody>
          <a:bodyPr/>
          <a:lstStyle/>
          <a:p>
            <a:pPr marL="0" indent="0">
              <a:buNone/>
            </a:pPr>
            <a:r>
              <a:rPr lang="en-US" dirty="0"/>
              <a:t>(Slide 13, week 6)</a:t>
            </a:r>
          </a:p>
          <a:p>
            <a:endParaRPr lang="en-US" dirty="0"/>
          </a:p>
        </p:txBody>
      </p:sp>
      <p:sp>
        <p:nvSpPr>
          <p:cNvPr id="4" name="Slide Number Placeholder 3">
            <a:extLst>
              <a:ext uri="{FF2B5EF4-FFF2-40B4-BE49-F238E27FC236}">
                <a16:creationId xmlns:a16="http://schemas.microsoft.com/office/drawing/2014/main" id="{C3A4C4F1-2DB5-2288-9E75-8588526C15D7}"/>
              </a:ext>
            </a:extLst>
          </p:cNvPr>
          <p:cNvSpPr>
            <a:spLocks noGrp="1"/>
          </p:cNvSpPr>
          <p:nvPr>
            <p:ph type="sldNum" sz="quarter" idx="12"/>
          </p:nvPr>
        </p:nvSpPr>
        <p:spPr/>
        <p:txBody>
          <a:bodyPr/>
          <a:lstStyle/>
          <a:p>
            <a:fld id="{C0343C75-1924-D247-85A3-0CB62E67E5D1}" type="slidenum">
              <a:rPr lang="en-US" smtClean="0"/>
              <a:t>29</a:t>
            </a:fld>
            <a:endParaRPr lang="en-US"/>
          </a:p>
        </p:txBody>
      </p:sp>
      <p:pic>
        <p:nvPicPr>
          <p:cNvPr id="5" name="Picture 4">
            <a:extLst>
              <a:ext uri="{FF2B5EF4-FFF2-40B4-BE49-F238E27FC236}">
                <a16:creationId xmlns:a16="http://schemas.microsoft.com/office/drawing/2014/main" id="{8803F7D1-FAAB-F59E-0B98-F9FA01AD13F8}"/>
              </a:ext>
            </a:extLst>
          </p:cNvPr>
          <p:cNvPicPr>
            <a:picLocks noChangeAspect="1"/>
          </p:cNvPicPr>
          <p:nvPr/>
        </p:nvPicPr>
        <p:blipFill>
          <a:blip r:embed="rId2"/>
          <a:stretch>
            <a:fillRect/>
          </a:stretch>
        </p:blipFill>
        <p:spPr>
          <a:xfrm>
            <a:off x="4114801" y="3265715"/>
            <a:ext cx="5029199" cy="3592285"/>
          </a:xfrm>
          <a:prstGeom prst="rect">
            <a:avLst/>
          </a:prstGeom>
        </p:spPr>
      </p:pic>
      <p:sp>
        <p:nvSpPr>
          <p:cNvPr id="9" name="Content Placeholder 3">
            <a:extLst>
              <a:ext uri="{FF2B5EF4-FFF2-40B4-BE49-F238E27FC236}">
                <a16:creationId xmlns:a16="http://schemas.microsoft.com/office/drawing/2014/main" id="{3C54CD8B-76E9-A9D2-EA3D-3293B44A0786}"/>
              </a:ext>
            </a:extLst>
          </p:cNvPr>
          <p:cNvSpPr txBox="1">
            <a:spLocks/>
          </p:cNvSpPr>
          <p:nvPr/>
        </p:nvSpPr>
        <p:spPr>
          <a:xfrm>
            <a:off x="514350" y="2148840"/>
            <a:ext cx="4057650" cy="2694093"/>
          </a:xfrm>
          <a:prstGeom prst="rect">
            <a:avLst/>
          </a:prstGeom>
          <a:solidFill>
            <a:srgbClr val="002060"/>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None/>
              <a:defRPr sz="1600" b="1" kern="1200">
                <a:solidFill>
                  <a:schemeClr val="bg1"/>
                </a:solidFill>
                <a:latin typeface="Consolas" panose="020B0609020204030204" pitchFamily="49" charset="0"/>
                <a:ea typeface="+mn-ea"/>
                <a:cs typeface="Consolas" panose="020B0609020204030204" pitchFamily="49" charset="0"/>
              </a:defRPr>
            </a:lvl1pPr>
            <a:lvl2pPr marL="685800" indent="-22860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Consolas" panose="020B0609020204030204" pitchFamily="49" charset="0"/>
                <a:ea typeface="+mn-ea"/>
                <a:cs typeface="Consolas" panose="020B0609020204030204" pitchFamily="49"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600" b="1" kern="1200">
                <a:solidFill>
                  <a:schemeClr val="tx1"/>
                </a:solidFill>
                <a:latin typeface="Consolas" panose="020B0609020204030204" pitchFamily="49" charset="0"/>
                <a:ea typeface="+mn-ea"/>
                <a:cs typeface="Consolas" panose="020B0609020204030204" pitchFamily="49"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600" b="1" kern="1200">
                <a:solidFill>
                  <a:schemeClr val="tx1"/>
                </a:solidFill>
                <a:latin typeface="Consolas" panose="020B0609020204030204" pitchFamily="49" charset="0"/>
                <a:ea typeface="+mn-ea"/>
                <a:cs typeface="Consolas" panose="020B0609020204030204" pitchFamily="49"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600" b="1" kern="1200">
                <a:solidFill>
                  <a:schemeClr val="tx1"/>
                </a:solidFill>
                <a:latin typeface="Consolas" panose="020B0609020204030204" pitchFamily="49" charset="0"/>
                <a:ea typeface="+mn-ea"/>
                <a:cs typeface="Consolas" panose="020B0609020204030204" pitchFamily="49"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cube &lt;- c(ls2019day_mask, ls2020day_mask, ls2021day_mask)</a:t>
            </a:r>
          </a:p>
          <a:p>
            <a:r>
              <a:rPr lang="en-US" sz="1200" dirty="0"/>
              <a:t>names(cube) &lt;- c("ls2019day", "ls2020day", "ls2021day")</a:t>
            </a:r>
          </a:p>
          <a:p>
            <a:r>
              <a:rPr lang="en-US" sz="1200" dirty="0"/>
              <a:t>extract(cube, </a:t>
            </a:r>
            <a:r>
              <a:rPr lang="en-US" sz="1200" dirty="0" err="1"/>
              <a:t>points_sf</a:t>
            </a:r>
            <a:r>
              <a:rPr lang="en-US" sz="1200" dirty="0"/>
              <a:t>)</a:t>
            </a:r>
          </a:p>
          <a:p>
            <a:endParaRPr lang="en-US" sz="1200" dirty="0"/>
          </a:p>
          <a:p>
            <a:r>
              <a:rPr lang="en-US" sz="1200" dirty="0">
                <a:solidFill>
                  <a:schemeClr val="accent5">
                    <a:lumMod val="40000"/>
                    <a:lumOff val="60000"/>
                  </a:schemeClr>
                </a:solidFill>
              </a:rPr>
              <a:t>#   ID ls2019day ls2020day ls2021day</a:t>
            </a:r>
          </a:p>
          <a:p>
            <a:r>
              <a:rPr lang="en-US" sz="1200" dirty="0">
                <a:solidFill>
                  <a:schemeClr val="accent5">
                    <a:lumMod val="40000"/>
                    <a:lumOff val="60000"/>
                  </a:schemeClr>
                </a:solidFill>
              </a:rPr>
              <a:t># 1  1        55        55       346</a:t>
            </a:r>
          </a:p>
          <a:p>
            <a:r>
              <a:rPr lang="en-US" sz="1200" dirty="0">
                <a:solidFill>
                  <a:schemeClr val="accent5">
                    <a:lumMod val="40000"/>
                    <a:lumOff val="60000"/>
                  </a:schemeClr>
                </a:solidFill>
              </a:rPr>
              <a:t># 2  2         0         0       507</a:t>
            </a:r>
          </a:p>
          <a:p>
            <a:r>
              <a:rPr lang="en-US" sz="1200" dirty="0">
                <a:solidFill>
                  <a:schemeClr val="accent5">
                    <a:lumMod val="40000"/>
                    <a:lumOff val="60000"/>
                  </a:schemeClr>
                </a:solidFill>
              </a:rPr>
              <a:t># 3  3      1445      1445      1575</a:t>
            </a:r>
          </a:p>
          <a:p>
            <a:endParaRPr lang="en-US" sz="1200" dirty="0"/>
          </a:p>
        </p:txBody>
      </p:sp>
      <p:sp>
        <p:nvSpPr>
          <p:cNvPr id="10" name="Title 1">
            <a:extLst>
              <a:ext uri="{FF2B5EF4-FFF2-40B4-BE49-F238E27FC236}">
                <a16:creationId xmlns:a16="http://schemas.microsoft.com/office/drawing/2014/main" id="{CD087AEA-0BCE-C4D6-4802-B82263430606}"/>
              </a:ext>
            </a:extLst>
          </p:cNvPr>
          <p:cNvSpPr txBox="1">
            <a:spLocks/>
          </p:cNvSpPr>
          <p:nvPr/>
        </p:nvSpPr>
        <p:spPr>
          <a:xfrm>
            <a:off x="1062566" y="5301747"/>
            <a:ext cx="2961217" cy="411956"/>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600" kern="1200">
                <a:solidFill>
                  <a:schemeClr val="tx1"/>
                </a:solidFill>
                <a:latin typeface="+mj-lt"/>
                <a:ea typeface="+mj-ea"/>
                <a:cs typeface="+mj-cs"/>
              </a:defRPr>
            </a:lvl1pPr>
          </a:lstStyle>
          <a:p>
            <a:pPr algn="ctr"/>
            <a:r>
              <a:rPr lang="en-US" sz="4050" b="1" dirty="0">
                <a:solidFill>
                  <a:srgbClr val="FF0000"/>
                </a:solidFill>
                <a:latin typeface="XKCD" panose="02000603000000000000" pitchFamily="2" charset="0"/>
              </a:rPr>
              <a:t>?</a:t>
            </a:r>
          </a:p>
        </p:txBody>
      </p:sp>
      <p:pic>
        <p:nvPicPr>
          <p:cNvPr id="11" name="Picture 10">
            <a:extLst>
              <a:ext uri="{FF2B5EF4-FFF2-40B4-BE49-F238E27FC236}">
                <a16:creationId xmlns:a16="http://schemas.microsoft.com/office/drawing/2014/main" id="{F538D716-E59F-A261-0190-C0B6992C22E1}"/>
              </a:ext>
            </a:extLst>
          </p:cNvPr>
          <p:cNvPicPr>
            <a:picLocks noChangeAspect="1"/>
          </p:cNvPicPr>
          <p:nvPr/>
        </p:nvPicPr>
        <p:blipFill>
          <a:blip r:embed="rId3"/>
          <a:stretch>
            <a:fillRect/>
          </a:stretch>
        </p:blipFill>
        <p:spPr>
          <a:xfrm>
            <a:off x="5441958" y="776604"/>
            <a:ext cx="2374883" cy="2083528"/>
          </a:xfrm>
          <a:prstGeom prst="rect">
            <a:avLst/>
          </a:prstGeom>
        </p:spPr>
      </p:pic>
    </p:spTree>
    <p:extLst>
      <p:ext uri="{BB962C8B-B14F-4D97-AF65-F5344CB8AC3E}">
        <p14:creationId xmlns:p14="http://schemas.microsoft.com/office/powerpoint/2010/main" val="32196778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2FE47-1542-5636-C2F9-521483E334B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56FFA71-6E2B-1AAC-00A7-377EB1B50031}"/>
              </a:ext>
            </a:extLst>
          </p:cNvPr>
          <p:cNvPicPr>
            <a:picLocks noChangeAspect="1"/>
          </p:cNvPicPr>
          <p:nvPr/>
        </p:nvPicPr>
        <p:blipFill>
          <a:blip r:embed="rId2"/>
          <a:srcRect l="17555" r="17555"/>
          <a:stretch/>
        </p:blipFill>
        <p:spPr>
          <a:xfrm>
            <a:off x="1848784" y="3246489"/>
            <a:ext cx="2743200" cy="2475353"/>
          </a:xfrm>
          <a:prstGeom prst="rect">
            <a:avLst/>
          </a:prstGeom>
        </p:spPr>
      </p:pic>
      <p:sp>
        <p:nvSpPr>
          <p:cNvPr id="3" name="Content Placeholder 2">
            <a:extLst>
              <a:ext uri="{FF2B5EF4-FFF2-40B4-BE49-F238E27FC236}">
                <a16:creationId xmlns:a16="http://schemas.microsoft.com/office/drawing/2014/main" id="{25A813BA-09DD-CB22-8678-892BF06954C8}"/>
              </a:ext>
            </a:extLst>
          </p:cNvPr>
          <p:cNvSpPr>
            <a:spLocks noGrp="1"/>
          </p:cNvSpPr>
          <p:nvPr>
            <p:ph idx="1"/>
          </p:nvPr>
        </p:nvSpPr>
        <p:spPr>
          <a:xfrm>
            <a:off x="628650" y="1611630"/>
            <a:ext cx="8294915" cy="4115276"/>
          </a:xfrm>
        </p:spPr>
        <p:txBody>
          <a:bodyPr>
            <a:normAutofit/>
          </a:bodyPr>
          <a:lstStyle/>
          <a:p>
            <a:pPr marL="0" indent="0">
              <a:buNone/>
            </a:pPr>
            <a:r>
              <a:rPr lang="en-US" sz="150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50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5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as.points</a:t>
            </a:r>
            <a:r>
              <a:rPr lang="en-US" sz="15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5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landscan</a:t>
            </a:r>
            <a:r>
              <a:rPr lang="en-US" sz="15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p>
          <a:p>
            <a:pPr marL="0" indent="0">
              <a:buNone/>
            </a:pPr>
            <a:r>
              <a:rPr lang="en-US" sz="150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50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5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st_as_sf</a:t>
            </a:r>
            <a:r>
              <a:rPr lang="en-US" sz="15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5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landscan_pts</a:t>
            </a:r>
            <a:r>
              <a:rPr lang="en-US" sz="15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p>
          <a:p>
            <a:pPr marL="0" indent="0">
              <a:buNone/>
            </a:pPr>
            <a:r>
              <a:rPr lang="en-US" sz="15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colnames</a:t>
            </a:r>
            <a:r>
              <a:rPr lang="en-US" sz="150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50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500" b="1" dirty="0">
                <a:solidFill>
                  <a:srgbClr val="C00000"/>
                </a:solidFill>
                <a:latin typeface="Menlo" panose="020B0609030804020204" pitchFamily="49" charset="0"/>
                <a:ea typeface="Menlo" panose="020B0609030804020204" pitchFamily="49" charset="0"/>
                <a:cs typeface="Menlo" panose="020B0609030804020204" pitchFamily="49" charset="0"/>
              </a:rPr>
              <a:t>)[1] &lt;- "pop2021"</a:t>
            </a:r>
          </a:p>
          <a:p>
            <a:pPr marL="0" indent="0">
              <a:buNone/>
            </a:pPr>
            <a:r>
              <a:rPr lang="en-US" sz="150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landscan_pts_joined</a:t>
            </a:r>
            <a:r>
              <a:rPr lang="en-US" sz="150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5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st_join</a:t>
            </a:r>
            <a:r>
              <a:rPr lang="en-US" sz="15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a:t>
            </a:r>
            <a:r>
              <a:rPr lang="en-US" sz="1500" b="1" dirty="0" err="1">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landscan_pts</a:t>
            </a:r>
            <a:r>
              <a:rPr lang="en-US" sz="1500" b="1" dirty="0">
                <a:solidFill>
                  <a:srgbClr val="C00000"/>
                </a:solidFill>
                <a:highlight>
                  <a:srgbClr val="FFFF00"/>
                </a:highlight>
                <a:latin typeface="Menlo" panose="020B0609030804020204" pitchFamily="49" charset="0"/>
                <a:ea typeface="Menlo" panose="020B0609030804020204" pitchFamily="49" charset="0"/>
                <a:cs typeface="Menlo" panose="020B0609030804020204" pitchFamily="49" charset="0"/>
              </a:rPr>
              <a:t>, counties)</a:t>
            </a:r>
          </a:p>
        </p:txBody>
      </p:sp>
      <p:pic>
        <p:nvPicPr>
          <p:cNvPr id="9" name="Picture 8">
            <a:extLst>
              <a:ext uri="{FF2B5EF4-FFF2-40B4-BE49-F238E27FC236}">
                <a16:creationId xmlns:a16="http://schemas.microsoft.com/office/drawing/2014/main" id="{60F114FA-8F42-92A6-7A80-451A3B625DE9}"/>
              </a:ext>
            </a:extLst>
          </p:cNvPr>
          <p:cNvPicPr>
            <a:picLocks noChangeAspect="1"/>
          </p:cNvPicPr>
          <p:nvPr/>
        </p:nvPicPr>
        <p:blipFill>
          <a:blip r:embed="rId3"/>
          <a:srcRect l="27493" r="35021"/>
          <a:stretch/>
        </p:blipFill>
        <p:spPr>
          <a:xfrm>
            <a:off x="5032887" y="3246489"/>
            <a:ext cx="1584694" cy="2475353"/>
          </a:xfrm>
          <a:prstGeom prst="rect">
            <a:avLst/>
          </a:prstGeom>
        </p:spPr>
      </p:pic>
      <p:pic>
        <p:nvPicPr>
          <p:cNvPr id="2" name="Picture 1">
            <a:extLst>
              <a:ext uri="{FF2B5EF4-FFF2-40B4-BE49-F238E27FC236}">
                <a16:creationId xmlns:a16="http://schemas.microsoft.com/office/drawing/2014/main" id="{4EFBC3B2-4664-614A-B296-8A17120B310A}"/>
              </a:ext>
            </a:extLst>
          </p:cNvPr>
          <p:cNvPicPr>
            <a:picLocks noChangeAspect="1"/>
          </p:cNvPicPr>
          <p:nvPr/>
        </p:nvPicPr>
        <p:blipFill>
          <a:blip r:embed="rId3"/>
          <a:srcRect l="88122" t="13239" r="92" b="13087"/>
          <a:stretch/>
        </p:blipFill>
        <p:spPr>
          <a:xfrm>
            <a:off x="6617581" y="3246490"/>
            <a:ext cx="677636" cy="2480417"/>
          </a:xfrm>
          <a:prstGeom prst="rect">
            <a:avLst/>
          </a:prstGeom>
        </p:spPr>
      </p:pic>
      <p:sp>
        <p:nvSpPr>
          <p:cNvPr id="4" name="Title 1">
            <a:extLst>
              <a:ext uri="{FF2B5EF4-FFF2-40B4-BE49-F238E27FC236}">
                <a16:creationId xmlns:a16="http://schemas.microsoft.com/office/drawing/2014/main" id="{BE4E14C2-F5EB-CBBD-BDC0-F0BFA735F09D}"/>
              </a:ext>
            </a:extLst>
          </p:cNvPr>
          <p:cNvSpPr>
            <a:spLocks noGrp="1"/>
          </p:cNvSpPr>
          <p:nvPr>
            <p:ph type="title"/>
          </p:nvPr>
        </p:nvSpPr>
        <p:spPr>
          <a:xfrm>
            <a:off x="628650" y="1075789"/>
            <a:ext cx="7886700" cy="411956"/>
          </a:xfrm>
        </p:spPr>
        <p:txBody>
          <a:bodyPr>
            <a:noAutofit/>
          </a:bodyPr>
          <a:lstStyle/>
          <a:p>
            <a:pPr algn="ctr"/>
            <a:r>
              <a:rPr lang="en-US" sz="4050" b="1" dirty="0">
                <a:solidFill>
                  <a:srgbClr val="5A8AE6"/>
                </a:solidFill>
                <a:latin typeface="XKCD" panose="02000603000000000000" pitchFamily="2" charset="0"/>
              </a:rPr>
              <a:t>Also ...</a:t>
            </a:r>
          </a:p>
        </p:txBody>
      </p:sp>
    </p:spTree>
    <p:extLst>
      <p:ext uri="{BB962C8B-B14F-4D97-AF65-F5344CB8AC3E}">
        <p14:creationId xmlns:p14="http://schemas.microsoft.com/office/powerpoint/2010/main" val="4695796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47B0F-7AA6-17DE-595F-70C3495EF2CD}"/>
              </a:ext>
            </a:extLst>
          </p:cNvPr>
          <p:cNvSpPr>
            <a:spLocks noGrp="1"/>
          </p:cNvSpPr>
          <p:nvPr>
            <p:ph type="title"/>
          </p:nvPr>
        </p:nvSpPr>
        <p:spPr>
          <a:xfrm>
            <a:off x="628650" y="1131094"/>
            <a:ext cx="7886700" cy="411956"/>
          </a:xfrm>
        </p:spPr>
        <p:txBody>
          <a:bodyPr>
            <a:normAutofit fontScale="90000"/>
          </a:bodyPr>
          <a:lstStyle/>
          <a:p>
            <a:pPr algn="ctr"/>
            <a:r>
              <a:rPr lang="en-US" dirty="0">
                <a:solidFill>
                  <a:srgbClr val="5A8AE6"/>
                </a:solidFill>
                <a:latin typeface="Coolvetica" panose="020B0603030602020004" pitchFamily="34" charset="0"/>
              </a:rPr>
              <a:t>In summary ...</a:t>
            </a:r>
          </a:p>
        </p:txBody>
      </p:sp>
      <p:sp>
        <p:nvSpPr>
          <p:cNvPr id="3" name="Content Placeholder 2">
            <a:extLst>
              <a:ext uri="{FF2B5EF4-FFF2-40B4-BE49-F238E27FC236}">
                <a16:creationId xmlns:a16="http://schemas.microsoft.com/office/drawing/2014/main" id="{986ED703-E6C9-2271-2EB6-1EA6C5566373}"/>
              </a:ext>
            </a:extLst>
          </p:cNvPr>
          <p:cNvSpPr>
            <a:spLocks noGrp="1"/>
          </p:cNvSpPr>
          <p:nvPr>
            <p:ph idx="1"/>
          </p:nvPr>
        </p:nvSpPr>
        <p:spPr>
          <a:xfrm>
            <a:off x="628650" y="1426041"/>
            <a:ext cx="7886700" cy="3703574"/>
          </a:xfrm>
        </p:spPr>
        <p:txBody>
          <a:bodyPr>
            <a:noAutofit/>
          </a:bodyPr>
          <a:lstStyle/>
          <a:p>
            <a:pPr marL="0" indent="0">
              <a:buNone/>
            </a:pPr>
            <a:endPar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endParaRP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my_vector</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spatial_data</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%&gt;%</a:t>
            </a:r>
          </a:p>
          <a:p>
            <a:pPr marL="0" indent="0">
              <a:buNone/>
            </a:pP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st_transform</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st_crs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endPar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endParaRP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&lt;- crop(</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my_vector</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&lt;- mask(</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my_vector</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 0] = NA</a:t>
            </a:r>
          </a:p>
          <a:p>
            <a:pPr marL="0" indent="0">
              <a:buNone/>
            </a:pPr>
            <a:endPar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endParaRP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as.points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st_as_sf</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colnames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)[1] &lt;- "pop2021"</a:t>
            </a:r>
          </a:p>
          <a:p>
            <a:pPr marL="0" indent="0">
              <a:buNone/>
            </a:pPr>
            <a:endPar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endParaRP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landscan_pts_joined</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&lt;-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st_join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my_vector</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a:t>
            </a:r>
            <a:r>
              <a:rPr lang="en-US" sz="1350" b="1"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t>%&gt;% </a:t>
            </a:r>
            <a:r>
              <a:rPr lang="en-US" sz="1350" b="1" dirty="0" err="1">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t>na.omit</a:t>
            </a:r>
            <a:r>
              <a:rPr lang="en-US" sz="1350" b="1" dirty="0">
                <a:solidFill>
                  <a:schemeClr val="bg1">
                    <a:lumMod val="65000"/>
                  </a:schemeClr>
                </a:solidFill>
                <a:latin typeface="Menlo" panose="020B0609030804020204" pitchFamily="49" charset="0"/>
                <a:ea typeface="Menlo" panose="020B0609030804020204" pitchFamily="49" charset="0"/>
                <a:cs typeface="Menlo" panose="020B0609030804020204" pitchFamily="49" charset="0"/>
              </a:rPr>
              <a:t>()</a:t>
            </a:r>
          </a:p>
        </p:txBody>
      </p:sp>
      <p:grpSp>
        <p:nvGrpSpPr>
          <p:cNvPr id="6" name="Group 5">
            <a:extLst>
              <a:ext uri="{FF2B5EF4-FFF2-40B4-BE49-F238E27FC236}">
                <a16:creationId xmlns:a16="http://schemas.microsoft.com/office/drawing/2014/main" id="{DEEA51AD-7FA5-A910-25C6-4A4812AAB72D}"/>
              </a:ext>
            </a:extLst>
          </p:cNvPr>
          <p:cNvGrpSpPr/>
          <p:nvPr/>
        </p:nvGrpSpPr>
        <p:grpSpPr>
          <a:xfrm>
            <a:off x="4479827" y="1647351"/>
            <a:ext cx="1706566" cy="754380"/>
            <a:chOff x="5973097" y="1324404"/>
            <a:chExt cx="2275420" cy="1005840"/>
          </a:xfrm>
        </p:grpSpPr>
        <p:sp>
          <p:nvSpPr>
            <p:cNvPr id="4" name="Right Brace 3">
              <a:extLst>
                <a:ext uri="{FF2B5EF4-FFF2-40B4-BE49-F238E27FC236}">
                  <a16:creationId xmlns:a16="http://schemas.microsoft.com/office/drawing/2014/main" id="{E4939F92-D752-B406-C53A-E1F3CE2BFA1C}"/>
                </a:ext>
              </a:extLst>
            </p:cNvPr>
            <p:cNvSpPr/>
            <p:nvPr/>
          </p:nvSpPr>
          <p:spPr>
            <a:xfrm>
              <a:off x="5973097" y="1324404"/>
              <a:ext cx="245806" cy="1005840"/>
            </a:xfrm>
            <a:prstGeom prst="rightBrace">
              <a:avLst/>
            </a:prstGeom>
            <a:ln w="25400"/>
          </p:spPr>
          <p:style>
            <a:lnRef idx="2">
              <a:schemeClr val="dk1"/>
            </a:lnRef>
            <a:fillRef idx="0">
              <a:schemeClr val="dk1"/>
            </a:fillRef>
            <a:effectRef idx="1">
              <a:schemeClr val="dk1"/>
            </a:effectRef>
            <a:fontRef idx="minor">
              <a:schemeClr val="tx1"/>
            </a:fontRef>
          </p:style>
          <p:txBody>
            <a:bodyPr rtlCol="0" anchor="ctr"/>
            <a:lstStyle/>
            <a:p>
              <a:pPr algn="ctr"/>
              <a:endParaRPr lang="en-US" sz="1350"/>
            </a:p>
          </p:txBody>
        </p:sp>
        <p:sp>
          <p:nvSpPr>
            <p:cNvPr id="5" name="TextBox 4">
              <a:extLst>
                <a:ext uri="{FF2B5EF4-FFF2-40B4-BE49-F238E27FC236}">
                  <a16:creationId xmlns:a16="http://schemas.microsoft.com/office/drawing/2014/main" id="{4F074A6A-B901-9A60-FBA1-BE30E65845D4}"/>
                </a:ext>
              </a:extLst>
            </p:cNvPr>
            <p:cNvSpPr txBox="1"/>
            <p:nvPr/>
          </p:nvSpPr>
          <p:spPr>
            <a:xfrm>
              <a:off x="6218902" y="1640060"/>
              <a:ext cx="2029615" cy="400109"/>
            </a:xfrm>
            <a:prstGeom prst="rect">
              <a:avLst/>
            </a:prstGeom>
            <a:noFill/>
          </p:spPr>
          <p:txBody>
            <a:bodyPr wrap="none" rtlCol="0">
              <a:spAutoFit/>
            </a:bodyPr>
            <a:lstStyle/>
            <a:p>
              <a:r>
                <a:rPr lang="en-US" sz="1350" dirty="0"/>
                <a:t>define your vector</a:t>
              </a:r>
            </a:p>
          </p:txBody>
        </p:sp>
      </p:grpSp>
      <p:grpSp>
        <p:nvGrpSpPr>
          <p:cNvPr id="7" name="Group 6">
            <a:extLst>
              <a:ext uri="{FF2B5EF4-FFF2-40B4-BE49-F238E27FC236}">
                <a16:creationId xmlns:a16="http://schemas.microsoft.com/office/drawing/2014/main" id="{D1AAC292-3413-A3AA-9B33-2B512A7ED8F6}"/>
              </a:ext>
            </a:extLst>
          </p:cNvPr>
          <p:cNvGrpSpPr/>
          <p:nvPr/>
        </p:nvGrpSpPr>
        <p:grpSpPr>
          <a:xfrm>
            <a:off x="4479822" y="2645080"/>
            <a:ext cx="1415269" cy="907025"/>
            <a:chOff x="5973097" y="1120877"/>
            <a:chExt cx="1887025" cy="1209367"/>
          </a:xfrm>
        </p:grpSpPr>
        <p:sp>
          <p:nvSpPr>
            <p:cNvPr id="8" name="Right Brace 7">
              <a:extLst>
                <a:ext uri="{FF2B5EF4-FFF2-40B4-BE49-F238E27FC236}">
                  <a16:creationId xmlns:a16="http://schemas.microsoft.com/office/drawing/2014/main" id="{B7055AC8-9E36-3A6C-133C-56E530D51197}"/>
                </a:ext>
              </a:extLst>
            </p:cNvPr>
            <p:cNvSpPr/>
            <p:nvPr/>
          </p:nvSpPr>
          <p:spPr>
            <a:xfrm>
              <a:off x="5973097" y="1120877"/>
              <a:ext cx="245806" cy="1209367"/>
            </a:xfrm>
            <a:prstGeom prst="rightBrace">
              <a:avLst/>
            </a:prstGeom>
            <a:ln w="25400"/>
          </p:spPr>
          <p:style>
            <a:lnRef idx="2">
              <a:schemeClr val="dk1"/>
            </a:lnRef>
            <a:fillRef idx="0">
              <a:schemeClr val="dk1"/>
            </a:fillRef>
            <a:effectRef idx="1">
              <a:schemeClr val="dk1"/>
            </a:effectRef>
            <a:fontRef idx="minor">
              <a:schemeClr val="tx1"/>
            </a:fontRef>
          </p:style>
          <p:txBody>
            <a:bodyPr rtlCol="0" anchor="ctr"/>
            <a:lstStyle/>
            <a:p>
              <a:pPr algn="ctr"/>
              <a:endParaRPr lang="en-US" sz="1350"/>
            </a:p>
          </p:txBody>
        </p:sp>
        <p:sp>
          <p:nvSpPr>
            <p:cNvPr id="9" name="TextBox 8">
              <a:extLst>
                <a:ext uri="{FF2B5EF4-FFF2-40B4-BE49-F238E27FC236}">
                  <a16:creationId xmlns:a16="http://schemas.microsoft.com/office/drawing/2014/main" id="{2692C55A-5FC9-239D-9AC4-FC7BDD5C4B24}"/>
                </a:ext>
              </a:extLst>
            </p:cNvPr>
            <p:cNvSpPr txBox="1"/>
            <p:nvPr/>
          </p:nvSpPr>
          <p:spPr>
            <a:xfrm>
              <a:off x="6218904" y="1540894"/>
              <a:ext cx="1641218" cy="400109"/>
            </a:xfrm>
            <a:prstGeom prst="rect">
              <a:avLst/>
            </a:prstGeom>
            <a:noFill/>
          </p:spPr>
          <p:txBody>
            <a:bodyPr wrap="none" rtlCol="0">
              <a:spAutoFit/>
            </a:bodyPr>
            <a:lstStyle/>
            <a:p>
              <a:r>
                <a:rPr lang="en-US" sz="1350" dirty="0"/>
                <a:t>prepare raster</a:t>
              </a:r>
            </a:p>
          </p:txBody>
        </p:sp>
      </p:grpSp>
      <p:grpSp>
        <p:nvGrpSpPr>
          <p:cNvPr id="10" name="Group 9">
            <a:extLst>
              <a:ext uri="{FF2B5EF4-FFF2-40B4-BE49-F238E27FC236}">
                <a16:creationId xmlns:a16="http://schemas.microsoft.com/office/drawing/2014/main" id="{2C668331-3AA7-D178-29D4-3CBD63AF76B1}"/>
              </a:ext>
            </a:extLst>
          </p:cNvPr>
          <p:cNvGrpSpPr/>
          <p:nvPr/>
        </p:nvGrpSpPr>
        <p:grpSpPr>
          <a:xfrm>
            <a:off x="4815349" y="3909254"/>
            <a:ext cx="2939661" cy="907025"/>
            <a:chOff x="5973097" y="1120877"/>
            <a:chExt cx="3919548" cy="1209367"/>
          </a:xfrm>
        </p:grpSpPr>
        <p:sp>
          <p:nvSpPr>
            <p:cNvPr id="11" name="Right Brace 10">
              <a:extLst>
                <a:ext uri="{FF2B5EF4-FFF2-40B4-BE49-F238E27FC236}">
                  <a16:creationId xmlns:a16="http://schemas.microsoft.com/office/drawing/2014/main" id="{1BCFC4AD-6A65-CB09-23AE-2354C456BA5F}"/>
                </a:ext>
              </a:extLst>
            </p:cNvPr>
            <p:cNvSpPr/>
            <p:nvPr/>
          </p:nvSpPr>
          <p:spPr>
            <a:xfrm>
              <a:off x="5973097" y="1120877"/>
              <a:ext cx="245806" cy="1209367"/>
            </a:xfrm>
            <a:prstGeom prst="rightBrace">
              <a:avLst/>
            </a:prstGeom>
            <a:ln w="25400"/>
          </p:spPr>
          <p:style>
            <a:lnRef idx="2">
              <a:schemeClr val="dk1"/>
            </a:lnRef>
            <a:fillRef idx="0">
              <a:schemeClr val="dk1"/>
            </a:fillRef>
            <a:effectRef idx="1">
              <a:schemeClr val="dk1"/>
            </a:effectRef>
            <a:fontRef idx="minor">
              <a:schemeClr val="tx1"/>
            </a:fontRef>
          </p:style>
          <p:txBody>
            <a:bodyPr rtlCol="0" anchor="ctr"/>
            <a:lstStyle/>
            <a:p>
              <a:pPr algn="ctr"/>
              <a:endParaRPr lang="en-US" sz="1350"/>
            </a:p>
          </p:txBody>
        </p:sp>
        <p:sp>
          <p:nvSpPr>
            <p:cNvPr id="12" name="TextBox 11">
              <a:extLst>
                <a:ext uri="{FF2B5EF4-FFF2-40B4-BE49-F238E27FC236}">
                  <a16:creationId xmlns:a16="http://schemas.microsoft.com/office/drawing/2014/main" id="{2DD653FE-B486-3560-3097-AF49B2045CCB}"/>
                </a:ext>
              </a:extLst>
            </p:cNvPr>
            <p:cNvSpPr txBox="1"/>
            <p:nvPr/>
          </p:nvSpPr>
          <p:spPr>
            <a:xfrm>
              <a:off x="6218904" y="1540894"/>
              <a:ext cx="3673741" cy="400109"/>
            </a:xfrm>
            <a:prstGeom prst="rect">
              <a:avLst/>
            </a:prstGeom>
            <a:noFill/>
          </p:spPr>
          <p:txBody>
            <a:bodyPr wrap="none" rtlCol="0">
              <a:spAutoFit/>
            </a:bodyPr>
            <a:lstStyle/>
            <a:p>
              <a:r>
                <a:rPr lang="en-US" sz="1350" dirty="0"/>
                <a:t>convert raster to points (centroids)</a:t>
              </a:r>
            </a:p>
          </p:txBody>
        </p:sp>
      </p:grpSp>
      <p:sp>
        <p:nvSpPr>
          <p:cNvPr id="14" name="Right Brace 13">
            <a:extLst>
              <a:ext uri="{FF2B5EF4-FFF2-40B4-BE49-F238E27FC236}">
                <a16:creationId xmlns:a16="http://schemas.microsoft.com/office/drawing/2014/main" id="{3B628B81-DE71-2B44-C44F-5391A63103C6}"/>
              </a:ext>
            </a:extLst>
          </p:cNvPr>
          <p:cNvSpPr/>
          <p:nvPr/>
        </p:nvSpPr>
        <p:spPr>
          <a:xfrm rot="5400000">
            <a:off x="5342393" y="3048349"/>
            <a:ext cx="176516" cy="4875410"/>
          </a:xfrm>
          <a:prstGeom prst="rightBrace">
            <a:avLst/>
          </a:prstGeom>
          <a:ln w="25400"/>
        </p:spPr>
        <p:style>
          <a:lnRef idx="2">
            <a:schemeClr val="dk1"/>
          </a:lnRef>
          <a:fillRef idx="0">
            <a:schemeClr val="dk1"/>
          </a:fillRef>
          <a:effectRef idx="1">
            <a:schemeClr val="dk1"/>
          </a:effectRef>
          <a:fontRef idx="minor">
            <a:schemeClr val="tx1"/>
          </a:fontRef>
        </p:style>
        <p:txBody>
          <a:bodyPr rtlCol="0" anchor="ctr"/>
          <a:lstStyle/>
          <a:p>
            <a:pPr algn="ctr"/>
            <a:endParaRPr lang="en-US" sz="1350"/>
          </a:p>
        </p:txBody>
      </p:sp>
      <p:sp>
        <p:nvSpPr>
          <p:cNvPr id="15" name="TextBox 14">
            <a:extLst>
              <a:ext uri="{FF2B5EF4-FFF2-40B4-BE49-F238E27FC236}">
                <a16:creationId xmlns:a16="http://schemas.microsoft.com/office/drawing/2014/main" id="{EAB07148-F6E0-FFAE-E7F1-26F4CB5B2641}"/>
              </a:ext>
            </a:extLst>
          </p:cNvPr>
          <p:cNvSpPr txBox="1"/>
          <p:nvPr/>
        </p:nvSpPr>
        <p:spPr>
          <a:xfrm>
            <a:off x="3694169" y="5574309"/>
            <a:ext cx="3213572" cy="300082"/>
          </a:xfrm>
          <a:prstGeom prst="rect">
            <a:avLst/>
          </a:prstGeom>
          <a:noFill/>
        </p:spPr>
        <p:txBody>
          <a:bodyPr wrap="none" rtlCol="0">
            <a:spAutoFit/>
          </a:bodyPr>
          <a:lstStyle/>
          <a:p>
            <a:r>
              <a:rPr lang="en-US" sz="1350" dirty="0"/>
              <a:t>spatial join/spatial filter and clean points</a:t>
            </a:r>
          </a:p>
        </p:txBody>
      </p:sp>
    </p:spTree>
    <p:extLst>
      <p:ext uri="{BB962C8B-B14F-4D97-AF65-F5344CB8AC3E}">
        <p14:creationId xmlns:p14="http://schemas.microsoft.com/office/powerpoint/2010/main" val="30636701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4C0E5-7A66-7EC2-B2CD-974BCDABC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72391-DE09-53D6-C22E-21BEB100E276}"/>
              </a:ext>
            </a:extLst>
          </p:cNvPr>
          <p:cNvSpPr>
            <a:spLocks noGrp="1"/>
          </p:cNvSpPr>
          <p:nvPr>
            <p:ph type="title"/>
          </p:nvPr>
        </p:nvSpPr>
        <p:spPr>
          <a:xfrm>
            <a:off x="628650" y="1075789"/>
            <a:ext cx="7886700" cy="411956"/>
          </a:xfrm>
        </p:spPr>
        <p:txBody>
          <a:bodyPr>
            <a:noAutofit/>
          </a:bodyPr>
          <a:lstStyle/>
          <a:p>
            <a:pPr algn="ctr"/>
            <a:r>
              <a:rPr lang="en-US" sz="4050" b="1" dirty="0">
                <a:solidFill>
                  <a:srgbClr val="5A8AE6"/>
                </a:solidFill>
                <a:latin typeface="XKCD" panose="02000603000000000000" pitchFamily="2" charset="0"/>
              </a:rPr>
              <a:t>And ...</a:t>
            </a:r>
          </a:p>
        </p:txBody>
      </p:sp>
      <p:sp>
        <p:nvSpPr>
          <p:cNvPr id="3" name="Content Placeholder 2">
            <a:extLst>
              <a:ext uri="{FF2B5EF4-FFF2-40B4-BE49-F238E27FC236}">
                <a16:creationId xmlns:a16="http://schemas.microsoft.com/office/drawing/2014/main" id="{DBEA7985-CFDA-2F58-1CF4-0032E2D2A17F}"/>
              </a:ext>
            </a:extLst>
          </p:cNvPr>
          <p:cNvSpPr>
            <a:spLocks noGrp="1"/>
          </p:cNvSpPr>
          <p:nvPr>
            <p:ph idx="1"/>
          </p:nvPr>
        </p:nvSpPr>
        <p:spPr>
          <a:xfrm>
            <a:off x="628650" y="1642601"/>
            <a:ext cx="7886700" cy="3847371"/>
          </a:xfrm>
        </p:spPr>
        <p:txBody>
          <a:bodyPr>
            <a:noAutofit/>
          </a:bodyPr>
          <a:lstStyle/>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st_write</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landscan_pts_joined</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landscan_pts_joined.shp</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p>
          <a:p>
            <a:pPr marL="0" indent="0">
              <a:buNone/>
            </a:pPr>
            <a:endPar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endParaRPr>
          </a:p>
          <a:p>
            <a:pPr marL="0" indent="0">
              <a:buNone/>
            </a:pP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writeRaster</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landscan</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a:t>
            </a:r>
            <a:r>
              <a:rPr lang="en-US" sz="1350" b="1" dirty="0" err="1">
                <a:solidFill>
                  <a:srgbClr val="C00000"/>
                </a:solidFill>
                <a:latin typeface="Menlo" panose="020B0609030804020204" pitchFamily="49" charset="0"/>
                <a:ea typeface="Menlo" panose="020B0609030804020204" pitchFamily="49" charset="0"/>
                <a:cs typeface="Menlo" panose="020B0609030804020204" pitchFamily="49" charset="0"/>
              </a:rPr>
              <a:t>mylandscan.tif</a:t>
            </a:r>
            <a:r>
              <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rPr>
              <a:t>", overwrite = TRUE)</a:t>
            </a:r>
          </a:p>
          <a:p>
            <a:pPr marL="0" indent="0">
              <a:buNone/>
            </a:pPr>
            <a:endParaRPr lang="en-US" sz="1350" b="1" dirty="0">
              <a:solidFill>
                <a:srgbClr val="C00000"/>
              </a:solidFill>
              <a:latin typeface="Menlo" panose="020B0609030804020204" pitchFamily="49" charset="0"/>
              <a:ea typeface="Menlo" panose="020B0609030804020204" pitchFamily="49" charset="0"/>
              <a:cs typeface="Menlo" panose="020B0609030804020204" pitchFamily="49" charset="0"/>
            </a:endParaRPr>
          </a:p>
        </p:txBody>
      </p:sp>
      <p:grpSp>
        <p:nvGrpSpPr>
          <p:cNvPr id="6" name="Group 5">
            <a:extLst>
              <a:ext uri="{FF2B5EF4-FFF2-40B4-BE49-F238E27FC236}">
                <a16:creationId xmlns:a16="http://schemas.microsoft.com/office/drawing/2014/main" id="{36D14143-3C5C-EE92-E37A-DB5CCD3F0D0F}"/>
              </a:ext>
            </a:extLst>
          </p:cNvPr>
          <p:cNvGrpSpPr/>
          <p:nvPr/>
        </p:nvGrpSpPr>
        <p:grpSpPr>
          <a:xfrm>
            <a:off x="6754662" y="1581653"/>
            <a:ext cx="1884498" cy="342900"/>
            <a:chOff x="5973097" y="1120877"/>
            <a:chExt cx="2512665" cy="457200"/>
          </a:xfrm>
        </p:grpSpPr>
        <p:sp>
          <p:nvSpPr>
            <p:cNvPr id="4" name="Right Brace 3">
              <a:extLst>
                <a:ext uri="{FF2B5EF4-FFF2-40B4-BE49-F238E27FC236}">
                  <a16:creationId xmlns:a16="http://schemas.microsoft.com/office/drawing/2014/main" id="{DBF55F3B-E163-C8BC-3072-4A01183FCD7A}"/>
                </a:ext>
              </a:extLst>
            </p:cNvPr>
            <p:cNvSpPr/>
            <p:nvPr/>
          </p:nvSpPr>
          <p:spPr>
            <a:xfrm>
              <a:off x="5973097" y="1120877"/>
              <a:ext cx="245806" cy="457200"/>
            </a:xfrm>
            <a:prstGeom prst="rightBrace">
              <a:avLst/>
            </a:prstGeom>
            <a:ln w="25400"/>
          </p:spPr>
          <p:style>
            <a:lnRef idx="2">
              <a:schemeClr val="dk1"/>
            </a:lnRef>
            <a:fillRef idx="0">
              <a:schemeClr val="dk1"/>
            </a:fillRef>
            <a:effectRef idx="1">
              <a:schemeClr val="dk1"/>
            </a:effectRef>
            <a:fontRef idx="minor">
              <a:schemeClr val="tx1"/>
            </a:fontRef>
          </p:style>
          <p:txBody>
            <a:bodyPr rtlCol="0" anchor="ctr"/>
            <a:lstStyle/>
            <a:p>
              <a:pPr algn="ctr"/>
              <a:endParaRPr lang="en-US" sz="1350"/>
            </a:p>
          </p:txBody>
        </p:sp>
        <p:sp>
          <p:nvSpPr>
            <p:cNvPr id="5" name="TextBox 4">
              <a:extLst>
                <a:ext uri="{FF2B5EF4-FFF2-40B4-BE49-F238E27FC236}">
                  <a16:creationId xmlns:a16="http://schemas.microsoft.com/office/drawing/2014/main" id="{1E86B5B5-53AA-2EB8-776D-D1D8048CDA88}"/>
                </a:ext>
              </a:extLst>
            </p:cNvPr>
            <p:cNvSpPr txBox="1"/>
            <p:nvPr/>
          </p:nvSpPr>
          <p:spPr>
            <a:xfrm>
              <a:off x="6218902" y="1153282"/>
              <a:ext cx="2266860" cy="400109"/>
            </a:xfrm>
            <a:prstGeom prst="rect">
              <a:avLst/>
            </a:prstGeom>
            <a:noFill/>
          </p:spPr>
          <p:txBody>
            <a:bodyPr wrap="none" rtlCol="0">
              <a:spAutoFit/>
            </a:bodyPr>
            <a:lstStyle/>
            <a:p>
              <a:r>
                <a:rPr lang="en-US" sz="1350" dirty="0"/>
                <a:t>save </a:t>
              </a:r>
              <a:r>
                <a:rPr lang="en-US" sz="1350" dirty="0" err="1"/>
                <a:t>shp</a:t>
              </a:r>
              <a:r>
                <a:rPr lang="en-US" sz="1350" dirty="0"/>
                <a:t> with points</a:t>
              </a:r>
            </a:p>
          </p:txBody>
        </p:sp>
      </p:grpSp>
      <p:grpSp>
        <p:nvGrpSpPr>
          <p:cNvPr id="13" name="Group 12">
            <a:extLst>
              <a:ext uri="{FF2B5EF4-FFF2-40B4-BE49-F238E27FC236}">
                <a16:creationId xmlns:a16="http://schemas.microsoft.com/office/drawing/2014/main" id="{D6A8663A-427D-73E8-8313-B6D8CC38037C}"/>
              </a:ext>
            </a:extLst>
          </p:cNvPr>
          <p:cNvGrpSpPr/>
          <p:nvPr/>
        </p:nvGrpSpPr>
        <p:grpSpPr>
          <a:xfrm>
            <a:off x="6754662" y="2187473"/>
            <a:ext cx="1539919" cy="342900"/>
            <a:chOff x="5973097" y="1120877"/>
            <a:chExt cx="2053225" cy="457200"/>
          </a:xfrm>
        </p:grpSpPr>
        <p:sp>
          <p:nvSpPr>
            <p:cNvPr id="16" name="Right Brace 15">
              <a:extLst>
                <a:ext uri="{FF2B5EF4-FFF2-40B4-BE49-F238E27FC236}">
                  <a16:creationId xmlns:a16="http://schemas.microsoft.com/office/drawing/2014/main" id="{3F6321FA-6EC5-DD19-9614-B0DD010ACE51}"/>
                </a:ext>
              </a:extLst>
            </p:cNvPr>
            <p:cNvSpPr/>
            <p:nvPr/>
          </p:nvSpPr>
          <p:spPr>
            <a:xfrm>
              <a:off x="5973097" y="1120877"/>
              <a:ext cx="245806" cy="457200"/>
            </a:xfrm>
            <a:prstGeom prst="rightBrace">
              <a:avLst/>
            </a:prstGeom>
            <a:ln w="25400"/>
          </p:spPr>
          <p:style>
            <a:lnRef idx="2">
              <a:schemeClr val="dk1"/>
            </a:lnRef>
            <a:fillRef idx="0">
              <a:schemeClr val="dk1"/>
            </a:fillRef>
            <a:effectRef idx="1">
              <a:schemeClr val="dk1"/>
            </a:effectRef>
            <a:fontRef idx="minor">
              <a:schemeClr val="tx1"/>
            </a:fontRef>
          </p:style>
          <p:txBody>
            <a:bodyPr rtlCol="0" anchor="ctr"/>
            <a:lstStyle/>
            <a:p>
              <a:pPr algn="ctr"/>
              <a:endParaRPr lang="en-US" sz="1350"/>
            </a:p>
          </p:txBody>
        </p:sp>
        <p:sp>
          <p:nvSpPr>
            <p:cNvPr id="17" name="TextBox 16">
              <a:extLst>
                <a:ext uri="{FF2B5EF4-FFF2-40B4-BE49-F238E27FC236}">
                  <a16:creationId xmlns:a16="http://schemas.microsoft.com/office/drawing/2014/main" id="{788369F1-F38B-8657-1514-514849849134}"/>
                </a:ext>
              </a:extLst>
            </p:cNvPr>
            <p:cNvSpPr txBox="1"/>
            <p:nvPr/>
          </p:nvSpPr>
          <p:spPr>
            <a:xfrm>
              <a:off x="6218904" y="1153282"/>
              <a:ext cx="1807418" cy="400109"/>
            </a:xfrm>
            <a:prstGeom prst="rect">
              <a:avLst/>
            </a:prstGeom>
            <a:noFill/>
          </p:spPr>
          <p:txBody>
            <a:bodyPr wrap="none" rtlCol="0">
              <a:spAutoFit/>
            </a:bodyPr>
            <a:lstStyle/>
            <a:p>
              <a:r>
                <a:rPr lang="en-US" sz="1350" dirty="0"/>
                <a:t>save your raster</a:t>
              </a:r>
            </a:p>
          </p:txBody>
        </p:sp>
      </p:grpSp>
      <p:pic>
        <p:nvPicPr>
          <p:cNvPr id="19" name="Picture 18" descr="A screenshot of a computer&#10;&#10;AI-generated content may be incorrect.">
            <a:extLst>
              <a:ext uri="{FF2B5EF4-FFF2-40B4-BE49-F238E27FC236}">
                <a16:creationId xmlns:a16="http://schemas.microsoft.com/office/drawing/2014/main" id="{FDA8BD66-06A6-6868-B26E-30229D49F7FD}"/>
              </a:ext>
            </a:extLst>
          </p:cNvPr>
          <p:cNvPicPr>
            <a:picLocks noChangeAspect="1"/>
          </p:cNvPicPr>
          <p:nvPr/>
        </p:nvPicPr>
        <p:blipFill>
          <a:blip r:embed="rId2"/>
          <a:stretch>
            <a:fillRect/>
          </a:stretch>
        </p:blipFill>
        <p:spPr>
          <a:xfrm>
            <a:off x="628651" y="2698044"/>
            <a:ext cx="5078430" cy="3302706"/>
          </a:xfrm>
          <a:prstGeom prst="rect">
            <a:avLst/>
          </a:prstGeom>
        </p:spPr>
      </p:pic>
      <p:pic>
        <p:nvPicPr>
          <p:cNvPr id="21" name="Picture 20" descr="A screenshot of a computer code&#10;&#10;AI-generated content may be incorrect.">
            <a:extLst>
              <a:ext uri="{FF2B5EF4-FFF2-40B4-BE49-F238E27FC236}">
                <a16:creationId xmlns:a16="http://schemas.microsoft.com/office/drawing/2014/main" id="{EEB9644E-7F5F-C387-6DBB-9BC9FBEC11DE}"/>
              </a:ext>
            </a:extLst>
          </p:cNvPr>
          <p:cNvPicPr>
            <a:picLocks noChangeAspect="1"/>
          </p:cNvPicPr>
          <p:nvPr/>
        </p:nvPicPr>
        <p:blipFill>
          <a:blip r:embed="rId3"/>
          <a:stretch>
            <a:fillRect/>
          </a:stretch>
        </p:blipFill>
        <p:spPr>
          <a:xfrm>
            <a:off x="5392373" y="3232586"/>
            <a:ext cx="3566160" cy="1468419"/>
          </a:xfrm>
          <a:prstGeom prst="rect">
            <a:avLst/>
          </a:prstGeom>
        </p:spPr>
      </p:pic>
    </p:spTree>
    <p:extLst>
      <p:ext uri="{BB962C8B-B14F-4D97-AF65-F5344CB8AC3E}">
        <p14:creationId xmlns:p14="http://schemas.microsoft.com/office/powerpoint/2010/main" val="15963375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B18B9-2EA1-AEC6-1D89-7A0977A0353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78F4F8FF-F759-0276-390A-3FB14530B712}"/>
              </a:ext>
            </a:extLst>
          </p:cNvPr>
          <p:cNvPicPr>
            <a:picLocks noChangeAspect="1"/>
          </p:cNvPicPr>
          <p:nvPr/>
        </p:nvPicPr>
        <p:blipFill>
          <a:blip r:embed="rId2"/>
          <a:srcRect/>
          <a:stretch/>
        </p:blipFill>
        <p:spPr>
          <a:xfrm>
            <a:off x="882109" y="1122191"/>
            <a:ext cx="7379783" cy="4613619"/>
          </a:xfrm>
          <a:prstGeom prst="rect">
            <a:avLst/>
          </a:prstGeom>
        </p:spPr>
      </p:pic>
    </p:spTree>
    <p:extLst>
      <p:ext uri="{BB962C8B-B14F-4D97-AF65-F5344CB8AC3E}">
        <p14:creationId xmlns:p14="http://schemas.microsoft.com/office/powerpoint/2010/main" val="35581187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257AE-5A74-FFDA-A2F6-0511E034326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AEF91CA-CD34-C9AF-6131-AE52950EAA3A}"/>
              </a:ext>
            </a:extLst>
          </p:cNvPr>
          <p:cNvPicPr>
            <a:picLocks noChangeAspect="1"/>
          </p:cNvPicPr>
          <p:nvPr/>
        </p:nvPicPr>
        <p:blipFill>
          <a:blip r:embed="rId2"/>
          <a:srcRect/>
          <a:stretch/>
        </p:blipFill>
        <p:spPr>
          <a:xfrm>
            <a:off x="882109" y="1122191"/>
            <a:ext cx="7379783" cy="4613619"/>
          </a:xfrm>
          <a:prstGeom prst="rect">
            <a:avLst/>
          </a:prstGeom>
        </p:spPr>
      </p:pic>
    </p:spTree>
    <p:extLst>
      <p:ext uri="{BB962C8B-B14F-4D97-AF65-F5344CB8AC3E}">
        <p14:creationId xmlns:p14="http://schemas.microsoft.com/office/powerpoint/2010/main" val="3067024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F69B3-6542-82C7-8B43-B3B27E6FB7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2A4AE28-BDE3-BB5B-77E7-F9DDC37DD944}"/>
              </a:ext>
            </a:extLst>
          </p:cNvPr>
          <p:cNvPicPr>
            <a:picLocks noChangeAspect="1"/>
          </p:cNvPicPr>
          <p:nvPr/>
        </p:nvPicPr>
        <p:blipFill>
          <a:blip r:embed="rId2"/>
          <a:srcRect/>
          <a:stretch/>
        </p:blipFill>
        <p:spPr>
          <a:xfrm>
            <a:off x="882109" y="1122191"/>
            <a:ext cx="7379782" cy="4613619"/>
          </a:xfrm>
          <a:prstGeom prst="rect">
            <a:avLst/>
          </a:prstGeom>
        </p:spPr>
      </p:pic>
    </p:spTree>
    <p:extLst>
      <p:ext uri="{BB962C8B-B14F-4D97-AF65-F5344CB8AC3E}">
        <p14:creationId xmlns:p14="http://schemas.microsoft.com/office/powerpoint/2010/main" val="38543625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06AA2-4F51-B741-E743-F60AC5E51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7B9CE4-B576-F8A4-F2B2-88C7BC4CF6FD}"/>
              </a:ext>
            </a:extLst>
          </p:cNvPr>
          <p:cNvSpPr>
            <a:spLocks noGrp="1"/>
          </p:cNvSpPr>
          <p:nvPr>
            <p:ph type="title"/>
          </p:nvPr>
        </p:nvSpPr>
        <p:spPr/>
        <p:txBody>
          <a:bodyPr>
            <a:normAutofit/>
          </a:bodyPr>
          <a:lstStyle/>
          <a:p>
            <a:pPr algn="ctr"/>
            <a:r>
              <a:rPr lang="en-US" sz="4400" b="1" dirty="0">
                <a:solidFill>
                  <a:schemeClr val="tx2">
                    <a:lumMod val="50000"/>
                    <a:lumOff val="50000"/>
                  </a:schemeClr>
                </a:solidFill>
                <a:effectLst>
                  <a:glow rad="177800">
                    <a:schemeClr val="bg1">
                      <a:lumMod val="95000"/>
                      <a:alpha val="40000"/>
                    </a:schemeClr>
                  </a:glow>
                </a:effectLst>
                <a:latin typeface="Coolvetica" panose="020B0603030602020004" pitchFamily="34" charset="0"/>
              </a:rPr>
              <a:t>Homework Assignment</a:t>
            </a:r>
            <a:endParaRPr lang="en-US" sz="4400" dirty="0"/>
          </a:p>
        </p:txBody>
      </p:sp>
      <p:sp>
        <p:nvSpPr>
          <p:cNvPr id="3" name="Content Placeholder 2">
            <a:extLst>
              <a:ext uri="{FF2B5EF4-FFF2-40B4-BE49-F238E27FC236}">
                <a16:creationId xmlns:a16="http://schemas.microsoft.com/office/drawing/2014/main" id="{4839F357-208F-822B-8F84-59AC2E1F9A92}"/>
              </a:ext>
            </a:extLst>
          </p:cNvPr>
          <p:cNvSpPr>
            <a:spLocks noGrp="1"/>
          </p:cNvSpPr>
          <p:nvPr>
            <p:ph idx="1"/>
          </p:nvPr>
        </p:nvSpPr>
        <p:spPr>
          <a:xfrm>
            <a:off x="457200" y="1600517"/>
            <a:ext cx="8229600" cy="4935750"/>
          </a:xfrm>
        </p:spPr>
        <p:txBody>
          <a:bodyPr>
            <a:normAutofit lnSpcReduction="10000"/>
          </a:bodyPr>
          <a:lstStyle/>
          <a:p>
            <a:pPr marL="342900" indent="-342900">
              <a:buFont typeface="+mj-lt"/>
              <a:buAutoNum type="arabicPeriod"/>
            </a:pPr>
            <a:r>
              <a:rPr lang="en-US" sz="1800" dirty="0"/>
              <a:t>Create a data frame with some points.</a:t>
            </a:r>
          </a:p>
          <a:p>
            <a:pPr marL="342900" indent="-342900">
              <a:buFont typeface="+mj-lt"/>
              <a:buAutoNum type="arabicPeriod"/>
            </a:pPr>
            <a:r>
              <a:rPr lang="en-US" sz="1800" dirty="0"/>
              <a:t>Estimate distances (and verify it, can use Google Maps for it).</a:t>
            </a:r>
          </a:p>
          <a:p>
            <a:pPr marL="342900" indent="-342900">
              <a:buFont typeface="+mj-lt"/>
              <a:buAutoNum type="arabicPeriod"/>
            </a:pPr>
            <a:r>
              <a:rPr lang="en-US" sz="1800" dirty="0"/>
              <a:t>Estimate the population at the location,</a:t>
            </a:r>
            <a:br>
              <a:rPr lang="en-US" sz="1800" dirty="0"/>
            </a:br>
            <a:r>
              <a:rPr lang="en-US" sz="1800" dirty="0"/>
              <a:t>and descriptive statistics the population around</a:t>
            </a:r>
          </a:p>
          <a:p>
            <a:pPr lvl="1"/>
            <a:r>
              <a:rPr lang="en-US" dirty="0"/>
              <a:t>Create a population data cube for at least</a:t>
            </a:r>
            <a:br>
              <a:rPr lang="en-US" dirty="0"/>
            </a:br>
            <a:r>
              <a:rPr lang="en-US" dirty="0"/>
              <a:t>5 years period.</a:t>
            </a:r>
          </a:p>
          <a:p>
            <a:pPr lvl="1"/>
            <a:r>
              <a:rPr lang="en-US" dirty="0"/>
              <a:t>Your choice of buffer,</a:t>
            </a:r>
            <a:br>
              <a:rPr lang="en-US" dirty="0"/>
            </a:br>
            <a:r>
              <a:rPr lang="en-US" dirty="0"/>
              <a:t>briefly justify, come up with some idea.</a:t>
            </a:r>
          </a:p>
          <a:p>
            <a:pPr lvl="1"/>
            <a:r>
              <a:rPr lang="en-US" dirty="0"/>
              <a:t>Briefly explain/compare how population </a:t>
            </a:r>
            <a:br>
              <a:rPr lang="en-US" dirty="0"/>
            </a:br>
            <a:r>
              <a:rPr lang="en-US" dirty="0"/>
              <a:t>change over time (advantages and</a:t>
            </a:r>
            <a:br>
              <a:rPr lang="en-US" dirty="0"/>
            </a:br>
            <a:r>
              <a:rPr lang="en-US" dirty="0"/>
              <a:t>disadvantages of using the buffer).</a:t>
            </a:r>
          </a:p>
          <a:p>
            <a:pPr marL="342900" indent="-342900">
              <a:buFont typeface="+mj-lt"/>
              <a:buAutoNum type="arabicPeriod"/>
            </a:pPr>
            <a:r>
              <a:rPr lang="en-US" sz="1800" dirty="0"/>
              <a:t>Include a data analysis workflow</a:t>
            </a:r>
            <a:br>
              <a:rPr lang="en-US" sz="1800" dirty="0"/>
            </a:br>
            <a:r>
              <a:rPr lang="en-US" sz="1800" dirty="0"/>
              <a:t>and explain it with a graph,</a:t>
            </a:r>
            <a:br>
              <a:rPr lang="en-US" sz="1800" dirty="0"/>
            </a:br>
            <a:r>
              <a:rPr lang="en-US" sz="1800" dirty="0"/>
              <a:t>diagram, or pseudo-code.</a:t>
            </a:r>
          </a:p>
          <a:p>
            <a:pPr lvl="1"/>
            <a:r>
              <a:rPr lang="en-US" dirty="0"/>
              <a:t>From mess to meaning …</a:t>
            </a:r>
          </a:p>
          <a:p>
            <a:pPr marL="342900" indent="-342900">
              <a:buFont typeface="+mj-lt"/>
              <a:buAutoNum type="arabicPeriod"/>
            </a:pPr>
            <a:r>
              <a:rPr lang="en-US" sz="1800" dirty="0"/>
              <a:t>Submission on Canvas</a:t>
            </a:r>
          </a:p>
          <a:p>
            <a:pPr lvl="1"/>
            <a:r>
              <a:rPr lang="en-US" dirty="0"/>
              <a:t>Due Thu 26 before class (aka 12pm)</a:t>
            </a:r>
          </a:p>
        </p:txBody>
      </p:sp>
      <p:sp>
        <p:nvSpPr>
          <p:cNvPr id="4" name="Slide Number Placeholder 3">
            <a:extLst>
              <a:ext uri="{FF2B5EF4-FFF2-40B4-BE49-F238E27FC236}">
                <a16:creationId xmlns:a16="http://schemas.microsoft.com/office/drawing/2014/main" id="{D6919B4F-F8A2-172F-EFE7-818279CD6BBA}"/>
              </a:ext>
            </a:extLst>
          </p:cNvPr>
          <p:cNvSpPr>
            <a:spLocks noGrp="1"/>
          </p:cNvSpPr>
          <p:nvPr>
            <p:ph type="sldNum" sz="quarter" idx="12"/>
          </p:nvPr>
        </p:nvSpPr>
        <p:spPr/>
        <p:txBody>
          <a:bodyPr/>
          <a:lstStyle/>
          <a:p>
            <a:fld id="{C0343C75-1924-D247-85A3-0CB62E67E5D1}" type="slidenum">
              <a:rPr lang="en-US" smtClean="0"/>
              <a:t>36</a:t>
            </a:fld>
            <a:endParaRPr lang="en-US"/>
          </a:p>
        </p:txBody>
      </p:sp>
      <p:pic>
        <p:nvPicPr>
          <p:cNvPr id="5" name="Picture 4" descr="A person in a purple suit&#10;&#10;AI-generated content may be incorrect.">
            <a:extLst>
              <a:ext uri="{FF2B5EF4-FFF2-40B4-BE49-F238E27FC236}">
                <a16:creationId xmlns:a16="http://schemas.microsoft.com/office/drawing/2014/main" id="{1E2A535C-413A-CDD5-97A3-C8F289E3CF61}"/>
              </a:ext>
            </a:extLst>
          </p:cNvPr>
          <p:cNvPicPr>
            <a:picLocks noChangeAspect="1"/>
          </p:cNvPicPr>
          <p:nvPr/>
        </p:nvPicPr>
        <p:blipFill>
          <a:blip r:embed="rId2"/>
          <a:stretch>
            <a:fillRect/>
          </a:stretch>
        </p:blipFill>
        <p:spPr>
          <a:xfrm>
            <a:off x="5667020" y="2746339"/>
            <a:ext cx="2743200" cy="2743200"/>
          </a:xfrm>
          <a:prstGeom prst="rect">
            <a:avLst/>
          </a:prstGeom>
        </p:spPr>
      </p:pic>
    </p:spTree>
    <p:extLst>
      <p:ext uri="{BB962C8B-B14F-4D97-AF65-F5344CB8AC3E}">
        <p14:creationId xmlns:p14="http://schemas.microsoft.com/office/powerpoint/2010/main" val="24817943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AAD8946F-0F31-3B4A-8CB9-5FA22C3CE7DB}" vid="{C0D572B3-B117-984B-94A9-96E09E0151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1749</TotalTime>
  <Words>3358</Words>
  <Application>Microsoft Macintosh PowerPoint</Application>
  <PresentationFormat>On-screen Show (4:3)</PresentationFormat>
  <Paragraphs>319</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Aptos</vt:lpstr>
      <vt:lpstr>Aptos Display</vt:lpstr>
      <vt:lpstr>Arial</vt:lpstr>
      <vt:lpstr>Cambria Math</vt:lpstr>
      <vt:lpstr>Consolas</vt:lpstr>
      <vt:lpstr>Coolvetica</vt:lpstr>
      <vt:lpstr>Menlo</vt:lpstr>
      <vt:lpstr>Ranchers</vt:lpstr>
      <vt:lpstr>XKCD</vt:lpstr>
      <vt:lpstr>Office Theme</vt:lpstr>
      <vt:lpstr>More Raster, More Vector, More Raster-Vector Interactions</vt:lpstr>
      <vt:lpstr>Outline</vt:lpstr>
      <vt:lpstr>PowerPoint Presentation</vt:lpstr>
      <vt:lpstr>Recap</vt:lpstr>
      <vt:lpstr>GPS Coordinate</vt:lpstr>
      <vt:lpstr>Multiple GPS Points</vt:lpstr>
      <vt:lpstr>ggplot (based on The Grammar of Graphics, but applied to spatial data)</vt:lpstr>
      <vt:lpstr>PowerPoint Presentation</vt:lpstr>
      <vt:lpstr>PowerPoint Presentation</vt:lpstr>
      <vt:lpstr>PowerPoint Presentation</vt:lpstr>
      <vt:lpstr>Distance Between Two Points</vt:lpstr>
      <vt:lpstr>Working with Data Frames</vt:lpstr>
      <vt:lpstr>Pairwise Distance (Row-by-Row)</vt:lpstr>
      <vt:lpstr>Important</vt:lpstr>
      <vt:lpstr>Great Circle vs. Euclidean</vt:lpstr>
      <vt:lpstr>Great Circle vs. Euclidean</vt:lpstr>
      <vt:lpstr>Example</vt:lpstr>
      <vt:lpstr>Tips</vt:lpstr>
      <vt:lpstr>Some Conclusions</vt:lpstr>
      <vt:lpstr>Next …</vt:lpstr>
      <vt:lpstr>PowerPoint Presentation</vt:lpstr>
      <vt:lpstr>Assessing Risk</vt:lpstr>
      <vt:lpstr>Example Points</vt:lpstr>
      <vt:lpstr>Buffering</vt:lpstr>
      <vt:lpstr>LandScan</vt:lpstr>
      <vt:lpstr>PowerPoint Presentation</vt:lpstr>
      <vt:lpstr>PowerPoint Presentation</vt:lpstr>
      <vt:lpstr>PowerPoint Presentation</vt:lpstr>
      <vt:lpstr>Data Cubes</vt:lpstr>
      <vt:lpstr>Also ...</vt:lpstr>
      <vt:lpstr>In summary ...</vt:lpstr>
      <vt:lpstr>And ...</vt:lpstr>
      <vt:lpstr>PowerPoint Presentation</vt:lpstr>
      <vt:lpstr>PowerPoint Presentation</vt:lpstr>
      <vt:lpstr>PowerPoint Presentation</vt:lpstr>
      <vt:lpstr>Homework Assignment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Alexander Abuabara</dc:creator>
  <cp:keywords/>
  <dc:description/>
  <cp:lastModifiedBy>Alexander Abuabara</cp:lastModifiedBy>
  <cp:revision>171</cp:revision>
  <dcterms:created xsi:type="dcterms:W3CDTF">2026-02-09T02:58:06Z</dcterms:created>
  <dcterms:modified xsi:type="dcterms:W3CDTF">2026-03-19T16:45:34Z</dcterms:modified>
  <cp:category/>
</cp:coreProperties>
</file>