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93" r:id="rId3"/>
    <p:sldId id="294" r:id="rId4"/>
    <p:sldId id="295" r:id="rId5"/>
    <p:sldId id="296" r:id="rId6"/>
    <p:sldId id="310" r:id="rId7"/>
    <p:sldId id="297" r:id="rId8"/>
    <p:sldId id="308" r:id="rId9"/>
    <p:sldId id="309" r:id="rId10"/>
    <p:sldId id="258" r:id="rId11"/>
    <p:sldId id="299" r:id="rId12"/>
    <p:sldId id="283" r:id="rId13"/>
    <p:sldId id="286" r:id="rId14"/>
    <p:sldId id="287" r:id="rId15"/>
    <p:sldId id="284" r:id="rId16"/>
    <p:sldId id="288" r:id="rId17"/>
    <p:sldId id="300" r:id="rId18"/>
    <p:sldId id="301" r:id="rId19"/>
    <p:sldId id="298" r:id="rId20"/>
    <p:sldId id="289" r:id="rId21"/>
    <p:sldId id="281" r:id="rId22"/>
    <p:sldId id="282" r:id="rId23"/>
    <p:sldId id="274" r:id="rId24"/>
    <p:sldId id="291" r:id="rId25"/>
    <p:sldId id="257" r:id="rId26"/>
    <p:sldId id="292" r:id="rId27"/>
    <p:sldId id="303" r:id="rId28"/>
    <p:sldId id="304" r:id="rId29"/>
    <p:sldId id="260" r:id="rId30"/>
    <p:sldId id="306" r:id="rId31"/>
    <p:sldId id="290" r:id="rId32"/>
    <p:sldId id="307" r:id="rId33"/>
    <p:sldId id="30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87"/>
    <p:restoredTop sz="95545"/>
  </p:normalViewPr>
  <p:slideViewPr>
    <p:cSldViewPr snapToGrid="0">
      <p:cViewPr>
        <p:scale>
          <a:sx n="87" d="100"/>
          <a:sy n="87" d="100"/>
        </p:scale>
        <p:origin x="152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FB6DC-B598-8B49-8FDB-37BE75E655AD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5A32-F46A-7344-9EED-8329BFD45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22363"/>
            <a:ext cx="82296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822959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A6D9-2D7F-9442-BED1-4D7FFC9A34F4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E58ED-569E-7141-BEA4-8F66F85D6EA8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9"/>
            <a:ext cx="8229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4"/>
            <a:ext cx="8229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CD10-D7BB-1A41-A802-BCEB6EE7274C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8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45808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96072"/>
            <a:ext cx="4057650" cy="4580891"/>
          </a:xfrm>
          <a:solidFill>
            <a:srgbClr val="002060"/>
          </a:solidFill>
        </p:spPr>
        <p:txBody>
          <a:bodyPr/>
          <a:lstStyle>
            <a:lvl1pPr>
              <a:buNone/>
              <a:defRPr sz="1600" b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buNone/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600" b="1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A2C-1A5C-EB4D-A972-6AE3285E62FE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8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1163"/>
            <a:ext cx="4040982" cy="549081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96932"/>
            <a:ext cx="4040982" cy="3792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057650" cy="549081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96932"/>
            <a:ext cx="4057650" cy="3792731"/>
          </a:xfrm>
          <a:solidFill>
            <a:srgbClr val="002060"/>
          </a:solidFill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 sz="18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F2D4-C57D-2449-85CE-67A0F42FDA3B}" type="datetime1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5B4F-A2D4-8548-B798-9B676580887F}" type="datetime1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4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453A-5CCA-2B47-B840-00C815B24B38}" type="datetime1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36524"/>
            <a:ext cx="8229600" cy="1280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517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5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088FA9-E09B-F247-9C69-3141F5729F41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356351"/>
            <a:ext cx="365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43C75-1924-D247-85A3-0CB62E67E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3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adio.garden/" TargetMode="External"/><Relationship Id="rId2" Type="http://schemas.openxmlformats.org/officeDocument/2006/relationships/hyperlink" Target="https://mooglegaps.netlify.ap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s.amherst.edu/software/gis/mapping_coordinate_data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lorado.pressbooks.pub/makingmaps/chapter/chapter-9-datums-coordinate-systems-and-map-projection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.geocompx.org/reproj-geo-dat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2geometry.io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laude.ducharme/selecting-a-geo-representation-81afeaf3bf0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r.geocompx.org/read-writ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radiant-earth-insights/geoparquet-parquet-geospatial-types-a-time-of-transition-a42e391cdab2" TargetMode="External"/><Relationship Id="rId2" Type="http://schemas.openxmlformats.org/officeDocument/2006/relationships/hyperlink" Target="https://arrow.apache.org/docs/r/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is.net/documentation/getting_started/" TargetMode="External"/><Relationship Id="rId2" Type="http://schemas.openxmlformats.org/officeDocument/2006/relationships/hyperlink" Target="https://journal.r-project.org/articles/RJ-2018-025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9pOCVjR7iaA?si=9kP-U9uWaqbbXLq0" TargetMode="External"/><Relationship Id="rId4" Type="http://schemas.openxmlformats.org/officeDocument/2006/relationships/hyperlink" Target="https://youtu.be/FKzw9HJ6XYA?si=U7agrt_By-Fz7DTK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-geoflow/geoflow" TargetMode="External"/><Relationship Id="rId2" Type="http://schemas.openxmlformats.org/officeDocument/2006/relationships/hyperlink" Target="https://github.com/eblondel/geometa/tree/master/inst/extdata/examples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o.org/standard/40114.html" TargetMode="External"/><Relationship Id="rId2" Type="http://schemas.openxmlformats.org/officeDocument/2006/relationships/hyperlink" Target="https://www.iso.org/standard/66175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so.org/standard/75676.html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r.geocompx.org/read-write#tab:datatype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E524-E5FF-51D1-243B-26982FBA4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Reprojecting &amp; I/O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24C6C-7F39-D280-5F4E-FDDD50584F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Alexander Abuabara</a:t>
            </a:r>
          </a:p>
          <a:p>
            <a:r>
              <a:rPr lang="en-US" dirty="0"/>
              <a:t>DAEN 489 ISEN 489 Spring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8EBE0-BF84-E506-2E75-D9731D5B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8" y="5861278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1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78D7-14D6-AD3F-99CA-EA474511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Project Proposal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76504-BF4C-DF04-8302-F9D0D7868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46516"/>
            <a:ext cx="8229599" cy="52098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/>
              <a:t>The project proposal is the roadmap for a project worth 30% of your total grade.</a:t>
            </a:r>
          </a:p>
          <a:p>
            <a:r>
              <a:rPr lang="en-US" dirty="0"/>
              <a:t>Successful proposals will lead to a successful  final report.</a:t>
            </a:r>
          </a:p>
          <a:p>
            <a:r>
              <a:rPr lang="en-US" dirty="0"/>
              <a:t>Ensure the document is </a:t>
            </a:r>
            <a:r>
              <a:rPr lang="en-US" u="sng" dirty="0"/>
              <a:t>professional</a:t>
            </a:r>
            <a:r>
              <a:rPr lang="en-US" dirty="0"/>
              <a:t> as presentation quality (organization and clarity) is part of the grading criteria!.</a:t>
            </a:r>
          </a:p>
          <a:p>
            <a:pPr marL="0" indent="0">
              <a:buNone/>
            </a:pPr>
            <a:r>
              <a:rPr lang="en-US" b="1" dirty="0"/>
              <a:t>Ideas/Examples</a:t>
            </a:r>
          </a:p>
          <a:p>
            <a:r>
              <a:rPr lang="en-US" sz="2100" dirty="0"/>
              <a:t>Smart City: Digital Twin for Urban Heat Mitigation</a:t>
            </a:r>
          </a:p>
          <a:p>
            <a:pPr lvl="1"/>
            <a:r>
              <a:rPr lang="en-US" dirty="0"/>
              <a:t>Identify "heat islands" in a specific city and propose optimal locations for new green infrastructure</a:t>
            </a:r>
          </a:p>
          <a:p>
            <a:r>
              <a:rPr lang="en-US" sz="2100" dirty="0"/>
              <a:t>Demand-Driven Logistics: Optimizing "Dark Store" Locations</a:t>
            </a:r>
          </a:p>
          <a:p>
            <a:pPr lvl="1"/>
            <a:r>
              <a:rPr lang="en-US" dirty="0"/>
              <a:t>Dark stores are micro-fulfillment centers,</a:t>
            </a:r>
            <a:br>
              <a:rPr lang="en-US" dirty="0"/>
            </a:br>
            <a:r>
              <a:rPr lang="en-US" dirty="0"/>
              <a:t>minimize delivery times during peak business hours.</a:t>
            </a:r>
          </a:p>
          <a:p>
            <a:r>
              <a:rPr lang="en-US" sz="2100" dirty="0"/>
              <a:t>Disaster Response: Flood Risk for Critical Infrastructure</a:t>
            </a:r>
          </a:p>
          <a:p>
            <a:pPr lvl="1"/>
            <a:r>
              <a:rPr lang="en-US" dirty="0"/>
              <a:t>Evaluate the vulnerability of emergency </a:t>
            </a:r>
            <a:br>
              <a:rPr lang="en-US" dirty="0"/>
            </a:br>
            <a:r>
              <a:rPr lang="en-US" dirty="0"/>
              <a:t>services (hospitals, fire stations) during a 100-year flood event.</a:t>
            </a:r>
          </a:p>
          <a:p>
            <a:r>
              <a:rPr lang="en-US" sz="2100" i="1" dirty="0" err="1"/>
              <a:t>Moogle</a:t>
            </a:r>
            <a:r>
              <a:rPr lang="en-US" sz="2100" i="1" dirty="0"/>
              <a:t> Gaps </a:t>
            </a:r>
            <a:r>
              <a:rPr lang="en-US" dirty="0">
                <a:hlinkClick r:id="rId2"/>
              </a:rPr>
              <a:t>https://mooglegaps.netlify.app/</a:t>
            </a:r>
            <a:endParaRPr lang="en-US" dirty="0"/>
          </a:p>
          <a:p>
            <a:r>
              <a:rPr lang="en-US" sz="2100" i="1" dirty="0"/>
              <a:t>Radio Garden </a:t>
            </a:r>
            <a:r>
              <a:rPr lang="en-US" dirty="0">
                <a:hlinkClick r:id="rId3"/>
              </a:rPr>
              <a:t>https://radio.garden/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2AB96-D365-6614-A563-B0F41B0A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3745-D9CF-4D8F-A816-51DB5BC5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Proposal Guidelines</a:t>
            </a:r>
            <a:br>
              <a:rPr lang="en-US" dirty="0"/>
            </a:br>
            <a:r>
              <a:rPr lang="en-US" b="1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7B16-28F5-2E6C-2F3D-34EE9EB54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proposal is the first formal step in your applied spatial analysis project.</a:t>
            </a:r>
          </a:p>
          <a:p>
            <a:r>
              <a:rPr lang="en-US" dirty="0"/>
              <a:t>In groups of 2, you will design a solution to a practical engineering problem using spatial data engineering techniques.</a:t>
            </a:r>
          </a:p>
          <a:p>
            <a:r>
              <a:rPr lang="en-US" dirty="0"/>
              <a:t>The proposal "ensures" your team has a viable plan for data integration, analysis, and visualization.</a:t>
            </a:r>
          </a:p>
          <a:p>
            <a:r>
              <a:rPr lang="en-US" u="sng" dirty="0"/>
              <a:t>Concise</a:t>
            </a:r>
            <a:r>
              <a:rPr lang="en-US" dirty="0"/>
              <a:t> document (submitted on Canvas ) covering the following parts:</a:t>
            </a:r>
          </a:p>
          <a:p>
            <a:pPr lvl="1"/>
            <a:r>
              <a:rPr lang="en-US" dirty="0"/>
              <a:t>Problem Statement</a:t>
            </a:r>
          </a:p>
          <a:p>
            <a:pPr lvl="1"/>
            <a:r>
              <a:rPr lang="en-US" dirty="0"/>
              <a:t>Data Sources &amp; Integration</a:t>
            </a:r>
          </a:p>
          <a:p>
            <a:pPr lvl="1"/>
            <a:r>
              <a:rPr lang="en-US" dirty="0"/>
              <a:t>Methodology</a:t>
            </a:r>
          </a:p>
          <a:p>
            <a:pPr lvl="1"/>
            <a:r>
              <a:rPr lang="en-US" dirty="0"/>
              <a:t>Analysis Plan</a:t>
            </a:r>
          </a:p>
          <a:p>
            <a:pPr lvl="1"/>
            <a:r>
              <a:rPr lang="en-US" dirty="0"/>
              <a:t>Visualization Goals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34481-A53B-08AD-C8CF-897D0B88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20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871C0-36D9-CF3E-D5E5-9152439B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Proposal Guidelines</a:t>
            </a:r>
            <a:br>
              <a:rPr lang="en-US" dirty="0"/>
            </a:br>
            <a:r>
              <a:rPr lang="en-US" b="1" dirty="0"/>
              <a:t>Required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880-AAE9-4143-BCC8-AC41DC5C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Problem Statement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Define a practical engineering problem that can be addressed through spatial analysis.</a:t>
            </a:r>
          </a:p>
          <a:p>
            <a:r>
              <a:rPr lang="en-US" b="1" dirty="0"/>
              <a:t>Data Sources &amp; Integration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Identify the "large-scale" spatial datasets you plan to use.</a:t>
            </a:r>
          </a:p>
          <a:p>
            <a:pPr lvl="1"/>
            <a:r>
              <a:rPr lang="en-US" dirty="0"/>
              <a:t>Describe how you will perform Spatial ETL (Extract, Transform, Load), including handling coordinate reference systems (CRS).</a:t>
            </a:r>
          </a:p>
          <a:p>
            <a:r>
              <a:rPr lang="en-US" b="1" dirty="0"/>
              <a:t>Methodology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Outline the spatial and attribute operations required.</a:t>
            </a:r>
          </a:p>
          <a:p>
            <a:pPr lvl="1"/>
            <a:r>
              <a:rPr lang="en-US" dirty="0"/>
              <a:t>Explain how you will model data structures to reflect spatial relationships.</a:t>
            </a:r>
          </a:p>
          <a:p>
            <a:pPr lvl="1"/>
            <a:r>
              <a:rPr lang="en-US" dirty="0"/>
              <a:t>If applicable, describe plans for Raster-Vector interaction </a:t>
            </a:r>
            <a:br>
              <a:rPr lang="en-US" dirty="0"/>
            </a:br>
            <a:r>
              <a:rPr lang="en-US" dirty="0"/>
              <a:t>or Data Cube construction.</a:t>
            </a:r>
          </a:p>
          <a:p>
            <a:r>
              <a:rPr lang="en-US" b="1" dirty="0"/>
              <a:t>Analysis Plan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Describe the specific spatial statistics or modeling techniques (e.g., interpolation, spatial regression, or suitability analysis) you intend to use.</a:t>
            </a:r>
          </a:p>
          <a:p>
            <a:r>
              <a:rPr lang="en-US" b="1" dirty="0"/>
              <a:t>Visualization Goals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Briefly describe how you plan to communicate results </a:t>
            </a:r>
            <a:br>
              <a:rPr lang="en-US" dirty="0"/>
            </a:br>
            <a:r>
              <a:rPr lang="en-US" dirty="0"/>
              <a:t>(e.g., report with high-resolution maps or a Story Map).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A2A24-870A-F48D-F6D7-B41B505D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9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B54E-C205-801F-8077-887319E8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Proposal Guidelines</a:t>
            </a:r>
            <a:br>
              <a:rPr lang="en-US" dirty="0"/>
            </a:br>
            <a:r>
              <a:rPr lang="en-US" b="1" dirty="0"/>
              <a:t>Expectations &amp;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99B1-EAB9-861C-ED31-FE1E7AFD9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Reproducibility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Your final project must include an automated workflow </a:t>
            </a:r>
            <a:br>
              <a:rPr lang="en-US" dirty="0"/>
            </a:br>
            <a:r>
              <a:rPr lang="en-US" dirty="0"/>
              <a:t>and reproducible code.</a:t>
            </a:r>
          </a:p>
          <a:p>
            <a:pPr lvl="1"/>
            <a:r>
              <a:rPr lang="en-US" dirty="0"/>
              <a:t>Use the proposal to identify the tools (e.g., R, Python, or Docker) </a:t>
            </a:r>
            <a:br>
              <a:rPr lang="en-US" dirty="0"/>
            </a:br>
            <a:r>
              <a:rPr lang="en-US" dirty="0"/>
              <a:t>and libraries you will use to ensure this.</a:t>
            </a:r>
          </a:p>
          <a:p>
            <a:r>
              <a:rPr lang="en-US" b="1" dirty="0"/>
              <a:t>Ethics &amp; Privacy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 must briefly note any licensing </a:t>
            </a:r>
            <a:br>
              <a:rPr lang="en-US" dirty="0"/>
            </a:br>
            <a:r>
              <a:rPr lang="en-US" dirty="0"/>
              <a:t>or ethical considerations related to your chosen datasets.</a:t>
            </a:r>
          </a:p>
          <a:p>
            <a:r>
              <a:rPr lang="en-US" b="1" dirty="0"/>
              <a:t>Academic Integrity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All work must reflect your team's independent effort.</a:t>
            </a:r>
          </a:p>
          <a:p>
            <a:pPr lvl="1"/>
            <a:r>
              <a:rPr lang="en-US" dirty="0"/>
              <a:t>While AI can be used for brainstorming or clarifying your writing,</a:t>
            </a:r>
            <a:br>
              <a:rPr lang="en-US" dirty="0"/>
            </a:br>
            <a:r>
              <a:rPr lang="en-US" dirty="0"/>
              <a:t>it cannot be used to generate the substantive analysis </a:t>
            </a:r>
            <a:br>
              <a:rPr lang="en-US" dirty="0"/>
            </a:br>
            <a:r>
              <a:rPr lang="en-US" dirty="0"/>
              <a:t>or solve the broad programming tasks of the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469DE-7CD6-A128-EA74-F09B5EED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0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D3B5-46EF-E3FB-6E96-93642A7D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37149-8D5F-1ECA-4E64-81FFD520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721" y="419741"/>
            <a:ext cx="4300558" cy="5565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FD5907-B98D-7B86-D98D-E3C994037EB8}"/>
              </a:ext>
            </a:extLst>
          </p:cNvPr>
          <p:cNvSpPr txBox="1"/>
          <p:nvPr/>
        </p:nvSpPr>
        <p:spPr>
          <a:xfrm>
            <a:off x="4679508" y="4998324"/>
            <a:ext cx="4085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Project presentation (in class) 4/23</a:t>
            </a:r>
          </a:p>
          <a:p>
            <a:r>
              <a:rPr lang="en-US" sz="1400" dirty="0"/>
              <a:t>Project report due (Canvas, no class meeting) 4/30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1D742-ADCD-2E05-3E7A-A23E2CA37470}"/>
              </a:ext>
            </a:extLst>
          </p:cNvPr>
          <p:cNvSpPr txBox="1"/>
          <p:nvPr/>
        </p:nvSpPr>
        <p:spPr>
          <a:xfrm>
            <a:off x="6380885" y="1933416"/>
            <a:ext cx="208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Project proposal due 4/9</a:t>
            </a:r>
          </a:p>
        </p:txBody>
      </p:sp>
    </p:spTree>
    <p:extLst>
      <p:ext uri="{BB962C8B-B14F-4D97-AF65-F5344CB8AC3E}">
        <p14:creationId xmlns:p14="http://schemas.microsoft.com/office/powerpoint/2010/main" val="2103303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8B6A7D-7F36-FB60-1247-6282E99C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Reprojecting geographic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39623-3653-9AF3-C849-E99A174F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734C53-9EA8-0713-B9B8-049ACA9BE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111" y="1310774"/>
            <a:ext cx="2899778" cy="21182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08044D-EE2C-2E0F-D641-9F6EAA625FFA}"/>
              </a:ext>
            </a:extLst>
          </p:cNvPr>
          <p:cNvSpPr txBox="1"/>
          <p:nvPr/>
        </p:nvSpPr>
        <p:spPr>
          <a:xfrm>
            <a:off x="457200" y="5679243"/>
            <a:ext cx="816204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Refs.: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hlinkClick r:id="rId3"/>
              </a:rPr>
              <a:t>https://www.ats.amherst.edu/software/gis/mapping_coordinate_data/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>
                <a:hlinkClick r:id="rId4"/>
              </a:rPr>
              <a:t>https://colorado.pressbooks.pub/makingmaps/chapter/chapter-9-datums-coordinate-systems-and-map-projections/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588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B69D7-8BE9-9255-AC67-ED36AAA7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D6C1F-BC1B-C318-2C1A-4BD27877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350393"/>
            <a:ext cx="5943600" cy="3005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A4608B-A5AB-BB61-0C52-D5C06320A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9" y="421774"/>
            <a:ext cx="2468880" cy="2959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3EE4BB-6564-01AA-E35B-10DF44432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039289"/>
            <a:ext cx="3657600" cy="172412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B679CE-2CDD-A1B0-F4BD-6924A291595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682839" y="1901350"/>
            <a:ext cx="120336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E4E1A7-9519-AFBC-A9C1-4D0A0C46671F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5715000" y="2763411"/>
            <a:ext cx="0" cy="5869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190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2E14D4-BF19-D30E-7399-8D4156042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92" y="1424980"/>
            <a:ext cx="5417993" cy="365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84C80F-D313-1EA7-364E-A406B8127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71948" y="4415254"/>
            <a:ext cx="3491759" cy="22568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94F2E-D018-2A9F-C4F4-ACD146D9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B1725-7A36-2C6B-027F-2EEA59555176}"/>
              </a:ext>
            </a:extLst>
          </p:cNvPr>
          <p:cNvSpPr txBox="1"/>
          <p:nvPr/>
        </p:nvSpPr>
        <p:spPr>
          <a:xfrm>
            <a:off x="637492" y="5194795"/>
            <a:ext cx="34843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Switching datums is generally more complicated than simply </a:t>
            </a:r>
            <a:r>
              <a:rPr lang="en-US" dirty="0" err="1"/>
              <a:t>unprojecting</a:t>
            </a:r>
            <a:r>
              <a:rPr lang="en-US" dirty="0"/>
              <a:t> and reprojecting, so approximations are usually made that can introduce small errors.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83D3E-8CCD-000C-8715-345EFEABD5DA}"/>
              </a:ext>
            </a:extLst>
          </p:cNvPr>
          <p:cNvSpPr txBox="1"/>
          <p:nvPr/>
        </p:nvSpPr>
        <p:spPr>
          <a:xfrm>
            <a:off x="637492" y="319087"/>
            <a:ext cx="63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simultaneously display two or more sets of GIS data with different spatial references, some of them must be recast to a common spatial reference.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3D473-A171-EF7E-C1FB-1EAD50F12E05}"/>
              </a:ext>
            </a:extLst>
          </p:cNvPr>
          <p:cNvSpPr txBox="1"/>
          <p:nvPr/>
        </p:nvSpPr>
        <p:spPr>
          <a:xfrm>
            <a:off x="3801888" y="1242417"/>
            <a:ext cx="4940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each spatial reference is based on a particular datum and possibly also a projection, switching spatial references can involve a complicated mathematical process:</a:t>
            </a:r>
          </a:p>
        </p:txBody>
      </p:sp>
    </p:spTree>
    <p:extLst>
      <p:ext uri="{BB962C8B-B14F-4D97-AF65-F5344CB8AC3E}">
        <p14:creationId xmlns:p14="http://schemas.microsoft.com/office/powerpoint/2010/main" val="803992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B2B8-F982-FA25-B07B-714F1FAA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Reprojecting </a:t>
            </a:r>
            <a:r>
              <a:rPr lang="en-US" baseline="30000" dirty="0">
                <a:hlinkClick r:id="rId2"/>
              </a:rPr>
              <a:t>https://r.geocompx.org/reproj-geo-data</a:t>
            </a:r>
            <a:br>
              <a:rPr lang="en-US" dirty="0"/>
            </a:br>
            <a:r>
              <a:rPr lang="en-US" dirty="0"/>
              <a:t>Geometry Operations &amp; CRS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C57BF-DBB5-CD69-236B-B197B5836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"Orange Peel" Problem</a:t>
            </a:r>
          </a:p>
          <a:p>
            <a:pPr lvl="1"/>
            <a:r>
              <a:rPr lang="en-US" dirty="0"/>
              <a:t>Why can't we represent a 3D Earth on a 2D screen without distortion?</a:t>
            </a:r>
          </a:p>
          <a:p>
            <a:pPr lvl="1"/>
            <a:r>
              <a:rPr lang="en-US" dirty="0"/>
              <a:t>CRS Components</a:t>
            </a:r>
          </a:p>
          <a:p>
            <a:pPr lvl="2"/>
            <a:r>
              <a:rPr lang="en-US" dirty="0"/>
              <a:t>GCS (Geographic): Units in degrees (longitude/latitude)</a:t>
            </a:r>
          </a:p>
          <a:p>
            <a:pPr lvl="2"/>
            <a:r>
              <a:rPr lang="en-US" dirty="0"/>
              <a:t>PCS (Projected): Units in linear measurements (meters/feet)</a:t>
            </a:r>
          </a:p>
          <a:p>
            <a:r>
              <a:rPr lang="en-US" dirty="0"/>
              <a:t>Transformations in R</a:t>
            </a:r>
          </a:p>
          <a:p>
            <a:pPr lvl="1"/>
            <a:r>
              <a:rPr lang="en-US" dirty="0"/>
              <a:t>Using </a:t>
            </a:r>
            <a:r>
              <a:rPr lang="en-US" b="1" dirty="0" err="1"/>
              <a:t>st_crs</a:t>
            </a:r>
            <a:r>
              <a:rPr lang="en-US" b="1" dirty="0"/>
              <a:t>() </a:t>
            </a:r>
            <a:r>
              <a:rPr lang="en-US" dirty="0"/>
              <a:t>to check and </a:t>
            </a:r>
            <a:r>
              <a:rPr lang="en-US" b="1" dirty="0" err="1"/>
              <a:t>st_transform</a:t>
            </a:r>
            <a:r>
              <a:rPr lang="en-US" b="1" dirty="0"/>
              <a:t>() </a:t>
            </a:r>
            <a:r>
              <a:rPr lang="en-US" dirty="0"/>
              <a:t>to project</a:t>
            </a:r>
          </a:p>
          <a:p>
            <a:pPr lvl="1"/>
            <a:r>
              <a:rPr lang="en-US" dirty="0"/>
              <a:t>Never use </a:t>
            </a:r>
            <a:r>
              <a:rPr lang="en-US" b="1" dirty="0" err="1"/>
              <a:t>st_set_crs</a:t>
            </a:r>
            <a:r>
              <a:rPr lang="en-US" b="1" dirty="0"/>
              <a:t>() </a:t>
            </a:r>
            <a:r>
              <a:rPr lang="en-US" dirty="0"/>
              <a:t>to change a projection</a:t>
            </a:r>
            <a:br>
              <a:rPr lang="en-US" dirty="0"/>
            </a:b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use it only to define a missing one!</a:t>
            </a:r>
          </a:p>
          <a:p>
            <a:pPr lvl="1"/>
            <a:r>
              <a:rPr lang="en-US" dirty="0"/>
              <a:t>Affine Transformations</a:t>
            </a:r>
          </a:p>
          <a:p>
            <a:pPr lvl="2"/>
            <a:r>
              <a:rPr lang="en-US" dirty="0"/>
              <a:t>Shifting, scaling, and rotating geometries for non-standard data alignment (e.g., lidar/sonar).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55200-DC84-0201-98CA-C782FBC5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7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2218E-BB9A-3EDE-6E30-6DFA4475F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7" y="277915"/>
            <a:ext cx="5486400" cy="6078436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st_crs</a:t>
            </a:r>
            <a:r>
              <a:rPr lang="en-US" sz="11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("EPSG:4326")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Coordinate Reference System: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User input: EPSG:4326 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wkt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GEOGCRS["WGS 84",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ENSEMBLE["World Geodetic System 1984 ensemble",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MEMBER["World Geodetic System 1984 (Transit)"],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MEMBER["World Geodetic System 1984 (G730)"],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MEMBER["World Geodetic System 1984 (G873)"],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MEMBER["World Geodetic System 1984 (G1150)"],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MEMBER["World Geodetic System 1984 (G1674)"],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MEMBER["World Geodetic System 1984 (G1762)"],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MEMBER["World Geodetic System 1984 (G2139)"],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ELLIPSOID["WGS 84",6378137,298.257223563,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    LENGTHUNIT["metre",1]],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ENSEMBLEACCURACY[2.0]],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PRIMEM["Greenwich",0,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ANGLEUNIT["degree",0.0174532925199433]],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CS[ellipsoidal,2],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AXIS["geodetic latitude (Lat)",north,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    ORDER[1],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    ANGLEUNIT["degree",0.0174532925199433]],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AXIS["geodetic longitude (Lon)",east,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    ORDER[2],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    ANGLEUNIT["degree",0.0174532925199433]],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USAGE[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SCOPE["Horizontal component of 3D system."],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AREA["World."],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    BBOX[-90,-180,90,180]],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     ID["EPSG",4326]]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2B8B7-A701-C418-A75D-3E50B52B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0F3E5-24DE-3693-4578-25FAF82B66E4}"/>
              </a:ext>
            </a:extLst>
          </p:cNvPr>
          <p:cNvSpPr txBox="1"/>
          <p:nvPr/>
        </p:nvSpPr>
        <p:spPr>
          <a:xfrm>
            <a:off x="1828798" y="6356351"/>
            <a:ext cx="5486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WKT representation of the WGS84 CRS, which has the identifier EPSG:4326.</a:t>
            </a:r>
          </a:p>
        </p:txBody>
      </p:sp>
    </p:spTree>
    <p:extLst>
      <p:ext uri="{BB962C8B-B14F-4D97-AF65-F5344CB8AC3E}">
        <p14:creationId xmlns:p14="http://schemas.microsoft.com/office/powerpoint/2010/main" val="161097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60C5-70E3-8CB2-095E-97B6A4CD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Behavior of the geometry operations in the </a:t>
            </a:r>
            <a:r>
              <a:rPr lang="en-US" sz="2000" b="1" dirty="0"/>
              <a:t>sf</a:t>
            </a:r>
            <a:r>
              <a:rPr lang="en-US" sz="2000" dirty="0"/>
              <a:t> package</a:t>
            </a:r>
            <a:br>
              <a:rPr lang="en-US" sz="2000" dirty="0"/>
            </a:br>
            <a:r>
              <a:rPr lang="en-US" sz="2000" dirty="0"/>
              <a:t>depending on the input data's CRS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BDED3E-C49E-B87E-A8C5-47B8594ED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2552" y="1600517"/>
            <a:ext cx="5045395" cy="4572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7C1BE-3783-BD97-BB06-79C378E0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4DEF0-EE93-B2B6-15FE-D15C5061FC83}"/>
              </a:ext>
            </a:extLst>
          </p:cNvPr>
          <p:cNvSpPr txBox="1"/>
          <p:nvPr/>
        </p:nvSpPr>
        <p:spPr>
          <a:xfrm>
            <a:off x="457200" y="3883614"/>
            <a:ext cx="187109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S2 Geometry Library </a:t>
            </a:r>
          </a:p>
          <a:p>
            <a:r>
              <a:rPr lang="en-US" sz="14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https://s2geometry.io</a:t>
            </a:r>
            <a:endParaRPr lang="en-US" sz="1400" dirty="0">
              <a:solidFill>
                <a:srgbClr val="C00000"/>
              </a:solidFill>
            </a:endParaRPr>
          </a:p>
          <a:p>
            <a:endParaRPr lang="en-US" sz="1400" dirty="0">
              <a:solidFill>
                <a:srgbClr val="C00000"/>
              </a:solidFill>
            </a:endParaRPr>
          </a:p>
          <a:p>
            <a:r>
              <a:rPr lang="en-US" sz="1400" dirty="0">
                <a:solidFill>
                  <a:srgbClr val="C00000"/>
                </a:solidFill>
              </a:rPr>
              <a:t>… represents </a:t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all data on a </a:t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3D sphere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E4EDD-8329-0D06-9BC8-45CD9BDEB2AC}"/>
              </a:ext>
            </a:extLst>
          </p:cNvPr>
          <p:cNvSpPr txBox="1"/>
          <p:nvPr/>
        </p:nvSpPr>
        <p:spPr>
          <a:xfrm>
            <a:off x="7567947" y="4720682"/>
            <a:ext cx="908144" cy="73866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Core Difference: Flat vs. Round</a:t>
            </a:r>
          </a:p>
        </p:txBody>
      </p:sp>
    </p:spTree>
    <p:extLst>
      <p:ext uri="{BB962C8B-B14F-4D97-AF65-F5344CB8AC3E}">
        <p14:creationId xmlns:p14="http://schemas.microsoft.com/office/powerpoint/2010/main" val="4255693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5E2E-D2B2-531A-EA2C-8E8DE364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EDD7C-9F53-BCC3-7858-4C2E69DF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1705F12-999D-6EFC-7A88-51E4BC675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555181"/>
              </p:ext>
            </p:extLst>
          </p:nvPr>
        </p:nvGraphicFramePr>
        <p:xfrm>
          <a:off x="581891" y="1455420"/>
          <a:ext cx="7625855" cy="17602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1159">
                  <a:extLst>
                    <a:ext uri="{9D8B030D-6E8A-4147-A177-3AD203B41FA5}">
                      <a16:colId xmlns:a16="http://schemas.microsoft.com/office/drawing/2014/main" val="3810201314"/>
                    </a:ext>
                  </a:extLst>
                </a:gridCol>
                <a:gridCol w="3242348">
                  <a:extLst>
                    <a:ext uri="{9D8B030D-6E8A-4147-A177-3AD203B41FA5}">
                      <a16:colId xmlns:a16="http://schemas.microsoft.com/office/drawing/2014/main" val="4221567890"/>
                    </a:ext>
                  </a:extLst>
                </a:gridCol>
                <a:gridCol w="3242348">
                  <a:extLst>
                    <a:ext uri="{9D8B030D-6E8A-4147-A177-3AD203B41FA5}">
                      <a16:colId xmlns:a16="http://schemas.microsoft.com/office/drawing/2014/main" val="1292281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Feature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s2 (Spherical)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GEOS (Planar)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317976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Model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3D Sphere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2D Flat Plane</a:t>
                      </a:r>
                    </a:p>
                  </a:txBody>
                  <a:tcPr marL="28575" marR="28575" marT="19050" marB="19050"/>
                </a:tc>
                <a:extLst>
                  <a:ext uri="{0D108BD9-81ED-4DB2-BD59-A6C34878D82A}">
                    <a16:rowId xmlns:a16="http://schemas.microsoft.com/office/drawing/2014/main" val="86183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Best For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Geographic data (Lon/Lat)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Projected data (UTM, State Plane)</a:t>
                      </a:r>
                    </a:p>
                  </a:txBody>
                  <a:tcPr marL="0" marR="0" marT="19050" marB="19050"/>
                </a:tc>
                <a:extLst>
                  <a:ext uri="{0D108BD9-81ED-4DB2-BD59-A6C34878D82A}">
                    <a16:rowId xmlns:a16="http://schemas.microsoft.com/office/drawing/2014/main" val="1961975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Distance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Great circle (Spherical)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Straight line (Pythagorean)</a:t>
                      </a:r>
                    </a:p>
                  </a:txBody>
                  <a:tcPr marL="0" marR="0" marT="19050" marB="19050"/>
                </a:tc>
                <a:extLst>
                  <a:ext uri="{0D108BD9-81ED-4DB2-BD59-A6C34878D82A}">
                    <a16:rowId xmlns:a16="http://schemas.microsoft.com/office/drawing/2014/main" val="819317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Performance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Highly optimized for global scales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Generally very fast</a:t>
                      </a:r>
                    </a:p>
                  </a:txBody>
                  <a:tcPr marL="0" marR="0" marT="19050" marB="19050"/>
                </a:tc>
                <a:extLst>
                  <a:ext uri="{0D108BD9-81ED-4DB2-BD59-A6C34878D82A}">
                    <a16:rowId xmlns:a16="http://schemas.microsoft.com/office/drawing/2014/main" val="2236075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Edge Cases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Handles the Date Line &amp; Poles natively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Struggles with Date Line (180°)</a:t>
                      </a:r>
                    </a:p>
                  </a:txBody>
                  <a:tcPr marL="0" marR="0" marT="19050" marB="19050"/>
                </a:tc>
                <a:extLst>
                  <a:ext uri="{0D108BD9-81ED-4DB2-BD59-A6C34878D82A}">
                    <a16:rowId xmlns:a16="http://schemas.microsoft.com/office/drawing/2014/main" val="3620119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R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sf_use_s2(TRUE) </a:t>
                      </a:r>
                      <a:r>
                        <a:rPr lang="en-US" sz="1400" i="1" dirty="0">
                          <a:effectLst/>
                        </a:rPr>
                        <a:t>default since sf 1.0</a:t>
                      </a:r>
                    </a:p>
                  </a:txBody>
                  <a:tcPr marL="28575" marR="28575" marT="19050" marB="19050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sf_use_s2(FALSE)</a:t>
                      </a:r>
                    </a:p>
                  </a:txBody>
                  <a:tcPr marL="0" marR="0" marT="19050" marB="19050"/>
                </a:tc>
                <a:extLst>
                  <a:ext uri="{0D108BD9-81ED-4DB2-BD59-A6C34878D82A}">
                    <a16:rowId xmlns:a16="http://schemas.microsoft.com/office/drawing/2014/main" val="114999589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38E32EE-C693-DCC0-B139-8BE7B549B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3429000"/>
            <a:ext cx="3516607" cy="31274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A9CD50-9BE0-3ABE-B65A-3B683D17C40E}"/>
              </a:ext>
            </a:extLst>
          </p:cNvPr>
          <p:cNvSpPr txBox="1"/>
          <p:nvPr/>
        </p:nvSpPr>
        <p:spPr>
          <a:xfrm>
            <a:off x="4098498" y="3429000"/>
            <a:ext cx="3706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S2: On a globe projection the lines are skewed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9FCA4B-EE7B-C3A3-C3BD-775DB056AE79}"/>
              </a:ext>
            </a:extLst>
          </p:cNvPr>
          <p:cNvSpPr txBox="1"/>
          <p:nvPr/>
        </p:nvSpPr>
        <p:spPr>
          <a:xfrm>
            <a:off x="4098498" y="6094809"/>
            <a:ext cx="4109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https://medium.com/@claude.ducharme/selecting-a-geo-representation-81afeaf3bf01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89075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C0951-2816-962F-8476-57EA8F872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2580"/>
            <a:ext cx="8229600" cy="54899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s2 for Unprojected Data</a:t>
            </a:r>
          </a:p>
          <a:p>
            <a:pPr lvl="1"/>
            <a:r>
              <a:rPr lang="en-US" b="1" dirty="0"/>
              <a:t>sf_use_s2(TRUE) # using s2</a:t>
            </a:r>
          </a:p>
          <a:p>
            <a:pPr lvl="1"/>
            <a:r>
              <a:rPr lang="en-US" dirty="0"/>
              <a:t>If your data is in WGS84 (EPSG: 4326), keep s2 turned on.</a:t>
            </a:r>
          </a:p>
          <a:p>
            <a:pPr lvl="2"/>
            <a:r>
              <a:rPr lang="en-US" dirty="0"/>
              <a:t>It prevents the "long/</a:t>
            </a:r>
            <a:r>
              <a:rPr lang="en-US" dirty="0" err="1"/>
              <a:t>lat</a:t>
            </a:r>
            <a:r>
              <a:rPr lang="en-US" dirty="0"/>
              <a:t> is not planar" warnings and provides accurate global measurements.</a:t>
            </a:r>
          </a:p>
          <a:p>
            <a:pPr lvl="1"/>
            <a:r>
              <a:rPr lang="en-US" dirty="0"/>
              <a:t>Buffer Example: A 100km buffer at 60°N latitude will look like an ellipse on a flat map but is a perfect circle on the Earth's surface. s2 handles this correctly.</a:t>
            </a:r>
          </a:p>
          <a:p>
            <a:r>
              <a:rPr lang="en-US" dirty="0"/>
              <a:t>Use GEOS for Projected Data</a:t>
            </a:r>
          </a:p>
          <a:p>
            <a:pPr lvl="1"/>
            <a:r>
              <a:rPr lang="en-US" b="1" dirty="0"/>
              <a:t>sf_use_s2(FALSE) # using GEOS</a:t>
            </a:r>
          </a:p>
          <a:p>
            <a:pPr lvl="1"/>
            <a:r>
              <a:rPr lang="en-US" dirty="0"/>
              <a:t>If you have already transformed your data into a local projection (like a specific UTM zone), sf automatically bypasses s2 and uses GEOS.</a:t>
            </a:r>
          </a:p>
          <a:p>
            <a:pPr lvl="2"/>
            <a:r>
              <a:rPr lang="en-US" dirty="0"/>
              <a:t>GEOS is the gold standard for high-precision, small-area engineering and surveying tasks where the Earth's curvature is negligible.</a:t>
            </a:r>
          </a:p>
          <a:p>
            <a:r>
              <a:rPr lang="en-US" dirty="0"/>
              <a:t>Validity</a:t>
            </a:r>
          </a:p>
          <a:p>
            <a:pPr lvl="1"/>
            <a:r>
              <a:rPr lang="en-US" b="1" dirty="0"/>
              <a:t>GEOS</a:t>
            </a:r>
            <a:r>
              <a:rPr lang="en-US" dirty="0"/>
              <a:t> and </a:t>
            </a:r>
            <a:r>
              <a:rPr lang="en-US" b="1" dirty="0"/>
              <a:t>s2</a:t>
            </a:r>
            <a:r>
              <a:rPr lang="en-US" dirty="0"/>
              <a:t> have different definitions of a "valid" polygon.</a:t>
            </a:r>
          </a:p>
          <a:p>
            <a:pPr lvl="1"/>
            <a:r>
              <a:rPr lang="en-US" dirty="0"/>
              <a:t>A shape that passes a validity check in GEOS might fail in s2 because of how edges are interpolated on a sphere.</a:t>
            </a:r>
          </a:p>
          <a:p>
            <a:pPr lvl="1"/>
            <a:r>
              <a:rPr lang="en-US" dirty="0"/>
              <a:t>If you get errors, </a:t>
            </a:r>
            <a:r>
              <a:rPr lang="en-US" b="1" dirty="0" err="1"/>
              <a:t>st_make_valid</a:t>
            </a:r>
            <a:r>
              <a:rPr lang="en-US" b="1" dirty="0"/>
              <a:t>()</a:t>
            </a:r>
            <a:r>
              <a:rPr lang="en-US" dirty="0"/>
              <a:t> is your best friend :)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8F0F9-3264-54BB-1C39-C2338600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27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E0B96D-6187-F18D-5C4B-7B688D252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921603"/>
            <a:ext cx="7315200" cy="2844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C5908-6F53-5A43-72AF-C3199DAB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A9EE4-FF59-9B86-93DE-DCF454D2F91F}"/>
              </a:ext>
            </a:extLst>
          </p:cNvPr>
          <p:cNvSpPr txBox="1"/>
          <p:nvPr/>
        </p:nvSpPr>
        <p:spPr>
          <a:xfrm>
            <a:off x="914400" y="3766403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Buffers around London showing results created with the S2 spherical geometry engine on </a:t>
            </a:r>
            <a:r>
              <a:rPr lang="en-US" dirty="0" err="1"/>
              <a:t>lon</a:t>
            </a:r>
            <a:r>
              <a:rPr lang="en-US" dirty="0"/>
              <a:t>/</a:t>
            </a:r>
            <a:r>
              <a:rPr lang="en-US" dirty="0" err="1"/>
              <a:t>lat</a:t>
            </a:r>
            <a:r>
              <a:rPr lang="en-US" dirty="0"/>
              <a:t> data (left), projected data (middle) and </a:t>
            </a:r>
            <a:r>
              <a:rPr lang="en-US" dirty="0" err="1"/>
              <a:t>lon</a:t>
            </a:r>
            <a:r>
              <a:rPr lang="en-US" dirty="0"/>
              <a:t>/</a:t>
            </a:r>
            <a:r>
              <a:rPr lang="en-US" dirty="0" err="1"/>
              <a:t>lat</a:t>
            </a:r>
            <a:r>
              <a:rPr lang="en-US" dirty="0"/>
              <a:t> data without using spherical geometry (right).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left plot illustrates the result of buffering unprojected data with sf, which calls Google's S2 spherical geometry engine by default with max cells set to 1000 (thin line).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thick, blocky line illustrates the result of the same operation with max cells set to 100.</a:t>
            </a:r>
          </a:p>
        </p:txBody>
      </p:sp>
    </p:spTree>
    <p:extLst>
      <p:ext uri="{BB962C8B-B14F-4D97-AF65-F5344CB8AC3E}">
        <p14:creationId xmlns:p14="http://schemas.microsoft.com/office/powerpoint/2010/main" val="980497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DA12A-67BD-2BBD-B98E-7D32DCF9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11DF1-B45A-C6D1-F08C-F56DB9E7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833"/>
            <a:ext cx="4572000" cy="2815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1DFECD-B27A-9BD9-FB5F-1A0E13949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13833"/>
            <a:ext cx="4572001" cy="28151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D93649-AD20-A959-5B1D-358392D91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20" y="3664294"/>
            <a:ext cx="4572002" cy="2815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37283D-5534-1447-91AF-B4C299285AC7}"/>
              </a:ext>
            </a:extLst>
          </p:cNvPr>
          <p:cNvSpPr txBox="1"/>
          <p:nvPr/>
        </p:nvSpPr>
        <p:spPr>
          <a:xfrm>
            <a:off x="4572000" y="4687157"/>
            <a:ext cx="37545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Lambert azimuthal equal-area projection of the world centered on New York City.</a:t>
            </a:r>
          </a:p>
          <a:p>
            <a:r>
              <a:rPr lang="en-US" sz="1100" b="1" dirty="0"/>
              <a:t>world_laea2 = </a:t>
            </a:r>
            <a:r>
              <a:rPr lang="en-US" sz="1100" b="1" dirty="0" err="1"/>
              <a:t>st_transform</a:t>
            </a:r>
            <a:r>
              <a:rPr lang="en-US" sz="1100" b="1" dirty="0"/>
              <a:t>(world, </a:t>
            </a:r>
            <a:r>
              <a:rPr lang="en-US" sz="1100" b="1" dirty="0" err="1"/>
              <a:t>crs</a:t>
            </a:r>
            <a:r>
              <a:rPr lang="en-US" sz="1100" b="1" dirty="0"/>
              <a:t> = "+</a:t>
            </a:r>
            <a:r>
              <a:rPr lang="en-US" sz="1100" b="1" dirty="0" err="1"/>
              <a:t>proj</a:t>
            </a:r>
            <a:r>
              <a:rPr lang="en-US" sz="1100" b="1" dirty="0"/>
              <a:t>=</a:t>
            </a:r>
            <a:r>
              <a:rPr lang="en-US" sz="1100" b="1" dirty="0" err="1"/>
              <a:t>laea</a:t>
            </a:r>
            <a:r>
              <a:rPr lang="en-US" sz="1100" b="1" dirty="0"/>
              <a:t> +x_0=0 +y_0=0 +lon_0=-74 +lat_0=40")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DCE53B-936A-E366-ED92-A7ADFB1BFBEC}"/>
              </a:ext>
            </a:extLst>
          </p:cNvPr>
          <p:cNvSpPr txBox="1"/>
          <p:nvPr/>
        </p:nvSpPr>
        <p:spPr>
          <a:xfrm>
            <a:off x="311728" y="494569"/>
            <a:ext cx="3948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Mollweide projection of the world.</a:t>
            </a:r>
          </a:p>
          <a:p>
            <a:pPr algn="ctr"/>
            <a:r>
              <a:rPr lang="en-US" sz="1100" b="1" dirty="0" err="1"/>
              <a:t>world_mollweide</a:t>
            </a:r>
            <a:r>
              <a:rPr lang="en-US" sz="1100" b="1" dirty="0"/>
              <a:t> = </a:t>
            </a:r>
            <a:r>
              <a:rPr lang="en-US" sz="1100" b="1" dirty="0" err="1"/>
              <a:t>st_transform</a:t>
            </a:r>
            <a:r>
              <a:rPr lang="en-US" sz="1100" b="1" dirty="0"/>
              <a:t>(world, </a:t>
            </a:r>
            <a:r>
              <a:rPr lang="en-US" sz="1100" b="1" dirty="0" err="1"/>
              <a:t>crs</a:t>
            </a:r>
            <a:r>
              <a:rPr lang="en-US" sz="1100" b="1" dirty="0"/>
              <a:t> = "+</a:t>
            </a:r>
            <a:r>
              <a:rPr lang="en-US" sz="1100" b="1" dirty="0" err="1"/>
              <a:t>proj</a:t>
            </a:r>
            <a:r>
              <a:rPr lang="en-US" sz="1100" b="1" dirty="0"/>
              <a:t>=moll")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458E99-F46F-A06E-03C9-5279BDB110B7}"/>
              </a:ext>
            </a:extLst>
          </p:cNvPr>
          <p:cNvSpPr txBox="1"/>
          <p:nvPr/>
        </p:nvSpPr>
        <p:spPr>
          <a:xfrm>
            <a:off x="4655128" y="494569"/>
            <a:ext cx="39485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Winkel </a:t>
            </a:r>
            <a:r>
              <a:rPr lang="en-US" sz="1100" dirty="0" err="1"/>
              <a:t>tripel</a:t>
            </a:r>
            <a:r>
              <a:rPr lang="en-US" sz="1100" dirty="0"/>
              <a:t> projection of the world.</a:t>
            </a:r>
          </a:p>
          <a:p>
            <a:pPr algn="ctr"/>
            <a:r>
              <a:rPr lang="en-US" sz="1100" b="1" dirty="0" err="1"/>
              <a:t>world_wintri</a:t>
            </a:r>
            <a:r>
              <a:rPr lang="en-US" sz="1100" b="1" dirty="0"/>
              <a:t> = </a:t>
            </a:r>
            <a:r>
              <a:rPr lang="en-US" sz="1100" b="1" dirty="0" err="1"/>
              <a:t>st_transform</a:t>
            </a:r>
            <a:r>
              <a:rPr lang="en-US" sz="1100" b="1" dirty="0"/>
              <a:t>(world, </a:t>
            </a:r>
            <a:r>
              <a:rPr lang="en-US" sz="1100" b="1" dirty="0" err="1"/>
              <a:t>crs</a:t>
            </a:r>
            <a:r>
              <a:rPr lang="en-US" sz="1100" b="1" dirty="0"/>
              <a:t> = "+</a:t>
            </a:r>
            <a:r>
              <a:rPr lang="en-US" sz="1100" b="1" dirty="0" err="1"/>
              <a:t>proj</a:t>
            </a:r>
            <a:r>
              <a:rPr lang="en-US" sz="1100" b="1" dirty="0"/>
              <a:t>=</a:t>
            </a:r>
            <a:r>
              <a:rPr lang="en-US" sz="1100" b="1" dirty="0" err="1"/>
              <a:t>wintri</a:t>
            </a:r>
            <a:r>
              <a:rPr lang="en-US" sz="1100" b="1" dirty="0"/>
              <a:t>")</a:t>
            </a:r>
          </a:p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13946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85D4C3-305B-E2C2-9CC8-1C00374D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and setting coordinate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4F1EB-46DE-F954-86B2-6F7047B5D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517"/>
            <a:ext cx="8229600" cy="4932630"/>
          </a:xfrm>
        </p:spPr>
        <p:txBody>
          <a:bodyPr>
            <a:normAutofit/>
          </a:bodyPr>
          <a:lstStyle/>
          <a:p>
            <a:r>
              <a:rPr lang="en-US" dirty="0"/>
              <a:t>The CRS can be retrieved with the sf function </a:t>
            </a:r>
            <a:r>
              <a:rPr lang="en-US" b="1" dirty="0" err="1"/>
              <a:t>st_crs</a:t>
            </a:r>
            <a:r>
              <a:rPr lang="en-US" b="1" dirty="0"/>
              <a:t>()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 err="1"/>
              <a:t>st_crs</a:t>
            </a:r>
            <a:r>
              <a:rPr lang="en-US" b="1" dirty="0"/>
              <a:t> </a:t>
            </a:r>
            <a:r>
              <a:rPr lang="en-US" dirty="0"/>
              <a:t>function also has one helpful feature – we can retrieve some additional information about the used CRS.</a:t>
            </a:r>
          </a:p>
          <a:p>
            <a:r>
              <a:rPr lang="en-US" dirty="0"/>
              <a:t>For example, try to run:</a:t>
            </a:r>
          </a:p>
          <a:p>
            <a:pPr lvl="1"/>
            <a:r>
              <a:rPr lang="en-US" b="1" dirty="0" err="1"/>
              <a:t>st_crs</a:t>
            </a:r>
            <a:r>
              <a:rPr lang="en-US" b="1" dirty="0"/>
              <a:t>(</a:t>
            </a:r>
            <a:r>
              <a:rPr lang="en-US" b="1" dirty="0" err="1"/>
              <a:t>new_vector</a:t>
            </a:r>
            <a:r>
              <a:rPr lang="en-US" b="1" dirty="0"/>
              <a:t>)$</a:t>
            </a:r>
            <a:r>
              <a:rPr lang="en-US" b="1" dirty="0" err="1"/>
              <a:t>IsGeographic</a:t>
            </a:r>
            <a:r>
              <a:rPr lang="en-US" b="1" dirty="0"/>
              <a:t> </a:t>
            </a:r>
            <a:r>
              <a:rPr lang="en-US" dirty="0"/>
              <a:t>to check if the CRS is geographic or not</a:t>
            </a:r>
          </a:p>
          <a:p>
            <a:pPr lvl="1"/>
            <a:r>
              <a:rPr lang="en-US" b="1" dirty="0" err="1"/>
              <a:t>st_crs</a:t>
            </a:r>
            <a:r>
              <a:rPr lang="en-US" b="1" dirty="0"/>
              <a:t>(</a:t>
            </a:r>
            <a:r>
              <a:rPr lang="en-US" b="1" dirty="0" err="1"/>
              <a:t>new_vector</a:t>
            </a:r>
            <a:r>
              <a:rPr lang="en-US" b="1" dirty="0"/>
              <a:t>)$</a:t>
            </a:r>
            <a:r>
              <a:rPr lang="en-US" b="1" dirty="0" err="1"/>
              <a:t>units_gdal</a:t>
            </a:r>
            <a:r>
              <a:rPr lang="en-US" b="1" dirty="0"/>
              <a:t> </a:t>
            </a:r>
            <a:r>
              <a:rPr lang="en-US" dirty="0"/>
              <a:t>to find out the CRS units</a:t>
            </a:r>
          </a:p>
          <a:p>
            <a:pPr lvl="1"/>
            <a:r>
              <a:rPr lang="en-US" b="1" dirty="0" err="1"/>
              <a:t>st_crs</a:t>
            </a:r>
            <a:r>
              <a:rPr lang="en-US" b="1" dirty="0"/>
              <a:t>(</a:t>
            </a:r>
            <a:r>
              <a:rPr lang="en-US" b="1" dirty="0" err="1"/>
              <a:t>new_vector</a:t>
            </a:r>
            <a:r>
              <a:rPr lang="en-US" b="1" dirty="0"/>
              <a:t>)$</a:t>
            </a:r>
            <a:r>
              <a:rPr lang="en-US" b="1" dirty="0" err="1"/>
              <a:t>srid</a:t>
            </a:r>
            <a:r>
              <a:rPr lang="en-US" b="1" dirty="0"/>
              <a:t> </a:t>
            </a:r>
            <a:r>
              <a:rPr lang="en-US" dirty="0"/>
              <a:t>to extract its 'SRID' identifier (when available)</a:t>
            </a:r>
          </a:p>
          <a:p>
            <a:pPr lvl="1"/>
            <a:r>
              <a:rPr lang="en-US" b="1" dirty="0" err="1"/>
              <a:t>st_crs</a:t>
            </a:r>
            <a:r>
              <a:rPr lang="en-US" b="1" dirty="0"/>
              <a:t>(</a:t>
            </a:r>
            <a:r>
              <a:rPr lang="en-US" b="1" dirty="0" err="1"/>
              <a:t>new_vector</a:t>
            </a:r>
            <a:r>
              <a:rPr lang="en-US" b="1" dirty="0"/>
              <a:t>)$proj4string</a:t>
            </a:r>
            <a:r>
              <a:rPr lang="en-US" dirty="0"/>
              <a:t> to extract the </a:t>
            </a:r>
            <a:r>
              <a:rPr lang="en-US" dirty="0" err="1"/>
              <a:t>proj</a:t>
            </a:r>
            <a:r>
              <a:rPr lang="en-US" dirty="0"/>
              <a:t>-string representation</a:t>
            </a:r>
          </a:p>
          <a:p>
            <a:r>
              <a:rPr lang="en-US" dirty="0"/>
              <a:t>In cases when a CRS is missing or the wrong CRS is set, the </a:t>
            </a:r>
            <a:r>
              <a:rPr lang="en-US" b="1" dirty="0" err="1"/>
              <a:t>st_set_crs</a:t>
            </a:r>
            <a:r>
              <a:rPr lang="en-US" b="1" dirty="0"/>
              <a:t>()</a:t>
            </a:r>
            <a:r>
              <a:rPr lang="en-US" dirty="0"/>
              <a:t> function can be used (in this case the WKT string remains unchanged because the CRS was already set correctly when the file was read-in).</a:t>
            </a:r>
          </a:p>
          <a:p>
            <a:r>
              <a:rPr lang="en-US" dirty="0"/>
              <a:t>The same function, </a:t>
            </a:r>
            <a:r>
              <a:rPr lang="en-US" b="1" dirty="0" err="1"/>
              <a:t>crs</a:t>
            </a:r>
            <a:r>
              <a:rPr lang="en-US" b="1" dirty="0"/>
              <a:t>()</a:t>
            </a:r>
            <a:r>
              <a:rPr lang="en-US" dirty="0"/>
              <a:t>, can be also used to set a CRS for raster objects.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26CE56-09F7-D7F1-D9D6-05D87E87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5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00AD-C196-AF3D-3F6E-0AEB76F6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reproject?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16724-1D0B-2068-8582-11E843A96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516"/>
            <a:ext cx="8410075" cy="51209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real-world applications, however, </a:t>
            </a:r>
            <a:br>
              <a:rPr lang="en-US" dirty="0"/>
            </a:br>
            <a:r>
              <a:rPr lang="en-US" dirty="0"/>
              <a:t>CRSs are usually set automatically when data is read-in.</a:t>
            </a:r>
          </a:p>
          <a:p>
            <a:r>
              <a:rPr lang="en-US" dirty="0"/>
              <a:t>In many projects the main CRS-related task is to transform objects, from one CRS into another.</a:t>
            </a:r>
          </a:p>
          <a:p>
            <a:r>
              <a:rPr lang="en-US" dirty="0"/>
              <a:t>But when should data be transformed? And into which CRS?</a:t>
            </a:r>
          </a:p>
          <a:p>
            <a:pPr lvl="1"/>
            <a:r>
              <a:rPr lang="en-US" dirty="0"/>
              <a:t>There are no clear-cut answers to these questions and CRS selection always involves trade-offs. </a:t>
            </a:r>
            <a:r>
              <a:rPr lang="en-US" baseline="30000" dirty="0"/>
              <a:t>Maling, D. H. 1992. Coordinate Systems and Map Projections</a:t>
            </a:r>
          </a:p>
          <a:p>
            <a:r>
              <a:rPr lang="en-US" dirty="0"/>
              <a:t>There are some general principles that can help you decide when to transform:</a:t>
            </a:r>
          </a:p>
          <a:p>
            <a:pPr lvl="1"/>
            <a:r>
              <a:rPr lang="en-US" dirty="0"/>
              <a:t>In some cases, transformation to a geographic CRS is essential, such as when publishing data online with the leaflet package.</a:t>
            </a:r>
          </a:p>
          <a:p>
            <a:pPr lvl="1"/>
            <a:r>
              <a:rPr lang="en-US" dirty="0"/>
              <a:t>Or when two objects with different CRSs must be compared or combined.</a:t>
            </a:r>
          </a:p>
          <a:p>
            <a:r>
              <a:rPr lang="en-US" dirty="0"/>
              <a:t>Which CRS to use?</a:t>
            </a:r>
          </a:p>
          <a:p>
            <a:pPr lvl="1"/>
            <a:r>
              <a:rPr lang="en-US" dirty="0"/>
              <a:t>Tricky, and there is rarely a 'right' answer.</a:t>
            </a:r>
          </a:p>
          <a:p>
            <a:pPr lvl="2"/>
            <a:r>
              <a:rPr lang="en-US" dirty="0"/>
              <a:t>Geographic CRSs, the answer is often WGS84</a:t>
            </a:r>
          </a:p>
          <a:p>
            <a:pPr lvl="2"/>
            <a:r>
              <a:rPr lang="en-US" dirty="0"/>
              <a:t>Projected CRS, in most cases it is not something that we are free to </a:t>
            </a:r>
            <a:br>
              <a:rPr lang="en-US" dirty="0"/>
            </a:br>
            <a:r>
              <a:rPr lang="en-US" dirty="0"/>
              <a:t>decide: "often the choice of projection is made by a public mapping agency".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B017E-87D2-07E6-99CC-DA61FFD2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53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DFC5-3D3D-2FF1-F499-A30A0157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</a:t>
            </a:r>
            <a:br>
              <a:rPr lang="en-US" dirty="0"/>
            </a:br>
            <a:r>
              <a:rPr lang="en-US" dirty="0"/>
              <a:t>data I/O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9E6E8-2D0A-B808-DD16-D64E1D8A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E2F99-9E8A-C754-E111-807E94EA1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826" t="13538" r="3826" b="546"/>
          <a:stretch>
            <a:fillRect/>
          </a:stretch>
        </p:blipFill>
        <p:spPr>
          <a:xfrm>
            <a:off x="4572000" y="894524"/>
            <a:ext cx="4114800" cy="506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B499AB-254E-2A39-B902-EE1D812C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Geographic data I/O </a:t>
            </a:r>
            <a:r>
              <a:rPr lang="en-US" baseline="30000" dirty="0">
                <a:hlinkClick r:id="rId2"/>
              </a:rPr>
              <a:t>https://r.geocompx.org/read-write</a:t>
            </a:r>
            <a:br>
              <a:rPr lang="en-US" dirty="0"/>
            </a:br>
            <a:r>
              <a:rPr lang="en-US" dirty="0"/>
              <a:t>Common Spatial Data Formats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AFDC08B-3B17-2A9F-B08E-B3572D91BA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109320"/>
              </p:ext>
            </p:extLst>
          </p:nvPr>
        </p:nvGraphicFramePr>
        <p:xfrm>
          <a:off x="457201" y="1400839"/>
          <a:ext cx="8108193" cy="48051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6384">
                  <a:extLst>
                    <a:ext uri="{9D8B030D-6E8A-4147-A177-3AD203B41FA5}">
                      <a16:colId xmlns:a16="http://schemas.microsoft.com/office/drawing/2014/main" val="834953168"/>
                    </a:ext>
                  </a:extLst>
                </a:gridCol>
                <a:gridCol w="760795">
                  <a:extLst>
                    <a:ext uri="{9D8B030D-6E8A-4147-A177-3AD203B41FA5}">
                      <a16:colId xmlns:a16="http://schemas.microsoft.com/office/drawing/2014/main" val="170235306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157728029"/>
                    </a:ext>
                  </a:extLst>
                </a:gridCol>
                <a:gridCol w="1159956">
                  <a:extLst>
                    <a:ext uri="{9D8B030D-6E8A-4147-A177-3AD203B41FA5}">
                      <a16:colId xmlns:a16="http://schemas.microsoft.com/office/drawing/2014/main" val="2877508567"/>
                    </a:ext>
                  </a:extLst>
                </a:gridCol>
                <a:gridCol w="969138">
                  <a:extLst>
                    <a:ext uri="{9D8B030D-6E8A-4147-A177-3AD203B41FA5}">
                      <a16:colId xmlns:a16="http://schemas.microsoft.com/office/drawing/2014/main" val="1016784247"/>
                    </a:ext>
                  </a:extLst>
                </a:gridCol>
              </a:tblGrid>
              <a:tr h="78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Extension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Information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Type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Model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2441578038"/>
                  </a:ext>
                </a:extLst>
              </a:tr>
              <a:tr h="60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ESRI Shapefile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.shp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Popular format consisting of at least three files. No support for: files &gt; 2 GB; mixed types; names &gt; 10 chars; cols &gt; 255.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Partially open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3381022897"/>
                  </a:ext>
                </a:extLst>
              </a:tr>
              <a:tr h="608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GeoJSON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.geojson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Extends JSON by including a subset of simple feature representation; mostly used for long/</a:t>
                      </a:r>
                      <a:r>
                        <a:rPr lang="en-US" sz="1200" dirty="0" err="1">
                          <a:effectLst/>
                        </a:rPr>
                        <a:t>lat</a:t>
                      </a:r>
                      <a:r>
                        <a:rPr lang="en-US" sz="1200" dirty="0">
                          <a:effectLst/>
                        </a:rPr>
                        <a:t> coordinates; extended by </a:t>
                      </a:r>
                      <a:r>
                        <a:rPr lang="en-US" sz="1200" dirty="0" err="1">
                          <a:effectLst/>
                        </a:rPr>
                        <a:t>TopoJSON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1227621873"/>
                  </a:ext>
                </a:extLst>
              </a:tr>
              <a:tr h="490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KML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.kml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XML-based format for spatial visualization (Google Earth). Zipped KML forms the KMZ format.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2864238977"/>
                  </a:ext>
                </a:extLst>
              </a:tr>
              <a:tr h="313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GPX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.gpx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XML schema specifically created for the exchange of GPS data.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1856314701"/>
                  </a:ext>
                </a:extLst>
              </a:tr>
              <a:tr h="431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>
                          <a:effectLst/>
                        </a:rPr>
                        <a:t>FlatGeobuf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.fgb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Single file format for quick reading/writing. Includes streaming capabilities.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Vector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Open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3930836886"/>
                  </a:ext>
                </a:extLst>
              </a:tr>
              <a:tr h="37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>
                          <a:effectLst/>
                          <a:highlight>
                            <a:srgbClr val="FFFF00"/>
                          </a:highlight>
                        </a:rPr>
                        <a:t>GeoTIFF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.tif / .tiff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Popular raster format. A TIFF file containing additional spatial metadata.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Raster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1186207359"/>
                  </a:ext>
                </a:extLst>
              </a:tr>
              <a:tr h="37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Arc ASCII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.asc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Text format; first six lines are the header, followed by cell values in rows and columns.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Raster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2526332892"/>
                  </a:ext>
                </a:extLst>
              </a:tr>
              <a:tr h="431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SQLite/SpatiaLite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.sqlite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Standalone relational database; SpatiaLite is the spatial extension of SQLite.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 &amp; Raster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3808301893"/>
                  </a:ext>
                </a:extLst>
              </a:tr>
              <a:tr h="490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ESRI FileGDB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.gdb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Created by ArcGIS. Allows multiple feature classes and topology. Limited support from GDAL.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 &amp; Raster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Proprietary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635785252"/>
                  </a:ext>
                </a:extLst>
              </a:tr>
              <a:tr h="37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>
                          <a:effectLst/>
                          <a:highlight>
                            <a:srgbClr val="FFFF00"/>
                          </a:highlight>
                        </a:rPr>
                        <a:t>GeoPackage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.gpkg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Lightweight database based on SQLite; easy, platform-independent exchange.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Vector &amp; Raster*</a:t>
                      </a:r>
                      <a:endParaRPr lang="en-US" sz="120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Open</a:t>
                      </a:r>
                      <a:endParaRPr lang="en-US" sz="1200" dirty="0">
                        <a:effectLst/>
                        <a:latin typeface="Google Sans Text"/>
                      </a:endParaRPr>
                    </a:p>
                  </a:txBody>
                  <a:tcPr marL="19622" marR="19622" marT="9811" marB="9811"/>
                </a:tc>
                <a:extLst>
                  <a:ext uri="{0D108BD9-81ED-4DB2-BD59-A6C34878D82A}">
                    <a16:rowId xmlns:a16="http://schemas.microsoft.com/office/drawing/2014/main" val="326954066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4B659-0F06-3301-3084-795F32EB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72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4C7E-77D3-E7D5-B492-4D4E39FD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2B61-6195-0CE6-0AE8-541450B1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Vector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11B5D-F7D4-9052-5D89-2841D0384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51254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Shapefiles are 1990s tech</a:t>
            </a:r>
          </a:p>
          <a:p>
            <a:pPr lvl="1"/>
            <a:r>
              <a:rPr lang="en-US" dirty="0"/>
              <a:t>DBF, 8-char names, 2GB limit, multi-file, etc.</a:t>
            </a:r>
          </a:p>
          <a:p>
            <a:r>
              <a:rPr lang="en-US" dirty="0"/>
              <a:t>The Solutions</a:t>
            </a:r>
          </a:p>
          <a:p>
            <a:pPr lvl="1"/>
            <a:r>
              <a:rPr lang="en-US" b="1" dirty="0" err="1"/>
              <a:t>GeoPackage</a:t>
            </a:r>
            <a:r>
              <a:rPr lang="en-US" b="1" dirty="0"/>
              <a:t> (.</a:t>
            </a:r>
            <a:r>
              <a:rPr lang="en-US" b="1" dirty="0" err="1"/>
              <a:t>gpkg</a:t>
            </a:r>
            <a:r>
              <a:rPr lang="en-US" b="1" dirty="0"/>
              <a:t>)</a:t>
            </a:r>
          </a:p>
          <a:p>
            <a:pPr lvl="2"/>
            <a:r>
              <a:rPr lang="en-US" dirty="0"/>
              <a:t>SQLite-based, single file.</a:t>
            </a:r>
          </a:p>
          <a:p>
            <a:pPr lvl="2"/>
            <a:r>
              <a:rPr lang="en-US" dirty="0"/>
              <a:t>Supports multiple layers and non-spatial tables.</a:t>
            </a:r>
          </a:p>
          <a:p>
            <a:pPr lvl="1"/>
            <a:r>
              <a:rPr lang="en-US" b="1" dirty="0"/>
              <a:t>Web Standard (</a:t>
            </a:r>
            <a:r>
              <a:rPr lang="en-US" b="1" dirty="0" err="1"/>
              <a:t>GeoJSON</a:t>
            </a:r>
            <a:r>
              <a:rPr lang="en-US" b="1" dirty="0"/>
              <a:t>)</a:t>
            </a:r>
          </a:p>
          <a:p>
            <a:pPr lvl="2"/>
            <a:r>
              <a:rPr lang="en-US" dirty="0"/>
              <a:t>Best for web APIs</a:t>
            </a:r>
          </a:p>
          <a:p>
            <a:pPr lvl="2"/>
            <a:r>
              <a:rPr lang="en-US" dirty="0"/>
              <a:t>But slow for large datasets</a:t>
            </a:r>
            <a:br>
              <a:rPr lang="en-US" dirty="0"/>
            </a:br>
            <a:r>
              <a:rPr lang="en-US" sz="1500" dirty="0"/>
              <a:t>(larger file size than GPKG, text-based: easy to inspect, slower for big data)</a:t>
            </a:r>
          </a:p>
          <a:p>
            <a:pPr lvl="1"/>
            <a:r>
              <a:rPr lang="en-US" b="1" dirty="0"/>
              <a:t>Cloud Standard (</a:t>
            </a:r>
            <a:r>
              <a:rPr lang="en-US" b="1" dirty="0" err="1"/>
              <a:t>GeoParquet</a:t>
            </a:r>
            <a:r>
              <a:rPr lang="en-US" b="1" dirty="0"/>
              <a:t>)</a:t>
            </a:r>
          </a:p>
          <a:p>
            <a:pPr lvl="2"/>
            <a:r>
              <a:rPr lang="en-US" dirty="0"/>
              <a:t>Columnar storage for massive scale</a:t>
            </a:r>
          </a:p>
          <a:p>
            <a:pPr lvl="2"/>
            <a:r>
              <a:rPr lang="en-US" dirty="0"/>
              <a:t>Great for data engineering workflows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283C0B-4390-3D3E-DFAE-49D3EFB45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072"/>
            <a:ext cx="4057650" cy="5125404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# </a:t>
            </a:r>
            <a:r>
              <a:rPr lang="en-US" dirty="0" err="1">
                <a:solidFill>
                  <a:srgbClr val="FFC000"/>
                </a:solidFill>
              </a:rPr>
              <a:t>GeoPackage</a:t>
            </a:r>
            <a:r>
              <a:rPr lang="en-US" dirty="0">
                <a:solidFill>
                  <a:srgbClr val="FFC000"/>
                </a:solidFill>
              </a:rPr>
              <a:t> is often the best default (fast, compact, supports multiple layers)</a:t>
            </a:r>
          </a:p>
          <a:p>
            <a:r>
              <a:rPr lang="en-US" dirty="0" err="1"/>
              <a:t>st_write</a:t>
            </a:r>
            <a:r>
              <a:rPr lang="en-US" dirty="0"/>
              <a:t>(data, "</a:t>
            </a:r>
            <a:r>
              <a:rPr lang="en-US" dirty="0" err="1"/>
              <a:t>data.gpkg</a:t>
            </a:r>
            <a:r>
              <a:rPr lang="en-US" dirty="0"/>
              <a:t>", </a:t>
            </a:r>
            <a:r>
              <a:rPr lang="en-US" dirty="0" err="1"/>
              <a:t>delete_dsn</a:t>
            </a:r>
            <a:r>
              <a:rPr lang="en-US" dirty="0"/>
              <a:t> = TRUE)</a:t>
            </a:r>
          </a:p>
          <a:p>
            <a:endParaRPr lang="en-US" dirty="0"/>
          </a:p>
          <a:p>
            <a:r>
              <a:rPr lang="en-US" dirty="0">
                <a:solidFill>
                  <a:srgbClr val="FFC000"/>
                </a:solidFill>
              </a:rPr>
              <a:t># To specify layer name</a:t>
            </a:r>
          </a:p>
          <a:p>
            <a:r>
              <a:rPr lang="en-US" dirty="0" err="1"/>
              <a:t>st_write</a:t>
            </a:r>
            <a:r>
              <a:rPr lang="en-US" dirty="0"/>
              <a:t>(data, "</a:t>
            </a:r>
            <a:r>
              <a:rPr lang="en-US" dirty="0" err="1"/>
              <a:t>data.gpkg</a:t>
            </a:r>
            <a:r>
              <a:rPr lang="en-US" dirty="0"/>
              <a:t>", layer = "</a:t>
            </a:r>
            <a:r>
              <a:rPr lang="en-US" dirty="0" err="1"/>
              <a:t>my_layer</a:t>
            </a:r>
            <a:r>
              <a:rPr lang="en-US" dirty="0"/>
              <a:t>", </a:t>
            </a:r>
            <a:r>
              <a:rPr lang="en-US" dirty="0" err="1"/>
              <a:t>delete_layer</a:t>
            </a:r>
            <a:r>
              <a:rPr lang="en-US" dirty="0"/>
              <a:t> = TRUE)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# save as </a:t>
            </a:r>
            <a:r>
              <a:rPr lang="en-US" dirty="0" err="1">
                <a:solidFill>
                  <a:srgbClr val="FFFF00"/>
                </a:solidFill>
              </a:rPr>
              <a:t>GeoJSON</a:t>
            </a:r>
            <a:r>
              <a:rPr lang="en-US" dirty="0">
                <a:solidFill>
                  <a:srgbClr val="FFFF00"/>
                </a:solidFill>
              </a:rPr>
              <a:t> (.</a:t>
            </a:r>
            <a:r>
              <a:rPr lang="en-US" dirty="0" err="1">
                <a:solidFill>
                  <a:srgbClr val="FFFF00"/>
                </a:solidFill>
              </a:rPr>
              <a:t>geojson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  <a:p>
            <a:r>
              <a:rPr lang="en-US" dirty="0" err="1"/>
              <a:t>st_write</a:t>
            </a:r>
            <a:r>
              <a:rPr lang="en-US" dirty="0"/>
              <a:t>(data, "</a:t>
            </a:r>
            <a:r>
              <a:rPr lang="en-US" dirty="0" err="1"/>
              <a:t>data.geojson</a:t>
            </a:r>
            <a:r>
              <a:rPr lang="en-US" dirty="0"/>
              <a:t>", driver = "</a:t>
            </a:r>
            <a:r>
              <a:rPr lang="en-US" dirty="0" err="1"/>
              <a:t>GeoJSON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 err="1"/>
              <a:t>data_parquet</a:t>
            </a:r>
            <a:r>
              <a:rPr lang="en-US" dirty="0"/>
              <a:t> &lt;- data %&gt;%  mutate(geometry = 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st_as_binary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(geometry))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36B53-22A6-2632-4CD2-ADAEA0DF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9275-125C-04DC-C5DE-901FD40E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F09C-911D-C0D6-4343-9CBC9550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Vector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4A52-F763-B32A-548F-819357456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96072"/>
            <a:ext cx="4057650" cy="5125404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Cloud Standard (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GeoParquet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lvl="1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Columnar storage for massive scale</a:t>
            </a:r>
          </a:p>
          <a:p>
            <a:pPr lvl="1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Great for data engineering workflows</a:t>
            </a:r>
          </a:p>
          <a:p>
            <a:pPr lvl="1"/>
            <a:r>
              <a:rPr lang="en-US" sz="1600" dirty="0"/>
              <a:t>sf objects are not always fully preserved automatically</a:t>
            </a:r>
          </a:p>
          <a:p>
            <a:pPr lvl="1"/>
            <a:r>
              <a:rPr lang="en-US" sz="1600" dirty="0"/>
              <a:t>Best practice: convert geometry explicitly</a:t>
            </a:r>
          </a:p>
          <a:p>
            <a:pPr lvl="1"/>
            <a:endParaRPr lang="en-US" sz="1600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US" sz="1600" dirty="0">
                <a:solidFill>
                  <a:srgbClr val="C00000"/>
                </a:solidFill>
                <a:highlight>
                  <a:srgbClr val="FFFF00"/>
                </a:highlight>
              </a:rPr>
              <a:t>Or use the newer spatial support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https://arrow.apache.org/docs/r/</a:t>
            </a:r>
            <a:endParaRPr lang="en-US" sz="1600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br>
              <a:rPr lang="en-US" sz="1600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But still working in progress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https://medium.com/radiant-earth-insights/geoparquet-parquet-geospatial-types-a-time-of-transition-a42e391cdab2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F182FB-F9DD-C191-71BD-E63E8F095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6072"/>
            <a:ext cx="4057650" cy="5125404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library(arrow)</a:t>
            </a:r>
          </a:p>
          <a:p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write_parquet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data_parquet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, "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data.parquet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83097-74B3-D718-BB67-31C27A2B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17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D1CA-77B7-FBCD-C59C-FDE365AE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E832-0ED9-FAC7-E21B-C64364C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Out-of-Memory Processing (Rasters)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2FEB8-01BE-DC54-DAA6-8C62CFB5A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terra</a:t>
            </a:r>
            <a:r>
              <a:rPr lang="en-US" dirty="0"/>
              <a:t> advantage</a:t>
            </a:r>
          </a:p>
          <a:p>
            <a:pPr lvl="1"/>
            <a:r>
              <a:rPr lang="en-US" dirty="0"/>
              <a:t>Unlike vectors, terra rasters don't load the whole file into RAM by default.</a:t>
            </a:r>
          </a:p>
          <a:p>
            <a:pPr lvl="1"/>
            <a:r>
              <a:rPr lang="en-US" dirty="0"/>
              <a:t>Pointers: The R object is just a pointer to the file on disk.</a:t>
            </a:r>
          </a:p>
          <a:p>
            <a:pPr lvl="1"/>
            <a:r>
              <a:rPr lang="en-US" dirty="0"/>
              <a:t>Chunking: Functions like app() or predict() process data in blocks to prevent system crashes.</a:t>
            </a:r>
          </a:p>
          <a:p>
            <a:pPr lvl="1"/>
            <a:r>
              <a:rPr lang="en-US" dirty="0"/>
              <a:t>Format Matters: Use Cloud-Optimized </a:t>
            </a:r>
            <a:r>
              <a:rPr lang="en-US" dirty="0" err="1"/>
              <a:t>GeoTIFFs</a:t>
            </a:r>
            <a:r>
              <a:rPr lang="en-US" dirty="0"/>
              <a:t> (COG) to read only the pixels you need for the current 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F293B-E377-0C82-9D8B-F88DA740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0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F08CE-D979-DF97-A6D9-57E67E25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E4A5-47D9-3621-8DAE-F142FA92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9CE44-C39C-814B-D401-E3CB94948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 dirty="0"/>
              <a:t>snow = </a:t>
            </a:r>
            <a:r>
              <a:rPr lang="en-US" dirty="0" err="1"/>
              <a:t>rast</a:t>
            </a:r>
            <a:r>
              <a:rPr lang="en-US" dirty="0"/>
              <a:t>(</a:t>
            </a:r>
            <a:r>
              <a:rPr lang="en-US" dirty="0" err="1"/>
              <a:t>myurl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rey</a:t>
            </a:r>
            <a:r>
              <a:rPr lang="en-US" dirty="0"/>
              <a:t> =</a:t>
            </a:r>
            <a:br>
              <a:rPr lang="en-US" dirty="0"/>
            </a:br>
            <a:r>
              <a:rPr lang="en-US" dirty="0" err="1"/>
              <a:t>data.frame</a:t>
            </a:r>
            <a:r>
              <a:rPr lang="en-US" dirty="0"/>
              <a:t>(</a:t>
            </a:r>
            <a:r>
              <a:rPr lang="en-US" dirty="0" err="1"/>
              <a:t>lon</a:t>
            </a:r>
            <a:r>
              <a:rPr lang="en-US" dirty="0"/>
              <a:t> = -21.94,</a:t>
            </a:r>
            <a:br>
              <a:rPr lang="en-US" dirty="0"/>
            </a:br>
            <a:r>
              <a:rPr lang="en-US" dirty="0"/>
              <a:t>           </a:t>
            </a:r>
            <a:r>
              <a:rPr lang="en-US" dirty="0" err="1"/>
              <a:t>lat</a:t>
            </a:r>
            <a:r>
              <a:rPr lang="en-US" dirty="0"/>
              <a:t> = 64.15)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FF00"/>
                </a:solidFill>
              </a:rPr>
              <a:t>snow_rey</a:t>
            </a:r>
            <a:r>
              <a:rPr lang="en-US" dirty="0">
                <a:solidFill>
                  <a:srgbClr val="FFFF00"/>
                </a:solidFill>
              </a:rPr>
              <a:t> = extract(snow, </a:t>
            </a:r>
            <a:r>
              <a:rPr lang="en-US" dirty="0" err="1">
                <a:solidFill>
                  <a:srgbClr val="FFFF00"/>
                </a:solidFill>
              </a:rPr>
              <a:t>rey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6DA30-F91F-5905-4040-7C76113C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8B995F-FA0E-8659-137D-0E0A3C45282A}"/>
              </a:ext>
            </a:extLst>
          </p:cNvPr>
          <p:cNvSpPr txBox="1"/>
          <p:nvPr/>
        </p:nvSpPr>
        <p:spPr>
          <a:xfrm>
            <a:off x="1460628" y="3059668"/>
            <a:ext cx="1544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Very efficient!</a:t>
            </a:r>
          </a:p>
        </p:txBody>
      </p:sp>
    </p:spTree>
    <p:extLst>
      <p:ext uri="{BB962C8B-B14F-4D97-AF65-F5344CB8AC3E}">
        <p14:creationId xmlns:p14="http://schemas.microsoft.com/office/powerpoint/2010/main" val="2730649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95CA-B47D-0CF5-7E65-5D4A4E3D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 Backbone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D1F65-1297-411A-039F-665C63C47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516"/>
            <a:ext cx="8229600" cy="489581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Vector Formats</a:t>
            </a:r>
          </a:p>
          <a:p>
            <a:pPr lvl="1"/>
            <a:r>
              <a:rPr lang="en-US" dirty="0"/>
              <a:t>Beyond the Shapefile:</a:t>
            </a:r>
          </a:p>
          <a:p>
            <a:pPr lvl="2"/>
            <a:r>
              <a:rPr lang="en-US" dirty="0" err="1"/>
              <a:t>GeoPackage</a:t>
            </a:r>
            <a:r>
              <a:rPr lang="en-US" dirty="0"/>
              <a:t> (.</a:t>
            </a:r>
            <a:r>
              <a:rPr lang="en-US" dirty="0" err="1"/>
              <a:t>gpkg</a:t>
            </a:r>
            <a:r>
              <a:rPr lang="en-US" dirty="0"/>
              <a:t>) is the modern standard (single file, SQLite-based)</a:t>
            </a:r>
          </a:p>
          <a:p>
            <a:pPr lvl="2"/>
            <a:r>
              <a:rPr lang="en-US" dirty="0" err="1"/>
              <a:t>GeoJSON</a:t>
            </a:r>
            <a:r>
              <a:rPr lang="en-US" dirty="0"/>
              <a:t> for web applications</a:t>
            </a:r>
          </a:p>
          <a:p>
            <a:r>
              <a:rPr lang="en-US" b="1" dirty="0"/>
              <a:t>Raster Formats</a:t>
            </a:r>
          </a:p>
          <a:p>
            <a:pPr lvl="1"/>
            <a:r>
              <a:rPr lang="en-US" dirty="0" err="1"/>
              <a:t>GeoTIFF</a:t>
            </a:r>
            <a:r>
              <a:rPr lang="en-US" dirty="0"/>
              <a:t> and cloud-optimized variants (COG)</a:t>
            </a:r>
          </a:p>
          <a:p>
            <a:r>
              <a:rPr lang="en-US" b="1" dirty="0"/>
              <a:t>R Workflow</a:t>
            </a:r>
          </a:p>
          <a:p>
            <a:pPr lvl="1"/>
            <a:r>
              <a:rPr lang="en-US" dirty="0" err="1"/>
              <a:t>st_read</a:t>
            </a:r>
            <a:r>
              <a:rPr lang="en-US" dirty="0"/>
              <a:t>() and </a:t>
            </a:r>
            <a:r>
              <a:rPr lang="en-US" dirty="0" err="1"/>
              <a:t>st_write</a:t>
            </a:r>
            <a:r>
              <a:rPr lang="en-US" dirty="0"/>
              <a:t>() from the sf package</a:t>
            </a:r>
          </a:p>
          <a:p>
            <a:pPr lvl="1"/>
            <a:r>
              <a:rPr lang="en-US" dirty="0" err="1"/>
              <a:t>rast</a:t>
            </a:r>
            <a:r>
              <a:rPr lang="en-US" dirty="0"/>
              <a:t>() and </a:t>
            </a:r>
            <a:r>
              <a:rPr lang="en-US" dirty="0" err="1"/>
              <a:t>writeRaster</a:t>
            </a:r>
            <a:r>
              <a:rPr lang="en-US" dirty="0"/>
              <a:t>() from the terra package</a:t>
            </a:r>
          </a:p>
          <a:p>
            <a:pPr lvl="1"/>
            <a:r>
              <a:rPr lang="en-US" dirty="0"/>
              <a:t>Database Integration</a:t>
            </a:r>
          </a:p>
          <a:p>
            <a:pPr lvl="2"/>
            <a:r>
              <a:rPr lang="en-US" dirty="0"/>
              <a:t>Brief overview of connecting to </a:t>
            </a:r>
            <a:r>
              <a:rPr lang="en-US" dirty="0" err="1"/>
              <a:t>PostGIS</a:t>
            </a:r>
            <a:endParaRPr lang="en-US" dirty="0"/>
          </a:p>
          <a:p>
            <a:pPr lvl="2"/>
            <a:r>
              <a:rPr lang="en-US" dirty="0" err="1"/>
              <a:t>PostGIS</a:t>
            </a:r>
            <a:r>
              <a:rPr lang="en-US" dirty="0"/>
              <a:t> is an extension of PostgreSQL that turns it into a full spatial database</a:t>
            </a:r>
          </a:p>
          <a:p>
            <a:pPr lvl="2"/>
            <a:r>
              <a:rPr lang="en-US" dirty="0"/>
              <a:t>References:</a:t>
            </a:r>
          </a:p>
          <a:p>
            <a:pPr lvl="3"/>
            <a:r>
              <a:rPr lang="en-US" dirty="0">
                <a:hlinkClick r:id="rId2"/>
              </a:rPr>
              <a:t>https://journal.r-project.org/articles/RJ-2018-025/</a:t>
            </a:r>
            <a:endParaRPr lang="en-US" dirty="0"/>
          </a:p>
          <a:p>
            <a:pPr lvl="3"/>
            <a:r>
              <a:rPr lang="en-US" dirty="0">
                <a:hlinkClick r:id="rId3"/>
              </a:rPr>
              <a:t>https://postgis.net/documentation/getting_started/</a:t>
            </a:r>
            <a:endParaRPr lang="en-US" dirty="0"/>
          </a:p>
          <a:p>
            <a:pPr lvl="3"/>
            <a:r>
              <a:rPr lang="en-US" dirty="0">
                <a:hlinkClick r:id="rId4"/>
              </a:rPr>
              <a:t>https://youtu.be/FKzw9HJ6XYA?si=U7agrt_By-Fz7DTK</a:t>
            </a:r>
            <a:endParaRPr lang="en-US" dirty="0"/>
          </a:p>
          <a:p>
            <a:pPr lvl="3"/>
            <a:r>
              <a:rPr lang="en-US" dirty="0">
                <a:hlinkClick r:id="rId5"/>
              </a:rPr>
              <a:t>https://youtu.be/9pOCVjR7iaA?si=9kP-U9uWaqbbXLq0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35474-68B0-DB15-ABA5-2E30E4A0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53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D787-783A-87DD-3AD3-93A6FC20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data packages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16E16FF-0086-9617-AA2B-D41D39F17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421769"/>
              </p:ext>
            </p:extLst>
          </p:nvPr>
        </p:nvGraphicFramePr>
        <p:xfrm>
          <a:off x="583913" y="1651681"/>
          <a:ext cx="7976172" cy="26685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09612">
                  <a:extLst>
                    <a:ext uri="{9D8B030D-6E8A-4147-A177-3AD203B41FA5}">
                      <a16:colId xmlns:a16="http://schemas.microsoft.com/office/drawing/2014/main" val="405242524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379394508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Package</a:t>
                      </a:r>
                    </a:p>
                  </a:txBody>
                  <a:tcPr marL="50800" marR="50800" marT="25400" marB="2540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Description</a:t>
                      </a:r>
                    </a:p>
                  </a:txBody>
                  <a:tcPr marL="50800" marR="50800" marT="25400" marB="25400" anchor="b"/>
                </a:tc>
                <a:extLst>
                  <a:ext uri="{0D108BD9-81ED-4DB2-BD59-A6C34878D82A}">
                    <a16:rowId xmlns:a16="http://schemas.microsoft.com/office/drawing/2014/main" val="3548930876"/>
                  </a:ext>
                </a:extLst>
              </a:tr>
              <a:tr h="4813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climateR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Access over 100,000 gridded climate and landscape datasets from over 2,000 data providers by area of interest.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2983969942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  <a:highlight>
                            <a:srgbClr val="FFFF00"/>
                          </a:highlight>
                        </a:rPr>
                        <a:t>elevatr</a:t>
                      </a:r>
                      <a:endParaRPr lang="en-US" sz="1400" b="1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Access point and raster elevation data from various sources.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2098838018"/>
                  </a:ext>
                </a:extLst>
              </a:tr>
              <a:tr h="2817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  <a:highlight>
                            <a:srgbClr val="FFFF00"/>
                          </a:highlight>
                        </a:rPr>
                        <a:t>FedData</a:t>
                      </a:r>
                      <a:endParaRPr lang="en-US" sz="1400" b="1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Datasets maintained by the US federal government, including elevation and land cover.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814757067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>
                          <a:effectLst/>
                        </a:rPr>
                        <a:t>geodata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Download and import imports administrative, elevation, WorldClim data.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857844637"/>
                  </a:ext>
                </a:extLst>
              </a:tr>
              <a:tr h="2632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osmdata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Download and import small OpenStreetMap datasets.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370530059"/>
                  </a:ext>
                </a:extLst>
              </a:tr>
              <a:tr h="16495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osmextract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Download and import large OpenStreetMap datasets.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2900222799"/>
                  </a:ext>
                </a:extLst>
              </a:tr>
              <a:tr h="21151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rnaturalearth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</a:rPr>
                        <a:t>Access Natural Earth vector and raster data.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2488859699"/>
                  </a:ext>
                </a:extLst>
              </a:tr>
              <a:tr h="2715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rnoaa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Import National Oceanic and Atmospheric Administration (NOAA) climate data.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54610436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74A42-2693-C2C5-DCD0-BE1341E0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152F3-40F4-27BF-6A6C-651696CB5DA4}"/>
              </a:ext>
            </a:extLst>
          </p:cNvPr>
          <p:cNvSpPr txBox="1"/>
          <p:nvPr/>
        </p:nvSpPr>
        <p:spPr>
          <a:xfrm>
            <a:off x="2007804" y="4461997"/>
            <a:ext cx="5128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Selected R packages for geographic data retrieval.</a:t>
            </a:r>
          </a:p>
        </p:txBody>
      </p:sp>
    </p:spTree>
    <p:extLst>
      <p:ext uri="{BB962C8B-B14F-4D97-AF65-F5344CB8AC3E}">
        <p14:creationId xmlns:p14="http://schemas.microsoft.com/office/powerpoint/2010/main" val="2778369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9126-E505-FC5F-0BF5-1F04C2CF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1612-F33A-3F0F-AD89-88BC66A5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Geographic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4CC15-55A0-CA58-6B11-8944F8B1D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Geographic metadata are a cornerstone of geographic information management, used to describe datasets, data structures and services.</a:t>
            </a:r>
          </a:p>
          <a:p>
            <a:r>
              <a:rPr lang="en-US" dirty="0"/>
              <a:t>They help make datasets FAIR (Findable, Accessible, Interoperable, Reusable) and are defined by the ISO/OGC standards, in particular the ISO 19115 standard and underlying schemas.</a:t>
            </a:r>
          </a:p>
          <a:p>
            <a:r>
              <a:rPr lang="en-US" dirty="0"/>
              <a:t>These standards are widely used within spatial data infrastructures, handled through metadata catalogs.</a:t>
            </a:r>
          </a:p>
          <a:p>
            <a:r>
              <a:rPr lang="en-US" dirty="0"/>
              <a:t>Geographic metadata can be managed with </a:t>
            </a:r>
            <a:r>
              <a:rPr lang="en-US" b="1" dirty="0" err="1"/>
              <a:t>geometa</a:t>
            </a:r>
            <a:r>
              <a:rPr lang="en-US" dirty="0"/>
              <a:t>, a package that allows writing, reading and validating geographic metadata according to the ISO/OGC standards.</a:t>
            </a:r>
          </a:p>
          <a:p>
            <a:pPr lvl="1"/>
            <a:r>
              <a:rPr lang="en-US" dirty="0"/>
              <a:t>It already supports various international standards for geographic metadata information, such as the ISO 19110 (feature catalogue), legacy ISO 19115-1 and 19115-2 (geographic metadata for vector and gridded/imagery datasets), ISO 19115-3, ISO 19119 (geographic metadata for service), and ISO 19136 (Geographic Markup Language) providing methods to read, validate and write geographic metadata from R using the ISO/TS 19139 (XML) and ISO 19115-3 technical specifications.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1F72E-07CF-7243-6727-D9A03C88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23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B9551-9917-DB99-5F1D-08BC4880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543827"/>
            <a:ext cx="5943600" cy="4240760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library(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geometa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create a metadata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md = 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ISOMetadata$new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#... fill the metadata 'md' object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validate metadata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md$validate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XML representation of the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ISOMetadata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 = 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md$encode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save metadata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md$save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my_metadata.xml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read a metadata from an XML file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md = readISO19139("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my_metadata.xml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073D1-8C75-CA7E-3CA1-6447BEB0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890D9-FB60-8141-B7A4-3701DAEA158F}"/>
              </a:ext>
            </a:extLst>
          </p:cNvPr>
          <p:cNvSpPr txBox="1"/>
          <p:nvPr/>
        </p:nvSpPr>
        <p:spPr>
          <a:xfrm>
            <a:off x="1600200" y="4879023"/>
            <a:ext cx="5943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package comes with more examples (</a:t>
            </a:r>
            <a:r>
              <a:rPr lang="en-US" dirty="0">
                <a:hlinkClick r:id="rId2"/>
              </a:rPr>
              <a:t>https://github.com/eblondel/geometa/tree/master/inst/extdata/examples</a:t>
            </a:r>
            <a:r>
              <a:rPr lang="en-US" dirty="0"/>
              <a:t>) and has been extended by packages such as </a:t>
            </a:r>
            <a:r>
              <a:rPr lang="en-US" b="1" dirty="0" err="1"/>
              <a:t>geoflow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https://github.com/r-geoflow/geoflow</a:t>
            </a:r>
            <a:r>
              <a:rPr lang="en-US" dirty="0"/>
              <a:t>) to ease and automate the management of metadata.</a:t>
            </a:r>
          </a:p>
        </p:txBody>
      </p:sp>
    </p:spTree>
    <p:extLst>
      <p:ext uri="{BB962C8B-B14F-4D97-AF65-F5344CB8AC3E}">
        <p14:creationId xmlns:p14="http://schemas.microsoft.com/office/powerpoint/2010/main" val="825859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C2D2-84BC-A626-4409-546CEFFD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B45B-C0D8-B95E-D023-E09E0358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0A7F7-DD99-3243-2A4E-A2AF65BEE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Effort to standardize web APIs for accessing spatial data</a:t>
            </a:r>
          </a:p>
          <a:p>
            <a:pPr lvl="1"/>
            <a:r>
              <a:rPr lang="en-US" dirty="0"/>
              <a:t>ISO/OGC Spatial Schema (ISO 19107:2019)</a:t>
            </a:r>
            <a:br>
              <a:rPr lang="en-US" dirty="0"/>
            </a:br>
            <a:r>
              <a:rPr lang="en-US" dirty="0">
                <a:hlinkClick r:id="rId2"/>
              </a:rPr>
              <a:t>https://www.iso.org/standard/66175.html</a:t>
            </a:r>
            <a:endParaRPr lang="en-US" dirty="0"/>
          </a:p>
          <a:p>
            <a:pPr lvl="1"/>
            <a:r>
              <a:rPr lang="en-US" dirty="0"/>
              <a:t>Simple Features (ISO 19125-1:2004)</a:t>
            </a:r>
            <a:br>
              <a:rPr lang="en-US" dirty="0"/>
            </a:br>
            <a:r>
              <a:rPr lang="en-US" dirty="0">
                <a:hlinkClick r:id="rId3"/>
              </a:rPr>
              <a:t>https://www.iso.org/standard/40114.html</a:t>
            </a:r>
            <a:endParaRPr lang="en-US" dirty="0"/>
          </a:p>
          <a:p>
            <a:pPr lvl="1"/>
            <a:r>
              <a:rPr lang="en-US" dirty="0"/>
              <a:t>Format data (Geographic Markup Language GML)</a:t>
            </a:r>
            <a:br>
              <a:rPr lang="en-US" dirty="0"/>
            </a:br>
            <a:r>
              <a:rPr lang="en-US" dirty="0">
                <a:hlinkClick r:id="rId4"/>
              </a:rPr>
              <a:t>https://www.iso.org/standard/75676.html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3B414-4E01-2492-BE0C-6826A7F6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4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F475-54CE-4E76-FEC8-A348A1AD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input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05E68-CC13-82E1-F810-B2DC3F93A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Vector data</a:t>
            </a:r>
          </a:p>
          <a:p>
            <a:r>
              <a:rPr lang="en-US" dirty="0"/>
              <a:t>Spatial vector data comes in a wide variety of file formats.</a:t>
            </a:r>
          </a:p>
          <a:p>
            <a:r>
              <a:rPr lang="en-US" dirty="0"/>
              <a:t>Most popular representations such as </a:t>
            </a:r>
            <a:r>
              <a:rPr lang="en-US" b="1" dirty="0"/>
              <a:t>.</a:t>
            </a:r>
            <a:r>
              <a:rPr lang="en-US" b="1" dirty="0" err="1"/>
              <a:t>geojson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.</a:t>
            </a:r>
            <a:r>
              <a:rPr lang="en-US" b="1" dirty="0" err="1"/>
              <a:t>gpkg</a:t>
            </a:r>
            <a:r>
              <a:rPr lang="en-US" b="1" dirty="0"/>
              <a:t> </a:t>
            </a:r>
            <a:r>
              <a:rPr lang="en-US" dirty="0"/>
              <a:t>files can be imported directly into R with the sf function </a:t>
            </a:r>
            <a:r>
              <a:rPr lang="en-US" b="1" dirty="0" err="1"/>
              <a:t>read_sf</a:t>
            </a:r>
            <a:r>
              <a:rPr lang="en-US" b="1" dirty="0"/>
              <a:t>() </a:t>
            </a:r>
            <a:r>
              <a:rPr lang="en-US" dirty="0"/>
              <a:t>(or the equivalent </a:t>
            </a:r>
            <a:r>
              <a:rPr lang="en-US" b="1" dirty="0" err="1"/>
              <a:t>st_read</a:t>
            </a:r>
            <a:r>
              <a:rPr lang="en-US" b="1" dirty="0"/>
              <a:t>()</a:t>
            </a:r>
            <a:r>
              <a:rPr lang="en-US" dirty="0"/>
              <a:t>), which uses GDAL's vector drivers behind the scenes.</a:t>
            </a:r>
          </a:p>
          <a:p>
            <a:r>
              <a:rPr lang="en-US" dirty="0"/>
              <a:t>The </a:t>
            </a:r>
            <a:r>
              <a:rPr lang="en-US" b="1" dirty="0" err="1"/>
              <a:t>st_drivers</a:t>
            </a:r>
            <a:r>
              <a:rPr lang="en-US" b="1" dirty="0"/>
              <a:t>() </a:t>
            </a:r>
            <a:r>
              <a:rPr lang="en-US" dirty="0"/>
              <a:t>function returns a data frame containing name and </a:t>
            </a:r>
            <a:r>
              <a:rPr lang="en-US" dirty="0" err="1"/>
              <a:t>long_name</a:t>
            </a:r>
            <a:r>
              <a:rPr lang="en-US" dirty="0"/>
              <a:t> in the first two columns, and features of each driver available to GDAL (and therefore sf).</a:t>
            </a:r>
          </a:p>
          <a:p>
            <a:pPr marL="0" indent="0">
              <a:buNone/>
            </a:pPr>
            <a:r>
              <a:rPr lang="en-US" dirty="0"/>
              <a:t>Raster data</a:t>
            </a:r>
          </a:p>
          <a:p>
            <a:r>
              <a:rPr lang="en-US" dirty="0"/>
              <a:t>Similar to vector data, raster data comes in many file formats with some supporting multi-layer files. terra's </a:t>
            </a:r>
            <a:r>
              <a:rPr lang="en-US" b="1" dirty="0" err="1"/>
              <a:t>rast</a:t>
            </a:r>
            <a:r>
              <a:rPr lang="en-US" b="1" dirty="0"/>
              <a:t>() </a:t>
            </a:r>
            <a:r>
              <a:rPr lang="en-US" dirty="0"/>
              <a:t>command reads in a single layer when a file with just one layer is provided.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138D8-46FA-F921-1A26-AD446D28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96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CF9D-6E54-C9EA-6411-AA479F8D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7DE5C7-E2B8-2BCD-51F0-0E82BF695D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416684"/>
            <a:ext cx="4057650" cy="249846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FABCC-0EC2-BA80-46AA-A4D4BA3EB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 dirty="0" err="1"/>
              <a:t>tanzania</a:t>
            </a:r>
            <a:r>
              <a:rPr lang="en-US" dirty="0"/>
              <a:t> = </a:t>
            </a:r>
            <a:r>
              <a:rPr lang="en-US" dirty="0" err="1">
                <a:solidFill>
                  <a:srgbClr val="FFFF00"/>
                </a:solidFill>
              </a:rPr>
              <a:t>read_sf</a:t>
            </a:r>
            <a:r>
              <a:rPr lang="en-US" dirty="0">
                <a:solidFill>
                  <a:srgbClr val="FFFF00"/>
                </a:solidFill>
              </a:rPr>
              <a:t>(f, query = 'SELECT * FROM world WHERE </a:t>
            </a:r>
            <a:r>
              <a:rPr lang="en-US" dirty="0" err="1">
                <a:solidFill>
                  <a:srgbClr val="FFFF00"/>
                </a:solidFill>
              </a:rPr>
              <a:t>name_long</a:t>
            </a:r>
            <a:r>
              <a:rPr lang="en-US" dirty="0">
                <a:solidFill>
                  <a:srgbClr val="FFFF00"/>
                </a:solidFill>
              </a:rPr>
              <a:t> = "Tanzania"')</a:t>
            </a:r>
          </a:p>
          <a:p>
            <a:endParaRPr lang="en-US" dirty="0"/>
          </a:p>
          <a:p>
            <a:r>
              <a:rPr lang="en-US" dirty="0" err="1"/>
              <a:t>tanzania_buf</a:t>
            </a:r>
            <a:r>
              <a:rPr lang="en-US" dirty="0"/>
              <a:t> = </a:t>
            </a:r>
            <a:r>
              <a:rPr lang="en-US" dirty="0" err="1"/>
              <a:t>st_buffer</a:t>
            </a:r>
            <a:r>
              <a:rPr lang="en-US" dirty="0"/>
              <a:t>(</a:t>
            </a:r>
            <a:r>
              <a:rPr lang="en-US" dirty="0" err="1"/>
              <a:t>tanzania</a:t>
            </a:r>
            <a:r>
              <a:rPr lang="en-US" dirty="0"/>
              <a:t>, 50000)</a:t>
            </a:r>
          </a:p>
          <a:p>
            <a:r>
              <a:rPr lang="en-US" dirty="0" err="1"/>
              <a:t>tanzania_buf_geom</a:t>
            </a:r>
            <a:r>
              <a:rPr lang="en-US" dirty="0"/>
              <a:t> = </a:t>
            </a:r>
            <a:r>
              <a:rPr lang="en-US" dirty="0" err="1"/>
              <a:t>st_geometry</a:t>
            </a:r>
            <a:r>
              <a:rPr lang="en-US" dirty="0"/>
              <a:t>(</a:t>
            </a:r>
            <a:r>
              <a:rPr lang="en-US" dirty="0" err="1"/>
              <a:t>tanzania_buf</a:t>
            </a:r>
            <a:r>
              <a:rPr lang="en-US" dirty="0"/>
              <a:t>)</a:t>
            </a:r>
          </a:p>
          <a:p>
            <a:r>
              <a:rPr lang="en-US" dirty="0" err="1"/>
              <a:t>tanzania_buf_wkt</a:t>
            </a:r>
            <a:r>
              <a:rPr lang="en-US" dirty="0"/>
              <a:t> = </a:t>
            </a:r>
            <a:r>
              <a:rPr lang="en-US" dirty="0" err="1"/>
              <a:t>st_as_text</a:t>
            </a:r>
            <a:r>
              <a:rPr lang="en-US" dirty="0"/>
              <a:t>(</a:t>
            </a:r>
            <a:r>
              <a:rPr lang="en-US" dirty="0" err="1"/>
              <a:t>tanzania_buf_geom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82A6B-7CCE-44B4-B578-6AA4997C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E53D0-CD8B-377E-743A-9A408520D135}"/>
              </a:ext>
            </a:extLst>
          </p:cNvPr>
          <p:cNvSpPr txBox="1"/>
          <p:nvPr/>
        </p:nvSpPr>
        <p:spPr>
          <a:xfrm>
            <a:off x="457200" y="3886517"/>
            <a:ext cx="405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Reading a subset of the vector data using (A) a query and (B) a </a:t>
            </a:r>
            <a:r>
              <a:rPr lang="en-US" dirty="0" err="1"/>
              <a:t>wkt</a:t>
            </a:r>
            <a:r>
              <a:rPr lang="en-US" dirty="0"/>
              <a:t> filter.</a:t>
            </a:r>
          </a:p>
        </p:txBody>
      </p:sp>
    </p:spTree>
    <p:extLst>
      <p:ext uri="{BB962C8B-B14F-4D97-AF65-F5344CB8AC3E}">
        <p14:creationId xmlns:p14="http://schemas.microsoft.com/office/powerpoint/2010/main" val="251800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B543-E20F-B335-B2DE-FF5567CBB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Data output (O)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D307B-938F-69AC-1CCD-B20F54E87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06116"/>
            <a:ext cx="8229600" cy="582328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Vector data</a:t>
            </a:r>
          </a:p>
          <a:p>
            <a:pPr>
              <a:lnSpc>
                <a:spcPct val="100000"/>
              </a:lnSpc>
            </a:pPr>
            <a:r>
              <a:rPr lang="en-US" dirty="0"/>
              <a:t>The counterpart of </a:t>
            </a:r>
            <a:r>
              <a:rPr lang="en-US" dirty="0" err="1"/>
              <a:t>read_sf</a:t>
            </a:r>
            <a:r>
              <a:rPr lang="en-US" dirty="0"/>
              <a:t>() is </a:t>
            </a:r>
            <a:r>
              <a:rPr lang="en-US" dirty="0" err="1"/>
              <a:t>write_sf</a:t>
            </a:r>
            <a:r>
              <a:rPr lang="en-US" dirty="0"/>
              <a:t>()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 err="1"/>
              <a:t>write_sf</a:t>
            </a:r>
            <a:r>
              <a:rPr lang="en-US" sz="1600" b="1" dirty="0"/>
              <a:t>(obj = world, </a:t>
            </a:r>
            <a:r>
              <a:rPr lang="en-US" sz="1600" b="1" dirty="0" err="1"/>
              <a:t>dsn</a:t>
            </a:r>
            <a:r>
              <a:rPr lang="en-US" sz="1600" b="1" dirty="0"/>
              <a:t> = "</a:t>
            </a:r>
            <a:r>
              <a:rPr lang="en-US" sz="1600" b="1" dirty="0" err="1"/>
              <a:t>world.gpkg</a:t>
            </a:r>
            <a:r>
              <a:rPr lang="en-US" sz="1600" b="1" dirty="0"/>
              <a:t>")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Notes: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Instead of overwriting the file, can add a new layer to the file by specifying the layer argument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 err="1"/>
              <a:t>write_sf</a:t>
            </a:r>
            <a:r>
              <a:rPr lang="en-US" sz="1600" b="1" dirty="0"/>
              <a:t>(obj = world, </a:t>
            </a:r>
            <a:r>
              <a:rPr lang="en-US" sz="1600" b="1" dirty="0" err="1"/>
              <a:t>dsn</a:t>
            </a:r>
            <a:r>
              <a:rPr lang="en-US" sz="1600" b="1" dirty="0"/>
              <a:t> = "</a:t>
            </a:r>
            <a:r>
              <a:rPr lang="en-US" sz="1600" b="1" dirty="0" err="1"/>
              <a:t>world_many_layers.gpkg</a:t>
            </a:r>
            <a:r>
              <a:rPr lang="en-US" sz="1600" b="1" dirty="0"/>
              <a:t>", layer = "</a:t>
            </a:r>
            <a:r>
              <a:rPr lang="en-US" sz="1600" b="1" dirty="0" err="1"/>
              <a:t>second_layer</a:t>
            </a:r>
            <a:r>
              <a:rPr lang="en-US" sz="1600" b="1" dirty="0"/>
              <a:t>")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600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/>
              <a:t>Use AS_XY for simple point datasets (it creates two new columns for coordinates) or AS_WKT for more complex spatial data: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 err="1"/>
              <a:t>layer_options</a:t>
            </a:r>
            <a:r>
              <a:rPr lang="en-US" sz="1600" b="1" dirty="0"/>
              <a:t> = "GEOMETRY=AS_XY" 	</a:t>
            </a:r>
            <a:r>
              <a:rPr lang="en-US" sz="1600" dirty="0"/>
              <a:t>or	 </a:t>
            </a:r>
            <a:r>
              <a:rPr lang="en-US" sz="1600" b="1" dirty="0" err="1"/>
              <a:t>layer_options</a:t>
            </a:r>
            <a:r>
              <a:rPr lang="en-US" sz="1600" b="1" dirty="0"/>
              <a:t> = "GEOMETRY=AS_WKT"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Raster data</a:t>
            </a:r>
          </a:p>
          <a:p>
            <a:pPr>
              <a:lnSpc>
                <a:spcPct val="100000"/>
              </a:lnSpc>
            </a:pPr>
            <a:r>
              <a:rPr lang="en-US" dirty="0"/>
              <a:t>The terra package offers seven data types when saving a raster: INT1U, INT2S, INT2U, INT4S, INT4U, FLT4S, and FLT8S,44 which determine the bit representation of the raster object written to disk. (see </a:t>
            </a:r>
            <a:r>
              <a:rPr lang="en-US" dirty="0">
                <a:hlinkClick r:id="rId2"/>
              </a:rPr>
              <a:t>table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Which data type to use depends on the range of the values of your raster object.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more values a data type can represent, the larger the file will get on disk.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Unsigned integers (INT1U, INT2U, INT4U) are suitable for categorical data, while float numbers (FLT4S and FLT8S) usually represent continuous 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	</a:t>
            </a:r>
            <a:r>
              <a:rPr lang="en-US" b="1" dirty="0" err="1"/>
              <a:t>writeRaster</a:t>
            </a:r>
            <a:r>
              <a:rPr lang="en-US" b="1" dirty="0"/>
              <a:t>(</a:t>
            </a:r>
            <a:r>
              <a:rPr lang="en-US" b="1" dirty="0" err="1"/>
              <a:t>single_layer</a:t>
            </a:r>
            <a:r>
              <a:rPr lang="en-US" b="1" dirty="0"/>
              <a:t>, filename = "</a:t>
            </a:r>
            <a:r>
              <a:rPr lang="en-US" b="1" dirty="0" err="1"/>
              <a:t>my_raster.tif</a:t>
            </a:r>
            <a:r>
              <a:rPr lang="en-US" b="1" dirty="0"/>
              <a:t>", datatype = "INT2U")</a:t>
            </a:r>
          </a:p>
          <a:p>
            <a:pPr>
              <a:lnSpc>
                <a:spcPct val="100000"/>
              </a:lnSpc>
            </a:pPr>
            <a:r>
              <a:rPr lang="en-US" dirty="0"/>
              <a:t>To change or disable the compression, modify the argument: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	</a:t>
            </a:r>
            <a:r>
              <a:rPr lang="en-US" b="1" dirty="0" err="1"/>
              <a:t>writeRaster</a:t>
            </a:r>
            <a:r>
              <a:rPr lang="en-US" b="1" dirty="0"/>
              <a:t>(x = </a:t>
            </a:r>
            <a:r>
              <a:rPr lang="en-US" b="1" dirty="0" err="1"/>
              <a:t>single_layer</a:t>
            </a:r>
            <a:r>
              <a:rPr lang="en-US" b="1" dirty="0"/>
              <a:t>, filename = "</a:t>
            </a:r>
            <a:r>
              <a:rPr lang="en-US" b="1" dirty="0" err="1"/>
              <a:t>my_raster.tif</a:t>
            </a:r>
            <a:r>
              <a:rPr lang="en-US" b="1" dirty="0"/>
              <a:t>",</a:t>
            </a:r>
            <a:br>
              <a:rPr lang="en-US" b="1" dirty="0"/>
            </a:br>
            <a:r>
              <a:rPr lang="en-US" b="1" dirty="0"/>
              <a:t>			</a:t>
            </a:r>
            <a:r>
              <a:rPr lang="en-US" b="1" dirty="0" err="1"/>
              <a:t>gdal</a:t>
            </a:r>
            <a:r>
              <a:rPr lang="en-US" b="1" dirty="0"/>
              <a:t> = c("COMPRESS=NONE"), overwrite = TRUE)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69B1-AD40-48D1-7F7A-016A5E7D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86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78A9-DF75-760E-5946-D5CB9BB0C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69DB-0DB5-ECA1-24D0-4233342F2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supports many different static and interactive graphics. </a:t>
            </a:r>
          </a:p>
          <a:p>
            <a:r>
              <a:rPr lang="en-US" dirty="0"/>
              <a:t>Next class we will cover map-making in detail.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8ED0-60BE-81B0-39D1-0C0EE44F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3C75-1924-D247-85A3-0CB62E67E5D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16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AD8946F-0F31-3B4A-8CB9-5FA22C3CE7DB}" vid="{C0D572B3-B117-984B-94A9-96E09E0151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</TotalTime>
  <Words>3771</Words>
  <Application>Microsoft Macintosh PowerPoint</Application>
  <PresentationFormat>On-screen Show (4:3)</PresentationFormat>
  <Paragraphs>411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Consolas</vt:lpstr>
      <vt:lpstr>Google Sans Text</vt:lpstr>
      <vt:lpstr>Wingdings</vt:lpstr>
      <vt:lpstr>Office Theme</vt:lpstr>
      <vt:lpstr>Reprojecting &amp; I/O</vt:lpstr>
      <vt:lpstr>Project Proposal Guidelines</vt:lpstr>
      <vt:lpstr>Project Proposal Guidelines Purpose</vt:lpstr>
      <vt:lpstr>Project Proposal Guidelines Required Components</vt:lpstr>
      <vt:lpstr>Project Proposal Guidelines Expectations &amp; Standards</vt:lpstr>
      <vt:lpstr>PowerPoint Presentation</vt:lpstr>
      <vt:lpstr>Reprojecting geographic data</vt:lpstr>
      <vt:lpstr>PowerPoint Presentation</vt:lpstr>
      <vt:lpstr>PowerPoint Presentation</vt:lpstr>
      <vt:lpstr>Reprojecting https://r.geocompx.org/reproj-geo-data Geometry Operations &amp; CRS</vt:lpstr>
      <vt:lpstr>PowerPoint Presentation</vt:lpstr>
      <vt:lpstr>Behavior of the geometry operations in the sf package depending on the input data's CRS</vt:lpstr>
      <vt:lpstr>Comparison</vt:lpstr>
      <vt:lpstr>PowerPoint Presentation</vt:lpstr>
      <vt:lpstr>PowerPoint Presentation</vt:lpstr>
      <vt:lpstr>PowerPoint Presentation</vt:lpstr>
      <vt:lpstr>Querying and setting coordinate systems</vt:lpstr>
      <vt:lpstr>When to reproject?</vt:lpstr>
      <vt:lpstr>Geographic data I/O</vt:lpstr>
      <vt:lpstr>Geographic data I/O https://r.geocompx.org/read-write Common Spatial Data Formats</vt:lpstr>
      <vt:lpstr>Modern Vector Formats</vt:lpstr>
      <vt:lpstr>Modern Vector Formats</vt:lpstr>
      <vt:lpstr>Out-of-Memory Processing (Rasters)</vt:lpstr>
      <vt:lpstr>Raster data</vt:lpstr>
      <vt:lpstr>Input/Output Backbone</vt:lpstr>
      <vt:lpstr>Geographic data packages</vt:lpstr>
      <vt:lpstr>Geographic metadata</vt:lpstr>
      <vt:lpstr>PowerPoint Presentation</vt:lpstr>
      <vt:lpstr>Geographic Web Services</vt:lpstr>
      <vt:lpstr>Data input (I)</vt:lpstr>
      <vt:lpstr>Vector data</vt:lpstr>
      <vt:lpstr>Data output (O)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Abuabara</dc:creator>
  <cp:lastModifiedBy>Alexander Abuabara</cp:lastModifiedBy>
  <cp:revision>67</cp:revision>
  <dcterms:created xsi:type="dcterms:W3CDTF">2026-03-25T20:47:13Z</dcterms:created>
  <dcterms:modified xsi:type="dcterms:W3CDTF">2026-03-26T12:39:29Z</dcterms:modified>
</cp:coreProperties>
</file>