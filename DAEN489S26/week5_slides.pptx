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56"/>
  </p:notesMasterIdLst>
  <p:sldIdLst>
    <p:sldId id="256" r:id="rId2"/>
    <p:sldId id="257" r:id="rId3"/>
    <p:sldId id="283" r:id="rId4"/>
    <p:sldId id="303" r:id="rId5"/>
    <p:sldId id="258" r:id="rId6"/>
    <p:sldId id="280" r:id="rId7"/>
    <p:sldId id="279" r:id="rId8"/>
    <p:sldId id="267" r:id="rId9"/>
    <p:sldId id="269" r:id="rId10"/>
    <p:sldId id="290" r:id="rId11"/>
    <p:sldId id="289" r:id="rId12"/>
    <p:sldId id="278" r:id="rId13"/>
    <p:sldId id="291" r:id="rId14"/>
    <p:sldId id="259" r:id="rId15"/>
    <p:sldId id="297" r:id="rId16"/>
    <p:sldId id="294" r:id="rId17"/>
    <p:sldId id="296" r:id="rId18"/>
    <p:sldId id="298" r:id="rId19"/>
    <p:sldId id="268" r:id="rId20"/>
    <p:sldId id="260" r:id="rId21"/>
    <p:sldId id="270" r:id="rId22"/>
    <p:sldId id="281" r:id="rId23"/>
    <p:sldId id="261" r:id="rId24"/>
    <p:sldId id="271" r:id="rId25"/>
    <p:sldId id="292" r:id="rId26"/>
    <p:sldId id="293" r:id="rId27"/>
    <p:sldId id="262" r:id="rId28"/>
    <p:sldId id="272" r:id="rId29"/>
    <p:sldId id="273" r:id="rId30"/>
    <p:sldId id="274" r:id="rId31"/>
    <p:sldId id="263" r:id="rId32"/>
    <p:sldId id="275" r:id="rId33"/>
    <p:sldId id="299" r:id="rId34"/>
    <p:sldId id="300" r:id="rId35"/>
    <p:sldId id="264" r:id="rId36"/>
    <p:sldId id="276" r:id="rId37"/>
    <p:sldId id="301" r:id="rId38"/>
    <p:sldId id="266" r:id="rId39"/>
    <p:sldId id="265" r:id="rId40"/>
    <p:sldId id="277" r:id="rId41"/>
    <p:sldId id="305" r:id="rId42"/>
    <p:sldId id="282" r:id="rId43"/>
    <p:sldId id="304" r:id="rId44"/>
    <p:sldId id="285" r:id="rId45"/>
    <p:sldId id="286" r:id="rId46"/>
    <p:sldId id="287" r:id="rId47"/>
    <p:sldId id="288" r:id="rId48"/>
    <p:sldId id="284" r:id="rId49"/>
    <p:sldId id="306" r:id="rId50"/>
    <p:sldId id="307" r:id="rId51"/>
    <p:sldId id="308" r:id="rId52"/>
    <p:sldId id="310" r:id="rId53"/>
    <p:sldId id="309" r:id="rId54"/>
    <p:sldId id="311"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99"/>
    <p:restoredTop sz="96018"/>
  </p:normalViewPr>
  <p:slideViewPr>
    <p:cSldViewPr snapToGrid="0">
      <p:cViewPr varScale="1">
        <p:scale>
          <a:sx n="99" d="100"/>
          <a:sy n="99" d="100"/>
        </p:scale>
        <p:origin x="176"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4CA0E8-728D-CD46-8F78-DDC42DC77B99}" type="datetimeFigureOut">
              <a:rPr lang="en-US" smtClean="0"/>
              <a:t>2/12/26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AF0892-BBFC-1B4C-A0DF-B978FBDEE37B}" type="slidenum">
              <a:rPr lang="en-US" smtClean="0"/>
              <a:t>‹#›</a:t>
            </a:fld>
            <a:endParaRPr lang="en-US"/>
          </a:p>
        </p:txBody>
      </p:sp>
    </p:spTree>
    <p:extLst>
      <p:ext uri="{BB962C8B-B14F-4D97-AF65-F5344CB8AC3E}">
        <p14:creationId xmlns:p14="http://schemas.microsoft.com/office/powerpoint/2010/main" val="2136144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122363"/>
            <a:ext cx="8229600" cy="2387600"/>
          </a:xfrm>
        </p:spPr>
        <p:txBody>
          <a:bodyPr anchor="b"/>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457199" y="3602038"/>
            <a:ext cx="822959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FE6DB6E-DFCA-DB49-A605-0B2995A9C0AB}"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0297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23A6ED-1D3A-5D40-88C5-94A2CD028DAD}"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2960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709739"/>
            <a:ext cx="8229600" cy="2852737"/>
          </a:xfrm>
        </p:spPr>
        <p:txBody>
          <a:bodyPr anchor="b"/>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457200" y="4589464"/>
            <a:ext cx="8229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4C5E21-C441-1847-AEEB-F2C2EF5755EC}"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45838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96072"/>
            <a:ext cx="4057650" cy="4580891"/>
          </a:xfrm>
          <a:solidFill>
            <a:srgbClr val="002060"/>
          </a:solidFill>
        </p:spPr>
        <p:txBody>
          <a:bodyPr/>
          <a:lstStyle>
            <a:lvl1pPr>
              <a:buNone/>
              <a:defRPr sz="1600" b="1">
                <a:solidFill>
                  <a:schemeClr val="bg1"/>
                </a:solidFill>
                <a:latin typeface="Consolas" panose="020B0609020204030204" pitchFamily="49" charset="0"/>
                <a:cs typeface="Consolas" panose="020B0609020204030204" pitchFamily="49" charset="0"/>
              </a:defRPr>
            </a:lvl1pPr>
            <a:lvl2pPr>
              <a:buNone/>
              <a:defRPr sz="1600" b="1">
                <a:latin typeface="Consolas" panose="020B0609020204030204" pitchFamily="49" charset="0"/>
                <a:cs typeface="Consolas" panose="020B0609020204030204" pitchFamily="49" charset="0"/>
              </a:defRPr>
            </a:lvl2pPr>
            <a:lvl3pPr>
              <a:defRPr sz="1600" b="1">
                <a:latin typeface="Consolas" panose="020B0609020204030204" pitchFamily="49" charset="0"/>
                <a:cs typeface="Consolas" panose="020B0609020204030204" pitchFamily="49" charset="0"/>
              </a:defRPr>
            </a:lvl3pPr>
            <a:lvl4pPr>
              <a:defRPr sz="1600" b="1">
                <a:latin typeface="Consolas" panose="020B0609020204030204" pitchFamily="49" charset="0"/>
                <a:cs typeface="Consolas" panose="020B0609020204030204" pitchFamily="49" charset="0"/>
              </a:defRPr>
            </a:lvl4pPr>
            <a:lvl5pPr>
              <a:defRPr sz="1600" b="1">
                <a:latin typeface="Consolas" panose="020B0609020204030204" pitchFamily="49" charset="0"/>
                <a:cs typeface="Consolas" panose="020B0609020204030204" pitchFamily="49" charset="0"/>
              </a:defRPr>
            </a:lvl5pPr>
          </a:lstStyle>
          <a:p>
            <a:pPr lvl="0"/>
            <a:r>
              <a:rPr lang="en-US"/>
              <a:t>Click to edit Master text styles</a:t>
            </a:r>
          </a:p>
        </p:txBody>
      </p:sp>
      <p:sp>
        <p:nvSpPr>
          <p:cNvPr id="5" name="Date Placeholder 4"/>
          <p:cNvSpPr>
            <a:spLocks noGrp="1"/>
          </p:cNvSpPr>
          <p:nvPr>
            <p:ph type="dt" sz="half" idx="10"/>
          </p:nvPr>
        </p:nvSpPr>
        <p:spPr/>
        <p:txBody>
          <a:bodyPr/>
          <a:lstStyle/>
          <a:p>
            <a:fld id="{22C57D94-3CBD-F64C-AD85-D3A7D50FC4A9}"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525486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57200" y="1681163"/>
            <a:ext cx="4040982"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96932"/>
            <a:ext cx="4040982" cy="3792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4057650"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396932"/>
            <a:ext cx="4057650" cy="3792731"/>
          </a:xfrm>
          <a:solidFill>
            <a:srgbClr val="002060"/>
          </a:solidFill>
        </p:spPr>
        <p:txBody>
          <a:bodyPr/>
          <a:lstStyle>
            <a:lvl1pPr>
              <a:buNone/>
              <a:defRPr sz="1600">
                <a:solidFill>
                  <a:schemeClr val="bg1"/>
                </a:solidFill>
                <a:latin typeface="Consolas" panose="020B0609020204030204" pitchFamily="49" charset="0"/>
                <a:cs typeface="Consolas" panose="020B0609020204030204" pitchFamily="49" charset="0"/>
              </a:defRPr>
            </a:lvl1pPr>
            <a:lvl2pPr>
              <a:defRPr sz="1800">
                <a:solidFill>
                  <a:schemeClr val="bg1"/>
                </a:solidFill>
                <a:latin typeface="Consolas" panose="020B0609020204030204" pitchFamily="49" charset="0"/>
                <a:cs typeface="Consolas" panose="020B0609020204030204" pitchFamily="49" charset="0"/>
              </a:defRPr>
            </a:lvl2pPr>
            <a:lvl3pPr>
              <a:defRPr sz="1800">
                <a:solidFill>
                  <a:schemeClr val="bg1"/>
                </a:solidFill>
                <a:latin typeface="Consolas" panose="020B0609020204030204" pitchFamily="49" charset="0"/>
                <a:cs typeface="Consolas" panose="020B0609020204030204" pitchFamily="49" charset="0"/>
              </a:defRPr>
            </a:lvl3pPr>
            <a:lvl4pPr>
              <a:defRPr sz="1800">
                <a:solidFill>
                  <a:schemeClr val="bg1"/>
                </a:solidFill>
                <a:latin typeface="Consolas" panose="020B0609020204030204" pitchFamily="49" charset="0"/>
                <a:cs typeface="Consolas" panose="020B0609020204030204" pitchFamily="49" charset="0"/>
              </a:defRPr>
            </a:lvl4pPr>
            <a:lvl5pPr>
              <a:defRPr sz="1800">
                <a:solidFill>
                  <a:schemeClr val="bg1"/>
                </a:solidFill>
                <a:latin typeface="Consolas" panose="020B0609020204030204" pitchFamily="49" charset="0"/>
                <a:cs typeface="Consolas" panose="020B0609020204030204" pitchFamily="49" charset="0"/>
              </a:defRPr>
            </a:lvl5pPr>
          </a:lstStyle>
          <a:p>
            <a:pPr lvl="0"/>
            <a:r>
              <a:rPr lang="en-US"/>
              <a:t>Click to edit Master text styles</a:t>
            </a:r>
          </a:p>
        </p:txBody>
      </p:sp>
      <p:sp>
        <p:nvSpPr>
          <p:cNvPr id="7" name="Date Placeholder 6"/>
          <p:cNvSpPr>
            <a:spLocks noGrp="1"/>
          </p:cNvSpPr>
          <p:nvPr>
            <p:ph type="dt" sz="half" idx="10"/>
          </p:nvPr>
        </p:nvSpPr>
        <p:spPr/>
        <p:txBody>
          <a:bodyPr/>
          <a:lstStyle/>
          <a:p>
            <a:fld id="{3D3C9327-F513-6740-90D3-2489D79AC8DE}" type="datetime1">
              <a:rPr lang="en-US" smtClean="0"/>
              <a:t>2/12/26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426008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D5BC05-3567-C646-98EB-F155D0BF130E}" type="datetime1">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87124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036A97-4B43-434F-89D3-21AF62461E6F}" type="datetime1">
              <a:rPr lang="en-US" smtClean="0"/>
              <a:t>2/12/26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7342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6524"/>
            <a:ext cx="8229600" cy="1280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517"/>
            <a:ext cx="8229600"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507"/>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722DD2-0F4A-A441-9E05-31BB22FCA972}" type="datetime1">
              <a:rPr lang="en-US" smtClean="0"/>
              <a:t>2/12/26</a:t>
            </a:fld>
            <a:endParaRPr lang="en-US"/>
          </a:p>
        </p:txBody>
      </p:sp>
      <p:sp>
        <p:nvSpPr>
          <p:cNvPr id="5" name="Footer Placeholder 4"/>
          <p:cNvSpPr>
            <a:spLocks noGrp="1"/>
          </p:cNvSpPr>
          <p:nvPr>
            <p:ph type="ftr" sz="quarter" idx="3"/>
          </p:nvPr>
        </p:nvSpPr>
        <p:spPr>
          <a:xfrm>
            <a:off x="2743200" y="6356351"/>
            <a:ext cx="3657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62940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43C75-1924-D247-85A3-0CB62E67E5D1}" type="slidenum">
              <a:rPr lang="en-US" smtClean="0"/>
              <a:t>‹#›</a:t>
            </a:fld>
            <a:endParaRPr lang="en-US"/>
          </a:p>
        </p:txBody>
      </p:sp>
    </p:spTree>
    <p:extLst>
      <p:ext uri="{BB962C8B-B14F-4D97-AF65-F5344CB8AC3E}">
        <p14:creationId xmlns:p14="http://schemas.microsoft.com/office/powerpoint/2010/main" val="2423433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strimas.com/smoothr/"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maps.com/mapping-the-middles-geographic-center-us/" TargetMode="External"/><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hyperlink" Target="https://en.wikipedia.org/wiki/List_of_geographic_centers_of_the_United_States"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en.wikipedia.org/wiki/Geographic_center_of_the_United_States" TargetMode="External"/><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postgis.net/docs/ST_Envelope.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hyperlink" Target="https://pythongis.org/part2/chapter-06/nb/08-overlay-analysis-with-vector-data.html"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brazoscad.org/tax-information/gis/"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floodmaps.fema.gov/NFHL/status.shtml"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alker-data.com/census-r/census-geographic-data-and-applications-in-r.html" TargetMode="External"/><Relationship Id="rId2" Type="http://schemas.openxmlformats.org/officeDocument/2006/relationships/hyperlink" Target="https://www.census.gov/geographies/mapping-files/time-series/geo/tiger-line-file.html" TargetMode="External"/><Relationship Id="rId1" Type="http://schemas.openxmlformats.org/officeDocument/2006/relationships/slideLayout" Target="../slideLayouts/slideLayout2.xml"/><Relationship Id="rId4" Type="http://schemas.openxmlformats.org/officeDocument/2006/relationships/hyperlink" Target="https://walker-data.com/tidycensu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www.floodmaps.com/zones.htm" TargetMode="External"/><Relationship Id="rId2" Type="http://schemas.openxmlformats.org/officeDocument/2006/relationships/image" Target="../media/image25.jp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E524-E5FF-51D1-243B-26982FBA4E2C}"/>
              </a:ext>
            </a:extLst>
          </p:cNvPr>
          <p:cNvSpPr>
            <a:spLocks noGrp="1"/>
          </p:cNvSpPr>
          <p:nvPr>
            <p:ph type="ctrTitle"/>
          </p:nvPr>
        </p:nvSpPr>
        <p:spPr/>
        <p:txBody>
          <a:bodyPr/>
          <a:lstStyle/>
          <a:p>
            <a:r>
              <a:rPr lang="en-US" dirty="0"/>
              <a:t>Geometry Operations</a:t>
            </a:r>
            <a:br>
              <a:rPr lang="en-US" dirty="0"/>
            </a:br>
            <a:r>
              <a:rPr lang="en-US" dirty="0"/>
              <a:t>with Vector Data</a:t>
            </a:r>
          </a:p>
        </p:txBody>
      </p:sp>
      <p:sp>
        <p:nvSpPr>
          <p:cNvPr id="3" name="Subtitle 2">
            <a:extLst>
              <a:ext uri="{FF2B5EF4-FFF2-40B4-BE49-F238E27FC236}">
                <a16:creationId xmlns:a16="http://schemas.microsoft.com/office/drawing/2014/main" id="{D7E24C6C-7F39-D280-5F4E-FDDD50584FA2}"/>
              </a:ext>
            </a:extLst>
          </p:cNvPr>
          <p:cNvSpPr>
            <a:spLocks noGrp="1"/>
          </p:cNvSpPr>
          <p:nvPr>
            <p:ph type="subTitle" idx="1"/>
          </p:nvPr>
        </p:nvSpPr>
        <p:spPr/>
        <p:txBody>
          <a:bodyPr/>
          <a:lstStyle/>
          <a:p>
            <a:r>
              <a:rPr lang="en-US" dirty="0"/>
              <a:t>Alexander Abuabara</a:t>
            </a:r>
          </a:p>
          <a:p>
            <a:r>
              <a:rPr lang="en-US" dirty="0"/>
              <a:t>DAEN 489 ISEN 489</a:t>
            </a:r>
          </a:p>
          <a:p>
            <a:r>
              <a:rPr lang="en-US" dirty="0"/>
              <a:t>Spring 2026</a:t>
            </a:r>
          </a:p>
        </p:txBody>
      </p:sp>
      <p:pic>
        <p:nvPicPr>
          <p:cNvPr id="4" name="Picture 3">
            <a:extLst>
              <a:ext uri="{FF2B5EF4-FFF2-40B4-BE49-F238E27FC236}">
                <a16:creationId xmlns:a16="http://schemas.microsoft.com/office/drawing/2014/main" id="{1151EB84-04E8-C58A-2147-BF7DB59DD9C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71748" y="5861278"/>
            <a:ext cx="4000500" cy="762000"/>
          </a:xfrm>
          <a:prstGeom prst="rect">
            <a:avLst/>
          </a:prstGeom>
        </p:spPr>
      </p:pic>
      <p:sp>
        <p:nvSpPr>
          <p:cNvPr id="5" name="TextBox 4">
            <a:extLst>
              <a:ext uri="{FF2B5EF4-FFF2-40B4-BE49-F238E27FC236}">
                <a16:creationId xmlns:a16="http://schemas.microsoft.com/office/drawing/2014/main" id="{831F130A-ED5E-E4BB-885E-4ED0DCCA948F}"/>
              </a:ext>
            </a:extLst>
          </p:cNvPr>
          <p:cNvSpPr txBox="1"/>
          <p:nvPr/>
        </p:nvSpPr>
        <p:spPr>
          <a:xfrm>
            <a:off x="7511604" y="6103778"/>
            <a:ext cx="1175194" cy="276999"/>
          </a:xfrm>
          <a:prstGeom prst="rect">
            <a:avLst/>
          </a:prstGeom>
          <a:noFill/>
        </p:spPr>
        <p:txBody>
          <a:bodyPr wrap="none" rtlCol="0">
            <a:spAutoFit/>
          </a:bodyPr>
          <a:lstStyle/>
          <a:p>
            <a:r>
              <a:rPr lang="en-US" sz="1200" dirty="0">
                <a:solidFill>
                  <a:schemeClr val="accent5"/>
                </a:solidFill>
              </a:rPr>
              <a:t>Att. Code ####</a:t>
            </a:r>
          </a:p>
        </p:txBody>
      </p:sp>
    </p:spTree>
    <p:extLst>
      <p:ext uri="{BB962C8B-B14F-4D97-AF65-F5344CB8AC3E}">
        <p14:creationId xmlns:p14="http://schemas.microsoft.com/office/powerpoint/2010/main" val="338191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CE511-C700-6D49-801A-89DFC254A124}"/>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F4F6C31E-2EA5-01F6-E74F-08DAB40A9AE8}"/>
              </a:ext>
            </a:extLst>
          </p:cNvPr>
          <p:cNvSpPr>
            <a:spLocks noGrp="1"/>
          </p:cNvSpPr>
          <p:nvPr>
            <p:ph idx="1"/>
          </p:nvPr>
        </p:nvSpPr>
        <p:spPr/>
        <p:txBody>
          <a:bodyPr>
            <a:normAutofit/>
          </a:bodyPr>
          <a:lstStyle/>
          <a:p>
            <a:pPr marL="0" indent="0">
              <a:buNone/>
            </a:pPr>
            <a:r>
              <a:rPr lang="en-US" dirty="0"/>
              <a:t>So far, we have:</a:t>
            </a:r>
          </a:p>
          <a:p>
            <a:r>
              <a:rPr lang="en-US" dirty="0"/>
              <a:t>Explained the </a:t>
            </a:r>
            <a:r>
              <a:rPr lang="en-US" b="1" dirty="0"/>
              <a:t>structure of geographic</a:t>
            </a:r>
            <a:r>
              <a:rPr lang="en-US" dirty="0"/>
              <a:t> datasets</a:t>
            </a:r>
          </a:p>
          <a:p>
            <a:pPr marL="457200" lvl="1" indent="0">
              <a:buNone/>
            </a:pPr>
            <a:r>
              <a:rPr lang="en-US" dirty="0"/>
              <a:t>(core components: geometry, attributes, topology)</a:t>
            </a:r>
          </a:p>
          <a:p>
            <a:r>
              <a:rPr lang="en-US" b="1" dirty="0"/>
              <a:t>Manipulate</a:t>
            </a:r>
            <a:r>
              <a:rPr lang="en-US" dirty="0"/>
              <a:t> geographic datasets based on their:</a:t>
            </a:r>
          </a:p>
          <a:p>
            <a:pPr lvl="1"/>
            <a:r>
              <a:rPr lang="en-US" b="1" dirty="0"/>
              <a:t>Non-geographic attributes</a:t>
            </a:r>
            <a:r>
              <a:rPr lang="en-US" dirty="0"/>
              <a:t> (filters and subsets), and</a:t>
            </a:r>
          </a:p>
          <a:p>
            <a:pPr lvl="1"/>
            <a:r>
              <a:rPr lang="en-US" dirty="0"/>
              <a:t>And </a:t>
            </a:r>
            <a:r>
              <a:rPr lang="en-US" b="1" dirty="0"/>
              <a:t>spatial relations </a:t>
            </a:r>
            <a:r>
              <a:rPr lang="en-US" dirty="0"/>
              <a:t>(subsets and topological relations)</a:t>
            </a:r>
          </a:p>
          <a:p>
            <a:pPr marL="0" indent="0">
              <a:buNone/>
            </a:pPr>
            <a:r>
              <a:rPr lang="en-US" dirty="0"/>
              <a:t>This week focuses on manipulating even more the geographic elements of spatial objects. By:</a:t>
            </a:r>
          </a:p>
          <a:p>
            <a:r>
              <a:rPr lang="en-US" dirty="0"/>
              <a:t>Simplifying,</a:t>
            </a:r>
          </a:p>
          <a:p>
            <a:r>
              <a:rPr lang="en-US" dirty="0"/>
              <a:t>Creating buffers, and</a:t>
            </a:r>
          </a:p>
          <a:p>
            <a:r>
              <a:rPr lang="en-US" dirty="0"/>
              <a:t>Converting vector geometries.</a:t>
            </a:r>
          </a:p>
        </p:txBody>
      </p:sp>
      <p:sp>
        <p:nvSpPr>
          <p:cNvPr id="4" name="Slide Number Placeholder 3">
            <a:extLst>
              <a:ext uri="{FF2B5EF4-FFF2-40B4-BE49-F238E27FC236}">
                <a16:creationId xmlns:a16="http://schemas.microsoft.com/office/drawing/2014/main" id="{8A98E4FD-42B0-4C3E-3E73-A2BB5D30D7F6}"/>
              </a:ext>
            </a:extLst>
          </p:cNvPr>
          <p:cNvSpPr>
            <a:spLocks noGrp="1"/>
          </p:cNvSpPr>
          <p:nvPr>
            <p:ph type="sldNum" sz="quarter" idx="12"/>
          </p:nvPr>
        </p:nvSpPr>
        <p:spPr/>
        <p:txBody>
          <a:bodyPr/>
          <a:lstStyle/>
          <a:p>
            <a:fld id="{C0343C75-1924-D247-85A3-0CB62E67E5D1}" type="slidenum">
              <a:rPr lang="en-US" smtClean="0"/>
              <a:t>2</a:t>
            </a:fld>
            <a:endParaRPr lang="en-US"/>
          </a:p>
        </p:txBody>
      </p:sp>
    </p:spTree>
    <p:extLst>
      <p:ext uri="{BB962C8B-B14F-4D97-AF65-F5344CB8AC3E}">
        <p14:creationId xmlns:p14="http://schemas.microsoft.com/office/powerpoint/2010/main" val="4118954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BCB4-E084-9F67-67ED-F0C9B41B5A53}"/>
              </a:ext>
            </a:extLst>
          </p:cNvPr>
          <p:cNvSpPr>
            <a:spLocks noGrp="1"/>
          </p:cNvSpPr>
          <p:nvPr>
            <p:ph type="title"/>
          </p:nvPr>
        </p:nvSpPr>
        <p:spPr/>
        <p:txBody>
          <a:bodyPr/>
          <a:lstStyle/>
          <a:p>
            <a:r>
              <a:rPr lang="en-US" dirty="0"/>
              <a:t>Learning Outcomes </a:t>
            </a:r>
            <a:r>
              <a:rPr lang="en-US" sz="2400" dirty="0"/>
              <a:t>(Week 5/Assignment #3)</a:t>
            </a:r>
            <a:endParaRPr lang="en-US" dirty="0"/>
          </a:p>
        </p:txBody>
      </p:sp>
      <p:sp>
        <p:nvSpPr>
          <p:cNvPr id="3" name="Content Placeholder 2">
            <a:extLst>
              <a:ext uri="{FF2B5EF4-FFF2-40B4-BE49-F238E27FC236}">
                <a16:creationId xmlns:a16="http://schemas.microsoft.com/office/drawing/2014/main" id="{457E0A83-8361-47CA-2C00-D96ABCD0C3FE}"/>
              </a:ext>
            </a:extLst>
          </p:cNvPr>
          <p:cNvSpPr>
            <a:spLocks noGrp="1"/>
          </p:cNvSpPr>
          <p:nvPr>
            <p:ph idx="1"/>
          </p:nvPr>
        </p:nvSpPr>
        <p:spPr/>
        <p:txBody>
          <a:bodyPr/>
          <a:lstStyle/>
          <a:p>
            <a:pPr marL="0" indent="0">
              <a:buNone/>
            </a:pPr>
            <a:r>
              <a:rPr lang="en-US" dirty="0"/>
              <a:t>By completing this week/assignment, you should be able to:</a:t>
            </a:r>
          </a:p>
          <a:p>
            <a:pPr marL="292100" indent="-292100">
              <a:buFont typeface="+mj-lt"/>
              <a:buAutoNum type="arabicPeriod"/>
            </a:pPr>
            <a:r>
              <a:rPr lang="en-US" dirty="0"/>
              <a:t>Design a spatial data workflow from raw public datasets</a:t>
            </a:r>
          </a:p>
          <a:p>
            <a:pPr marL="292100" indent="-292100">
              <a:buFont typeface="+mj-lt"/>
              <a:buAutoNum type="arabicPeriod"/>
            </a:pPr>
            <a:r>
              <a:rPr lang="en-US" dirty="0"/>
              <a:t>Perform spatial transformations and joins</a:t>
            </a:r>
          </a:p>
          <a:p>
            <a:pPr marL="292100" indent="-292100">
              <a:buFont typeface="+mj-lt"/>
              <a:buAutoNum type="arabicPeriod"/>
            </a:pPr>
            <a:r>
              <a:rPr lang="en-US" dirty="0"/>
              <a:t>Evaluate methodological choices in spatial overlay analysis</a:t>
            </a:r>
          </a:p>
          <a:p>
            <a:pPr marL="292100" indent="-292100">
              <a:buFont typeface="+mj-lt"/>
              <a:buAutoNum type="arabicPeriod"/>
            </a:pPr>
            <a:r>
              <a:rPr lang="en-US" dirty="0"/>
              <a:t>Integrate multiple administrative boundary datasets</a:t>
            </a:r>
          </a:p>
          <a:p>
            <a:pPr marL="292100" indent="-292100">
              <a:buFont typeface="+mj-lt"/>
              <a:buAutoNum type="arabicPeriod"/>
            </a:pPr>
            <a:r>
              <a:rPr lang="en-US" dirty="0"/>
              <a:t>Produce summary statistics from engineered spatial data</a:t>
            </a:r>
          </a:p>
          <a:p>
            <a:pPr marL="292100" indent="-292100">
              <a:buFont typeface="+mj-lt"/>
              <a:buAutoNum type="arabicPeriod"/>
            </a:pPr>
            <a:r>
              <a:rPr lang="en-US" dirty="0"/>
              <a:t>Clearly communicate your analytical plan and tradeoffs</a:t>
            </a:r>
          </a:p>
        </p:txBody>
      </p:sp>
      <p:sp>
        <p:nvSpPr>
          <p:cNvPr id="4" name="Slide Number Placeholder 3">
            <a:extLst>
              <a:ext uri="{FF2B5EF4-FFF2-40B4-BE49-F238E27FC236}">
                <a16:creationId xmlns:a16="http://schemas.microsoft.com/office/drawing/2014/main" id="{7CF916B9-79E3-4F18-E4E1-A561201D9409}"/>
              </a:ext>
            </a:extLst>
          </p:cNvPr>
          <p:cNvSpPr>
            <a:spLocks noGrp="1"/>
          </p:cNvSpPr>
          <p:nvPr>
            <p:ph type="sldNum" sz="quarter" idx="12"/>
          </p:nvPr>
        </p:nvSpPr>
        <p:spPr/>
        <p:txBody>
          <a:bodyPr/>
          <a:lstStyle/>
          <a:p>
            <a:fld id="{C0343C75-1924-D247-85A3-0CB62E67E5D1}" type="slidenum">
              <a:rPr lang="en-US" smtClean="0"/>
              <a:t>3</a:t>
            </a:fld>
            <a:endParaRPr lang="en-US"/>
          </a:p>
        </p:txBody>
      </p:sp>
    </p:spTree>
    <p:extLst>
      <p:ext uri="{BB962C8B-B14F-4D97-AF65-F5344CB8AC3E}">
        <p14:creationId xmlns:p14="http://schemas.microsoft.com/office/powerpoint/2010/main" val="1928630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904D2-1AAC-14DB-0B6F-4D371453B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EF566-16CE-E730-788F-4061BA93AC18}"/>
              </a:ext>
            </a:extLst>
          </p:cNvPr>
          <p:cNvSpPr>
            <a:spLocks noGrp="1"/>
          </p:cNvSpPr>
          <p:nvPr>
            <p:ph type="title"/>
          </p:nvPr>
        </p:nvSpPr>
        <p:spPr/>
        <p:txBody>
          <a:bodyPr/>
          <a:lstStyle/>
          <a:p>
            <a:r>
              <a:rPr lang="en-US" dirty="0"/>
              <a:t>Emphasis</a:t>
            </a:r>
          </a:p>
        </p:txBody>
      </p:sp>
      <p:sp>
        <p:nvSpPr>
          <p:cNvPr id="3" name="Content Placeholder 2">
            <a:extLst>
              <a:ext uri="{FF2B5EF4-FFF2-40B4-BE49-F238E27FC236}">
                <a16:creationId xmlns:a16="http://schemas.microsoft.com/office/drawing/2014/main" id="{D8C14917-2994-09E4-DA6C-98483254385D}"/>
              </a:ext>
            </a:extLst>
          </p:cNvPr>
          <p:cNvSpPr>
            <a:spLocks noGrp="1"/>
          </p:cNvSpPr>
          <p:nvPr>
            <p:ph idx="1"/>
          </p:nvPr>
        </p:nvSpPr>
        <p:spPr/>
        <p:txBody>
          <a:bodyPr>
            <a:normAutofit/>
          </a:bodyPr>
          <a:lstStyle/>
          <a:p>
            <a:r>
              <a:rPr lang="en-US" sz="1800" dirty="0"/>
              <a:t>Data Engineering</a:t>
            </a:r>
          </a:p>
          <a:p>
            <a:pPr lvl="1"/>
            <a:r>
              <a:rPr lang="en-US" sz="1400" dirty="0"/>
              <a:t>Build the system</a:t>
            </a:r>
          </a:p>
          <a:p>
            <a:pPr lvl="1"/>
            <a:r>
              <a:rPr lang="en-US" sz="1400" dirty="0"/>
              <a:t>Scalable pipeline design</a:t>
            </a:r>
          </a:p>
          <a:p>
            <a:pPr lvl="1"/>
            <a:r>
              <a:rPr lang="en-US" sz="1400" dirty="0"/>
              <a:t>Modular, reproducible code</a:t>
            </a:r>
          </a:p>
          <a:p>
            <a:pPr lvl="1"/>
            <a:r>
              <a:rPr lang="en-US" sz="1400" dirty="0"/>
              <a:t>Schema + storage strategy</a:t>
            </a:r>
          </a:p>
          <a:p>
            <a:pPr lvl="1"/>
            <a:r>
              <a:rPr lang="en-US" sz="1400" dirty="0"/>
              <a:t>Computational efficiency</a:t>
            </a:r>
          </a:p>
          <a:p>
            <a:pPr lvl="1"/>
            <a:r>
              <a:rPr lang="en-US" sz="1400" dirty="0"/>
              <a:t>Production-oriented thinking</a:t>
            </a:r>
          </a:p>
          <a:p>
            <a:r>
              <a:rPr lang="en-US" sz="1800" dirty="0"/>
              <a:t>Industrial Engineering</a:t>
            </a:r>
          </a:p>
          <a:p>
            <a:pPr lvl="1"/>
            <a:r>
              <a:rPr lang="en-US" sz="1400" dirty="0"/>
              <a:t>Evaluate the decision impact</a:t>
            </a:r>
          </a:p>
          <a:p>
            <a:pPr lvl="1"/>
            <a:r>
              <a:rPr lang="en-US" sz="1400" dirty="0"/>
              <a:t>Sensitivity to spatial design choices</a:t>
            </a:r>
          </a:p>
          <a:p>
            <a:pPr lvl="1"/>
            <a:r>
              <a:rPr lang="en-US" sz="1400" dirty="0"/>
              <a:t>Analytics/risk interpretation</a:t>
            </a:r>
          </a:p>
          <a:p>
            <a:pPr lvl="1"/>
            <a:r>
              <a:rPr lang="en-US" sz="1400" dirty="0"/>
              <a:t>Distributional analysis of value</a:t>
            </a:r>
          </a:p>
          <a:p>
            <a:pPr lvl="1"/>
            <a:r>
              <a:rPr lang="en-US" sz="1400" dirty="0"/>
              <a:t>Operational implications</a:t>
            </a:r>
          </a:p>
          <a:p>
            <a:pPr lvl="1"/>
            <a:r>
              <a:rPr lang="en-US" sz="1400" dirty="0"/>
              <a:t>Policy and planning relevance</a:t>
            </a:r>
          </a:p>
          <a:p>
            <a:r>
              <a:rPr lang="en-US" sz="1800" dirty="0"/>
              <a:t>Shared Expectation</a:t>
            </a:r>
          </a:p>
          <a:p>
            <a:pPr lvl="1"/>
            <a:r>
              <a:rPr lang="en-US" sz="1400" dirty="0"/>
              <a:t>Design and justify a defensible spatial workflow</a:t>
            </a:r>
          </a:p>
        </p:txBody>
      </p:sp>
      <p:sp>
        <p:nvSpPr>
          <p:cNvPr id="4" name="Slide Number Placeholder 3">
            <a:extLst>
              <a:ext uri="{FF2B5EF4-FFF2-40B4-BE49-F238E27FC236}">
                <a16:creationId xmlns:a16="http://schemas.microsoft.com/office/drawing/2014/main" id="{C0DB6D57-A6F8-54EB-C5F0-8CF7468785C4}"/>
              </a:ext>
            </a:extLst>
          </p:cNvPr>
          <p:cNvSpPr>
            <a:spLocks noGrp="1"/>
          </p:cNvSpPr>
          <p:nvPr>
            <p:ph type="sldNum" sz="quarter" idx="12"/>
          </p:nvPr>
        </p:nvSpPr>
        <p:spPr/>
        <p:txBody>
          <a:bodyPr/>
          <a:lstStyle/>
          <a:p>
            <a:fld id="{C0343C75-1924-D247-85A3-0CB62E67E5D1}" type="slidenum">
              <a:rPr lang="en-US" smtClean="0"/>
              <a:t>4</a:t>
            </a:fld>
            <a:endParaRPr lang="en-US"/>
          </a:p>
        </p:txBody>
      </p:sp>
    </p:spTree>
    <p:extLst>
      <p:ext uri="{BB962C8B-B14F-4D97-AF65-F5344CB8AC3E}">
        <p14:creationId xmlns:p14="http://schemas.microsoft.com/office/powerpoint/2010/main" val="841957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EC17D-DC35-CD2C-6824-798705D5EB55}"/>
              </a:ext>
            </a:extLst>
          </p:cNvPr>
          <p:cNvSpPr>
            <a:spLocks noGrp="1"/>
          </p:cNvSpPr>
          <p:nvPr>
            <p:ph type="title"/>
          </p:nvPr>
        </p:nvSpPr>
        <p:spPr/>
        <p:txBody>
          <a:bodyPr/>
          <a:lstStyle/>
          <a:p>
            <a:r>
              <a:rPr lang="en-US" dirty="0"/>
              <a:t>Simplification</a:t>
            </a:r>
          </a:p>
        </p:txBody>
      </p:sp>
      <p:sp>
        <p:nvSpPr>
          <p:cNvPr id="3" name="Content Placeholder 2">
            <a:extLst>
              <a:ext uri="{FF2B5EF4-FFF2-40B4-BE49-F238E27FC236}">
                <a16:creationId xmlns:a16="http://schemas.microsoft.com/office/drawing/2014/main" id="{C07E8D61-D957-00E7-2DB7-8A4F51E0C750}"/>
              </a:ext>
            </a:extLst>
          </p:cNvPr>
          <p:cNvSpPr>
            <a:spLocks noGrp="1"/>
          </p:cNvSpPr>
          <p:nvPr>
            <p:ph idx="1"/>
          </p:nvPr>
        </p:nvSpPr>
        <p:spPr>
          <a:xfrm>
            <a:off x="457199" y="4157743"/>
            <a:ext cx="8402595" cy="2014774"/>
          </a:xfrm>
        </p:spPr>
        <p:txBody>
          <a:bodyPr>
            <a:normAutofit/>
          </a:bodyPr>
          <a:lstStyle/>
          <a:p>
            <a:r>
              <a:rPr lang="en-US" dirty="0"/>
              <a:t>Simplification is a process for </a:t>
            </a:r>
            <a:r>
              <a:rPr lang="en-US" b="1" dirty="0"/>
              <a:t>generalization</a:t>
            </a:r>
            <a:r>
              <a:rPr lang="en-US" dirty="0"/>
              <a:t> of vector objects (lines and polygons) usually for use in smaller scale maps.</a:t>
            </a:r>
          </a:p>
          <a:p>
            <a:r>
              <a:rPr lang="en-US" dirty="0"/>
              <a:t>Another reason for simplifying objects is to </a:t>
            </a:r>
            <a:r>
              <a:rPr lang="en-US" b="1" dirty="0"/>
              <a:t>reduce </a:t>
            </a:r>
            <a:r>
              <a:rPr lang="en-US" dirty="0"/>
              <a:t>the amount of memory they consume (disk space and network bandwidth).</a:t>
            </a:r>
            <a:br>
              <a:rPr lang="en-US" dirty="0"/>
            </a:br>
            <a:r>
              <a:rPr lang="en-US" sz="1600" dirty="0"/>
              <a:t>It may be wise to simplify complex geometries before publishing them as interactive maps :)</a:t>
            </a:r>
          </a:p>
        </p:txBody>
      </p:sp>
      <p:pic>
        <p:nvPicPr>
          <p:cNvPr id="6" name="Picture 5">
            <a:extLst>
              <a:ext uri="{FF2B5EF4-FFF2-40B4-BE49-F238E27FC236}">
                <a16:creationId xmlns:a16="http://schemas.microsoft.com/office/drawing/2014/main" id="{EB82AF1A-6197-0AC6-FED0-3839C456E4AE}"/>
              </a:ext>
              <a:ext uri="{C183D7F6-B498-43B3-948B-1728B52AA6E4}">
                <adec:decorative xmlns:adec="http://schemas.microsoft.com/office/drawing/2017/decorative" val="1"/>
              </a:ext>
            </a:extLst>
          </p:cNvPr>
          <p:cNvPicPr>
            <a:picLocks noChangeAspect="1"/>
          </p:cNvPicPr>
          <p:nvPr/>
        </p:nvPicPr>
        <p:blipFill>
          <a:blip r:embed="rId2"/>
          <a:srcRect l="27004" t="85811" r="34924"/>
          <a:stretch>
            <a:fillRect/>
          </a:stretch>
        </p:blipFill>
        <p:spPr>
          <a:xfrm>
            <a:off x="7043350" y="1416684"/>
            <a:ext cx="1643450" cy="388932"/>
          </a:xfrm>
          <a:prstGeom prst="rect">
            <a:avLst/>
          </a:prstGeom>
        </p:spPr>
      </p:pic>
      <p:pic>
        <p:nvPicPr>
          <p:cNvPr id="7" name="Picture 6">
            <a:extLst>
              <a:ext uri="{FF2B5EF4-FFF2-40B4-BE49-F238E27FC236}">
                <a16:creationId xmlns:a16="http://schemas.microsoft.com/office/drawing/2014/main" id="{C751B301-29F7-4983-46EA-B6CB19A28FF9}"/>
              </a:ext>
              <a:ext uri="{C183D7F6-B498-43B3-948B-1728B52AA6E4}">
                <adec:decorative xmlns:adec="http://schemas.microsoft.com/office/drawing/2017/decorative" val="1"/>
              </a:ext>
            </a:extLst>
          </p:cNvPr>
          <p:cNvPicPr>
            <a:picLocks noChangeAspect="1"/>
          </p:cNvPicPr>
          <p:nvPr/>
        </p:nvPicPr>
        <p:blipFill>
          <a:blip r:embed="rId2"/>
          <a:srcRect b="22755"/>
          <a:stretch>
            <a:fillRect/>
          </a:stretch>
        </p:blipFill>
        <p:spPr>
          <a:xfrm>
            <a:off x="1922448" y="1416684"/>
            <a:ext cx="5299103" cy="2599263"/>
          </a:xfrm>
          <a:prstGeom prst="rect">
            <a:avLst/>
          </a:prstGeom>
        </p:spPr>
      </p:pic>
      <p:sp>
        <p:nvSpPr>
          <p:cNvPr id="4" name="Slide Number Placeholder 3">
            <a:extLst>
              <a:ext uri="{FF2B5EF4-FFF2-40B4-BE49-F238E27FC236}">
                <a16:creationId xmlns:a16="http://schemas.microsoft.com/office/drawing/2014/main" id="{6CC0DD57-7131-AA47-0353-7D47D5A79C36}"/>
              </a:ext>
            </a:extLst>
          </p:cNvPr>
          <p:cNvSpPr>
            <a:spLocks noGrp="1"/>
          </p:cNvSpPr>
          <p:nvPr>
            <p:ph type="sldNum" sz="quarter" idx="12"/>
          </p:nvPr>
        </p:nvSpPr>
        <p:spPr/>
        <p:txBody>
          <a:bodyPr/>
          <a:lstStyle/>
          <a:p>
            <a:fld id="{C0343C75-1924-D247-85A3-0CB62E67E5D1}" type="slidenum">
              <a:rPr lang="en-US" smtClean="0"/>
              <a:t>5</a:t>
            </a:fld>
            <a:endParaRPr lang="en-US"/>
          </a:p>
        </p:txBody>
      </p:sp>
    </p:spTree>
    <p:extLst>
      <p:ext uri="{BB962C8B-B14F-4D97-AF65-F5344CB8AC3E}">
        <p14:creationId xmlns:p14="http://schemas.microsoft.com/office/powerpoint/2010/main" val="1083095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B08F4-A663-ACE2-8C9C-2A7D90B160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D4B468-20E7-9AC3-FEA9-21584EA2D8F5}"/>
              </a:ext>
            </a:extLst>
          </p:cNvPr>
          <p:cNvSpPr>
            <a:spLocks noGrp="1"/>
          </p:cNvSpPr>
          <p:nvPr>
            <p:ph type="title"/>
          </p:nvPr>
        </p:nvSpPr>
        <p:spPr/>
        <p:txBody>
          <a:bodyPr/>
          <a:lstStyle/>
          <a:p>
            <a:r>
              <a:rPr lang="en-US" dirty="0"/>
              <a:t>Douglas-</a:t>
            </a:r>
            <a:r>
              <a:rPr lang="en-US" dirty="0" err="1"/>
              <a:t>Peucker</a:t>
            </a:r>
            <a:r>
              <a:rPr lang="en-US" dirty="0"/>
              <a:t> algorithm</a:t>
            </a:r>
          </a:p>
        </p:txBody>
      </p:sp>
      <p:pic>
        <p:nvPicPr>
          <p:cNvPr id="10" name="Content Placeholder 9">
            <a:extLst>
              <a:ext uri="{FF2B5EF4-FFF2-40B4-BE49-F238E27FC236}">
                <a16:creationId xmlns:a16="http://schemas.microsoft.com/office/drawing/2014/main" id="{9AF60601-12BB-B22A-E502-3DA5481B64EB}"/>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457200" y="1416684"/>
            <a:ext cx="8229600" cy="4204827"/>
          </a:xfrm>
          <a:prstGeom prst="rect">
            <a:avLst/>
          </a:prstGeom>
        </p:spPr>
      </p:pic>
      <p:sp>
        <p:nvSpPr>
          <p:cNvPr id="11" name="TextBox 10">
            <a:extLst>
              <a:ext uri="{FF2B5EF4-FFF2-40B4-BE49-F238E27FC236}">
                <a16:creationId xmlns:a16="http://schemas.microsoft.com/office/drawing/2014/main" id="{C8432CBE-5CDD-42E2-4728-C1A37D1F3DBF}"/>
              </a:ext>
            </a:extLst>
          </p:cNvPr>
          <p:cNvSpPr txBox="1"/>
          <p:nvPr/>
        </p:nvSpPr>
        <p:spPr>
          <a:xfrm>
            <a:off x="457200" y="5621511"/>
            <a:ext cx="8229600" cy="646331"/>
          </a:xfrm>
          <a:prstGeom prst="rect">
            <a:avLst/>
          </a:prstGeom>
          <a:noFill/>
        </p:spPr>
        <p:txBody>
          <a:bodyPr wrap="square" rtlCol="0">
            <a:spAutoFit/>
          </a:bodyPr>
          <a:lstStyle/>
          <a:p>
            <a:r>
              <a:rPr lang="en-US" dirty="0"/>
              <a:t>Boundaries are simplified by </a:t>
            </a:r>
            <a:r>
              <a:rPr lang="en-US" b="1" dirty="0"/>
              <a:t>removing vertices</a:t>
            </a:r>
            <a:r>
              <a:rPr lang="en-US" dirty="0"/>
              <a:t>, decimating a curve composed of line segments to a </a:t>
            </a:r>
            <a:r>
              <a:rPr lang="en-US" i="1" dirty="0"/>
              <a:t>similar</a:t>
            </a:r>
            <a:r>
              <a:rPr lang="en-US" dirty="0"/>
              <a:t> curve with </a:t>
            </a:r>
            <a:r>
              <a:rPr lang="en-US" i="1" dirty="0"/>
              <a:t>fewer points</a:t>
            </a:r>
            <a:r>
              <a:rPr lang="en-US" dirty="0"/>
              <a:t>.</a:t>
            </a:r>
          </a:p>
        </p:txBody>
      </p:sp>
      <p:sp>
        <p:nvSpPr>
          <p:cNvPr id="2" name="Slide Number Placeholder 1">
            <a:extLst>
              <a:ext uri="{FF2B5EF4-FFF2-40B4-BE49-F238E27FC236}">
                <a16:creationId xmlns:a16="http://schemas.microsoft.com/office/drawing/2014/main" id="{A24E5481-27B7-0D73-D6F4-8E0326E9C341}"/>
              </a:ext>
            </a:extLst>
          </p:cNvPr>
          <p:cNvSpPr>
            <a:spLocks noGrp="1"/>
          </p:cNvSpPr>
          <p:nvPr>
            <p:ph type="sldNum" sz="quarter" idx="12"/>
          </p:nvPr>
        </p:nvSpPr>
        <p:spPr/>
        <p:txBody>
          <a:bodyPr/>
          <a:lstStyle/>
          <a:p>
            <a:fld id="{C0343C75-1924-D247-85A3-0CB62E67E5D1}" type="slidenum">
              <a:rPr lang="en-US" smtClean="0"/>
              <a:t>6</a:t>
            </a:fld>
            <a:endParaRPr lang="en-US"/>
          </a:p>
        </p:txBody>
      </p:sp>
    </p:spTree>
    <p:extLst>
      <p:ext uri="{BB962C8B-B14F-4D97-AF65-F5344CB8AC3E}">
        <p14:creationId xmlns:p14="http://schemas.microsoft.com/office/powerpoint/2010/main" val="169545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diagram&#10;&#10;AI-generated content may be incorrect.">
            <a:extLst>
              <a:ext uri="{FF2B5EF4-FFF2-40B4-BE49-F238E27FC236}">
                <a16:creationId xmlns:a16="http://schemas.microsoft.com/office/drawing/2014/main" id="{0753F9B2-500F-C2CE-1246-A73B2F53241F}"/>
              </a:ext>
            </a:extLst>
          </p:cNvPr>
          <p:cNvPicPr>
            <a:picLocks noGrp="1" noChangeAspect="1"/>
          </p:cNvPicPr>
          <p:nvPr>
            <p:ph sz="half" idx="2"/>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4629152" y="1249613"/>
            <a:ext cx="4057648" cy="5273807"/>
          </a:xfrm>
          <a:prstGeom prst="rect">
            <a:avLst/>
          </a:prstGeom>
        </p:spPr>
      </p:pic>
      <p:sp>
        <p:nvSpPr>
          <p:cNvPr id="4" name="Title 3">
            <a:extLst>
              <a:ext uri="{FF2B5EF4-FFF2-40B4-BE49-F238E27FC236}">
                <a16:creationId xmlns:a16="http://schemas.microsoft.com/office/drawing/2014/main" id="{7FF30171-4FB2-EF01-F774-AE3150311452}"/>
              </a:ext>
            </a:extLst>
          </p:cNvPr>
          <p:cNvSpPr>
            <a:spLocks noGrp="1"/>
          </p:cNvSpPr>
          <p:nvPr>
            <p:ph type="title"/>
          </p:nvPr>
        </p:nvSpPr>
        <p:spPr/>
        <p:txBody>
          <a:bodyPr>
            <a:normAutofit/>
          </a:bodyPr>
          <a:lstStyle/>
          <a:p>
            <a:r>
              <a:rPr lang="en-US" sz="3200" b="1" dirty="0" err="1">
                <a:latin typeface="Consolas" panose="020B0609020204030204" pitchFamily="49" charset="0"/>
                <a:cs typeface="Consolas" panose="020B0609020204030204" pitchFamily="49" charset="0"/>
              </a:rPr>
              <a:t>st_simplify</a:t>
            </a:r>
            <a:r>
              <a:rPr lang="en-US" sz="3200" b="1" dirty="0">
                <a:latin typeface="Consolas" panose="020B0609020204030204" pitchFamily="49" charset="0"/>
                <a:cs typeface="Consolas" panose="020B0609020204030204" pitchFamily="49" charset="0"/>
              </a:rPr>
              <a:t>()</a:t>
            </a:r>
            <a:endParaRPr lang="en-US" sz="3200" dirty="0"/>
          </a:p>
        </p:txBody>
      </p:sp>
      <p:sp>
        <p:nvSpPr>
          <p:cNvPr id="5" name="Content Placeholder 4">
            <a:extLst>
              <a:ext uri="{FF2B5EF4-FFF2-40B4-BE49-F238E27FC236}">
                <a16:creationId xmlns:a16="http://schemas.microsoft.com/office/drawing/2014/main" id="{77EA7558-5CEE-AC70-F70B-DF255B836FA5}"/>
              </a:ext>
            </a:extLst>
          </p:cNvPr>
          <p:cNvSpPr>
            <a:spLocks noGrp="1"/>
          </p:cNvSpPr>
          <p:nvPr>
            <p:ph sz="half" idx="1"/>
          </p:nvPr>
        </p:nvSpPr>
        <p:spPr/>
        <p:txBody>
          <a:bodyPr>
            <a:normAutofit/>
          </a:bodyPr>
          <a:lstStyle/>
          <a:p>
            <a:r>
              <a:rPr lang="en-US" dirty="0"/>
              <a:t>The sf package provides </a:t>
            </a:r>
            <a:r>
              <a:rPr lang="en-US" sz="1800" b="1" dirty="0" err="1">
                <a:latin typeface="Consolas" panose="020B0609020204030204" pitchFamily="49" charset="0"/>
                <a:cs typeface="Consolas" panose="020B0609020204030204" pitchFamily="49" charset="0"/>
              </a:rPr>
              <a:t>st_simplify</a:t>
            </a:r>
            <a:r>
              <a:rPr lang="en-US" sz="1800" b="1" dirty="0">
                <a:latin typeface="Consolas" panose="020B0609020204030204" pitchFamily="49" charset="0"/>
                <a:cs typeface="Consolas" panose="020B0609020204030204" pitchFamily="49" charset="0"/>
              </a:rPr>
              <a:t>()</a:t>
            </a:r>
            <a:r>
              <a:rPr lang="en-US" dirty="0"/>
              <a:t>, which uses the </a:t>
            </a:r>
            <a:r>
              <a:rPr lang="en-US" b="1" dirty="0"/>
              <a:t>Douglas-</a:t>
            </a:r>
            <a:r>
              <a:rPr lang="en-US" b="1" dirty="0" err="1"/>
              <a:t>Peucker</a:t>
            </a:r>
            <a:r>
              <a:rPr lang="en-US" b="1" dirty="0"/>
              <a:t> algorithm </a:t>
            </a:r>
            <a:r>
              <a:rPr lang="en-US" dirty="0"/>
              <a:t>to reduce the vertex count.</a:t>
            </a:r>
          </a:p>
          <a:p>
            <a:r>
              <a:rPr lang="en-US" sz="1800" b="1" dirty="0" err="1">
                <a:latin typeface="Consolas" panose="020B0609020204030204" pitchFamily="49" charset="0"/>
                <a:cs typeface="Consolas" panose="020B0609020204030204" pitchFamily="49" charset="0"/>
              </a:rPr>
              <a:t>st_simplify</a:t>
            </a:r>
            <a:r>
              <a:rPr lang="en-US" sz="1800" b="1" dirty="0">
                <a:latin typeface="Consolas" panose="020B0609020204030204" pitchFamily="49" charset="0"/>
                <a:cs typeface="Consolas" panose="020B0609020204030204" pitchFamily="49" charset="0"/>
              </a:rPr>
              <a:t>()</a:t>
            </a:r>
            <a:r>
              <a:rPr lang="en-US" dirty="0"/>
              <a:t> uses the </a:t>
            </a:r>
            <a:r>
              <a:rPr lang="en-US" b="1" dirty="0" err="1"/>
              <a:t>dTolerance</a:t>
            </a:r>
            <a:r>
              <a:rPr lang="en-US" dirty="0"/>
              <a:t> to control the level of generalization in map units.</a:t>
            </a:r>
          </a:p>
        </p:txBody>
      </p:sp>
      <p:sp>
        <p:nvSpPr>
          <p:cNvPr id="2" name="Slide Number Placeholder 1">
            <a:extLst>
              <a:ext uri="{FF2B5EF4-FFF2-40B4-BE49-F238E27FC236}">
                <a16:creationId xmlns:a16="http://schemas.microsoft.com/office/drawing/2014/main" id="{24980722-2DFB-BDB3-9F53-A79C002C87AF}"/>
              </a:ext>
            </a:extLst>
          </p:cNvPr>
          <p:cNvSpPr>
            <a:spLocks noGrp="1"/>
          </p:cNvSpPr>
          <p:nvPr>
            <p:ph type="sldNum" sz="quarter" idx="12"/>
          </p:nvPr>
        </p:nvSpPr>
        <p:spPr/>
        <p:txBody>
          <a:bodyPr/>
          <a:lstStyle/>
          <a:p>
            <a:fld id="{C0343C75-1924-D247-85A3-0CB62E67E5D1}" type="slidenum">
              <a:rPr lang="en-US" smtClean="0"/>
              <a:t>7</a:t>
            </a:fld>
            <a:endParaRPr lang="en-US"/>
          </a:p>
        </p:txBody>
      </p:sp>
    </p:spTree>
    <p:extLst>
      <p:ext uri="{BB962C8B-B14F-4D97-AF65-F5344CB8AC3E}">
        <p14:creationId xmlns:p14="http://schemas.microsoft.com/office/powerpoint/2010/main" val="3525833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E6B0C-9FF1-E568-021A-EF8FE8C7B5EB}"/>
              </a:ext>
            </a:extLst>
          </p:cNvPr>
          <p:cNvSpPr>
            <a:spLocks noGrp="1"/>
          </p:cNvSpPr>
          <p:nvPr>
            <p:ph type="title"/>
          </p:nvPr>
        </p:nvSpPr>
        <p:spPr/>
        <p:txBody>
          <a:bodyPr>
            <a:normAutofit/>
          </a:bodyPr>
          <a:lstStyle/>
          <a:p>
            <a:r>
              <a:rPr lang="en-US" dirty="0"/>
              <a:t>Simplification of a LINESTRING geometry representing the River Seine and tributaries</a:t>
            </a:r>
          </a:p>
        </p:txBody>
      </p:sp>
      <p:sp>
        <p:nvSpPr>
          <p:cNvPr id="3" name="Content Placeholder 2">
            <a:extLst>
              <a:ext uri="{FF2B5EF4-FFF2-40B4-BE49-F238E27FC236}">
                <a16:creationId xmlns:a16="http://schemas.microsoft.com/office/drawing/2014/main" id="{B5AA6361-D7A0-7051-B326-181C773BB388}"/>
              </a:ext>
            </a:extLst>
          </p:cNvPr>
          <p:cNvSpPr>
            <a:spLocks noGrp="1"/>
          </p:cNvSpPr>
          <p:nvPr>
            <p:ph sz="half" idx="1"/>
          </p:nvPr>
        </p:nvSpPr>
        <p:spPr>
          <a:xfrm>
            <a:off x="457200" y="3624897"/>
            <a:ext cx="4057650" cy="2552066"/>
          </a:xfrm>
        </p:spPr>
        <p:txBody>
          <a:bodyPr>
            <a:normAutofit lnSpcReduction="10000"/>
          </a:bodyPr>
          <a:lstStyle/>
          <a:p>
            <a:r>
              <a:rPr lang="en-US" dirty="0"/>
              <a:t>The resulting object is a copy of the original but with fewer vertices.</a:t>
            </a:r>
          </a:p>
          <a:p>
            <a:r>
              <a:rPr lang="en-US" dirty="0"/>
              <a:t>This is apparent, with the result being visually simpler and consuming less memory than the original object (as verified).</a:t>
            </a:r>
          </a:p>
        </p:txBody>
      </p:sp>
      <p:sp>
        <p:nvSpPr>
          <p:cNvPr id="4" name="Content Placeholder 3">
            <a:extLst>
              <a:ext uri="{FF2B5EF4-FFF2-40B4-BE49-F238E27FC236}">
                <a16:creationId xmlns:a16="http://schemas.microsoft.com/office/drawing/2014/main" id="{E5299F07-DA5D-5FA3-CE9C-B621B6702BF1}"/>
              </a:ext>
            </a:extLst>
          </p:cNvPr>
          <p:cNvSpPr>
            <a:spLocks noGrp="1"/>
          </p:cNvSpPr>
          <p:nvPr>
            <p:ph sz="half" idx="2"/>
          </p:nvPr>
        </p:nvSpPr>
        <p:spPr/>
        <p:txBody>
          <a:bodyPr>
            <a:normAutofit lnSpcReduction="10000"/>
          </a:bodyPr>
          <a:lstStyle/>
          <a:p>
            <a:r>
              <a:rPr lang="en-US" dirty="0"/>
              <a:t>library(sf)</a:t>
            </a:r>
          </a:p>
          <a:p>
            <a:r>
              <a:rPr lang="en-US" dirty="0"/>
              <a:t>library(</a:t>
            </a:r>
            <a:r>
              <a:rPr lang="en-US" dirty="0" err="1"/>
              <a:t>dplyr</a:t>
            </a:r>
            <a:r>
              <a:rPr lang="en-US" dirty="0"/>
              <a:t>)</a:t>
            </a:r>
          </a:p>
          <a:p>
            <a:r>
              <a:rPr lang="en-US" dirty="0"/>
              <a:t>library(</a:t>
            </a:r>
            <a:r>
              <a:rPr lang="en-US" dirty="0" err="1"/>
              <a:t>spData</a:t>
            </a:r>
            <a:r>
              <a:rPr lang="en-US" dirty="0"/>
              <a:t>)</a:t>
            </a:r>
          </a:p>
          <a:p>
            <a:endParaRPr lang="en-US" dirty="0"/>
          </a:p>
          <a:p>
            <a:r>
              <a:rPr lang="en-US" dirty="0" err="1"/>
              <a:t>seine_simp</a:t>
            </a:r>
            <a:r>
              <a:rPr lang="en-US" dirty="0"/>
              <a:t> = </a:t>
            </a:r>
            <a:r>
              <a:rPr lang="en-US" dirty="0" err="1"/>
              <a:t>st_simplify</a:t>
            </a:r>
            <a:r>
              <a:rPr lang="en-US" dirty="0"/>
              <a:t>(seine, </a:t>
            </a:r>
            <a:r>
              <a:rPr lang="en-US" dirty="0" err="1"/>
              <a:t>dTolerance</a:t>
            </a:r>
            <a:r>
              <a:rPr lang="en-US" dirty="0"/>
              <a:t> = 2000)  # 2000 m</a:t>
            </a:r>
          </a:p>
          <a:p>
            <a:endParaRPr lang="en-US" dirty="0"/>
          </a:p>
          <a:p>
            <a:r>
              <a:rPr lang="en-US" dirty="0" err="1"/>
              <a:t>object.size</a:t>
            </a:r>
            <a:r>
              <a:rPr lang="en-US" dirty="0"/>
              <a:t>(seine)</a:t>
            </a:r>
          </a:p>
          <a:p>
            <a:r>
              <a:rPr lang="en-US" b="0" dirty="0">
                <a:solidFill>
                  <a:schemeClr val="bg2">
                    <a:lumMod val="90000"/>
                  </a:schemeClr>
                </a:solidFill>
              </a:rPr>
              <a:t># 18096 bytes</a:t>
            </a:r>
          </a:p>
          <a:p>
            <a:endParaRPr lang="en-US" dirty="0"/>
          </a:p>
          <a:p>
            <a:r>
              <a:rPr lang="en-US" dirty="0" err="1"/>
              <a:t>object.size</a:t>
            </a:r>
            <a:r>
              <a:rPr lang="en-US" dirty="0"/>
              <a:t>(</a:t>
            </a:r>
            <a:r>
              <a:rPr lang="en-US" dirty="0" err="1"/>
              <a:t>seine_simp</a:t>
            </a:r>
            <a:r>
              <a:rPr lang="en-US" dirty="0"/>
              <a:t>)</a:t>
            </a:r>
          </a:p>
          <a:p>
            <a:r>
              <a:rPr lang="en-US" b="0" dirty="0">
                <a:solidFill>
                  <a:schemeClr val="bg2">
                    <a:lumMod val="90000"/>
                  </a:schemeClr>
                </a:solidFill>
              </a:rPr>
              <a:t># 9112 bytes</a:t>
            </a:r>
          </a:p>
        </p:txBody>
      </p:sp>
      <p:pic>
        <p:nvPicPr>
          <p:cNvPr id="22" name="Picture 21" descr="A black outline of a river&#10;&#10;AI-generated content may be incorrect.">
            <a:extLst>
              <a:ext uri="{FF2B5EF4-FFF2-40B4-BE49-F238E27FC236}">
                <a16:creationId xmlns:a16="http://schemas.microsoft.com/office/drawing/2014/main" id="{80C2B187-9A67-7A41-C677-9D59917BC45B}"/>
              </a:ext>
            </a:extLst>
          </p:cNvPr>
          <p:cNvPicPr>
            <a:picLocks noChangeAspect="1"/>
          </p:cNvPicPr>
          <p:nvPr/>
        </p:nvPicPr>
        <p:blipFill>
          <a:blip r:embed="rId2"/>
          <a:stretch>
            <a:fillRect/>
          </a:stretch>
        </p:blipFill>
        <p:spPr>
          <a:xfrm>
            <a:off x="457200" y="1596072"/>
            <a:ext cx="4057650" cy="2028825"/>
          </a:xfrm>
          <a:prstGeom prst="rect">
            <a:avLst/>
          </a:prstGeom>
        </p:spPr>
      </p:pic>
      <p:sp>
        <p:nvSpPr>
          <p:cNvPr id="5" name="Slide Number Placeholder 4">
            <a:extLst>
              <a:ext uri="{FF2B5EF4-FFF2-40B4-BE49-F238E27FC236}">
                <a16:creationId xmlns:a16="http://schemas.microsoft.com/office/drawing/2014/main" id="{48031DDE-6470-992C-6C14-D196BD24BBA1}"/>
              </a:ext>
            </a:extLst>
          </p:cNvPr>
          <p:cNvSpPr>
            <a:spLocks noGrp="1"/>
          </p:cNvSpPr>
          <p:nvPr>
            <p:ph type="sldNum" sz="quarter" idx="12"/>
          </p:nvPr>
        </p:nvSpPr>
        <p:spPr/>
        <p:txBody>
          <a:bodyPr/>
          <a:lstStyle/>
          <a:p>
            <a:fld id="{C0343C75-1924-D247-85A3-0CB62E67E5D1}" type="slidenum">
              <a:rPr lang="en-US" smtClean="0"/>
              <a:t>8</a:t>
            </a:fld>
            <a:endParaRPr lang="en-US"/>
          </a:p>
        </p:txBody>
      </p:sp>
    </p:spTree>
    <p:extLst>
      <p:ext uri="{BB962C8B-B14F-4D97-AF65-F5344CB8AC3E}">
        <p14:creationId xmlns:p14="http://schemas.microsoft.com/office/powerpoint/2010/main" val="1893642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96A5B-D8BD-AEF0-3330-3B679E2780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1C518B5-4BC7-1CD1-8EB8-B33F74A21459}"/>
              </a:ext>
            </a:extLst>
          </p:cNvPr>
          <p:cNvSpPr>
            <a:spLocks noGrp="1"/>
          </p:cNvSpPr>
          <p:nvPr>
            <p:ph type="title"/>
          </p:nvPr>
        </p:nvSpPr>
        <p:spPr/>
        <p:txBody>
          <a:bodyPr/>
          <a:lstStyle/>
          <a:p>
            <a:r>
              <a:rPr lang="en-US" dirty="0"/>
              <a:t>Simplification Example</a:t>
            </a:r>
          </a:p>
        </p:txBody>
      </p:sp>
      <p:sp>
        <p:nvSpPr>
          <p:cNvPr id="7" name="Content Placeholder 6">
            <a:extLst>
              <a:ext uri="{FF2B5EF4-FFF2-40B4-BE49-F238E27FC236}">
                <a16:creationId xmlns:a16="http://schemas.microsoft.com/office/drawing/2014/main" id="{69F1931A-CC8E-F31E-0DB6-DBFE71B31B78}"/>
              </a:ext>
            </a:extLst>
          </p:cNvPr>
          <p:cNvSpPr>
            <a:spLocks noGrp="1"/>
          </p:cNvSpPr>
          <p:nvPr>
            <p:ph sz="half" idx="1"/>
          </p:nvPr>
        </p:nvSpPr>
        <p:spPr>
          <a:xfrm>
            <a:off x="457200" y="4094533"/>
            <a:ext cx="4057650" cy="2082430"/>
          </a:xfrm>
        </p:spPr>
        <p:txBody>
          <a:bodyPr>
            <a:normAutofit/>
          </a:bodyPr>
          <a:lstStyle/>
          <a:p>
            <a:r>
              <a:rPr lang="en-US" sz="1800" dirty="0"/>
              <a:t>A limitation with </a:t>
            </a:r>
            <a:r>
              <a:rPr lang="en-US" sz="1600" b="1" dirty="0" err="1">
                <a:latin typeface="Consolas" panose="020B0609020204030204" pitchFamily="49" charset="0"/>
                <a:cs typeface="Consolas" panose="020B0609020204030204" pitchFamily="49" charset="0"/>
              </a:rPr>
              <a:t>st_simplify</a:t>
            </a:r>
            <a:r>
              <a:rPr lang="en-US" sz="1600" b="1" dirty="0">
                <a:latin typeface="Consolas" panose="020B0609020204030204" pitchFamily="49" charset="0"/>
                <a:cs typeface="Consolas" panose="020B0609020204030204" pitchFamily="49" charset="0"/>
              </a:rPr>
              <a:t>()</a:t>
            </a:r>
            <a:r>
              <a:rPr lang="en-US" sz="1800" dirty="0"/>
              <a:t> is that it simplifies objects on a per-geometry basis</a:t>
            </a:r>
          </a:p>
          <a:p>
            <a:r>
              <a:rPr lang="en-US" sz="1800" dirty="0"/>
              <a:t>This means the 'topology' is lost, resulting in overlapping and 'holey' areal units</a:t>
            </a:r>
          </a:p>
        </p:txBody>
      </p:sp>
      <p:sp>
        <p:nvSpPr>
          <p:cNvPr id="8" name="Content Placeholder 7">
            <a:extLst>
              <a:ext uri="{FF2B5EF4-FFF2-40B4-BE49-F238E27FC236}">
                <a16:creationId xmlns:a16="http://schemas.microsoft.com/office/drawing/2014/main" id="{857CA20F-6E9C-BA31-7149-B1DFE6522C24}"/>
              </a:ext>
            </a:extLst>
          </p:cNvPr>
          <p:cNvSpPr>
            <a:spLocks noGrp="1"/>
          </p:cNvSpPr>
          <p:nvPr>
            <p:ph sz="half" idx="2"/>
          </p:nvPr>
        </p:nvSpPr>
        <p:spPr/>
        <p:txBody>
          <a:bodyPr>
            <a:normAutofit/>
          </a:bodyPr>
          <a:lstStyle/>
          <a:p>
            <a:r>
              <a:rPr lang="en-US" sz="1400" dirty="0"/>
              <a:t>us_states_simp1 = </a:t>
            </a:r>
            <a:r>
              <a:rPr lang="en-US" sz="1400" dirty="0" err="1"/>
              <a:t>st_simplify</a:t>
            </a:r>
            <a:r>
              <a:rPr lang="en-US" sz="1400" dirty="0"/>
              <a:t>(</a:t>
            </a:r>
            <a:r>
              <a:rPr lang="en-US" sz="1400" dirty="0" err="1"/>
              <a:t>us_states</a:t>
            </a:r>
            <a:r>
              <a:rPr lang="en-US" sz="1400" dirty="0"/>
              <a:t>, </a:t>
            </a:r>
            <a:r>
              <a:rPr lang="en-US" sz="1400" dirty="0" err="1"/>
              <a:t>dTolerance</a:t>
            </a:r>
            <a:r>
              <a:rPr lang="en-US" sz="1400" dirty="0"/>
              <a:t> = 100000) # 100 km</a:t>
            </a:r>
          </a:p>
        </p:txBody>
      </p:sp>
      <p:pic>
        <p:nvPicPr>
          <p:cNvPr id="22" name="Picture 21">
            <a:extLst>
              <a:ext uri="{FF2B5EF4-FFF2-40B4-BE49-F238E27FC236}">
                <a16:creationId xmlns:a16="http://schemas.microsoft.com/office/drawing/2014/main" id="{CAD803BC-86CF-E217-1D22-AD2E6EFAB2D0}"/>
              </a:ext>
            </a:extLst>
          </p:cNvPr>
          <p:cNvPicPr>
            <a:picLocks noChangeAspect="1"/>
          </p:cNvPicPr>
          <p:nvPr/>
        </p:nvPicPr>
        <p:blipFill>
          <a:blip r:embed="rId2"/>
          <a:srcRect/>
          <a:stretch/>
        </p:blipFill>
        <p:spPr>
          <a:xfrm>
            <a:off x="457200" y="1596072"/>
            <a:ext cx="4057650" cy="2498461"/>
          </a:xfrm>
          <a:prstGeom prst="rect">
            <a:avLst/>
          </a:prstGeom>
        </p:spPr>
      </p:pic>
      <p:sp>
        <p:nvSpPr>
          <p:cNvPr id="2" name="Rectangle 1">
            <a:extLst>
              <a:ext uri="{FF2B5EF4-FFF2-40B4-BE49-F238E27FC236}">
                <a16:creationId xmlns:a16="http://schemas.microsoft.com/office/drawing/2014/main" id="{90DE49B1-6C23-365C-E4E0-3672722A4024}"/>
              </a:ext>
            </a:extLst>
          </p:cNvPr>
          <p:cNvSpPr/>
          <p:nvPr/>
        </p:nvSpPr>
        <p:spPr>
          <a:xfrm>
            <a:off x="457200" y="2946400"/>
            <a:ext cx="4057650" cy="114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78675FF0-0154-08C9-206C-EFEAAA7CB370}"/>
              </a:ext>
            </a:extLst>
          </p:cNvPr>
          <p:cNvSpPr>
            <a:spLocks noGrp="1"/>
          </p:cNvSpPr>
          <p:nvPr>
            <p:ph type="sldNum" sz="quarter" idx="12"/>
          </p:nvPr>
        </p:nvSpPr>
        <p:spPr/>
        <p:txBody>
          <a:bodyPr/>
          <a:lstStyle/>
          <a:p>
            <a:fld id="{C0343C75-1924-D247-85A3-0CB62E67E5D1}" type="slidenum">
              <a:rPr lang="en-US" smtClean="0"/>
              <a:t>9</a:t>
            </a:fld>
            <a:endParaRPr lang="en-US"/>
          </a:p>
        </p:txBody>
      </p:sp>
    </p:spTree>
    <p:extLst>
      <p:ext uri="{BB962C8B-B14F-4D97-AF65-F5344CB8AC3E}">
        <p14:creationId xmlns:p14="http://schemas.microsoft.com/office/powerpoint/2010/main" val="4221683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7A8DC-2551-41AC-2BFA-4CAD1F10008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5413FA-275E-CE68-92E6-11C13044BE9B}"/>
              </a:ext>
            </a:extLst>
          </p:cNvPr>
          <p:cNvSpPr>
            <a:spLocks noGrp="1"/>
          </p:cNvSpPr>
          <p:nvPr>
            <p:ph type="title"/>
          </p:nvPr>
        </p:nvSpPr>
        <p:spPr/>
        <p:txBody>
          <a:bodyPr/>
          <a:lstStyle/>
          <a:p>
            <a:r>
              <a:rPr lang="en-US" dirty="0"/>
              <a:t>Simplification Alternative</a:t>
            </a:r>
          </a:p>
        </p:txBody>
      </p:sp>
      <p:sp>
        <p:nvSpPr>
          <p:cNvPr id="7" name="Content Placeholder 6">
            <a:extLst>
              <a:ext uri="{FF2B5EF4-FFF2-40B4-BE49-F238E27FC236}">
                <a16:creationId xmlns:a16="http://schemas.microsoft.com/office/drawing/2014/main" id="{BCF73054-63EB-11E1-C676-A58F27FE6E6E}"/>
              </a:ext>
            </a:extLst>
          </p:cNvPr>
          <p:cNvSpPr>
            <a:spLocks noGrp="1"/>
          </p:cNvSpPr>
          <p:nvPr>
            <p:ph sz="half" idx="1"/>
          </p:nvPr>
        </p:nvSpPr>
        <p:spPr>
          <a:xfrm>
            <a:off x="457200" y="4094533"/>
            <a:ext cx="4057650" cy="2082430"/>
          </a:xfrm>
        </p:spPr>
        <p:txBody>
          <a:bodyPr>
            <a:normAutofit/>
          </a:bodyPr>
          <a:lstStyle/>
          <a:p>
            <a:r>
              <a:rPr lang="en-US" sz="1600" b="1" dirty="0" err="1">
                <a:latin typeface="Consolas" panose="020B0609020204030204" pitchFamily="49" charset="0"/>
                <a:cs typeface="Consolas" panose="020B0609020204030204" pitchFamily="49" charset="0"/>
              </a:rPr>
              <a:t>rmapshaper</a:t>
            </a:r>
            <a:r>
              <a:rPr lang="en-US" sz="1800" dirty="0"/>
              <a:t> provides an alternative</a:t>
            </a:r>
          </a:p>
          <a:p>
            <a:r>
              <a:rPr lang="en-US" sz="1800" dirty="0"/>
              <a:t>By default it uses the </a:t>
            </a:r>
            <a:r>
              <a:rPr lang="en-US" sz="1800" dirty="0" err="1"/>
              <a:t>Visvalingam</a:t>
            </a:r>
            <a:r>
              <a:rPr lang="en-US" sz="1800" dirty="0"/>
              <a:t> algorithm (which overcomes some limitations of the Douglas-</a:t>
            </a:r>
            <a:r>
              <a:rPr lang="en-US" sz="1800" dirty="0" err="1"/>
              <a:t>Peucker</a:t>
            </a:r>
            <a:r>
              <a:rPr lang="en-US" sz="1800" dirty="0"/>
              <a:t> algorithm)</a:t>
            </a:r>
          </a:p>
        </p:txBody>
      </p:sp>
      <p:sp>
        <p:nvSpPr>
          <p:cNvPr id="8" name="Content Placeholder 7">
            <a:extLst>
              <a:ext uri="{FF2B5EF4-FFF2-40B4-BE49-F238E27FC236}">
                <a16:creationId xmlns:a16="http://schemas.microsoft.com/office/drawing/2014/main" id="{E40B887F-F113-967F-0E9F-4A0908B5084D}"/>
              </a:ext>
            </a:extLst>
          </p:cNvPr>
          <p:cNvSpPr>
            <a:spLocks noGrp="1"/>
          </p:cNvSpPr>
          <p:nvPr>
            <p:ph sz="half" idx="2"/>
          </p:nvPr>
        </p:nvSpPr>
        <p:spPr/>
        <p:txBody>
          <a:bodyPr>
            <a:normAutofit/>
          </a:bodyPr>
          <a:lstStyle/>
          <a:p>
            <a:r>
              <a:rPr lang="en-US" sz="1400" dirty="0"/>
              <a:t>us_states_simp1 = </a:t>
            </a:r>
            <a:r>
              <a:rPr lang="en-US" sz="1400" dirty="0" err="1"/>
              <a:t>st_simplify</a:t>
            </a:r>
            <a:r>
              <a:rPr lang="en-US" sz="1400" dirty="0"/>
              <a:t>(</a:t>
            </a:r>
            <a:r>
              <a:rPr lang="en-US" sz="1400" dirty="0" err="1"/>
              <a:t>us_states</a:t>
            </a:r>
            <a:r>
              <a:rPr lang="en-US" sz="1400" dirty="0"/>
              <a:t>, </a:t>
            </a:r>
            <a:r>
              <a:rPr lang="en-US" sz="1400" dirty="0" err="1"/>
              <a:t>dTolerance</a:t>
            </a:r>
            <a:r>
              <a:rPr lang="en-US" sz="1400" dirty="0"/>
              <a:t> = 100000) # 100 km</a:t>
            </a:r>
          </a:p>
          <a:p>
            <a:endParaRPr lang="en-US" sz="1400" dirty="0">
              <a:solidFill>
                <a:schemeClr val="bg2">
                  <a:lumMod val="90000"/>
                </a:schemeClr>
              </a:solidFill>
            </a:endParaRPr>
          </a:p>
          <a:p>
            <a:r>
              <a:rPr lang="en-US" sz="1400" dirty="0">
                <a:solidFill>
                  <a:schemeClr val="bg2">
                    <a:lumMod val="90000"/>
                  </a:schemeClr>
                </a:solidFill>
              </a:rPr>
              <a:t># proportion of points to retain</a:t>
            </a:r>
          </a:p>
          <a:p>
            <a:r>
              <a:rPr lang="en-US" sz="1400" dirty="0">
                <a:solidFill>
                  <a:schemeClr val="bg2">
                    <a:lumMod val="90000"/>
                  </a:schemeClr>
                </a:solidFill>
              </a:rPr>
              <a:t># (0-1; default 0.05)</a:t>
            </a:r>
          </a:p>
          <a:p>
            <a:r>
              <a:rPr lang="en-US" sz="1400" dirty="0">
                <a:solidFill>
                  <a:srgbClr val="FFFF00"/>
                </a:solidFill>
              </a:rPr>
              <a:t>us_states_simp2 = </a:t>
            </a:r>
            <a:r>
              <a:rPr lang="en-US" sz="1400" dirty="0" err="1">
                <a:solidFill>
                  <a:srgbClr val="FFFF00"/>
                </a:solidFill>
              </a:rPr>
              <a:t>rmapshaper</a:t>
            </a:r>
            <a:r>
              <a:rPr lang="en-US" sz="1400" dirty="0">
                <a:solidFill>
                  <a:srgbClr val="FFFF00"/>
                </a:solidFill>
              </a:rPr>
              <a:t>::</a:t>
            </a:r>
            <a:r>
              <a:rPr lang="en-US" sz="1400" dirty="0" err="1">
                <a:solidFill>
                  <a:srgbClr val="FFFF00"/>
                </a:solidFill>
              </a:rPr>
              <a:t>ms_simplify</a:t>
            </a:r>
            <a:r>
              <a:rPr lang="en-US" sz="1400" dirty="0">
                <a:solidFill>
                  <a:srgbClr val="FFFF00"/>
                </a:solidFill>
              </a:rPr>
              <a:t>(</a:t>
            </a:r>
            <a:r>
              <a:rPr lang="en-US" sz="1400" dirty="0" err="1">
                <a:solidFill>
                  <a:srgbClr val="FFFF00"/>
                </a:solidFill>
              </a:rPr>
              <a:t>us_states</a:t>
            </a:r>
            <a:r>
              <a:rPr lang="en-US" sz="1400" dirty="0">
                <a:solidFill>
                  <a:srgbClr val="FFFF00"/>
                </a:solidFill>
              </a:rPr>
              <a:t>, keep = 0.01, </a:t>
            </a:r>
            <a:r>
              <a:rPr lang="en-US" sz="1400" dirty="0" err="1">
                <a:solidFill>
                  <a:srgbClr val="FFFF00"/>
                </a:solidFill>
              </a:rPr>
              <a:t>keep_shapes</a:t>
            </a:r>
            <a:r>
              <a:rPr lang="en-US" sz="1400" dirty="0">
                <a:solidFill>
                  <a:srgbClr val="FFFF00"/>
                </a:solidFill>
              </a:rPr>
              <a:t> = TRUE)</a:t>
            </a:r>
          </a:p>
        </p:txBody>
      </p:sp>
      <p:pic>
        <p:nvPicPr>
          <p:cNvPr id="22" name="Picture 21">
            <a:extLst>
              <a:ext uri="{FF2B5EF4-FFF2-40B4-BE49-F238E27FC236}">
                <a16:creationId xmlns:a16="http://schemas.microsoft.com/office/drawing/2014/main" id="{17D9EEDA-F7CA-A7D8-C497-A3C5D0FEE575}"/>
              </a:ext>
            </a:extLst>
          </p:cNvPr>
          <p:cNvPicPr>
            <a:picLocks noChangeAspect="1"/>
          </p:cNvPicPr>
          <p:nvPr/>
        </p:nvPicPr>
        <p:blipFill>
          <a:blip r:embed="rId2"/>
          <a:srcRect/>
          <a:stretch/>
        </p:blipFill>
        <p:spPr>
          <a:xfrm>
            <a:off x="457200" y="1596072"/>
            <a:ext cx="4057650" cy="2498461"/>
          </a:xfrm>
          <a:prstGeom prst="rect">
            <a:avLst/>
          </a:prstGeom>
        </p:spPr>
      </p:pic>
      <p:sp>
        <p:nvSpPr>
          <p:cNvPr id="2" name="Rectangle 1">
            <a:extLst>
              <a:ext uri="{FF2B5EF4-FFF2-40B4-BE49-F238E27FC236}">
                <a16:creationId xmlns:a16="http://schemas.microsoft.com/office/drawing/2014/main" id="{A7F8D000-007B-7871-0967-4EF50D233008}"/>
              </a:ext>
            </a:extLst>
          </p:cNvPr>
          <p:cNvSpPr/>
          <p:nvPr/>
        </p:nvSpPr>
        <p:spPr>
          <a:xfrm>
            <a:off x="2506132" y="2946400"/>
            <a:ext cx="2008717" cy="114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0F06FE23-5079-7BCD-2BC0-34CF05EC0BD9}"/>
              </a:ext>
            </a:extLst>
          </p:cNvPr>
          <p:cNvSpPr>
            <a:spLocks noGrp="1"/>
          </p:cNvSpPr>
          <p:nvPr>
            <p:ph type="sldNum" sz="quarter" idx="12"/>
          </p:nvPr>
        </p:nvSpPr>
        <p:spPr/>
        <p:txBody>
          <a:bodyPr/>
          <a:lstStyle/>
          <a:p>
            <a:fld id="{C0343C75-1924-D247-85A3-0CB62E67E5D1}" type="slidenum">
              <a:rPr lang="en-US" smtClean="0"/>
              <a:t>10</a:t>
            </a:fld>
            <a:endParaRPr lang="en-US"/>
          </a:p>
        </p:txBody>
      </p:sp>
    </p:spTree>
    <p:extLst>
      <p:ext uri="{BB962C8B-B14F-4D97-AF65-F5344CB8AC3E}">
        <p14:creationId xmlns:p14="http://schemas.microsoft.com/office/powerpoint/2010/main" val="3404618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2E68A-983F-2B77-3F14-8D157141AAB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0D04B8E-ECB4-A103-8D91-DFD9F12953B3}"/>
              </a:ext>
            </a:extLst>
          </p:cNvPr>
          <p:cNvSpPr>
            <a:spLocks noGrp="1"/>
          </p:cNvSpPr>
          <p:nvPr>
            <p:ph type="title"/>
          </p:nvPr>
        </p:nvSpPr>
        <p:spPr/>
        <p:txBody>
          <a:bodyPr/>
          <a:lstStyle/>
          <a:p>
            <a:r>
              <a:rPr lang="en-US" dirty="0"/>
              <a:t>Simplification, Another Alternative</a:t>
            </a:r>
          </a:p>
        </p:txBody>
      </p:sp>
      <p:sp>
        <p:nvSpPr>
          <p:cNvPr id="7" name="Content Placeholder 6">
            <a:extLst>
              <a:ext uri="{FF2B5EF4-FFF2-40B4-BE49-F238E27FC236}">
                <a16:creationId xmlns:a16="http://schemas.microsoft.com/office/drawing/2014/main" id="{C4ADB11B-90C3-FE4F-C7F7-8714A3CBD39D}"/>
              </a:ext>
            </a:extLst>
          </p:cNvPr>
          <p:cNvSpPr>
            <a:spLocks noGrp="1"/>
          </p:cNvSpPr>
          <p:nvPr>
            <p:ph sz="half" idx="1"/>
          </p:nvPr>
        </p:nvSpPr>
        <p:spPr>
          <a:xfrm>
            <a:off x="457200" y="4094533"/>
            <a:ext cx="4057650" cy="2498460"/>
          </a:xfrm>
        </p:spPr>
        <p:txBody>
          <a:bodyPr>
            <a:normAutofit fontScale="92500" lnSpcReduction="10000"/>
          </a:bodyPr>
          <a:lstStyle/>
          <a:p>
            <a:r>
              <a:rPr lang="en-US" sz="1700" b="1" dirty="0" err="1">
                <a:latin typeface="Consolas" panose="020B0609020204030204" pitchFamily="49" charset="0"/>
                <a:cs typeface="Consolas" panose="020B0609020204030204" pitchFamily="49" charset="0"/>
              </a:rPr>
              <a:t>smoothr</a:t>
            </a:r>
            <a:r>
              <a:rPr lang="en-US" sz="1800" dirty="0"/>
              <a:t> implements three techniques for smoothing:</a:t>
            </a:r>
          </a:p>
          <a:p>
            <a:pPr lvl="1"/>
            <a:r>
              <a:rPr lang="en-US" sz="1400" dirty="0"/>
              <a:t>Gaussian kernel regression,</a:t>
            </a:r>
          </a:p>
          <a:p>
            <a:pPr lvl="1"/>
            <a:r>
              <a:rPr lang="en-US" sz="1400" dirty="0"/>
              <a:t>Chaikin's corner cutting algorithm, and </a:t>
            </a:r>
          </a:p>
          <a:p>
            <a:pPr lvl="1"/>
            <a:r>
              <a:rPr lang="en-US" sz="1400" dirty="0"/>
              <a:t>Spline interpolation</a:t>
            </a:r>
          </a:p>
          <a:p>
            <a:pPr lvl="1"/>
            <a:r>
              <a:rPr lang="en-US" sz="1400" dirty="0"/>
              <a:t>All described in the package website: </a:t>
            </a:r>
            <a:r>
              <a:rPr lang="en-US" sz="1400" dirty="0">
                <a:hlinkClick r:id="rId2"/>
              </a:rPr>
              <a:t>https://strimas.com/smoothr/</a:t>
            </a:r>
            <a:endParaRPr lang="en-US" sz="1400" dirty="0"/>
          </a:p>
          <a:p>
            <a:r>
              <a:rPr lang="en-US" sz="1800" dirty="0"/>
              <a:t>Similar to </a:t>
            </a:r>
            <a:r>
              <a:rPr lang="en-US" sz="1500" b="1" dirty="0" err="1">
                <a:latin typeface="Consolas" panose="020B0609020204030204" pitchFamily="49" charset="0"/>
                <a:cs typeface="Consolas" panose="020B0609020204030204" pitchFamily="49" charset="0"/>
              </a:rPr>
              <a:t>st_simplify</a:t>
            </a:r>
            <a:r>
              <a:rPr lang="en-US" sz="1500" b="1" dirty="0">
                <a:latin typeface="Consolas" panose="020B0609020204030204" pitchFamily="49" charset="0"/>
                <a:cs typeface="Consolas" panose="020B0609020204030204" pitchFamily="49" charset="0"/>
              </a:rPr>
              <a:t>()</a:t>
            </a:r>
            <a:r>
              <a:rPr lang="en-US" sz="1800" dirty="0"/>
              <a:t>,</a:t>
            </a:r>
            <a:br>
              <a:rPr lang="en-US" sz="1800" dirty="0"/>
            </a:br>
            <a:r>
              <a:rPr lang="en-US" sz="1800" dirty="0"/>
              <a:t>the smoothing algorithms don't preserve 'topology'</a:t>
            </a:r>
          </a:p>
        </p:txBody>
      </p:sp>
      <p:sp>
        <p:nvSpPr>
          <p:cNvPr id="8" name="Content Placeholder 7">
            <a:extLst>
              <a:ext uri="{FF2B5EF4-FFF2-40B4-BE49-F238E27FC236}">
                <a16:creationId xmlns:a16="http://schemas.microsoft.com/office/drawing/2014/main" id="{51EBDAAF-CB85-3D05-180A-C95BC7F00244}"/>
              </a:ext>
            </a:extLst>
          </p:cNvPr>
          <p:cNvSpPr>
            <a:spLocks noGrp="1"/>
          </p:cNvSpPr>
          <p:nvPr>
            <p:ph sz="half" idx="2"/>
          </p:nvPr>
        </p:nvSpPr>
        <p:spPr/>
        <p:txBody>
          <a:bodyPr>
            <a:normAutofit fontScale="92500" lnSpcReduction="10000"/>
          </a:bodyPr>
          <a:lstStyle/>
          <a:p>
            <a:r>
              <a:rPr lang="en-US" sz="1400" dirty="0"/>
              <a:t>us_states_simp1 = </a:t>
            </a:r>
            <a:br>
              <a:rPr lang="en-US" sz="1400" dirty="0"/>
            </a:br>
            <a:r>
              <a:rPr lang="en-US" sz="1400" dirty="0" err="1"/>
              <a:t>st_simplify</a:t>
            </a:r>
            <a:r>
              <a:rPr lang="en-US" sz="1400" dirty="0"/>
              <a:t>(</a:t>
            </a:r>
            <a:r>
              <a:rPr lang="en-US" sz="1400" dirty="0" err="1"/>
              <a:t>us_states</a:t>
            </a:r>
            <a:r>
              <a:rPr lang="en-US" sz="1400" dirty="0"/>
              <a:t>, </a:t>
            </a:r>
            <a:r>
              <a:rPr lang="en-US" sz="1400" dirty="0" err="1"/>
              <a:t>dTolerance</a:t>
            </a:r>
            <a:r>
              <a:rPr lang="en-US" sz="1400" dirty="0"/>
              <a:t> = 100000) # 100 km</a:t>
            </a:r>
          </a:p>
          <a:p>
            <a:endParaRPr lang="en-US" sz="1400" dirty="0">
              <a:solidFill>
                <a:schemeClr val="bg2">
                  <a:lumMod val="90000"/>
                </a:schemeClr>
              </a:solidFill>
            </a:endParaRPr>
          </a:p>
          <a:p>
            <a:r>
              <a:rPr lang="en-US" sz="1400" dirty="0">
                <a:solidFill>
                  <a:schemeClr val="bg2">
                    <a:lumMod val="90000"/>
                  </a:schemeClr>
                </a:solidFill>
              </a:rPr>
              <a:t># proportion of points to retain</a:t>
            </a:r>
          </a:p>
          <a:p>
            <a:r>
              <a:rPr lang="en-US" sz="1400" dirty="0">
                <a:solidFill>
                  <a:schemeClr val="bg2">
                    <a:lumMod val="90000"/>
                  </a:schemeClr>
                </a:solidFill>
              </a:rPr>
              <a:t># (0-1; default 0.05)</a:t>
            </a:r>
          </a:p>
          <a:p>
            <a:r>
              <a:rPr lang="en-US" sz="1400" dirty="0"/>
              <a:t>us_states_simp2 = </a:t>
            </a:r>
            <a:r>
              <a:rPr lang="en-US" sz="1400" dirty="0" err="1"/>
              <a:t>rmapshaper</a:t>
            </a:r>
            <a:r>
              <a:rPr lang="en-US" sz="1400" dirty="0"/>
              <a:t>::</a:t>
            </a:r>
            <a:r>
              <a:rPr lang="en-US" sz="1400" dirty="0" err="1"/>
              <a:t>ms_simplify</a:t>
            </a:r>
            <a:r>
              <a:rPr lang="en-US" sz="1400" dirty="0"/>
              <a:t>(</a:t>
            </a:r>
            <a:r>
              <a:rPr lang="en-US" sz="1400" dirty="0" err="1"/>
              <a:t>us_states</a:t>
            </a:r>
            <a:r>
              <a:rPr lang="en-US" sz="1400" dirty="0"/>
              <a:t>, keep = 0.01, </a:t>
            </a:r>
            <a:r>
              <a:rPr lang="en-US" sz="1400" dirty="0" err="1"/>
              <a:t>keep_shapes</a:t>
            </a:r>
            <a:r>
              <a:rPr lang="en-US" sz="1400" dirty="0"/>
              <a:t> = TRUE)</a:t>
            </a:r>
          </a:p>
          <a:p>
            <a:endParaRPr lang="en-US" sz="1400" dirty="0"/>
          </a:p>
          <a:p>
            <a:r>
              <a:rPr lang="en-US" sz="1400" dirty="0">
                <a:solidFill>
                  <a:srgbClr val="FFFF00"/>
                </a:solidFill>
              </a:rPr>
              <a:t>us_states_simp3 = </a:t>
            </a:r>
            <a:r>
              <a:rPr lang="en-US" sz="1400" dirty="0" err="1">
                <a:solidFill>
                  <a:srgbClr val="FFFF00"/>
                </a:solidFill>
              </a:rPr>
              <a:t>smoothr</a:t>
            </a:r>
            <a:r>
              <a:rPr lang="en-US" sz="1400" dirty="0">
                <a:solidFill>
                  <a:srgbClr val="FFFF00"/>
                </a:solidFill>
              </a:rPr>
              <a:t>::smooth(</a:t>
            </a:r>
            <a:r>
              <a:rPr lang="en-US" sz="1400" dirty="0" err="1">
                <a:solidFill>
                  <a:srgbClr val="FFFF00"/>
                </a:solidFill>
              </a:rPr>
              <a:t>us_states</a:t>
            </a:r>
            <a:r>
              <a:rPr lang="en-US" sz="1400" dirty="0">
                <a:solidFill>
                  <a:srgbClr val="FFFF00"/>
                </a:solidFill>
              </a:rPr>
              <a:t>,</a:t>
            </a:r>
            <a:br>
              <a:rPr lang="en-US" sz="1400" dirty="0">
                <a:solidFill>
                  <a:srgbClr val="FFFF00"/>
                </a:solidFill>
              </a:rPr>
            </a:br>
            <a:r>
              <a:rPr lang="en-US" sz="1400" dirty="0">
                <a:solidFill>
                  <a:srgbClr val="92D050"/>
                </a:solidFill>
              </a:rPr>
              <a:t>method = "</a:t>
            </a:r>
            <a:r>
              <a:rPr lang="en-US" sz="1400" dirty="0" err="1">
                <a:solidFill>
                  <a:srgbClr val="92D050"/>
                </a:solidFill>
              </a:rPr>
              <a:t>ksmooth</a:t>
            </a:r>
            <a:r>
              <a:rPr lang="en-US" sz="1400" dirty="0">
                <a:solidFill>
                  <a:srgbClr val="92D050"/>
                </a:solidFill>
              </a:rPr>
              <a:t>"</a:t>
            </a:r>
            <a:r>
              <a:rPr lang="en-US" sz="1400" dirty="0">
                <a:solidFill>
                  <a:srgbClr val="FFFF00"/>
                </a:solidFill>
              </a:rPr>
              <a:t>, smoothness = 6)</a:t>
            </a:r>
          </a:p>
        </p:txBody>
      </p:sp>
      <p:pic>
        <p:nvPicPr>
          <p:cNvPr id="22" name="Picture 21">
            <a:extLst>
              <a:ext uri="{FF2B5EF4-FFF2-40B4-BE49-F238E27FC236}">
                <a16:creationId xmlns:a16="http://schemas.microsoft.com/office/drawing/2014/main" id="{EFA0DFAE-A02C-F3EC-97AE-D01691468E95}"/>
              </a:ext>
            </a:extLst>
          </p:cNvPr>
          <p:cNvPicPr>
            <a:picLocks noChangeAspect="1"/>
          </p:cNvPicPr>
          <p:nvPr/>
        </p:nvPicPr>
        <p:blipFill>
          <a:blip r:embed="rId3"/>
          <a:srcRect/>
          <a:stretch/>
        </p:blipFill>
        <p:spPr>
          <a:xfrm>
            <a:off x="457200" y="1596072"/>
            <a:ext cx="4057650" cy="2498461"/>
          </a:xfrm>
          <a:prstGeom prst="rect">
            <a:avLst/>
          </a:prstGeom>
        </p:spPr>
      </p:pic>
      <p:sp>
        <p:nvSpPr>
          <p:cNvPr id="2" name="Slide Number Placeholder 1">
            <a:extLst>
              <a:ext uri="{FF2B5EF4-FFF2-40B4-BE49-F238E27FC236}">
                <a16:creationId xmlns:a16="http://schemas.microsoft.com/office/drawing/2014/main" id="{B08D42D6-CC70-C679-2402-1ABB1879BC43}"/>
              </a:ext>
            </a:extLst>
          </p:cNvPr>
          <p:cNvSpPr>
            <a:spLocks noGrp="1"/>
          </p:cNvSpPr>
          <p:nvPr>
            <p:ph type="sldNum" sz="quarter" idx="12"/>
          </p:nvPr>
        </p:nvSpPr>
        <p:spPr/>
        <p:txBody>
          <a:bodyPr/>
          <a:lstStyle/>
          <a:p>
            <a:fld id="{C0343C75-1924-D247-85A3-0CB62E67E5D1}" type="slidenum">
              <a:rPr lang="en-US" smtClean="0"/>
              <a:t>11</a:t>
            </a:fld>
            <a:endParaRPr lang="en-US"/>
          </a:p>
        </p:txBody>
      </p:sp>
    </p:spTree>
    <p:extLst>
      <p:ext uri="{BB962C8B-B14F-4D97-AF65-F5344CB8AC3E}">
        <p14:creationId xmlns:p14="http://schemas.microsoft.com/office/powerpoint/2010/main" val="1829733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EFD2FA6-3C18-5A01-D1B6-A2798F0BE7C7}"/>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1371599" y="729049"/>
            <a:ext cx="6400800" cy="4572000"/>
          </a:xfrm>
          <a:prstGeom prst="rect">
            <a:avLst/>
          </a:prstGeom>
        </p:spPr>
      </p:pic>
      <p:sp>
        <p:nvSpPr>
          <p:cNvPr id="8" name="TextBox 7">
            <a:extLst>
              <a:ext uri="{FF2B5EF4-FFF2-40B4-BE49-F238E27FC236}">
                <a16:creationId xmlns:a16="http://schemas.microsoft.com/office/drawing/2014/main" id="{1EBFB853-1FB4-85F6-3E13-D4F6CFDC35D0}"/>
              </a:ext>
            </a:extLst>
          </p:cNvPr>
          <p:cNvSpPr txBox="1"/>
          <p:nvPr/>
        </p:nvSpPr>
        <p:spPr>
          <a:xfrm>
            <a:off x="1371599" y="5301049"/>
            <a:ext cx="7038622" cy="923330"/>
          </a:xfrm>
          <a:prstGeom prst="rect">
            <a:avLst/>
          </a:prstGeom>
          <a:noFill/>
        </p:spPr>
        <p:txBody>
          <a:bodyPr wrap="square" rtlCol="0">
            <a:spAutoFit/>
          </a:bodyPr>
          <a:lstStyle/>
          <a:p>
            <a:r>
              <a:rPr lang="en-US" b="1" dirty="0" err="1">
                <a:latin typeface="Consolas" panose="020B0609020204030204" pitchFamily="49" charset="0"/>
                <a:cs typeface="Consolas" panose="020B0609020204030204" pitchFamily="49" charset="0"/>
              </a:rPr>
              <a:t>smoothr</a:t>
            </a:r>
            <a:r>
              <a:rPr lang="en-US" dirty="0"/>
              <a:t> offers a variety of tools for smoothing and tidying spatial features (i.e., polygons and lines) to make them more aesthetically </a:t>
            </a:r>
            <a:r>
              <a:rPr lang="en-US" u="sng" dirty="0"/>
              <a:t>pleasing</a:t>
            </a:r>
            <a:r>
              <a:rPr lang="en-US" dirty="0"/>
              <a:t>, especially when converting raster data to vector format.</a:t>
            </a:r>
          </a:p>
        </p:txBody>
      </p:sp>
      <p:sp>
        <p:nvSpPr>
          <p:cNvPr id="2" name="Slide Number Placeholder 1">
            <a:extLst>
              <a:ext uri="{FF2B5EF4-FFF2-40B4-BE49-F238E27FC236}">
                <a16:creationId xmlns:a16="http://schemas.microsoft.com/office/drawing/2014/main" id="{F9C217EC-7D1D-C366-31A4-A5B9F6CC24E7}"/>
              </a:ext>
            </a:extLst>
          </p:cNvPr>
          <p:cNvSpPr>
            <a:spLocks noGrp="1"/>
          </p:cNvSpPr>
          <p:nvPr>
            <p:ph type="sldNum" sz="quarter" idx="12"/>
          </p:nvPr>
        </p:nvSpPr>
        <p:spPr/>
        <p:txBody>
          <a:bodyPr/>
          <a:lstStyle/>
          <a:p>
            <a:fld id="{C0343C75-1924-D247-85A3-0CB62E67E5D1}" type="slidenum">
              <a:rPr lang="en-US" smtClean="0"/>
              <a:t>12</a:t>
            </a:fld>
            <a:endParaRPr lang="en-US"/>
          </a:p>
        </p:txBody>
      </p:sp>
    </p:spTree>
    <p:extLst>
      <p:ext uri="{BB962C8B-B14F-4D97-AF65-F5344CB8AC3E}">
        <p14:creationId xmlns:p14="http://schemas.microsoft.com/office/powerpoint/2010/main" val="2701201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28A55-2A26-E012-44DC-DD2969E37837}"/>
              </a:ext>
            </a:extLst>
          </p:cNvPr>
          <p:cNvSpPr>
            <a:spLocks noGrp="1"/>
          </p:cNvSpPr>
          <p:nvPr>
            <p:ph type="title"/>
          </p:nvPr>
        </p:nvSpPr>
        <p:spPr/>
        <p:txBody>
          <a:bodyPr>
            <a:normAutofit/>
          </a:bodyPr>
          <a:lstStyle/>
          <a:p>
            <a:r>
              <a:rPr lang="en-US" dirty="0"/>
              <a:t>Also, on </a:t>
            </a:r>
            <a:r>
              <a:rPr lang="en-US" sz="3200" b="1" dirty="0" err="1">
                <a:latin typeface="Consolas" panose="020B0609020204030204" pitchFamily="49" charset="0"/>
                <a:cs typeface="Consolas" panose="020B0609020204030204" pitchFamily="49" charset="0"/>
              </a:rPr>
              <a:t>smoothr</a:t>
            </a:r>
            <a:endParaRPr lang="en-US" b="1" dirty="0">
              <a:latin typeface="Consolas" panose="020B0609020204030204" pitchFamily="49" charset="0"/>
              <a:cs typeface="Consolas" panose="020B0609020204030204" pitchFamily="49" charset="0"/>
            </a:endParaRPr>
          </a:p>
        </p:txBody>
      </p:sp>
      <p:sp>
        <p:nvSpPr>
          <p:cNvPr id="3" name="Content Placeholder 2">
            <a:extLst>
              <a:ext uri="{FF2B5EF4-FFF2-40B4-BE49-F238E27FC236}">
                <a16:creationId xmlns:a16="http://schemas.microsoft.com/office/drawing/2014/main" id="{28835291-2875-A719-AEF0-24A97D5E34FC}"/>
              </a:ext>
            </a:extLst>
          </p:cNvPr>
          <p:cNvSpPr>
            <a:spLocks noGrp="1"/>
          </p:cNvSpPr>
          <p:nvPr>
            <p:ph idx="1"/>
          </p:nvPr>
        </p:nvSpPr>
        <p:spPr/>
        <p:txBody>
          <a:bodyPr/>
          <a:lstStyle/>
          <a:p>
            <a:r>
              <a:rPr lang="en-US" sz="2000" b="1" dirty="0" err="1">
                <a:latin typeface="Consolas" panose="020B0609020204030204" pitchFamily="49" charset="0"/>
                <a:cs typeface="Consolas" panose="020B0609020204030204" pitchFamily="49" charset="0"/>
              </a:rPr>
              <a:t>drop_crumbs</a:t>
            </a:r>
            <a:r>
              <a:rPr lang="en-US" sz="2000" b="1" dirty="0">
                <a:latin typeface="Consolas" panose="020B0609020204030204" pitchFamily="49" charset="0"/>
                <a:cs typeface="Consolas" panose="020B0609020204030204" pitchFamily="49" charset="0"/>
              </a:rPr>
              <a:t>() </a:t>
            </a:r>
            <a:r>
              <a:rPr lang="en-US" dirty="0"/>
              <a:t>	Removes small lines or polygons based on a 			length or area threshold</a:t>
            </a:r>
          </a:p>
          <a:p>
            <a:r>
              <a:rPr lang="en-US" sz="2000" b="1" dirty="0" err="1">
                <a:latin typeface="Consolas" panose="020B0609020204030204" pitchFamily="49" charset="0"/>
                <a:cs typeface="Consolas" panose="020B0609020204030204" pitchFamily="49" charset="0"/>
              </a:rPr>
              <a:t>fill_holes</a:t>
            </a:r>
            <a:r>
              <a:rPr lang="en-US" sz="2000" b="1" dirty="0">
                <a:latin typeface="Consolas" panose="020B0609020204030204" pitchFamily="49" charset="0"/>
                <a:cs typeface="Consolas" panose="020B0609020204030204" pitchFamily="49" charset="0"/>
              </a:rPr>
              <a:t>()</a:t>
            </a:r>
            <a:r>
              <a:rPr lang="en-US" dirty="0"/>
              <a:t>	Fill small holes in polygons</a:t>
            </a:r>
          </a:p>
        </p:txBody>
      </p:sp>
      <p:pic>
        <p:nvPicPr>
          <p:cNvPr id="4" name="Picture 3">
            <a:extLst>
              <a:ext uri="{FF2B5EF4-FFF2-40B4-BE49-F238E27FC236}">
                <a16:creationId xmlns:a16="http://schemas.microsoft.com/office/drawing/2014/main" id="{1FD088A8-1DCD-7A0A-9BFA-8F8AA1A386C3}"/>
              </a:ext>
            </a:extLst>
          </p:cNvPr>
          <p:cNvPicPr>
            <a:picLocks noChangeAspect="1"/>
          </p:cNvPicPr>
          <p:nvPr/>
        </p:nvPicPr>
        <p:blipFill>
          <a:blip r:embed="rId2"/>
          <a:stretch>
            <a:fillRect/>
          </a:stretch>
        </p:blipFill>
        <p:spPr>
          <a:xfrm>
            <a:off x="457200" y="3067367"/>
            <a:ext cx="4299805" cy="2653594"/>
          </a:xfrm>
          <a:prstGeom prst="rect">
            <a:avLst/>
          </a:prstGeom>
        </p:spPr>
      </p:pic>
      <p:pic>
        <p:nvPicPr>
          <p:cNvPr id="5" name="Picture 4">
            <a:extLst>
              <a:ext uri="{FF2B5EF4-FFF2-40B4-BE49-F238E27FC236}">
                <a16:creationId xmlns:a16="http://schemas.microsoft.com/office/drawing/2014/main" id="{5DC4FA71-0F4B-A276-FC00-DB203A7E9321}"/>
              </a:ext>
            </a:extLst>
          </p:cNvPr>
          <p:cNvPicPr>
            <a:picLocks noChangeAspect="1"/>
          </p:cNvPicPr>
          <p:nvPr/>
        </p:nvPicPr>
        <p:blipFill>
          <a:blip r:embed="rId3"/>
          <a:srcRect l="22233" r="22910"/>
          <a:stretch>
            <a:fillRect/>
          </a:stretch>
        </p:blipFill>
        <p:spPr>
          <a:xfrm>
            <a:off x="5422426" y="3067367"/>
            <a:ext cx="2598953" cy="2923822"/>
          </a:xfrm>
          <a:prstGeom prst="rect">
            <a:avLst/>
          </a:prstGeom>
        </p:spPr>
      </p:pic>
      <p:sp>
        <p:nvSpPr>
          <p:cNvPr id="6" name="TextBox 5">
            <a:extLst>
              <a:ext uri="{FF2B5EF4-FFF2-40B4-BE49-F238E27FC236}">
                <a16:creationId xmlns:a16="http://schemas.microsoft.com/office/drawing/2014/main" id="{40D528B3-A0B7-D66E-EF8C-3FD43F4DAB1A}"/>
              </a:ext>
            </a:extLst>
          </p:cNvPr>
          <p:cNvSpPr txBox="1"/>
          <p:nvPr/>
        </p:nvSpPr>
        <p:spPr>
          <a:xfrm>
            <a:off x="6310507" y="2928867"/>
            <a:ext cx="822790" cy="276999"/>
          </a:xfrm>
          <a:prstGeom prst="rect">
            <a:avLst/>
          </a:prstGeom>
          <a:noFill/>
        </p:spPr>
        <p:txBody>
          <a:bodyPr wrap="none" rtlCol="0">
            <a:spAutoFit/>
          </a:bodyPr>
          <a:lstStyle/>
          <a:p>
            <a:pPr algn="ctr"/>
            <a:r>
              <a:rPr lang="en-US" sz="1200" dirty="0">
                <a:solidFill>
                  <a:srgbClr val="FF0000"/>
                </a:solidFill>
              </a:rPr>
              <a:t>Crumbs?</a:t>
            </a:r>
          </a:p>
        </p:txBody>
      </p:sp>
      <p:sp>
        <p:nvSpPr>
          <p:cNvPr id="7" name="TextBox 6">
            <a:extLst>
              <a:ext uri="{FF2B5EF4-FFF2-40B4-BE49-F238E27FC236}">
                <a16:creationId xmlns:a16="http://schemas.microsoft.com/office/drawing/2014/main" id="{E62D55F3-DC7C-E213-4981-6568CBCA27E2}"/>
              </a:ext>
            </a:extLst>
          </p:cNvPr>
          <p:cNvSpPr txBox="1"/>
          <p:nvPr/>
        </p:nvSpPr>
        <p:spPr>
          <a:xfrm>
            <a:off x="2256109" y="6018628"/>
            <a:ext cx="4631781" cy="307777"/>
          </a:xfrm>
          <a:prstGeom prst="rect">
            <a:avLst/>
          </a:prstGeom>
          <a:solidFill>
            <a:schemeClr val="accent5">
              <a:lumMod val="60000"/>
              <a:lumOff val="40000"/>
            </a:schemeClr>
          </a:solidFill>
        </p:spPr>
        <p:txBody>
          <a:bodyPr wrap="none" rtlCol="0">
            <a:spAutoFit/>
          </a:bodyPr>
          <a:lstStyle/>
          <a:p>
            <a:r>
              <a:rPr lang="en-US" sz="1400" b="1" dirty="0">
                <a:solidFill>
                  <a:srgbClr val="FFFF00"/>
                </a:solidFill>
              </a:rPr>
              <a:t>we will explore it more on raster-to-polygon conversion</a:t>
            </a:r>
          </a:p>
        </p:txBody>
      </p:sp>
      <p:sp>
        <p:nvSpPr>
          <p:cNvPr id="8" name="Slide Number Placeholder 7">
            <a:extLst>
              <a:ext uri="{FF2B5EF4-FFF2-40B4-BE49-F238E27FC236}">
                <a16:creationId xmlns:a16="http://schemas.microsoft.com/office/drawing/2014/main" id="{4259B023-072E-E007-B28D-F76A0D0623F7}"/>
              </a:ext>
            </a:extLst>
          </p:cNvPr>
          <p:cNvSpPr>
            <a:spLocks noGrp="1"/>
          </p:cNvSpPr>
          <p:nvPr>
            <p:ph type="sldNum" sz="quarter" idx="12"/>
          </p:nvPr>
        </p:nvSpPr>
        <p:spPr/>
        <p:txBody>
          <a:bodyPr/>
          <a:lstStyle/>
          <a:p>
            <a:fld id="{C0343C75-1924-D247-85A3-0CB62E67E5D1}" type="slidenum">
              <a:rPr lang="en-US" smtClean="0"/>
              <a:t>13</a:t>
            </a:fld>
            <a:endParaRPr lang="en-US"/>
          </a:p>
        </p:txBody>
      </p:sp>
    </p:spTree>
    <p:extLst>
      <p:ext uri="{BB962C8B-B14F-4D97-AF65-F5344CB8AC3E}">
        <p14:creationId xmlns:p14="http://schemas.microsoft.com/office/powerpoint/2010/main" val="3059403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8345-F345-4B12-EE70-FF6D3C61D15E}"/>
              </a:ext>
            </a:extLst>
          </p:cNvPr>
          <p:cNvSpPr>
            <a:spLocks noGrp="1"/>
          </p:cNvSpPr>
          <p:nvPr>
            <p:ph type="title"/>
          </p:nvPr>
        </p:nvSpPr>
        <p:spPr/>
        <p:txBody>
          <a:bodyPr/>
          <a:lstStyle/>
          <a:p>
            <a:r>
              <a:rPr lang="en-US" dirty="0"/>
              <a:t>Centroids</a:t>
            </a:r>
          </a:p>
        </p:txBody>
      </p:sp>
      <p:sp>
        <p:nvSpPr>
          <p:cNvPr id="3" name="Content Placeholder 2">
            <a:extLst>
              <a:ext uri="{FF2B5EF4-FFF2-40B4-BE49-F238E27FC236}">
                <a16:creationId xmlns:a16="http://schemas.microsoft.com/office/drawing/2014/main" id="{C00AB99E-02DB-2AB1-1FAA-3B8FC35F8246}"/>
              </a:ext>
            </a:extLst>
          </p:cNvPr>
          <p:cNvSpPr>
            <a:spLocks noGrp="1"/>
          </p:cNvSpPr>
          <p:nvPr>
            <p:ph idx="1"/>
          </p:nvPr>
        </p:nvSpPr>
        <p:spPr/>
        <p:txBody>
          <a:bodyPr>
            <a:normAutofit/>
          </a:bodyPr>
          <a:lstStyle/>
          <a:p>
            <a:r>
              <a:rPr lang="en-US" dirty="0"/>
              <a:t>Centroid operations identify the center of geographic objects</a:t>
            </a:r>
          </a:p>
          <a:p>
            <a:pPr lvl="1"/>
            <a:r>
              <a:rPr lang="en-US" dirty="0"/>
              <a:t>Like statistical measures of central tendency (including mean and median definitions of 'average'), there are many ways to define the geographic center of an object</a:t>
            </a:r>
          </a:p>
          <a:p>
            <a:pPr lvl="1"/>
            <a:r>
              <a:rPr lang="en-US" dirty="0"/>
              <a:t>All of them create </a:t>
            </a:r>
            <a:r>
              <a:rPr lang="en-US" b="1" dirty="0"/>
              <a:t>single point representations </a:t>
            </a:r>
            <a:r>
              <a:rPr lang="en-US" dirty="0"/>
              <a:t>of more complex vector objects</a:t>
            </a:r>
          </a:p>
          <a:p>
            <a:r>
              <a:rPr lang="en-US" dirty="0"/>
              <a:t>The most used centroid is the </a:t>
            </a:r>
            <a:r>
              <a:rPr lang="en-US" b="1" dirty="0"/>
              <a:t>geographic centroid</a:t>
            </a:r>
          </a:p>
        </p:txBody>
      </p:sp>
      <p:pic>
        <p:nvPicPr>
          <p:cNvPr id="5" name="Picture 4">
            <a:extLst>
              <a:ext uri="{FF2B5EF4-FFF2-40B4-BE49-F238E27FC236}">
                <a16:creationId xmlns:a16="http://schemas.microsoft.com/office/drawing/2014/main" id="{DA1FE71B-BD5E-F93B-7F9E-96EB6D59B928}"/>
              </a:ext>
            </a:extLst>
          </p:cNvPr>
          <p:cNvPicPr>
            <a:picLocks noChangeAspect="1"/>
          </p:cNvPicPr>
          <p:nvPr/>
        </p:nvPicPr>
        <p:blipFill>
          <a:blip r:embed="rId2"/>
          <a:stretch>
            <a:fillRect/>
          </a:stretch>
        </p:blipFill>
        <p:spPr>
          <a:xfrm>
            <a:off x="2834640" y="3924046"/>
            <a:ext cx="3474720" cy="2432304"/>
          </a:xfrm>
          <a:prstGeom prst="rect">
            <a:avLst/>
          </a:prstGeom>
        </p:spPr>
      </p:pic>
      <p:sp>
        <p:nvSpPr>
          <p:cNvPr id="4" name="Slide Number Placeholder 3">
            <a:extLst>
              <a:ext uri="{FF2B5EF4-FFF2-40B4-BE49-F238E27FC236}">
                <a16:creationId xmlns:a16="http://schemas.microsoft.com/office/drawing/2014/main" id="{DDB1B897-8A67-75EF-9F83-40828E9F965F}"/>
              </a:ext>
            </a:extLst>
          </p:cNvPr>
          <p:cNvSpPr>
            <a:spLocks noGrp="1"/>
          </p:cNvSpPr>
          <p:nvPr>
            <p:ph type="sldNum" sz="quarter" idx="12"/>
          </p:nvPr>
        </p:nvSpPr>
        <p:spPr/>
        <p:txBody>
          <a:bodyPr/>
          <a:lstStyle/>
          <a:p>
            <a:fld id="{C0343C75-1924-D247-85A3-0CB62E67E5D1}" type="slidenum">
              <a:rPr lang="en-US" smtClean="0"/>
              <a:t>14</a:t>
            </a:fld>
            <a:endParaRPr lang="en-US"/>
          </a:p>
        </p:txBody>
      </p:sp>
    </p:spTree>
    <p:extLst>
      <p:ext uri="{BB962C8B-B14F-4D97-AF65-F5344CB8AC3E}">
        <p14:creationId xmlns:p14="http://schemas.microsoft.com/office/powerpoint/2010/main" val="4056999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1EE8F-5649-376B-3597-1BB98A862165}"/>
              </a:ext>
            </a:extLst>
          </p:cNvPr>
          <p:cNvSpPr>
            <a:spLocks noGrp="1"/>
          </p:cNvSpPr>
          <p:nvPr>
            <p:ph type="title"/>
          </p:nvPr>
        </p:nvSpPr>
        <p:spPr/>
        <p:txBody>
          <a:bodyPr/>
          <a:lstStyle/>
          <a:p>
            <a:r>
              <a:rPr lang="en-US" dirty="0"/>
              <a:t>Geographic Center of the US</a:t>
            </a:r>
          </a:p>
        </p:txBody>
      </p:sp>
      <p:pic>
        <p:nvPicPr>
          <p:cNvPr id="5" name="Content Placeholder 4">
            <a:extLst>
              <a:ext uri="{FF2B5EF4-FFF2-40B4-BE49-F238E27FC236}">
                <a16:creationId xmlns:a16="http://schemas.microsoft.com/office/drawing/2014/main" id="{CF94C9C5-23BD-9D8B-2130-000E71203407}"/>
              </a:ext>
            </a:extLst>
          </p:cNvPr>
          <p:cNvPicPr>
            <a:picLocks noGrp="1" noChangeAspect="1"/>
          </p:cNvPicPr>
          <p:nvPr>
            <p:ph idx="1"/>
          </p:nvPr>
        </p:nvPicPr>
        <p:blipFill>
          <a:blip r:embed="rId2"/>
          <a:stretch>
            <a:fillRect/>
          </a:stretch>
        </p:blipFill>
        <p:spPr>
          <a:xfrm>
            <a:off x="457200" y="1603466"/>
            <a:ext cx="8229600" cy="4565468"/>
          </a:xfrm>
          <a:prstGeom prst="rect">
            <a:avLst/>
          </a:prstGeom>
        </p:spPr>
      </p:pic>
      <p:sp>
        <p:nvSpPr>
          <p:cNvPr id="3" name="Slide Number Placeholder 2">
            <a:extLst>
              <a:ext uri="{FF2B5EF4-FFF2-40B4-BE49-F238E27FC236}">
                <a16:creationId xmlns:a16="http://schemas.microsoft.com/office/drawing/2014/main" id="{5B82E738-2959-CA03-B420-35F715CE9E79}"/>
              </a:ext>
            </a:extLst>
          </p:cNvPr>
          <p:cNvSpPr>
            <a:spLocks noGrp="1"/>
          </p:cNvSpPr>
          <p:nvPr>
            <p:ph type="sldNum" sz="quarter" idx="12"/>
          </p:nvPr>
        </p:nvSpPr>
        <p:spPr/>
        <p:txBody>
          <a:bodyPr/>
          <a:lstStyle/>
          <a:p>
            <a:fld id="{C0343C75-1924-D247-85A3-0CB62E67E5D1}" type="slidenum">
              <a:rPr lang="en-US" smtClean="0"/>
              <a:t>15</a:t>
            </a:fld>
            <a:endParaRPr lang="en-US"/>
          </a:p>
        </p:txBody>
      </p:sp>
    </p:spTree>
    <p:extLst>
      <p:ext uri="{BB962C8B-B14F-4D97-AF65-F5344CB8AC3E}">
        <p14:creationId xmlns:p14="http://schemas.microsoft.com/office/powerpoint/2010/main" val="3022451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03FDE-EF56-9E4C-EA38-43BCD25D4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B3CA8-A292-BC0C-E51B-A1882117ED32}"/>
              </a:ext>
            </a:extLst>
          </p:cNvPr>
          <p:cNvSpPr>
            <a:spLocks noGrp="1"/>
          </p:cNvSpPr>
          <p:nvPr>
            <p:ph type="title"/>
          </p:nvPr>
        </p:nvSpPr>
        <p:spPr/>
        <p:txBody>
          <a:bodyPr/>
          <a:lstStyle/>
          <a:p>
            <a:r>
              <a:rPr lang="en-US" dirty="0"/>
              <a:t>Centroids</a:t>
            </a:r>
          </a:p>
        </p:txBody>
      </p:sp>
      <p:sp>
        <p:nvSpPr>
          <p:cNvPr id="3" name="Content Placeholder 2">
            <a:extLst>
              <a:ext uri="{FF2B5EF4-FFF2-40B4-BE49-F238E27FC236}">
                <a16:creationId xmlns:a16="http://schemas.microsoft.com/office/drawing/2014/main" id="{1FB25FFF-3EC9-43AF-EE85-CABD5C01AF3D}"/>
              </a:ext>
            </a:extLst>
          </p:cNvPr>
          <p:cNvSpPr>
            <a:spLocks noGrp="1"/>
          </p:cNvSpPr>
          <p:nvPr>
            <p:ph idx="1"/>
          </p:nvPr>
        </p:nvSpPr>
        <p:spPr/>
        <p:txBody>
          <a:bodyPr>
            <a:normAutofit/>
          </a:bodyPr>
          <a:lstStyle/>
          <a:p>
            <a:r>
              <a:rPr lang="en-US" dirty="0"/>
              <a:t>Geographic centroids have many uses, for example:</a:t>
            </a:r>
          </a:p>
          <a:p>
            <a:pPr lvl="1"/>
            <a:r>
              <a:rPr lang="en-US" dirty="0"/>
              <a:t>To create a simple point representation of complex geometries</a:t>
            </a:r>
          </a:p>
          <a:p>
            <a:pPr lvl="1"/>
            <a:r>
              <a:rPr lang="en-US" dirty="0"/>
              <a:t>To estimate distances between polygons</a:t>
            </a:r>
          </a:p>
          <a:p>
            <a:r>
              <a:rPr lang="en-US" dirty="0"/>
              <a:t>Sometimes the geographic centroid falls outside the boundaries of their parent objects (think of a doughnut).</a:t>
            </a:r>
          </a:p>
          <a:p>
            <a:pPr lvl="1"/>
            <a:r>
              <a:rPr lang="en-US" dirty="0"/>
              <a:t>In such cases </a:t>
            </a:r>
            <a:r>
              <a:rPr lang="en-US" b="1" dirty="0"/>
              <a:t>point on surface</a:t>
            </a:r>
            <a:r>
              <a:rPr lang="en-US" dirty="0"/>
              <a:t> operations can be used to guarantee the point will be in the parent object (e.g., for labeling irregular </a:t>
            </a:r>
            <a:r>
              <a:rPr lang="en-US" dirty="0" err="1"/>
              <a:t>multipolygon</a:t>
            </a:r>
            <a:r>
              <a:rPr lang="en-US" dirty="0"/>
              <a:t> objects such as island states)</a:t>
            </a:r>
          </a:p>
        </p:txBody>
      </p:sp>
      <p:sp>
        <p:nvSpPr>
          <p:cNvPr id="4" name="Slide Number Placeholder 3">
            <a:extLst>
              <a:ext uri="{FF2B5EF4-FFF2-40B4-BE49-F238E27FC236}">
                <a16:creationId xmlns:a16="http://schemas.microsoft.com/office/drawing/2014/main" id="{BD3C08B6-0B83-038D-437D-56E7BDE12539}"/>
              </a:ext>
            </a:extLst>
          </p:cNvPr>
          <p:cNvSpPr>
            <a:spLocks noGrp="1"/>
          </p:cNvSpPr>
          <p:nvPr>
            <p:ph type="sldNum" sz="quarter" idx="12"/>
          </p:nvPr>
        </p:nvSpPr>
        <p:spPr/>
        <p:txBody>
          <a:bodyPr/>
          <a:lstStyle/>
          <a:p>
            <a:fld id="{C0343C75-1924-D247-85A3-0CB62E67E5D1}" type="slidenum">
              <a:rPr lang="en-US" smtClean="0"/>
              <a:t>16</a:t>
            </a:fld>
            <a:endParaRPr lang="en-US"/>
          </a:p>
        </p:txBody>
      </p:sp>
    </p:spTree>
    <p:extLst>
      <p:ext uri="{BB962C8B-B14F-4D97-AF65-F5344CB8AC3E}">
        <p14:creationId xmlns:p14="http://schemas.microsoft.com/office/powerpoint/2010/main" val="4005203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F3AD30-A482-3EF7-4E05-731464FB3B15}"/>
              </a:ext>
            </a:extLst>
          </p:cNvPr>
          <p:cNvSpPr>
            <a:spLocks noGrp="1"/>
          </p:cNvSpPr>
          <p:nvPr>
            <p:ph type="title"/>
          </p:nvPr>
        </p:nvSpPr>
        <p:spPr/>
        <p:txBody>
          <a:bodyPr anchor="ctr"/>
          <a:lstStyle/>
          <a:p>
            <a:r>
              <a:rPr lang="en-US" dirty="0"/>
              <a:t>Geographic Centroids of Each State</a:t>
            </a:r>
          </a:p>
        </p:txBody>
      </p:sp>
      <p:pic>
        <p:nvPicPr>
          <p:cNvPr id="11" name="Content Placeholder 10">
            <a:extLst>
              <a:ext uri="{FF2B5EF4-FFF2-40B4-BE49-F238E27FC236}">
                <a16:creationId xmlns:a16="http://schemas.microsoft.com/office/drawing/2014/main" id="{1B559B04-7CFE-C9F9-85CE-0567034A8B1B}"/>
              </a:ext>
            </a:extLst>
          </p:cNvPr>
          <p:cNvPicPr>
            <a:picLocks noGrp="1" noChangeAspect="1"/>
          </p:cNvPicPr>
          <p:nvPr>
            <p:ph idx="1"/>
          </p:nvPr>
        </p:nvPicPr>
        <p:blipFill>
          <a:blip r:embed="rId2"/>
          <a:stretch>
            <a:fillRect/>
          </a:stretch>
        </p:blipFill>
        <p:spPr>
          <a:xfrm>
            <a:off x="297810" y="1028946"/>
            <a:ext cx="8548380" cy="4800107"/>
          </a:xfrm>
          <a:prstGeom prst="rect">
            <a:avLst/>
          </a:prstGeom>
        </p:spPr>
      </p:pic>
      <p:sp>
        <p:nvSpPr>
          <p:cNvPr id="12" name="TextBox 11">
            <a:extLst>
              <a:ext uri="{FF2B5EF4-FFF2-40B4-BE49-F238E27FC236}">
                <a16:creationId xmlns:a16="http://schemas.microsoft.com/office/drawing/2014/main" id="{0F064783-ED49-3A93-CDC1-C7CA92C1864C}"/>
              </a:ext>
            </a:extLst>
          </p:cNvPr>
          <p:cNvSpPr txBox="1"/>
          <p:nvPr/>
        </p:nvSpPr>
        <p:spPr>
          <a:xfrm>
            <a:off x="297810" y="5829053"/>
            <a:ext cx="6302367" cy="523220"/>
          </a:xfrm>
          <a:prstGeom prst="rect">
            <a:avLst/>
          </a:prstGeom>
          <a:noFill/>
        </p:spPr>
        <p:txBody>
          <a:bodyPr wrap="none" rtlCol="0">
            <a:spAutoFit/>
          </a:bodyPr>
          <a:lstStyle/>
          <a:p>
            <a:r>
              <a:rPr lang="en-US" sz="1400" dirty="0">
                <a:hlinkClick r:id="rId3"/>
              </a:rPr>
              <a:t>https://www.maps.com/mapping-the-middles-geographic-center-us/</a:t>
            </a:r>
            <a:endParaRPr lang="en-US" sz="1400" dirty="0"/>
          </a:p>
          <a:p>
            <a:r>
              <a:rPr lang="en-US" sz="1400" dirty="0">
                <a:hlinkClick r:id="rId4"/>
              </a:rPr>
              <a:t>https://en.wikipedia.org/wiki/List_of_geographic_centers_of_the_United_States</a:t>
            </a:r>
            <a:endParaRPr lang="en-US" sz="1400" dirty="0"/>
          </a:p>
        </p:txBody>
      </p:sp>
      <p:sp>
        <p:nvSpPr>
          <p:cNvPr id="2" name="Slide Number Placeholder 1">
            <a:extLst>
              <a:ext uri="{FF2B5EF4-FFF2-40B4-BE49-F238E27FC236}">
                <a16:creationId xmlns:a16="http://schemas.microsoft.com/office/drawing/2014/main" id="{5C112043-677D-A3F4-5D61-62E57F56E3E0}"/>
              </a:ext>
            </a:extLst>
          </p:cNvPr>
          <p:cNvSpPr>
            <a:spLocks noGrp="1"/>
          </p:cNvSpPr>
          <p:nvPr>
            <p:ph type="sldNum" sz="quarter" idx="12"/>
          </p:nvPr>
        </p:nvSpPr>
        <p:spPr/>
        <p:txBody>
          <a:bodyPr/>
          <a:lstStyle/>
          <a:p>
            <a:fld id="{C0343C75-1924-D247-85A3-0CB62E67E5D1}" type="slidenum">
              <a:rPr lang="en-US" smtClean="0"/>
              <a:t>17</a:t>
            </a:fld>
            <a:endParaRPr lang="en-US"/>
          </a:p>
        </p:txBody>
      </p:sp>
    </p:spTree>
    <p:extLst>
      <p:ext uri="{BB962C8B-B14F-4D97-AF65-F5344CB8AC3E}">
        <p14:creationId xmlns:p14="http://schemas.microsoft.com/office/powerpoint/2010/main" val="1392175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31F94A1-2129-E59F-057A-8796CBF85099}"/>
              </a:ext>
            </a:extLst>
          </p:cNvPr>
          <p:cNvPicPr>
            <a:picLocks noGrp="1" noChangeAspect="1"/>
          </p:cNvPicPr>
          <p:nvPr>
            <p:ph idx="1"/>
          </p:nvPr>
        </p:nvPicPr>
        <p:blipFill>
          <a:blip r:embed="rId2"/>
          <a:stretch>
            <a:fillRect/>
          </a:stretch>
        </p:blipFill>
        <p:spPr>
          <a:xfrm>
            <a:off x="632035" y="375765"/>
            <a:ext cx="7879929" cy="5852160"/>
          </a:xfrm>
          <a:prstGeom prst="rect">
            <a:avLst/>
          </a:prstGeom>
        </p:spPr>
      </p:pic>
      <p:sp>
        <p:nvSpPr>
          <p:cNvPr id="6" name="TextBox 5">
            <a:extLst>
              <a:ext uri="{FF2B5EF4-FFF2-40B4-BE49-F238E27FC236}">
                <a16:creationId xmlns:a16="http://schemas.microsoft.com/office/drawing/2014/main" id="{EB973AB9-EEB9-9B69-9BCD-AB703F2487AF}"/>
              </a:ext>
            </a:extLst>
          </p:cNvPr>
          <p:cNvSpPr txBox="1"/>
          <p:nvPr/>
        </p:nvSpPr>
        <p:spPr>
          <a:xfrm>
            <a:off x="632035" y="6227925"/>
            <a:ext cx="5660716" cy="307777"/>
          </a:xfrm>
          <a:prstGeom prst="rect">
            <a:avLst/>
          </a:prstGeom>
          <a:noFill/>
        </p:spPr>
        <p:txBody>
          <a:bodyPr wrap="none" rtlCol="0">
            <a:spAutoFit/>
          </a:bodyPr>
          <a:lstStyle/>
          <a:p>
            <a:pPr algn="ctr"/>
            <a:r>
              <a:rPr lang="en-US" sz="1400" dirty="0">
                <a:hlinkClick r:id="rId3"/>
              </a:rPr>
              <a:t>https://en.wikipedia.org/wiki/Geographic_center_of_the_United_States</a:t>
            </a:r>
            <a:endParaRPr lang="en-US" sz="1400" dirty="0"/>
          </a:p>
        </p:txBody>
      </p:sp>
      <p:sp>
        <p:nvSpPr>
          <p:cNvPr id="2" name="Slide Number Placeholder 1">
            <a:extLst>
              <a:ext uri="{FF2B5EF4-FFF2-40B4-BE49-F238E27FC236}">
                <a16:creationId xmlns:a16="http://schemas.microsoft.com/office/drawing/2014/main" id="{9211E1AD-4E22-3097-F363-4F69F01BE780}"/>
              </a:ext>
            </a:extLst>
          </p:cNvPr>
          <p:cNvSpPr>
            <a:spLocks noGrp="1"/>
          </p:cNvSpPr>
          <p:nvPr>
            <p:ph type="sldNum" sz="quarter" idx="12"/>
          </p:nvPr>
        </p:nvSpPr>
        <p:spPr/>
        <p:txBody>
          <a:bodyPr/>
          <a:lstStyle/>
          <a:p>
            <a:fld id="{C0343C75-1924-D247-85A3-0CB62E67E5D1}" type="slidenum">
              <a:rPr lang="en-US" smtClean="0"/>
              <a:t>18</a:t>
            </a:fld>
            <a:endParaRPr lang="en-US"/>
          </a:p>
        </p:txBody>
      </p:sp>
    </p:spTree>
    <p:extLst>
      <p:ext uri="{BB962C8B-B14F-4D97-AF65-F5344CB8AC3E}">
        <p14:creationId xmlns:p14="http://schemas.microsoft.com/office/powerpoint/2010/main" val="2163953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BBA9A-CFCB-17C1-6CDB-BDC9FD7085B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CB6ECC6-EBC6-3198-F5FA-86FE8973A856}"/>
              </a:ext>
            </a:extLst>
          </p:cNvPr>
          <p:cNvSpPr>
            <a:spLocks noGrp="1"/>
          </p:cNvSpPr>
          <p:nvPr>
            <p:ph type="title"/>
          </p:nvPr>
        </p:nvSpPr>
        <p:spPr/>
        <p:txBody>
          <a:bodyPr/>
          <a:lstStyle/>
          <a:p>
            <a:r>
              <a:rPr lang="en-US" dirty="0"/>
              <a:t>Centroid Example</a:t>
            </a:r>
          </a:p>
        </p:txBody>
      </p:sp>
      <p:sp>
        <p:nvSpPr>
          <p:cNvPr id="7" name="Content Placeholder 6">
            <a:extLst>
              <a:ext uri="{FF2B5EF4-FFF2-40B4-BE49-F238E27FC236}">
                <a16:creationId xmlns:a16="http://schemas.microsoft.com/office/drawing/2014/main" id="{259E426A-A345-83B5-4E65-C0DAFB447ABB}"/>
              </a:ext>
            </a:extLst>
          </p:cNvPr>
          <p:cNvSpPr>
            <a:spLocks noGrp="1"/>
          </p:cNvSpPr>
          <p:nvPr>
            <p:ph sz="half" idx="1"/>
          </p:nvPr>
        </p:nvSpPr>
        <p:spPr>
          <a:xfrm>
            <a:off x="457200" y="1596073"/>
            <a:ext cx="4057650" cy="2082430"/>
          </a:xfrm>
        </p:spPr>
        <p:txBody>
          <a:bodyPr>
            <a:normAutofit/>
          </a:bodyPr>
          <a:lstStyle/>
          <a:p>
            <a:r>
              <a:rPr lang="en-US" sz="2000" dirty="0"/>
              <a:t>Notice that the red points always lie on their parent objects!</a:t>
            </a:r>
          </a:p>
          <a:p>
            <a:r>
              <a:rPr lang="en-US" sz="2000" dirty="0"/>
              <a:t>They are created with </a:t>
            </a:r>
            <a:r>
              <a:rPr lang="en-US" sz="1800" b="1" dirty="0" err="1">
                <a:latin typeface="Consolas" panose="020B0609020204030204" pitchFamily="49" charset="0"/>
                <a:cs typeface="Consolas" panose="020B0609020204030204" pitchFamily="49" charset="0"/>
              </a:rPr>
              <a:t>st_point_on_surface</a:t>
            </a:r>
            <a:r>
              <a:rPr lang="en-US" sz="1800" b="1" dirty="0">
                <a:latin typeface="Consolas" panose="020B0609020204030204" pitchFamily="49" charset="0"/>
                <a:cs typeface="Consolas" panose="020B0609020204030204" pitchFamily="49" charset="0"/>
              </a:rPr>
              <a:t>()</a:t>
            </a:r>
            <a:endParaRPr lang="en-US" sz="2000" b="1" dirty="0">
              <a:latin typeface="Consolas" panose="020B0609020204030204" pitchFamily="49" charset="0"/>
              <a:cs typeface="Consolas" panose="020B0609020204030204" pitchFamily="49" charset="0"/>
            </a:endParaRPr>
          </a:p>
        </p:txBody>
      </p:sp>
      <p:sp>
        <p:nvSpPr>
          <p:cNvPr id="8" name="Content Placeholder 7">
            <a:extLst>
              <a:ext uri="{FF2B5EF4-FFF2-40B4-BE49-F238E27FC236}">
                <a16:creationId xmlns:a16="http://schemas.microsoft.com/office/drawing/2014/main" id="{72797AED-51BE-FD12-77B6-CD381833630C}"/>
              </a:ext>
            </a:extLst>
          </p:cNvPr>
          <p:cNvSpPr>
            <a:spLocks noGrp="1"/>
          </p:cNvSpPr>
          <p:nvPr>
            <p:ph sz="half" idx="2"/>
          </p:nvPr>
        </p:nvSpPr>
        <p:spPr>
          <a:xfrm>
            <a:off x="4629150" y="1596072"/>
            <a:ext cx="4057650" cy="4748912"/>
          </a:xfrm>
        </p:spPr>
        <p:txBody>
          <a:bodyPr>
            <a:normAutofit/>
          </a:bodyPr>
          <a:lstStyle/>
          <a:p>
            <a:r>
              <a:rPr lang="en-US" sz="1200" dirty="0" err="1"/>
              <a:t>nz_centroid</a:t>
            </a:r>
            <a:r>
              <a:rPr lang="en-US" sz="1200" dirty="0"/>
              <a:t> = </a:t>
            </a:r>
            <a:r>
              <a:rPr lang="en-US" sz="1200" dirty="0" err="1"/>
              <a:t>st_centroid</a:t>
            </a:r>
            <a:r>
              <a:rPr lang="en-US" sz="1200" dirty="0"/>
              <a:t>(</a:t>
            </a:r>
            <a:r>
              <a:rPr lang="en-US" sz="1200" dirty="0" err="1"/>
              <a:t>nz</a:t>
            </a:r>
            <a:r>
              <a:rPr lang="en-US" sz="1200" dirty="0"/>
              <a:t>)</a:t>
            </a:r>
          </a:p>
          <a:p>
            <a:r>
              <a:rPr lang="en-US" sz="1200" dirty="0" err="1">
                <a:solidFill>
                  <a:srgbClr val="FFFF00"/>
                </a:solidFill>
              </a:rPr>
              <a:t>nz_pos</a:t>
            </a:r>
            <a:r>
              <a:rPr lang="en-US" sz="1200" dirty="0">
                <a:solidFill>
                  <a:srgbClr val="FFFF00"/>
                </a:solidFill>
              </a:rPr>
              <a:t> = </a:t>
            </a:r>
            <a:r>
              <a:rPr lang="en-US" sz="1200" dirty="0" err="1">
                <a:solidFill>
                  <a:srgbClr val="FFFF00"/>
                </a:solidFill>
              </a:rPr>
              <a:t>st_point_on_surface</a:t>
            </a:r>
            <a:r>
              <a:rPr lang="en-US" sz="1200" dirty="0">
                <a:solidFill>
                  <a:srgbClr val="FFFF00"/>
                </a:solidFill>
              </a:rPr>
              <a:t>(</a:t>
            </a:r>
            <a:r>
              <a:rPr lang="en-US" sz="1200" dirty="0" err="1">
                <a:solidFill>
                  <a:srgbClr val="FFFF00"/>
                </a:solidFill>
              </a:rPr>
              <a:t>nz</a:t>
            </a:r>
            <a:r>
              <a:rPr lang="en-US" sz="1200" dirty="0">
                <a:solidFill>
                  <a:srgbClr val="FFFF00"/>
                </a:solidFill>
              </a:rPr>
              <a:t>)</a:t>
            </a:r>
          </a:p>
          <a:p>
            <a:endParaRPr lang="en-US" sz="1200" dirty="0">
              <a:solidFill>
                <a:schemeClr val="bg2">
                  <a:lumMod val="90000"/>
                </a:schemeClr>
              </a:solidFill>
            </a:endParaRPr>
          </a:p>
          <a:p>
            <a:r>
              <a:rPr lang="en-US" sz="1200" dirty="0">
                <a:solidFill>
                  <a:schemeClr val="bg2">
                    <a:lumMod val="90000"/>
                  </a:schemeClr>
                </a:solidFill>
              </a:rPr>
              <a:t>plot(</a:t>
            </a:r>
            <a:r>
              <a:rPr lang="en-US" sz="1200" dirty="0" err="1">
                <a:solidFill>
                  <a:schemeClr val="bg2">
                    <a:lumMod val="90000"/>
                  </a:schemeClr>
                </a:solidFill>
              </a:rPr>
              <a:t>st_geometry</a:t>
            </a:r>
            <a:r>
              <a:rPr lang="en-US" sz="1200" dirty="0">
                <a:solidFill>
                  <a:schemeClr val="bg2">
                    <a:lumMod val="90000"/>
                  </a:schemeClr>
                </a:solidFill>
              </a:rPr>
              <a:t>(</a:t>
            </a:r>
            <a:r>
              <a:rPr lang="en-US" sz="1200" dirty="0" err="1">
                <a:solidFill>
                  <a:schemeClr val="bg2">
                    <a:lumMod val="90000"/>
                  </a:schemeClr>
                </a:solidFill>
              </a:rPr>
              <a:t>nz</a:t>
            </a:r>
            <a:r>
              <a:rPr lang="en-US" sz="1200" dirty="0">
                <a:solidFill>
                  <a:schemeClr val="bg2">
                    <a:lumMod val="90000"/>
                  </a:schemeClr>
                </a:solidFill>
              </a:rPr>
              <a:t>), col = "</a:t>
            </a:r>
            <a:r>
              <a:rPr lang="en-US" sz="1200" dirty="0" err="1">
                <a:solidFill>
                  <a:schemeClr val="bg2">
                    <a:lumMod val="90000"/>
                  </a:schemeClr>
                </a:solidFill>
              </a:rPr>
              <a:t>lightgray</a:t>
            </a:r>
            <a:r>
              <a:rPr lang="en-US" sz="1200" dirty="0">
                <a:solidFill>
                  <a:schemeClr val="bg2">
                    <a:lumMod val="90000"/>
                  </a:schemeClr>
                </a:solidFill>
              </a:rPr>
              <a:t>")</a:t>
            </a:r>
          </a:p>
          <a:p>
            <a:r>
              <a:rPr lang="en-US" sz="1200" dirty="0">
                <a:solidFill>
                  <a:schemeClr val="bg2">
                    <a:lumMod val="90000"/>
                  </a:schemeClr>
                </a:solidFill>
              </a:rPr>
              <a:t>plot(</a:t>
            </a:r>
            <a:r>
              <a:rPr lang="en-US" sz="1200" dirty="0" err="1">
                <a:solidFill>
                  <a:schemeClr val="bg2">
                    <a:lumMod val="90000"/>
                  </a:schemeClr>
                </a:solidFill>
              </a:rPr>
              <a:t>st_geometry</a:t>
            </a:r>
            <a:r>
              <a:rPr lang="en-US" sz="1200" dirty="0">
                <a:solidFill>
                  <a:schemeClr val="bg2">
                    <a:lumMod val="90000"/>
                  </a:schemeClr>
                </a:solidFill>
              </a:rPr>
              <a:t>(</a:t>
            </a:r>
            <a:r>
              <a:rPr lang="en-US" sz="1200" dirty="0" err="1">
                <a:solidFill>
                  <a:schemeClr val="bg2">
                    <a:lumMod val="90000"/>
                  </a:schemeClr>
                </a:solidFill>
              </a:rPr>
              <a:t>nz_centroid</a:t>
            </a:r>
            <a:r>
              <a:rPr lang="en-US" sz="1200" dirty="0">
                <a:solidFill>
                  <a:schemeClr val="bg2">
                    <a:lumMod val="90000"/>
                  </a:schemeClr>
                </a:solidFill>
              </a:rPr>
              <a:t>), add = TRUE, </a:t>
            </a:r>
            <a:r>
              <a:rPr lang="en-US" sz="1200" dirty="0" err="1">
                <a:solidFill>
                  <a:schemeClr val="bg2">
                    <a:lumMod val="90000"/>
                  </a:schemeClr>
                </a:solidFill>
              </a:rPr>
              <a:t>pch</a:t>
            </a:r>
            <a:r>
              <a:rPr lang="en-US" sz="1200" dirty="0">
                <a:solidFill>
                  <a:schemeClr val="bg2">
                    <a:lumMod val="90000"/>
                  </a:schemeClr>
                </a:solidFill>
              </a:rPr>
              <a:t> = 19, col = "blue")</a:t>
            </a:r>
          </a:p>
          <a:p>
            <a:r>
              <a:rPr lang="en-US" sz="1200" dirty="0">
                <a:solidFill>
                  <a:schemeClr val="bg2">
                    <a:lumMod val="90000"/>
                  </a:schemeClr>
                </a:solidFill>
              </a:rPr>
              <a:t>plot(</a:t>
            </a:r>
            <a:r>
              <a:rPr lang="en-US" sz="1200" dirty="0" err="1">
                <a:solidFill>
                  <a:schemeClr val="bg2">
                    <a:lumMod val="90000"/>
                  </a:schemeClr>
                </a:solidFill>
              </a:rPr>
              <a:t>st_geometry</a:t>
            </a:r>
            <a:r>
              <a:rPr lang="en-US" sz="1200" dirty="0">
                <a:solidFill>
                  <a:schemeClr val="bg2">
                    <a:lumMod val="90000"/>
                  </a:schemeClr>
                </a:solidFill>
              </a:rPr>
              <a:t>(</a:t>
            </a:r>
            <a:r>
              <a:rPr lang="en-US" sz="1200" dirty="0" err="1">
                <a:solidFill>
                  <a:schemeClr val="bg2">
                    <a:lumMod val="90000"/>
                  </a:schemeClr>
                </a:solidFill>
              </a:rPr>
              <a:t>nz_pos</a:t>
            </a:r>
            <a:r>
              <a:rPr lang="en-US" sz="1200" dirty="0">
                <a:solidFill>
                  <a:schemeClr val="bg2">
                    <a:lumMod val="90000"/>
                  </a:schemeClr>
                </a:solidFill>
              </a:rPr>
              <a:t>), add = TRUE, </a:t>
            </a:r>
            <a:r>
              <a:rPr lang="en-US" sz="1200" dirty="0" err="1">
                <a:solidFill>
                  <a:schemeClr val="bg2">
                    <a:lumMod val="90000"/>
                  </a:schemeClr>
                </a:solidFill>
              </a:rPr>
              <a:t>pch</a:t>
            </a:r>
            <a:r>
              <a:rPr lang="en-US" sz="1200" dirty="0">
                <a:solidFill>
                  <a:schemeClr val="bg2">
                    <a:lumMod val="90000"/>
                  </a:schemeClr>
                </a:solidFill>
              </a:rPr>
              <a:t> = 18, col = "red")</a:t>
            </a:r>
          </a:p>
          <a:p>
            <a:endParaRPr lang="en-US" sz="1200" dirty="0"/>
          </a:p>
          <a:p>
            <a:endParaRPr lang="en-US" sz="1200" dirty="0"/>
          </a:p>
          <a:p>
            <a:r>
              <a:rPr lang="en-US" sz="1200" dirty="0" err="1"/>
              <a:t>seine_centroid</a:t>
            </a:r>
            <a:r>
              <a:rPr lang="en-US" sz="1200" dirty="0"/>
              <a:t> = </a:t>
            </a:r>
            <a:r>
              <a:rPr lang="en-US" sz="1200" dirty="0" err="1"/>
              <a:t>st_centroid</a:t>
            </a:r>
            <a:r>
              <a:rPr lang="en-US" sz="1200" dirty="0"/>
              <a:t>(seine)</a:t>
            </a:r>
          </a:p>
          <a:p>
            <a:r>
              <a:rPr lang="en-US" sz="1200" dirty="0" err="1">
                <a:solidFill>
                  <a:srgbClr val="FFFF00"/>
                </a:solidFill>
              </a:rPr>
              <a:t>seine_pos</a:t>
            </a:r>
            <a:r>
              <a:rPr lang="en-US" sz="1200" dirty="0">
                <a:solidFill>
                  <a:srgbClr val="FFFF00"/>
                </a:solidFill>
              </a:rPr>
              <a:t> = </a:t>
            </a:r>
            <a:r>
              <a:rPr lang="en-US" sz="1200" dirty="0" err="1">
                <a:solidFill>
                  <a:srgbClr val="FFFF00"/>
                </a:solidFill>
              </a:rPr>
              <a:t>st_point_on_surface</a:t>
            </a:r>
            <a:r>
              <a:rPr lang="en-US" sz="1200" dirty="0">
                <a:solidFill>
                  <a:srgbClr val="FFFF00"/>
                </a:solidFill>
              </a:rPr>
              <a:t>(seine)</a:t>
            </a:r>
          </a:p>
          <a:p>
            <a:endParaRPr lang="en-US" sz="1200" dirty="0">
              <a:solidFill>
                <a:schemeClr val="bg2">
                  <a:lumMod val="90000"/>
                </a:schemeClr>
              </a:solidFill>
            </a:endParaRPr>
          </a:p>
          <a:p>
            <a:r>
              <a:rPr lang="en-US" sz="1200" dirty="0">
                <a:solidFill>
                  <a:schemeClr val="bg2">
                    <a:lumMod val="90000"/>
                  </a:schemeClr>
                </a:solidFill>
              </a:rPr>
              <a:t>plot(</a:t>
            </a:r>
            <a:r>
              <a:rPr lang="en-US" sz="1200" dirty="0" err="1">
                <a:solidFill>
                  <a:schemeClr val="bg2">
                    <a:lumMod val="90000"/>
                  </a:schemeClr>
                </a:solidFill>
              </a:rPr>
              <a:t>st_geometry</a:t>
            </a:r>
            <a:r>
              <a:rPr lang="en-US" sz="1200" dirty="0">
                <a:solidFill>
                  <a:schemeClr val="bg2">
                    <a:lumMod val="90000"/>
                  </a:schemeClr>
                </a:solidFill>
              </a:rPr>
              <a:t>(seine), col = "black")</a:t>
            </a:r>
          </a:p>
          <a:p>
            <a:r>
              <a:rPr lang="en-US" sz="1200" dirty="0">
                <a:solidFill>
                  <a:schemeClr val="bg2">
                    <a:lumMod val="90000"/>
                  </a:schemeClr>
                </a:solidFill>
              </a:rPr>
              <a:t>plot(</a:t>
            </a:r>
            <a:r>
              <a:rPr lang="en-US" sz="1200" dirty="0" err="1">
                <a:solidFill>
                  <a:schemeClr val="bg2">
                    <a:lumMod val="90000"/>
                  </a:schemeClr>
                </a:solidFill>
              </a:rPr>
              <a:t>st_geometry</a:t>
            </a:r>
            <a:r>
              <a:rPr lang="en-US" sz="1200" dirty="0">
                <a:solidFill>
                  <a:schemeClr val="bg2">
                    <a:lumMod val="90000"/>
                  </a:schemeClr>
                </a:solidFill>
              </a:rPr>
              <a:t>(</a:t>
            </a:r>
            <a:r>
              <a:rPr lang="en-US" sz="1200" dirty="0" err="1">
                <a:solidFill>
                  <a:schemeClr val="bg2">
                    <a:lumMod val="90000"/>
                  </a:schemeClr>
                </a:solidFill>
              </a:rPr>
              <a:t>seine_centroid</a:t>
            </a:r>
            <a:r>
              <a:rPr lang="en-US" sz="1200" dirty="0">
                <a:solidFill>
                  <a:schemeClr val="bg2">
                    <a:lumMod val="90000"/>
                  </a:schemeClr>
                </a:solidFill>
              </a:rPr>
              <a:t>), add = TRUE, </a:t>
            </a:r>
            <a:r>
              <a:rPr lang="en-US" sz="1200" dirty="0" err="1">
                <a:solidFill>
                  <a:schemeClr val="bg2">
                    <a:lumMod val="90000"/>
                  </a:schemeClr>
                </a:solidFill>
              </a:rPr>
              <a:t>pch</a:t>
            </a:r>
            <a:r>
              <a:rPr lang="en-US" sz="1200" dirty="0">
                <a:solidFill>
                  <a:schemeClr val="bg2">
                    <a:lumMod val="90000"/>
                  </a:schemeClr>
                </a:solidFill>
              </a:rPr>
              <a:t> = 19, col = "blue")</a:t>
            </a:r>
          </a:p>
          <a:p>
            <a:r>
              <a:rPr lang="en-US" sz="1200" dirty="0">
                <a:solidFill>
                  <a:schemeClr val="bg2">
                    <a:lumMod val="90000"/>
                  </a:schemeClr>
                </a:solidFill>
              </a:rPr>
              <a:t>plot(</a:t>
            </a:r>
            <a:r>
              <a:rPr lang="en-US" sz="1200" dirty="0" err="1">
                <a:solidFill>
                  <a:schemeClr val="bg2">
                    <a:lumMod val="90000"/>
                  </a:schemeClr>
                </a:solidFill>
              </a:rPr>
              <a:t>st_geometry</a:t>
            </a:r>
            <a:r>
              <a:rPr lang="en-US" sz="1200" dirty="0">
                <a:solidFill>
                  <a:schemeClr val="bg2">
                    <a:lumMod val="90000"/>
                  </a:schemeClr>
                </a:solidFill>
              </a:rPr>
              <a:t>(</a:t>
            </a:r>
            <a:r>
              <a:rPr lang="en-US" sz="1200" dirty="0" err="1">
                <a:solidFill>
                  <a:schemeClr val="bg2">
                    <a:lumMod val="90000"/>
                  </a:schemeClr>
                </a:solidFill>
              </a:rPr>
              <a:t>seine_pos</a:t>
            </a:r>
            <a:r>
              <a:rPr lang="en-US" sz="1200" dirty="0">
                <a:solidFill>
                  <a:schemeClr val="bg2">
                    <a:lumMod val="90000"/>
                  </a:schemeClr>
                </a:solidFill>
              </a:rPr>
              <a:t>), add = TRUE, </a:t>
            </a:r>
            <a:r>
              <a:rPr lang="en-US" sz="1200" dirty="0" err="1">
                <a:solidFill>
                  <a:schemeClr val="bg2">
                    <a:lumMod val="90000"/>
                  </a:schemeClr>
                </a:solidFill>
              </a:rPr>
              <a:t>pch</a:t>
            </a:r>
            <a:r>
              <a:rPr lang="en-US" sz="1200" dirty="0">
                <a:solidFill>
                  <a:schemeClr val="bg2">
                    <a:lumMod val="90000"/>
                  </a:schemeClr>
                </a:solidFill>
              </a:rPr>
              <a:t> = 18, col = "red")</a:t>
            </a:r>
          </a:p>
        </p:txBody>
      </p:sp>
      <p:pic>
        <p:nvPicPr>
          <p:cNvPr id="22" name="Picture 21">
            <a:extLst>
              <a:ext uri="{FF2B5EF4-FFF2-40B4-BE49-F238E27FC236}">
                <a16:creationId xmlns:a16="http://schemas.microsoft.com/office/drawing/2014/main" id="{97CA2182-48F8-9F67-12E8-A658C3A77969}"/>
              </a:ext>
            </a:extLst>
          </p:cNvPr>
          <p:cNvPicPr>
            <a:picLocks noChangeAspect="1"/>
          </p:cNvPicPr>
          <p:nvPr/>
        </p:nvPicPr>
        <p:blipFill>
          <a:blip r:embed="rId2"/>
          <a:srcRect/>
          <a:stretch/>
        </p:blipFill>
        <p:spPr>
          <a:xfrm>
            <a:off x="457200" y="2861638"/>
            <a:ext cx="4057650" cy="2498461"/>
          </a:xfrm>
          <a:prstGeom prst="rect">
            <a:avLst/>
          </a:prstGeom>
        </p:spPr>
      </p:pic>
      <p:sp>
        <p:nvSpPr>
          <p:cNvPr id="2" name="Slide Number Placeholder 1">
            <a:extLst>
              <a:ext uri="{FF2B5EF4-FFF2-40B4-BE49-F238E27FC236}">
                <a16:creationId xmlns:a16="http://schemas.microsoft.com/office/drawing/2014/main" id="{64F6A8CF-0D03-FF3D-C636-4A8A2281AA89}"/>
              </a:ext>
            </a:extLst>
          </p:cNvPr>
          <p:cNvSpPr>
            <a:spLocks noGrp="1"/>
          </p:cNvSpPr>
          <p:nvPr>
            <p:ph type="sldNum" sz="quarter" idx="12"/>
          </p:nvPr>
        </p:nvSpPr>
        <p:spPr/>
        <p:txBody>
          <a:bodyPr/>
          <a:lstStyle/>
          <a:p>
            <a:fld id="{C0343C75-1924-D247-85A3-0CB62E67E5D1}" type="slidenum">
              <a:rPr lang="en-US" smtClean="0"/>
              <a:t>19</a:t>
            </a:fld>
            <a:endParaRPr lang="en-US"/>
          </a:p>
        </p:txBody>
      </p:sp>
      <p:sp>
        <p:nvSpPr>
          <p:cNvPr id="3" name="TextBox 2">
            <a:extLst>
              <a:ext uri="{FF2B5EF4-FFF2-40B4-BE49-F238E27FC236}">
                <a16:creationId xmlns:a16="http://schemas.microsoft.com/office/drawing/2014/main" id="{BFC9CA18-8F16-E3A4-5990-D2ED467603A3}"/>
              </a:ext>
            </a:extLst>
          </p:cNvPr>
          <p:cNvSpPr txBox="1"/>
          <p:nvPr/>
        </p:nvSpPr>
        <p:spPr>
          <a:xfrm>
            <a:off x="457200" y="5360099"/>
            <a:ext cx="4057650" cy="984885"/>
          </a:xfrm>
          <a:prstGeom prst="rect">
            <a:avLst/>
          </a:prstGeom>
          <a:solidFill>
            <a:schemeClr val="accent6">
              <a:lumMod val="20000"/>
              <a:lumOff val="80000"/>
            </a:schemeClr>
          </a:solidFill>
        </p:spPr>
        <p:txBody>
          <a:bodyPr wrap="square" rtlCol="0">
            <a:spAutoFit/>
          </a:bodyPr>
          <a:lstStyle/>
          <a:p>
            <a:r>
              <a:rPr lang="en-US" sz="1100" b="1" dirty="0">
                <a:solidFill>
                  <a:srgbClr val="FF0000"/>
                </a:solidFill>
                <a:latin typeface="Consolas" panose="020B0609020204030204" pitchFamily="49" charset="0"/>
                <a:cs typeface="Consolas" panose="020B0609020204030204" pitchFamily="49" charset="0"/>
              </a:rPr>
              <a:t># Warning message: </a:t>
            </a:r>
            <a:r>
              <a:rPr lang="en-US" sz="1100" b="1" dirty="0" err="1">
                <a:solidFill>
                  <a:srgbClr val="FF0000"/>
                </a:solidFill>
                <a:latin typeface="Consolas" panose="020B0609020204030204" pitchFamily="49" charset="0"/>
                <a:cs typeface="Consolas" panose="020B0609020204030204" pitchFamily="49" charset="0"/>
              </a:rPr>
              <a:t>st_centroid</a:t>
            </a:r>
            <a:r>
              <a:rPr lang="en-US" sz="1100" b="1" dirty="0">
                <a:solidFill>
                  <a:srgbClr val="FF0000"/>
                </a:solidFill>
                <a:latin typeface="Consolas" panose="020B0609020204030204" pitchFamily="49" charset="0"/>
                <a:cs typeface="Consolas" panose="020B0609020204030204" pitchFamily="49" charset="0"/>
              </a:rPr>
              <a:t>/</a:t>
            </a:r>
            <a:r>
              <a:rPr lang="en-US" sz="1100" b="1" dirty="0" err="1">
                <a:solidFill>
                  <a:srgbClr val="FF0000"/>
                </a:solidFill>
                <a:latin typeface="Consolas" panose="020B0609020204030204" pitchFamily="49" charset="0"/>
                <a:cs typeface="Consolas" panose="020B0609020204030204" pitchFamily="49" charset="0"/>
              </a:rPr>
              <a:t>st_point_on_surface</a:t>
            </a:r>
            <a:r>
              <a:rPr lang="en-US" sz="1100" b="1" dirty="0">
                <a:solidFill>
                  <a:srgbClr val="FF0000"/>
                </a:solidFill>
                <a:latin typeface="Consolas" panose="020B0609020204030204" pitchFamily="49" charset="0"/>
                <a:cs typeface="Consolas" panose="020B0609020204030204" pitchFamily="49" charset="0"/>
              </a:rPr>
              <a:t> assumes attributes are constant over geometries</a:t>
            </a:r>
          </a:p>
          <a:p>
            <a:r>
              <a:rPr lang="en-US" sz="1200" dirty="0"/>
              <a:t>&gt;&gt; The warning is reminding you that centroid/point on surface calculation is </a:t>
            </a:r>
            <a:r>
              <a:rPr lang="en-US" sz="1200" u="sng" dirty="0"/>
              <a:t>purely geometric</a:t>
            </a:r>
            <a:r>
              <a:rPr lang="en-US" sz="1200" dirty="0"/>
              <a:t>; any associated attributes may not meaningfully reflect the point location.</a:t>
            </a:r>
          </a:p>
        </p:txBody>
      </p:sp>
    </p:spTree>
    <p:extLst>
      <p:ext uri="{BB962C8B-B14F-4D97-AF65-F5344CB8AC3E}">
        <p14:creationId xmlns:p14="http://schemas.microsoft.com/office/powerpoint/2010/main" val="4237642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07E31-0D0F-62E1-5F6A-451FBF251602}"/>
              </a:ext>
            </a:extLst>
          </p:cNvPr>
          <p:cNvSpPr>
            <a:spLocks noGrp="1"/>
          </p:cNvSpPr>
          <p:nvPr>
            <p:ph type="title"/>
          </p:nvPr>
        </p:nvSpPr>
        <p:spPr/>
        <p:txBody>
          <a:bodyPr/>
          <a:lstStyle/>
          <a:p>
            <a:r>
              <a:rPr lang="en-US" dirty="0"/>
              <a:t>Buffers</a:t>
            </a:r>
          </a:p>
        </p:txBody>
      </p:sp>
      <p:sp>
        <p:nvSpPr>
          <p:cNvPr id="3" name="Content Placeholder 2">
            <a:extLst>
              <a:ext uri="{FF2B5EF4-FFF2-40B4-BE49-F238E27FC236}">
                <a16:creationId xmlns:a16="http://schemas.microsoft.com/office/drawing/2014/main" id="{2F6B255E-5B1E-358D-A8A2-5A5B29E1C938}"/>
              </a:ext>
            </a:extLst>
          </p:cNvPr>
          <p:cNvSpPr>
            <a:spLocks noGrp="1"/>
          </p:cNvSpPr>
          <p:nvPr>
            <p:ph idx="1"/>
          </p:nvPr>
        </p:nvSpPr>
        <p:spPr/>
        <p:txBody>
          <a:bodyPr/>
          <a:lstStyle/>
          <a:p>
            <a:r>
              <a:rPr lang="en-US" dirty="0"/>
              <a:t>Buffers are polygons representing the area within a given distance of a geometric feature</a:t>
            </a:r>
          </a:p>
          <a:p>
            <a:r>
              <a:rPr lang="en-US" dirty="0"/>
              <a:t>Regardless of whether the input is a point, line or polygon, the output is a </a:t>
            </a:r>
            <a:r>
              <a:rPr lang="en-US" b="1" dirty="0"/>
              <a:t>polygon</a:t>
            </a:r>
          </a:p>
          <a:p>
            <a:r>
              <a:rPr lang="en-US" dirty="0"/>
              <a:t>Unlike simplification (which is often used for visualization and reducing file size), buffering tends to be used for geographic data analysis</a:t>
            </a:r>
          </a:p>
          <a:p>
            <a:pPr lvl="1"/>
            <a:r>
              <a:rPr lang="en-US" dirty="0"/>
              <a:t>How many points are within a given distance of this line?</a:t>
            </a:r>
          </a:p>
          <a:p>
            <a:pPr lvl="1"/>
            <a:r>
              <a:rPr lang="en-US" dirty="0"/>
              <a:t>Which demographic groups are within travel distance of this new shop?</a:t>
            </a:r>
          </a:p>
          <a:p>
            <a:endParaRPr lang="en-US" dirty="0"/>
          </a:p>
        </p:txBody>
      </p:sp>
      <p:sp>
        <p:nvSpPr>
          <p:cNvPr id="4" name="Slide Number Placeholder 3">
            <a:extLst>
              <a:ext uri="{FF2B5EF4-FFF2-40B4-BE49-F238E27FC236}">
                <a16:creationId xmlns:a16="http://schemas.microsoft.com/office/drawing/2014/main" id="{1A2567E2-33DF-E5D0-4D6F-A8AA778B5A77}"/>
              </a:ext>
            </a:extLst>
          </p:cNvPr>
          <p:cNvSpPr>
            <a:spLocks noGrp="1"/>
          </p:cNvSpPr>
          <p:nvPr>
            <p:ph type="sldNum" sz="quarter" idx="12"/>
          </p:nvPr>
        </p:nvSpPr>
        <p:spPr/>
        <p:txBody>
          <a:bodyPr/>
          <a:lstStyle/>
          <a:p>
            <a:fld id="{C0343C75-1924-D247-85A3-0CB62E67E5D1}" type="slidenum">
              <a:rPr lang="en-US" smtClean="0"/>
              <a:t>20</a:t>
            </a:fld>
            <a:endParaRPr lang="en-US"/>
          </a:p>
        </p:txBody>
      </p:sp>
    </p:spTree>
    <p:extLst>
      <p:ext uri="{BB962C8B-B14F-4D97-AF65-F5344CB8AC3E}">
        <p14:creationId xmlns:p14="http://schemas.microsoft.com/office/powerpoint/2010/main" val="199107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17A2C-A3E1-2F5C-6F9C-F613F001AFE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8F51BB9-15A4-B467-5736-B268D3CCFAF1}"/>
              </a:ext>
            </a:extLst>
          </p:cNvPr>
          <p:cNvSpPr>
            <a:spLocks noGrp="1"/>
          </p:cNvSpPr>
          <p:nvPr>
            <p:ph type="title"/>
          </p:nvPr>
        </p:nvSpPr>
        <p:spPr/>
        <p:txBody>
          <a:bodyPr/>
          <a:lstStyle/>
          <a:p>
            <a:r>
              <a:rPr lang="en-US" dirty="0"/>
              <a:t>Buffer Example</a:t>
            </a:r>
          </a:p>
        </p:txBody>
      </p:sp>
      <p:sp>
        <p:nvSpPr>
          <p:cNvPr id="7" name="Content Placeholder 6">
            <a:extLst>
              <a:ext uri="{FF2B5EF4-FFF2-40B4-BE49-F238E27FC236}">
                <a16:creationId xmlns:a16="http://schemas.microsoft.com/office/drawing/2014/main" id="{86463DD9-9ECF-3C75-6900-B9118E421648}"/>
              </a:ext>
            </a:extLst>
          </p:cNvPr>
          <p:cNvSpPr>
            <a:spLocks noGrp="1"/>
          </p:cNvSpPr>
          <p:nvPr>
            <p:ph sz="half" idx="1"/>
          </p:nvPr>
        </p:nvSpPr>
        <p:spPr>
          <a:xfrm>
            <a:off x="457200" y="4273919"/>
            <a:ext cx="4057650" cy="1903043"/>
          </a:xfrm>
        </p:spPr>
        <p:txBody>
          <a:bodyPr>
            <a:normAutofit fontScale="77500" lnSpcReduction="20000"/>
          </a:bodyPr>
          <a:lstStyle/>
          <a:p>
            <a:r>
              <a:rPr lang="en-US" dirty="0"/>
              <a:t>Buffers of different sizes surrounding the River Seine and tributaries</a:t>
            </a:r>
          </a:p>
          <a:p>
            <a:r>
              <a:rPr lang="en-US" dirty="0"/>
              <a:t>These buffers were created with command </a:t>
            </a:r>
            <a:r>
              <a:rPr lang="en-US" sz="2100" b="1" dirty="0" err="1">
                <a:latin typeface="Consolas" panose="020B0609020204030204" pitchFamily="49" charset="0"/>
                <a:cs typeface="Consolas" panose="020B0609020204030204" pitchFamily="49" charset="0"/>
              </a:rPr>
              <a:t>st_buffer</a:t>
            </a:r>
            <a:r>
              <a:rPr lang="en-US" sz="2100" b="1" dirty="0">
                <a:latin typeface="Consolas" panose="020B0609020204030204" pitchFamily="49" charset="0"/>
                <a:cs typeface="Consolas" panose="020B0609020204030204" pitchFamily="49" charset="0"/>
              </a:rPr>
              <a:t>()</a:t>
            </a:r>
          </a:p>
          <a:p>
            <a:r>
              <a:rPr lang="en-US" dirty="0"/>
              <a:t>It requires at least two arguments:</a:t>
            </a:r>
            <a:br>
              <a:rPr lang="en-US" dirty="0"/>
            </a:br>
            <a:r>
              <a:rPr lang="en-US" dirty="0"/>
              <a:t>an input geometry and a distance, provided in the units of the CRS</a:t>
            </a:r>
            <a:br>
              <a:rPr lang="en-US" dirty="0"/>
            </a:br>
            <a:r>
              <a:rPr lang="en-US" dirty="0"/>
              <a:t>(in this case </a:t>
            </a:r>
            <a:r>
              <a:rPr lang="en-US" b="1" dirty="0"/>
              <a:t>meters</a:t>
            </a:r>
            <a:r>
              <a:rPr lang="en-US" dirty="0"/>
              <a:t>)</a:t>
            </a:r>
          </a:p>
        </p:txBody>
      </p:sp>
      <p:sp>
        <p:nvSpPr>
          <p:cNvPr id="8" name="Content Placeholder 7">
            <a:extLst>
              <a:ext uri="{FF2B5EF4-FFF2-40B4-BE49-F238E27FC236}">
                <a16:creationId xmlns:a16="http://schemas.microsoft.com/office/drawing/2014/main" id="{77893681-5B6F-D269-8A77-EF490AF6ADF5}"/>
              </a:ext>
            </a:extLst>
          </p:cNvPr>
          <p:cNvSpPr>
            <a:spLocks noGrp="1"/>
          </p:cNvSpPr>
          <p:nvPr>
            <p:ph sz="half" idx="2"/>
          </p:nvPr>
        </p:nvSpPr>
        <p:spPr/>
        <p:txBody>
          <a:bodyPr>
            <a:normAutofit fontScale="77500" lnSpcReduction="20000"/>
          </a:bodyPr>
          <a:lstStyle/>
          <a:p>
            <a:r>
              <a:rPr lang="en-US" sz="2000" dirty="0"/>
              <a:t>seine_buff_5km = </a:t>
            </a:r>
            <a:r>
              <a:rPr lang="en-US" sz="2000" dirty="0" err="1"/>
              <a:t>st_buffer</a:t>
            </a:r>
            <a:r>
              <a:rPr lang="en-US" sz="2000" dirty="0"/>
              <a:t>(seine, </a:t>
            </a:r>
            <a:r>
              <a:rPr lang="en-US" sz="2000" dirty="0" err="1"/>
              <a:t>dist</a:t>
            </a:r>
            <a:r>
              <a:rPr lang="en-US" sz="2000" dirty="0"/>
              <a:t> = 5000)</a:t>
            </a:r>
          </a:p>
          <a:p>
            <a:endParaRPr lang="en-US" sz="2000" dirty="0"/>
          </a:p>
          <a:p>
            <a:r>
              <a:rPr lang="en-US" sz="2000" dirty="0"/>
              <a:t>seine_buff_50km = </a:t>
            </a:r>
            <a:r>
              <a:rPr lang="en-US" sz="2000" dirty="0" err="1"/>
              <a:t>st_buffer</a:t>
            </a:r>
            <a:r>
              <a:rPr lang="en-US" sz="2000" dirty="0"/>
              <a:t>(seine, </a:t>
            </a:r>
            <a:r>
              <a:rPr lang="en-US" sz="2000" dirty="0" err="1"/>
              <a:t>dist</a:t>
            </a:r>
            <a:r>
              <a:rPr lang="en-US" sz="2000" dirty="0"/>
              <a:t> = 50000)</a:t>
            </a:r>
          </a:p>
        </p:txBody>
      </p:sp>
      <p:pic>
        <p:nvPicPr>
          <p:cNvPr id="22" name="Picture 21">
            <a:extLst>
              <a:ext uri="{FF2B5EF4-FFF2-40B4-BE49-F238E27FC236}">
                <a16:creationId xmlns:a16="http://schemas.microsoft.com/office/drawing/2014/main" id="{BC61E4CE-B36C-8330-5E2F-B07DC52A8CF5}"/>
              </a:ext>
            </a:extLst>
          </p:cNvPr>
          <p:cNvPicPr>
            <a:picLocks noChangeAspect="1"/>
          </p:cNvPicPr>
          <p:nvPr/>
        </p:nvPicPr>
        <p:blipFill>
          <a:blip r:embed="rId2"/>
          <a:srcRect/>
          <a:stretch/>
        </p:blipFill>
        <p:spPr>
          <a:xfrm>
            <a:off x="457200" y="1596072"/>
            <a:ext cx="4057650" cy="2498460"/>
          </a:xfrm>
          <a:prstGeom prst="rect">
            <a:avLst/>
          </a:prstGeom>
        </p:spPr>
      </p:pic>
      <p:sp>
        <p:nvSpPr>
          <p:cNvPr id="2" name="Slide Number Placeholder 1">
            <a:extLst>
              <a:ext uri="{FF2B5EF4-FFF2-40B4-BE49-F238E27FC236}">
                <a16:creationId xmlns:a16="http://schemas.microsoft.com/office/drawing/2014/main" id="{AF497D98-6F7C-37EB-EDBB-BAC71DFE8944}"/>
              </a:ext>
            </a:extLst>
          </p:cNvPr>
          <p:cNvSpPr>
            <a:spLocks noGrp="1"/>
          </p:cNvSpPr>
          <p:nvPr>
            <p:ph type="sldNum" sz="quarter" idx="12"/>
          </p:nvPr>
        </p:nvSpPr>
        <p:spPr/>
        <p:txBody>
          <a:bodyPr/>
          <a:lstStyle/>
          <a:p>
            <a:fld id="{C0343C75-1924-D247-85A3-0CB62E67E5D1}" type="slidenum">
              <a:rPr lang="en-US" smtClean="0"/>
              <a:t>21</a:t>
            </a:fld>
            <a:endParaRPr lang="en-US"/>
          </a:p>
        </p:txBody>
      </p:sp>
    </p:spTree>
    <p:extLst>
      <p:ext uri="{BB962C8B-B14F-4D97-AF65-F5344CB8AC3E}">
        <p14:creationId xmlns:p14="http://schemas.microsoft.com/office/powerpoint/2010/main" val="4122209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11A3C-B708-F743-837B-408D11C30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129D1-2737-D261-54C8-3C0A66054CAC}"/>
              </a:ext>
            </a:extLst>
          </p:cNvPr>
          <p:cNvSpPr>
            <a:spLocks noGrp="1"/>
          </p:cNvSpPr>
          <p:nvPr>
            <p:ph type="title"/>
          </p:nvPr>
        </p:nvSpPr>
        <p:spPr/>
        <p:txBody>
          <a:bodyPr/>
          <a:lstStyle/>
          <a:p>
            <a:r>
              <a:rPr lang="en-US" i="1" dirty="0"/>
              <a:t>Negative</a:t>
            </a:r>
            <a:r>
              <a:rPr lang="en-US" dirty="0"/>
              <a:t> Buffer (special case)</a:t>
            </a:r>
          </a:p>
        </p:txBody>
      </p:sp>
      <p:sp>
        <p:nvSpPr>
          <p:cNvPr id="3" name="Content Placeholder 2">
            <a:extLst>
              <a:ext uri="{FF2B5EF4-FFF2-40B4-BE49-F238E27FC236}">
                <a16:creationId xmlns:a16="http://schemas.microsoft.com/office/drawing/2014/main" id="{434460E5-597B-C8D2-8A57-677FD27CAD84}"/>
              </a:ext>
            </a:extLst>
          </p:cNvPr>
          <p:cNvSpPr>
            <a:spLocks noGrp="1"/>
          </p:cNvSpPr>
          <p:nvPr>
            <p:ph idx="1"/>
          </p:nvPr>
        </p:nvSpPr>
        <p:spPr/>
        <p:txBody>
          <a:bodyPr/>
          <a:lstStyle/>
          <a:p>
            <a:r>
              <a:rPr lang="en-US" dirty="0"/>
              <a:t>Positive distances → expand outward from the feature</a:t>
            </a:r>
          </a:p>
          <a:p>
            <a:r>
              <a:rPr lang="en-US" dirty="0"/>
              <a:t>Negative distances → shrink inward toward the feature interior (where valid)</a:t>
            </a:r>
          </a:p>
          <a:p>
            <a:pPr marL="0" indent="0">
              <a:buNone/>
            </a:pPr>
            <a:endParaRPr lang="en-US" dirty="0"/>
          </a:p>
          <a:p>
            <a:pPr marL="0" indent="0">
              <a:buNone/>
            </a:pPr>
            <a:r>
              <a:rPr lang="en-US" dirty="0"/>
              <a:t>Why Negative Buffers?</a:t>
            </a:r>
          </a:p>
          <a:p>
            <a:r>
              <a:rPr lang="en-US" dirty="0"/>
              <a:t>Contract the geometry (e.g.,, to remove edge areas)</a:t>
            </a:r>
          </a:p>
          <a:p>
            <a:r>
              <a:rPr lang="en-US" dirty="0"/>
              <a:t>Create inner rings inside polygons to represent an interior margin</a:t>
            </a:r>
          </a:p>
          <a:p>
            <a:r>
              <a:rPr lang="en-US" dirty="0"/>
              <a:t>Model safety or exclusion zones inside a boundary</a:t>
            </a:r>
          </a:p>
        </p:txBody>
      </p:sp>
      <p:sp>
        <p:nvSpPr>
          <p:cNvPr id="4" name="Slide Number Placeholder 3">
            <a:extLst>
              <a:ext uri="{FF2B5EF4-FFF2-40B4-BE49-F238E27FC236}">
                <a16:creationId xmlns:a16="http://schemas.microsoft.com/office/drawing/2014/main" id="{5C21F855-A6C4-DF8D-597E-AB0D375678AB}"/>
              </a:ext>
            </a:extLst>
          </p:cNvPr>
          <p:cNvSpPr>
            <a:spLocks noGrp="1"/>
          </p:cNvSpPr>
          <p:nvPr>
            <p:ph type="sldNum" sz="quarter" idx="12"/>
          </p:nvPr>
        </p:nvSpPr>
        <p:spPr/>
        <p:txBody>
          <a:bodyPr/>
          <a:lstStyle/>
          <a:p>
            <a:fld id="{C0343C75-1924-D247-85A3-0CB62E67E5D1}" type="slidenum">
              <a:rPr lang="en-US" smtClean="0"/>
              <a:t>22</a:t>
            </a:fld>
            <a:endParaRPr lang="en-US"/>
          </a:p>
        </p:txBody>
      </p:sp>
    </p:spTree>
    <p:extLst>
      <p:ext uri="{BB962C8B-B14F-4D97-AF65-F5344CB8AC3E}">
        <p14:creationId xmlns:p14="http://schemas.microsoft.com/office/powerpoint/2010/main" val="296505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28D9E-BDF4-6D03-BD5C-3AEE9DD3F23C}"/>
              </a:ext>
            </a:extLst>
          </p:cNvPr>
          <p:cNvSpPr>
            <a:spLocks noGrp="1"/>
          </p:cNvSpPr>
          <p:nvPr>
            <p:ph type="title"/>
          </p:nvPr>
        </p:nvSpPr>
        <p:spPr/>
        <p:txBody>
          <a:bodyPr/>
          <a:lstStyle/>
          <a:p>
            <a:r>
              <a:rPr lang="en-US" dirty="0"/>
              <a:t>Affine Transformations</a:t>
            </a:r>
          </a:p>
        </p:txBody>
      </p:sp>
      <p:sp>
        <p:nvSpPr>
          <p:cNvPr id="3" name="Content Placeholder 2">
            <a:extLst>
              <a:ext uri="{FF2B5EF4-FFF2-40B4-BE49-F238E27FC236}">
                <a16:creationId xmlns:a16="http://schemas.microsoft.com/office/drawing/2014/main" id="{DC714608-0DAE-BC00-2083-D4D7D3BD9CBB}"/>
              </a:ext>
            </a:extLst>
          </p:cNvPr>
          <p:cNvSpPr>
            <a:spLocks noGrp="1"/>
          </p:cNvSpPr>
          <p:nvPr>
            <p:ph idx="1"/>
          </p:nvPr>
        </p:nvSpPr>
        <p:spPr/>
        <p:txBody>
          <a:bodyPr/>
          <a:lstStyle/>
          <a:p>
            <a:r>
              <a:rPr lang="en-US" dirty="0"/>
              <a:t>Affine transformations are an essential part of </a:t>
            </a:r>
            <a:r>
              <a:rPr lang="en-US" dirty="0" err="1"/>
              <a:t>geocomputation</a:t>
            </a:r>
            <a:r>
              <a:rPr lang="en-US" dirty="0"/>
              <a:t> </a:t>
            </a:r>
          </a:p>
          <a:p>
            <a:r>
              <a:rPr lang="en-US" dirty="0"/>
              <a:t>Affine transformation is any transformation that preserves lines and parallelism</a:t>
            </a:r>
          </a:p>
          <a:p>
            <a:pPr lvl="1"/>
            <a:r>
              <a:rPr lang="en-US" dirty="0"/>
              <a:t>However, angles or length are not necessarily preserved</a:t>
            </a:r>
          </a:p>
          <a:p>
            <a:r>
              <a:rPr lang="en-US" dirty="0"/>
              <a:t>Affine transformations include, among others:</a:t>
            </a:r>
          </a:p>
          <a:p>
            <a:pPr lvl="1"/>
            <a:r>
              <a:rPr lang="en-US" dirty="0"/>
              <a:t>Shifting (translation)</a:t>
            </a:r>
          </a:p>
          <a:p>
            <a:pPr lvl="1"/>
            <a:r>
              <a:rPr lang="en-US" dirty="0"/>
              <a:t>Scaling</a:t>
            </a:r>
          </a:p>
          <a:p>
            <a:pPr lvl="1"/>
            <a:r>
              <a:rPr lang="en-US" dirty="0"/>
              <a:t>Rotation</a:t>
            </a:r>
          </a:p>
          <a:p>
            <a:r>
              <a:rPr lang="en-US" dirty="0"/>
              <a:t>For example:</a:t>
            </a:r>
          </a:p>
          <a:p>
            <a:pPr lvl="1"/>
            <a:r>
              <a:rPr lang="en-US" dirty="0"/>
              <a:t>Shifting is needed for labels placement</a:t>
            </a:r>
          </a:p>
          <a:p>
            <a:pPr lvl="1"/>
            <a:r>
              <a:rPr lang="en-US" dirty="0"/>
              <a:t>Scaling is used in non-contiguous area cartograms</a:t>
            </a:r>
          </a:p>
        </p:txBody>
      </p:sp>
      <p:sp>
        <p:nvSpPr>
          <p:cNvPr id="4" name="Slide Number Placeholder 3">
            <a:extLst>
              <a:ext uri="{FF2B5EF4-FFF2-40B4-BE49-F238E27FC236}">
                <a16:creationId xmlns:a16="http://schemas.microsoft.com/office/drawing/2014/main" id="{52A69175-77B8-6861-5714-73948E88D613}"/>
              </a:ext>
            </a:extLst>
          </p:cNvPr>
          <p:cNvSpPr>
            <a:spLocks noGrp="1"/>
          </p:cNvSpPr>
          <p:nvPr>
            <p:ph type="sldNum" sz="quarter" idx="12"/>
          </p:nvPr>
        </p:nvSpPr>
        <p:spPr/>
        <p:txBody>
          <a:bodyPr/>
          <a:lstStyle/>
          <a:p>
            <a:fld id="{C0343C75-1924-D247-85A3-0CB62E67E5D1}" type="slidenum">
              <a:rPr lang="en-US" smtClean="0"/>
              <a:t>23</a:t>
            </a:fld>
            <a:endParaRPr lang="en-US"/>
          </a:p>
        </p:txBody>
      </p:sp>
    </p:spTree>
    <p:extLst>
      <p:ext uri="{BB962C8B-B14F-4D97-AF65-F5344CB8AC3E}">
        <p14:creationId xmlns:p14="http://schemas.microsoft.com/office/powerpoint/2010/main" val="1892862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E569-A17F-AA91-AF87-0698A71733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4C309F9-09EE-4994-05C7-3A41E8D3EEAD}"/>
              </a:ext>
            </a:extLst>
          </p:cNvPr>
          <p:cNvSpPr>
            <a:spLocks noGrp="1"/>
          </p:cNvSpPr>
          <p:nvPr>
            <p:ph type="title"/>
          </p:nvPr>
        </p:nvSpPr>
        <p:spPr/>
        <p:txBody>
          <a:bodyPr/>
          <a:lstStyle/>
          <a:p>
            <a:r>
              <a:rPr lang="en-US" dirty="0"/>
              <a:t>Shift Example</a:t>
            </a:r>
          </a:p>
        </p:txBody>
      </p:sp>
      <p:sp>
        <p:nvSpPr>
          <p:cNvPr id="7" name="Content Placeholder 6">
            <a:extLst>
              <a:ext uri="{FF2B5EF4-FFF2-40B4-BE49-F238E27FC236}">
                <a16:creationId xmlns:a16="http://schemas.microsoft.com/office/drawing/2014/main" id="{CDB7AEBC-E00B-F598-F0FB-93B6C933C945}"/>
              </a:ext>
            </a:extLst>
          </p:cNvPr>
          <p:cNvSpPr>
            <a:spLocks noGrp="1"/>
          </p:cNvSpPr>
          <p:nvPr>
            <p:ph sz="half" idx="1"/>
          </p:nvPr>
        </p:nvSpPr>
        <p:spPr>
          <a:xfrm>
            <a:off x="457200" y="1596073"/>
            <a:ext cx="4057650" cy="2082430"/>
          </a:xfrm>
        </p:spPr>
        <p:txBody>
          <a:bodyPr>
            <a:normAutofit/>
          </a:bodyPr>
          <a:lstStyle/>
          <a:p>
            <a:r>
              <a:rPr lang="en-US" sz="1800" dirty="0"/>
              <a:t>Shifting moves every point by the same distance in map units</a:t>
            </a:r>
          </a:p>
          <a:p>
            <a:r>
              <a:rPr lang="en-US" sz="1800" dirty="0"/>
              <a:t>It could be done by adding a numerical vector to a vector object</a:t>
            </a:r>
          </a:p>
        </p:txBody>
      </p:sp>
      <p:sp>
        <p:nvSpPr>
          <p:cNvPr id="8" name="Content Placeholder 7">
            <a:extLst>
              <a:ext uri="{FF2B5EF4-FFF2-40B4-BE49-F238E27FC236}">
                <a16:creationId xmlns:a16="http://schemas.microsoft.com/office/drawing/2014/main" id="{5B2D4472-EAF5-2F1B-C930-79FA5D385C95}"/>
              </a:ext>
            </a:extLst>
          </p:cNvPr>
          <p:cNvSpPr>
            <a:spLocks noGrp="1"/>
          </p:cNvSpPr>
          <p:nvPr>
            <p:ph sz="half" idx="2"/>
          </p:nvPr>
        </p:nvSpPr>
        <p:spPr/>
        <p:txBody>
          <a:bodyPr>
            <a:normAutofit/>
          </a:bodyPr>
          <a:lstStyle/>
          <a:p>
            <a:r>
              <a:rPr lang="en-US" sz="1400" dirty="0" err="1"/>
              <a:t>nz_sfc</a:t>
            </a:r>
            <a:r>
              <a:rPr lang="en-US" sz="1400" dirty="0"/>
              <a:t> = </a:t>
            </a:r>
            <a:r>
              <a:rPr lang="en-US" sz="1400" dirty="0" err="1"/>
              <a:t>st_geometry</a:t>
            </a:r>
            <a:r>
              <a:rPr lang="en-US" sz="1400" dirty="0"/>
              <a:t>(</a:t>
            </a:r>
            <a:r>
              <a:rPr lang="en-US" sz="1400" dirty="0" err="1"/>
              <a:t>nz</a:t>
            </a:r>
            <a:r>
              <a:rPr lang="en-US" sz="1400" dirty="0"/>
              <a:t>)</a:t>
            </a:r>
          </a:p>
          <a:p>
            <a:endParaRPr lang="en-US" sz="1400" dirty="0"/>
          </a:p>
          <a:p>
            <a:r>
              <a:rPr lang="en-US" sz="1400" dirty="0">
                <a:solidFill>
                  <a:schemeClr val="bg2">
                    <a:lumMod val="90000"/>
                  </a:schemeClr>
                </a:solidFill>
              </a:rPr>
              <a:t># shift 100 km north (assuming projected CRS in meters)</a:t>
            </a:r>
          </a:p>
          <a:p>
            <a:r>
              <a:rPr lang="en-US" sz="1400" dirty="0" err="1"/>
              <a:t>nz_shift</a:t>
            </a:r>
            <a:r>
              <a:rPr lang="en-US" sz="1400" dirty="0"/>
              <a:t> = </a:t>
            </a:r>
            <a:r>
              <a:rPr lang="en-US" sz="1400" dirty="0" err="1"/>
              <a:t>nz_sfc</a:t>
            </a:r>
            <a:r>
              <a:rPr lang="en-US" sz="1400" dirty="0"/>
              <a:t> + c(0, 100000)</a:t>
            </a:r>
          </a:p>
          <a:p>
            <a:endParaRPr lang="en-US" sz="1400" dirty="0"/>
          </a:p>
          <a:p>
            <a:r>
              <a:rPr lang="en-US" sz="1400" dirty="0"/>
              <a:t>plot(</a:t>
            </a:r>
            <a:r>
              <a:rPr lang="en-US" sz="1400" dirty="0" err="1"/>
              <a:t>st_geometry</a:t>
            </a:r>
            <a:r>
              <a:rPr lang="en-US" sz="1400" dirty="0"/>
              <a:t>(</a:t>
            </a:r>
            <a:r>
              <a:rPr lang="en-US" sz="1400" dirty="0" err="1"/>
              <a:t>nz_sfc</a:t>
            </a:r>
            <a:r>
              <a:rPr lang="en-US" sz="1400" dirty="0"/>
              <a:t>), col = "</a:t>
            </a:r>
            <a:r>
              <a:rPr lang="en-US" sz="1400" dirty="0" err="1"/>
              <a:t>lightgray</a:t>
            </a:r>
            <a:r>
              <a:rPr lang="en-US" sz="1400" dirty="0"/>
              <a:t>")</a:t>
            </a:r>
          </a:p>
          <a:p>
            <a:endParaRPr lang="en-US" sz="1400" dirty="0"/>
          </a:p>
          <a:p>
            <a:r>
              <a:rPr lang="en-US" sz="1400" dirty="0"/>
              <a:t>plot(</a:t>
            </a:r>
            <a:r>
              <a:rPr lang="en-US" sz="1400" dirty="0" err="1"/>
              <a:t>st_geometry</a:t>
            </a:r>
            <a:r>
              <a:rPr lang="en-US" sz="1400" dirty="0"/>
              <a:t>(</a:t>
            </a:r>
            <a:r>
              <a:rPr lang="en-US" sz="1400" dirty="0" err="1"/>
              <a:t>nz_shift</a:t>
            </a:r>
            <a:r>
              <a:rPr lang="en-US" sz="1400" dirty="0"/>
              <a:t>), col = "red", add = TRUE)</a:t>
            </a:r>
          </a:p>
        </p:txBody>
      </p:sp>
      <p:pic>
        <p:nvPicPr>
          <p:cNvPr id="22" name="Picture 21">
            <a:extLst>
              <a:ext uri="{FF2B5EF4-FFF2-40B4-BE49-F238E27FC236}">
                <a16:creationId xmlns:a16="http://schemas.microsoft.com/office/drawing/2014/main" id="{3DFABB94-6948-C121-BF2D-9FEF1D5F6F5F}"/>
              </a:ext>
            </a:extLst>
          </p:cNvPr>
          <p:cNvPicPr>
            <a:picLocks noChangeAspect="1"/>
          </p:cNvPicPr>
          <p:nvPr/>
        </p:nvPicPr>
        <p:blipFill>
          <a:blip r:embed="rId2"/>
          <a:srcRect/>
          <a:stretch/>
        </p:blipFill>
        <p:spPr>
          <a:xfrm>
            <a:off x="457200" y="3678502"/>
            <a:ext cx="4057650" cy="2498460"/>
          </a:xfrm>
          <a:prstGeom prst="rect">
            <a:avLst/>
          </a:prstGeom>
        </p:spPr>
      </p:pic>
      <p:sp>
        <p:nvSpPr>
          <p:cNvPr id="2" name="Rectangle 1">
            <a:extLst>
              <a:ext uri="{FF2B5EF4-FFF2-40B4-BE49-F238E27FC236}">
                <a16:creationId xmlns:a16="http://schemas.microsoft.com/office/drawing/2014/main" id="{190F5B59-FDB1-AC87-0CA9-C6347A2F4C59}"/>
              </a:ext>
            </a:extLst>
          </p:cNvPr>
          <p:cNvSpPr/>
          <p:nvPr/>
        </p:nvSpPr>
        <p:spPr>
          <a:xfrm>
            <a:off x="1828799" y="3779599"/>
            <a:ext cx="2686051" cy="23973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1C5834F-FCDE-8394-7B03-A35237129FCD}"/>
              </a:ext>
            </a:extLst>
          </p:cNvPr>
          <p:cNvSpPr>
            <a:spLocks noGrp="1"/>
          </p:cNvSpPr>
          <p:nvPr>
            <p:ph type="sldNum" sz="quarter" idx="12"/>
          </p:nvPr>
        </p:nvSpPr>
        <p:spPr/>
        <p:txBody>
          <a:bodyPr/>
          <a:lstStyle/>
          <a:p>
            <a:fld id="{C0343C75-1924-D247-85A3-0CB62E67E5D1}" type="slidenum">
              <a:rPr lang="en-US" smtClean="0"/>
              <a:t>24</a:t>
            </a:fld>
            <a:endParaRPr lang="en-US"/>
          </a:p>
        </p:txBody>
      </p:sp>
    </p:spTree>
    <p:extLst>
      <p:ext uri="{BB962C8B-B14F-4D97-AF65-F5344CB8AC3E}">
        <p14:creationId xmlns:p14="http://schemas.microsoft.com/office/powerpoint/2010/main" val="3071982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8ECDD-DC28-E8DC-144E-E2C165A5749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0B2E0F1-27A9-9D43-E2EA-B83EE36ECD5E}"/>
              </a:ext>
            </a:extLst>
          </p:cNvPr>
          <p:cNvSpPr>
            <a:spLocks noGrp="1"/>
          </p:cNvSpPr>
          <p:nvPr>
            <p:ph type="title"/>
          </p:nvPr>
        </p:nvSpPr>
        <p:spPr/>
        <p:txBody>
          <a:bodyPr/>
          <a:lstStyle/>
          <a:p>
            <a:r>
              <a:rPr lang="en-US" dirty="0"/>
              <a:t>Scale Example</a:t>
            </a:r>
          </a:p>
        </p:txBody>
      </p:sp>
      <p:sp>
        <p:nvSpPr>
          <p:cNvPr id="7" name="Content Placeholder 6">
            <a:extLst>
              <a:ext uri="{FF2B5EF4-FFF2-40B4-BE49-F238E27FC236}">
                <a16:creationId xmlns:a16="http://schemas.microsoft.com/office/drawing/2014/main" id="{A28CAF12-A2FB-94F6-3660-C99B2AFCE93C}"/>
              </a:ext>
            </a:extLst>
          </p:cNvPr>
          <p:cNvSpPr>
            <a:spLocks noGrp="1"/>
          </p:cNvSpPr>
          <p:nvPr>
            <p:ph sz="half" idx="1"/>
          </p:nvPr>
        </p:nvSpPr>
        <p:spPr>
          <a:xfrm>
            <a:off x="457200" y="1596073"/>
            <a:ext cx="4057650" cy="2082430"/>
          </a:xfrm>
        </p:spPr>
        <p:txBody>
          <a:bodyPr>
            <a:normAutofit fontScale="92500" lnSpcReduction="10000"/>
          </a:bodyPr>
          <a:lstStyle/>
          <a:p>
            <a:r>
              <a:rPr lang="en-US" sz="1800" dirty="0"/>
              <a:t>Scaling enlarges or shrinks objects by a factor</a:t>
            </a:r>
          </a:p>
          <a:p>
            <a:r>
              <a:rPr lang="en-US" sz="1800" dirty="0"/>
              <a:t>It can be applied either globally or locally</a:t>
            </a:r>
          </a:p>
          <a:p>
            <a:r>
              <a:rPr lang="en-US" sz="1800" dirty="0"/>
              <a:t>Global scaling increases or decreases all coordinates values in relation to the origin coordinates, while keeping all geometries topological relations intact</a:t>
            </a:r>
          </a:p>
        </p:txBody>
      </p:sp>
      <p:sp>
        <p:nvSpPr>
          <p:cNvPr id="8" name="Content Placeholder 7">
            <a:extLst>
              <a:ext uri="{FF2B5EF4-FFF2-40B4-BE49-F238E27FC236}">
                <a16:creationId xmlns:a16="http://schemas.microsoft.com/office/drawing/2014/main" id="{3EE512FA-2D8B-5EFC-B5C5-0160A1FDF4A7}"/>
              </a:ext>
            </a:extLst>
          </p:cNvPr>
          <p:cNvSpPr>
            <a:spLocks noGrp="1"/>
          </p:cNvSpPr>
          <p:nvPr>
            <p:ph sz="half" idx="2"/>
          </p:nvPr>
        </p:nvSpPr>
        <p:spPr/>
        <p:txBody>
          <a:bodyPr>
            <a:normAutofit fontScale="92500" lnSpcReduction="10000"/>
          </a:bodyPr>
          <a:lstStyle/>
          <a:p>
            <a:r>
              <a:rPr lang="en-US" sz="1400" dirty="0" err="1"/>
              <a:t>nz_centroid_sfc</a:t>
            </a:r>
            <a:r>
              <a:rPr lang="en-US" sz="1400" dirty="0"/>
              <a:t> = </a:t>
            </a:r>
            <a:r>
              <a:rPr lang="en-US" sz="1400" dirty="0" err="1"/>
              <a:t>st_centroid</a:t>
            </a:r>
            <a:r>
              <a:rPr lang="en-US" sz="1400" dirty="0"/>
              <a:t>(</a:t>
            </a:r>
            <a:r>
              <a:rPr lang="en-US" sz="1400" dirty="0" err="1"/>
              <a:t>nz_sfc</a:t>
            </a:r>
            <a:r>
              <a:rPr lang="en-US" sz="1400" dirty="0"/>
              <a:t>)</a:t>
            </a:r>
          </a:p>
          <a:p>
            <a:endParaRPr lang="en-US" sz="1400" dirty="0"/>
          </a:p>
          <a:p>
            <a:r>
              <a:rPr lang="en-US" sz="1400" dirty="0" err="1"/>
              <a:t>nz_scale</a:t>
            </a:r>
            <a:r>
              <a:rPr lang="en-US" sz="1400" dirty="0"/>
              <a:t> = (</a:t>
            </a:r>
            <a:r>
              <a:rPr lang="en-US" sz="1400" dirty="0" err="1"/>
              <a:t>nz_sfc</a:t>
            </a:r>
            <a:r>
              <a:rPr lang="en-US" sz="1400" dirty="0"/>
              <a:t> - </a:t>
            </a:r>
            <a:r>
              <a:rPr lang="en-US" sz="1400" dirty="0" err="1"/>
              <a:t>nz_centroid_sfc</a:t>
            </a:r>
            <a:r>
              <a:rPr lang="en-US" sz="1400" dirty="0"/>
              <a:t>) * 0.5 + </a:t>
            </a:r>
            <a:r>
              <a:rPr lang="en-US" sz="1400" dirty="0" err="1"/>
              <a:t>nz_centroid_sfc</a:t>
            </a:r>
            <a:endParaRPr lang="en-US" sz="1400" dirty="0"/>
          </a:p>
          <a:p>
            <a:endParaRPr lang="en-US" sz="1400" dirty="0"/>
          </a:p>
          <a:p>
            <a:r>
              <a:rPr lang="en-US" sz="1400" dirty="0"/>
              <a:t>plot(</a:t>
            </a:r>
            <a:r>
              <a:rPr lang="en-US" sz="1400" dirty="0" err="1"/>
              <a:t>st_geometry</a:t>
            </a:r>
            <a:r>
              <a:rPr lang="en-US" sz="1400" dirty="0"/>
              <a:t>(</a:t>
            </a:r>
            <a:r>
              <a:rPr lang="en-US" sz="1400" dirty="0" err="1"/>
              <a:t>nz_sfc</a:t>
            </a:r>
            <a:r>
              <a:rPr lang="en-US" sz="1400" dirty="0"/>
              <a:t>), col = "</a:t>
            </a:r>
            <a:r>
              <a:rPr lang="en-US" sz="1400" dirty="0" err="1"/>
              <a:t>lightgray</a:t>
            </a:r>
            <a:r>
              <a:rPr lang="en-US" sz="1400" dirty="0"/>
              <a:t>")</a:t>
            </a:r>
          </a:p>
          <a:p>
            <a:r>
              <a:rPr lang="en-US" sz="1400" dirty="0"/>
              <a:t>plot(</a:t>
            </a:r>
            <a:r>
              <a:rPr lang="en-US" sz="1400" dirty="0" err="1"/>
              <a:t>st_geometry</a:t>
            </a:r>
            <a:r>
              <a:rPr lang="en-US" sz="1400" dirty="0"/>
              <a:t>(</a:t>
            </a:r>
            <a:r>
              <a:rPr lang="en-US" sz="1400" dirty="0" err="1"/>
              <a:t>nz_scale</a:t>
            </a:r>
            <a:r>
              <a:rPr lang="en-US" sz="1400" dirty="0"/>
              <a:t>), col = "red", add = TRUE)</a:t>
            </a:r>
          </a:p>
        </p:txBody>
      </p:sp>
      <p:pic>
        <p:nvPicPr>
          <p:cNvPr id="22" name="Picture 21">
            <a:extLst>
              <a:ext uri="{FF2B5EF4-FFF2-40B4-BE49-F238E27FC236}">
                <a16:creationId xmlns:a16="http://schemas.microsoft.com/office/drawing/2014/main" id="{1E5EFC49-64AD-8C77-E484-1F01C4BB9A56}"/>
              </a:ext>
            </a:extLst>
          </p:cNvPr>
          <p:cNvPicPr>
            <a:picLocks noChangeAspect="1"/>
          </p:cNvPicPr>
          <p:nvPr/>
        </p:nvPicPr>
        <p:blipFill>
          <a:blip r:embed="rId2"/>
          <a:srcRect/>
          <a:stretch/>
        </p:blipFill>
        <p:spPr>
          <a:xfrm>
            <a:off x="457200" y="3678502"/>
            <a:ext cx="4057650" cy="2498460"/>
          </a:xfrm>
          <a:prstGeom prst="rect">
            <a:avLst/>
          </a:prstGeom>
        </p:spPr>
      </p:pic>
      <p:sp>
        <p:nvSpPr>
          <p:cNvPr id="2" name="Rectangle 1">
            <a:extLst>
              <a:ext uri="{FF2B5EF4-FFF2-40B4-BE49-F238E27FC236}">
                <a16:creationId xmlns:a16="http://schemas.microsoft.com/office/drawing/2014/main" id="{A9C76E4D-D7EE-30E3-7AA7-320A2D72816E}"/>
              </a:ext>
            </a:extLst>
          </p:cNvPr>
          <p:cNvSpPr/>
          <p:nvPr/>
        </p:nvSpPr>
        <p:spPr>
          <a:xfrm>
            <a:off x="3172178" y="3779599"/>
            <a:ext cx="1342672" cy="23973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409E1198-7D36-F3A9-2B0A-919C89589A3B}"/>
              </a:ext>
            </a:extLst>
          </p:cNvPr>
          <p:cNvSpPr>
            <a:spLocks noGrp="1"/>
          </p:cNvSpPr>
          <p:nvPr>
            <p:ph type="sldNum" sz="quarter" idx="12"/>
          </p:nvPr>
        </p:nvSpPr>
        <p:spPr/>
        <p:txBody>
          <a:bodyPr/>
          <a:lstStyle/>
          <a:p>
            <a:fld id="{C0343C75-1924-D247-85A3-0CB62E67E5D1}" type="slidenum">
              <a:rPr lang="en-US" smtClean="0"/>
              <a:t>25</a:t>
            </a:fld>
            <a:endParaRPr lang="en-US"/>
          </a:p>
        </p:txBody>
      </p:sp>
    </p:spTree>
    <p:extLst>
      <p:ext uri="{BB962C8B-B14F-4D97-AF65-F5344CB8AC3E}">
        <p14:creationId xmlns:p14="http://schemas.microsoft.com/office/powerpoint/2010/main" val="2065788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B077F-FD71-9F93-0237-43ED165CC95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2C538BA-BA4F-FF07-59C2-DDDAFA08EB1C}"/>
              </a:ext>
            </a:extLst>
          </p:cNvPr>
          <p:cNvSpPr>
            <a:spLocks noGrp="1"/>
          </p:cNvSpPr>
          <p:nvPr>
            <p:ph type="title"/>
          </p:nvPr>
        </p:nvSpPr>
        <p:spPr/>
        <p:txBody>
          <a:bodyPr/>
          <a:lstStyle/>
          <a:p>
            <a:r>
              <a:rPr lang="en-US" dirty="0"/>
              <a:t>Rotate Example</a:t>
            </a:r>
          </a:p>
        </p:txBody>
      </p:sp>
      <p:sp>
        <p:nvSpPr>
          <p:cNvPr id="7" name="Content Placeholder 6">
            <a:extLst>
              <a:ext uri="{FF2B5EF4-FFF2-40B4-BE49-F238E27FC236}">
                <a16:creationId xmlns:a16="http://schemas.microsoft.com/office/drawing/2014/main" id="{EBE8D8D9-FA1A-54E6-E277-258ACF3FF167}"/>
              </a:ext>
            </a:extLst>
          </p:cNvPr>
          <p:cNvSpPr>
            <a:spLocks noGrp="1"/>
          </p:cNvSpPr>
          <p:nvPr>
            <p:ph sz="half" idx="1"/>
          </p:nvPr>
        </p:nvSpPr>
        <p:spPr>
          <a:xfrm>
            <a:off x="457200" y="1596073"/>
            <a:ext cx="4057650" cy="2082430"/>
          </a:xfrm>
        </p:spPr>
        <p:txBody>
          <a:bodyPr>
            <a:normAutofit/>
          </a:bodyPr>
          <a:lstStyle/>
          <a:p>
            <a:r>
              <a:rPr lang="en-US" sz="1800" dirty="0"/>
              <a:t>The rotation function accepts one argument: a rotation angle in degrees</a:t>
            </a:r>
          </a:p>
          <a:p>
            <a:r>
              <a:rPr lang="en-US" sz="1800" dirty="0"/>
              <a:t>Rotation could be done around selected points, such as centroids</a:t>
            </a:r>
          </a:p>
        </p:txBody>
      </p:sp>
      <p:sp>
        <p:nvSpPr>
          <p:cNvPr id="8" name="Content Placeholder 7">
            <a:extLst>
              <a:ext uri="{FF2B5EF4-FFF2-40B4-BE49-F238E27FC236}">
                <a16:creationId xmlns:a16="http://schemas.microsoft.com/office/drawing/2014/main" id="{770CAD1F-E645-F4C0-0675-F2CA2C836AC2}"/>
              </a:ext>
            </a:extLst>
          </p:cNvPr>
          <p:cNvSpPr>
            <a:spLocks noGrp="1"/>
          </p:cNvSpPr>
          <p:nvPr>
            <p:ph sz="half" idx="2"/>
          </p:nvPr>
        </p:nvSpPr>
        <p:spPr/>
        <p:txBody>
          <a:bodyPr>
            <a:normAutofit/>
          </a:bodyPr>
          <a:lstStyle/>
          <a:p>
            <a:r>
              <a:rPr lang="en-US" sz="1400" dirty="0"/>
              <a:t>rotation = function(a){</a:t>
            </a:r>
          </a:p>
          <a:p>
            <a:r>
              <a:rPr lang="en-US" sz="1400" dirty="0"/>
              <a:t>  r = a * pi / 180 #degrees to radians</a:t>
            </a:r>
          </a:p>
          <a:p>
            <a:r>
              <a:rPr lang="en-US" sz="1400" dirty="0"/>
              <a:t>  matrix(c(cos(r), sin(r), -sin(r), cos(r)), </a:t>
            </a:r>
            <a:r>
              <a:rPr lang="en-US" sz="1400" dirty="0" err="1"/>
              <a:t>nrow</a:t>
            </a:r>
            <a:r>
              <a:rPr lang="en-US" sz="1400" dirty="0"/>
              <a:t> = 2, </a:t>
            </a:r>
            <a:r>
              <a:rPr lang="en-US" sz="1400" dirty="0" err="1"/>
              <a:t>ncol</a:t>
            </a:r>
            <a:r>
              <a:rPr lang="en-US" sz="1400" dirty="0"/>
              <a:t> = 2)</a:t>
            </a:r>
          </a:p>
          <a:p>
            <a:r>
              <a:rPr lang="en-US" sz="1400" dirty="0"/>
              <a:t>}</a:t>
            </a:r>
          </a:p>
          <a:p>
            <a:endParaRPr lang="en-US" sz="1400" dirty="0"/>
          </a:p>
          <a:p>
            <a:r>
              <a:rPr lang="en-US" sz="1400" dirty="0" err="1"/>
              <a:t>nz_rotate</a:t>
            </a:r>
            <a:r>
              <a:rPr lang="en-US" sz="1400" dirty="0"/>
              <a:t> = (</a:t>
            </a:r>
            <a:r>
              <a:rPr lang="en-US" sz="1400" dirty="0" err="1"/>
              <a:t>nz_sfc</a:t>
            </a:r>
            <a:r>
              <a:rPr lang="en-US" sz="1400" dirty="0"/>
              <a:t> - </a:t>
            </a:r>
            <a:r>
              <a:rPr lang="en-US" sz="1400" dirty="0" err="1"/>
              <a:t>nz_centroid_sfc</a:t>
            </a:r>
            <a:r>
              <a:rPr lang="en-US" sz="1400" dirty="0"/>
              <a:t>) * rotation(30) + </a:t>
            </a:r>
            <a:r>
              <a:rPr lang="en-US" sz="1400" dirty="0" err="1"/>
              <a:t>nz_centroid_sfc</a:t>
            </a:r>
            <a:endParaRPr lang="en-US" sz="1400" dirty="0"/>
          </a:p>
          <a:p>
            <a:endParaRPr lang="en-US" sz="1400" dirty="0"/>
          </a:p>
          <a:p>
            <a:r>
              <a:rPr lang="en-US" sz="1400" dirty="0"/>
              <a:t>plot(</a:t>
            </a:r>
            <a:r>
              <a:rPr lang="en-US" sz="1400" dirty="0" err="1"/>
              <a:t>st_geometry</a:t>
            </a:r>
            <a:r>
              <a:rPr lang="en-US" sz="1400" dirty="0"/>
              <a:t>(</a:t>
            </a:r>
            <a:r>
              <a:rPr lang="en-US" sz="1400" dirty="0" err="1"/>
              <a:t>nz_sfc</a:t>
            </a:r>
            <a:r>
              <a:rPr lang="en-US" sz="1400" dirty="0"/>
              <a:t>), col = "</a:t>
            </a:r>
            <a:r>
              <a:rPr lang="en-US" sz="1400" dirty="0" err="1"/>
              <a:t>lightgray</a:t>
            </a:r>
            <a:r>
              <a:rPr lang="en-US" sz="1400" dirty="0"/>
              <a:t>")</a:t>
            </a:r>
          </a:p>
          <a:p>
            <a:r>
              <a:rPr lang="en-US" sz="1400" dirty="0"/>
              <a:t>plot(</a:t>
            </a:r>
            <a:r>
              <a:rPr lang="en-US" sz="1400" dirty="0" err="1"/>
              <a:t>st_geometry</a:t>
            </a:r>
            <a:r>
              <a:rPr lang="en-US" sz="1400" dirty="0"/>
              <a:t>(</a:t>
            </a:r>
            <a:r>
              <a:rPr lang="en-US" sz="1400" dirty="0" err="1"/>
              <a:t>nz_rotate</a:t>
            </a:r>
            <a:r>
              <a:rPr lang="en-US" sz="1400" dirty="0"/>
              <a:t>), col = "red", add = TRUE)</a:t>
            </a:r>
          </a:p>
        </p:txBody>
      </p:sp>
      <p:pic>
        <p:nvPicPr>
          <p:cNvPr id="22" name="Picture 21">
            <a:extLst>
              <a:ext uri="{FF2B5EF4-FFF2-40B4-BE49-F238E27FC236}">
                <a16:creationId xmlns:a16="http://schemas.microsoft.com/office/drawing/2014/main" id="{3AEAAEEE-0DE2-F7F2-55FC-B7D586BFEF30}"/>
              </a:ext>
            </a:extLst>
          </p:cNvPr>
          <p:cNvPicPr>
            <a:picLocks noChangeAspect="1"/>
          </p:cNvPicPr>
          <p:nvPr/>
        </p:nvPicPr>
        <p:blipFill>
          <a:blip r:embed="rId2"/>
          <a:srcRect/>
          <a:stretch/>
        </p:blipFill>
        <p:spPr>
          <a:xfrm>
            <a:off x="457200" y="3678502"/>
            <a:ext cx="4057650" cy="2498460"/>
          </a:xfrm>
          <a:prstGeom prst="rect">
            <a:avLst/>
          </a:prstGeom>
        </p:spPr>
      </p:pic>
      <p:sp>
        <p:nvSpPr>
          <p:cNvPr id="2" name="Slide Number Placeholder 1">
            <a:extLst>
              <a:ext uri="{FF2B5EF4-FFF2-40B4-BE49-F238E27FC236}">
                <a16:creationId xmlns:a16="http://schemas.microsoft.com/office/drawing/2014/main" id="{AD188A5C-2B40-1830-B6A4-FCE9579FCD51}"/>
              </a:ext>
            </a:extLst>
          </p:cNvPr>
          <p:cNvSpPr>
            <a:spLocks noGrp="1"/>
          </p:cNvSpPr>
          <p:nvPr>
            <p:ph type="sldNum" sz="quarter" idx="12"/>
          </p:nvPr>
        </p:nvSpPr>
        <p:spPr/>
        <p:txBody>
          <a:bodyPr/>
          <a:lstStyle/>
          <a:p>
            <a:fld id="{C0343C75-1924-D247-85A3-0CB62E67E5D1}" type="slidenum">
              <a:rPr lang="en-US" smtClean="0"/>
              <a:t>26</a:t>
            </a:fld>
            <a:endParaRPr lang="en-US"/>
          </a:p>
        </p:txBody>
      </p:sp>
    </p:spTree>
    <p:extLst>
      <p:ext uri="{BB962C8B-B14F-4D97-AF65-F5344CB8AC3E}">
        <p14:creationId xmlns:p14="http://schemas.microsoft.com/office/powerpoint/2010/main" val="2223755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ECD80-30D1-F314-CC36-83058594BCED}"/>
              </a:ext>
            </a:extLst>
          </p:cNvPr>
          <p:cNvSpPr>
            <a:spLocks noGrp="1"/>
          </p:cNvSpPr>
          <p:nvPr>
            <p:ph type="title"/>
          </p:nvPr>
        </p:nvSpPr>
        <p:spPr/>
        <p:txBody>
          <a:bodyPr/>
          <a:lstStyle/>
          <a:p>
            <a:r>
              <a:rPr lang="en-US" dirty="0"/>
              <a:t>Clipping</a:t>
            </a:r>
          </a:p>
        </p:txBody>
      </p:sp>
      <p:sp>
        <p:nvSpPr>
          <p:cNvPr id="3" name="Content Placeholder 2">
            <a:extLst>
              <a:ext uri="{FF2B5EF4-FFF2-40B4-BE49-F238E27FC236}">
                <a16:creationId xmlns:a16="http://schemas.microsoft.com/office/drawing/2014/main" id="{70A08310-5714-5604-420A-CB1C75615504}"/>
              </a:ext>
            </a:extLst>
          </p:cNvPr>
          <p:cNvSpPr>
            <a:spLocks noGrp="1"/>
          </p:cNvSpPr>
          <p:nvPr>
            <p:ph idx="1"/>
          </p:nvPr>
        </p:nvSpPr>
        <p:spPr/>
        <p:txBody>
          <a:bodyPr/>
          <a:lstStyle/>
          <a:p>
            <a:r>
              <a:rPr lang="en-US" dirty="0"/>
              <a:t>Spatial clipping is a form of </a:t>
            </a:r>
            <a:r>
              <a:rPr lang="en-US" b="1" dirty="0"/>
              <a:t>spatial </a:t>
            </a:r>
            <a:r>
              <a:rPr lang="en-US" b="1" dirty="0" err="1"/>
              <a:t>subsetting</a:t>
            </a:r>
            <a:r>
              <a:rPr lang="en-US" b="1" dirty="0"/>
              <a:t> </a:t>
            </a:r>
            <a:r>
              <a:rPr lang="en-US" dirty="0"/>
              <a:t>that involves changes to the geometry columns of at least some of the affected features.</a:t>
            </a:r>
          </a:p>
          <a:p>
            <a:r>
              <a:rPr lang="en-US" dirty="0"/>
              <a:t>Clipping can only apply to features more complex than points: lines, polygons and their 'multi' equivalents.</a:t>
            </a:r>
          </a:p>
        </p:txBody>
      </p:sp>
      <p:sp>
        <p:nvSpPr>
          <p:cNvPr id="4" name="Slide Number Placeholder 3">
            <a:extLst>
              <a:ext uri="{FF2B5EF4-FFF2-40B4-BE49-F238E27FC236}">
                <a16:creationId xmlns:a16="http://schemas.microsoft.com/office/drawing/2014/main" id="{D599E8FB-F161-5B44-48A1-07C6F1CC6986}"/>
              </a:ext>
            </a:extLst>
          </p:cNvPr>
          <p:cNvSpPr>
            <a:spLocks noGrp="1"/>
          </p:cNvSpPr>
          <p:nvPr>
            <p:ph type="sldNum" sz="quarter" idx="12"/>
          </p:nvPr>
        </p:nvSpPr>
        <p:spPr/>
        <p:txBody>
          <a:bodyPr/>
          <a:lstStyle/>
          <a:p>
            <a:fld id="{C0343C75-1924-D247-85A3-0CB62E67E5D1}" type="slidenum">
              <a:rPr lang="en-US" smtClean="0"/>
              <a:t>27</a:t>
            </a:fld>
            <a:endParaRPr lang="en-US"/>
          </a:p>
        </p:txBody>
      </p:sp>
    </p:spTree>
    <p:extLst>
      <p:ext uri="{BB962C8B-B14F-4D97-AF65-F5344CB8AC3E}">
        <p14:creationId xmlns:p14="http://schemas.microsoft.com/office/powerpoint/2010/main" val="693946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AEE7E-AA9C-B4ED-6D52-3C3C36D446A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21F37AD-79EF-5466-12D1-631B8D28DF0C}"/>
              </a:ext>
            </a:extLst>
          </p:cNvPr>
          <p:cNvSpPr>
            <a:spLocks noGrp="1"/>
          </p:cNvSpPr>
          <p:nvPr>
            <p:ph type="title"/>
          </p:nvPr>
        </p:nvSpPr>
        <p:spPr/>
        <p:txBody>
          <a:bodyPr/>
          <a:lstStyle/>
          <a:p>
            <a:r>
              <a:rPr lang="en-US" dirty="0"/>
              <a:t>Clipping Example</a:t>
            </a:r>
          </a:p>
        </p:txBody>
      </p:sp>
      <p:sp>
        <p:nvSpPr>
          <p:cNvPr id="7" name="Content Placeholder 6">
            <a:extLst>
              <a:ext uri="{FF2B5EF4-FFF2-40B4-BE49-F238E27FC236}">
                <a16:creationId xmlns:a16="http://schemas.microsoft.com/office/drawing/2014/main" id="{D68128EF-922A-2348-B018-74B70D98DA8A}"/>
              </a:ext>
            </a:extLst>
          </p:cNvPr>
          <p:cNvSpPr>
            <a:spLocks noGrp="1"/>
          </p:cNvSpPr>
          <p:nvPr>
            <p:ph sz="half" idx="1"/>
          </p:nvPr>
        </p:nvSpPr>
        <p:spPr>
          <a:xfrm>
            <a:off x="457200" y="4305782"/>
            <a:ext cx="4057650" cy="1871181"/>
          </a:xfrm>
        </p:spPr>
        <p:txBody>
          <a:bodyPr/>
          <a:lstStyle/>
          <a:p>
            <a:r>
              <a:rPr lang="en-US" dirty="0"/>
              <a:t>Imagine you want to select not one circle or the other, but the space covered by both x and y</a:t>
            </a:r>
          </a:p>
        </p:txBody>
      </p:sp>
      <p:sp>
        <p:nvSpPr>
          <p:cNvPr id="8" name="Content Placeholder 7">
            <a:extLst>
              <a:ext uri="{FF2B5EF4-FFF2-40B4-BE49-F238E27FC236}">
                <a16:creationId xmlns:a16="http://schemas.microsoft.com/office/drawing/2014/main" id="{29C3F997-51DA-F109-DF41-FC3990F05647}"/>
              </a:ext>
            </a:extLst>
          </p:cNvPr>
          <p:cNvSpPr>
            <a:spLocks noGrp="1"/>
          </p:cNvSpPr>
          <p:nvPr>
            <p:ph sz="half" idx="2"/>
          </p:nvPr>
        </p:nvSpPr>
        <p:spPr/>
        <p:txBody>
          <a:bodyPr/>
          <a:lstStyle/>
          <a:p>
            <a:r>
              <a:rPr lang="en-US" dirty="0"/>
              <a:t>b = </a:t>
            </a:r>
            <a:r>
              <a:rPr lang="en-US" dirty="0" err="1"/>
              <a:t>st_sfc</a:t>
            </a:r>
            <a:r>
              <a:rPr lang="en-US" dirty="0"/>
              <a:t>(</a:t>
            </a:r>
            <a:r>
              <a:rPr lang="en-US" dirty="0" err="1"/>
              <a:t>st_point</a:t>
            </a:r>
            <a:r>
              <a:rPr lang="en-US" dirty="0"/>
              <a:t>(c(0, 1)), </a:t>
            </a:r>
            <a:r>
              <a:rPr lang="en-US" dirty="0" err="1"/>
              <a:t>st_point</a:t>
            </a:r>
            <a:r>
              <a:rPr lang="en-US" dirty="0"/>
              <a:t>(c(1, 1))) # create 2 points</a:t>
            </a:r>
          </a:p>
          <a:p>
            <a:endParaRPr lang="en-US" dirty="0"/>
          </a:p>
          <a:p>
            <a:r>
              <a:rPr lang="en-US" dirty="0"/>
              <a:t>b = </a:t>
            </a:r>
            <a:r>
              <a:rPr lang="en-US" dirty="0" err="1"/>
              <a:t>st_buffer</a:t>
            </a:r>
            <a:r>
              <a:rPr lang="en-US" dirty="0"/>
              <a:t>(b, </a:t>
            </a:r>
            <a:r>
              <a:rPr lang="en-US" dirty="0" err="1"/>
              <a:t>dist</a:t>
            </a:r>
            <a:r>
              <a:rPr lang="en-US" dirty="0"/>
              <a:t> = 1) # convert points to circles</a:t>
            </a:r>
          </a:p>
          <a:p>
            <a:endParaRPr lang="en-US" dirty="0"/>
          </a:p>
          <a:p>
            <a:r>
              <a:rPr lang="en-US" dirty="0"/>
              <a:t>plot(b, border = "gray")</a:t>
            </a:r>
          </a:p>
          <a:p>
            <a:endParaRPr lang="en-US" dirty="0"/>
          </a:p>
          <a:p>
            <a:r>
              <a:rPr lang="en-US" dirty="0"/>
              <a:t>text(x = c(-0.5, 1.5), y = 1, labels = c("x", "y"), </a:t>
            </a:r>
            <a:r>
              <a:rPr lang="en-US" dirty="0" err="1"/>
              <a:t>cex</a:t>
            </a:r>
            <a:r>
              <a:rPr lang="en-US" dirty="0"/>
              <a:t> = 3) # add text</a:t>
            </a:r>
          </a:p>
        </p:txBody>
      </p:sp>
      <p:pic>
        <p:nvPicPr>
          <p:cNvPr id="22" name="Picture 21">
            <a:extLst>
              <a:ext uri="{FF2B5EF4-FFF2-40B4-BE49-F238E27FC236}">
                <a16:creationId xmlns:a16="http://schemas.microsoft.com/office/drawing/2014/main" id="{B869659B-FD42-7B55-F088-5C6077D8D522}"/>
              </a:ext>
            </a:extLst>
          </p:cNvPr>
          <p:cNvPicPr>
            <a:picLocks noChangeAspect="1"/>
          </p:cNvPicPr>
          <p:nvPr/>
        </p:nvPicPr>
        <p:blipFill>
          <a:blip r:embed="rId2"/>
          <a:srcRect/>
          <a:stretch/>
        </p:blipFill>
        <p:spPr>
          <a:xfrm>
            <a:off x="458700" y="1596072"/>
            <a:ext cx="4056150" cy="2709710"/>
          </a:xfrm>
          <a:prstGeom prst="rect">
            <a:avLst/>
          </a:prstGeom>
        </p:spPr>
      </p:pic>
      <p:sp>
        <p:nvSpPr>
          <p:cNvPr id="2" name="Slide Number Placeholder 1">
            <a:extLst>
              <a:ext uri="{FF2B5EF4-FFF2-40B4-BE49-F238E27FC236}">
                <a16:creationId xmlns:a16="http://schemas.microsoft.com/office/drawing/2014/main" id="{530BA1B0-4230-AA22-79C7-C3C153786805}"/>
              </a:ext>
            </a:extLst>
          </p:cNvPr>
          <p:cNvSpPr>
            <a:spLocks noGrp="1"/>
          </p:cNvSpPr>
          <p:nvPr>
            <p:ph type="sldNum" sz="quarter" idx="12"/>
          </p:nvPr>
        </p:nvSpPr>
        <p:spPr/>
        <p:txBody>
          <a:bodyPr/>
          <a:lstStyle/>
          <a:p>
            <a:fld id="{C0343C75-1924-D247-85A3-0CB62E67E5D1}" type="slidenum">
              <a:rPr lang="en-US" smtClean="0"/>
              <a:t>28</a:t>
            </a:fld>
            <a:endParaRPr lang="en-US"/>
          </a:p>
        </p:txBody>
      </p:sp>
    </p:spTree>
    <p:extLst>
      <p:ext uri="{BB962C8B-B14F-4D97-AF65-F5344CB8AC3E}">
        <p14:creationId xmlns:p14="http://schemas.microsoft.com/office/powerpoint/2010/main" val="4141388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0A9C2-AB5D-7AAD-6A22-D74F147A8C7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CC9B905-2A53-107F-F17B-E1F02D50C0D3}"/>
              </a:ext>
            </a:extLst>
          </p:cNvPr>
          <p:cNvSpPr>
            <a:spLocks noGrp="1"/>
          </p:cNvSpPr>
          <p:nvPr>
            <p:ph type="title"/>
          </p:nvPr>
        </p:nvSpPr>
        <p:spPr/>
        <p:txBody>
          <a:bodyPr/>
          <a:lstStyle/>
          <a:p>
            <a:r>
              <a:rPr lang="en-US" dirty="0"/>
              <a:t>Clipping Example</a:t>
            </a:r>
          </a:p>
        </p:txBody>
      </p:sp>
      <p:sp>
        <p:nvSpPr>
          <p:cNvPr id="7" name="Content Placeholder 6">
            <a:extLst>
              <a:ext uri="{FF2B5EF4-FFF2-40B4-BE49-F238E27FC236}">
                <a16:creationId xmlns:a16="http://schemas.microsoft.com/office/drawing/2014/main" id="{4E172785-A543-AF7A-5282-0FC65C16CE11}"/>
              </a:ext>
            </a:extLst>
          </p:cNvPr>
          <p:cNvSpPr>
            <a:spLocks noGrp="1"/>
          </p:cNvSpPr>
          <p:nvPr>
            <p:ph sz="half" idx="1"/>
          </p:nvPr>
        </p:nvSpPr>
        <p:spPr>
          <a:xfrm>
            <a:off x="457200" y="4305783"/>
            <a:ext cx="4057650" cy="1871180"/>
          </a:xfrm>
        </p:spPr>
        <p:txBody>
          <a:bodyPr>
            <a:normAutofit/>
          </a:bodyPr>
          <a:lstStyle/>
          <a:p>
            <a:r>
              <a:rPr lang="en-US" dirty="0"/>
              <a:t>This can be done using the function </a:t>
            </a:r>
            <a:r>
              <a:rPr lang="en-US" sz="2000" b="1" dirty="0" err="1">
                <a:latin typeface="Consolas" panose="020B0609020204030204" pitchFamily="49" charset="0"/>
                <a:cs typeface="Consolas" panose="020B0609020204030204" pitchFamily="49" charset="0"/>
              </a:rPr>
              <a:t>st_intersection</a:t>
            </a:r>
            <a:r>
              <a:rPr lang="en-US" sz="2000" b="1" dirty="0">
                <a:latin typeface="Consolas" panose="020B0609020204030204" pitchFamily="49" charset="0"/>
                <a:cs typeface="Consolas" panose="020B0609020204030204" pitchFamily="49" charset="0"/>
              </a:rPr>
              <a:t>()</a:t>
            </a:r>
            <a:endParaRPr lang="en-US" b="1" dirty="0">
              <a:latin typeface="Consolas" panose="020B0609020204030204" pitchFamily="49" charset="0"/>
              <a:cs typeface="Consolas" panose="020B0609020204030204" pitchFamily="49" charset="0"/>
            </a:endParaRPr>
          </a:p>
          <a:p>
            <a:endParaRPr lang="en-US" dirty="0"/>
          </a:p>
        </p:txBody>
      </p:sp>
      <p:sp>
        <p:nvSpPr>
          <p:cNvPr id="8" name="Content Placeholder 7">
            <a:extLst>
              <a:ext uri="{FF2B5EF4-FFF2-40B4-BE49-F238E27FC236}">
                <a16:creationId xmlns:a16="http://schemas.microsoft.com/office/drawing/2014/main" id="{C74E8CC3-AB9F-6D05-C1F4-B9E07F51A890}"/>
              </a:ext>
            </a:extLst>
          </p:cNvPr>
          <p:cNvSpPr>
            <a:spLocks noGrp="1"/>
          </p:cNvSpPr>
          <p:nvPr>
            <p:ph sz="half" idx="2"/>
          </p:nvPr>
        </p:nvSpPr>
        <p:spPr/>
        <p:txBody>
          <a:bodyPr>
            <a:normAutofit/>
          </a:bodyPr>
          <a:lstStyle/>
          <a:p>
            <a:r>
              <a:rPr lang="en-US" dirty="0"/>
              <a:t>x = b[1]</a:t>
            </a:r>
          </a:p>
          <a:p>
            <a:endParaRPr lang="en-US" dirty="0"/>
          </a:p>
          <a:p>
            <a:r>
              <a:rPr lang="en-US" dirty="0"/>
              <a:t>y = b[2]</a:t>
            </a:r>
          </a:p>
          <a:p>
            <a:endParaRPr lang="en-US" dirty="0"/>
          </a:p>
          <a:p>
            <a:r>
              <a:rPr lang="en-US" dirty="0" err="1"/>
              <a:t>x_and_y</a:t>
            </a:r>
            <a:r>
              <a:rPr lang="en-US" dirty="0"/>
              <a:t> = </a:t>
            </a:r>
            <a:r>
              <a:rPr lang="en-US" dirty="0" err="1"/>
              <a:t>st_intersection</a:t>
            </a:r>
            <a:r>
              <a:rPr lang="en-US" dirty="0"/>
              <a:t>(x, y)</a:t>
            </a:r>
          </a:p>
          <a:p>
            <a:endParaRPr lang="en-US" dirty="0"/>
          </a:p>
          <a:p>
            <a:r>
              <a:rPr lang="en-US" dirty="0"/>
              <a:t>plot(b, border = "gray")</a:t>
            </a:r>
          </a:p>
          <a:p>
            <a:endParaRPr lang="en-US" dirty="0"/>
          </a:p>
          <a:p>
            <a:r>
              <a:rPr lang="en-US" dirty="0"/>
              <a:t>plot(</a:t>
            </a:r>
            <a:r>
              <a:rPr lang="en-US" dirty="0" err="1"/>
              <a:t>x_and_y</a:t>
            </a:r>
            <a:r>
              <a:rPr lang="en-US" dirty="0"/>
              <a:t>, col = "</a:t>
            </a:r>
            <a:r>
              <a:rPr lang="en-US" dirty="0" err="1"/>
              <a:t>lightgray</a:t>
            </a:r>
            <a:r>
              <a:rPr lang="en-US" dirty="0"/>
              <a:t>", border = "gray", add = TRUE) # intersecting area</a:t>
            </a:r>
          </a:p>
        </p:txBody>
      </p:sp>
      <p:pic>
        <p:nvPicPr>
          <p:cNvPr id="22" name="Picture 21">
            <a:extLst>
              <a:ext uri="{FF2B5EF4-FFF2-40B4-BE49-F238E27FC236}">
                <a16:creationId xmlns:a16="http://schemas.microsoft.com/office/drawing/2014/main" id="{00BCB6FE-1CFE-9E23-BC97-542B78BB2873}"/>
              </a:ext>
            </a:extLst>
          </p:cNvPr>
          <p:cNvPicPr>
            <a:picLocks noChangeAspect="1"/>
          </p:cNvPicPr>
          <p:nvPr/>
        </p:nvPicPr>
        <p:blipFill>
          <a:blip r:embed="rId2"/>
          <a:srcRect/>
          <a:stretch/>
        </p:blipFill>
        <p:spPr>
          <a:xfrm>
            <a:off x="457200" y="1596072"/>
            <a:ext cx="4056150" cy="2709711"/>
          </a:xfrm>
          <a:prstGeom prst="rect">
            <a:avLst/>
          </a:prstGeom>
        </p:spPr>
      </p:pic>
      <p:sp>
        <p:nvSpPr>
          <p:cNvPr id="2" name="Slide Number Placeholder 1">
            <a:extLst>
              <a:ext uri="{FF2B5EF4-FFF2-40B4-BE49-F238E27FC236}">
                <a16:creationId xmlns:a16="http://schemas.microsoft.com/office/drawing/2014/main" id="{E0949AAF-78E2-1F72-88BA-9BDAF6F0EE18}"/>
              </a:ext>
            </a:extLst>
          </p:cNvPr>
          <p:cNvSpPr>
            <a:spLocks noGrp="1"/>
          </p:cNvSpPr>
          <p:nvPr>
            <p:ph type="sldNum" sz="quarter" idx="12"/>
          </p:nvPr>
        </p:nvSpPr>
        <p:spPr/>
        <p:txBody>
          <a:bodyPr/>
          <a:lstStyle/>
          <a:p>
            <a:fld id="{C0343C75-1924-D247-85A3-0CB62E67E5D1}" type="slidenum">
              <a:rPr lang="en-US" smtClean="0"/>
              <a:t>29</a:t>
            </a:fld>
            <a:endParaRPr lang="en-US"/>
          </a:p>
        </p:txBody>
      </p:sp>
    </p:spTree>
    <p:extLst>
      <p:ext uri="{BB962C8B-B14F-4D97-AF65-F5344CB8AC3E}">
        <p14:creationId xmlns:p14="http://schemas.microsoft.com/office/powerpoint/2010/main" val="34992039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0C5883F-22F2-168B-0D93-13D44823A35B}"/>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1828800" y="1392659"/>
            <a:ext cx="5486400" cy="3378200"/>
          </a:xfrm>
          <a:prstGeom prst="rect">
            <a:avLst/>
          </a:prstGeom>
        </p:spPr>
      </p:pic>
      <p:sp>
        <p:nvSpPr>
          <p:cNvPr id="9" name="TextBox 8">
            <a:extLst>
              <a:ext uri="{FF2B5EF4-FFF2-40B4-BE49-F238E27FC236}">
                <a16:creationId xmlns:a16="http://schemas.microsoft.com/office/drawing/2014/main" id="{B29476F1-13FC-4455-8680-13E9B60416AA}"/>
              </a:ext>
            </a:extLst>
          </p:cNvPr>
          <p:cNvSpPr txBox="1"/>
          <p:nvPr/>
        </p:nvSpPr>
        <p:spPr>
          <a:xfrm>
            <a:off x="1828800" y="4599328"/>
            <a:ext cx="5486401" cy="1200329"/>
          </a:xfrm>
          <a:prstGeom prst="rect">
            <a:avLst/>
          </a:prstGeom>
          <a:noFill/>
        </p:spPr>
        <p:txBody>
          <a:bodyPr wrap="square" rtlCol="0">
            <a:spAutoFit/>
          </a:bodyPr>
          <a:lstStyle/>
          <a:p>
            <a:r>
              <a:rPr lang="en-US" b="1" dirty="0"/>
              <a:t>Spatial equivalents of logical operators</a:t>
            </a:r>
          </a:p>
          <a:p>
            <a:r>
              <a:rPr lang="en-US" dirty="0"/>
              <a:t>The subsequent code chunk demonstrates how this works for all combinations of the 'Venn' diagram representing x and y.</a:t>
            </a:r>
          </a:p>
        </p:txBody>
      </p:sp>
      <p:sp>
        <p:nvSpPr>
          <p:cNvPr id="2" name="Slide Number Placeholder 1">
            <a:extLst>
              <a:ext uri="{FF2B5EF4-FFF2-40B4-BE49-F238E27FC236}">
                <a16:creationId xmlns:a16="http://schemas.microsoft.com/office/drawing/2014/main" id="{063B26F8-0FAB-7053-01FD-C91E2F7A61FE}"/>
              </a:ext>
            </a:extLst>
          </p:cNvPr>
          <p:cNvSpPr>
            <a:spLocks noGrp="1"/>
          </p:cNvSpPr>
          <p:nvPr>
            <p:ph type="sldNum" sz="quarter" idx="12"/>
          </p:nvPr>
        </p:nvSpPr>
        <p:spPr/>
        <p:txBody>
          <a:bodyPr/>
          <a:lstStyle/>
          <a:p>
            <a:fld id="{C0343C75-1924-D247-85A3-0CB62E67E5D1}" type="slidenum">
              <a:rPr lang="en-US" smtClean="0"/>
              <a:t>30</a:t>
            </a:fld>
            <a:endParaRPr lang="en-US"/>
          </a:p>
        </p:txBody>
      </p:sp>
    </p:spTree>
    <p:extLst>
      <p:ext uri="{BB962C8B-B14F-4D97-AF65-F5344CB8AC3E}">
        <p14:creationId xmlns:p14="http://schemas.microsoft.com/office/powerpoint/2010/main" val="881704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409000D1-E3DE-7F75-99CE-03099278C917}"/>
              </a:ext>
            </a:extLst>
          </p:cNvPr>
          <p:cNvSpPr/>
          <p:nvPr/>
        </p:nvSpPr>
        <p:spPr>
          <a:xfrm>
            <a:off x="457200" y="2950465"/>
            <a:ext cx="8046720" cy="2926080"/>
          </a:xfrm>
          <a:prstGeom prst="roundRect">
            <a:avLst>
              <a:gd name="adj" fmla="val 5315"/>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62F423-2E7E-C543-0916-B6E1E695479C}"/>
              </a:ext>
            </a:extLst>
          </p:cNvPr>
          <p:cNvSpPr>
            <a:spLocks noGrp="1"/>
          </p:cNvSpPr>
          <p:nvPr>
            <p:ph type="title"/>
          </p:nvPr>
        </p:nvSpPr>
        <p:spPr/>
        <p:txBody>
          <a:bodyPr/>
          <a:lstStyle/>
          <a:p>
            <a:r>
              <a:rPr lang="en-US" dirty="0"/>
              <a:t>Subsetting and Clipping</a:t>
            </a:r>
          </a:p>
        </p:txBody>
      </p:sp>
      <p:sp>
        <p:nvSpPr>
          <p:cNvPr id="3" name="Content Placeholder 2">
            <a:extLst>
              <a:ext uri="{FF2B5EF4-FFF2-40B4-BE49-F238E27FC236}">
                <a16:creationId xmlns:a16="http://schemas.microsoft.com/office/drawing/2014/main" id="{A3A0915D-1D92-2750-E86F-68984D369A1A}"/>
              </a:ext>
            </a:extLst>
          </p:cNvPr>
          <p:cNvSpPr>
            <a:spLocks noGrp="1"/>
          </p:cNvSpPr>
          <p:nvPr>
            <p:ph idx="1"/>
          </p:nvPr>
        </p:nvSpPr>
        <p:spPr/>
        <p:txBody>
          <a:bodyPr>
            <a:normAutofit lnSpcReduction="10000"/>
          </a:bodyPr>
          <a:lstStyle/>
          <a:p>
            <a:r>
              <a:rPr lang="en-US" dirty="0"/>
              <a:t>Clipping objects can change their geometry</a:t>
            </a:r>
          </a:p>
          <a:p>
            <a:r>
              <a:rPr lang="en-US" dirty="0"/>
              <a:t>But it can also subset objects, returning only features that intersect (or partly intersect) with a clipping/</a:t>
            </a:r>
            <a:r>
              <a:rPr lang="en-US" dirty="0" err="1"/>
              <a:t>subsetting</a:t>
            </a:r>
            <a:r>
              <a:rPr lang="en-US" dirty="0"/>
              <a:t> object</a:t>
            </a:r>
          </a:p>
          <a:p>
            <a:pPr marL="0" indent="0">
              <a:buNone/>
            </a:pPr>
            <a:endParaRPr lang="en-US" sz="1800" dirty="0">
              <a:solidFill>
                <a:schemeClr val="accent5"/>
              </a:solidFill>
            </a:endParaRPr>
          </a:p>
          <a:p>
            <a:pPr marL="0" indent="0">
              <a:buNone/>
            </a:pPr>
            <a:r>
              <a:rPr lang="en-US" sz="1600" b="1" dirty="0">
                <a:solidFill>
                  <a:schemeClr val="accent6">
                    <a:lumMod val="75000"/>
                  </a:schemeClr>
                </a:solidFill>
              </a:rPr>
              <a:t>NOTE</a:t>
            </a:r>
          </a:p>
          <a:p>
            <a:r>
              <a:rPr lang="en-US" sz="1600" dirty="0">
                <a:solidFill>
                  <a:schemeClr val="accent6">
                    <a:lumMod val="75000"/>
                  </a:schemeClr>
                </a:solidFill>
              </a:rPr>
              <a:t>A </a:t>
            </a:r>
            <a:r>
              <a:rPr lang="en-US" sz="1600" u="sng" dirty="0">
                <a:solidFill>
                  <a:schemeClr val="accent6">
                    <a:lumMod val="75000"/>
                  </a:schemeClr>
                </a:solidFill>
              </a:rPr>
              <a:t>bounding box</a:t>
            </a:r>
            <a:r>
              <a:rPr lang="en-US" sz="1600" dirty="0">
                <a:solidFill>
                  <a:schemeClr val="accent6">
                    <a:lumMod val="75000"/>
                  </a:schemeClr>
                </a:solidFill>
              </a:rPr>
              <a:t> is the smallest axis-aligned rectangle that fully contains a geometry</a:t>
            </a:r>
          </a:p>
          <a:p>
            <a:r>
              <a:rPr lang="en-US" sz="1600" dirty="0">
                <a:solidFill>
                  <a:schemeClr val="accent6">
                    <a:lumMod val="75000"/>
                  </a:schemeClr>
                </a:solidFill>
              </a:rPr>
              <a:t>Useful for: (</a:t>
            </a:r>
            <a:r>
              <a:rPr lang="en-US" sz="1600" dirty="0" err="1">
                <a:solidFill>
                  <a:schemeClr val="accent6">
                    <a:lumMod val="75000"/>
                  </a:schemeClr>
                </a:solidFill>
              </a:rPr>
              <a:t>i</a:t>
            </a:r>
            <a:r>
              <a:rPr lang="en-US" sz="1600" dirty="0">
                <a:solidFill>
                  <a:schemeClr val="accent6">
                    <a:lumMod val="75000"/>
                  </a:schemeClr>
                </a:solidFill>
              </a:rPr>
              <a:t>) quick summary of spatial extent, (ii) set plot limits or map viewports, (iii) crop or filter spatial data, (iv) align datasets before spatial joins, and (v) define spatial query windows</a:t>
            </a:r>
          </a:p>
          <a:p>
            <a:r>
              <a:rPr lang="en-US" sz="1600" b="1" dirty="0" err="1">
                <a:solidFill>
                  <a:schemeClr val="accent6">
                    <a:lumMod val="75000"/>
                  </a:schemeClr>
                </a:solidFill>
                <a:highlight>
                  <a:srgbClr val="FFFF00"/>
                </a:highlight>
                <a:latin typeface="Consolas" panose="020B0609020204030204" pitchFamily="49" charset="0"/>
                <a:cs typeface="Consolas" panose="020B0609020204030204" pitchFamily="49" charset="0"/>
              </a:rPr>
              <a:t>st</a:t>
            </a:r>
            <a:r>
              <a:rPr lang="en-US" sz="1600" b="1" dirty="0" err="1">
                <a:solidFill>
                  <a:schemeClr val="accent6">
                    <a:lumMod val="75000"/>
                  </a:schemeClr>
                </a:solidFill>
                <a:latin typeface="Consolas" panose="020B0609020204030204" pitchFamily="49" charset="0"/>
                <a:cs typeface="Consolas" panose="020B0609020204030204" pitchFamily="49" charset="0"/>
              </a:rPr>
              <a:t>_bbox</a:t>
            </a:r>
            <a:r>
              <a:rPr lang="en-US" sz="1600" b="1" dirty="0">
                <a:solidFill>
                  <a:schemeClr val="accent6">
                    <a:lumMod val="75000"/>
                  </a:schemeClr>
                </a:solidFill>
                <a:latin typeface="Consolas" panose="020B0609020204030204" pitchFamily="49" charset="0"/>
                <a:cs typeface="Consolas" panose="020B0609020204030204" pitchFamily="49" charset="0"/>
              </a:rPr>
              <a:t>()</a:t>
            </a:r>
          </a:p>
          <a:p>
            <a:pPr lvl="1"/>
            <a:r>
              <a:rPr lang="en-US" sz="1400" dirty="0">
                <a:solidFill>
                  <a:schemeClr val="accent6">
                    <a:lumMod val="75000"/>
                  </a:schemeClr>
                </a:solidFill>
              </a:rPr>
              <a:t>Defines the minimum and maximum coordinates that enclose ("</a:t>
            </a:r>
            <a:r>
              <a:rPr lang="en-US" sz="1400" b="1" i="1" dirty="0">
                <a:solidFill>
                  <a:schemeClr val="accent6">
                    <a:lumMod val="75000"/>
                  </a:schemeClr>
                </a:solidFill>
              </a:rPr>
              <a:t>envelopes</a:t>
            </a:r>
            <a:r>
              <a:rPr lang="en-US" sz="1400" dirty="0">
                <a:solidFill>
                  <a:schemeClr val="accent6">
                    <a:lumMod val="75000"/>
                  </a:schemeClr>
                </a:solidFill>
              </a:rPr>
              <a:t>"*) all geometries</a:t>
            </a:r>
          </a:p>
          <a:p>
            <a:pPr lvl="1"/>
            <a:r>
              <a:rPr lang="en-US" sz="1400" dirty="0">
                <a:solidFill>
                  <a:schemeClr val="accent6">
                    <a:lumMod val="75000"/>
                  </a:schemeClr>
                </a:solidFill>
              </a:rPr>
              <a:t>Returns the bounding box of a spatial object</a:t>
            </a:r>
          </a:p>
          <a:p>
            <a:pPr lvl="2"/>
            <a:r>
              <a:rPr lang="en-US" sz="1400" dirty="0">
                <a:solidFill>
                  <a:schemeClr val="accent6">
                    <a:lumMod val="75000"/>
                  </a:schemeClr>
                </a:solidFill>
              </a:rPr>
              <a:t>A named numeric vector with: </a:t>
            </a:r>
            <a:r>
              <a:rPr lang="en-US" sz="1400" dirty="0" err="1">
                <a:solidFill>
                  <a:schemeClr val="accent6">
                    <a:lumMod val="75000"/>
                  </a:schemeClr>
                </a:solidFill>
              </a:rPr>
              <a:t>xmin</a:t>
            </a:r>
            <a:r>
              <a:rPr lang="en-US" sz="1400" dirty="0">
                <a:solidFill>
                  <a:schemeClr val="accent6">
                    <a:lumMod val="75000"/>
                  </a:schemeClr>
                </a:solidFill>
              </a:rPr>
              <a:t>, </a:t>
            </a:r>
            <a:r>
              <a:rPr lang="en-US" sz="1400" dirty="0" err="1">
                <a:solidFill>
                  <a:schemeClr val="accent6">
                    <a:lumMod val="75000"/>
                  </a:schemeClr>
                </a:solidFill>
              </a:rPr>
              <a:t>ymin</a:t>
            </a:r>
            <a:r>
              <a:rPr lang="en-US" sz="1400" dirty="0">
                <a:solidFill>
                  <a:schemeClr val="accent6">
                    <a:lumMod val="75000"/>
                  </a:schemeClr>
                </a:solidFill>
              </a:rPr>
              <a:t>, </a:t>
            </a:r>
            <a:r>
              <a:rPr lang="en-US" sz="1400" dirty="0" err="1">
                <a:solidFill>
                  <a:schemeClr val="accent6">
                    <a:lumMod val="75000"/>
                  </a:schemeClr>
                </a:solidFill>
              </a:rPr>
              <a:t>xmax</a:t>
            </a:r>
            <a:r>
              <a:rPr lang="en-US" sz="1400" dirty="0">
                <a:solidFill>
                  <a:schemeClr val="accent6">
                    <a:lumMod val="75000"/>
                  </a:schemeClr>
                </a:solidFill>
              </a:rPr>
              <a:t>, </a:t>
            </a:r>
            <a:r>
              <a:rPr lang="en-US" sz="1400" dirty="0" err="1">
                <a:solidFill>
                  <a:schemeClr val="accent6">
                    <a:lumMod val="75000"/>
                  </a:schemeClr>
                </a:solidFill>
              </a:rPr>
              <a:t>ymax</a:t>
            </a:r>
            <a:endParaRPr lang="en-US" sz="1400" dirty="0">
              <a:solidFill>
                <a:schemeClr val="accent6">
                  <a:lumMod val="75000"/>
                </a:schemeClr>
              </a:solidFill>
            </a:endParaRPr>
          </a:p>
          <a:p>
            <a:pPr lvl="2"/>
            <a:r>
              <a:rPr lang="en-US" sz="1400" dirty="0">
                <a:solidFill>
                  <a:schemeClr val="accent6">
                    <a:lumMod val="75000"/>
                  </a:schemeClr>
                </a:solidFill>
              </a:rPr>
              <a:t>Includes a CRS attribute</a:t>
            </a:r>
          </a:p>
          <a:p>
            <a:pPr lvl="2"/>
            <a:r>
              <a:rPr lang="en-US" sz="1400" dirty="0">
                <a:solidFill>
                  <a:schemeClr val="accent6">
                    <a:lumMod val="75000"/>
                  </a:schemeClr>
                </a:solidFill>
              </a:rPr>
              <a:t>Can be coerced to: Numeric vector, Matrix, Polygon (</a:t>
            </a:r>
            <a:r>
              <a:rPr lang="en-US" sz="1200" b="1" dirty="0" err="1">
                <a:solidFill>
                  <a:schemeClr val="accent6">
                    <a:lumMod val="75000"/>
                  </a:schemeClr>
                </a:solidFill>
                <a:latin typeface="Consolas" panose="020B0609020204030204" pitchFamily="49" charset="0"/>
                <a:cs typeface="Consolas" panose="020B0609020204030204" pitchFamily="49" charset="0"/>
              </a:rPr>
              <a:t>st_as_sfc</a:t>
            </a:r>
            <a:r>
              <a:rPr lang="en-US" sz="1200" b="1" dirty="0">
                <a:solidFill>
                  <a:schemeClr val="accent6">
                    <a:lumMod val="75000"/>
                  </a:schemeClr>
                </a:solidFill>
                <a:latin typeface="Consolas" panose="020B0609020204030204" pitchFamily="49" charset="0"/>
                <a:cs typeface="Consolas" panose="020B0609020204030204" pitchFamily="49" charset="0"/>
              </a:rPr>
              <a:t>()</a:t>
            </a:r>
            <a:r>
              <a:rPr lang="en-US" sz="1400" dirty="0">
                <a:solidFill>
                  <a:schemeClr val="accent6">
                    <a:lumMod val="75000"/>
                  </a:schemeClr>
                </a:solidFill>
              </a:rPr>
              <a:t>)</a:t>
            </a:r>
          </a:p>
        </p:txBody>
      </p:sp>
      <p:sp>
        <p:nvSpPr>
          <p:cNvPr id="4" name="Slide Number Placeholder 3">
            <a:extLst>
              <a:ext uri="{FF2B5EF4-FFF2-40B4-BE49-F238E27FC236}">
                <a16:creationId xmlns:a16="http://schemas.microsoft.com/office/drawing/2014/main" id="{65E452CD-46E3-D85F-162B-6A551E3429C7}"/>
              </a:ext>
            </a:extLst>
          </p:cNvPr>
          <p:cNvSpPr>
            <a:spLocks noGrp="1"/>
          </p:cNvSpPr>
          <p:nvPr>
            <p:ph type="sldNum" sz="quarter" idx="12"/>
          </p:nvPr>
        </p:nvSpPr>
        <p:spPr/>
        <p:txBody>
          <a:bodyPr/>
          <a:lstStyle/>
          <a:p>
            <a:fld id="{C0343C75-1924-D247-85A3-0CB62E67E5D1}" type="slidenum">
              <a:rPr lang="en-US" smtClean="0"/>
              <a:t>31</a:t>
            </a:fld>
            <a:endParaRPr lang="en-US"/>
          </a:p>
        </p:txBody>
      </p:sp>
      <p:sp>
        <p:nvSpPr>
          <p:cNvPr id="6" name="TextBox 5">
            <a:extLst>
              <a:ext uri="{FF2B5EF4-FFF2-40B4-BE49-F238E27FC236}">
                <a16:creationId xmlns:a16="http://schemas.microsoft.com/office/drawing/2014/main" id="{A289185A-0FB9-FDFE-3307-2AAE396453BE}"/>
              </a:ext>
            </a:extLst>
          </p:cNvPr>
          <p:cNvSpPr txBox="1"/>
          <p:nvPr/>
        </p:nvSpPr>
        <p:spPr>
          <a:xfrm>
            <a:off x="457200" y="5886031"/>
            <a:ext cx="3125664" cy="276999"/>
          </a:xfrm>
          <a:prstGeom prst="rect">
            <a:avLst/>
          </a:prstGeom>
          <a:noFill/>
        </p:spPr>
        <p:txBody>
          <a:bodyPr wrap="none" rtlCol="0">
            <a:spAutoFit/>
          </a:bodyPr>
          <a:lstStyle/>
          <a:p>
            <a:r>
              <a:rPr lang="en-US" sz="1200" dirty="0"/>
              <a:t>* </a:t>
            </a:r>
            <a:r>
              <a:rPr lang="en-US" sz="1200" dirty="0">
                <a:hlinkClick r:id="rId2"/>
              </a:rPr>
              <a:t>https://postgis.net/docs/ST_Envelope.html</a:t>
            </a:r>
            <a:endParaRPr lang="en-US" sz="1200" dirty="0"/>
          </a:p>
        </p:txBody>
      </p:sp>
    </p:spTree>
    <p:extLst>
      <p:ext uri="{BB962C8B-B14F-4D97-AF65-F5344CB8AC3E}">
        <p14:creationId xmlns:p14="http://schemas.microsoft.com/office/powerpoint/2010/main" val="3751697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4CCAB-70CB-83E7-73C7-136D785ECA5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7183344-DA09-147B-E7F1-701284207981}"/>
              </a:ext>
            </a:extLst>
          </p:cNvPr>
          <p:cNvSpPr>
            <a:spLocks noGrp="1"/>
          </p:cNvSpPr>
          <p:nvPr>
            <p:ph type="title"/>
          </p:nvPr>
        </p:nvSpPr>
        <p:spPr/>
        <p:txBody>
          <a:bodyPr/>
          <a:lstStyle/>
          <a:p>
            <a:r>
              <a:rPr lang="en-US" dirty="0"/>
              <a:t>Subsetting Example</a:t>
            </a:r>
          </a:p>
        </p:txBody>
      </p:sp>
      <p:sp>
        <p:nvSpPr>
          <p:cNvPr id="7" name="Content Placeholder 6">
            <a:extLst>
              <a:ext uri="{FF2B5EF4-FFF2-40B4-BE49-F238E27FC236}">
                <a16:creationId xmlns:a16="http://schemas.microsoft.com/office/drawing/2014/main" id="{0566D2B3-D2E7-2A5E-2320-31D7CEC8DDE7}"/>
              </a:ext>
            </a:extLst>
          </p:cNvPr>
          <p:cNvSpPr>
            <a:spLocks noGrp="1"/>
          </p:cNvSpPr>
          <p:nvPr>
            <p:ph sz="half" idx="1"/>
          </p:nvPr>
        </p:nvSpPr>
        <p:spPr>
          <a:xfrm>
            <a:off x="457200" y="4097243"/>
            <a:ext cx="4057650" cy="2079720"/>
          </a:xfrm>
        </p:spPr>
        <p:txBody>
          <a:bodyPr>
            <a:normAutofit/>
          </a:bodyPr>
          <a:lstStyle/>
          <a:p>
            <a:r>
              <a:rPr lang="en-US" dirty="0"/>
              <a:t>Randomly distributed points within the bounding box enclosing circles x and y</a:t>
            </a:r>
          </a:p>
          <a:p>
            <a:r>
              <a:rPr lang="en-US" dirty="0"/>
              <a:t>The point that intersects with both objects x and y is highlighted</a:t>
            </a:r>
          </a:p>
        </p:txBody>
      </p:sp>
      <p:sp>
        <p:nvSpPr>
          <p:cNvPr id="8" name="Content Placeholder 7">
            <a:extLst>
              <a:ext uri="{FF2B5EF4-FFF2-40B4-BE49-F238E27FC236}">
                <a16:creationId xmlns:a16="http://schemas.microsoft.com/office/drawing/2014/main" id="{936D8A76-BE67-AC85-F372-EDD1C78C8BE8}"/>
              </a:ext>
            </a:extLst>
          </p:cNvPr>
          <p:cNvSpPr>
            <a:spLocks noGrp="1"/>
          </p:cNvSpPr>
          <p:nvPr>
            <p:ph sz="half" idx="2"/>
          </p:nvPr>
        </p:nvSpPr>
        <p:spPr/>
        <p:txBody>
          <a:bodyPr>
            <a:normAutofit/>
          </a:bodyPr>
          <a:lstStyle/>
          <a:p>
            <a:r>
              <a:rPr lang="en-US" sz="1400" dirty="0">
                <a:solidFill>
                  <a:schemeClr val="accent6">
                    <a:lumMod val="20000"/>
                    <a:lumOff val="80000"/>
                  </a:schemeClr>
                </a:solidFill>
              </a:rPr>
              <a:t>bb = </a:t>
            </a:r>
            <a:r>
              <a:rPr lang="en-US" sz="1400" dirty="0" err="1">
                <a:solidFill>
                  <a:schemeClr val="accent6">
                    <a:lumMod val="20000"/>
                    <a:lumOff val="80000"/>
                  </a:schemeClr>
                </a:solidFill>
              </a:rPr>
              <a:t>st_bbox</a:t>
            </a:r>
            <a:r>
              <a:rPr lang="en-US" sz="1400" dirty="0">
                <a:solidFill>
                  <a:schemeClr val="accent6">
                    <a:lumMod val="20000"/>
                    <a:lumOff val="80000"/>
                  </a:schemeClr>
                </a:solidFill>
              </a:rPr>
              <a:t>(</a:t>
            </a:r>
            <a:r>
              <a:rPr lang="en-US" sz="1400" dirty="0" err="1">
                <a:solidFill>
                  <a:schemeClr val="accent6">
                    <a:lumMod val="20000"/>
                    <a:lumOff val="80000"/>
                  </a:schemeClr>
                </a:solidFill>
              </a:rPr>
              <a:t>st_union</a:t>
            </a:r>
            <a:r>
              <a:rPr lang="en-US" sz="1400" dirty="0">
                <a:solidFill>
                  <a:schemeClr val="accent6">
                    <a:lumMod val="20000"/>
                    <a:lumOff val="80000"/>
                  </a:schemeClr>
                </a:solidFill>
              </a:rPr>
              <a:t>(x, y))</a:t>
            </a:r>
          </a:p>
          <a:p>
            <a:r>
              <a:rPr lang="en-US" sz="1400" dirty="0">
                <a:solidFill>
                  <a:schemeClr val="accent6">
                    <a:lumMod val="20000"/>
                    <a:lumOff val="80000"/>
                  </a:schemeClr>
                </a:solidFill>
              </a:rPr>
              <a:t>box = </a:t>
            </a:r>
            <a:r>
              <a:rPr lang="en-US" sz="1400" dirty="0" err="1">
                <a:solidFill>
                  <a:schemeClr val="accent6">
                    <a:lumMod val="20000"/>
                    <a:lumOff val="80000"/>
                  </a:schemeClr>
                </a:solidFill>
              </a:rPr>
              <a:t>st_as_sfc</a:t>
            </a:r>
            <a:r>
              <a:rPr lang="en-US" sz="1400" dirty="0">
                <a:solidFill>
                  <a:schemeClr val="accent6">
                    <a:lumMod val="20000"/>
                    <a:lumOff val="80000"/>
                  </a:schemeClr>
                </a:solidFill>
              </a:rPr>
              <a:t>(bb)</a:t>
            </a:r>
          </a:p>
          <a:p>
            <a:endParaRPr lang="en-US" sz="1400" dirty="0"/>
          </a:p>
          <a:p>
            <a:r>
              <a:rPr lang="en-US" sz="1400" dirty="0" err="1"/>
              <a:t>set.seed</a:t>
            </a:r>
            <a:r>
              <a:rPr lang="en-US" sz="1400" dirty="0"/>
              <a:t>(2024)</a:t>
            </a:r>
          </a:p>
          <a:p>
            <a:r>
              <a:rPr lang="en-US" sz="1400" dirty="0"/>
              <a:t>p = </a:t>
            </a:r>
            <a:r>
              <a:rPr lang="en-US" sz="1400" dirty="0" err="1"/>
              <a:t>st_sample</a:t>
            </a:r>
            <a:r>
              <a:rPr lang="en-US" sz="1400" dirty="0"/>
              <a:t>(x = box, size = 10)</a:t>
            </a:r>
          </a:p>
          <a:p>
            <a:r>
              <a:rPr lang="en-US" sz="1400" dirty="0">
                <a:solidFill>
                  <a:srgbClr val="FFFF00"/>
                </a:solidFill>
              </a:rPr>
              <a:t>p_xy1 = p[</a:t>
            </a:r>
            <a:r>
              <a:rPr lang="en-US" sz="1400" dirty="0" err="1">
                <a:solidFill>
                  <a:srgbClr val="FFFF00"/>
                </a:solidFill>
              </a:rPr>
              <a:t>x_and_y</a:t>
            </a:r>
            <a:r>
              <a:rPr lang="en-US" sz="1400" dirty="0">
                <a:solidFill>
                  <a:srgbClr val="FFFF00"/>
                </a:solidFill>
              </a:rPr>
              <a:t>]</a:t>
            </a:r>
          </a:p>
          <a:p>
            <a:endParaRPr lang="en-US" sz="1400" dirty="0"/>
          </a:p>
          <a:p>
            <a:r>
              <a:rPr lang="en-US" sz="1400" dirty="0"/>
              <a:t>plot(box, border = "gray", </a:t>
            </a:r>
            <a:r>
              <a:rPr lang="en-US" sz="1400" dirty="0" err="1"/>
              <a:t>lty</a:t>
            </a:r>
            <a:r>
              <a:rPr lang="en-US" sz="1400" dirty="0"/>
              <a:t> = 2)</a:t>
            </a:r>
          </a:p>
          <a:p>
            <a:r>
              <a:rPr lang="en-US" sz="1400" dirty="0"/>
              <a:t>plot(x, add = TRUE, border = "gray")</a:t>
            </a:r>
          </a:p>
          <a:p>
            <a:r>
              <a:rPr lang="en-US" sz="1400" dirty="0"/>
              <a:t>plot(y, add = TRUE, border = "gray")</a:t>
            </a:r>
          </a:p>
          <a:p>
            <a:r>
              <a:rPr lang="en-US" sz="1400" dirty="0"/>
              <a:t>plot(p, add = TRUE, </a:t>
            </a:r>
            <a:r>
              <a:rPr lang="en-US" sz="1400" dirty="0" err="1"/>
              <a:t>cex</a:t>
            </a:r>
            <a:r>
              <a:rPr lang="en-US" sz="1400" dirty="0"/>
              <a:t> = 3.5)</a:t>
            </a:r>
          </a:p>
          <a:p>
            <a:r>
              <a:rPr lang="en-US" sz="1400" dirty="0">
                <a:solidFill>
                  <a:srgbClr val="FFFF00"/>
                </a:solidFill>
              </a:rPr>
              <a:t>plot(p_xy1, </a:t>
            </a:r>
            <a:r>
              <a:rPr lang="en-US" sz="1400" dirty="0" err="1">
                <a:solidFill>
                  <a:srgbClr val="FFFF00"/>
                </a:solidFill>
              </a:rPr>
              <a:t>cex</a:t>
            </a:r>
            <a:r>
              <a:rPr lang="en-US" sz="1400" dirty="0">
                <a:solidFill>
                  <a:srgbClr val="FFFF00"/>
                </a:solidFill>
              </a:rPr>
              <a:t> = 5, col = "red", add = TRUE)</a:t>
            </a:r>
          </a:p>
          <a:p>
            <a:r>
              <a:rPr lang="en-US" sz="1400" dirty="0"/>
              <a:t>text(x = c(-0.5, 1.5), y = 1, labels = c("x", "y"), </a:t>
            </a:r>
            <a:r>
              <a:rPr lang="en-US" sz="1400" dirty="0" err="1"/>
              <a:t>cex</a:t>
            </a:r>
            <a:r>
              <a:rPr lang="en-US" sz="1400" dirty="0"/>
              <a:t> = 3)</a:t>
            </a:r>
          </a:p>
        </p:txBody>
      </p:sp>
      <p:pic>
        <p:nvPicPr>
          <p:cNvPr id="22" name="Picture 21">
            <a:extLst>
              <a:ext uri="{FF2B5EF4-FFF2-40B4-BE49-F238E27FC236}">
                <a16:creationId xmlns:a16="http://schemas.microsoft.com/office/drawing/2014/main" id="{4E307EA7-A999-D36D-A716-E20374A9132F}"/>
              </a:ext>
            </a:extLst>
          </p:cNvPr>
          <p:cNvPicPr>
            <a:picLocks noChangeAspect="1"/>
          </p:cNvPicPr>
          <p:nvPr/>
        </p:nvPicPr>
        <p:blipFill>
          <a:blip r:embed="rId2"/>
          <a:srcRect/>
          <a:stretch/>
        </p:blipFill>
        <p:spPr>
          <a:xfrm>
            <a:off x="462951" y="1596072"/>
            <a:ext cx="4051899" cy="2501171"/>
          </a:xfrm>
          <a:prstGeom prst="rect">
            <a:avLst/>
          </a:prstGeom>
        </p:spPr>
      </p:pic>
      <p:sp>
        <p:nvSpPr>
          <p:cNvPr id="2" name="Slide Number Placeholder 1">
            <a:extLst>
              <a:ext uri="{FF2B5EF4-FFF2-40B4-BE49-F238E27FC236}">
                <a16:creationId xmlns:a16="http://schemas.microsoft.com/office/drawing/2014/main" id="{0A2CE5BC-729B-5185-3809-90FEB97AD851}"/>
              </a:ext>
            </a:extLst>
          </p:cNvPr>
          <p:cNvSpPr>
            <a:spLocks noGrp="1"/>
          </p:cNvSpPr>
          <p:nvPr>
            <p:ph type="sldNum" sz="quarter" idx="12"/>
          </p:nvPr>
        </p:nvSpPr>
        <p:spPr/>
        <p:txBody>
          <a:bodyPr/>
          <a:lstStyle/>
          <a:p>
            <a:fld id="{C0343C75-1924-D247-85A3-0CB62E67E5D1}" type="slidenum">
              <a:rPr lang="en-US" smtClean="0"/>
              <a:t>32</a:t>
            </a:fld>
            <a:endParaRPr lang="en-US"/>
          </a:p>
        </p:txBody>
      </p:sp>
    </p:spTree>
    <p:extLst>
      <p:ext uri="{BB962C8B-B14F-4D97-AF65-F5344CB8AC3E}">
        <p14:creationId xmlns:p14="http://schemas.microsoft.com/office/powerpoint/2010/main" val="908758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F025-E39F-D248-4214-A3A267A318D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A7DD5ED-A540-A644-2E90-312490F026C3}"/>
              </a:ext>
            </a:extLst>
          </p:cNvPr>
          <p:cNvSpPr>
            <a:spLocks noGrp="1"/>
          </p:cNvSpPr>
          <p:nvPr>
            <p:ph type="title"/>
          </p:nvPr>
        </p:nvSpPr>
        <p:spPr/>
        <p:txBody>
          <a:bodyPr/>
          <a:lstStyle/>
          <a:p>
            <a:r>
              <a:rPr lang="en-US" dirty="0"/>
              <a:t>Subsetting Example</a:t>
            </a:r>
          </a:p>
        </p:txBody>
      </p:sp>
      <p:sp>
        <p:nvSpPr>
          <p:cNvPr id="7" name="Content Placeholder 6">
            <a:extLst>
              <a:ext uri="{FF2B5EF4-FFF2-40B4-BE49-F238E27FC236}">
                <a16:creationId xmlns:a16="http://schemas.microsoft.com/office/drawing/2014/main" id="{00C94C96-7742-BCFE-E80C-C876D67A3049}"/>
              </a:ext>
            </a:extLst>
          </p:cNvPr>
          <p:cNvSpPr>
            <a:spLocks noGrp="1"/>
          </p:cNvSpPr>
          <p:nvPr>
            <p:ph sz="half" idx="1"/>
          </p:nvPr>
        </p:nvSpPr>
        <p:spPr>
          <a:xfrm>
            <a:off x="457200" y="4097243"/>
            <a:ext cx="4057650" cy="2079720"/>
          </a:xfrm>
        </p:spPr>
        <p:txBody>
          <a:bodyPr>
            <a:normAutofit/>
          </a:bodyPr>
          <a:lstStyle/>
          <a:p>
            <a:r>
              <a:rPr lang="en-US"/>
              <a:t>Randomly distributed points within the bounding box enclosing circles x and y</a:t>
            </a:r>
          </a:p>
          <a:p>
            <a:r>
              <a:rPr lang="en-US"/>
              <a:t>The point that intersects with both objects x and y is highlighted</a:t>
            </a:r>
            <a:endParaRPr lang="en-US" dirty="0"/>
          </a:p>
        </p:txBody>
      </p:sp>
      <p:sp>
        <p:nvSpPr>
          <p:cNvPr id="8" name="Content Placeholder 7">
            <a:extLst>
              <a:ext uri="{FF2B5EF4-FFF2-40B4-BE49-F238E27FC236}">
                <a16:creationId xmlns:a16="http://schemas.microsoft.com/office/drawing/2014/main" id="{57B6A74F-E451-344E-2B8C-15C6194371DE}"/>
              </a:ext>
            </a:extLst>
          </p:cNvPr>
          <p:cNvSpPr>
            <a:spLocks noGrp="1"/>
          </p:cNvSpPr>
          <p:nvPr>
            <p:ph sz="half" idx="2"/>
          </p:nvPr>
        </p:nvSpPr>
        <p:spPr/>
        <p:txBody>
          <a:bodyPr>
            <a:normAutofit/>
          </a:bodyPr>
          <a:lstStyle/>
          <a:p>
            <a:r>
              <a:rPr lang="en-US" sz="1400" dirty="0">
                <a:solidFill>
                  <a:srgbClr val="FFFF00"/>
                </a:solidFill>
              </a:rPr>
              <a:t>bb = </a:t>
            </a:r>
            <a:r>
              <a:rPr lang="en-US" sz="1400" dirty="0" err="1">
                <a:solidFill>
                  <a:srgbClr val="FFFF00"/>
                </a:solidFill>
              </a:rPr>
              <a:t>st_bbox</a:t>
            </a:r>
            <a:r>
              <a:rPr lang="en-US" sz="1400" dirty="0">
                <a:solidFill>
                  <a:srgbClr val="FFFF00"/>
                </a:solidFill>
              </a:rPr>
              <a:t>(</a:t>
            </a:r>
            <a:r>
              <a:rPr lang="en-US" sz="1400" dirty="0" err="1">
                <a:solidFill>
                  <a:srgbClr val="FFFF00"/>
                </a:solidFill>
              </a:rPr>
              <a:t>st_union</a:t>
            </a:r>
            <a:r>
              <a:rPr lang="en-US" sz="1400" dirty="0">
                <a:solidFill>
                  <a:srgbClr val="FFFF00"/>
                </a:solidFill>
              </a:rPr>
              <a:t>(x, y))</a:t>
            </a:r>
          </a:p>
          <a:p>
            <a:r>
              <a:rPr lang="en-US" sz="1400" dirty="0"/>
              <a:t>box = </a:t>
            </a:r>
            <a:r>
              <a:rPr lang="en-US" sz="1400" dirty="0" err="1"/>
              <a:t>st_as_sfc</a:t>
            </a:r>
            <a:r>
              <a:rPr lang="en-US" sz="1400" dirty="0"/>
              <a:t>(bb)</a:t>
            </a:r>
          </a:p>
          <a:p>
            <a:r>
              <a:rPr lang="en-US" sz="1400" dirty="0" err="1"/>
              <a:t>set.seed</a:t>
            </a:r>
            <a:r>
              <a:rPr lang="en-US" sz="1400" dirty="0"/>
              <a:t>(2024)</a:t>
            </a:r>
          </a:p>
          <a:p>
            <a:r>
              <a:rPr lang="en-US" sz="1400" dirty="0"/>
              <a:t>p = </a:t>
            </a:r>
            <a:r>
              <a:rPr lang="en-US" sz="1400" dirty="0" err="1"/>
              <a:t>st_sample</a:t>
            </a:r>
            <a:r>
              <a:rPr lang="en-US" sz="1400" dirty="0"/>
              <a:t>(x = box, size = 10)</a:t>
            </a:r>
          </a:p>
          <a:p>
            <a:r>
              <a:rPr lang="en-US" sz="1400" dirty="0" err="1">
                <a:solidFill>
                  <a:srgbClr val="FFFF00"/>
                </a:solidFill>
              </a:rPr>
              <a:t>x_and_y</a:t>
            </a:r>
            <a:r>
              <a:rPr lang="en-US" sz="1400" dirty="0">
                <a:solidFill>
                  <a:srgbClr val="FFFF00"/>
                </a:solidFill>
              </a:rPr>
              <a:t> = </a:t>
            </a:r>
            <a:r>
              <a:rPr lang="en-US" sz="1400" dirty="0" err="1">
                <a:solidFill>
                  <a:srgbClr val="FFFF00"/>
                </a:solidFill>
              </a:rPr>
              <a:t>st_intersection</a:t>
            </a:r>
            <a:r>
              <a:rPr lang="en-US" sz="1400" dirty="0">
                <a:solidFill>
                  <a:srgbClr val="FFFF00"/>
                </a:solidFill>
              </a:rPr>
              <a:t>(x, y)</a:t>
            </a:r>
          </a:p>
        </p:txBody>
      </p:sp>
      <p:pic>
        <p:nvPicPr>
          <p:cNvPr id="22" name="Picture 21">
            <a:extLst>
              <a:ext uri="{FF2B5EF4-FFF2-40B4-BE49-F238E27FC236}">
                <a16:creationId xmlns:a16="http://schemas.microsoft.com/office/drawing/2014/main" id="{2A5B8998-6B1A-D8BD-C3A4-0DAB0D51FA92}"/>
              </a:ext>
            </a:extLst>
          </p:cNvPr>
          <p:cNvPicPr>
            <a:picLocks noChangeAspect="1"/>
          </p:cNvPicPr>
          <p:nvPr/>
        </p:nvPicPr>
        <p:blipFill>
          <a:blip r:embed="rId2"/>
          <a:srcRect/>
          <a:stretch/>
        </p:blipFill>
        <p:spPr>
          <a:xfrm>
            <a:off x="462951" y="1596072"/>
            <a:ext cx="4051899" cy="2501171"/>
          </a:xfrm>
          <a:prstGeom prst="rect">
            <a:avLst/>
          </a:prstGeom>
        </p:spPr>
      </p:pic>
      <p:sp>
        <p:nvSpPr>
          <p:cNvPr id="2" name="Slide Number Placeholder 1">
            <a:extLst>
              <a:ext uri="{FF2B5EF4-FFF2-40B4-BE49-F238E27FC236}">
                <a16:creationId xmlns:a16="http://schemas.microsoft.com/office/drawing/2014/main" id="{DAF31D44-2802-3F4F-6CAD-98FB79D0D57F}"/>
              </a:ext>
            </a:extLst>
          </p:cNvPr>
          <p:cNvSpPr>
            <a:spLocks noGrp="1"/>
          </p:cNvSpPr>
          <p:nvPr>
            <p:ph type="sldNum" sz="quarter" idx="12"/>
          </p:nvPr>
        </p:nvSpPr>
        <p:spPr/>
        <p:txBody>
          <a:bodyPr/>
          <a:lstStyle/>
          <a:p>
            <a:fld id="{C0343C75-1924-D247-85A3-0CB62E67E5D1}" type="slidenum">
              <a:rPr lang="en-US" smtClean="0"/>
              <a:t>33</a:t>
            </a:fld>
            <a:endParaRPr lang="en-US"/>
          </a:p>
        </p:txBody>
      </p:sp>
    </p:spTree>
    <p:extLst>
      <p:ext uri="{BB962C8B-B14F-4D97-AF65-F5344CB8AC3E}">
        <p14:creationId xmlns:p14="http://schemas.microsoft.com/office/powerpoint/2010/main" val="2852481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4A573-DB61-5AF7-1BE0-5EC7A82EF6C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AB09281-3EFB-5D54-3CA8-9EF5F1100B86}"/>
              </a:ext>
            </a:extLst>
          </p:cNvPr>
          <p:cNvSpPr>
            <a:spLocks noGrp="1"/>
          </p:cNvSpPr>
          <p:nvPr>
            <p:ph type="title"/>
          </p:nvPr>
        </p:nvSpPr>
        <p:spPr/>
        <p:txBody>
          <a:bodyPr/>
          <a:lstStyle/>
          <a:p>
            <a:r>
              <a:rPr lang="en-US" dirty="0"/>
              <a:t>Subsetting Example</a:t>
            </a:r>
          </a:p>
        </p:txBody>
      </p:sp>
      <p:sp>
        <p:nvSpPr>
          <p:cNvPr id="7" name="Content Placeholder 6">
            <a:extLst>
              <a:ext uri="{FF2B5EF4-FFF2-40B4-BE49-F238E27FC236}">
                <a16:creationId xmlns:a16="http://schemas.microsoft.com/office/drawing/2014/main" id="{C2F4C11E-F616-6FEF-9397-D30DD7E7ECD8}"/>
              </a:ext>
            </a:extLst>
          </p:cNvPr>
          <p:cNvSpPr>
            <a:spLocks noGrp="1"/>
          </p:cNvSpPr>
          <p:nvPr>
            <p:ph sz="half" idx="1"/>
          </p:nvPr>
        </p:nvSpPr>
        <p:spPr>
          <a:xfrm>
            <a:off x="457200" y="4097242"/>
            <a:ext cx="4057650" cy="2373005"/>
          </a:xfrm>
        </p:spPr>
        <p:txBody>
          <a:bodyPr>
            <a:normAutofit fontScale="92500"/>
          </a:bodyPr>
          <a:lstStyle/>
          <a:p>
            <a:r>
              <a:rPr lang="en-US" dirty="0"/>
              <a:t>The code chunk below demonstrates three ways to achieve the same result</a:t>
            </a:r>
          </a:p>
          <a:p>
            <a:r>
              <a:rPr lang="en-US" dirty="0"/>
              <a:t>Which implementation to use?</a:t>
            </a:r>
          </a:p>
          <a:p>
            <a:pPr marL="403225" lvl="1" indent="-173038"/>
            <a:r>
              <a:rPr lang="en-US" sz="1400" dirty="0"/>
              <a:t>Generally more concise implementations should be favored (1</a:t>
            </a:r>
            <a:r>
              <a:rPr lang="en-US" sz="1400" baseline="30000" dirty="0"/>
              <a:t>st</a:t>
            </a:r>
            <a:r>
              <a:rPr lang="en-US" sz="1400" dirty="0"/>
              <a:t> approach)</a:t>
            </a:r>
          </a:p>
          <a:p>
            <a:pPr marL="403225" lvl="1" indent="-173038"/>
            <a:r>
              <a:rPr lang="en-US" sz="1400" dirty="0"/>
              <a:t>We will return to the question of choosing between different implementations of the same technique or algorithm later</a:t>
            </a:r>
          </a:p>
        </p:txBody>
      </p:sp>
      <p:sp>
        <p:nvSpPr>
          <p:cNvPr id="8" name="Content Placeholder 7">
            <a:extLst>
              <a:ext uri="{FF2B5EF4-FFF2-40B4-BE49-F238E27FC236}">
                <a16:creationId xmlns:a16="http://schemas.microsoft.com/office/drawing/2014/main" id="{24109EB0-BB43-D559-C38B-CC64C30AB9F5}"/>
              </a:ext>
            </a:extLst>
          </p:cNvPr>
          <p:cNvSpPr>
            <a:spLocks noGrp="1"/>
          </p:cNvSpPr>
          <p:nvPr>
            <p:ph sz="half" idx="2"/>
          </p:nvPr>
        </p:nvSpPr>
        <p:spPr/>
        <p:txBody>
          <a:bodyPr>
            <a:normAutofit fontScale="92500"/>
          </a:bodyPr>
          <a:lstStyle/>
          <a:p>
            <a:r>
              <a:rPr lang="en-US" sz="1400" dirty="0">
                <a:solidFill>
                  <a:srgbClr val="FFFF00"/>
                </a:solidFill>
              </a:rPr>
              <a:t># way #1</a:t>
            </a:r>
          </a:p>
          <a:p>
            <a:r>
              <a:rPr lang="en-US" sz="1400" dirty="0"/>
              <a:t>p_xy1 = p[</a:t>
            </a:r>
            <a:r>
              <a:rPr lang="en-US" sz="1400" dirty="0" err="1"/>
              <a:t>x_and_y</a:t>
            </a:r>
            <a:r>
              <a:rPr lang="en-US" sz="1400" dirty="0"/>
              <a:t>]</a:t>
            </a:r>
          </a:p>
          <a:p>
            <a:r>
              <a:rPr lang="en-US" sz="1400" dirty="0">
                <a:solidFill>
                  <a:srgbClr val="FFFF00"/>
                </a:solidFill>
              </a:rPr>
              <a:t># way #2</a:t>
            </a:r>
          </a:p>
          <a:p>
            <a:r>
              <a:rPr lang="en-US" sz="1400" dirty="0"/>
              <a:t>p_xy2 = </a:t>
            </a:r>
            <a:r>
              <a:rPr lang="en-US" sz="1400" dirty="0" err="1"/>
              <a:t>st_intersection</a:t>
            </a:r>
            <a:r>
              <a:rPr lang="en-US" sz="1400" dirty="0"/>
              <a:t>(p, </a:t>
            </a:r>
            <a:r>
              <a:rPr lang="en-US" sz="1400" dirty="0" err="1"/>
              <a:t>x_and_y</a:t>
            </a:r>
            <a:r>
              <a:rPr lang="en-US" sz="1400" dirty="0"/>
              <a:t>)</a:t>
            </a:r>
          </a:p>
          <a:p>
            <a:r>
              <a:rPr lang="en-US" sz="1400" dirty="0">
                <a:solidFill>
                  <a:srgbClr val="FFFF00"/>
                </a:solidFill>
              </a:rPr>
              <a:t># way #3</a:t>
            </a:r>
          </a:p>
          <a:p>
            <a:r>
              <a:rPr lang="en-US" sz="1400" dirty="0" err="1">
                <a:solidFill>
                  <a:srgbClr val="92D050"/>
                </a:solidFill>
              </a:rPr>
              <a:t>sel_p_xy</a:t>
            </a:r>
            <a:r>
              <a:rPr lang="en-US" sz="1400" dirty="0">
                <a:solidFill>
                  <a:srgbClr val="92D050"/>
                </a:solidFill>
              </a:rPr>
              <a:t> = </a:t>
            </a:r>
            <a:r>
              <a:rPr lang="en-US" sz="1400" dirty="0" err="1">
                <a:solidFill>
                  <a:srgbClr val="92D050"/>
                </a:solidFill>
              </a:rPr>
              <a:t>st_intersects</a:t>
            </a:r>
            <a:r>
              <a:rPr lang="en-US" sz="1400" dirty="0">
                <a:solidFill>
                  <a:srgbClr val="92D050"/>
                </a:solidFill>
              </a:rPr>
              <a:t>(p, x, sparse = FALSE)[, 1] &amp; </a:t>
            </a:r>
            <a:r>
              <a:rPr lang="en-US" sz="1400" dirty="0" err="1">
                <a:solidFill>
                  <a:srgbClr val="92D050"/>
                </a:solidFill>
              </a:rPr>
              <a:t>st_intersects</a:t>
            </a:r>
            <a:r>
              <a:rPr lang="en-US" sz="1400" dirty="0">
                <a:solidFill>
                  <a:srgbClr val="92D050"/>
                </a:solidFill>
              </a:rPr>
              <a:t>(p, y, sparse = FALSE)[, 1]</a:t>
            </a:r>
          </a:p>
          <a:p>
            <a:r>
              <a:rPr lang="en-US" sz="1400" dirty="0">
                <a:solidFill>
                  <a:srgbClr val="92D050"/>
                </a:solidFill>
              </a:rPr>
              <a:t>p_xy3 = p[</a:t>
            </a:r>
            <a:r>
              <a:rPr lang="en-US" sz="1400" dirty="0" err="1">
                <a:solidFill>
                  <a:srgbClr val="92D050"/>
                </a:solidFill>
              </a:rPr>
              <a:t>sel_p_xy</a:t>
            </a:r>
            <a:r>
              <a:rPr lang="en-US" sz="1400" dirty="0">
                <a:solidFill>
                  <a:srgbClr val="92D050"/>
                </a:solidFill>
              </a:rPr>
              <a:t>]</a:t>
            </a:r>
          </a:p>
        </p:txBody>
      </p:sp>
      <p:pic>
        <p:nvPicPr>
          <p:cNvPr id="22" name="Picture 21">
            <a:extLst>
              <a:ext uri="{FF2B5EF4-FFF2-40B4-BE49-F238E27FC236}">
                <a16:creationId xmlns:a16="http://schemas.microsoft.com/office/drawing/2014/main" id="{CD98ABD3-8269-5B8D-CAC1-81A240476CB4}"/>
              </a:ext>
            </a:extLst>
          </p:cNvPr>
          <p:cNvPicPr>
            <a:picLocks noChangeAspect="1"/>
          </p:cNvPicPr>
          <p:nvPr/>
        </p:nvPicPr>
        <p:blipFill>
          <a:blip r:embed="rId2"/>
          <a:srcRect/>
          <a:stretch/>
        </p:blipFill>
        <p:spPr>
          <a:xfrm>
            <a:off x="462951" y="1596072"/>
            <a:ext cx="4051899" cy="2501171"/>
          </a:xfrm>
          <a:prstGeom prst="rect">
            <a:avLst/>
          </a:prstGeom>
        </p:spPr>
      </p:pic>
      <p:sp>
        <p:nvSpPr>
          <p:cNvPr id="2" name="Slide Number Placeholder 1">
            <a:extLst>
              <a:ext uri="{FF2B5EF4-FFF2-40B4-BE49-F238E27FC236}">
                <a16:creationId xmlns:a16="http://schemas.microsoft.com/office/drawing/2014/main" id="{4B9E3497-364F-45FE-1C47-BA00DC3BEB17}"/>
              </a:ext>
            </a:extLst>
          </p:cNvPr>
          <p:cNvSpPr>
            <a:spLocks noGrp="1"/>
          </p:cNvSpPr>
          <p:nvPr>
            <p:ph type="sldNum" sz="quarter" idx="12"/>
          </p:nvPr>
        </p:nvSpPr>
        <p:spPr/>
        <p:txBody>
          <a:bodyPr/>
          <a:lstStyle/>
          <a:p>
            <a:fld id="{C0343C75-1924-D247-85A3-0CB62E67E5D1}" type="slidenum">
              <a:rPr lang="en-US" smtClean="0"/>
              <a:t>34</a:t>
            </a:fld>
            <a:endParaRPr lang="en-US"/>
          </a:p>
        </p:txBody>
      </p:sp>
    </p:spTree>
    <p:extLst>
      <p:ext uri="{BB962C8B-B14F-4D97-AF65-F5344CB8AC3E}">
        <p14:creationId xmlns:p14="http://schemas.microsoft.com/office/powerpoint/2010/main" val="1179328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F096E-5BD8-5FA1-212E-7C95FDFC9AA4}"/>
              </a:ext>
            </a:extLst>
          </p:cNvPr>
          <p:cNvSpPr>
            <a:spLocks noGrp="1"/>
          </p:cNvSpPr>
          <p:nvPr>
            <p:ph type="title"/>
          </p:nvPr>
        </p:nvSpPr>
        <p:spPr/>
        <p:txBody>
          <a:bodyPr/>
          <a:lstStyle/>
          <a:p>
            <a:r>
              <a:rPr lang="en-US" dirty="0"/>
              <a:t>Geometry Unions</a:t>
            </a:r>
          </a:p>
        </p:txBody>
      </p:sp>
      <p:sp>
        <p:nvSpPr>
          <p:cNvPr id="3" name="Content Placeholder 2">
            <a:extLst>
              <a:ext uri="{FF2B5EF4-FFF2-40B4-BE49-F238E27FC236}">
                <a16:creationId xmlns:a16="http://schemas.microsoft.com/office/drawing/2014/main" id="{4C5F41C3-0D8A-1935-2C40-7BFC1EC97971}"/>
              </a:ext>
            </a:extLst>
          </p:cNvPr>
          <p:cNvSpPr>
            <a:spLocks noGrp="1"/>
          </p:cNvSpPr>
          <p:nvPr>
            <p:ph idx="1"/>
          </p:nvPr>
        </p:nvSpPr>
        <p:spPr/>
        <p:txBody>
          <a:bodyPr/>
          <a:lstStyle/>
          <a:p>
            <a:r>
              <a:rPr lang="en-US" dirty="0"/>
              <a:t>Spatial aggregation can </a:t>
            </a:r>
            <a:r>
              <a:rPr lang="en-US" i="1" dirty="0"/>
              <a:t>silently</a:t>
            </a:r>
            <a:r>
              <a:rPr lang="en-US" dirty="0"/>
              <a:t> dissolve the geometries of touching polygons in the same group</a:t>
            </a:r>
          </a:p>
        </p:txBody>
      </p:sp>
      <p:pic>
        <p:nvPicPr>
          <p:cNvPr id="5" name="Picture 4">
            <a:extLst>
              <a:ext uri="{FF2B5EF4-FFF2-40B4-BE49-F238E27FC236}">
                <a16:creationId xmlns:a16="http://schemas.microsoft.com/office/drawing/2014/main" id="{EA345761-D4D8-48B0-3132-0C791E853C19}"/>
              </a:ext>
            </a:extLst>
          </p:cNvPr>
          <p:cNvPicPr>
            <a:picLocks noChangeAspect="1"/>
          </p:cNvPicPr>
          <p:nvPr/>
        </p:nvPicPr>
        <p:blipFill>
          <a:blip r:embed="rId2"/>
          <a:stretch>
            <a:fillRect/>
          </a:stretch>
        </p:blipFill>
        <p:spPr>
          <a:xfrm>
            <a:off x="2057400" y="2376873"/>
            <a:ext cx="5029200" cy="3467425"/>
          </a:xfrm>
          <a:prstGeom prst="rect">
            <a:avLst/>
          </a:prstGeom>
        </p:spPr>
      </p:pic>
      <p:sp>
        <p:nvSpPr>
          <p:cNvPr id="6" name="TextBox 5">
            <a:extLst>
              <a:ext uri="{FF2B5EF4-FFF2-40B4-BE49-F238E27FC236}">
                <a16:creationId xmlns:a16="http://schemas.microsoft.com/office/drawing/2014/main" id="{F40F8626-635E-905B-B147-63F6166762A1}"/>
              </a:ext>
            </a:extLst>
          </p:cNvPr>
          <p:cNvSpPr txBox="1"/>
          <p:nvPr/>
        </p:nvSpPr>
        <p:spPr>
          <a:xfrm>
            <a:off x="457200" y="5910907"/>
            <a:ext cx="6737870" cy="523220"/>
          </a:xfrm>
          <a:prstGeom prst="rect">
            <a:avLst/>
          </a:prstGeom>
          <a:noFill/>
        </p:spPr>
        <p:txBody>
          <a:bodyPr wrap="none" rtlCol="0">
            <a:spAutoFit/>
          </a:bodyPr>
          <a:lstStyle/>
          <a:p>
            <a:r>
              <a:rPr lang="en-US" sz="1400" dirty="0">
                <a:hlinkClick r:id="rId3"/>
              </a:rPr>
              <a:t>https://pythongis.org/index.html</a:t>
            </a:r>
          </a:p>
          <a:p>
            <a:r>
              <a:rPr lang="en-US" sz="1400" dirty="0">
                <a:hlinkClick r:id="rId3"/>
              </a:rPr>
              <a:t>https://pythongis.org/part2/chapter-06/nb/08-overlay-analysis-with-vector-data.html</a:t>
            </a:r>
            <a:endParaRPr lang="en-US" sz="1400" dirty="0"/>
          </a:p>
        </p:txBody>
      </p:sp>
      <p:sp>
        <p:nvSpPr>
          <p:cNvPr id="4" name="Slide Number Placeholder 3">
            <a:extLst>
              <a:ext uri="{FF2B5EF4-FFF2-40B4-BE49-F238E27FC236}">
                <a16:creationId xmlns:a16="http://schemas.microsoft.com/office/drawing/2014/main" id="{3C98CD40-422E-CCF8-89B4-2699CE5BC4BC}"/>
              </a:ext>
            </a:extLst>
          </p:cNvPr>
          <p:cNvSpPr>
            <a:spLocks noGrp="1"/>
          </p:cNvSpPr>
          <p:nvPr>
            <p:ph type="sldNum" sz="quarter" idx="12"/>
          </p:nvPr>
        </p:nvSpPr>
        <p:spPr/>
        <p:txBody>
          <a:bodyPr/>
          <a:lstStyle/>
          <a:p>
            <a:fld id="{C0343C75-1924-D247-85A3-0CB62E67E5D1}" type="slidenum">
              <a:rPr lang="en-US" smtClean="0"/>
              <a:t>35</a:t>
            </a:fld>
            <a:endParaRPr lang="en-US"/>
          </a:p>
        </p:txBody>
      </p:sp>
    </p:spTree>
    <p:extLst>
      <p:ext uri="{BB962C8B-B14F-4D97-AF65-F5344CB8AC3E}">
        <p14:creationId xmlns:p14="http://schemas.microsoft.com/office/powerpoint/2010/main" val="6138576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5D3BE-9AA0-F4FC-8A2C-C43C54A772AD}"/>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8303E75D-DA12-1FE3-E909-066F9C139F7A}"/>
              </a:ext>
            </a:extLst>
          </p:cNvPr>
          <p:cNvPicPr>
            <a:picLocks noChangeAspect="1"/>
          </p:cNvPicPr>
          <p:nvPr/>
        </p:nvPicPr>
        <p:blipFill>
          <a:blip r:embed="rId2"/>
          <a:srcRect/>
          <a:stretch/>
        </p:blipFill>
        <p:spPr>
          <a:xfrm>
            <a:off x="457200" y="1526622"/>
            <a:ext cx="4057650" cy="2498460"/>
          </a:xfrm>
          <a:prstGeom prst="rect">
            <a:avLst/>
          </a:prstGeom>
        </p:spPr>
      </p:pic>
      <p:sp>
        <p:nvSpPr>
          <p:cNvPr id="6" name="Title 5">
            <a:extLst>
              <a:ext uri="{FF2B5EF4-FFF2-40B4-BE49-F238E27FC236}">
                <a16:creationId xmlns:a16="http://schemas.microsoft.com/office/drawing/2014/main" id="{C4EDC4B2-121E-8F1A-28EF-C6E328DB10D3}"/>
              </a:ext>
            </a:extLst>
          </p:cNvPr>
          <p:cNvSpPr>
            <a:spLocks noGrp="1"/>
          </p:cNvSpPr>
          <p:nvPr>
            <p:ph type="title"/>
          </p:nvPr>
        </p:nvSpPr>
        <p:spPr/>
        <p:txBody>
          <a:bodyPr/>
          <a:lstStyle/>
          <a:p>
            <a:r>
              <a:rPr lang="en-US" dirty="0"/>
              <a:t>Geometry Union Example</a:t>
            </a:r>
          </a:p>
        </p:txBody>
      </p:sp>
      <p:sp>
        <p:nvSpPr>
          <p:cNvPr id="7" name="Content Placeholder 6">
            <a:extLst>
              <a:ext uri="{FF2B5EF4-FFF2-40B4-BE49-F238E27FC236}">
                <a16:creationId xmlns:a16="http://schemas.microsoft.com/office/drawing/2014/main" id="{C7C91689-CE17-F708-98C6-C1DF9B07E25D}"/>
              </a:ext>
            </a:extLst>
          </p:cNvPr>
          <p:cNvSpPr>
            <a:spLocks noGrp="1"/>
          </p:cNvSpPr>
          <p:nvPr>
            <p:ph sz="half" idx="1"/>
          </p:nvPr>
        </p:nvSpPr>
        <p:spPr>
          <a:xfrm>
            <a:off x="457200" y="3889094"/>
            <a:ext cx="4057650" cy="2720050"/>
          </a:xfrm>
        </p:spPr>
        <p:txBody>
          <a:bodyPr>
            <a:noAutofit/>
          </a:bodyPr>
          <a:lstStyle/>
          <a:p>
            <a:r>
              <a:rPr lang="en-US" sz="1600" dirty="0"/>
              <a:t>Spatial aggregation on contiguous polygons, illustrated by aggregating the population of US states into regions, with population represented by color.</a:t>
            </a:r>
          </a:p>
          <a:p>
            <a:r>
              <a:rPr lang="en-US" sz="1600" dirty="0"/>
              <a:t>The 48 US states and DC (</a:t>
            </a:r>
            <a:r>
              <a:rPr lang="en-US" sz="1400" b="1" dirty="0" err="1">
                <a:latin typeface="Consolas" panose="020B0609020204030204" pitchFamily="49" charset="0"/>
                <a:cs typeface="Consolas" panose="020B0609020204030204" pitchFamily="49" charset="0"/>
              </a:rPr>
              <a:t>us_states</a:t>
            </a:r>
            <a:r>
              <a:rPr lang="en-US" sz="1600" dirty="0"/>
              <a:t>) are aggregated into four regions using base and </a:t>
            </a:r>
            <a:r>
              <a:rPr lang="en-US" sz="1400" b="1" dirty="0" err="1">
                <a:latin typeface="Consolas" panose="020B0609020204030204" pitchFamily="49" charset="0"/>
                <a:cs typeface="Consolas" panose="020B0609020204030204" pitchFamily="49" charset="0"/>
              </a:rPr>
              <a:t>dplyr</a:t>
            </a:r>
            <a:r>
              <a:rPr lang="en-US" sz="1600" dirty="0"/>
              <a:t> functions</a:t>
            </a:r>
          </a:p>
          <a:p>
            <a:r>
              <a:rPr lang="en-US" sz="1600" dirty="0"/>
              <a:t>Note the operation automatically dissolves boundaries between states</a:t>
            </a:r>
          </a:p>
        </p:txBody>
      </p:sp>
      <p:sp>
        <p:nvSpPr>
          <p:cNvPr id="8" name="Content Placeholder 7">
            <a:extLst>
              <a:ext uri="{FF2B5EF4-FFF2-40B4-BE49-F238E27FC236}">
                <a16:creationId xmlns:a16="http://schemas.microsoft.com/office/drawing/2014/main" id="{1077A253-CF32-2601-F395-818F4CA10F8C}"/>
              </a:ext>
            </a:extLst>
          </p:cNvPr>
          <p:cNvSpPr>
            <a:spLocks noGrp="1"/>
          </p:cNvSpPr>
          <p:nvPr>
            <p:ph sz="half" idx="2"/>
          </p:nvPr>
        </p:nvSpPr>
        <p:spPr/>
        <p:txBody>
          <a:bodyPr>
            <a:normAutofit lnSpcReduction="10000"/>
          </a:bodyPr>
          <a:lstStyle/>
          <a:p>
            <a:r>
              <a:rPr lang="en-US" sz="1400" dirty="0"/>
              <a:t>regions = aggregate(</a:t>
            </a:r>
            <a:br>
              <a:rPr lang="en-US" sz="1400" dirty="0"/>
            </a:br>
            <a:r>
              <a:rPr lang="en-US" sz="1400" dirty="0"/>
              <a:t>x = </a:t>
            </a:r>
            <a:r>
              <a:rPr lang="en-US" sz="1400" dirty="0" err="1"/>
              <a:t>us_states</a:t>
            </a:r>
            <a:r>
              <a:rPr lang="en-US" sz="1400" dirty="0"/>
              <a:t>[, "total_pop_15"],</a:t>
            </a:r>
            <a:br>
              <a:rPr lang="en-US" sz="1400" dirty="0"/>
            </a:br>
            <a:r>
              <a:rPr lang="en-US" sz="1400" dirty="0"/>
              <a:t>by = list(</a:t>
            </a:r>
            <a:r>
              <a:rPr lang="en-US" sz="1400" dirty="0" err="1"/>
              <a:t>us_states$REGION</a:t>
            </a:r>
            <a:r>
              <a:rPr lang="en-US" sz="1400" dirty="0"/>
              <a:t>), </a:t>
            </a:r>
            <a:br>
              <a:rPr lang="en-US" sz="1400" dirty="0"/>
            </a:br>
            <a:r>
              <a:rPr lang="en-US" sz="1400" dirty="0"/>
              <a:t>FUN = sum, </a:t>
            </a:r>
            <a:r>
              <a:rPr lang="en-US" sz="1400" dirty="0" err="1"/>
              <a:t>na.rm</a:t>
            </a:r>
            <a:r>
              <a:rPr lang="en-US" sz="1400" dirty="0"/>
              <a:t> = TRUE)</a:t>
            </a:r>
          </a:p>
          <a:p>
            <a:endParaRPr lang="en-US" sz="1400" dirty="0"/>
          </a:p>
          <a:p>
            <a:r>
              <a:rPr lang="en-US" sz="1400" dirty="0">
                <a:solidFill>
                  <a:srgbClr val="92D050"/>
                </a:solidFill>
              </a:rPr>
              <a:t>regions2 = </a:t>
            </a:r>
            <a:r>
              <a:rPr lang="en-US" sz="1400" dirty="0" err="1">
                <a:solidFill>
                  <a:srgbClr val="92D050"/>
                </a:solidFill>
              </a:rPr>
              <a:t>us_states</a:t>
            </a:r>
            <a:r>
              <a:rPr lang="en-US" sz="1400" dirty="0">
                <a:solidFill>
                  <a:srgbClr val="92D050"/>
                </a:solidFill>
              </a:rPr>
              <a:t> |&gt; </a:t>
            </a:r>
          </a:p>
          <a:p>
            <a:r>
              <a:rPr lang="en-US" sz="1400" dirty="0">
                <a:solidFill>
                  <a:srgbClr val="92D050"/>
                </a:solidFill>
              </a:rPr>
              <a:t>  </a:t>
            </a:r>
            <a:r>
              <a:rPr lang="en-US" sz="1400" dirty="0" err="1">
                <a:solidFill>
                  <a:srgbClr val="92D050"/>
                </a:solidFill>
              </a:rPr>
              <a:t>group_by</a:t>
            </a:r>
            <a:r>
              <a:rPr lang="en-US" sz="1400" dirty="0">
                <a:solidFill>
                  <a:srgbClr val="92D050"/>
                </a:solidFill>
              </a:rPr>
              <a:t>(REGION) |&gt;</a:t>
            </a:r>
          </a:p>
          <a:p>
            <a:r>
              <a:rPr lang="en-US" sz="1400" dirty="0">
                <a:solidFill>
                  <a:srgbClr val="92D050"/>
                </a:solidFill>
              </a:rPr>
              <a:t>  summarize(pop = sum(total_pop_15, </a:t>
            </a:r>
            <a:r>
              <a:rPr lang="en-US" sz="1400" dirty="0" err="1">
                <a:solidFill>
                  <a:srgbClr val="92D050"/>
                </a:solidFill>
              </a:rPr>
              <a:t>na.rm</a:t>
            </a:r>
            <a:r>
              <a:rPr lang="en-US" sz="1400" dirty="0">
                <a:solidFill>
                  <a:srgbClr val="92D050"/>
                </a:solidFill>
              </a:rPr>
              <a:t> = TRUE))</a:t>
            </a:r>
          </a:p>
          <a:p>
            <a:endParaRPr lang="en-US" sz="1400" dirty="0"/>
          </a:p>
          <a:p>
            <a:r>
              <a:rPr lang="en-US" sz="1400" dirty="0" err="1">
                <a:solidFill>
                  <a:srgbClr val="FFFF00"/>
                </a:solidFill>
              </a:rPr>
              <a:t>us_west</a:t>
            </a:r>
            <a:r>
              <a:rPr lang="en-US" sz="1400" dirty="0">
                <a:solidFill>
                  <a:srgbClr val="FFFF00"/>
                </a:solidFill>
              </a:rPr>
              <a:t> = </a:t>
            </a:r>
            <a:r>
              <a:rPr lang="en-US" sz="1400" dirty="0" err="1">
                <a:solidFill>
                  <a:srgbClr val="FFFF00"/>
                </a:solidFill>
              </a:rPr>
              <a:t>us_states</a:t>
            </a:r>
            <a:r>
              <a:rPr lang="en-US" sz="1400" dirty="0">
                <a:solidFill>
                  <a:srgbClr val="FFFF00"/>
                </a:solidFill>
              </a:rPr>
              <a:t>[</a:t>
            </a:r>
            <a:r>
              <a:rPr lang="en-US" sz="1400" dirty="0" err="1">
                <a:solidFill>
                  <a:srgbClr val="FFFF00"/>
                </a:solidFill>
              </a:rPr>
              <a:t>us_states$REGION</a:t>
            </a:r>
            <a:r>
              <a:rPr lang="en-US" sz="1400" dirty="0">
                <a:solidFill>
                  <a:srgbClr val="FFFF00"/>
                </a:solidFill>
              </a:rPr>
              <a:t> == "West", ]</a:t>
            </a:r>
          </a:p>
          <a:p>
            <a:r>
              <a:rPr lang="en-US" sz="1400" dirty="0" err="1">
                <a:solidFill>
                  <a:srgbClr val="FFFF00"/>
                </a:solidFill>
              </a:rPr>
              <a:t>us_west_union</a:t>
            </a:r>
            <a:r>
              <a:rPr lang="en-US" sz="1400" dirty="0">
                <a:solidFill>
                  <a:srgbClr val="FFFF00"/>
                </a:solidFill>
              </a:rPr>
              <a:t> = </a:t>
            </a:r>
            <a:r>
              <a:rPr lang="en-US" sz="1400" dirty="0" err="1">
                <a:solidFill>
                  <a:srgbClr val="FFFF00"/>
                </a:solidFill>
              </a:rPr>
              <a:t>st_union</a:t>
            </a:r>
            <a:r>
              <a:rPr lang="en-US" sz="1400" dirty="0">
                <a:solidFill>
                  <a:srgbClr val="FFFF00"/>
                </a:solidFill>
              </a:rPr>
              <a:t>(</a:t>
            </a:r>
            <a:r>
              <a:rPr lang="en-US" sz="1400" dirty="0" err="1">
                <a:solidFill>
                  <a:srgbClr val="FFFF00"/>
                </a:solidFill>
              </a:rPr>
              <a:t>us_west</a:t>
            </a:r>
            <a:r>
              <a:rPr lang="en-US" sz="1400" dirty="0">
                <a:solidFill>
                  <a:srgbClr val="FFFF00"/>
                </a:solidFill>
              </a:rPr>
              <a:t>)</a:t>
            </a:r>
          </a:p>
          <a:p>
            <a:endParaRPr lang="en-US" sz="1400" dirty="0"/>
          </a:p>
          <a:p>
            <a:r>
              <a:rPr lang="en-US" sz="1400" dirty="0" err="1">
                <a:solidFill>
                  <a:srgbClr val="FFC000"/>
                </a:solidFill>
              </a:rPr>
              <a:t>texas</a:t>
            </a:r>
            <a:r>
              <a:rPr lang="en-US" sz="1400" dirty="0">
                <a:solidFill>
                  <a:srgbClr val="FFC000"/>
                </a:solidFill>
              </a:rPr>
              <a:t> = </a:t>
            </a:r>
            <a:r>
              <a:rPr lang="en-US" sz="1400" dirty="0" err="1">
                <a:solidFill>
                  <a:srgbClr val="FFC000"/>
                </a:solidFill>
              </a:rPr>
              <a:t>us_states</a:t>
            </a:r>
            <a:r>
              <a:rPr lang="en-US" sz="1400" dirty="0">
                <a:solidFill>
                  <a:srgbClr val="FFC000"/>
                </a:solidFill>
              </a:rPr>
              <a:t>[</a:t>
            </a:r>
            <a:r>
              <a:rPr lang="en-US" sz="1400" dirty="0" err="1">
                <a:solidFill>
                  <a:srgbClr val="FFC000"/>
                </a:solidFill>
              </a:rPr>
              <a:t>us_states$NAME</a:t>
            </a:r>
            <a:r>
              <a:rPr lang="en-US" sz="1400" dirty="0">
                <a:solidFill>
                  <a:srgbClr val="FFC000"/>
                </a:solidFill>
              </a:rPr>
              <a:t> == "Texas", ]</a:t>
            </a:r>
          </a:p>
          <a:p>
            <a:r>
              <a:rPr lang="en-US" sz="1400" dirty="0" err="1">
                <a:solidFill>
                  <a:srgbClr val="FFC000"/>
                </a:solidFill>
              </a:rPr>
              <a:t>texas_union</a:t>
            </a:r>
            <a:r>
              <a:rPr lang="en-US" sz="1400" dirty="0">
                <a:solidFill>
                  <a:srgbClr val="FFC000"/>
                </a:solidFill>
              </a:rPr>
              <a:t> = </a:t>
            </a:r>
            <a:r>
              <a:rPr lang="en-US" sz="1400" dirty="0" err="1">
                <a:solidFill>
                  <a:srgbClr val="FFC000"/>
                </a:solidFill>
              </a:rPr>
              <a:t>st_union</a:t>
            </a:r>
            <a:r>
              <a:rPr lang="en-US" sz="1400" dirty="0">
                <a:solidFill>
                  <a:srgbClr val="FFC000"/>
                </a:solidFill>
              </a:rPr>
              <a:t>(</a:t>
            </a:r>
            <a:r>
              <a:rPr lang="en-US" sz="1400" dirty="0" err="1">
                <a:solidFill>
                  <a:srgbClr val="FFC000"/>
                </a:solidFill>
              </a:rPr>
              <a:t>us_west_union</a:t>
            </a:r>
            <a:r>
              <a:rPr lang="en-US" sz="1400" dirty="0">
                <a:solidFill>
                  <a:srgbClr val="FFC000"/>
                </a:solidFill>
              </a:rPr>
              <a:t>, </a:t>
            </a:r>
            <a:r>
              <a:rPr lang="en-US" sz="1400" dirty="0" err="1">
                <a:solidFill>
                  <a:srgbClr val="FFC000"/>
                </a:solidFill>
              </a:rPr>
              <a:t>texas</a:t>
            </a:r>
            <a:r>
              <a:rPr lang="en-US" sz="1400" dirty="0">
                <a:solidFill>
                  <a:srgbClr val="FFC000"/>
                </a:solidFill>
              </a:rPr>
              <a:t>)</a:t>
            </a:r>
          </a:p>
        </p:txBody>
      </p:sp>
      <p:sp>
        <p:nvSpPr>
          <p:cNvPr id="2" name="Slide Number Placeholder 1">
            <a:extLst>
              <a:ext uri="{FF2B5EF4-FFF2-40B4-BE49-F238E27FC236}">
                <a16:creationId xmlns:a16="http://schemas.microsoft.com/office/drawing/2014/main" id="{3E9A9690-666A-E8B6-1868-B6077476F657}"/>
              </a:ext>
            </a:extLst>
          </p:cNvPr>
          <p:cNvSpPr>
            <a:spLocks noGrp="1"/>
          </p:cNvSpPr>
          <p:nvPr>
            <p:ph type="sldNum" sz="quarter" idx="12"/>
          </p:nvPr>
        </p:nvSpPr>
        <p:spPr/>
        <p:txBody>
          <a:bodyPr/>
          <a:lstStyle/>
          <a:p>
            <a:fld id="{C0343C75-1924-D247-85A3-0CB62E67E5D1}" type="slidenum">
              <a:rPr lang="en-US" smtClean="0"/>
              <a:t>36</a:t>
            </a:fld>
            <a:endParaRPr lang="en-US"/>
          </a:p>
        </p:txBody>
      </p:sp>
    </p:spTree>
    <p:extLst>
      <p:ext uri="{BB962C8B-B14F-4D97-AF65-F5344CB8AC3E}">
        <p14:creationId xmlns:p14="http://schemas.microsoft.com/office/powerpoint/2010/main" val="30788528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F4555-31B7-9B6C-AA85-7FAD7F204337}"/>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67B35B1C-7E01-F0CF-6EE7-7864E7273ED6}"/>
              </a:ext>
            </a:extLst>
          </p:cNvPr>
          <p:cNvPicPr>
            <a:picLocks noChangeAspect="1"/>
          </p:cNvPicPr>
          <p:nvPr/>
        </p:nvPicPr>
        <p:blipFill>
          <a:blip r:embed="rId2"/>
          <a:srcRect/>
          <a:stretch/>
        </p:blipFill>
        <p:spPr>
          <a:xfrm>
            <a:off x="457200" y="1526622"/>
            <a:ext cx="4057650" cy="2498460"/>
          </a:xfrm>
          <a:prstGeom prst="rect">
            <a:avLst/>
          </a:prstGeom>
        </p:spPr>
      </p:pic>
      <p:sp>
        <p:nvSpPr>
          <p:cNvPr id="6" name="Title 5">
            <a:extLst>
              <a:ext uri="{FF2B5EF4-FFF2-40B4-BE49-F238E27FC236}">
                <a16:creationId xmlns:a16="http://schemas.microsoft.com/office/drawing/2014/main" id="{F44A34C9-8291-D52F-6214-4D58934E47D4}"/>
              </a:ext>
            </a:extLst>
          </p:cNvPr>
          <p:cNvSpPr>
            <a:spLocks noGrp="1"/>
          </p:cNvSpPr>
          <p:nvPr>
            <p:ph type="title"/>
          </p:nvPr>
        </p:nvSpPr>
        <p:spPr/>
        <p:txBody>
          <a:bodyPr/>
          <a:lstStyle/>
          <a:p>
            <a:r>
              <a:rPr lang="en-US" dirty="0"/>
              <a:t>Geometry Union Example</a:t>
            </a:r>
          </a:p>
        </p:txBody>
      </p:sp>
      <p:sp>
        <p:nvSpPr>
          <p:cNvPr id="7" name="Content Placeholder 6">
            <a:extLst>
              <a:ext uri="{FF2B5EF4-FFF2-40B4-BE49-F238E27FC236}">
                <a16:creationId xmlns:a16="http://schemas.microsoft.com/office/drawing/2014/main" id="{DCAB53FF-9322-E12C-5AAB-FD2B499DE0DA}"/>
              </a:ext>
            </a:extLst>
          </p:cNvPr>
          <p:cNvSpPr>
            <a:spLocks noGrp="1"/>
          </p:cNvSpPr>
          <p:nvPr>
            <p:ph sz="half" idx="1"/>
          </p:nvPr>
        </p:nvSpPr>
        <p:spPr>
          <a:xfrm>
            <a:off x="457200" y="3889094"/>
            <a:ext cx="4057650" cy="2720050"/>
          </a:xfrm>
        </p:spPr>
        <p:txBody>
          <a:bodyPr>
            <a:noAutofit/>
          </a:bodyPr>
          <a:lstStyle/>
          <a:p>
            <a:r>
              <a:rPr lang="en-US" sz="1600" dirty="0"/>
              <a:t>Behind the scenes, both </a:t>
            </a:r>
            <a:r>
              <a:rPr lang="en-US" sz="1400" b="1" dirty="0">
                <a:latin typeface="Consolas" panose="020B0609020204030204" pitchFamily="49" charset="0"/>
                <a:cs typeface="Consolas" panose="020B0609020204030204" pitchFamily="49" charset="0"/>
              </a:rPr>
              <a:t>aggregate()</a:t>
            </a:r>
            <a:r>
              <a:rPr lang="en-US" sz="1600" dirty="0"/>
              <a:t> and </a:t>
            </a:r>
            <a:r>
              <a:rPr lang="en-US" sz="1400" b="1" dirty="0">
                <a:latin typeface="Consolas" panose="020B0609020204030204" pitchFamily="49" charset="0"/>
                <a:cs typeface="Consolas" panose="020B0609020204030204" pitchFamily="49" charset="0"/>
              </a:rPr>
              <a:t>summarize() </a:t>
            </a:r>
            <a:r>
              <a:rPr lang="en-US" sz="1600" dirty="0"/>
              <a:t>combine the geometries and dissolve the boundaries between them using </a:t>
            </a:r>
            <a:r>
              <a:rPr lang="en-US" sz="1400" b="1" dirty="0" err="1">
                <a:latin typeface="Consolas" panose="020B0609020204030204" pitchFamily="49" charset="0"/>
                <a:cs typeface="Consolas" panose="020B0609020204030204" pitchFamily="49" charset="0"/>
              </a:rPr>
              <a:t>st_union</a:t>
            </a:r>
            <a:r>
              <a:rPr lang="en-US" sz="1400" b="1" dirty="0">
                <a:latin typeface="Consolas" panose="020B0609020204030204" pitchFamily="49" charset="0"/>
                <a:cs typeface="Consolas" panose="020B0609020204030204" pitchFamily="49" charset="0"/>
              </a:rPr>
              <a:t>()</a:t>
            </a:r>
          </a:p>
          <a:p>
            <a:r>
              <a:rPr lang="en-US" sz="1600" dirty="0"/>
              <a:t>The function can also take two geometries and unite them, as demonstrated in the code chunk which creates a united western block incorporating Texas </a:t>
            </a:r>
            <a:r>
              <a:rPr lang="en-US" sz="1600" dirty="0">
                <a:sym typeface="Wingdings" pitchFamily="2" charset="2"/>
              </a:rPr>
              <a:t></a:t>
            </a:r>
            <a:endParaRPr lang="en-US" sz="1600" dirty="0"/>
          </a:p>
        </p:txBody>
      </p:sp>
      <p:sp>
        <p:nvSpPr>
          <p:cNvPr id="8" name="Content Placeholder 7">
            <a:extLst>
              <a:ext uri="{FF2B5EF4-FFF2-40B4-BE49-F238E27FC236}">
                <a16:creationId xmlns:a16="http://schemas.microsoft.com/office/drawing/2014/main" id="{063797F2-82F1-F754-2299-7CD766ADD8F7}"/>
              </a:ext>
            </a:extLst>
          </p:cNvPr>
          <p:cNvSpPr>
            <a:spLocks noGrp="1"/>
          </p:cNvSpPr>
          <p:nvPr>
            <p:ph sz="half" idx="2"/>
          </p:nvPr>
        </p:nvSpPr>
        <p:spPr/>
        <p:txBody>
          <a:bodyPr>
            <a:normAutofit lnSpcReduction="10000"/>
          </a:bodyPr>
          <a:lstStyle/>
          <a:p>
            <a:r>
              <a:rPr lang="en-US" sz="1400" dirty="0"/>
              <a:t>regions = aggregate(</a:t>
            </a:r>
            <a:br>
              <a:rPr lang="en-US" sz="1400" dirty="0"/>
            </a:br>
            <a:r>
              <a:rPr lang="en-US" sz="1400" dirty="0"/>
              <a:t>x = </a:t>
            </a:r>
            <a:r>
              <a:rPr lang="en-US" sz="1400" dirty="0" err="1"/>
              <a:t>us_states</a:t>
            </a:r>
            <a:r>
              <a:rPr lang="en-US" sz="1400" dirty="0"/>
              <a:t>[, "total_pop_15"],</a:t>
            </a:r>
            <a:br>
              <a:rPr lang="en-US" sz="1400" dirty="0"/>
            </a:br>
            <a:r>
              <a:rPr lang="en-US" sz="1400" dirty="0"/>
              <a:t>by = list(</a:t>
            </a:r>
            <a:r>
              <a:rPr lang="en-US" sz="1400" dirty="0" err="1"/>
              <a:t>us_states$REGION</a:t>
            </a:r>
            <a:r>
              <a:rPr lang="en-US" sz="1400" dirty="0"/>
              <a:t>), </a:t>
            </a:r>
            <a:br>
              <a:rPr lang="en-US" sz="1400" dirty="0"/>
            </a:br>
            <a:r>
              <a:rPr lang="en-US" sz="1400" dirty="0"/>
              <a:t>FUN = sum, </a:t>
            </a:r>
            <a:r>
              <a:rPr lang="en-US" sz="1400" dirty="0" err="1"/>
              <a:t>na.rm</a:t>
            </a:r>
            <a:r>
              <a:rPr lang="en-US" sz="1400" dirty="0"/>
              <a:t> = TRUE)</a:t>
            </a:r>
          </a:p>
          <a:p>
            <a:endParaRPr lang="en-US" sz="1400" dirty="0"/>
          </a:p>
          <a:p>
            <a:r>
              <a:rPr lang="en-US" sz="1400" dirty="0">
                <a:solidFill>
                  <a:srgbClr val="92D050"/>
                </a:solidFill>
              </a:rPr>
              <a:t>regions2 = </a:t>
            </a:r>
            <a:r>
              <a:rPr lang="en-US" sz="1400" dirty="0" err="1">
                <a:solidFill>
                  <a:srgbClr val="92D050"/>
                </a:solidFill>
              </a:rPr>
              <a:t>us_states</a:t>
            </a:r>
            <a:r>
              <a:rPr lang="en-US" sz="1400" dirty="0">
                <a:solidFill>
                  <a:srgbClr val="92D050"/>
                </a:solidFill>
              </a:rPr>
              <a:t> |&gt; </a:t>
            </a:r>
          </a:p>
          <a:p>
            <a:r>
              <a:rPr lang="en-US" sz="1400" dirty="0">
                <a:solidFill>
                  <a:srgbClr val="92D050"/>
                </a:solidFill>
              </a:rPr>
              <a:t>  </a:t>
            </a:r>
            <a:r>
              <a:rPr lang="en-US" sz="1400" dirty="0" err="1">
                <a:solidFill>
                  <a:srgbClr val="92D050"/>
                </a:solidFill>
              </a:rPr>
              <a:t>group_by</a:t>
            </a:r>
            <a:r>
              <a:rPr lang="en-US" sz="1400" dirty="0">
                <a:solidFill>
                  <a:srgbClr val="92D050"/>
                </a:solidFill>
              </a:rPr>
              <a:t>(REGION) |&gt;</a:t>
            </a:r>
          </a:p>
          <a:p>
            <a:r>
              <a:rPr lang="en-US" sz="1400" dirty="0">
                <a:solidFill>
                  <a:srgbClr val="92D050"/>
                </a:solidFill>
              </a:rPr>
              <a:t>  summarize(pop = sum(total_pop_15, </a:t>
            </a:r>
            <a:r>
              <a:rPr lang="en-US" sz="1400" dirty="0" err="1">
                <a:solidFill>
                  <a:srgbClr val="92D050"/>
                </a:solidFill>
              </a:rPr>
              <a:t>na.rm</a:t>
            </a:r>
            <a:r>
              <a:rPr lang="en-US" sz="1400" dirty="0">
                <a:solidFill>
                  <a:srgbClr val="92D050"/>
                </a:solidFill>
              </a:rPr>
              <a:t> = TRUE))</a:t>
            </a:r>
          </a:p>
          <a:p>
            <a:endParaRPr lang="en-US" sz="1400" dirty="0"/>
          </a:p>
          <a:p>
            <a:r>
              <a:rPr lang="en-US" sz="1400" dirty="0" err="1">
                <a:solidFill>
                  <a:srgbClr val="FFFF00"/>
                </a:solidFill>
              </a:rPr>
              <a:t>us_west</a:t>
            </a:r>
            <a:r>
              <a:rPr lang="en-US" sz="1400" dirty="0">
                <a:solidFill>
                  <a:srgbClr val="FFFF00"/>
                </a:solidFill>
              </a:rPr>
              <a:t> = </a:t>
            </a:r>
            <a:r>
              <a:rPr lang="en-US" sz="1400" dirty="0" err="1">
                <a:solidFill>
                  <a:srgbClr val="FFFF00"/>
                </a:solidFill>
              </a:rPr>
              <a:t>us_states</a:t>
            </a:r>
            <a:r>
              <a:rPr lang="en-US" sz="1400" dirty="0">
                <a:solidFill>
                  <a:srgbClr val="FFFF00"/>
                </a:solidFill>
              </a:rPr>
              <a:t>[</a:t>
            </a:r>
            <a:r>
              <a:rPr lang="en-US" sz="1400" dirty="0" err="1">
                <a:solidFill>
                  <a:srgbClr val="FFFF00"/>
                </a:solidFill>
              </a:rPr>
              <a:t>us_states$REGION</a:t>
            </a:r>
            <a:r>
              <a:rPr lang="en-US" sz="1400" dirty="0">
                <a:solidFill>
                  <a:srgbClr val="FFFF00"/>
                </a:solidFill>
              </a:rPr>
              <a:t> == "West", ]</a:t>
            </a:r>
          </a:p>
          <a:p>
            <a:r>
              <a:rPr lang="en-US" sz="1400" dirty="0" err="1">
                <a:solidFill>
                  <a:srgbClr val="FFFF00"/>
                </a:solidFill>
              </a:rPr>
              <a:t>us_west_union</a:t>
            </a:r>
            <a:r>
              <a:rPr lang="en-US" sz="1400" dirty="0">
                <a:solidFill>
                  <a:srgbClr val="FFFF00"/>
                </a:solidFill>
              </a:rPr>
              <a:t> = </a:t>
            </a:r>
            <a:r>
              <a:rPr lang="en-US" sz="1400" dirty="0" err="1">
                <a:solidFill>
                  <a:srgbClr val="FFFF00"/>
                </a:solidFill>
              </a:rPr>
              <a:t>st_union</a:t>
            </a:r>
            <a:r>
              <a:rPr lang="en-US" sz="1400" dirty="0">
                <a:solidFill>
                  <a:srgbClr val="FFFF00"/>
                </a:solidFill>
              </a:rPr>
              <a:t>(</a:t>
            </a:r>
            <a:r>
              <a:rPr lang="en-US" sz="1400" dirty="0" err="1">
                <a:solidFill>
                  <a:srgbClr val="FFFF00"/>
                </a:solidFill>
              </a:rPr>
              <a:t>us_west</a:t>
            </a:r>
            <a:r>
              <a:rPr lang="en-US" sz="1400" dirty="0">
                <a:solidFill>
                  <a:srgbClr val="FFFF00"/>
                </a:solidFill>
              </a:rPr>
              <a:t>)</a:t>
            </a:r>
          </a:p>
          <a:p>
            <a:endParaRPr lang="en-US" sz="1400" dirty="0"/>
          </a:p>
          <a:p>
            <a:r>
              <a:rPr lang="en-US" sz="1400" dirty="0" err="1">
                <a:solidFill>
                  <a:srgbClr val="FFC000"/>
                </a:solidFill>
              </a:rPr>
              <a:t>texas</a:t>
            </a:r>
            <a:r>
              <a:rPr lang="en-US" sz="1400" dirty="0">
                <a:solidFill>
                  <a:srgbClr val="FFC000"/>
                </a:solidFill>
              </a:rPr>
              <a:t> = </a:t>
            </a:r>
            <a:r>
              <a:rPr lang="en-US" sz="1400" dirty="0" err="1">
                <a:solidFill>
                  <a:srgbClr val="FFC000"/>
                </a:solidFill>
              </a:rPr>
              <a:t>us_states</a:t>
            </a:r>
            <a:r>
              <a:rPr lang="en-US" sz="1400" dirty="0">
                <a:solidFill>
                  <a:srgbClr val="FFC000"/>
                </a:solidFill>
              </a:rPr>
              <a:t>[</a:t>
            </a:r>
            <a:r>
              <a:rPr lang="en-US" sz="1400" dirty="0" err="1">
                <a:solidFill>
                  <a:srgbClr val="FFC000"/>
                </a:solidFill>
              </a:rPr>
              <a:t>us_states$NAME</a:t>
            </a:r>
            <a:r>
              <a:rPr lang="en-US" sz="1400" dirty="0">
                <a:solidFill>
                  <a:srgbClr val="FFC000"/>
                </a:solidFill>
              </a:rPr>
              <a:t> == "Texas", ]</a:t>
            </a:r>
          </a:p>
          <a:p>
            <a:r>
              <a:rPr lang="en-US" sz="1400" dirty="0" err="1">
                <a:solidFill>
                  <a:srgbClr val="FFC000"/>
                </a:solidFill>
              </a:rPr>
              <a:t>texas_union</a:t>
            </a:r>
            <a:r>
              <a:rPr lang="en-US" sz="1400" dirty="0">
                <a:solidFill>
                  <a:srgbClr val="FFC000"/>
                </a:solidFill>
              </a:rPr>
              <a:t> = </a:t>
            </a:r>
            <a:r>
              <a:rPr lang="en-US" sz="1400" dirty="0" err="1">
                <a:solidFill>
                  <a:srgbClr val="FFC000"/>
                </a:solidFill>
              </a:rPr>
              <a:t>st_union</a:t>
            </a:r>
            <a:r>
              <a:rPr lang="en-US" sz="1400" dirty="0">
                <a:solidFill>
                  <a:srgbClr val="FFC000"/>
                </a:solidFill>
              </a:rPr>
              <a:t>(</a:t>
            </a:r>
            <a:r>
              <a:rPr lang="en-US" sz="1400" dirty="0" err="1">
                <a:solidFill>
                  <a:srgbClr val="FFC000"/>
                </a:solidFill>
              </a:rPr>
              <a:t>us_west_union</a:t>
            </a:r>
            <a:r>
              <a:rPr lang="en-US" sz="1400" dirty="0">
                <a:solidFill>
                  <a:srgbClr val="FFC000"/>
                </a:solidFill>
              </a:rPr>
              <a:t>, </a:t>
            </a:r>
            <a:r>
              <a:rPr lang="en-US" sz="1400" dirty="0" err="1">
                <a:solidFill>
                  <a:srgbClr val="FFC000"/>
                </a:solidFill>
              </a:rPr>
              <a:t>texas</a:t>
            </a:r>
            <a:r>
              <a:rPr lang="en-US" sz="1400" dirty="0">
                <a:solidFill>
                  <a:srgbClr val="FFC000"/>
                </a:solidFill>
              </a:rPr>
              <a:t>)</a:t>
            </a:r>
          </a:p>
        </p:txBody>
      </p:sp>
      <p:sp>
        <p:nvSpPr>
          <p:cNvPr id="2" name="Slide Number Placeholder 1">
            <a:extLst>
              <a:ext uri="{FF2B5EF4-FFF2-40B4-BE49-F238E27FC236}">
                <a16:creationId xmlns:a16="http://schemas.microsoft.com/office/drawing/2014/main" id="{A114F7E6-89FA-BF75-B674-BE7ACF983C14}"/>
              </a:ext>
            </a:extLst>
          </p:cNvPr>
          <p:cNvSpPr>
            <a:spLocks noGrp="1"/>
          </p:cNvSpPr>
          <p:nvPr>
            <p:ph type="sldNum" sz="quarter" idx="12"/>
          </p:nvPr>
        </p:nvSpPr>
        <p:spPr/>
        <p:txBody>
          <a:bodyPr/>
          <a:lstStyle/>
          <a:p>
            <a:fld id="{C0343C75-1924-D247-85A3-0CB62E67E5D1}" type="slidenum">
              <a:rPr lang="en-US" smtClean="0"/>
              <a:t>37</a:t>
            </a:fld>
            <a:endParaRPr lang="en-US"/>
          </a:p>
        </p:txBody>
      </p:sp>
    </p:spTree>
    <p:extLst>
      <p:ext uri="{BB962C8B-B14F-4D97-AF65-F5344CB8AC3E}">
        <p14:creationId xmlns:p14="http://schemas.microsoft.com/office/powerpoint/2010/main" val="8515455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7FC71-A090-6175-7F8E-307F423DEAAF}"/>
              </a:ext>
            </a:extLst>
          </p:cNvPr>
          <p:cNvSpPr>
            <a:spLocks noGrp="1"/>
          </p:cNvSpPr>
          <p:nvPr>
            <p:ph type="title"/>
          </p:nvPr>
        </p:nvSpPr>
        <p:spPr/>
        <p:txBody>
          <a:bodyPr/>
          <a:lstStyle/>
          <a:p>
            <a:r>
              <a:rPr lang="en-US" dirty="0"/>
              <a:t>Type Transformations</a:t>
            </a:r>
          </a:p>
        </p:txBody>
      </p:sp>
      <p:sp>
        <p:nvSpPr>
          <p:cNvPr id="3" name="Content Placeholder 2">
            <a:extLst>
              <a:ext uri="{FF2B5EF4-FFF2-40B4-BE49-F238E27FC236}">
                <a16:creationId xmlns:a16="http://schemas.microsoft.com/office/drawing/2014/main" id="{AD063B52-CB34-EC6F-175D-435693FEFCFD}"/>
              </a:ext>
            </a:extLst>
          </p:cNvPr>
          <p:cNvSpPr>
            <a:spLocks noGrp="1"/>
          </p:cNvSpPr>
          <p:nvPr>
            <p:ph idx="1"/>
          </p:nvPr>
        </p:nvSpPr>
        <p:spPr/>
        <p:txBody>
          <a:bodyPr>
            <a:normAutofit fontScale="92500" lnSpcReduction="20000"/>
          </a:bodyPr>
          <a:lstStyle/>
          <a:p>
            <a:r>
              <a:rPr lang="en-US" b="1" dirty="0"/>
              <a:t>Geometry casting </a:t>
            </a:r>
            <a:r>
              <a:rPr lang="en-US" dirty="0"/>
              <a:t>is a powerful operation that enables transformation of the geometry type</a:t>
            </a:r>
          </a:p>
          <a:p>
            <a:r>
              <a:rPr lang="en-US" dirty="0">
                <a:solidFill>
                  <a:srgbClr val="C00000"/>
                </a:solidFill>
              </a:rPr>
              <a:t>Conversion from multipoint to linestring is a common operation that creates a line object from ordered point observations, such as GPS measurements or geotagged media</a:t>
            </a:r>
          </a:p>
          <a:p>
            <a:pPr lvl="1"/>
            <a:r>
              <a:rPr lang="en-US" dirty="0">
                <a:solidFill>
                  <a:srgbClr val="C00000"/>
                </a:solidFill>
              </a:rPr>
              <a:t>This, in turn, allows us to perform spatial operations such as the calculation of the length of the path traveled</a:t>
            </a:r>
          </a:p>
          <a:p>
            <a:r>
              <a:rPr lang="en-US" dirty="0">
                <a:solidFill>
                  <a:srgbClr val="002060"/>
                </a:solidFill>
              </a:rPr>
              <a:t>Conversion from multipoint or linestring to polygon is often used to calculate an area</a:t>
            </a:r>
          </a:p>
          <a:p>
            <a:pPr lvl="1"/>
            <a:r>
              <a:rPr lang="en-US" dirty="0">
                <a:solidFill>
                  <a:srgbClr val="002060"/>
                </a:solidFill>
              </a:rPr>
              <a:t>For example, from the set of GPS measurements taken around a lake or from the corners of a building lot</a:t>
            </a:r>
          </a:p>
          <a:p>
            <a:r>
              <a:rPr lang="en-US" dirty="0">
                <a:solidFill>
                  <a:srgbClr val="00B050"/>
                </a:solidFill>
              </a:rPr>
              <a:t>Geometry casting of simple features geometry column (</a:t>
            </a:r>
            <a:r>
              <a:rPr lang="en-US" sz="2000" b="1" dirty="0" err="1">
                <a:solidFill>
                  <a:srgbClr val="00B050"/>
                </a:solidFill>
                <a:latin typeface="Consolas" panose="020B0609020204030204" pitchFamily="49" charset="0"/>
                <a:cs typeface="Consolas" panose="020B0609020204030204" pitchFamily="49" charset="0"/>
              </a:rPr>
              <a:t>sfc</a:t>
            </a:r>
            <a:r>
              <a:rPr lang="en-US" dirty="0">
                <a:solidFill>
                  <a:srgbClr val="00B050"/>
                </a:solidFill>
              </a:rPr>
              <a:t>) and simple features objects works the same as for </a:t>
            </a:r>
            <a:r>
              <a:rPr lang="en-US" sz="2000" b="1" dirty="0" err="1">
                <a:solidFill>
                  <a:srgbClr val="00B050"/>
                </a:solidFill>
                <a:latin typeface="Consolas" panose="020B0609020204030204" pitchFamily="49" charset="0"/>
                <a:cs typeface="Consolas" panose="020B0609020204030204" pitchFamily="49" charset="0"/>
              </a:rPr>
              <a:t>sfg</a:t>
            </a:r>
            <a:r>
              <a:rPr lang="en-US" dirty="0">
                <a:solidFill>
                  <a:srgbClr val="00B050"/>
                </a:solidFill>
              </a:rPr>
              <a:t> in most of the cases</a:t>
            </a:r>
          </a:p>
          <a:p>
            <a:pPr lvl="1"/>
            <a:r>
              <a:rPr lang="en-US" dirty="0">
                <a:solidFill>
                  <a:srgbClr val="00B050"/>
                </a:solidFill>
              </a:rPr>
              <a:t>One important difference is the conversion between multi-types to non-multi-types</a:t>
            </a:r>
          </a:p>
          <a:p>
            <a:pPr lvl="1"/>
            <a:r>
              <a:rPr lang="en-US" dirty="0">
                <a:solidFill>
                  <a:srgbClr val="00B050"/>
                </a:solidFill>
              </a:rPr>
              <a:t>As a result of this process, multi-objects of </a:t>
            </a:r>
            <a:r>
              <a:rPr lang="en-US" dirty="0" err="1">
                <a:solidFill>
                  <a:srgbClr val="00B050"/>
                </a:solidFill>
              </a:rPr>
              <a:t>sfc</a:t>
            </a:r>
            <a:r>
              <a:rPr lang="en-US" dirty="0">
                <a:solidFill>
                  <a:srgbClr val="00B050"/>
                </a:solidFill>
              </a:rPr>
              <a:t> or sf are split into many non-multi-objects</a:t>
            </a:r>
          </a:p>
        </p:txBody>
      </p:sp>
      <p:sp>
        <p:nvSpPr>
          <p:cNvPr id="4" name="Slide Number Placeholder 3">
            <a:extLst>
              <a:ext uri="{FF2B5EF4-FFF2-40B4-BE49-F238E27FC236}">
                <a16:creationId xmlns:a16="http://schemas.microsoft.com/office/drawing/2014/main" id="{E3E8DCD9-6C32-1112-B3EA-84A13E2F7329}"/>
              </a:ext>
            </a:extLst>
          </p:cNvPr>
          <p:cNvSpPr>
            <a:spLocks noGrp="1"/>
          </p:cNvSpPr>
          <p:nvPr>
            <p:ph type="sldNum" sz="quarter" idx="12"/>
          </p:nvPr>
        </p:nvSpPr>
        <p:spPr/>
        <p:txBody>
          <a:bodyPr/>
          <a:lstStyle/>
          <a:p>
            <a:fld id="{C0343C75-1924-D247-85A3-0CB62E67E5D1}" type="slidenum">
              <a:rPr lang="en-US" smtClean="0"/>
              <a:t>38</a:t>
            </a:fld>
            <a:endParaRPr lang="en-US"/>
          </a:p>
        </p:txBody>
      </p:sp>
    </p:spTree>
    <p:extLst>
      <p:ext uri="{BB962C8B-B14F-4D97-AF65-F5344CB8AC3E}">
        <p14:creationId xmlns:p14="http://schemas.microsoft.com/office/powerpoint/2010/main" val="3569008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5F285-173C-1AAF-FEE6-66D941AE53C1}"/>
              </a:ext>
            </a:extLst>
          </p:cNvPr>
          <p:cNvSpPr>
            <a:spLocks noGrp="1"/>
          </p:cNvSpPr>
          <p:nvPr>
            <p:ph type="title"/>
          </p:nvPr>
        </p:nvSpPr>
        <p:spPr/>
        <p:txBody>
          <a:bodyPr/>
          <a:lstStyle/>
          <a:p>
            <a:r>
              <a:rPr lang="en-US" dirty="0"/>
              <a:t>Type Transformations</a:t>
            </a:r>
          </a:p>
        </p:txBody>
      </p:sp>
      <p:pic>
        <p:nvPicPr>
          <p:cNvPr id="7" name="Content Placeholder 6">
            <a:extLst>
              <a:ext uri="{FF2B5EF4-FFF2-40B4-BE49-F238E27FC236}">
                <a16:creationId xmlns:a16="http://schemas.microsoft.com/office/drawing/2014/main" id="{638F6283-74EF-D742-BFCE-64EA37DE8AAF}"/>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1828800" y="1790700"/>
            <a:ext cx="5486400" cy="1638300"/>
          </a:xfrm>
          <a:prstGeom prst="rect">
            <a:avLst/>
          </a:prstGeom>
        </p:spPr>
      </p:pic>
      <p:sp>
        <p:nvSpPr>
          <p:cNvPr id="8" name="TextBox 7">
            <a:extLst>
              <a:ext uri="{FF2B5EF4-FFF2-40B4-BE49-F238E27FC236}">
                <a16:creationId xmlns:a16="http://schemas.microsoft.com/office/drawing/2014/main" id="{95250C44-6CF0-483C-260C-19E7BC4177EE}"/>
              </a:ext>
            </a:extLst>
          </p:cNvPr>
          <p:cNvSpPr txBox="1"/>
          <p:nvPr/>
        </p:nvSpPr>
        <p:spPr>
          <a:xfrm>
            <a:off x="833220" y="3429000"/>
            <a:ext cx="7477560" cy="369332"/>
          </a:xfrm>
          <a:prstGeom prst="rect">
            <a:avLst/>
          </a:prstGeom>
          <a:noFill/>
        </p:spPr>
        <p:txBody>
          <a:bodyPr wrap="none" rtlCol="0">
            <a:spAutoFit/>
          </a:bodyPr>
          <a:lstStyle/>
          <a:p>
            <a:pPr algn="ctr"/>
            <a:r>
              <a:rPr lang="en-US" dirty="0"/>
              <a:t>Examples of a linestring and a polygon casted from a multipoint geometry</a:t>
            </a:r>
          </a:p>
        </p:txBody>
      </p:sp>
      <p:sp>
        <p:nvSpPr>
          <p:cNvPr id="5" name="TextBox 4">
            <a:extLst>
              <a:ext uri="{FF2B5EF4-FFF2-40B4-BE49-F238E27FC236}">
                <a16:creationId xmlns:a16="http://schemas.microsoft.com/office/drawing/2014/main" id="{647F8070-A985-BABB-E4A4-3D3C3A9B2806}"/>
              </a:ext>
            </a:extLst>
          </p:cNvPr>
          <p:cNvSpPr txBox="1"/>
          <p:nvPr/>
        </p:nvSpPr>
        <p:spPr>
          <a:xfrm>
            <a:off x="1143000" y="4021015"/>
            <a:ext cx="6858000" cy="1922585"/>
          </a:xfrm>
          <a:prstGeom prst="rect">
            <a:avLst/>
          </a:prstGeom>
          <a:solidFill>
            <a:srgbClr val="002060"/>
          </a:solidFill>
        </p:spPr>
        <p:txBody>
          <a:bodyPr wrap="none" rtlCol="0">
            <a:noAutofit/>
          </a:bodyPr>
          <a:lstStyle/>
          <a:p>
            <a:r>
              <a:rPr lang="en-US" sz="1600" b="1" dirty="0">
                <a:solidFill>
                  <a:schemeClr val="bg1"/>
                </a:solidFill>
              </a:rPr>
              <a:t>multipoint = </a:t>
            </a:r>
            <a:r>
              <a:rPr lang="en-US" sz="1600" b="1" dirty="0" err="1">
                <a:solidFill>
                  <a:schemeClr val="bg1"/>
                </a:solidFill>
              </a:rPr>
              <a:t>st_multipoint</a:t>
            </a:r>
            <a:r>
              <a:rPr lang="en-US" sz="1600" b="1" dirty="0">
                <a:solidFill>
                  <a:schemeClr val="bg1"/>
                </a:solidFill>
              </a:rPr>
              <a:t>(matrix(c(1, 3, 5, 1, 3, 1), </a:t>
            </a:r>
            <a:r>
              <a:rPr lang="en-US" sz="1600" b="1" dirty="0" err="1">
                <a:solidFill>
                  <a:schemeClr val="bg1"/>
                </a:solidFill>
              </a:rPr>
              <a:t>ncol</a:t>
            </a:r>
            <a:r>
              <a:rPr lang="en-US" sz="1600" b="1" dirty="0">
                <a:solidFill>
                  <a:schemeClr val="bg1"/>
                </a:solidFill>
              </a:rPr>
              <a:t> = 2))</a:t>
            </a:r>
          </a:p>
          <a:p>
            <a:endParaRPr lang="en-US" sz="1600" b="1" dirty="0">
              <a:solidFill>
                <a:schemeClr val="bg1"/>
              </a:solidFill>
            </a:endParaRPr>
          </a:p>
          <a:p>
            <a:r>
              <a:rPr lang="en-US" sz="1600" b="1" dirty="0">
                <a:solidFill>
                  <a:schemeClr val="bg1"/>
                </a:solidFill>
              </a:rPr>
              <a:t>linestring = </a:t>
            </a:r>
            <a:r>
              <a:rPr lang="en-US" sz="1600" b="1" dirty="0" err="1">
                <a:solidFill>
                  <a:schemeClr val="bg1"/>
                </a:solidFill>
              </a:rPr>
              <a:t>st_cast</a:t>
            </a:r>
            <a:r>
              <a:rPr lang="en-US" sz="1600" b="1" dirty="0">
                <a:solidFill>
                  <a:schemeClr val="bg1"/>
                </a:solidFill>
              </a:rPr>
              <a:t>(multipoint, "LINESTRING")</a:t>
            </a:r>
          </a:p>
          <a:p>
            <a:r>
              <a:rPr lang="en-US" sz="1600" b="1" dirty="0" err="1">
                <a:solidFill>
                  <a:schemeClr val="bg1"/>
                </a:solidFill>
              </a:rPr>
              <a:t>polyg</a:t>
            </a:r>
            <a:r>
              <a:rPr lang="en-US" sz="1600" b="1" dirty="0">
                <a:solidFill>
                  <a:schemeClr val="bg1"/>
                </a:solidFill>
              </a:rPr>
              <a:t> = </a:t>
            </a:r>
            <a:r>
              <a:rPr lang="en-US" sz="1600" b="1" dirty="0" err="1">
                <a:solidFill>
                  <a:schemeClr val="bg1"/>
                </a:solidFill>
              </a:rPr>
              <a:t>st_cast</a:t>
            </a:r>
            <a:r>
              <a:rPr lang="en-US" sz="1600" b="1" dirty="0">
                <a:solidFill>
                  <a:schemeClr val="bg1"/>
                </a:solidFill>
              </a:rPr>
              <a:t>(multipoint, "POLYGON")</a:t>
            </a:r>
          </a:p>
        </p:txBody>
      </p:sp>
      <p:sp>
        <p:nvSpPr>
          <p:cNvPr id="3" name="Slide Number Placeholder 2">
            <a:extLst>
              <a:ext uri="{FF2B5EF4-FFF2-40B4-BE49-F238E27FC236}">
                <a16:creationId xmlns:a16="http://schemas.microsoft.com/office/drawing/2014/main" id="{DFF1A619-8AC9-D3A2-86D7-22227E6D5A25}"/>
              </a:ext>
            </a:extLst>
          </p:cNvPr>
          <p:cNvSpPr>
            <a:spLocks noGrp="1"/>
          </p:cNvSpPr>
          <p:nvPr>
            <p:ph type="sldNum" sz="quarter" idx="12"/>
          </p:nvPr>
        </p:nvSpPr>
        <p:spPr/>
        <p:txBody>
          <a:bodyPr/>
          <a:lstStyle/>
          <a:p>
            <a:fld id="{C0343C75-1924-D247-85A3-0CB62E67E5D1}" type="slidenum">
              <a:rPr lang="en-US" smtClean="0"/>
              <a:t>39</a:t>
            </a:fld>
            <a:endParaRPr lang="en-US"/>
          </a:p>
        </p:txBody>
      </p:sp>
    </p:spTree>
    <p:extLst>
      <p:ext uri="{BB962C8B-B14F-4D97-AF65-F5344CB8AC3E}">
        <p14:creationId xmlns:p14="http://schemas.microsoft.com/office/powerpoint/2010/main" val="1683910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73D42-B1BF-D06C-5879-EED1F41AF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C3151-B2F3-A50E-C44C-A6DD5DFB5D11}"/>
              </a:ext>
            </a:extLst>
          </p:cNvPr>
          <p:cNvSpPr>
            <a:spLocks noGrp="1"/>
          </p:cNvSpPr>
          <p:nvPr>
            <p:ph type="title"/>
          </p:nvPr>
        </p:nvSpPr>
        <p:spPr/>
        <p:txBody>
          <a:bodyPr/>
          <a:lstStyle/>
          <a:p>
            <a:r>
              <a:rPr lang="en-US" dirty="0"/>
              <a:t>Type Transformations</a:t>
            </a:r>
          </a:p>
        </p:txBody>
      </p:sp>
      <p:sp>
        <p:nvSpPr>
          <p:cNvPr id="8" name="TextBox 7">
            <a:extLst>
              <a:ext uri="{FF2B5EF4-FFF2-40B4-BE49-F238E27FC236}">
                <a16:creationId xmlns:a16="http://schemas.microsoft.com/office/drawing/2014/main" id="{5A978A5A-C1BF-FD84-D752-122348D9833A}"/>
              </a:ext>
            </a:extLst>
          </p:cNvPr>
          <p:cNvSpPr txBox="1"/>
          <p:nvPr/>
        </p:nvSpPr>
        <p:spPr>
          <a:xfrm>
            <a:off x="758103" y="3668817"/>
            <a:ext cx="7627794" cy="369332"/>
          </a:xfrm>
          <a:prstGeom prst="rect">
            <a:avLst/>
          </a:prstGeom>
          <a:noFill/>
        </p:spPr>
        <p:txBody>
          <a:bodyPr wrap="none" rtlCol="0">
            <a:spAutoFit/>
          </a:bodyPr>
          <a:lstStyle/>
          <a:p>
            <a:pPr algn="ctr"/>
            <a:r>
              <a:rPr lang="en-US" dirty="0"/>
              <a:t>Examples of type casting between multilinestring (left) and linestring (right)</a:t>
            </a:r>
          </a:p>
        </p:txBody>
      </p:sp>
      <p:pic>
        <p:nvPicPr>
          <p:cNvPr id="6" name="Content Placeholder 5" descr="A diagram of lines and lines&#10;&#10;AI-generated content may be incorrect.">
            <a:extLst>
              <a:ext uri="{FF2B5EF4-FFF2-40B4-BE49-F238E27FC236}">
                <a16:creationId xmlns:a16="http://schemas.microsoft.com/office/drawing/2014/main" id="{57C92C40-52E2-5B5E-E33D-476D90590A4B}"/>
              </a:ext>
            </a:extLst>
          </p:cNvPr>
          <p:cNvPicPr>
            <a:picLocks noGrp="1" noChangeAspect="1"/>
          </p:cNvPicPr>
          <p:nvPr>
            <p:ph idx="1"/>
          </p:nvPr>
        </p:nvPicPr>
        <p:blipFill>
          <a:blip r:embed="rId2"/>
          <a:stretch>
            <a:fillRect/>
          </a:stretch>
        </p:blipFill>
        <p:spPr>
          <a:xfrm>
            <a:off x="2743200" y="1416684"/>
            <a:ext cx="3657600" cy="2252133"/>
          </a:xfrm>
          <a:prstGeom prst="rect">
            <a:avLst/>
          </a:prstGeom>
        </p:spPr>
      </p:pic>
      <p:sp>
        <p:nvSpPr>
          <p:cNvPr id="10" name="TextBox 9">
            <a:extLst>
              <a:ext uri="{FF2B5EF4-FFF2-40B4-BE49-F238E27FC236}">
                <a16:creationId xmlns:a16="http://schemas.microsoft.com/office/drawing/2014/main" id="{6CFABCCA-C5F0-DA87-5A2A-BDBF83CD950D}"/>
              </a:ext>
            </a:extLst>
          </p:cNvPr>
          <p:cNvSpPr txBox="1"/>
          <p:nvPr/>
        </p:nvSpPr>
        <p:spPr>
          <a:xfrm>
            <a:off x="1143000" y="4208584"/>
            <a:ext cx="6858000" cy="1922585"/>
          </a:xfrm>
          <a:prstGeom prst="rect">
            <a:avLst/>
          </a:prstGeom>
          <a:solidFill>
            <a:srgbClr val="002060"/>
          </a:solidFill>
        </p:spPr>
        <p:txBody>
          <a:bodyPr wrap="none" rtlCol="0">
            <a:noAutofit/>
          </a:bodyPr>
          <a:lstStyle/>
          <a:p>
            <a:r>
              <a:rPr lang="en-US" sz="1600" b="1" dirty="0">
                <a:solidFill>
                  <a:schemeClr val="bg1"/>
                </a:solidFill>
              </a:rPr>
              <a:t>multipoint_2 = </a:t>
            </a:r>
            <a:r>
              <a:rPr lang="en-US" sz="1600" b="1" dirty="0" err="1">
                <a:solidFill>
                  <a:schemeClr val="bg1"/>
                </a:solidFill>
              </a:rPr>
              <a:t>st_cast</a:t>
            </a:r>
            <a:r>
              <a:rPr lang="en-US" sz="1600" b="1" dirty="0">
                <a:solidFill>
                  <a:schemeClr val="bg1"/>
                </a:solidFill>
              </a:rPr>
              <a:t>(linestring, "MULTIPOINT")</a:t>
            </a:r>
          </a:p>
          <a:p>
            <a:r>
              <a:rPr lang="en-US" sz="1600" b="1" dirty="0">
                <a:solidFill>
                  <a:schemeClr val="bg1"/>
                </a:solidFill>
              </a:rPr>
              <a:t>multipoint_3 = </a:t>
            </a:r>
            <a:r>
              <a:rPr lang="en-US" sz="1600" b="1" dirty="0" err="1">
                <a:solidFill>
                  <a:schemeClr val="bg1"/>
                </a:solidFill>
              </a:rPr>
              <a:t>st_cast</a:t>
            </a:r>
            <a:r>
              <a:rPr lang="en-US" sz="1600" b="1" dirty="0">
                <a:solidFill>
                  <a:schemeClr val="bg1"/>
                </a:solidFill>
              </a:rPr>
              <a:t>(</a:t>
            </a:r>
            <a:r>
              <a:rPr lang="en-US" sz="1600" b="1" dirty="0" err="1">
                <a:solidFill>
                  <a:schemeClr val="bg1"/>
                </a:solidFill>
              </a:rPr>
              <a:t>polyg</a:t>
            </a:r>
            <a:r>
              <a:rPr lang="en-US" sz="1600" b="1" dirty="0">
                <a:solidFill>
                  <a:schemeClr val="bg1"/>
                </a:solidFill>
              </a:rPr>
              <a:t>, "MULTIPOINT")</a:t>
            </a:r>
          </a:p>
          <a:p>
            <a:endParaRPr lang="en-US" sz="1600" b="1" dirty="0">
              <a:solidFill>
                <a:schemeClr val="bg1"/>
              </a:solidFill>
            </a:endParaRPr>
          </a:p>
          <a:p>
            <a:r>
              <a:rPr lang="en-US" sz="1600" b="1" dirty="0" err="1">
                <a:solidFill>
                  <a:schemeClr val="bg1"/>
                </a:solidFill>
              </a:rPr>
              <a:t>all.equal</a:t>
            </a:r>
            <a:r>
              <a:rPr lang="en-US" sz="1600" b="1" dirty="0">
                <a:solidFill>
                  <a:schemeClr val="bg1"/>
                </a:solidFill>
              </a:rPr>
              <a:t>(multipoint, multipoint_2)</a:t>
            </a:r>
          </a:p>
          <a:p>
            <a:r>
              <a:rPr lang="en-US" sz="1600" b="1" dirty="0">
                <a:solidFill>
                  <a:schemeClr val="bg1"/>
                </a:solidFill>
              </a:rPr>
              <a:t># [1] TRUE</a:t>
            </a:r>
          </a:p>
          <a:p>
            <a:r>
              <a:rPr lang="en-US" sz="1600" b="1" dirty="0" err="1">
                <a:solidFill>
                  <a:schemeClr val="bg1"/>
                </a:solidFill>
              </a:rPr>
              <a:t>all.equal</a:t>
            </a:r>
            <a:r>
              <a:rPr lang="en-US" sz="1600" b="1" dirty="0">
                <a:solidFill>
                  <a:schemeClr val="bg1"/>
                </a:solidFill>
              </a:rPr>
              <a:t>(multipoint, multipoint_3)</a:t>
            </a:r>
          </a:p>
          <a:p>
            <a:r>
              <a:rPr lang="en-US" sz="1600" b="1" dirty="0">
                <a:solidFill>
                  <a:schemeClr val="bg1"/>
                </a:solidFill>
              </a:rPr>
              <a:t># [1] TRUE</a:t>
            </a:r>
          </a:p>
        </p:txBody>
      </p:sp>
      <p:sp>
        <p:nvSpPr>
          <p:cNvPr id="3" name="Slide Number Placeholder 2">
            <a:extLst>
              <a:ext uri="{FF2B5EF4-FFF2-40B4-BE49-F238E27FC236}">
                <a16:creationId xmlns:a16="http://schemas.microsoft.com/office/drawing/2014/main" id="{A6052487-40B8-B825-EB07-238C06E16D15}"/>
              </a:ext>
            </a:extLst>
          </p:cNvPr>
          <p:cNvSpPr>
            <a:spLocks noGrp="1"/>
          </p:cNvSpPr>
          <p:nvPr>
            <p:ph type="sldNum" sz="quarter" idx="12"/>
          </p:nvPr>
        </p:nvSpPr>
        <p:spPr/>
        <p:txBody>
          <a:bodyPr/>
          <a:lstStyle/>
          <a:p>
            <a:fld id="{C0343C75-1924-D247-85A3-0CB62E67E5D1}" type="slidenum">
              <a:rPr lang="en-US" smtClean="0"/>
              <a:t>40</a:t>
            </a:fld>
            <a:endParaRPr lang="en-US"/>
          </a:p>
        </p:txBody>
      </p:sp>
    </p:spTree>
    <p:extLst>
      <p:ext uri="{BB962C8B-B14F-4D97-AF65-F5344CB8AC3E}">
        <p14:creationId xmlns:p14="http://schemas.microsoft.com/office/powerpoint/2010/main" val="20568753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B472B-4965-AEE6-3493-94DA22EA538E}"/>
              </a:ext>
            </a:extLst>
          </p:cNvPr>
          <p:cNvSpPr>
            <a:spLocks noGrp="1"/>
          </p:cNvSpPr>
          <p:nvPr>
            <p:ph type="title"/>
          </p:nvPr>
        </p:nvSpPr>
        <p:spPr/>
        <p:txBody>
          <a:bodyPr/>
          <a:lstStyle/>
          <a:p>
            <a:r>
              <a:rPr lang="en-US" dirty="0"/>
              <a:t>Assignment #3</a:t>
            </a:r>
          </a:p>
        </p:txBody>
      </p:sp>
      <p:sp>
        <p:nvSpPr>
          <p:cNvPr id="3" name="Text Placeholder 2">
            <a:extLst>
              <a:ext uri="{FF2B5EF4-FFF2-40B4-BE49-F238E27FC236}">
                <a16:creationId xmlns:a16="http://schemas.microsoft.com/office/drawing/2014/main" id="{1B2888E8-629A-DD32-E6F8-938EB4A11BB3}"/>
              </a:ext>
            </a:extLst>
          </p:cNvPr>
          <p:cNvSpPr>
            <a:spLocks noGrp="1"/>
          </p:cNvSpPr>
          <p:nvPr>
            <p:ph type="body" idx="1"/>
          </p:nvPr>
        </p:nvSpPr>
        <p:spPr/>
        <p:txBody>
          <a:bodyPr/>
          <a:lstStyle/>
          <a:p>
            <a:r>
              <a:rPr lang="en-US" dirty="0"/>
              <a:t>Due Mon Feb 23 at 5 PM</a:t>
            </a:r>
          </a:p>
        </p:txBody>
      </p:sp>
      <p:sp>
        <p:nvSpPr>
          <p:cNvPr id="4" name="Slide Number Placeholder 3">
            <a:extLst>
              <a:ext uri="{FF2B5EF4-FFF2-40B4-BE49-F238E27FC236}">
                <a16:creationId xmlns:a16="http://schemas.microsoft.com/office/drawing/2014/main" id="{42064CC0-8DF4-3CC3-DFAC-16C7FF8ADDC8}"/>
              </a:ext>
            </a:extLst>
          </p:cNvPr>
          <p:cNvSpPr>
            <a:spLocks noGrp="1"/>
          </p:cNvSpPr>
          <p:nvPr>
            <p:ph type="sldNum" sz="quarter" idx="12"/>
          </p:nvPr>
        </p:nvSpPr>
        <p:spPr/>
        <p:txBody>
          <a:bodyPr/>
          <a:lstStyle/>
          <a:p>
            <a:fld id="{C0343C75-1924-D247-85A3-0CB62E67E5D1}" type="slidenum">
              <a:rPr lang="en-US" smtClean="0"/>
              <a:t>41</a:t>
            </a:fld>
            <a:endParaRPr lang="en-US"/>
          </a:p>
        </p:txBody>
      </p:sp>
    </p:spTree>
    <p:extLst>
      <p:ext uri="{BB962C8B-B14F-4D97-AF65-F5344CB8AC3E}">
        <p14:creationId xmlns:p14="http://schemas.microsoft.com/office/powerpoint/2010/main" val="21739688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964AC5F-8116-D480-71C2-1C854CDC4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8B10D-A68C-BE00-6D20-F61641801B32}"/>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9B8015EE-AA63-AB3F-00F2-B5205A8B2B52}"/>
              </a:ext>
            </a:extLst>
          </p:cNvPr>
          <p:cNvSpPr>
            <a:spLocks noGrp="1"/>
          </p:cNvSpPr>
          <p:nvPr>
            <p:ph idx="1"/>
          </p:nvPr>
        </p:nvSpPr>
        <p:spPr>
          <a:xfrm>
            <a:off x="457200" y="1600517"/>
            <a:ext cx="8503920" cy="4572000"/>
          </a:xfrm>
        </p:spPr>
        <p:txBody>
          <a:bodyPr>
            <a:normAutofit/>
          </a:bodyPr>
          <a:lstStyle/>
          <a:p>
            <a:r>
              <a:rPr lang="en-US" sz="2000" dirty="0"/>
              <a:t>You are asked to:</a:t>
            </a:r>
          </a:p>
          <a:p>
            <a:pPr marL="458788" indent="0">
              <a:buNone/>
            </a:pPr>
            <a:r>
              <a:rPr lang="en-US" sz="1800" b="1" dirty="0">
                <a:solidFill>
                  <a:srgbClr val="002060"/>
                </a:solidFill>
              </a:rPr>
              <a:t>Integrate parcel data, FEMA floodplain data, and US Census geographic boundaries to </a:t>
            </a:r>
            <a:r>
              <a:rPr lang="en-US" sz="1800" b="1" u="sng" dirty="0">
                <a:solidFill>
                  <a:srgbClr val="002060"/>
                </a:solidFill>
              </a:rPr>
              <a:t>evaluate flood risk exposure of single-family structures</a:t>
            </a:r>
            <a:r>
              <a:rPr lang="en-US" sz="1800" b="1" dirty="0">
                <a:solidFill>
                  <a:srgbClr val="002060"/>
                </a:solidFill>
              </a:rPr>
              <a:t> and its </a:t>
            </a:r>
            <a:r>
              <a:rPr lang="en-US" sz="1800" b="1" u="sng" dirty="0">
                <a:solidFill>
                  <a:srgbClr val="002060"/>
                </a:solidFill>
              </a:rPr>
              <a:t>relationship to parcel improvement</a:t>
            </a:r>
            <a:r>
              <a:rPr lang="en-US" sz="1800" b="1" dirty="0">
                <a:solidFill>
                  <a:srgbClr val="002060"/>
                </a:solidFill>
              </a:rPr>
              <a:t> value in Brazos County, TX</a:t>
            </a:r>
          </a:p>
          <a:p>
            <a:pPr marL="0" indent="0">
              <a:buNone/>
            </a:pPr>
            <a:endParaRPr lang="en-US" sz="1800" dirty="0"/>
          </a:p>
          <a:p>
            <a:r>
              <a:rPr lang="en-US" sz="2000" dirty="0"/>
              <a:t>You must clearly document:</a:t>
            </a:r>
          </a:p>
          <a:p>
            <a:pPr marL="695325" lvl="1" indent="-238125">
              <a:buFont typeface="+mj-lt"/>
              <a:buAutoNum type="arabicPeriod"/>
            </a:pPr>
            <a:r>
              <a:rPr lang="en-US" dirty="0"/>
              <a:t>Your data acquisition strategy</a:t>
            </a:r>
          </a:p>
          <a:p>
            <a:pPr marL="695325" lvl="1" indent="-238125">
              <a:buFont typeface="+mj-lt"/>
              <a:buAutoNum type="arabicPeriod"/>
            </a:pPr>
            <a:r>
              <a:rPr lang="en-US" dirty="0"/>
              <a:t>Your data cleaning and preprocessing steps</a:t>
            </a:r>
          </a:p>
          <a:p>
            <a:pPr marL="695325" lvl="1" indent="-238125">
              <a:buFont typeface="+mj-lt"/>
              <a:buAutoNum type="arabicPeriod"/>
            </a:pPr>
            <a:r>
              <a:rPr lang="en-US" dirty="0"/>
              <a:t>Your spatial design decisions (projection, geometry transformations,</a:t>
            </a:r>
            <a:br>
              <a:rPr lang="en-US" dirty="0"/>
            </a:br>
            <a:r>
              <a:rPr lang="en-US" dirty="0"/>
              <a:t>buffering logic, joins)</a:t>
            </a:r>
          </a:p>
          <a:p>
            <a:pPr marL="695325" lvl="1" indent="-238125">
              <a:buFont typeface="+mj-lt"/>
              <a:buAutoNum type="arabicPeriod"/>
            </a:pPr>
            <a:r>
              <a:rPr lang="en-US" dirty="0"/>
              <a:t>Your reasoning for analytical choices</a:t>
            </a:r>
          </a:p>
          <a:p>
            <a:pPr marL="0" indent="0">
              <a:buNone/>
            </a:pPr>
            <a:endParaRPr lang="en-US" sz="1800" dirty="0"/>
          </a:p>
          <a:p>
            <a:r>
              <a:rPr lang="en-US" sz="2000" dirty="0"/>
              <a:t>Use the tools we learned so far &gt;&gt; reproducibility and clarity are essential!</a:t>
            </a:r>
          </a:p>
        </p:txBody>
      </p:sp>
      <p:sp>
        <p:nvSpPr>
          <p:cNvPr id="4" name="Slide Number Placeholder 3">
            <a:extLst>
              <a:ext uri="{FF2B5EF4-FFF2-40B4-BE49-F238E27FC236}">
                <a16:creationId xmlns:a16="http://schemas.microsoft.com/office/drawing/2014/main" id="{37C7A33B-78EE-9C59-DE08-3B2B02B14697}"/>
              </a:ext>
            </a:extLst>
          </p:cNvPr>
          <p:cNvSpPr>
            <a:spLocks noGrp="1"/>
          </p:cNvSpPr>
          <p:nvPr>
            <p:ph type="sldNum" sz="quarter" idx="12"/>
          </p:nvPr>
        </p:nvSpPr>
        <p:spPr/>
        <p:txBody>
          <a:bodyPr/>
          <a:lstStyle/>
          <a:p>
            <a:fld id="{C0343C75-1924-D247-85A3-0CB62E67E5D1}" type="slidenum">
              <a:rPr lang="en-US" smtClean="0"/>
              <a:t>42</a:t>
            </a:fld>
            <a:endParaRPr lang="en-US"/>
          </a:p>
        </p:txBody>
      </p:sp>
    </p:spTree>
    <p:extLst>
      <p:ext uri="{BB962C8B-B14F-4D97-AF65-F5344CB8AC3E}">
        <p14:creationId xmlns:p14="http://schemas.microsoft.com/office/powerpoint/2010/main" val="14733646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1558C43-58F3-C3AE-F13B-408D84C93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F69E7E-2D22-1AA5-0E51-273EA1EBA73A}"/>
              </a:ext>
            </a:extLst>
          </p:cNvPr>
          <p:cNvSpPr>
            <a:spLocks noGrp="1"/>
          </p:cNvSpPr>
          <p:nvPr>
            <p:ph type="title"/>
          </p:nvPr>
        </p:nvSpPr>
        <p:spPr/>
        <p:txBody>
          <a:bodyPr/>
          <a:lstStyle/>
          <a:p>
            <a:r>
              <a:rPr lang="en-US" dirty="0"/>
              <a:t>Introductions</a:t>
            </a:r>
          </a:p>
        </p:txBody>
      </p:sp>
      <p:sp>
        <p:nvSpPr>
          <p:cNvPr id="3" name="Content Placeholder 2">
            <a:extLst>
              <a:ext uri="{FF2B5EF4-FFF2-40B4-BE49-F238E27FC236}">
                <a16:creationId xmlns:a16="http://schemas.microsoft.com/office/drawing/2014/main" id="{55968763-5C96-5A60-FBC9-C2AE496228CF}"/>
              </a:ext>
            </a:extLst>
          </p:cNvPr>
          <p:cNvSpPr>
            <a:spLocks noGrp="1"/>
          </p:cNvSpPr>
          <p:nvPr>
            <p:ph idx="1"/>
          </p:nvPr>
        </p:nvSpPr>
        <p:spPr>
          <a:xfrm>
            <a:off x="457200" y="1600517"/>
            <a:ext cx="8229600" cy="4572000"/>
          </a:xfrm>
        </p:spPr>
        <p:txBody>
          <a:bodyPr>
            <a:normAutofit/>
          </a:bodyPr>
          <a:lstStyle/>
          <a:p>
            <a:r>
              <a:rPr lang="en-US" sz="1800" dirty="0"/>
              <a:t>This assignment is </a:t>
            </a:r>
            <a:r>
              <a:rPr lang="en-US" sz="1800" i="1" dirty="0"/>
              <a:t>intentionally</a:t>
            </a:r>
            <a:r>
              <a:rPr lang="en-US" sz="1800" dirty="0"/>
              <a:t> designed with limited procedural instructions</a:t>
            </a:r>
          </a:p>
          <a:p>
            <a:pPr marL="457200" lvl="1" indent="0">
              <a:buNone/>
            </a:pPr>
            <a:r>
              <a:rPr lang="en-US" b="1" dirty="0">
                <a:solidFill>
                  <a:srgbClr val="002060"/>
                </a:solidFill>
              </a:rPr>
              <a:t>One of the primary objectives is for you to demonstrate how you plan, structure, and justify a spatial data engineering workflow</a:t>
            </a:r>
          </a:p>
          <a:p>
            <a:r>
              <a:rPr lang="en-US" sz="1800" dirty="0"/>
              <a:t>Grade will consider as much on analytical design decisions as on final outputs</a:t>
            </a:r>
          </a:p>
          <a:p>
            <a:r>
              <a:rPr lang="en-US" sz="1800" dirty="0"/>
              <a:t>Same data. Same base assignment. Different focus.</a:t>
            </a:r>
          </a:p>
          <a:p>
            <a:pPr lvl="1"/>
            <a:r>
              <a:rPr lang="en-US" dirty="0"/>
              <a:t>DAEN: Build the infrastructure for spatial analytics</a:t>
            </a:r>
          </a:p>
          <a:p>
            <a:pPr lvl="1"/>
            <a:r>
              <a:rPr lang="en-US" dirty="0"/>
              <a:t>ISEN: Evaluate the decision of spatial analytics</a:t>
            </a:r>
          </a:p>
          <a:p>
            <a:pPr lvl="1"/>
            <a:r>
              <a:rPr lang="en-US" dirty="0"/>
              <a:t>Shared Expectation: Design and justify a defensible spatial workflow</a:t>
            </a:r>
          </a:p>
          <a:p>
            <a:r>
              <a:rPr lang="en-US" sz="1800" dirty="0">
                <a:highlight>
                  <a:srgbClr val="FFFF00"/>
                </a:highlight>
              </a:rPr>
              <a:t>As you work on the assignment, please be prepared to explain and walk through your decisions if asked!</a:t>
            </a:r>
          </a:p>
          <a:p>
            <a:pPr lvl="1"/>
            <a:r>
              <a:rPr lang="en-US" dirty="0">
                <a:highlight>
                  <a:srgbClr val="FFFF00"/>
                </a:highlight>
              </a:rPr>
              <a:t>You should be able to clearly describe what you did and why</a:t>
            </a:r>
          </a:p>
          <a:p>
            <a:pPr lvl="1"/>
            <a:r>
              <a:rPr lang="en-US" dirty="0">
                <a:highlight>
                  <a:srgbClr val="FFFF00"/>
                </a:highlight>
              </a:rPr>
              <a:t>Make sure you truly understand your workflow and results</a:t>
            </a:r>
          </a:p>
        </p:txBody>
      </p:sp>
      <p:sp>
        <p:nvSpPr>
          <p:cNvPr id="4" name="Slide Number Placeholder 3">
            <a:extLst>
              <a:ext uri="{FF2B5EF4-FFF2-40B4-BE49-F238E27FC236}">
                <a16:creationId xmlns:a16="http://schemas.microsoft.com/office/drawing/2014/main" id="{3C539B41-D518-4965-E296-9192B0F702A2}"/>
              </a:ext>
            </a:extLst>
          </p:cNvPr>
          <p:cNvSpPr>
            <a:spLocks noGrp="1"/>
          </p:cNvSpPr>
          <p:nvPr>
            <p:ph type="sldNum" sz="quarter" idx="12"/>
          </p:nvPr>
        </p:nvSpPr>
        <p:spPr/>
        <p:txBody>
          <a:bodyPr/>
          <a:lstStyle/>
          <a:p>
            <a:fld id="{C0343C75-1924-D247-85A3-0CB62E67E5D1}" type="slidenum">
              <a:rPr lang="en-US" smtClean="0"/>
              <a:t>43</a:t>
            </a:fld>
            <a:endParaRPr lang="en-US"/>
          </a:p>
        </p:txBody>
      </p:sp>
    </p:spTree>
    <p:extLst>
      <p:ext uri="{BB962C8B-B14F-4D97-AF65-F5344CB8AC3E}">
        <p14:creationId xmlns:p14="http://schemas.microsoft.com/office/powerpoint/2010/main" val="13039970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600D2-6CB2-539B-90F2-C0D51A70F38C}"/>
              </a:ext>
            </a:extLst>
          </p:cNvPr>
          <p:cNvSpPr>
            <a:spLocks noGrp="1"/>
          </p:cNvSpPr>
          <p:nvPr>
            <p:ph type="title"/>
          </p:nvPr>
        </p:nvSpPr>
        <p:spPr/>
        <p:txBody>
          <a:bodyPr/>
          <a:lstStyle/>
          <a:p>
            <a:r>
              <a:rPr lang="en-US" dirty="0"/>
              <a:t>Part 1: Data Acquisition and Planning</a:t>
            </a:r>
          </a:p>
        </p:txBody>
      </p:sp>
      <p:sp>
        <p:nvSpPr>
          <p:cNvPr id="3" name="Content Placeholder 2">
            <a:extLst>
              <a:ext uri="{FF2B5EF4-FFF2-40B4-BE49-F238E27FC236}">
                <a16:creationId xmlns:a16="http://schemas.microsoft.com/office/drawing/2014/main" id="{FF79840D-CA1D-F665-383C-AC1F525F58B1}"/>
              </a:ext>
            </a:extLst>
          </p:cNvPr>
          <p:cNvSpPr>
            <a:spLocks noGrp="1"/>
          </p:cNvSpPr>
          <p:nvPr>
            <p:ph idx="1"/>
          </p:nvPr>
        </p:nvSpPr>
        <p:spPr>
          <a:xfrm>
            <a:off x="457199" y="1600516"/>
            <a:ext cx="8370711" cy="4755127"/>
          </a:xfrm>
        </p:spPr>
        <p:txBody>
          <a:bodyPr>
            <a:normAutofit fontScale="92500" lnSpcReduction="20000"/>
          </a:bodyPr>
          <a:lstStyle/>
          <a:p>
            <a:pPr marL="292100" indent="-292100">
              <a:buFont typeface="+mj-lt"/>
              <a:buAutoNum type="arabicPeriod"/>
            </a:pPr>
            <a:r>
              <a:rPr lang="en-US" dirty="0"/>
              <a:t>Obtain Brazos County Parcel Data </a:t>
            </a:r>
            <a:r>
              <a:rPr lang="en-US" sz="1700" dirty="0">
                <a:hlinkClick r:id="rId2"/>
              </a:rPr>
              <a:t>https://brazoscad.org/tax-information/gis/</a:t>
            </a:r>
            <a:endParaRPr lang="en-US" sz="1700" dirty="0"/>
          </a:p>
          <a:p>
            <a:pPr lvl="1"/>
            <a:r>
              <a:rPr lang="en-US" dirty="0"/>
              <a:t>Ensure the dataset includes:</a:t>
            </a:r>
          </a:p>
          <a:p>
            <a:pPr lvl="2"/>
            <a:r>
              <a:rPr lang="en-US" dirty="0"/>
              <a:t>Parcel geometry</a:t>
            </a:r>
          </a:p>
          <a:p>
            <a:pPr lvl="2"/>
            <a:r>
              <a:rPr lang="en-US" dirty="0"/>
              <a:t>Improvement value (or comparable building value metric)</a:t>
            </a:r>
          </a:p>
          <a:p>
            <a:pPr lvl="2"/>
            <a:r>
              <a:rPr lang="en-US" dirty="0"/>
              <a:t>Parcel identifier</a:t>
            </a:r>
          </a:p>
          <a:p>
            <a:pPr lvl="1"/>
            <a:r>
              <a:rPr lang="en-US" dirty="0"/>
              <a:t>Document:</a:t>
            </a:r>
          </a:p>
          <a:p>
            <a:pPr lvl="2"/>
            <a:r>
              <a:rPr lang="en-US" dirty="0"/>
              <a:t>Data source and format</a:t>
            </a:r>
          </a:p>
          <a:p>
            <a:pPr lvl="2"/>
            <a:r>
              <a:rPr lang="en-US" dirty="0"/>
              <a:t>Coordinate reference system (CRS)</a:t>
            </a:r>
          </a:p>
          <a:p>
            <a:pPr lvl="2"/>
            <a:r>
              <a:rPr lang="en-US" dirty="0"/>
              <a:t>Any missing or inconsistent fields</a:t>
            </a:r>
          </a:p>
          <a:p>
            <a:pPr marL="292100" indent="-292100">
              <a:buFont typeface="+mj-lt"/>
              <a:buAutoNum type="arabicPeriod"/>
            </a:pPr>
            <a:r>
              <a:rPr lang="en-US" dirty="0"/>
              <a:t>Transform Parcels to Points</a:t>
            </a:r>
          </a:p>
          <a:p>
            <a:pPr lvl="1"/>
            <a:r>
              <a:rPr lang="en-US" dirty="0"/>
              <a:t>Convert parcel polygons to point representations</a:t>
            </a:r>
          </a:p>
          <a:p>
            <a:pPr lvl="1"/>
            <a:r>
              <a:rPr lang="en-US" dirty="0"/>
              <a:t>Justify:</a:t>
            </a:r>
          </a:p>
          <a:p>
            <a:pPr lvl="2"/>
            <a:r>
              <a:rPr lang="en-US" dirty="0"/>
              <a:t>Whether you use centroids, interior points, or another approach</a:t>
            </a:r>
          </a:p>
          <a:p>
            <a:pPr lvl="2"/>
            <a:r>
              <a:rPr lang="en-US" dirty="0"/>
              <a:t>The implications of this choice for flood risk classification</a:t>
            </a:r>
          </a:p>
          <a:p>
            <a:pPr lvl="2"/>
            <a:r>
              <a:rPr lang="en-US" dirty="0"/>
              <a:t>Potential bias introduced by large or irregular parcels</a:t>
            </a:r>
          </a:p>
          <a:p>
            <a:pPr lvl="1"/>
            <a:r>
              <a:rPr lang="en-US" dirty="0"/>
              <a:t>Discuss:</a:t>
            </a:r>
          </a:p>
          <a:p>
            <a:pPr lvl="2"/>
            <a:r>
              <a:rPr lang="en-US" dirty="0"/>
              <a:t>What happens if a parcel intersects multiple flood zones?</a:t>
            </a:r>
          </a:p>
          <a:p>
            <a:pPr lvl="2"/>
            <a:r>
              <a:rPr lang="en-US" dirty="0"/>
              <a:t>Does a point representation simplify or distort risk classification?</a:t>
            </a:r>
          </a:p>
        </p:txBody>
      </p:sp>
      <p:sp>
        <p:nvSpPr>
          <p:cNvPr id="4" name="Slide Number Placeholder 3">
            <a:extLst>
              <a:ext uri="{FF2B5EF4-FFF2-40B4-BE49-F238E27FC236}">
                <a16:creationId xmlns:a16="http://schemas.microsoft.com/office/drawing/2014/main" id="{C7112E0A-2B75-CD4C-0D61-63E1EB83DAF5}"/>
              </a:ext>
            </a:extLst>
          </p:cNvPr>
          <p:cNvSpPr>
            <a:spLocks noGrp="1"/>
          </p:cNvSpPr>
          <p:nvPr>
            <p:ph type="sldNum" sz="quarter" idx="12"/>
          </p:nvPr>
        </p:nvSpPr>
        <p:spPr/>
        <p:txBody>
          <a:bodyPr/>
          <a:lstStyle/>
          <a:p>
            <a:fld id="{C0343C75-1924-D247-85A3-0CB62E67E5D1}" type="slidenum">
              <a:rPr lang="en-US" smtClean="0"/>
              <a:t>44</a:t>
            </a:fld>
            <a:endParaRPr lang="en-US"/>
          </a:p>
        </p:txBody>
      </p:sp>
    </p:spTree>
    <p:extLst>
      <p:ext uri="{BB962C8B-B14F-4D97-AF65-F5344CB8AC3E}">
        <p14:creationId xmlns:p14="http://schemas.microsoft.com/office/powerpoint/2010/main" val="3619820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9005D2D-46A7-23B0-6D45-502851D89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A7AC7-7E8D-7E9D-B079-AF7A8D6BDFA6}"/>
              </a:ext>
            </a:extLst>
          </p:cNvPr>
          <p:cNvSpPr>
            <a:spLocks noGrp="1"/>
          </p:cNvSpPr>
          <p:nvPr>
            <p:ph type="title"/>
          </p:nvPr>
        </p:nvSpPr>
        <p:spPr/>
        <p:txBody>
          <a:bodyPr/>
          <a:lstStyle/>
          <a:p>
            <a:r>
              <a:rPr lang="en-US" dirty="0"/>
              <a:t>Part 2: Flood Risk Engineering</a:t>
            </a:r>
          </a:p>
        </p:txBody>
      </p:sp>
      <p:sp>
        <p:nvSpPr>
          <p:cNvPr id="3" name="Content Placeholder 2">
            <a:extLst>
              <a:ext uri="{FF2B5EF4-FFF2-40B4-BE49-F238E27FC236}">
                <a16:creationId xmlns:a16="http://schemas.microsoft.com/office/drawing/2014/main" id="{5A8075A7-5B6E-797B-AA9C-836748B69CD3}"/>
              </a:ext>
            </a:extLst>
          </p:cNvPr>
          <p:cNvSpPr>
            <a:spLocks noGrp="1"/>
          </p:cNvSpPr>
          <p:nvPr>
            <p:ph idx="1"/>
          </p:nvPr>
        </p:nvSpPr>
        <p:spPr>
          <a:xfrm>
            <a:off x="457199" y="1600517"/>
            <a:ext cx="8461023" cy="4572000"/>
          </a:xfrm>
        </p:spPr>
        <p:txBody>
          <a:bodyPr>
            <a:normAutofit fontScale="92500" lnSpcReduction="10000"/>
          </a:bodyPr>
          <a:lstStyle/>
          <a:p>
            <a:pPr marL="292100" indent="-292100">
              <a:buFont typeface="+mj-lt"/>
              <a:buAutoNum type="arabicPeriod"/>
            </a:pPr>
            <a:r>
              <a:rPr lang="en-US" dirty="0"/>
              <a:t>Acquire FEMA flood hazard layer(s) for Brazos County</a:t>
            </a:r>
            <a:br>
              <a:rPr lang="en-US" dirty="0"/>
            </a:br>
            <a:r>
              <a:rPr lang="en-US" sz="1700" dirty="0">
                <a:hlinkClick r:id="rId2"/>
              </a:rPr>
              <a:t>https://floodmaps.fema.gov/NFHL/status.shtml</a:t>
            </a:r>
            <a:endParaRPr lang="en-US" sz="1700" dirty="0"/>
          </a:p>
          <a:p>
            <a:pPr lvl="1"/>
            <a:r>
              <a:rPr lang="en-US" dirty="0"/>
              <a:t>Document :</a:t>
            </a:r>
          </a:p>
          <a:p>
            <a:pPr lvl="2"/>
            <a:r>
              <a:rPr lang="en-US" dirty="0"/>
              <a:t>Dataset details, CRS, geometry type</a:t>
            </a:r>
          </a:p>
          <a:p>
            <a:pPr lvl="2"/>
            <a:r>
              <a:rPr lang="en-US" dirty="0"/>
              <a:t>Flood zone classification fields</a:t>
            </a:r>
          </a:p>
          <a:p>
            <a:pPr marL="292100" indent="-292100">
              <a:buFont typeface="+mj-lt"/>
              <a:buAutoNum type="arabicPeriod"/>
            </a:pPr>
            <a:r>
              <a:rPr lang="en-US" dirty="0"/>
              <a:t>Reclassify Floodplain Categories</a:t>
            </a:r>
          </a:p>
          <a:p>
            <a:pPr lvl="1"/>
            <a:r>
              <a:rPr lang="en-US" b="1" dirty="0">
                <a:solidFill>
                  <a:srgbClr val="C00000"/>
                </a:solidFill>
              </a:rPr>
              <a:t>Reclassify flood zones into 100-year,  500-year, or Outside floodplain</a:t>
            </a:r>
          </a:p>
          <a:p>
            <a:pPr lvl="1"/>
            <a:r>
              <a:rPr lang="en-US" dirty="0"/>
              <a:t>Define:</a:t>
            </a:r>
          </a:p>
          <a:p>
            <a:pPr lvl="2"/>
            <a:r>
              <a:rPr lang="en-US" dirty="0"/>
              <a:t>Which FEMA zone codes correspond to each category</a:t>
            </a:r>
          </a:p>
          <a:p>
            <a:pPr lvl="2"/>
            <a:r>
              <a:rPr lang="en-US" dirty="0"/>
              <a:t>How ambiguous or special zones are handled</a:t>
            </a:r>
          </a:p>
          <a:p>
            <a:pPr lvl="2"/>
            <a:r>
              <a:rPr lang="en-US" dirty="0"/>
              <a:t>Provide a reclassification table in your report</a:t>
            </a:r>
          </a:p>
          <a:p>
            <a:pPr marL="292100" indent="-292100">
              <a:buFont typeface="+mj-lt"/>
              <a:buAutoNum type="arabicPeriod"/>
            </a:pPr>
            <a:r>
              <a:rPr lang="en-US" dirty="0"/>
              <a:t>Assign a flood risk category to each parcel (</a:t>
            </a:r>
            <a:r>
              <a:rPr lang="en-US" i="1" dirty="0"/>
              <a:t>spatial join?</a:t>
            </a:r>
            <a:r>
              <a:rPr lang="en-US" dirty="0"/>
              <a:t>)</a:t>
            </a:r>
          </a:p>
          <a:p>
            <a:pPr lvl="1"/>
            <a:r>
              <a:rPr lang="en-US" dirty="0"/>
              <a:t>Should parcels be intersected as polygons?</a:t>
            </a:r>
          </a:p>
          <a:p>
            <a:pPr lvl="1"/>
            <a:r>
              <a:rPr lang="en-US" dirty="0"/>
              <a:t>Should parcels be converted to points first?</a:t>
            </a:r>
          </a:p>
          <a:p>
            <a:pPr lvl="1"/>
            <a:r>
              <a:rPr lang="en-US" dirty="0"/>
              <a:t>Does buffering make sense? If so, what should be buffered? Parcels or floodplain?</a:t>
            </a:r>
          </a:p>
          <a:p>
            <a:pPr lvl="1"/>
            <a:r>
              <a:rPr lang="en-US" dirty="0"/>
              <a:t>Why? Explain your approach</a:t>
            </a:r>
          </a:p>
        </p:txBody>
      </p:sp>
      <p:sp>
        <p:nvSpPr>
          <p:cNvPr id="4" name="Slide Number Placeholder 3">
            <a:extLst>
              <a:ext uri="{FF2B5EF4-FFF2-40B4-BE49-F238E27FC236}">
                <a16:creationId xmlns:a16="http://schemas.microsoft.com/office/drawing/2014/main" id="{C7995844-7AFD-F492-D61D-2B0BD1862C84}"/>
              </a:ext>
            </a:extLst>
          </p:cNvPr>
          <p:cNvSpPr>
            <a:spLocks noGrp="1"/>
          </p:cNvSpPr>
          <p:nvPr>
            <p:ph type="sldNum" sz="quarter" idx="12"/>
          </p:nvPr>
        </p:nvSpPr>
        <p:spPr/>
        <p:txBody>
          <a:bodyPr/>
          <a:lstStyle/>
          <a:p>
            <a:fld id="{C0343C75-1924-D247-85A3-0CB62E67E5D1}" type="slidenum">
              <a:rPr lang="en-US" smtClean="0"/>
              <a:t>45</a:t>
            </a:fld>
            <a:endParaRPr lang="en-US"/>
          </a:p>
        </p:txBody>
      </p:sp>
    </p:spTree>
    <p:extLst>
      <p:ext uri="{BB962C8B-B14F-4D97-AF65-F5344CB8AC3E}">
        <p14:creationId xmlns:p14="http://schemas.microsoft.com/office/powerpoint/2010/main" val="13305394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7C05-BD21-4884-F20B-94085BC881A0}"/>
              </a:ext>
            </a:extLst>
          </p:cNvPr>
          <p:cNvSpPr>
            <a:spLocks noGrp="1"/>
          </p:cNvSpPr>
          <p:nvPr>
            <p:ph type="title"/>
          </p:nvPr>
        </p:nvSpPr>
        <p:spPr/>
        <p:txBody>
          <a:bodyPr/>
          <a:lstStyle/>
          <a:p>
            <a:r>
              <a:rPr lang="en-US" dirty="0"/>
              <a:t>Part 3: Census Geography Integration</a:t>
            </a:r>
          </a:p>
        </p:txBody>
      </p:sp>
      <p:sp>
        <p:nvSpPr>
          <p:cNvPr id="3" name="Content Placeholder 2">
            <a:extLst>
              <a:ext uri="{FF2B5EF4-FFF2-40B4-BE49-F238E27FC236}">
                <a16:creationId xmlns:a16="http://schemas.microsoft.com/office/drawing/2014/main" id="{7286E491-A2DB-3936-7A4D-7C0A1E4533DD}"/>
              </a:ext>
            </a:extLst>
          </p:cNvPr>
          <p:cNvSpPr>
            <a:spLocks noGrp="1"/>
          </p:cNvSpPr>
          <p:nvPr>
            <p:ph idx="1"/>
          </p:nvPr>
        </p:nvSpPr>
        <p:spPr/>
        <p:txBody>
          <a:bodyPr>
            <a:normAutofit fontScale="92500" lnSpcReduction="10000"/>
          </a:bodyPr>
          <a:lstStyle/>
          <a:p>
            <a:pPr marL="292100" indent="-292100">
              <a:buFont typeface="+mj-lt"/>
              <a:buAutoNum type="arabicPeriod"/>
            </a:pPr>
            <a:r>
              <a:rPr lang="en-US" dirty="0"/>
              <a:t>Acquire county boundaries from the U.S. Census Bureau</a:t>
            </a:r>
            <a:br>
              <a:rPr lang="en-US" dirty="0"/>
            </a:br>
            <a:r>
              <a:rPr lang="en-US" sz="1700" dirty="0"/>
              <a:t>(e.g., </a:t>
            </a:r>
            <a:r>
              <a:rPr lang="en-US" sz="1700" dirty="0">
                <a:hlinkClick r:id="rId2"/>
              </a:rPr>
              <a:t>TIGER/Line</a:t>
            </a:r>
            <a:r>
              <a:rPr lang="en-US" sz="1700" dirty="0"/>
              <a:t> or </a:t>
            </a:r>
            <a:r>
              <a:rPr lang="en-US" sz="1700" dirty="0" err="1">
                <a:hlinkClick r:id="rId3"/>
              </a:rPr>
              <a:t>tigris</a:t>
            </a:r>
            <a:r>
              <a:rPr lang="en-US" sz="1700" dirty="0"/>
              <a:t> or </a:t>
            </a:r>
            <a:r>
              <a:rPr lang="en-US" sz="1700" dirty="0" err="1">
                <a:hlinkClick r:id="rId4"/>
              </a:rPr>
              <a:t>tidycensus</a:t>
            </a:r>
            <a:r>
              <a:rPr lang="en-US" sz="1700" dirty="0"/>
              <a:t>)</a:t>
            </a:r>
          </a:p>
          <a:p>
            <a:pPr lvl="1"/>
            <a:r>
              <a:rPr lang="en-US" dirty="0"/>
              <a:t>Check Brazos County geometry</a:t>
            </a:r>
          </a:p>
          <a:p>
            <a:pPr lvl="1"/>
            <a:r>
              <a:rPr lang="en-US" dirty="0"/>
              <a:t>Ensure CRS compatibility with other layers</a:t>
            </a:r>
          </a:p>
          <a:p>
            <a:pPr marL="292100" indent="-292100">
              <a:buFont typeface="+mj-lt"/>
              <a:buAutoNum type="arabicPeriod"/>
            </a:pPr>
            <a:r>
              <a:rPr lang="en-US" dirty="0"/>
              <a:t>Acquire Census "Places" boundaries</a:t>
            </a:r>
          </a:p>
          <a:p>
            <a:pPr lvl="1"/>
            <a:r>
              <a:rPr lang="en-US" dirty="0"/>
              <a:t>Document:</a:t>
            </a:r>
          </a:p>
          <a:p>
            <a:pPr lvl="2"/>
            <a:r>
              <a:rPr lang="en-US" dirty="0"/>
              <a:t>Definition of "place"</a:t>
            </a:r>
          </a:p>
          <a:p>
            <a:pPr lvl="2"/>
            <a:r>
              <a:rPr lang="en-US" dirty="0"/>
              <a:t>How incorporated and census-designated places differ (if relevant)</a:t>
            </a:r>
          </a:p>
          <a:p>
            <a:pPr marL="292100" indent="-292100">
              <a:buFont typeface="+mj-lt"/>
              <a:buAutoNum type="arabicPeriod"/>
            </a:pPr>
            <a:r>
              <a:rPr lang="en-US" dirty="0"/>
              <a:t>Assign Parcels to Places</a:t>
            </a:r>
          </a:p>
          <a:p>
            <a:pPr lvl="1"/>
            <a:r>
              <a:rPr lang="en-US" dirty="0"/>
              <a:t>Using a spatial join:</a:t>
            </a:r>
          </a:p>
          <a:p>
            <a:pPr lvl="2"/>
            <a:r>
              <a:rPr lang="en-US" dirty="0"/>
              <a:t>Assign each parcel to a Census Place</a:t>
            </a:r>
          </a:p>
          <a:p>
            <a:pPr lvl="2"/>
            <a:r>
              <a:rPr lang="en-US" dirty="0"/>
              <a:t>Then filter to include only Places located in Brazos County</a:t>
            </a:r>
          </a:p>
          <a:p>
            <a:pPr lvl="1"/>
            <a:r>
              <a:rPr lang="en-US" dirty="0"/>
              <a:t>Discuss:</a:t>
            </a:r>
          </a:p>
          <a:p>
            <a:pPr lvl="2"/>
            <a:r>
              <a:rPr lang="en-US" dirty="0"/>
              <a:t>How you handle parcels that fall outside any Place</a:t>
            </a:r>
          </a:p>
          <a:p>
            <a:pPr lvl="2"/>
            <a:r>
              <a:rPr lang="en-US" dirty="0"/>
              <a:t>Whether to rely on intersection or centroid containment</a:t>
            </a:r>
          </a:p>
        </p:txBody>
      </p:sp>
      <p:sp>
        <p:nvSpPr>
          <p:cNvPr id="4" name="Slide Number Placeholder 3">
            <a:extLst>
              <a:ext uri="{FF2B5EF4-FFF2-40B4-BE49-F238E27FC236}">
                <a16:creationId xmlns:a16="http://schemas.microsoft.com/office/drawing/2014/main" id="{56212412-2446-2314-B0D1-8A3B57330299}"/>
              </a:ext>
            </a:extLst>
          </p:cNvPr>
          <p:cNvSpPr>
            <a:spLocks noGrp="1"/>
          </p:cNvSpPr>
          <p:nvPr>
            <p:ph type="sldNum" sz="quarter" idx="12"/>
          </p:nvPr>
        </p:nvSpPr>
        <p:spPr/>
        <p:txBody>
          <a:bodyPr/>
          <a:lstStyle/>
          <a:p>
            <a:fld id="{C0343C75-1924-D247-85A3-0CB62E67E5D1}" type="slidenum">
              <a:rPr lang="en-US" smtClean="0"/>
              <a:t>46</a:t>
            </a:fld>
            <a:endParaRPr lang="en-US"/>
          </a:p>
        </p:txBody>
      </p:sp>
    </p:spTree>
    <p:extLst>
      <p:ext uri="{BB962C8B-B14F-4D97-AF65-F5344CB8AC3E}">
        <p14:creationId xmlns:p14="http://schemas.microsoft.com/office/powerpoint/2010/main" val="2499777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9F610B3-7ED1-AC55-4D40-879A93FB5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EC12E-4ACA-E6CB-9F71-10CEA7BC026A}"/>
              </a:ext>
            </a:extLst>
          </p:cNvPr>
          <p:cNvSpPr>
            <a:spLocks noGrp="1"/>
          </p:cNvSpPr>
          <p:nvPr>
            <p:ph type="title"/>
          </p:nvPr>
        </p:nvSpPr>
        <p:spPr/>
        <p:txBody>
          <a:bodyPr/>
          <a:lstStyle/>
          <a:p>
            <a:r>
              <a:rPr lang="en-US" dirty="0"/>
              <a:t>Part 4: Summary Statistics</a:t>
            </a:r>
          </a:p>
        </p:txBody>
      </p:sp>
      <p:sp>
        <p:nvSpPr>
          <p:cNvPr id="3" name="Content Placeholder 2">
            <a:extLst>
              <a:ext uri="{FF2B5EF4-FFF2-40B4-BE49-F238E27FC236}">
                <a16:creationId xmlns:a16="http://schemas.microsoft.com/office/drawing/2014/main" id="{C004449E-375C-95A9-494E-C23682E6BD14}"/>
              </a:ext>
            </a:extLst>
          </p:cNvPr>
          <p:cNvSpPr>
            <a:spLocks noGrp="1"/>
          </p:cNvSpPr>
          <p:nvPr>
            <p:ph idx="1"/>
          </p:nvPr>
        </p:nvSpPr>
        <p:spPr>
          <a:xfrm>
            <a:off x="457199" y="1600517"/>
            <a:ext cx="8370711" cy="4935750"/>
          </a:xfrm>
        </p:spPr>
        <p:txBody>
          <a:bodyPr>
            <a:normAutofit fontScale="85000" lnSpcReduction="20000"/>
          </a:bodyPr>
          <a:lstStyle/>
          <a:p>
            <a:r>
              <a:rPr lang="en-US" dirty="0"/>
              <a:t>After constructing the final parcel dataset with:</a:t>
            </a:r>
          </a:p>
          <a:p>
            <a:pPr lvl="1"/>
            <a:r>
              <a:rPr lang="en-US" dirty="0"/>
              <a:t>Flood risk classification + Place assignment + Improvement value</a:t>
            </a:r>
          </a:p>
          <a:p>
            <a:r>
              <a:rPr lang="en-US" dirty="0"/>
              <a:t>Produce the following summary statistics:</a:t>
            </a:r>
          </a:p>
          <a:p>
            <a:pPr lvl="1"/>
            <a:r>
              <a:rPr lang="en-US" b="1" dirty="0"/>
              <a:t>4.1 Parcel Counts</a:t>
            </a:r>
          </a:p>
          <a:p>
            <a:pPr lvl="2"/>
            <a:r>
              <a:rPr lang="en-US" dirty="0"/>
              <a:t>Total number of </a:t>
            </a:r>
            <a:r>
              <a:rPr lang="en-US" u="sng" dirty="0">
                <a:highlight>
                  <a:srgbClr val="FFFF00"/>
                </a:highlight>
              </a:rPr>
              <a:t>single-family</a:t>
            </a:r>
            <a:r>
              <a:rPr lang="en-US" dirty="0"/>
              <a:t> parcels in:</a:t>
            </a:r>
          </a:p>
          <a:p>
            <a:pPr lvl="3"/>
            <a:r>
              <a:rPr lang="en-US" dirty="0"/>
              <a:t>100-year floodplain, 500-year floodplain, Outside floodplain</a:t>
            </a:r>
          </a:p>
          <a:p>
            <a:pPr lvl="3"/>
            <a:r>
              <a:rPr lang="en-US" dirty="0"/>
              <a:t>In-risk vs out-of-risk totals (define clearly what qualifies as "at risk")</a:t>
            </a:r>
          </a:p>
          <a:p>
            <a:pPr lvl="1"/>
            <a:r>
              <a:rPr lang="en-US" b="1" dirty="0"/>
              <a:t>4.2 Improvement Value Comparisons</a:t>
            </a:r>
          </a:p>
          <a:p>
            <a:pPr lvl="2"/>
            <a:r>
              <a:rPr lang="en-US" dirty="0"/>
              <a:t>Compute average improvement value for parcels:</a:t>
            </a:r>
          </a:p>
          <a:p>
            <a:pPr lvl="3"/>
            <a:r>
              <a:rPr lang="en-US" dirty="0"/>
              <a:t>Inside flood risk areas and outside flood risk areas</a:t>
            </a:r>
          </a:p>
          <a:p>
            <a:pPr lvl="2"/>
            <a:r>
              <a:rPr lang="en-US" dirty="0"/>
              <a:t>Separate averages for 100-year vs 500-year zones</a:t>
            </a:r>
          </a:p>
          <a:p>
            <a:pPr lvl="3"/>
            <a:r>
              <a:rPr lang="en-US" dirty="0"/>
              <a:t>Median values and standard deviation</a:t>
            </a:r>
          </a:p>
          <a:p>
            <a:pPr lvl="1"/>
            <a:r>
              <a:rPr lang="en-US" b="1" dirty="0"/>
              <a:t>4.3 Possible questions to discuss:</a:t>
            </a:r>
          </a:p>
          <a:p>
            <a:pPr lvl="2"/>
            <a:r>
              <a:rPr lang="en-US" dirty="0"/>
              <a:t>Are differences economically meaningful?</a:t>
            </a:r>
          </a:p>
          <a:p>
            <a:pPr lvl="2"/>
            <a:r>
              <a:rPr lang="en-US" dirty="0"/>
              <a:t>Are there extreme values influencing the mean?</a:t>
            </a:r>
          </a:p>
          <a:p>
            <a:pPr lvl="2"/>
            <a:r>
              <a:rPr lang="en-US" dirty="0"/>
              <a:t>Would transformation (e.g., log values) be appropriate?</a:t>
            </a:r>
          </a:p>
          <a:p>
            <a:pPr lvl="2"/>
            <a:r>
              <a:rPr lang="en-US" dirty="0"/>
              <a:t>Also:</a:t>
            </a:r>
          </a:p>
          <a:p>
            <a:pPr lvl="3"/>
            <a:r>
              <a:rPr lang="en-US" dirty="0"/>
              <a:t>Any tradeoffs between computational efficiency and spatial precision.</a:t>
            </a:r>
          </a:p>
          <a:p>
            <a:pPr lvl="3"/>
            <a:r>
              <a:rPr lang="en-US" dirty="0"/>
              <a:t>Potential sources of misclassification, or assumptions that could affect conclusions.</a:t>
            </a:r>
          </a:p>
        </p:txBody>
      </p:sp>
      <p:sp>
        <p:nvSpPr>
          <p:cNvPr id="4" name="Slide Number Placeholder 3">
            <a:extLst>
              <a:ext uri="{FF2B5EF4-FFF2-40B4-BE49-F238E27FC236}">
                <a16:creationId xmlns:a16="http://schemas.microsoft.com/office/drawing/2014/main" id="{E573F364-3EBE-3A04-C1D5-E4C3B1046076}"/>
              </a:ext>
            </a:extLst>
          </p:cNvPr>
          <p:cNvSpPr>
            <a:spLocks noGrp="1"/>
          </p:cNvSpPr>
          <p:nvPr>
            <p:ph type="sldNum" sz="quarter" idx="12"/>
          </p:nvPr>
        </p:nvSpPr>
        <p:spPr/>
        <p:txBody>
          <a:bodyPr/>
          <a:lstStyle/>
          <a:p>
            <a:fld id="{C0343C75-1924-D247-85A3-0CB62E67E5D1}" type="slidenum">
              <a:rPr lang="en-US" smtClean="0"/>
              <a:t>47</a:t>
            </a:fld>
            <a:endParaRPr lang="en-US"/>
          </a:p>
        </p:txBody>
      </p:sp>
    </p:spTree>
    <p:extLst>
      <p:ext uri="{BB962C8B-B14F-4D97-AF65-F5344CB8AC3E}">
        <p14:creationId xmlns:p14="http://schemas.microsoft.com/office/powerpoint/2010/main" val="6881073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78F6F-0899-2D4D-F2B5-EBD529A9B561}"/>
              </a:ext>
            </a:extLst>
          </p:cNvPr>
          <p:cNvSpPr>
            <a:spLocks noGrp="1"/>
          </p:cNvSpPr>
          <p:nvPr>
            <p:ph type="title"/>
          </p:nvPr>
        </p:nvSpPr>
        <p:spPr/>
        <p:txBody>
          <a:bodyPr/>
          <a:lstStyle/>
          <a:p>
            <a:r>
              <a:rPr lang="en-US" dirty="0"/>
              <a:t>Deliverables</a:t>
            </a:r>
          </a:p>
        </p:txBody>
      </p:sp>
      <p:sp>
        <p:nvSpPr>
          <p:cNvPr id="3" name="Content Placeholder 2">
            <a:extLst>
              <a:ext uri="{FF2B5EF4-FFF2-40B4-BE49-F238E27FC236}">
                <a16:creationId xmlns:a16="http://schemas.microsoft.com/office/drawing/2014/main" id="{7582B7A7-3071-A199-95F8-DD5DAB918AC0}"/>
              </a:ext>
            </a:extLst>
          </p:cNvPr>
          <p:cNvSpPr>
            <a:spLocks noGrp="1"/>
          </p:cNvSpPr>
          <p:nvPr>
            <p:ph idx="1"/>
          </p:nvPr>
        </p:nvSpPr>
        <p:spPr/>
        <p:txBody>
          <a:bodyPr>
            <a:normAutofit/>
          </a:bodyPr>
          <a:lstStyle/>
          <a:p>
            <a:pPr marL="0" indent="0">
              <a:buNone/>
            </a:pPr>
            <a:r>
              <a:rPr lang="en-US" dirty="0"/>
              <a:t>Submit:</a:t>
            </a:r>
          </a:p>
          <a:p>
            <a:pPr marL="292100" indent="-292100">
              <a:buFont typeface="+mj-lt"/>
              <a:buAutoNum type="arabicPeriod"/>
            </a:pPr>
            <a:r>
              <a:rPr lang="en-US" dirty="0"/>
              <a:t>A reproducible script or notebook (R or Python)</a:t>
            </a:r>
          </a:p>
          <a:p>
            <a:pPr marL="292100" indent="-292100">
              <a:buFont typeface="+mj-lt"/>
              <a:buAutoNum type="arabicPeriod"/>
            </a:pPr>
            <a:r>
              <a:rPr lang="en-US" dirty="0"/>
              <a:t>A short technical report explaining:</a:t>
            </a:r>
          </a:p>
          <a:p>
            <a:pPr lvl="1"/>
            <a:r>
              <a:rPr lang="en-US" dirty="0"/>
              <a:t>Data sources</a:t>
            </a:r>
          </a:p>
          <a:p>
            <a:pPr lvl="1"/>
            <a:r>
              <a:rPr lang="en-US" dirty="0"/>
              <a:t>Workflow design</a:t>
            </a:r>
          </a:p>
          <a:p>
            <a:pPr lvl="1"/>
            <a:r>
              <a:rPr lang="en-US" dirty="0"/>
              <a:t>Key assumptions</a:t>
            </a:r>
          </a:p>
          <a:p>
            <a:pPr lvl="1"/>
            <a:r>
              <a:rPr lang="en-US" dirty="0"/>
              <a:t>Justification for spatial decisions</a:t>
            </a:r>
          </a:p>
          <a:p>
            <a:pPr lvl="1"/>
            <a:r>
              <a:rPr lang="en-US" dirty="0"/>
              <a:t>Interpretation / summary results (</a:t>
            </a:r>
            <a:r>
              <a:rPr lang="en-US" i="1" dirty="0"/>
              <a:t>i.e., the tables below</a:t>
            </a:r>
            <a:r>
              <a:rPr lang="en-US" dirty="0"/>
              <a:t>)</a:t>
            </a:r>
          </a:p>
          <a:p>
            <a:pPr marL="457200" lvl="1" indent="0">
              <a:buNone/>
            </a:pPr>
            <a:r>
              <a:rPr lang="en-US" dirty="0"/>
              <a:t>(4–5 pages recommended)</a:t>
            </a:r>
          </a:p>
          <a:p>
            <a:pPr marL="292100" indent="-292100">
              <a:buFont typeface="+mj-lt"/>
              <a:buAutoNum type="arabicPeriod"/>
            </a:pPr>
            <a:r>
              <a:rPr lang="en-US" dirty="0"/>
              <a:t>Tables of summary statistics</a:t>
            </a:r>
          </a:p>
          <a:p>
            <a:pPr marL="292100" indent="-292100">
              <a:buFont typeface="+mj-lt"/>
              <a:buAutoNum type="arabicPeriod"/>
            </a:pPr>
            <a:r>
              <a:rPr lang="en-US" dirty="0"/>
              <a:t>Final engineered dataset </a:t>
            </a:r>
            <a:r>
              <a:rPr lang="en-US" sz="1800" dirty="0"/>
              <a:t>(parcels with flood and place attributes)</a:t>
            </a:r>
            <a:endParaRPr lang="en-US" dirty="0"/>
          </a:p>
        </p:txBody>
      </p:sp>
      <p:sp>
        <p:nvSpPr>
          <p:cNvPr id="4" name="Slide Number Placeholder 3">
            <a:extLst>
              <a:ext uri="{FF2B5EF4-FFF2-40B4-BE49-F238E27FC236}">
                <a16:creationId xmlns:a16="http://schemas.microsoft.com/office/drawing/2014/main" id="{46959128-3257-A3A6-D9D0-FFFC7B95C3B3}"/>
              </a:ext>
            </a:extLst>
          </p:cNvPr>
          <p:cNvSpPr>
            <a:spLocks noGrp="1"/>
          </p:cNvSpPr>
          <p:nvPr>
            <p:ph type="sldNum" sz="quarter" idx="12"/>
          </p:nvPr>
        </p:nvSpPr>
        <p:spPr/>
        <p:txBody>
          <a:bodyPr/>
          <a:lstStyle/>
          <a:p>
            <a:fld id="{C0343C75-1924-D247-85A3-0CB62E67E5D1}" type="slidenum">
              <a:rPr lang="en-US" smtClean="0"/>
              <a:t>48</a:t>
            </a:fld>
            <a:endParaRPr lang="en-US"/>
          </a:p>
        </p:txBody>
      </p:sp>
    </p:spTree>
    <p:extLst>
      <p:ext uri="{BB962C8B-B14F-4D97-AF65-F5344CB8AC3E}">
        <p14:creationId xmlns:p14="http://schemas.microsoft.com/office/powerpoint/2010/main" val="9797090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40270-CAFD-DFFE-2D06-119A7918FBEB}"/>
              </a:ext>
            </a:extLst>
          </p:cNvPr>
          <p:cNvSpPr>
            <a:spLocks noGrp="1"/>
          </p:cNvSpPr>
          <p:nvPr>
            <p:ph type="title"/>
          </p:nvPr>
        </p:nvSpPr>
        <p:spPr/>
        <p:txBody>
          <a:bodyPr/>
          <a:lstStyle/>
          <a:p>
            <a:r>
              <a:rPr lang="en-US" dirty="0"/>
              <a:t>Question to Practice</a:t>
            </a:r>
          </a:p>
        </p:txBody>
      </p:sp>
      <p:sp>
        <p:nvSpPr>
          <p:cNvPr id="3" name="Content Placeholder 2">
            <a:extLst>
              <a:ext uri="{FF2B5EF4-FFF2-40B4-BE49-F238E27FC236}">
                <a16:creationId xmlns:a16="http://schemas.microsoft.com/office/drawing/2014/main" id="{F6FE1303-D70F-6CD4-98B4-7C53AA4D7D7D}"/>
              </a:ext>
            </a:extLst>
          </p:cNvPr>
          <p:cNvSpPr>
            <a:spLocks noGrp="1"/>
          </p:cNvSpPr>
          <p:nvPr>
            <p:ph idx="1"/>
          </p:nvPr>
        </p:nvSpPr>
        <p:spPr/>
        <p:txBody>
          <a:bodyPr>
            <a:normAutofit/>
          </a:bodyPr>
          <a:lstStyle/>
          <a:p>
            <a:pPr marL="288925" indent="-288925">
              <a:buFont typeface="+mj-lt"/>
              <a:buAutoNum type="arabicPeriod"/>
            </a:pPr>
            <a:r>
              <a:rPr lang="en-US" sz="1800" dirty="0"/>
              <a:t>Why is selecting an appropriate projected CRS important when performing buffering or area-based spatial operations? </a:t>
            </a:r>
          </a:p>
          <a:p>
            <a:pPr marL="288925" indent="-288925">
              <a:buFont typeface="+mj-lt"/>
              <a:buAutoNum type="arabicPeriod"/>
            </a:pPr>
            <a:r>
              <a:rPr lang="en-US" sz="1800" dirty="0"/>
              <a:t>When assigning flood risk to parcels, what is the primary tradeoff between using parcel centroids versus full parcel polygons?</a:t>
            </a:r>
          </a:p>
          <a:p>
            <a:pPr marL="0" indent="0">
              <a:buNone/>
            </a:pPr>
            <a:r>
              <a:rPr lang="en-US" sz="1800" i="1" dirty="0"/>
              <a:t>Discuss</a:t>
            </a:r>
            <a:r>
              <a:rPr lang="en-US" sz="1800" dirty="0"/>
              <a:t>:</a:t>
            </a:r>
          </a:p>
          <a:p>
            <a:pPr marL="288925" indent="-288925">
              <a:buFont typeface="+mj-lt"/>
              <a:buAutoNum type="arabicPeriod" startAt="3"/>
            </a:pPr>
            <a:r>
              <a:rPr lang="en-US" sz="1800" dirty="0"/>
              <a:t>Under what circumstances would buffering floodplain polygons make sense? Data misalignment? Vertical vs horizontal uncertainty? Policy-driven safety margins? When might buffering introduce bias?</a:t>
            </a:r>
          </a:p>
          <a:p>
            <a:pPr marL="288925" indent="-288925">
              <a:buFont typeface="+mj-lt"/>
              <a:buAutoNum type="arabicPeriod" startAt="3"/>
            </a:pPr>
            <a:r>
              <a:rPr lang="en-US" sz="1800" dirty="0"/>
              <a:t>When reclassifying detailed FEMA flood zones into 100-year and 500-year categories: What information is lost? When is aggregation justified? Could collapsing categories hide meaningful differences in risk?</a:t>
            </a:r>
          </a:p>
          <a:p>
            <a:pPr marL="288925" indent="-288925">
              <a:buFont typeface="+mj-lt"/>
              <a:buAutoNum type="arabicPeriod" startAt="3"/>
            </a:pPr>
            <a:r>
              <a:rPr lang="en-US" sz="1800" dirty="0"/>
              <a:t>Suppose average improvement value is higher outside flood risk areas. Does this imply flood risk reduces property value? What confounding factors might exist (e.g., land use, zoning, development age)? Would median be more appropriate than mean? Why?</a:t>
            </a:r>
          </a:p>
        </p:txBody>
      </p:sp>
      <p:sp>
        <p:nvSpPr>
          <p:cNvPr id="4" name="Slide Number Placeholder 3">
            <a:extLst>
              <a:ext uri="{FF2B5EF4-FFF2-40B4-BE49-F238E27FC236}">
                <a16:creationId xmlns:a16="http://schemas.microsoft.com/office/drawing/2014/main" id="{98FEC5F5-7434-032F-157D-EBB540515638}"/>
              </a:ext>
            </a:extLst>
          </p:cNvPr>
          <p:cNvSpPr>
            <a:spLocks noGrp="1"/>
          </p:cNvSpPr>
          <p:nvPr>
            <p:ph type="sldNum" sz="quarter" idx="12"/>
          </p:nvPr>
        </p:nvSpPr>
        <p:spPr/>
        <p:txBody>
          <a:bodyPr/>
          <a:lstStyle/>
          <a:p>
            <a:fld id="{C0343C75-1924-D247-85A3-0CB62E67E5D1}" type="slidenum">
              <a:rPr lang="en-US" smtClean="0"/>
              <a:t>49</a:t>
            </a:fld>
            <a:endParaRPr lang="en-US"/>
          </a:p>
        </p:txBody>
      </p:sp>
    </p:spTree>
    <p:extLst>
      <p:ext uri="{BB962C8B-B14F-4D97-AF65-F5344CB8AC3E}">
        <p14:creationId xmlns:p14="http://schemas.microsoft.com/office/powerpoint/2010/main" val="22555856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D7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2D137-125B-F186-45B9-355CFB7B1DD1}"/>
              </a:ext>
            </a:extLst>
          </p:cNvPr>
          <p:cNvSpPr>
            <a:spLocks noGrp="1"/>
          </p:cNvSpPr>
          <p:nvPr>
            <p:ph type="title"/>
          </p:nvPr>
        </p:nvSpPr>
        <p:spPr/>
        <p:txBody>
          <a:bodyPr/>
          <a:lstStyle/>
          <a:p>
            <a:r>
              <a:rPr lang="en-US" dirty="0">
                <a:solidFill>
                  <a:srgbClr val="C00000"/>
                </a:solidFill>
              </a:rPr>
              <a:t>Hints</a:t>
            </a:r>
          </a:p>
        </p:txBody>
      </p:sp>
      <p:sp>
        <p:nvSpPr>
          <p:cNvPr id="3" name="Content Placeholder 2">
            <a:extLst>
              <a:ext uri="{FF2B5EF4-FFF2-40B4-BE49-F238E27FC236}">
                <a16:creationId xmlns:a16="http://schemas.microsoft.com/office/drawing/2014/main" id="{2B414A8A-B1A6-9FB4-6D86-EBE5C6CB8A06}"/>
              </a:ext>
            </a:extLst>
          </p:cNvPr>
          <p:cNvSpPr>
            <a:spLocks noGrp="1"/>
          </p:cNvSpPr>
          <p:nvPr>
            <p:ph idx="1"/>
          </p:nvPr>
        </p:nvSpPr>
        <p:spPr/>
        <p:txBody>
          <a:bodyPr>
            <a:normAutofit fontScale="85000" lnSpcReduction="20000"/>
          </a:bodyPr>
          <a:lstStyle/>
          <a:p>
            <a:r>
              <a:rPr lang="en-US" dirty="0"/>
              <a:t>Before you begin the assignment, take time to prepare your work and structure your workflow thoughtfully.</a:t>
            </a:r>
          </a:p>
          <a:p>
            <a:r>
              <a:rPr lang="en-US" dirty="0"/>
              <a:t>Strong data engineering is rarely about writing code immediately, it is about designing a clear, efficient, and reproducible process.</a:t>
            </a:r>
          </a:p>
          <a:p>
            <a:endParaRPr lang="en-US" dirty="0"/>
          </a:p>
          <a:p>
            <a:pPr marL="457200" indent="-457200">
              <a:buAutoNum type="arabicPeriod"/>
            </a:pPr>
            <a:r>
              <a:rPr lang="en-US" dirty="0"/>
              <a:t>Clarify the objective first (draw a simple diagram of your data flow)</a:t>
            </a:r>
          </a:p>
          <a:p>
            <a:pPr marL="457200" indent="-457200">
              <a:buAutoNum type="arabicPeriod"/>
            </a:pPr>
            <a:r>
              <a:rPr lang="en-US" dirty="0"/>
              <a:t>Sketch the pipeline before coding (think in terms of stages)</a:t>
            </a:r>
          </a:p>
          <a:p>
            <a:pPr marL="457200" indent="-457200">
              <a:buAutoNum type="arabicPeriod"/>
            </a:pPr>
            <a:r>
              <a:rPr lang="en-US" dirty="0"/>
              <a:t>Break the assignment into modular components</a:t>
            </a:r>
            <a:br>
              <a:rPr lang="en-US" dirty="0"/>
            </a:br>
            <a:r>
              <a:rPr lang="en-US" sz="1600" dirty="0"/>
              <a:t>(be explicit about: schema, column names, types, constraints, expected formats, null handling rules, naming conventions)</a:t>
            </a:r>
          </a:p>
          <a:p>
            <a:pPr marL="457200" indent="-457200">
              <a:buAutoNum type="arabicPeriod"/>
            </a:pPr>
            <a:r>
              <a:rPr lang="en-US" dirty="0"/>
              <a:t>Define your data contracts early</a:t>
            </a:r>
          </a:p>
          <a:p>
            <a:pPr marL="457200" indent="-457200">
              <a:buAutoNum type="arabicPeriod"/>
            </a:pPr>
            <a:r>
              <a:rPr lang="en-US" dirty="0"/>
              <a:t>Plan for reproducibility</a:t>
            </a:r>
          </a:p>
          <a:p>
            <a:pPr marL="457200" indent="-457200">
              <a:buAutoNum type="arabicPeriod"/>
            </a:pPr>
            <a:r>
              <a:rPr lang="en-US" dirty="0"/>
              <a:t>Anticipate "edge cases" and data quality issues (as possible)</a:t>
            </a:r>
          </a:p>
          <a:p>
            <a:pPr marL="457200" indent="-457200">
              <a:buAutoNum type="arabicPeriod"/>
            </a:pPr>
            <a:r>
              <a:rPr lang="en-US" dirty="0"/>
              <a:t>Think about performance and scale (even if the dataset is small)</a:t>
            </a:r>
          </a:p>
          <a:p>
            <a:pPr marL="457200" indent="-457200">
              <a:buAutoNum type="arabicPeriod"/>
            </a:pPr>
            <a:r>
              <a:rPr lang="en-US" dirty="0"/>
              <a:t>Version your thinking, not just your code (keep notes on design decisions)</a:t>
            </a:r>
          </a:p>
          <a:p>
            <a:pPr marL="457200" indent="-457200">
              <a:buAutoNum type="arabicPeriod"/>
            </a:pPr>
            <a:endParaRPr lang="en-US" dirty="0"/>
          </a:p>
        </p:txBody>
      </p:sp>
      <p:sp>
        <p:nvSpPr>
          <p:cNvPr id="4" name="Slide Number Placeholder 3">
            <a:extLst>
              <a:ext uri="{FF2B5EF4-FFF2-40B4-BE49-F238E27FC236}">
                <a16:creationId xmlns:a16="http://schemas.microsoft.com/office/drawing/2014/main" id="{6751BE56-C9E1-F12F-5E85-3C2103D5E525}"/>
              </a:ext>
            </a:extLst>
          </p:cNvPr>
          <p:cNvSpPr>
            <a:spLocks noGrp="1"/>
          </p:cNvSpPr>
          <p:nvPr>
            <p:ph type="sldNum" sz="quarter" idx="12"/>
          </p:nvPr>
        </p:nvSpPr>
        <p:spPr/>
        <p:txBody>
          <a:bodyPr/>
          <a:lstStyle/>
          <a:p>
            <a:fld id="{C0343C75-1924-D247-85A3-0CB62E67E5D1}" type="slidenum">
              <a:rPr lang="en-US" smtClean="0"/>
              <a:t>50</a:t>
            </a:fld>
            <a:endParaRPr lang="en-US"/>
          </a:p>
        </p:txBody>
      </p:sp>
    </p:spTree>
    <p:extLst>
      <p:ext uri="{BB962C8B-B14F-4D97-AF65-F5344CB8AC3E}">
        <p14:creationId xmlns:p14="http://schemas.microsoft.com/office/powerpoint/2010/main" val="2956567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EA0EF-D327-BE89-4FC4-1964EC67B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D23E7-AA17-7D59-E4D0-7A0468B4B33C}"/>
              </a:ext>
            </a:extLst>
          </p:cNvPr>
          <p:cNvSpPr>
            <a:spLocks noGrp="1"/>
          </p:cNvSpPr>
          <p:nvPr>
            <p:ph type="title"/>
          </p:nvPr>
        </p:nvSpPr>
        <p:spPr/>
        <p:txBody>
          <a:bodyPr/>
          <a:lstStyle/>
          <a:p>
            <a:r>
              <a:rPr lang="en-US" dirty="0">
                <a:solidFill>
                  <a:srgbClr val="C00000"/>
                </a:solidFill>
              </a:rPr>
              <a:t>Possible Reclassification</a:t>
            </a:r>
          </a:p>
        </p:txBody>
      </p:sp>
      <p:sp>
        <p:nvSpPr>
          <p:cNvPr id="4" name="Slide Number Placeholder 3">
            <a:extLst>
              <a:ext uri="{FF2B5EF4-FFF2-40B4-BE49-F238E27FC236}">
                <a16:creationId xmlns:a16="http://schemas.microsoft.com/office/drawing/2014/main" id="{5FA4C0A2-E14C-3138-5B5D-3A91AFB0269E}"/>
              </a:ext>
            </a:extLst>
          </p:cNvPr>
          <p:cNvSpPr>
            <a:spLocks noGrp="1"/>
          </p:cNvSpPr>
          <p:nvPr>
            <p:ph type="sldNum" sz="quarter" idx="12"/>
          </p:nvPr>
        </p:nvSpPr>
        <p:spPr/>
        <p:txBody>
          <a:bodyPr/>
          <a:lstStyle/>
          <a:p>
            <a:fld id="{C0343C75-1924-D247-85A3-0CB62E67E5D1}" type="slidenum">
              <a:rPr lang="en-US" smtClean="0"/>
              <a:t>51</a:t>
            </a:fld>
            <a:endParaRPr lang="en-US"/>
          </a:p>
        </p:txBody>
      </p:sp>
      <p:pic>
        <p:nvPicPr>
          <p:cNvPr id="6" name="Content Placeholder 5">
            <a:extLst>
              <a:ext uri="{FF2B5EF4-FFF2-40B4-BE49-F238E27FC236}">
                <a16:creationId xmlns:a16="http://schemas.microsoft.com/office/drawing/2014/main" id="{1500BC26-C077-34B7-F12B-9DA33E23C1EB}"/>
              </a:ext>
            </a:extLst>
          </p:cNvPr>
          <p:cNvPicPr>
            <a:picLocks noGrp="1" noChangeAspect="1"/>
          </p:cNvPicPr>
          <p:nvPr>
            <p:ph idx="1"/>
          </p:nvPr>
        </p:nvPicPr>
        <p:blipFill>
          <a:blip r:embed="rId2"/>
          <a:stretch>
            <a:fillRect/>
          </a:stretch>
        </p:blipFill>
        <p:spPr>
          <a:xfrm>
            <a:off x="457200" y="1416684"/>
            <a:ext cx="8229600" cy="1609514"/>
          </a:xfrm>
          <a:prstGeom prst="rect">
            <a:avLst/>
          </a:prstGeom>
        </p:spPr>
      </p:pic>
      <p:sp>
        <p:nvSpPr>
          <p:cNvPr id="7" name="TextBox 6">
            <a:extLst>
              <a:ext uri="{FF2B5EF4-FFF2-40B4-BE49-F238E27FC236}">
                <a16:creationId xmlns:a16="http://schemas.microsoft.com/office/drawing/2014/main" id="{DBF38B8E-19D4-4F92-DB6A-9887483C6E01}"/>
              </a:ext>
            </a:extLst>
          </p:cNvPr>
          <p:cNvSpPr txBox="1"/>
          <p:nvPr/>
        </p:nvSpPr>
        <p:spPr>
          <a:xfrm>
            <a:off x="457200" y="3167390"/>
            <a:ext cx="6401111" cy="584775"/>
          </a:xfrm>
          <a:prstGeom prst="rect">
            <a:avLst/>
          </a:prstGeom>
          <a:noFill/>
        </p:spPr>
        <p:txBody>
          <a:bodyPr wrap="none" rtlCol="0">
            <a:spAutoFit/>
          </a:bodyPr>
          <a:lstStyle/>
          <a:p>
            <a:r>
              <a:rPr lang="en-US" sz="1600" dirty="0"/>
              <a:t>Possible to find a lot of sources referring ultimately to FEMA … such as:</a:t>
            </a:r>
          </a:p>
          <a:p>
            <a:r>
              <a:rPr lang="en-US" sz="1600" dirty="0"/>
              <a:t>NFHL: </a:t>
            </a:r>
            <a:r>
              <a:rPr lang="en-US" sz="1600" dirty="0">
                <a:hlinkClick r:id="rId3"/>
              </a:rPr>
              <a:t>http://www.floodmaps.com/zones.htm</a:t>
            </a:r>
            <a:endParaRPr lang="en-US" sz="1600" dirty="0"/>
          </a:p>
        </p:txBody>
      </p:sp>
      <p:pic>
        <p:nvPicPr>
          <p:cNvPr id="8" name="Picture 7">
            <a:extLst>
              <a:ext uri="{FF2B5EF4-FFF2-40B4-BE49-F238E27FC236}">
                <a16:creationId xmlns:a16="http://schemas.microsoft.com/office/drawing/2014/main" id="{77F31473-AA8F-6E69-97F8-F05C356B1226}"/>
              </a:ext>
            </a:extLst>
          </p:cNvPr>
          <p:cNvPicPr>
            <a:picLocks noChangeAspect="1"/>
          </p:cNvPicPr>
          <p:nvPr/>
        </p:nvPicPr>
        <p:blipFill>
          <a:blip r:embed="rId4"/>
          <a:srcRect r="9702" b="58537"/>
          <a:stretch>
            <a:fillRect/>
          </a:stretch>
        </p:blipFill>
        <p:spPr>
          <a:xfrm>
            <a:off x="1867163" y="3911258"/>
            <a:ext cx="5409674" cy="2286000"/>
          </a:xfrm>
          <a:prstGeom prst="rect">
            <a:avLst/>
          </a:prstGeom>
        </p:spPr>
      </p:pic>
    </p:spTree>
    <p:extLst>
      <p:ext uri="{BB962C8B-B14F-4D97-AF65-F5344CB8AC3E}">
        <p14:creationId xmlns:p14="http://schemas.microsoft.com/office/powerpoint/2010/main" val="2762565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52BAF3-98FD-34A2-D90D-A737C7DF9E57}"/>
              </a:ext>
            </a:extLst>
          </p:cNvPr>
          <p:cNvSpPr>
            <a:spLocks noGrp="1"/>
          </p:cNvSpPr>
          <p:nvPr>
            <p:ph type="sldNum" sz="quarter" idx="12"/>
          </p:nvPr>
        </p:nvSpPr>
        <p:spPr/>
        <p:txBody>
          <a:bodyPr/>
          <a:lstStyle/>
          <a:p>
            <a:fld id="{C0343C75-1924-D247-85A3-0CB62E67E5D1}" type="slidenum">
              <a:rPr lang="en-US" smtClean="0"/>
              <a:t>52</a:t>
            </a:fld>
            <a:endParaRPr lang="en-US"/>
          </a:p>
        </p:txBody>
      </p:sp>
      <p:pic>
        <p:nvPicPr>
          <p:cNvPr id="3" name="Picture 2">
            <a:extLst>
              <a:ext uri="{FF2B5EF4-FFF2-40B4-BE49-F238E27FC236}">
                <a16:creationId xmlns:a16="http://schemas.microsoft.com/office/drawing/2014/main" id="{A1F10260-E152-C4ED-B2D8-82FFDDA2EB37}"/>
              </a:ext>
            </a:extLst>
          </p:cNvPr>
          <p:cNvPicPr>
            <a:picLocks noChangeAspect="1"/>
          </p:cNvPicPr>
          <p:nvPr/>
        </p:nvPicPr>
        <p:blipFill>
          <a:blip r:embed="rId2"/>
          <a:stretch>
            <a:fillRect/>
          </a:stretch>
        </p:blipFill>
        <p:spPr>
          <a:xfrm>
            <a:off x="274320" y="916406"/>
            <a:ext cx="8412480" cy="4495701"/>
          </a:xfrm>
          <a:prstGeom prst="rect">
            <a:avLst/>
          </a:prstGeom>
        </p:spPr>
      </p:pic>
    </p:spTree>
    <p:extLst>
      <p:ext uri="{BB962C8B-B14F-4D97-AF65-F5344CB8AC3E}">
        <p14:creationId xmlns:p14="http://schemas.microsoft.com/office/powerpoint/2010/main" val="27760835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8F36FC-6C51-ED13-C32A-B2EC399F153E}"/>
              </a:ext>
            </a:extLst>
          </p:cNvPr>
          <p:cNvSpPr>
            <a:spLocks noGrp="1"/>
          </p:cNvSpPr>
          <p:nvPr>
            <p:ph type="sldNum" sz="quarter" idx="12"/>
          </p:nvPr>
        </p:nvSpPr>
        <p:spPr/>
        <p:txBody>
          <a:bodyPr/>
          <a:lstStyle/>
          <a:p>
            <a:fld id="{C0343C75-1924-D247-85A3-0CB62E67E5D1}" type="slidenum">
              <a:rPr lang="en-US" smtClean="0"/>
              <a:t>53</a:t>
            </a:fld>
            <a:endParaRPr lang="en-US"/>
          </a:p>
        </p:txBody>
      </p:sp>
      <p:pic>
        <p:nvPicPr>
          <p:cNvPr id="5" name="Content Placeholder 3">
            <a:extLst>
              <a:ext uri="{FF2B5EF4-FFF2-40B4-BE49-F238E27FC236}">
                <a16:creationId xmlns:a16="http://schemas.microsoft.com/office/drawing/2014/main" id="{9402A80C-DC08-593B-9AD1-7BC57C81C752}"/>
              </a:ext>
            </a:extLst>
          </p:cNvPr>
          <p:cNvPicPr>
            <a:picLocks noChangeAspect="1"/>
          </p:cNvPicPr>
          <p:nvPr/>
        </p:nvPicPr>
        <p:blipFill rotWithShape="1">
          <a:blip r:embed="rId2"/>
          <a:srcRect b="54079"/>
          <a:stretch/>
        </p:blipFill>
        <p:spPr>
          <a:xfrm>
            <a:off x="0" y="637164"/>
            <a:ext cx="4461321" cy="6016117"/>
          </a:xfrm>
          <a:prstGeom prst="rect">
            <a:avLst/>
          </a:prstGeom>
        </p:spPr>
      </p:pic>
      <p:pic>
        <p:nvPicPr>
          <p:cNvPr id="6" name="Content Placeholder 3">
            <a:extLst>
              <a:ext uri="{FF2B5EF4-FFF2-40B4-BE49-F238E27FC236}">
                <a16:creationId xmlns:a16="http://schemas.microsoft.com/office/drawing/2014/main" id="{DF31314E-E622-21F1-8DC9-408A613A0467}"/>
              </a:ext>
            </a:extLst>
          </p:cNvPr>
          <p:cNvPicPr>
            <a:picLocks noChangeAspect="1"/>
          </p:cNvPicPr>
          <p:nvPr/>
        </p:nvPicPr>
        <p:blipFill rotWithShape="1">
          <a:blip r:embed="rId2"/>
          <a:srcRect t="45878"/>
          <a:stretch/>
        </p:blipFill>
        <p:spPr>
          <a:xfrm>
            <a:off x="4991982" y="136524"/>
            <a:ext cx="3995482" cy="6350131"/>
          </a:xfrm>
          <a:prstGeom prst="rect">
            <a:avLst/>
          </a:prstGeom>
        </p:spPr>
      </p:pic>
      <p:cxnSp>
        <p:nvCxnSpPr>
          <p:cNvPr id="7" name="Curved Connector 6">
            <a:extLst>
              <a:ext uri="{FF2B5EF4-FFF2-40B4-BE49-F238E27FC236}">
                <a16:creationId xmlns:a16="http://schemas.microsoft.com/office/drawing/2014/main" id="{E0E0904F-0E90-D8E0-835A-F9F141EF9BA6}"/>
              </a:ext>
            </a:extLst>
          </p:cNvPr>
          <p:cNvCxnSpPr>
            <a:cxnSpLocks/>
          </p:cNvCxnSpPr>
          <p:nvPr/>
        </p:nvCxnSpPr>
        <p:spPr>
          <a:xfrm rot="5400000" flipH="1" flipV="1">
            <a:off x="1160709" y="2222085"/>
            <a:ext cx="6516756" cy="2345635"/>
          </a:xfrm>
          <a:prstGeom prst="curvedConnector3">
            <a:avLst>
              <a:gd name="adj1" fmla="val 100025"/>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23719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4130CB1-2E27-F1D3-9F8F-226101501421}"/>
              </a:ext>
            </a:extLst>
          </p:cNvPr>
          <p:cNvSpPr>
            <a:spLocks noGrp="1"/>
          </p:cNvSpPr>
          <p:nvPr>
            <p:ph sz="half" idx="2"/>
          </p:nvPr>
        </p:nvSpPr>
        <p:spPr>
          <a:xfrm>
            <a:off x="457200" y="360608"/>
            <a:ext cx="8229600" cy="5995743"/>
          </a:xfrm>
        </p:spPr>
        <p:txBody>
          <a:bodyPr>
            <a:normAutofit fontScale="62500" lnSpcReduction="20000"/>
          </a:bodyPr>
          <a:lstStyle/>
          <a:p>
            <a:pPr>
              <a:spcBef>
                <a:spcPts val="0"/>
              </a:spcBef>
            </a:pPr>
            <a:r>
              <a:rPr lang="en-US" dirty="0">
                <a:solidFill>
                  <a:srgbClr val="FF0000"/>
                </a:solidFill>
                <a:highlight>
                  <a:srgbClr val="FFFF00"/>
                </a:highlight>
              </a:rPr>
              <a:t># FLOODPLAIN RECLASSIFICATION EXAMPLE</a:t>
            </a:r>
          </a:p>
          <a:p>
            <a:pPr>
              <a:spcBef>
                <a:spcPts val="0"/>
              </a:spcBef>
            </a:pPr>
            <a:endParaRPr lang="en-US" dirty="0"/>
          </a:p>
          <a:p>
            <a:pPr>
              <a:spcBef>
                <a:spcPts val="0"/>
              </a:spcBef>
            </a:pPr>
            <a:r>
              <a:rPr lang="en-US" dirty="0"/>
              <a:t>library(sf)</a:t>
            </a:r>
          </a:p>
          <a:p>
            <a:pPr>
              <a:spcBef>
                <a:spcPts val="0"/>
              </a:spcBef>
            </a:pPr>
            <a:r>
              <a:rPr lang="en-US" dirty="0"/>
              <a:t>library(janitor)</a:t>
            </a:r>
          </a:p>
          <a:p>
            <a:pPr>
              <a:spcBef>
                <a:spcPts val="0"/>
              </a:spcBef>
            </a:pPr>
            <a:r>
              <a:rPr lang="en-US" dirty="0"/>
              <a:t>library(</a:t>
            </a:r>
            <a:r>
              <a:rPr lang="en-US" dirty="0" err="1"/>
              <a:t>tidyverse</a:t>
            </a:r>
            <a:r>
              <a:rPr lang="en-US" dirty="0"/>
              <a:t>)</a:t>
            </a:r>
          </a:p>
          <a:p>
            <a:pPr>
              <a:spcBef>
                <a:spcPts val="0"/>
              </a:spcBef>
            </a:pPr>
            <a:endParaRPr lang="en-US" dirty="0"/>
          </a:p>
          <a:p>
            <a:pPr>
              <a:spcBef>
                <a:spcPts val="0"/>
              </a:spcBef>
            </a:pPr>
            <a:r>
              <a:rPr lang="en-US" dirty="0"/>
              <a:t>filter    &lt;- </a:t>
            </a:r>
            <a:r>
              <a:rPr lang="en-US" dirty="0" err="1"/>
              <a:t>dplyr</a:t>
            </a:r>
            <a:r>
              <a:rPr lang="en-US" dirty="0"/>
              <a:t>::filter</a:t>
            </a:r>
          </a:p>
          <a:p>
            <a:pPr>
              <a:spcBef>
                <a:spcPts val="0"/>
              </a:spcBef>
            </a:pPr>
            <a:r>
              <a:rPr lang="en-US" dirty="0"/>
              <a:t>rename    &lt;- </a:t>
            </a:r>
            <a:r>
              <a:rPr lang="en-US" dirty="0" err="1"/>
              <a:t>dplyr</a:t>
            </a:r>
            <a:r>
              <a:rPr lang="en-US" dirty="0"/>
              <a:t>::rename</a:t>
            </a:r>
          </a:p>
          <a:p>
            <a:pPr>
              <a:spcBef>
                <a:spcPts val="0"/>
              </a:spcBef>
            </a:pPr>
            <a:r>
              <a:rPr lang="en-US" dirty="0"/>
              <a:t>select    &lt;- </a:t>
            </a:r>
            <a:r>
              <a:rPr lang="en-US" dirty="0" err="1"/>
              <a:t>dplyr</a:t>
            </a:r>
            <a:r>
              <a:rPr lang="en-US" dirty="0"/>
              <a:t>::select</a:t>
            </a:r>
          </a:p>
          <a:p>
            <a:pPr>
              <a:spcBef>
                <a:spcPts val="0"/>
              </a:spcBef>
            </a:pPr>
            <a:r>
              <a:rPr lang="en-US" dirty="0" err="1"/>
              <a:t>summarise</a:t>
            </a:r>
            <a:r>
              <a:rPr lang="en-US" dirty="0"/>
              <a:t> &lt;- </a:t>
            </a:r>
            <a:r>
              <a:rPr lang="en-US" dirty="0" err="1"/>
              <a:t>dplyr</a:t>
            </a:r>
            <a:r>
              <a:rPr lang="en-US" dirty="0"/>
              <a:t>::</a:t>
            </a:r>
            <a:r>
              <a:rPr lang="en-US" dirty="0" err="1"/>
              <a:t>summarise</a:t>
            </a:r>
            <a:endParaRPr lang="en-US" dirty="0"/>
          </a:p>
          <a:p>
            <a:pPr>
              <a:spcBef>
                <a:spcPts val="0"/>
              </a:spcBef>
            </a:pPr>
            <a:r>
              <a:rPr lang="en-US" dirty="0"/>
              <a:t>`%</a:t>
            </a:r>
            <a:r>
              <a:rPr lang="en-US" dirty="0" err="1"/>
              <a:t>nin</a:t>
            </a:r>
            <a:r>
              <a:rPr lang="en-US" dirty="0"/>
              <a:t>%`    = Negate(`%in%`)</a:t>
            </a:r>
          </a:p>
          <a:p>
            <a:pPr>
              <a:spcBef>
                <a:spcPts val="0"/>
              </a:spcBef>
            </a:pPr>
            <a:endParaRPr lang="en-US" dirty="0"/>
          </a:p>
          <a:p>
            <a:pPr>
              <a:spcBef>
                <a:spcPts val="0"/>
              </a:spcBef>
            </a:pPr>
            <a:r>
              <a:rPr lang="en-US" dirty="0"/>
              <a:t>projection = 4326 # WGS84</a:t>
            </a:r>
          </a:p>
          <a:p>
            <a:pPr>
              <a:spcBef>
                <a:spcPts val="0"/>
              </a:spcBef>
            </a:pPr>
            <a:endParaRPr lang="en-US" dirty="0"/>
          </a:p>
          <a:p>
            <a:pPr>
              <a:spcBef>
                <a:spcPts val="0"/>
              </a:spcBef>
            </a:pPr>
            <a:r>
              <a:rPr lang="en-US" dirty="0" err="1"/>
              <a:t>setwd</a:t>
            </a:r>
            <a:r>
              <a:rPr lang="en-US" dirty="0"/>
              <a:t>("/Users/alexander/Downloads/")</a:t>
            </a:r>
          </a:p>
          <a:p>
            <a:pPr>
              <a:spcBef>
                <a:spcPts val="0"/>
              </a:spcBef>
            </a:pPr>
            <a:endParaRPr lang="en-US" dirty="0"/>
          </a:p>
          <a:p>
            <a:pPr>
              <a:spcBef>
                <a:spcPts val="0"/>
              </a:spcBef>
            </a:pPr>
            <a:r>
              <a:rPr lang="en-US" dirty="0"/>
              <a:t>floodplain &lt;- </a:t>
            </a:r>
            <a:r>
              <a:rPr lang="en-US" dirty="0" err="1"/>
              <a:t>st_read</a:t>
            </a:r>
            <a:r>
              <a:rPr lang="en-US" dirty="0"/>
              <a:t>("/Users/alexander/Downloads/21083C_20091203/</a:t>
            </a:r>
            <a:r>
              <a:rPr lang="en-US" dirty="0" err="1"/>
              <a:t>S_FLD_HAZ_AR.shp</a:t>
            </a:r>
            <a:r>
              <a:rPr lang="en-US" dirty="0"/>
              <a:t>")</a:t>
            </a:r>
          </a:p>
          <a:p>
            <a:pPr>
              <a:spcBef>
                <a:spcPts val="0"/>
              </a:spcBef>
            </a:pPr>
            <a:endParaRPr lang="en-US" dirty="0"/>
          </a:p>
          <a:p>
            <a:pPr>
              <a:spcBef>
                <a:spcPts val="0"/>
              </a:spcBef>
            </a:pPr>
            <a:r>
              <a:rPr lang="en-US" dirty="0"/>
              <a:t>floodplain &lt;-</a:t>
            </a:r>
          </a:p>
          <a:p>
            <a:pPr>
              <a:spcBef>
                <a:spcPts val="0"/>
              </a:spcBef>
            </a:pPr>
            <a:r>
              <a:rPr lang="en-US" dirty="0"/>
              <a:t>  floodplain %&gt;%</a:t>
            </a:r>
          </a:p>
          <a:p>
            <a:pPr>
              <a:spcBef>
                <a:spcPts val="0"/>
              </a:spcBef>
            </a:pPr>
            <a:r>
              <a:rPr lang="en-US" dirty="0"/>
              <a:t>  filter(!</a:t>
            </a:r>
            <a:r>
              <a:rPr lang="en-US" dirty="0" err="1"/>
              <a:t>st_is_empty</a:t>
            </a:r>
            <a:r>
              <a:rPr lang="en-US" dirty="0"/>
              <a:t>(.)) %&gt;%</a:t>
            </a:r>
          </a:p>
          <a:p>
            <a:pPr>
              <a:spcBef>
                <a:spcPts val="0"/>
              </a:spcBef>
            </a:pPr>
            <a:r>
              <a:rPr lang="en-US" dirty="0"/>
              <a:t>  </a:t>
            </a:r>
            <a:r>
              <a:rPr lang="en-US" dirty="0" err="1"/>
              <a:t>st_make_valid</a:t>
            </a:r>
            <a:r>
              <a:rPr lang="en-US" dirty="0"/>
              <a:t>() %&gt;%</a:t>
            </a:r>
          </a:p>
          <a:p>
            <a:pPr>
              <a:spcBef>
                <a:spcPts val="0"/>
              </a:spcBef>
            </a:pPr>
            <a:r>
              <a:rPr lang="en-US" dirty="0"/>
              <a:t>  </a:t>
            </a:r>
            <a:r>
              <a:rPr lang="en-US" dirty="0" err="1"/>
              <a:t>st_transform</a:t>
            </a:r>
            <a:r>
              <a:rPr lang="en-US" dirty="0"/>
              <a:t>(projection) %&gt;%</a:t>
            </a:r>
          </a:p>
          <a:p>
            <a:pPr>
              <a:spcBef>
                <a:spcPts val="0"/>
              </a:spcBef>
            </a:pPr>
            <a:r>
              <a:rPr lang="en-US" dirty="0"/>
              <a:t>  </a:t>
            </a:r>
            <a:r>
              <a:rPr lang="en-US" dirty="0" err="1"/>
              <a:t>clean_names</a:t>
            </a:r>
            <a:r>
              <a:rPr lang="en-US" dirty="0"/>
              <a:t>() %&gt;%</a:t>
            </a:r>
          </a:p>
          <a:p>
            <a:pPr>
              <a:spcBef>
                <a:spcPts val="0"/>
              </a:spcBef>
            </a:pPr>
            <a:r>
              <a:rPr lang="en-US" dirty="0"/>
              <a:t>  filter(</a:t>
            </a:r>
            <a:r>
              <a:rPr lang="en-US" dirty="0" err="1"/>
              <a:t>st_geometry_type</a:t>
            </a:r>
            <a:r>
              <a:rPr lang="en-US" dirty="0"/>
              <a:t>(.) %in% c("POLYGON", "MULTIPOLYGON"))</a:t>
            </a:r>
          </a:p>
          <a:p>
            <a:pPr>
              <a:spcBef>
                <a:spcPts val="0"/>
              </a:spcBef>
            </a:pPr>
            <a:endParaRPr lang="en-US" dirty="0"/>
          </a:p>
          <a:p>
            <a:pPr>
              <a:spcBef>
                <a:spcPts val="0"/>
              </a:spcBef>
            </a:pPr>
            <a:r>
              <a:rPr lang="en-US" dirty="0"/>
              <a:t>floodplain %&gt;%</a:t>
            </a:r>
          </a:p>
          <a:p>
            <a:pPr>
              <a:spcBef>
                <a:spcPts val="0"/>
              </a:spcBef>
            </a:pPr>
            <a:r>
              <a:rPr lang="en-US" dirty="0"/>
              <a:t>  </a:t>
            </a:r>
            <a:r>
              <a:rPr lang="en-US" dirty="0" err="1"/>
              <a:t>st_drop_geometry</a:t>
            </a:r>
            <a:r>
              <a:rPr lang="en-US" dirty="0"/>
              <a:t>() %&gt;%</a:t>
            </a:r>
          </a:p>
          <a:p>
            <a:pPr>
              <a:spcBef>
                <a:spcPts val="0"/>
              </a:spcBef>
            </a:pPr>
            <a:r>
              <a:rPr lang="en-US" dirty="0"/>
              <a:t>  count(</a:t>
            </a:r>
          </a:p>
          <a:p>
            <a:pPr>
              <a:spcBef>
                <a:spcPts val="0"/>
              </a:spcBef>
            </a:pPr>
            <a:r>
              <a:rPr lang="en-US" dirty="0"/>
              <a:t>    </a:t>
            </a:r>
            <a:r>
              <a:rPr lang="en-US" dirty="0" err="1"/>
              <a:t>fld_zone</a:t>
            </a:r>
            <a:r>
              <a:rPr lang="en-US" dirty="0"/>
              <a:t>,</a:t>
            </a:r>
          </a:p>
          <a:p>
            <a:pPr>
              <a:spcBef>
                <a:spcPts val="0"/>
              </a:spcBef>
            </a:pPr>
            <a:r>
              <a:rPr lang="en-US" dirty="0"/>
              <a:t>    </a:t>
            </a:r>
            <a:r>
              <a:rPr lang="en-US" dirty="0" err="1"/>
              <a:t>zone_subty</a:t>
            </a:r>
            <a:endParaRPr lang="en-US" dirty="0"/>
          </a:p>
          <a:p>
            <a:pPr>
              <a:spcBef>
                <a:spcPts val="0"/>
              </a:spcBef>
            </a:pPr>
            <a:r>
              <a:rPr lang="en-US" dirty="0"/>
              <a:t>  )</a:t>
            </a:r>
          </a:p>
          <a:p>
            <a:pPr>
              <a:spcBef>
                <a:spcPts val="0"/>
              </a:spcBef>
            </a:pPr>
            <a:endParaRPr lang="en-US" dirty="0"/>
          </a:p>
          <a:p>
            <a:pPr>
              <a:spcBef>
                <a:spcPts val="0"/>
              </a:spcBef>
            </a:pPr>
            <a:r>
              <a:rPr lang="en-US" dirty="0"/>
              <a:t>#   </a:t>
            </a:r>
            <a:r>
              <a:rPr lang="en-US" dirty="0" err="1"/>
              <a:t>fld_zone</a:t>
            </a:r>
            <a:r>
              <a:rPr lang="en-US" dirty="0"/>
              <a:t>                         </a:t>
            </a:r>
            <a:r>
              <a:rPr lang="en-US" dirty="0" err="1"/>
              <a:t>zone_subty</a:t>
            </a:r>
            <a:r>
              <a:rPr lang="en-US" dirty="0"/>
              <a:t>   n</a:t>
            </a:r>
          </a:p>
          <a:p>
            <a:pPr>
              <a:spcBef>
                <a:spcPts val="0"/>
              </a:spcBef>
            </a:pPr>
            <a:r>
              <a:rPr lang="en-US" dirty="0"/>
              <a:t># 1        A                               &lt;NA&gt;  74</a:t>
            </a:r>
          </a:p>
          <a:p>
            <a:pPr>
              <a:spcBef>
                <a:spcPts val="0"/>
              </a:spcBef>
            </a:pPr>
            <a:r>
              <a:rPr lang="en-US" dirty="0"/>
              <a:t># 2       AE                           FLOODWAY   6</a:t>
            </a:r>
          </a:p>
          <a:p>
            <a:pPr>
              <a:spcBef>
                <a:spcPts val="0"/>
              </a:spcBef>
            </a:pPr>
            <a:r>
              <a:rPr lang="en-US" dirty="0"/>
              <a:t># 3       AE                               &lt;NA&gt;  24</a:t>
            </a:r>
          </a:p>
          <a:p>
            <a:pPr>
              <a:spcBef>
                <a:spcPts val="0"/>
              </a:spcBef>
            </a:pPr>
            <a:r>
              <a:rPr lang="en-US" dirty="0"/>
              <a:t># 4        X 0.2 PCT ANNUAL CHANCE FLOOD HAZARD  60</a:t>
            </a:r>
          </a:p>
          <a:p>
            <a:pPr>
              <a:spcBef>
                <a:spcPts val="0"/>
              </a:spcBef>
            </a:pPr>
            <a:r>
              <a:rPr lang="en-US" dirty="0"/>
              <a:t># 5        X       AREA OF MINIMAL FLOOD HAZARD 538</a:t>
            </a:r>
          </a:p>
          <a:p>
            <a:pPr>
              <a:spcBef>
                <a:spcPts val="0"/>
              </a:spcBef>
            </a:pPr>
            <a:endParaRPr lang="en-US" dirty="0"/>
          </a:p>
          <a:p>
            <a:pPr>
              <a:spcBef>
                <a:spcPts val="0"/>
              </a:spcBef>
            </a:pPr>
            <a:r>
              <a:rPr lang="en-US" dirty="0" err="1"/>
              <a:t>floodplain_class</a:t>
            </a:r>
            <a:r>
              <a:rPr lang="en-US" dirty="0"/>
              <a:t> &lt;-</a:t>
            </a:r>
          </a:p>
          <a:p>
            <a:pPr>
              <a:spcBef>
                <a:spcPts val="0"/>
              </a:spcBef>
            </a:pPr>
            <a:r>
              <a:rPr lang="en-US" dirty="0"/>
              <a:t>  floodplain %&gt;%</a:t>
            </a:r>
          </a:p>
          <a:p>
            <a:pPr>
              <a:spcBef>
                <a:spcPts val="0"/>
              </a:spcBef>
            </a:pPr>
            <a:r>
              <a:rPr lang="en-US" dirty="0"/>
              <a:t>  mutate(</a:t>
            </a:r>
          </a:p>
          <a:p>
            <a:pPr>
              <a:spcBef>
                <a:spcPts val="0"/>
              </a:spcBef>
            </a:pPr>
            <a:r>
              <a:rPr lang="en-US" dirty="0"/>
              <a:t>    </a:t>
            </a:r>
            <a:r>
              <a:rPr lang="en-US" dirty="0" err="1"/>
              <a:t>fld_class</a:t>
            </a:r>
            <a:r>
              <a:rPr lang="en-US" dirty="0"/>
              <a:t> = </a:t>
            </a:r>
            <a:r>
              <a:rPr lang="en-US" dirty="0" err="1"/>
              <a:t>case_when</a:t>
            </a:r>
            <a:r>
              <a:rPr lang="en-US" dirty="0"/>
              <a:t>(</a:t>
            </a:r>
            <a:r>
              <a:rPr lang="en-US" dirty="0" err="1"/>
              <a:t>fld_zone</a:t>
            </a:r>
            <a:r>
              <a:rPr lang="en-US" dirty="0"/>
              <a:t> %in% c("VE", "V", "AE", "AH", "AO", "A", "A99") ~ "100Yr",</a:t>
            </a:r>
          </a:p>
          <a:p>
            <a:pPr>
              <a:spcBef>
                <a:spcPts val="0"/>
              </a:spcBef>
            </a:pPr>
            <a:r>
              <a:rPr lang="en-US" dirty="0"/>
              <a:t>                          </a:t>
            </a:r>
            <a:r>
              <a:rPr lang="en-US" dirty="0" err="1"/>
              <a:t>fld_zone</a:t>
            </a:r>
            <a:r>
              <a:rPr lang="en-US" dirty="0"/>
              <a:t> %in% c("X500") ~ "500Yr",</a:t>
            </a:r>
          </a:p>
          <a:p>
            <a:pPr>
              <a:spcBef>
                <a:spcPts val="0"/>
              </a:spcBef>
            </a:pPr>
            <a:r>
              <a:rPr lang="en-US" dirty="0"/>
              <a:t>                          </a:t>
            </a:r>
            <a:r>
              <a:rPr lang="en-US" dirty="0" err="1"/>
              <a:t>fld_zone</a:t>
            </a:r>
            <a:r>
              <a:rPr lang="en-US" dirty="0"/>
              <a:t> == "X" &amp; </a:t>
            </a:r>
            <a:r>
              <a:rPr lang="en-US" dirty="0" err="1"/>
              <a:t>zone_subty</a:t>
            </a:r>
            <a:r>
              <a:rPr lang="en-US" dirty="0"/>
              <a:t> == "0.2 PCT ANNUAL CHANCE FLOOD HAZARD" ~ "500Yr",</a:t>
            </a:r>
          </a:p>
          <a:p>
            <a:pPr>
              <a:spcBef>
                <a:spcPts val="0"/>
              </a:spcBef>
            </a:pPr>
            <a:r>
              <a:rPr lang="en-US" dirty="0"/>
              <a:t>                          TRUE ~ "Out")</a:t>
            </a:r>
          </a:p>
          <a:p>
            <a:pPr>
              <a:spcBef>
                <a:spcPts val="0"/>
              </a:spcBef>
            </a:pPr>
            <a:r>
              <a:rPr lang="en-US" dirty="0"/>
              <a:t>  ) %&gt;% filter(</a:t>
            </a:r>
            <a:r>
              <a:rPr lang="en-US" dirty="0" err="1"/>
              <a:t>fld_class</a:t>
            </a:r>
            <a:r>
              <a:rPr lang="en-US" dirty="0"/>
              <a:t> != "Out") %&gt;%</a:t>
            </a:r>
          </a:p>
          <a:p>
            <a:pPr>
              <a:spcBef>
                <a:spcPts val="0"/>
              </a:spcBef>
            </a:pPr>
            <a:r>
              <a:rPr lang="en-US" dirty="0"/>
              <a:t>  # select(</a:t>
            </a:r>
            <a:r>
              <a:rPr lang="en-US" dirty="0" err="1"/>
              <a:t>fld_zone</a:t>
            </a:r>
            <a:r>
              <a:rPr lang="en-US" dirty="0"/>
              <a:t>, </a:t>
            </a:r>
            <a:r>
              <a:rPr lang="en-US" dirty="0" err="1"/>
              <a:t>zone_subty</a:t>
            </a:r>
            <a:r>
              <a:rPr lang="en-US" dirty="0"/>
              <a:t>, </a:t>
            </a:r>
            <a:r>
              <a:rPr lang="en-US" dirty="0" err="1"/>
              <a:t>fld_class</a:t>
            </a:r>
            <a:r>
              <a:rPr lang="en-US" dirty="0"/>
              <a:t>) %&gt;%</a:t>
            </a:r>
          </a:p>
          <a:p>
            <a:pPr>
              <a:spcBef>
                <a:spcPts val="0"/>
              </a:spcBef>
            </a:pPr>
            <a:r>
              <a:rPr lang="en-US" dirty="0"/>
              <a:t>  </a:t>
            </a:r>
            <a:r>
              <a:rPr lang="en-US" dirty="0" err="1"/>
              <a:t>group_by</a:t>
            </a:r>
            <a:r>
              <a:rPr lang="en-US" dirty="0"/>
              <a:t>(</a:t>
            </a:r>
            <a:r>
              <a:rPr lang="en-US" dirty="0" err="1"/>
              <a:t>fld_class</a:t>
            </a:r>
            <a:r>
              <a:rPr lang="en-US" dirty="0"/>
              <a:t>) %&gt;%</a:t>
            </a:r>
          </a:p>
          <a:p>
            <a:pPr>
              <a:spcBef>
                <a:spcPts val="0"/>
              </a:spcBef>
            </a:pPr>
            <a:r>
              <a:rPr lang="en-US" dirty="0"/>
              <a:t>  </a:t>
            </a:r>
            <a:r>
              <a:rPr lang="en-US" dirty="0" err="1"/>
              <a:t>summarise</a:t>
            </a:r>
            <a:r>
              <a:rPr lang="en-US" dirty="0"/>
              <a:t>() %&gt;%</a:t>
            </a:r>
          </a:p>
          <a:p>
            <a:pPr>
              <a:spcBef>
                <a:spcPts val="0"/>
              </a:spcBef>
            </a:pPr>
            <a:r>
              <a:rPr lang="en-US" dirty="0"/>
              <a:t>  </a:t>
            </a:r>
            <a:r>
              <a:rPr lang="en-US" dirty="0" err="1"/>
              <a:t>st_make_valid</a:t>
            </a:r>
            <a:r>
              <a:rPr lang="en-US" dirty="0"/>
              <a:t>()</a:t>
            </a:r>
          </a:p>
          <a:p>
            <a:pPr>
              <a:spcBef>
                <a:spcPts val="0"/>
              </a:spcBef>
            </a:pPr>
            <a:endParaRPr lang="en-US" dirty="0"/>
          </a:p>
          <a:p>
            <a:pPr>
              <a:spcBef>
                <a:spcPts val="0"/>
              </a:spcBef>
            </a:pPr>
            <a:r>
              <a:rPr lang="en-US" dirty="0" err="1"/>
              <a:t>st_write</a:t>
            </a:r>
            <a:r>
              <a:rPr lang="en-US" dirty="0"/>
              <a:t>(</a:t>
            </a:r>
            <a:r>
              <a:rPr lang="en-US" dirty="0" err="1"/>
              <a:t>floodplain_class</a:t>
            </a:r>
            <a:r>
              <a:rPr lang="en-US" dirty="0"/>
              <a:t>, "floodplain_21083C_20091203.shp")</a:t>
            </a:r>
          </a:p>
        </p:txBody>
      </p:sp>
      <p:sp>
        <p:nvSpPr>
          <p:cNvPr id="2" name="Slide Number Placeholder 1">
            <a:extLst>
              <a:ext uri="{FF2B5EF4-FFF2-40B4-BE49-F238E27FC236}">
                <a16:creationId xmlns:a16="http://schemas.microsoft.com/office/drawing/2014/main" id="{BD572B70-D04C-E206-E6AF-94B41887E017}"/>
              </a:ext>
            </a:extLst>
          </p:cNvPr>
          <p:cNvSpPr>
            <a:spLocks noGrp="1"/>
          </p:cNvSpPr>
          <p:nvPr>
            <p:ph type="sldNum" sz="quarter" idx="12"/>
          </p:nvPr>
        </p:nvSpPr>
        <p:spPr/>
        <p:txBody>
          <a:bodyPr/>
          <a:lstStyle/>
          <a:p>
            <a:fld id="{C0343C75-1924-D247-85A3-0CB62E67E5D1}" type="slidenum">
              <a:rPr lang="en-US" smtClean="0"/>
              <a:t>54</a:t>
            </a:fld>
            <a:endParaRPr lang="en-US"/>
          </a:p>
        </p:txBody>
      </p:sp>
    </p:spTree>
    <p:extLst>
      <p:ext uri="{BB962C8B-B14F-4D97-AF65-F5344CB8AC3E}">
        <p14:creationId xmlns:p14="http://schemas.microsoft.com/office/powerpoint/2010/main" val="26946116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AAD8946F-0F31-3B4A-8CB9-5FA22C3CE7DB}" vid="{C0D572B3-B117-984B-94A9-96E09E0151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1793</TotalTime>
  <Words>4918</Words>
  <Application>Microsoft Macintosh PowerPoint</Application>
  <PresentationFormat>On-screen Show (4:3)</PresentationFormat>
  <Paragraphs>562</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Aptos</vt:lpstr>
      <vt:lpstr>Aptos Display</vt:lpstr>
      <vt:lpstr>Arial</vt:lpstr>
      <vt:lpstr>Consolas</vt:lpstr>
      <vt:lpstr>Wingdings</vt:lpstr>
      <vt:lpstr>Office Theme</vt:lpstr>
      <vt:lpstr>Geometry Operations with Vector Data</vt:lpstr>
      <vt:lpstr>Overview</vt:lpstr>
      <vt:lpstr>Learning Outcomes (Week 5/Assignment #3)</vt:lpstr>
      <vt:lpstr>Emphasis</vt:lpstr>
      <vt:lpstr>Simplification</vt:lpstr>
      <vt:lpstr>Douglas-Peucker algorithm</vt:lpstr>
      <vt:lpstr>st_simplify()</vt:lpstr>
      <vt:lpstr>Simplification of a LINESTRING geometry representing the River Seine and tributaries</vt:lpstr>
      <vt:lpstr>Simplification Example</vt:lpstr>
      <vt:lpstr>Simplification Alternative</vt:lpstr>
      <vt:lpstr>Simplification, Another Alternative</vt:lpstr>
      <vt:lpstr>PowerPoint Presentation</vt:lpstr>
      <vt:lpstr>Also, on smoothr</vt:lpstr>
      <vt:lpstr>Centroids</vt:lpstr>
      <vt:lpstr>Geographic Center of the US</vt:lpstr>
      <vt:lpstr>Centroids</vt:lpstr>
      <vt:lpstr>Geographic Centroids of Each State</vt:lpstr>
      <vt:lpstr>PowerPoint Presentation</vt:lpstr>
      <vt:lpstr>Centroid Example</vt:lpstr>
      <vt:lpstr>Buffers</vt:lpstr>
      <vt:lpstr>Buffer Example</vt:lpstr>
      <vt:lpstr>Negative Buffer (special case)</vt:lpstr>
      <vt:lpstr>Affine Transformations</vt:lpstr>
      <vt:lpstr>Shift Example</vt:lpstr>
      <vt:lpstr>Scale Example</vt:lpstr>
      <vt:lpstr>Rotate Example</vt:lpstr>
      <vt:lpstr>Clipping</vt:lpstr>
      <vt:lpstr>Clipping Example</vt:lpstr>
      <vt:lpstr>Clipping Example</vt:lpstr>
      <vt:lpstr>PowerPoint Presentation</vt:lpstr>
      <vt:lpstr>Subsetting and Clipping</vt:lpstr>
      <vt:lpstr>Subsetting Example</vt:lpstr>
      <vt:lpstr>Subsetting Example</vt:lpstr>
      <vt:lpstr>Subsetting Example</vt:lpstr>
      <vt:lpstr>Geometry Unions</vt:lpstr>
      <vt:lpstr>Geometry Union Example</vt:lpstr>
      <vt:lpstr>Geometry Union Example</vt:lpstr>
      <vt:lpstr>Type Transformations</vt:lpstr>
      <vt:lpstr>Type Transformations</vt:lpstr>
      <vt:lpstr>Type Transformations</vt:lpstr>
      <vt:lpstr>Assignment #3</vt:lpstr>
      <vt:lpstr>Background</vt:lpstr>
      <vt:lpstr>Introductions</vt:lpstr>
      <vt:lpstr>Part 1: Data Acquisition and Planning</vt:lpstr>
      <vt:lpstr>Part 2: Flood Risk Engineering</vt:lpstr>
      <vt:lpstr>Part 3: Census Geography Integration</vt:lpstr>
      <vt:lpstr>Part 4: Summary Statistics</vt:lpstr>
      <vt:lpstr>Deliverables</vt:lpstr>
      <vt:lpstr>Question to Practice</vt:lpstr>
      <vt:lpstr>Hints</vt:lpstr>
      <vt:lpstr>Possible Reclassification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Alexander Abuabara</dc:creator>
  <cp:keywords/>
  <dc:description/>
  <cp:lastModifiedBy>Alexander Abuabara</cp:lastModifiedBy>
  <cp:revision>168</cp:revision>
  <dcterms:created xsi:type="dcterms:W3CDTF">2026-02-09T02:58:06Z</dcterms:created>
  <dcterms:modified xsi:type="dcterms:W3CDTF">2026-02-12T18:16:12Z</dcterms:modified>
  <cp:category/>
</cp:coreProperties>
</file>