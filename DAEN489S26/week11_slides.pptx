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44"/>
  </p:notesMasterIdLst>
  <p:sldIdLst>
    <p:sldId id="256" r:id="rId2"/>
    <p:sldId id="293" r:id="rId3"/>
    <p:sldId id="317" r:id="rId4"/>
    <p:sldId id="334" r:id="rId5"/>
    <p:sldId id="318" r:id="rId6"/>
    <p:sldId id="308" r:id="rId7"/>
    <p:sldId id="319" r:id="rId8"/>
    <p:sldId id="331" r:id="rId9"/>
    <p:sldId id="330" r:id="rId10"/>
    <p:sldId id="332" r:id="rId11"/>
    <p:sldId id="336" r:id="rId12"/>
    <p:sldId id="337" r:id="rId13"/>
    <p:sldId id="338" r:id="rId14"/>
    <p:sldId id="339" r:id="rId15"/>
    <p:sldId id="342" r:id="rId16"/>
    <p:sldId id="340" r:id="rId17"/>
    <p:sldId id="341" r:id="rId18"/>
    <p:sldId id="343" r:id="rId19"/>
    <p:sldId id="347" r:id="rId20"/>
    <p:sldId id="346" r:id="rId21"/>
    <p:sldId id="320" r:id="rId22"/>
    <p:sldId id="348" r:id="rId23"/>
    <p:sldId id="350" r:id="rId24"/>
    <p:sldId id="322" r:id="rId25"/>
    <p:sldId id="352" r:id="rId26"/>
    <p:sldId id="355" r:id="rId27"/>
    <p:sldId id="356" r:id="rId28"/>
    <p:sldId id="353" r:id="rId29"/>
    <p:sldId id="323" r:id="rId30"/>
    <p:sldId id="325" r:id="rId31"/>
    <p:sldId id="329" r:id="rId32"/>
    <p:sldId id="349" r:id="rId33"/>
    <p:sldId id="310" r:id="rId34"/>
    <p:sldId id="311" r:id="rId35"/>
    <p:sldId id="312" r:id="rId36"/>
    <p:sldId id="313" r:id="rId37"/>
    <p:sldId id="315" r:id="rId38"/>
    <p:sldId id="314" r:id="rId39"/>
    <p:sldId id="357" r:id="rId40"/>
    <p:sldId id="305" r:id="rId41"/>
    <p:sldId id="333" r:id="rId42"/>
    <p:sldId id="335"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A1FBEB-8E98-2648-AACA-444C6CF94B58}">
          <p14:sldIdLst>
            <p14:sldId id="256"/>
            <p14:sldId id="293"/>
          </p14:sldIdLst>
        </p14:section>
        <p14:section name="Intro" id="{AAAF4145-0111-8840-BC27-A001451B4C1C}">
          <p14:sldIdLst>
            <p14:sldId id="317"/>
            <p14:sldId id="334"/>
            <p14:sldId id="318"/>
          </p14:sldIdLst>
        </p14:section>
        <p14:section name="Static" id="{726521BA-6FDD-E141-85CC-06ADFED5112F}">
          <p14:sldIdLst>
            <p14:sldId id="308"/>
            <p14:sldId id="319"/>
            <p14:sldId id="331"/>
            <p14:sldId id="330"/>
            <p14:sldId id="332"/>
            <p14:sldId id="336"/>
            <p14:sldId id="337"/>
            <p14:sldId id="338"/>
            <p14:sldId id="339"/>
            <p14:sldId id="342"/>
            <p14:sldId id="340"/>
            <p14:sldId id="341"/>
            <p14:sldId id="343"/>
            <p14:sldId id="347"/>
            <p14:sldId id="346"/>
            <p14:sldId id="320"/>
            <p14:sldId id="348"/>
            <p14:sldId id="350"/>
            <p14:sldId id="322"/>
            <p14:sldId id="352"/>
            <p14:sldId id="355"/>
            <p14:sldId id="356"/>
            <p14:sldId id="353"/>
            <p14:sldId id="323"/>
            <p14:sldId id="325"/>
            <p14:sldId id="329"/>
            <p14:sldId id="349"/>
          </p14:sldIdLst>
        </p14:section>
        <p14:section name="Animated" id="{53927C2D-7BF2-7C4A-8F49-AF0199F08B9A}">
          <p14:sldIdLst>
            <p14:sldId id="310"/>
            <p14:sldId id="311"/>
          </p14:sldIdLst>
        </p14:section>
        <p14:section name="Interactive" id="{3B4263D5-AE2C-504D-A27F-EEEB4EBC5B3D}">
          <p14:sldIdLst>
            <p14:sldId id="312"/>
            <p14:sldId id="313"/>
          </p14:sldIdLst>
        </p14:section>
        <p14:section name="Applications" id="{8107A08D-8E25-5A4B-B6E5-4FDF6CDDA291}">
          <p14:sldIdLst>
            <p14:sldId id="315"/>
            <p14:sldId id="314"/>
            <p14:sldId id="357"/>
          </p14:sldIdLst>
        </p14:section>
        <p14:section name="References" id="{80CE1547-8FED-EB40-BEB2-D4CEAADA67FE}">
          <p14:sldIdLst>
            <p14:sldId id="305"/>
            <p14:sldId id="333"/>
            <p14:sldId id="33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756"/>
    <p:restoredTop sz="95545"/>
  </p:normalViewPr>
  <p:slideViewPr>
    <p:cSldViewPr snapToGrid="0">
      <p:cViewPr varScale="1">
        <p:scale>
          <a:sx n="103" d="100"/>
          <a:sy n="103" d="100"/>
        </p:scale>
        <p:origin x="168"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4FB6DC-B598-8B49-8FDB-37BE75E655AD}" type="datetimeFigureOut">
              <a:rPr lang="en-US" smtClean="0"/>
              <a:t>4/1/26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215A32-F46A-7344-9EED-8329BFD45968}" type="slidenum">
              <a:rPr lang="en-US" smtClean="0"/>
              <a:t>‹#›</a:t>
            </a:fld>
            <a:endParaRPr lang="en-US"/>
          </a:p>
        </p:txBody>
      </p:sp>
    </p:spTree>
    <p:extLst>
      <p:ext uri="{BB962C8B-B14F-4D97-AF65-F5344CB8AC3E}">
        <p14:creationId xmlns:p14="http://schemas.microsoft.com/office/powerpoint/2010/main" val="1041731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EA6D9-2D7F-9442-BED1-4D7FFC9A34F4}"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AE58ED-569E-7141-BEA4-8F66F85D6EA8}"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32CD10-D7BB-1A41-A802-BCEB6EE7274C}"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37563A2C-1A5C-EB4D-A972-6AE3285E62FE}" type="datetime1">
              <a:rPr lang="en-US" smtClean="0"/>
              <a:t>4/1/26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5CC0F2D4-C57D-2449-85CE-67A0F42FDA3B}" type="datetime1">
              <a:rPr lang="en-US" smtClean="0"/>
              <a:t>4/1/26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165B4F-A2D4-8548-B798-9B676580887F}" type="datetime1">
              <a:rPr lang="en-US" smtClean="0"/>
              <a:t>4/1/26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23453A-5CCA-2B47-B840-00C815B24B38}" type="datetime1">
              <a:rPr lang="en-US" smtClean="0"/>
              <a:t>4/1/26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088FA9-E09B-F247-9C69-3141F5729F41}" type="datetime1">
              <a:rPr lang="en-US" smtClean="0"/>
              <a:t>4/1/26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docs.google.com/spreadsheets/d/1RqVF_3GTnQsld3ikscjSPqKV1eLFaDH0qI4oAXluFZs/edit?usp=sharin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en.wikipedia.org/wiki/Mercator_projection" TargetMode="External"/><Relationship Id="rId1" Type="http://schemas.openxmlformats.org/officeDocument/2006/relationships/slideLayout" Target="../slideLayouts/slideLayout2.xml"/><Relationship Id="rId4" Type="http://schemas.openxmlformats.org/officeDocument/2006/relationships/hyperlink" Target="https://www.reddit.com/r/GISmemes/comments/kqax4y/anyone_with_me/"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4.jp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png"/><Relationship Id="rId10" Type="http://schemas.openxmlformats.org/officeDocument/2006/relationships/hyperlink" Target="https://en.wikipedia.org/wiki/Flemish_people" TargetMode="External"/><Relationship Id="rId4" Type="http://schemas.openxmlformats.org/officeDocument/2006/relationships/image" Target="../media/image5.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jpeg"/><Relationship Id="rId2" Type="http://schemas.openxmlformats.org/officeDocument/2006/relationships/image" Target="../media/image11.jpe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hyperlink" Target="https://colorbrewer2.org/" TargetMode="External"/><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hyperlink" Target="https://www.nceas.ucsb.edu/sites/default/files/2020-04/colorPaletteCheatsheet.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33.gi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maczokni.github.io/crime_mapping/basics-of-cartographic-design-elements-of-a-map.html" TargetMode="External"/><Relationship Id="rId2" Type="http://schemas.openxmlformats.org/officeDocument/2006/relationships/hyperlink" Target="https://colorado.pressbooks.pub/makingmaps/chapter/cartographic-design-process/"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r-spatial.org/book/15-Measures.html" TargetMode="External"/><Relationship Id="rId2" Type="http://schemas.openxmlformats.org/officeDocument/2006/relationships/hyperlink" Target="https://cran.r-project.org/web/packages/geostan/vignettes/measuring-sa.html" TargetMode="External"/><Relationship Id="rId1" Type="http://schemas.openxmlformats.org/officeDocument/2006/relationships/slideLayout" Target="../slideLayouts/slideLayout2.xml"/><Relationship Id="rId5" Type="http://schemas.openxmlformats.org/officeDocument/2006/relationships/hyperlink" Target="https://r-spatial.org/book/12-Interpolation.html" TargetMode="External"/><Relationship Id="rId4" Type="http://schemas.openxmlformats.org/officeDocument/2006/relationships/hyperlink" Target="https://r-spatial.org/book/11-PointPattern.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Making Maps</a:t>
            </a:r>
            <a:br>
              <a:rPr lang="en-US" dirty="0"/>
            </a:br>
            <a:r>
              <a:rPr lang="en-US" dirty="0"/>
              <a:t>and Cartographic Design</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C4A8EBE0-BF84-E506-2E75-D9731D5BB8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9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D78D7-14D6-AD3F-99CA-EA474511F219}"/>
              </a:ext>
            </a:extLst>
          </p:cNvPr>
          <p:cNvSpPr>
            <a:spLocks noGrp="1"/>
          </p:cNvSpPr>
          <p:nvPr>
            <p:ph type="title"/>
          </p:nvPr>
        </p:nvSpPr>
        <p:spPr/>
        <p:txBody>
          <a:bodyPr anchor="ctr"/>
          <a:lstStyle/>
          <a:p>
            <a:r>
              <a:rPr lang="en-US" dirty="0"/>
              <a:t>Project Proposal </a:t>
            </a:r>
            <a:r>
              <a:rPr lang="en-US" i="1" dirty="0"/>
              <a:t>Updates</a:t>
            </a:r>
          </a:p>
        </p:txBody>
      </p:sp>
      <p:sp>
        <p:nvSpPr>
          <p:cNvPr id="3" name="Content Placeholder 2">
            <a:extLst>
              <a:ext uri="{FF2B5EF4-FFF2-40B4-BE49-F238E27FC236}">
                <a16:creationId xmlns:a16="http://schemas.microsoft.com/office/drawing/2014/main" id="{FAC76504-BF4C-DF04-8302-F9D0D78686C7}"/>
              </a:ext>
            </a:extLst>
          </p:cNvPr>
          <p:cNvSpPr>
            <a:spLocks noGrp="1"/>
          </p:cNvSpPr>
          <p:nvPr>
            <p:ph idx="1"/>
          </p:nvPr>
        </p:nvSpPr>
        <p:spPr>
          <a:xfrm>
            <a:off x="457199" y="1146516"/>
            <a:ext cx="8229599" cy="5209835"/>
          </a:xfrm>
        </p:spPr>
        <p:txBody>
          <a:bodyPr>
            <a:normAutofit/>
          </a:bodyPr>
          <a:lstStyle/>
          <a:p>
            <a:r>
              <a:rPr lang="en-US" dirty="0"/>
              <a:t>Spreadsheet to help organize the groups</a:t>
            </a:r>
          </a:p>
          <a:p>
            <a:pPr marL="0" indent="0">
              <a:buNone/>
            </a:pPr>
            <a:r>
              <a:rPr lang="en-US" sz="1200" dirty="0">
                <a:hlinkClick r:id="rId2"/>
              </a:rPr>
              <a:t>https://docs.google.com/spreadsheets/d/1RqVF_3GTnQsld3ikscjSPqKV1eLFaDH0qI4oAXluFZs/edit?usp=sharing</a:t>
            </a:r>
            <a:endParaRPr lang="en-US" sz="1200" dirty="0"/>
          </a:p>
          <a:p>
            <a:r>
              <a:rPr lang="en-US" dirty="0"/>
              <a:t>One idea for a project:</a:t>
            </a:r>
          </a:p>
          <a:p>
            <a:pPr lvl="1"/>
            <a:r>
              <a:rPr lang="en-US" dirty="0"/>
              <a:t>Determine in multiple years if there is a statistically significant difference (</a:t>
            </a:r>
            <a:r>
              <a:rPr lang="en-US" i="1" dirty="0"/>
              <a:t>paired sample t-test</a:t>
            </a:r>
            <a:r>
              <a:rPr lang="en-US" dirty="0"/>
              <a:t>) between the aggregated </a:t>
            </a:r>
            <a:r>
              <a:rPr lang="en-US" dirty="0" err="1"/>
              <a:t>LandScan</a:t>
            </a:r>
            <a:r>
              <a:rPr lang="en-US" dirty="0"/>
              <a:t> population estimates and the Census residential population (where people live) at multiple census geometric boundary levels (tract, county, zip-code, etc.)</a:t>
            </a:r>
          </a:p>
        </p:txBody>
      </p:sp>
      <p:sp>
        <p:nvSpPr>
          <p:cNvPr id="4" name="Slide Number Placeholder 3">
            <a:extLst>
              <a:ext uri="{FF2B5EF4-FFF2-40B4-BE49-F238E27FC236}">
                <a16:creationId xmlns:a16="http://schemas.microsoft.com/office/drawing/2014/main" id="{DC22AB96-D365-6614-A563-B0F41B0ACC9A}"/>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31228797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0D4F4-56EF-F0A2-DABF-D2E0DDA1155F}"/>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4F257A74-6E54-A3C6-164F-19148FEF3388}"/>
              </a:ext>
            </a:extLst>
          </p:cNvPr>
          <p:cNvSpPr>
            <a:spLocks noGrp="1"/>
          </p:cNvSpPr>
          <p:nvPr>
            <p:ph idx="1"/>
          </p:nvPr>
        </p:nvSpPr>
        <p:spPr/>
        <p:txBody>
          <a:bodyPr>
            <a:noAutofit/>
          </a:bodyPr>
          <a:lstStyle/>
          <a:p>
            <a:r>
              <a:rPr lang="en-US" sz="1800" dirty="0"/>
              <a:t>Cartography is the intersection of </a:t>
            </a:r>
            <a:r>
              <a:rPr lang="en-US" sz="1800" b="1" dirty="0"/>
              <a:t>art</a:t>
            </a:r>
            <a:r>
              <a:rPr lang="en-US" sz="1800" dirty="0"/>
              <a:t>, </a:t>
            </a:r>
            <a:r>
              <a:rPr lang="en-US" sz="1800" b="1" dirty="0"/>
              <a:t>science</a:t>
            </a:r>
            <a:r>
              <a:rPr lang="en-US" sz="1800" dirty="0"/>
              <a:t>, and </a:t>
            </a:r>
            <a:r>
              <a:rPr lang="en-US" sz="1800" b="1" dirty="0"/>
              <a:t>technology</a:t>
            </a:r>
          </a:p>
          <a:p>
            <a:pPr lvl="1"/>
            <a:r>
              <a:rPr lang="en-US" sz="1400" i="1" dirty="0"/>
              <a:t>Mapmaking</a:t>
            </a:r>
          </a:p>
          <a:p>
            <a:pPr lvl="1"/>
            <a:r>
              <a:rPr lang="en-US" sz="1400" dirty="0"/>
              <a:t>Gerardus Mercator (1512–1594) is generally</a:t>
            </a:r>
            <a:br>
              <a:rPr lang="en-US" sz="1400" dirty="0"/>
            </a:br>
            <a:r>
              <a:rPr lang="en-US" sz="1400" dirty="0"/>
              <a:t>considered the most famous cartographer in history.</a:t>
            </a:r>
          </a:p>
          <a:p>
            <a:pPr lvl="1"/>
            <a:r>
              <a:rPr lang="en-US" sz="1400" dirty="0"/>
              <a:t>A </a:t>
            </a:r>
            <a:r>
              <a:rPr lang="en-US" sz="1400" b="1" dirty="0">
                <a:solidFill>
                  <a:srgbClr val="C00000"/>
                </a:solidFill>
              </a:rPr>
              <a:t>Flemish</a:t>
            </a:r>
            <a:r>
              <a:rPr lang="en-US" sz="1400" dirty="0"/>
              <a:t> geographer, he revolutionized navigation </a:t>
            </a:r>
            <a:br>
              <a:rPr lang="en-US" sz="1400" dirty="0"/>
            </a:br>
            <a:r>
              <a:rPr lang="en-US" sz="1400" dirty="0"/>
              <a:t>by developing the </a:t>
            </a:r>
            <a:r>
              <a:rPr lang="en-US" sz="1400" dirty="0">
                <a:hlinkClick r:id="rId2"/>
              </a:rPr>
              <a:t>Mercator projection</a:t>
            </a:r>
            <a:r>
              <a:rPr lang="en-US" sz="1400" dirty="0"/>
              <a:t> in 1569,</a:t>
            </a:r>
            <a:br>
              <a:rPr lang="en-US" sz="1400" dirty="0"/>
            </a:br>
            <a:r>
              <a:rPr lang="en-US" sz="1400" dirty="0"/>
              <a:t>a cylindrical map projection still widely used today.</a:t>
            </a:r>
          </a:p>
          <a:p>
            <a:pPr lvl="1"/>
            <a:r>
              <a:rPr lang="en-US" sz="1400" dirty="0"/>
              <a:t>He also popularized the term "atlas" for a collection of maps.</a:t>
            </a:r>
          </a:p>
          <a:p>
            <a:r>
              <a:rPr lang="en-US" sz="1800" b="1" dirty="0"/>
              <a:t>Goal</a:t>
            </a:r>
            <a:r>
              <a:rPr lang="en-US" sz="1800" dirty="0"/>
              <a:t>: To communicate complex spatial information </a:t>
            </a:r>
            <a:br>
              <a:rPr lang="en-US" sz="1800" dirty="0"/>
            </a:br>
            <a:r>
              <a:rPr lang="en-US" sz="1800" dirty="0"/>
              <a:t>clearly and accurately to a specific audience.</a:t>
            </a:r>
          </a:p>
          <a:p>
            <a:r>
              <a:rPr lang="en-US" sz="1800" b="1" dirty="0"/>
              <a:t>Key</a:t>
            </a:r>
            <a:r>
              <a:rPr lang="en-US" sz="1800" dirty="0"/>
              <a:t>: What is the story you want your map to tell?</a:t>
            </a:r>
          </a:p>
          <a:p>
            <a:pPr lvl="1"/>
            <a:r>
              <a:rPr lang="en-US" sz="1800" dirty="0"/>
              <a:t>Design is not just "making it pretty" but functional.</a:t>
            </a:r>
          </a:p>
          <a:p>
            <a:pPr lvl="2"/>
            <a:r>
              <a:rPr lang="en-US" sz="1400" dirty="0"/>
              <a:t>Poorly designed maps can leave a bad impression.</a:t>
            </a:r>
          </a:p>
          <a:p>
            <a:pPr lvl="1"/>
            <a:r>
              <a:rPr lang="en-US" sz="1800" dirty="0"/>
              <a:t>Common design issues include:</a:t>
            </a:r>
          </a:p>
          <a:p>
            <a:pPr lvl="2"/>
            <a:r>
              <a:rPr lang="en-US" sz="1400" dirty="0"/>
              <a:t>Poor placement, size and readability of text,</a:t>
            </a:r>
          </a:p>
          <a:p>
            <a:pPr lvl="2"/>
            <a:r>
              <a:rPr lang="en-US" sz="1400" dirty="0"/>
              <a:t>Careless selection of colors.</a:t>
            </a:r>
          </a:p>
        </p:txBody>
      </p:sp>
      <p:sp>
        <p:nvSpPr>
          <p:cNvPr id="4" name="Slide Number Placeholder 3">
            <a:extLst>
              <a:ext uri="{FF2B5EF4-FFF2-40B4-BE49-F238E27FC236}">
                <a16:creationId xmlns:a16="http://schemas.microsoft.com/office/drawing/2014/main" id="{9E65888D-A593-654D-089C-4B3A6249D528}"/>
              </a:ext>
            </a:extLst>
          </p:cNvPr>
          <p:cNvSpPr>
            <a:spLocks noGrp="1"/>
          </p:cNvSpPr>
          <p:nvPr>
            <p:ph type="sldNum" sz="quarter" idx="12"/>
          </p:nvPr>
        </p:nvSpPr>
        <p:spPr/>
        <p:txBody>
          <a:bodyPr/>
          <a:lstStyle/>
          <a:p>
            <a:fld id="{C0343C75-1924-D247-85A3-0CB62E67E5D1}" type="slidenum">
              <a:rPr lang="en-US" smtClean="0"/>
              <a:t>3</a:t>
            </a:fld>
            <a:endParaRPr lang="en-US"/>
          </a:p>
        </p:txBody>
      </p:sp>
      <p:pic>
        <p:nvPicPr>
          <p:cNvPr id="10" name="Picture 9">
            <a:extLst>
              <a:ext uri="{FF2B5EF4-FFF2-40B4-BE49-F238E27FC236}">
                <a16:creationId xmlns:a16="http://schemas.microsoft.com/office/drawing/2014/main" id="{DF439B5C-60D0-61E3-9B6D-EA80DAC500CB}"/>
              </a:ext>
            </a:extLst>
          </p:cNvPr>
          <p:cNvPicPr>
            <a:picLocks noChangeAspect="1"/>
          </p:cNvPicPr>
          <p:nvPr/>
        </p:nvPicPr>
        <p:blipFill>
          <a:blip r:embed="rId3"/>
          <a:stretch>
            <a:fillRect/>
          </a:stretch>
        </p:blipFill>
        <p:spPr>
          <a:xfrm>
            <a:off x="6052055" y="1969015"/>
            <a:ext cx="2634745" cy="2100477"/>
          </a:xfrm>
          <a:prstGeom prst="rect">
            <a:avLst/>
          </a:prstGeom>
        </p:spPr>
      </p:pic>
      <p:sp>
        <p:nvSpPr>
          <p:cNvPr id="11" name="TextBox 10">
            <a:extLst>
              <a:ext uri="{FF2B5EF4-FFF2-40B4-BE49-F238E27FC236}">
                <a16:creationId xmlns:a16="http://schemas.microsoft.com/office/drawing/2014/main" id="{1D40A459-454C-1320-AEA4-F9A81AB76C94}"/>
              </a:ext>
            </a:extLst>
          </p:cNvPr>
          <p:cNvSpPr txBox="1"/>
          <p:nvPr/>
        </p:nvSpPr>
        <p:spPr>
          <a:xfrm>
            <a:off x="6052054" y="4069492"/>
            <a:ext cx="2634745" cy="400110"/>
          </a:xfrm>
          <a:prstGeom prst="rect">
            <a:avLst/>
          </a:prstGeom>
          <a:noFill/>
        </p:spPr>
        <p:txBody>
          <a:bodyPr wrap="square" rtlCol="0">
            <a:spAutoFit/>
          </a:bodyPr>
          <a:lstStyle/>
          <a:p>
            <a:r>
              <a:rPr lang="en-US" sz="1000" dirty="0">
                <a:solidFill>
                  <a:schemeClr val="tx1">
                    <a:lumMod val="50000"/>
                    <a:lumOff val="50000"/>
                  </a:schemeClr>
                </a:solidFill>
                <a:hlinkClick r:id="rId4">
                  <a:extLst>
                    <a:ext uri="{A12FA001-AC4F-418D-AE19-62706E023703}">
                      <ahyp:hlinkClr xmlns:ahyp="http://schemas.microsoft.com/office/drawing/2018/hyperlinkcolor" val="tx"/>
                    </a:ext>
                  </a:extLst>
                </a:hlinkClick>
              </a:rPr>
              <a:t>https://www.reddit.com/r/GISmemes/comments/kqax4y/anyone_with_me/</a:t>
            </a:r>
            <a:endParaRPr lang="en-US" sz="1000" dirty="0">
              <a:solidFill>
                <a:schemeClr val="tx1">
                  <a:lumMod val="50000"/>
                  <a:lumOff val="50000"/>
                </a:schemeClr>
              </a:solidFill>
            </a:endParaRPr>
          </a:p>
        </p:txBody>
      </p:sp>
    </p:spTree>
    <p:extLst>
      <p:ext uri="{BB962C8B-B14F-4D97-AF65-F5344CB8AC3E}">
        <p14:creationId xmlns:p14="http://schemas.microsoft.com/office/powerpoint/2010/main" val="20410934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9C8FD946-F25A-A9BE-5C88-5885F079C699}"/>
              </a:ext>
            </a:extLst>
          </p:cNvPr>
          <p:cNvPicPr>
            <a:picLocks noChangeAspect="1"/>
          </p:cNvPicPr>
          <p:nvPr/>
        </p:nvPicPr>
        <p:blipFill>
          <a:blip r:embed="rId2"/>
          <a:stretch>
            <a:fillRect/>
          </a:stretch>
        </p:blipFill>
        <p:spPr>
          <a:xfrm>
            <a:off x="2761865" y="517538"/>
            <a:ext cx="2381636" cy="1649004"/>
          </a:xfrm>
          <a:prstGeom prst="rect">
            <a:avLst/>
          </a:prstGeom>
        </p:spPr>
      </p:pic>
      <p:sp>
        <p:nvSpPr>
          <p:cNvPr id="4" name="Slide Number Placeholder 3">
            <a:extLst>
              <a:ext uri="{FF2B5EF4-FFF2-40B4-BE49-F238E27FC236}">
                <a16:creationId xmlns:a16="http://schemas.microsoft.com/office/drawing/2014/main" id="{C1CDE8D2-BA82-11F8-CC20-9EA6A45CE759}"/>
              </a:ext>
            </a:extLst>
          </p:cNvPr>
          <p:cNvSpPr>
            <a:spLocks noGrp="1"/>
          </p:cNvSpPr>
          <p:nvPr>
            <p:ph type="sldNum" sz="quarter" idx="12"/>
          </p:nvPr>
        </p:nvSpPr>
        <p:spPr/>
        <p:txBody>
          <a:bodyPr/>
          <a:lstStyle/>
          <a:p>
            <a:fld id="{C0343C75-1924-D247-85A3-0CB62E67E5D1}" type="slidenum">
              <a:rPr lang="en-US" smtClean="0"/>
              <a:t>4</a:t>
            </a:fld>
            <a:endParaRPr lang="en-US"/>
          </a:p>
        </p:txBody>
      </p:sp>
      <p:pic>
        <p:nvPicPr>
          <p:cNvPr id="6" name="Picture 5">
            <a:extLst>
              <a:ext uri="{FF2B5EF4-FFF2-40B4-BE49-F238E27FC236}">
                <a16:creationId xmlns:a16="http://schemas.microsoft.com/office/drawing/2014/main" id="{D37ED6DB-CA3C-A98C-CB65-521B52DB49FF}"/>
              </a:ext>
            </a:extLst>
          </p:cNvPr>
          <p:cNvPicPr>
            <a:picLocks noChangeAspect="1"/>
          </p:cNvPicPr>
          <p:nvPr/>
        </p:nvPicPr>
        <p:blipFill>
          <a:blip r:embed="rId3"/>
          <a:stretch>
            <a:fillRect/>
          </a:stretch>
        </p:blipFill>
        <p:spPr>
          <a:xfrm>
            <a:off x="668362" y="3428999"/>
            <a:ext cx="3010991" cy="2927352"/>
          </a:xfrm>
          <a:prstGeom prst="rect">
            <a:avLst/>
          </a:prstGeom>
        </p:spPr>
      </p:pic>
      <p:pic>
        <p:nvPicPr>
          <p:cNvPr id="8" name="Picture 7">
            <a:extLst>
              <a:ext uri="{FF2B5EF4-FFF2-40B4-BE49-F238E27FC236}">
                <a16:creationId xmlns:a16="http://schemas.microsoft.com/office/drawing/2014/main" id="{0C151C44-66E9-5936-4E5C-4F2EA13F7BB6}"/>
              </a:ext>
            </a:extLst>
          </p:cNvPr>
          <p:cNvPicPr>
            <a:picLocks noChangeAspect="1"/>
          </p:cNvPicPr>
          <p:nvPr/>
        </p:nvPicPr>
        <p:blipFill>
          <a:blip r:embed="rId4"/>
          <a:stretch>
            <a:fillRect/>
          </a:stretch>
        </p:blipFill>
        <p:spPr>
          <a:xfrm>
            <a:off x="3707629" y="3429000"/>
            <a:ext cx="4403929" cy="2927351"/>
          </a:xfrm>
          <a:prstGeom prst="rect">
            <a:avLst/>
          </a:prstGeom>
        </p:spPr>
      </p:pic>
      <p:pic>
        <p:nvPicPr>
          <p:cNvPr id="9" name="Picture 8">
            <a:extLst>
              <a:ext uri="{FF2B5EF4-FFF2-40B4-BE49-F238E27FC236}">
                <a16:creationId xmlns:a16="http://schemas.microsoft.com/office/drawing/2014/main" id="{5CF73A6F-DE86-895B-44C1-DB9D6A0A41F9}"/>
              </a:ext>
            </a:extLst>
          </p:cNvPr>
          <p:cNvPicPr>
            <a:picLocks noChangeAspect="1"/>
          </p:cNvPicPr>
          <p:nvPr/>
        </p:nvPicPr>
        <p:blipFill>
          <a:blip r:embed="rId5"/>
          <a:stretch>
            <a:fillRect/>
          </a:stretch>
        </p:blipFill>
        <p:spPr>
          <a:xfrm>
            <a:off x="5376194" y="606605"/>
            <a:ext cx="3310605" cy="2531233"/>
          </a:xfrm>
          <a:prstGeom prst="rect">
            <a:avLst/>
          </a:prstGeom>
        </p:spPr>
      </p:pic>
      <p:pic>
        <p:nvPicPr>
          <p:cNvPr id="10" name="Picture 9">
            <a:extLst>
              <a:ext uri="{FF2B5EF4-FFF2-40B4-BE49-F238E27FC236}">
                <a16:creationId xmlns:a16="http://schemas.microsoft.com/office/drawing/2014/main" id="{B3FC6C77-A730-BFD0-7689-23BBEE177E19}"/>
              </a:ext>
            </a:extLst>
          </p:cNvPr>
          <p:cNvPicPr>
            <a:picLocks noChangeAspect="1"/>
          </p:cNvPicPr>
          <p:nvPr/>
        </p:nvPicPr>
        <p:blipFill>
          <a:blip r:embed="rId6"/>
          <a:stretch>
            <a:fillRect/>
          </a:stretch>
        </p:blipFill>
        <p:spPr>
          <a:xfrm>
            <a:off x="457200" y="501647"/>
            <a:ext cx="2170338" cy="2896359"/>
          </a:xfrm>
          <a:prstGeom prst="rect">
            <a:avLst/>
          </a:prstGeom>
        </p:spPr>
      </p:pic>
      <p:pic>
        <p:nvPicPr>
          <p:cNvPr id="12" name="Picture 11">
            <a:extLst>
              <a:ext uri="{FF2B5EF4-FFF2-40B4-BE49-F238E27FC236}">
                <a16:creationId xmlns:a16="http://schemas.microsoft.com/office/drawing/2014/main" id="{560E1BF3-521F-DF05-F8F9-A30C52ABF070}"/>
              </a:ext>
            </a:extLst>
          </p:cNvPr>
          <p:cNvPicPr>
            <a:picLocks noChangeAspect="1"/>
          </p:cNvPicPr>
          <p:nvPr/>
        </p:nvPicPr>
        <p:blipFill>
          <a:blip r:embed="rId7"/>
          <a:stretch>
            <a:fillRect/>
          </a:stretch>
        </p:blipFill>
        <p:spPr>
          <a:xfrm>
            <a:off x="4774530" y="2111874"/>
            <a:ext cx="1051719" cy="1286132"/>
          </a:xfrm>
          <a:prstGeom prst="rect">
            <a:avLst/>
          </a:prstGeom>
        </p:spPr>
      </p:pic>
      <p:pic>
        <p:nvPicPr>
          <p:cNvPr id="14" name="Picture 13">
            <a:extLst>
              <a:ext uri="{FF2B5EF4-FFF2-40B4-BE49-F238E27FC236}">
                <a16:creationId xmlns:a16="http://schemas.microsoft.com/office/drawing/2014/main" id="{FF2F409E-22FE-B388-2393-472C99301FC3}"/>
              </a:ext>
            </a:extLst>
          </p:cNvPr>
          <p:cNvPicPr>
            <a:picLocks noChangeAspect="1"/>
          </p:cNvPicPr>
          <p:nvPr/>
        </p:nvPicPr>
        <p:blipFill>
          <a:blip r:embed="rId8"/>
          <a:srcRect b="17883"/>
          <a:stretch>
            <a:fillRect/>
          </a:stretch>
        </p:blipFill>
        <p:spPr>
          <a:xfrm>
            <a:off x="2656889" y="2111874"/>
            <a:ext cx="2088290" cy="1286132"/>
          </a:xfrm>
          <a:prstGeom prst="rect">
            <a:avLst/>
          </a:prstGeom>
        </p:spPr>
      </p:pic>
      <p:pic>
        <p:nvPicPr>
          <p:cNvPr id="17" name="Picture 16">
            <a:extLst>
              <a:ext uri="{FF2B5EF4-FFF2-40B4-BE49-F238E27FC236}">
                <a16:creationId xmlns:a16="http://schemas.microsoft.com/office/drawing/2014/main" id="{36A8081B-2D3E-4E96-48B3-5592C2A1589B}"/>
              </a:ext>
            </a:extLst>
          </p:cNvPr>
          <p:cNvPicPr>
            <a:picLocks noChangeAspect="1"/>
          </p:cNvPicPr>
          <p:nvPr/>
        </p:nvPicPr>
        <p:blipFill>
          <a:blip r:embed="rId9"/>
          <a:stretch>
            <a:fillRect/>
          </a:stretch>
        </p:blipFill>
        <p:spPr>
          <a:xfrm>
            <a:off x="6778332" y="501647"/>
            <a:ext cx="506328" cy="337552"/>
          </a:xfrm>
          <a:prstGeom prst="rect">
            <a:avLst/>
          </a:prstGeom>
        </p:spPr>
      </p:pic>
      <p:sp>
        <p:nvSpPr>
          <p:cNvPr id="18" name="TextBox 17">
            <a:extLst>
              <a:ext uri="{FF2B5EF4-FFF2-40B4-BE49-F238E27FC236}">
                <a16:creationId xmlns:a16="http://schemas.microsoft.com/office/drawing/2014/main" id="{CE8A6191-4268-3228-6698-9F5AF3A169C0}"/>
              </a:ext>
            </a:extLst>
          </p:cNvPr>
          <p:cNvSpPr txBox="1"/>
          <p:nvPr/>
        </p:nvSpPr>
        <p:spPr>
          <a:xfrm>
            <a:off x="457200" y="148206"/>
            <a:ext cx="2916183" cy="369332"/>
          </a:xfrm>
          <a:prstGeom prst="rect">
            <a:avLst/>
          </a:prstGeom>
          <a:noFill/>
        </p:spPr>
        <p:txBody>
          <a:bodyPr wrap="none" rtlCol="0">
            <a:spAutoFit/>
          </a:bodyPr>
          <a:lstStyle/>
          <a:p>
            <a:r>
              <a:rPr lang="en-US" dirty="0"/>
              <a:t>Flemish people or Flemings</a:t>
            </a:r>
          </a:p>
        </p:txBody>
      </p:sp>
      <p:sp>
        <p:nvSpPr>
          <p:cNvPr id="19" name="TextBox 18">
            <a:extLst>
              <a:ext uri="{FF2B5EF4-FFF2-40B4-BE49-F238E27FC236}">
                <a16:creationId xmlns:a16="http://schemas.microsoft.com/office/drawing/2014/main" id="{3BC34628-60B3-4ADC-AFA0-1CC9E5A1CE8C}"/>
              </a:ext>
            </a:extLst>
          </p:cNvPr>
          <p:cNvSpPr txBox="1"/>
          <p:nvPr/>
        </p:nvSpPr>
        <p:spPr>
          <a:xfrm rot="5400000">
            <a:off x="7214601" y="4623984"/>
            <a:ext cx="2698175" cy="246221"/>
          </a:xfrm>
          <a:prstGeom prst="rect">
            <a:avLst/>
          </a:prstGeom>
          <a:noFill/>
        </p:spPr>
        <p:txBody>
          <a:bodyPr wrap="none" rtlCol="0">
            <a:spAutoFit/>
          </a:bodyPr>
          <a:lstStyle/>
          <a:p>
            <a:r>
              <a:rPr lang="en-US" sz="1000" dirty="0">
                <a:hlinkClick r:id="rId10"/>
              </a:rPr>
              <a:t>https://en.wikipedia.org/wiki/Flemish_people</a:t>
            </a:r>
            <a:endParaRPr lang="en-US" sz="1000" dirty="0"/>
          </a:p>
        </p:txBody>
      </p:sp>
    </p:spTree>
    <p:extLst>
      <p:ext uri="{BB962C8B-B14F-4D97-AF65-F5344CB8AC3E}">
        <p14:creationId xmlns:p14="http://schemas.microsoft.com/office/powerpoint/2010/main" val="71272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0F6E13C-D359-2B6F-AF3F-016B2747B6CE}"/>
              </a:ext>
            </a:extLst>
          </p:cNvPr>
          <p:cNvPicPr>
            <a:picLocks noChangeAspect="1"/>
          </p:cNvPicPr>
          <p:nvPr/>
        </p:nvPicPr>
        <p:blipFill>
          <a:blip r:embed="rId2"/>
          <a:stretch>
            <a:fillRect/>
          </a:stretch>
        </p:blipFill>
        <p:spPr>
          <a:xfrm>
            <a:off x="5248030" y="4674421"/>
            <a:ext cx="3881917" cy="2183579"/>
          </a:xfrm>
          <a:prstGeom prst="rect">
            <a:avLst/>
          </a:prstGeom>
        </p:spPr>
      </p:pic>
      <p:pic>
        <p:nvPicPr>
          <p:cNvPr id="12" name="Picture 11">
            <a:extLst>
              <a:ext uri="{FF2B5EF4-FFF2-40B4-BE49-F238E27FC236}">
                <a16:creationId xmlns:a16="http://schemas.microsoft.com/office/drawing/2014/main" id="{9927796D-1377-DF07-109F-B49558B94C3E}"/>
              </a:ext>
            </a:extLst>
          </p:cNvPr>
          <p:cNvPicPr>
            <a:picLocks noChangeAspect="1"/>
          </p:cNvPicPr>
          <p:nvPr/>
        </p:nvPicPr>
        <p:blipFill>
          <a:blip r:embed="rId3"/>
          <a:stretch>
            <a:fillRect/>
          </a:stretch>
        </p:blipFill>
        <p:spPr>
          <a:xfrm>
            <a:off x="2708613" y="4288607"/>
            <a:ext cx="2539418" cy="2569394"/>
          </a:xfrm>
          <a:prstGeom prst="rect">
            <a:avLst/>
          </a:prstGeom>
        </p:spPr>
      </p:pic>
      <p:sp>
        <p:nvSpPr>
          <p:cNvPr id="4" name="Slide Number Placeholder 3">
            <a:extLst>
              <a:ext uri="{FF2B5EF4-FFF2-40B4-BE49-F238E27FC236}">
                <a16:creationId xmlns:a16="http://schemas.microsoft.com/office/drawing/2014/main" id="{A67D9509-8192-D260-FED7-CF105870D3C3}"/>
              </a:ext>
            </a:extLst>
          </p:cNvPr>
          <p:cNvSpPr>
            <a:spLocks noGrp="1"/>
          </p:cNvSpPr>
          <p:nvPr>
            <p:ph type="sldNum" sz="quarter" idx="12"/>
          </p:nvPr>
        </p:nvSpPr>
        <p:spPr/>
        <p:txBody>
          <a:bodyPr/>
          <a:lstStyle/>
          <a:p>
            <a:fld id="{C0343C75-1924-D247-85A3-0CB62E67E5D1}" type="slidenum">
              <a:rPr lang="en-US" smtClean="0"/>
              <a:t>5</a:t>
            </a:fld>
            <a:endParaRPr lang="en-US"/>
          </a:p>
        </p:txBody>
      </p:sp>
      <p:pic>
        <p:nvPicPr>
          <p:cNvPr id="5" name="Picture 4">
            <a:extLst>
              <a:ext uri="{FF2B5EF4-FFF2-40B4-BE49-F238E27FC236}">
                <a16:creationId xmlns:a16="http://schemas.microsoft.com/office/drawing/2014/main" id="{685D303C-5D4F-83A1-5DAE-5CE9C10E2604}"/>
              </a:ext>
            </a:extLst>
          </p:cNvPr>
          <p:cNvPicPr>
            <a:picLocks noChangeAspect="1"/>
          </p:cNvPicPr>
          <p:nvPr/>
        </p:nvPicPr>
        <p:blipFill>
          <a:blip r:embed="rId4"/>
          <a:stretch>
            <a:fillRect/>
          </a:stretch>
        </p:blipFill>
        <p:spPr>
          <a:xfrm>
            <a:off x="0" y="0"/>
            <a:ext cx="3628417" cy="3117997"/>
          </a:xfrm>
          <a:prstGeom prst="rect">
            <a:avLst/>
          </a:prstGeom>
        </p:spPr>
      </p:pic>
      <p:pic>
        <p:nvPicPr>
          <p:cNvPr id="6" name="Picture 5">
            <a:extLst>
              <a:ext uri="{FF2B5EF4-FFF2-40B4-BE49-F238E27FC236}">
                <a16:creationId xmlns:a16="http://schemas.microsoft.com/office/drawing/2014/main" id="{5E555AC7-B4D3-567F-F7A0-044CA774970D}"/>
              </a:ext>
            </a:extLst>
          </p:cNvPr>
          <p:cNvPicPr>
            <a:picLocks noChangeAspect="1"/>
          </p:cNvPicPr>
          <p:nvPr/>
        </p:nvPicPr>
        <p:blipFill>
          <a:blip r:embed="rId5"/>
          <a:stretch>
            <a:fillRect/>
          </a:stretch>
        </p:blipFill>
        <p:spPr>
          <a:xfrm>
            <a:off x="4301493" y="0"/>
            <a:ext cx="4842507" cy="3061524"/>
          </a:xfrm>
          <a:prstGeom prst="rect">
            <a:avLst/>
          </a:prstGeom>
        </p:spPr>
      </p:pic>
      <p:pic>
        <p:nvPicPr>
          <p:cNvPr id="7" name="Picture 6">
            <a:extLst>
              <a:ext uri="{FF2B5EF4-FFF2-40B4-BE49-F238E27FC236}">
                <a16:creationId xmlns:a16="http://schemas.microsoft.com/office/drawing/2014/main" id="{0F974E36-FD82-2F54-1967-0F47D1980F8F}"/>
              </a:ext>
            </a:extLst>
          </p:cNvPr>
          <p:cNvPicPr>
            <a:picLocks noChangeAspect="1"/>
          </p:cNvPicPr>
          <p:nvPr/>
        </p:nvPicPr>
        <p:blipFill>
          <a:blip r:embed="rId6"/>
          <a:srcRect r="9731"/>
          <a:stretch>
            <a:fillRect/>
          </a:stretch>
        </p:blipFill>
        <p:spPr>
          <a:xfrm>
            <a:off x="3628417" y="0"/>
            <a:ext cx="1980119" cy="2496141"/>
          </a:xfrm>
          <a:prstGeom prst="rect">
            <a:avLst/>
          </a:prstGeom>
        </p:spPr>
      </p:pic>
      <p:pic>
        <p:nvPicPr>
          <p:cNvPr id="10" name="Picture 9">
            <a:extLst>
              <a:ext uri="{FF2B5EF4-FFF2-40B4-BE49-F238E27FC236}">
                <a16:creationId xmlns:a16="http://schemas.microsoft.com/office/drawing/2014/main" id="{7FCA0154-4007-7EA8-928F-C053D6DA4E1E}"/>
              </a:ext>
            </a:extLst>
          </p:cNvPr>
          <p:cNvPicPr>
            <a:picLocks noChangeAspect="1"/>
          </p:cNvPicPr>
          <p:nvPr/>
        </p:nvPicPr>
        <p:blipFill>
          <a:blip r:embed="rId7"/>
          <a:stretch>
            <a:fillRect/>
          </a:stretch>
        </p:blipFill>
        <p:spPr>
          <a:xfrm>
            <a:off x="5248029" y="3067061"/>
            <a:ext cx="2644387" cy="1601823"/>
          </a:xfrm>
          <a:prstGeom prst="rect">
            <a:avLst/>
          </a:prstGeom>
        </p:spPr>
      </p:pic>
      <p:pic>
        <p:nvPicPr>
          <p:cNvPr id="13" name="Picture 12">
            <a:extLst>
              <a:ext uri="{FF2B5EF4-FFF2-40B4-BE49-F238E27FC236}">
                <a16:creationId xmlns:a16="http://schemas.microsoft.com/office/drawing/2014/main" id="{B0130F32-EC49-7C2F-017C-31FCCCD72C05}"/>
              </a:ext>
            </a:extLst>
          </p:cNvPr>
          <p:cNvPicPr>
            <a:picLocks noChangeAspect="1"/>
          </p:cNvPicPr>
          <p:nvPr/>
        </p:nvPicPr>
        <p:blipFill>
          <a:blip r:embed="rId8"/>
          <a:stretch>
            <a:fillRect/>
          </a:stretch>
        </p:blipFill>
        <p:spPr>
          <a:xfrm>
            <a:off x="-1010" y="2531947"/>
            <a:ext cx="2709623" cy="4326053"/>
          </a:xfrm>
          <a:prstGeom prst="rect">
            <a:avLst/>
          </a:prstGeom>
        </p:spPr>
      </p:pic>
      <p:pic>
        <p:nvPicPr>
          <p:cNvPr id="8" name="Picture 7">
            <a:extLst>
              <a:ext uri="{FF2B5EF4-FFF2-40B4-BE49-F238E27FC236}">
                <a16:creationId xmlns:a16="http://schemas.microsoft.com/office/drawing/2014/main" id="{899724AC-CB11-DCC0-0E05-D99F7F344146}"/>
              </a:ext>
            </a:extLst>
          </p:cNvPr>
          <p:cNvPicPr>
            <a:picLocks noChangeAspect="1"/>
          </p:cNvPicPr>
          <p:nvPr/>
        </p:nvPicPr>
        <p:blipFill>
          <a:blip r:embed="rId9"/>
          <a:stretch>
            <a:fillRect/>
          </a:stretch>
        </p:blipFill>
        <p:spPr>
          <a:xfrm>
            <a:off x="2678294" y="1815636"/>
            <a:ext cx="2588943" cy="2352046"/>
          </a:xfrm>
          <a:prstGeom prst="rect">
            <a:avLst/>
          </a:prstGeom>
        </p:spPr>
      </p:pic>
      <p:pic>
        <p:nvPicPr>
          <p:cNvPr id="14" name="Picture 13">
            <a:extLst>
              <a:ext uri="{FF2B5EF4-FFF2-40B4-BE49-F238E27FC236}">
                <a16:creationId xmlns:a16="http://schemas.microsoft.com/office/drawing/2014/main" id="{36AB0821-3792-1055-167A-5B12619FA16B}"/>
              </a:ext>
            </a:extLst>
          </p:cNvPr>
          <p:cNvPicPr>
            <a:picLocks noChangeAspect="1"/>
          </p:cNvPicPr>
          <p:nvPr/>
        </p:nvPicPr>
        <p:blipFill>
          <a:blip r:embed="rId10"/>
          <a:stretch>
            <a:fillRect/>
          </a:stretch>
        </p:blipFill>
        <p:spPr>
          <a:xfrm>
            <a:off x="7873210" y="3443968"/>
            <a:ext cx="1256737" cy="1256737"/>
          </a:xfrm>
          <a:prstGeom prst="rect">
            <a:avLst/>
          </a:prstGeom>
        </p:spPr>
      </p:pic>
    </p:spTree>
    <p:extLst>
      <p:ext uri="{BB962C8B-B14F-4D97-AF65-F5344CB8AC3E}">
        <p14:creationId xmlns:p14="http://schemas.microsoft.com/office/powerpoint/2010/main" val="28668237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37523D7-3FD0-2714-1E85-4D110673F4C9}"/>
              </a:ext>
            </a:extLst>
          </p:cNvPr>
          <p:cNvSpPr>
            <a:spLocks noGrp="1"/>
          </p:cNvSpPr>
          <p:nvPr>
            <p:ph type="title"/>
          </p:nvPr>
        </p:nvSpPr>
        <p:spPr/>
        <p:txBody>
          <a:bodyPr/>
          <a:lstStyle/>
          <a:p>
            <a:r>
              <a:rPr lang="en-US" dirty="0"/>
              <a:t>Static maps</a:t>
            </a:r>
          </a:p>
        </p:txBody>
      </p:sp>
      <p:sp>
        <p:nvSpPr>
          <p:cNvPr id="4" name="Slide Number Placeholder 3">
            <a:extLst>
              <a:ext uri="{FF2B5EF4-FFF2-40B4-BE49-F238E27FC236}">
                <a16:creationId xmlns:a16="http://schemas.microsoft.com/office/drawing/2014/main" id="{971B4E3D-5C6C-3D1F-FC83-3C3D5EE29461}"/>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23296652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D3631-D183-DD03-8E15-E1E2AF1F5603}"/>
              </a:ext>
            </a:extLst>
          </p:cNvPr>
          <p:cNvSpPr>
            <a:spLocks noGrp="1"/>
          </p:cNvSpPr>
          <p:nvPr>
            <p:ph type="title"/>
          </p:nvPr>
        </p:nvSpPr>
        <p:spPr/>
        <p:txBody>
          <a:bodyPr anchor="ctr">
            <a:normAutofit/>
          </a:bodyPr>
          <a:lstStyle/>
          <a:p>
            <a:r>
              <a:rPr lang="en-US" sz="2400" dirty="0"/>
              <a:t>Map showing the elements that can be part of a map layout</a:t>
            </a:r>
          </a:p>
        </p:txBody>
      </p:sp>
      <p:sp>
        <p:nvSpPr>
          <p:cNvPr id="3" name="Content Placeholder 2">
            <a:extLst>
              <a:ext uri="{FF2B5EF4-FFF2-40B4-BE49-F238E27FC236}">
                <a16:creationId xmlns:a16="http://schemas.microsoft.com/office/drawing/2014/main" id="{42567BEF-554D-E278-F30F-6F4575C1680A}"/>
              </a:ext>
            </a:extLst>
          </p:cNvPr>
          <p:cNvSpPr>
            <a:spLocks noGrp="1"/>
          </p:cNvSpPr>
          <p:nvPr>
            <p:ph idx="1"/>
          </p:nvPr>
        </p:nvSpPr>
        <p:spPr/>
        <p:txBody>
          <a:bodyPr/>
          <a:lstStyle/>
          <a:p>
            <a:pPr marL="347663" indent="-347663">
              <a:buFont typeface="+mj-lt"/>
              <a:buAutoNum type="arabicPeriod"/>
            </a:pPr>
            <a:r>
              <a:rPr lang="en-US" dirty="0"/>
              <a:t>Data (or map) frame</a:t>
            </a:r>
          </a:p>
          <a:p>
            <a:pPr marL="347663" indent="-347663">
              <a:buFont typeface="+mj-lt"/>
              <a:buAutoNum type="arabicPeriod"/>
            </a:pPr>
            <a:r>
              <a:rPr lang="en-US" dirty="0"/>
              <a:t>Map legend</a:t>
            </a:r>
          </a:p>
          <a:p>
            <a:pPr marL="347663" indent="-347663">
              <a:buFont typeface="+mj-lt"/>
              <a:buAutoNum type="arabicPeriod"/>
            </a:pPr>
            <a:r>
              <a:rPr lang="en-US" dirty="0"/>
              <a:t>Map title</a:t>
            </a:r>
          </a:p>
          <a:p>
            <a:pPr marL="347663" indent="-347663">
              <a:buFont typeface="+mj-lt"/>
              <a:buAutoNum type="arabicPeriod"/>
            </a:pPr>
            <a:r>
              <a:rPr lang="en-US" dirty="0"/>
              <a:t>North arrow</a:t>
            </a:r>
          </a:p>
          <a:p>
            <a:pPr marL="347663" indent="-347663">
              <a:buFont typeface="+mj-lt"/>
              <a:buAutoNum type="arabicPeriod"/>
            </a:pPr>
            <a:r>
              <a:rPr lang="en-US" dirty="0"/>
              <a:t>Map scale bar</a:t>
            </a:r>
          </a:p>
          <a:p>
            <a:pPr marL="347663" indent="-347663">
              <a:buFont typeface="+mj-lt"/>
              <a:buAutoNum type="arabicPeriod"/>
            </a:pPr>
            <a:r>
              <a:rPr lang="en-US" dirty="0"/>
              <a:t>Metadata (or map citation)</a:t>
            </a:r>
          </a:p>
          <a:p>
            <a:pPr marL="347663" indent="-347663">
              <a:buFont typeface="+mj-lt"/>
              <a:buAutoNum type="arabicPeriod"/>
            </a:pPr>
            <a:r>
              <a:rPr lang="en-US" dirty="0"/>
              <a:t>Border</a:t>
            </a:r>
          </a:p>
          <a:p>
            <a:pPr marL="347663" indent="-347663">
              <a:buFont typeface="+mj-lt"/>
              <a:buAutoNum type="arabicPeriod"/>
            </a:pPr>
            <a:r>
              <a:rPr lang="en-US" dirty="0"/>
              <a:t>Inset (or locator) map</a:t>
            </a:r>
          </a:p>
        </p:txBody>
      </p:sp>
      <p:sp>
        <p:nvSpPr>
          <p:cNvPr id="4" name="Slide Number Placeholder 3">
            <a:extLst>
              <a:ext uri="{FF2B5EF4-FFF2-40B4-BE49-F238E27FC236}">
                <a16:creationId xmlns:a16="http://schemas.microsoft.com/office/drawing/2014/main" id="{80F46A77-44DF-551A-E333-477297E75D7F}"/>
              </a:ext>
            </a:extLst>
          </p:cNvPr>
          <p:cNvSpPr>
            <a:spLocks noGrp="1"/>
          </p:cNvSpPr>
          <p:nvPr>
            <p:ph type="sldNum" sz="quarter" idx="12"/>
          </p:nvPr>
        </p:nvSpPr>
        <p:spPr/>
        <p:txBody>
          <a:bodyPr/>
          <a:lstStyle/>
          <a:p>
            <a:fld id="{C0343C75-1924-D247-85A3-0CB62E67E5D1}" type="slidenum">
              <a:rPr lang="en-US" smtClean="0"/>
              <a:t>7</a:t>
            </a:fld>
            <a:endParaRPr lang="en-US"/>
          </a:p>
        </p:txBody>
      </p:sp>
      <p:pic>
        <p:nvPicPr>
          <p:cNvPr id="7" name="Picture 6">
            <a:extLst>
              <a:ext uri="{FF2B5EF4-FFF2-40B4-BE49-F238E27FC236}">
                <a16:creationId xmlns:a16="http://schemas.microsoft.com/office/drawing/2014/main" id="{A7EDA5AE-B05D-A15E-13D8-26C7E18EBB69}"/>
              </a:ext>
            </a:extLst>
          </p:cNvPr>
          <p:cNvPicPr>
            <a:picLocks noChangeAspect="1"/>
          </p:cNvPicPr>
          <p:nvPr/>
        </p:nvPicPr>
        <p:blipFill>
          <a:blip r:embed="rId2"/>
          <a:stretch>
            <a:fillRect/>
          </a:stretch>
        </p:blipFill>
        <p:spPr>
          <a:xfrm>
            <a:off x="4036980" y="1416683"/>
            <a:ext cx="4649820" cy="4565981"/>
          </a:xfrm>
          <a:prstGeom prst="rect">
            <a:avLst/>
          </a:prstGeom>
        </p:spPr>
      </p:pic>
    </p:spTree>
    <p:extLst>
      <p:ext uri="{BB962C8B-B14F-4D97-AF65-F5344CB8AC3E}">
        <p14:creationId xmlns:p14="http://schemas.microsoft.com/office/powerpoint/2010/main" val="14768050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C45D2-751A-B7E4-B469-14AF57672F5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CDD8FB-B825-6D59-0C3B-C880652E3B95}"/>
              </a:ext>
            </a:extLst>
          </p:cNvPr>
          <p:cNvSpPr>
            <a:spLocks noGrp="1"/>
          </p:cNvSpPr>
          <p:nvPr>
            <p:ph type="sldNum" sz="quarter" idx="12"/>
          </p:nvPr>
        </p:nvSpPr>
        <p:spPr/>
        <p:txBody>
          <a:bodyPr/>
          <a:lstStyle/>
          <a:p>
            <a:fld id="{C0343C75-1924-D247-85A3-0CB62E67E5D1}" type="slidenum">
              <a:rPr lang="en-US" smtClean="0"/>
              <a:t>8</a:t>
            </a:fld>
            <a:endParaRPr lang="en-US"/>
          </a:p>
        </p:txBody>
      </p:sp>
      <p:pic>
        <p:nvPicPr>
          <p:cNvPr id="3" name="Picture 2">
            <a:extLst>
              <a:ext uri="{FF2B5EF4-FFF2-40B4-BE49-F238E27FC236}">
                <a16:creationId xmlns:a16="http://schemas.microsoft.com/office/drawing/2014/main" id="{83BADF7A-F511-1CA1-9962-0AE99DF85434}"/>
              </a:ext>
            </a:extLst>
          </p:cNvPr>
          <p:cNvPicPr>
            <a:picLocks noChangeAspect="1"/>
          </p:cNvPicPr>
          <p:nvPr/>
        </p:nvPicPr>
        <p:blipFill>
          <a:blip r:embed="rId2"/>
          <a:stretch>
            <a:fillRect/>
          </a:stretch>
        </p:blipFill>
        <p:spPr>
          <a:xfrm>
            <a:off x="457200" y="136524"/>
            <a:ext cx="5326616" cy="4148783"/>
          </a:xfrm>
          <a:prstGeom prst="rect">
            <a:avLst/>
          </a:prstGeom>
        </p:spPr>
      </p:pic>
      <p:sp>
        <p:nvSpPr>
          <p:cNvPr id="5" name="TextBox 4">
            <a:extLst>
              <a:ext uri="{FF2B5EF4-FFF2-40B4-BE49-F238E27FC236}">
                <a16:creationId xmlns:a16="http://schemas.microsoft.com/office/drawing/2014/main" id="{EA9E751B-DB8C-8614-9C33-01402D188538}"/>
              </a:ext>
            </a:extLst>
          </p:cNvPr>
          <p:cNvSpPr txBox="1"/>
          <p:nvPr/>
        </p:nvSpPr>
        <p:spPr>
          <a:xfrm>
            <a:off x="2830749" y="4048027"/>
            <a:ext cx="5856051" cy="2308324"/>
          </a:xfrm>
          <a:prstGeom prst="rect">
            <a:avLst/>
          </a:prstGeom>
          <a:noFill/>
        </p:spPr>
        <p:txBody>
          <a:bodyPr wrap="square" rtlCol="0">
            <a:spAutoFit/>
          </a:bodyPr>
          <a:lstStyle/>
          <a:p>
            <a:r>
              <a:rPr lang="en-US" sz="1600" dirty="0"/>
              <a:t>The map body map element is the </a:t>
            </a:r>
            <a:r>
              <a:rPr lang="en-US" sz="1600" b="1" dirty="0">
                <a:solidFill>
                  <a:srgbClr val="C00000"/>
                </a:solidFill>
              </a:rPr>
              <a:t>main focus</a:t>
            </a:r>
            <a:r>
              <a:rPr lang="en-US" sz="1600" b="1" dirty="0"/>
              <a:t> </a:t>
            </a:r>
            <a:r>
              <a:rPr lang="en-US" sz="1600" dirty="0"/>
              <a:t>of the map and should be visually dominant in every case. The map body contains the </a:t>
            </a:r>
            <a:r>
              <a:rPr lang="en-US" sz="1600" u="sng" dirty="0"/>
              <a:t>features important</a:t>
            </a:r>
            <a:r>
              <a:rPr lang="en-US" sz="1600" dirty="0"/>
              <a:t> to the message of the map. The map body should be made </a:t>
            </a:r>
            <a:r>
              <a:rPr lang="en-US" sz="1600" u="sng" dirty="0"/>
              <a:t>as large as possible</a:t>
            </a:r>
            <a:r>
              <a:rPr lang="en-US" sz="1600" dirty="0"/>
              <a:t> on the medium but should also </a:t>
            </a:r>
            <a:r>
              <a:rPr lang="en-US" sz="1600" u="sng" dirty="0"/>
              <a:t>leave room for other map elements</a:t>
            </a:r>
            <a:r>
              <a:rPr lang="en-US" sz="1600" dirty="0"/>
              <a:t> and should </a:t>
            </a:r>
            <a:r>
              <a:rPr lang="en-US" sz="1600" u="sng" dirty="0"/>
              <a:t>not crowd the edges</a:t>
            </a:r>
            <a:r>
              <a:rPr lang="en-US" sz="1600" dirty="0"/>
              <a:t> so that the map has a little "breathing room". The map body is the only map element that is </a:t>
            </a:r>
            <a:r>
              <a:rPr lang="en-US" sz="1600" u="sng" dirty="0"/>
              <a:t>absolutely required</a:t>
            </a:r>
            <a:r>
              <a:rPr lang="en-US" sz="1600" dirty="0"/>
              <a:t> when composing a map. However, the map is often much more useful when other map elements are included.</a:t>
            </a:r>
          </a:p>
        </p:txBody>
      </p:sp>
      <p:sp>
        <p:nvSpPr>
          <p:cNvPr id="2" name="Oval 1">
            <a:extLst>
              <a:ext uri="{FF2B5EF4-FFF2-40B4-BE49-F238E27FC236}">
                <a16:creationId xmlns:a16="http://schemas.microsoft.com/office/drawing/2014/main" id="{D4F5662B-CF36-B43F-47BC-EE5C1E073C20}"/>
              </a:ext>
            </a:extLst>
          </p:cNvPr>
          <p:cNvSpPr/>
          <p:nvPr/>
        </p:nvSpPr>
        <p:spPr>
          <a:xfrm>
            <a:off x="3245709" y="4056265"/>
            <a:ext cx="947352" cy="342741"/>
          </a:xfrm>
          <a:prstGeom prst="ellipse">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1842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C61FF5-2E06-6CF1-43D2-43EA2C4D877E}"/>
              </a:ext>
            </a:extLst>
          </p:cNvPr>
          <p:cNvSpPr>
            <a:spLocks noGrp="1"/>
          </p:cNvSpPr>
          <p:nvPr>
            <p:ph type="sldNum" sz="quarter" idx="12"/>
          </p:nvPr>
        </p:nvSpPr>
        <p:spPr/>
        <p:txBody>
          <a:bodyPr/>
          <a:lstStyle/>
          <a:p>
            <a:fld id="{C0343C75-1924-D247-85A3-0CB62E67E5D1}" type="slidenum">
              <a:rPr lang="en-US" smtClean="0"/>
              <a:t>9</a:t>
            </a:fld>
            <a:endParaRPr lang="en-US"/>
          </a:p>
        </p:txBody>
      </p:sp>
      <p:pic>
        <p:nvPicPr>
          <p:cNvPr id="6" name="Picture 5">
            <a:extLst>
              <a:ext uri="{FF2B5EF4-FFF2-40B4-BE49-F238E27FC236}">
                <a16:creationId xmlns:a16="http://schemas.microsoft.com/office/drawing/2014/main" id="{E136811E-3B13-78C8-754F-8E9383C07ED7}"/>
              </a:ext>
            </a:extLst>
          </p:cNvPr>
          <p:cNvPicPr>
            <a:picLocks noChangeAspect="1"/>
          </p:cNvPicPr>
          <p:nvPr/>
        </p:nvPicPr>
        <p:blipFill>
          <a:blip r:embed="rId2"/>
          <a:stretch>
            <a:fillRect/>
          </a:stretch>
        </p:blipFill>
        <p:spPr>
          <a:xfrm>
            <a:off x="2115000" y="0"/>
            <a:ext cx="4914000" cy="6858000"/>
          </a:xfrm>
          <a:prstGeom prst="rect">
            <a:avLst/>
          </a:prstGeom>
        </p:spPr>
      </p:pic>
      <p:sp>
        <p:nvSpPr>
          <p:cNvPr id="2" name="Oval 1">
            <a:extLst>
              <a:ext uri="{FF2B5EF4-FFF2-40B4-BE49-F238E27FC236}">
                <a16:creationId xmlns:a16="http://schemas.microsoft.com/office/drawing/2014/main" id="{53A0DEA7-FD8F-1D8F-0B85-701C665E9C22}"/>
              </a:ext>
            </a:extLst>
          </p:cNvPr>
          <p:cNvSpPr/>
          <p:nvPr/>
        </p:nvSpPr>
        <p:spPr>
          <a:xfrm>
            <a:off x="6038335" y="906162"/>
            <a:ext cx="990665" cy="799070"/>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77198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A531D-6E47-EF6E-7DAA-4EDC3EFFD171}"/>
              </a:ext>
            </a:extLst>
          </p:cNvPr>
          <p:cNvSpPr>
            <a:spLocks noGrp="1"/>
          </p:cNvSpPr>
          <p:nvPr>
            <p:ph type="title"/>
          </p:nvPr>
        </p:nvSpPr>
        <p:spPr/>
        <p:txBody>
          <a:bodyPr anchor="ctr"/>
          <a:lstStyle/>
          <a:p>
            <a:r>
              <a:rPr lang="en-US" dirty="0"/>
              <a:t>A General Reference Map</a:t>
            </a:r>
          </a:p>
        </p:txBody>
      </p:sp>
      <p:pic>
        <p:nvPicPr>
          <p:cNvPr id="5" name="Content Placeholder 4">
            <a:extLst>
              <a:ext uri="{FF2B5EF4-FFF2-40B4-BE49-F238E27FC236}">
                <a16:creationId xmlns:a16="http://schemas.microsoft.com/office/drawing/2014/main" id="{F5EE0869-791C-54BD-2F64-FF12E51E23CE}"/>
              </a:ext>
            </a:extLst>
          </p:cNvPr>
          <p:cNvPicPr>
            <a:picLocks noGrp="1" noChangeAspect="1"/>
          </p:cNvPicPr>
          <p:nvPr>
            <p:ph idx="1"/>
          </p:nvPr>
        </p:nvPicPr>
        <p:blipFill>
          <a:blip r:embed="rId2"/>
          <a:stretch>
            <a:fillRect/>
          </a:stretch>
        </p:blipFill>
        <p:spPr>
          <a:xfrm>
            <a:off x="1879600" y="1170420"/>
            <a:ext cx="5384800" cy="4038600"/>
          </a:xfrm>
        </p:spPr>
      </p:pic>
      <p:sp>
        <p:nvSpPr>
          <p:cNvPr id="4" name="Slide Number Placeholder 3">
            <a:extLst>
              <a:ext uri="{FF2B5EF4-FFF2-40B4-BE49-F238E27FC236}">
                <a16:creationId xmlns:a16="http://schemas.microsoft.com/office/drawing/2014/main" id="{317BD18B-3358-4EA8-2F98-E7E33BCEC141}"/>
              </a:ext>
            </a:extLst>
          </p:cNvPr>
          <p:cNvSpPr>
            <a:spLocks noGrp="1"/>
          </p:cNvSpPr>
          <p:nvPr>
            <p:ph type="sldNum" sz="quarter" idx="12"/>
          </p:nvPr>
        </p:nvSpPr>
        <p:spPr/>
        <p:txBody>
          <a:bodyPr/>
          <a:lstStyle/>
          <a:p>
            <a:fld id="{C0343C75-1924-D247-85A3-0CB62E67E5D1}" type="slidenum">
              <a:rPr lang="en-US" smtClean="0"/>
              <a:t>10</a:t>
            </a:fld>
            <a:endParaRPr lang="en-US"/>
          </a:p>
        </p:txBody>
      </p:sp>
      <p:sp>
        <p:nvSpPr>
          <p:cNvPr id="6" name="TextBox 5">
            <a:extLst>
              <a:ext uri="{FF2B5EF4-FFF2-40B4-BE49-F238E27FC236}">
                <a16:creationId xmlns:a16="http://schemas.microsoft.com/office/drawing/2014/main" id="{B79D2806-011C-4E98-0568-A8E02211ED21}"/>
              </a:ext>
            </a:extLst>
          </p:cNvPr>
          <p:cNvSpPr txBox="1"/>
          <p:nvPr/>
        </p:nvSpPr>
        <p:spPr>
          <a:xfrm>
            <a:off x="457200" y="5305632"/>
            <a:ext cx="8229599" cy="954107"/>
          </a:xfrm>
          <a:prstGeom prst="rect">
            <a:avLst/>
          </a:prstGeom>
          <a:noFill/>
        </p:spPr>
        <p:txBody>
          <a:bodyPr wrap="square" rtlCol="0">
            <a:spAutoFit/>
          </a:bodyPr>
          <a:lstStyle/>
          <a:p>
            <a:r>
              <a:rPr lang="en-US" sz="1400" dirty="0"/>
              <a:t>This map legend has two columns of information that are roughly equal in size. Each map feature is identified with a symbol that is identical to the symbol found on the map followed by the name of the map feature to the right of the symbol. On this general reference map legend common features such as lakes, parks, rivers, railroads, and roads are included, where they </a:t>
            </a:r>
            <a:r>
              <a:rPr lang="en-US" sz="1400" u="sng" dirty="0"/>
              <a:t>may not be included on thematic maps</a:t>
            </a:r>
            <a:r>
              <a:rPr lang="en-US" sz="1400" dirty="0"/>
              <a:t>.</a:t>
            </a:r>
          </a:p>
        </p:txBody>
      </p:sp>
    </p:spTree>
    <p:extLst>
      <p:ext uri="{BB962C8B-B14F-4D97-AF65-F5344CB8AC3E}">
        <p14:creationId xmlns:p14="http://schemas.microsoft.com/office/powerpoint/2010/main" val="29840819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F6F88-6323-2A0E-407C-0CA9E0344F2C}"/>
              </a:ext>
            </a:extLst>
          </p:cNvPr>
          <p:cNvSpPr>
            <a:spLocks noGrp="1"/>
          </p:cNvSpPr>
          <p:nvPr>
            <p:ph type="title"/>
          </p:nvPr>
        </p:nvSpPr>
        <p:spPr/>
        <p:txBody>
          <a:bodyPr/>
          <a:lstStyle/>
          <a:p>
            <a:r>
              <a:rPr lang="en-US" dirty="0"/>
              <a:t>Basic Steps to Create a Basemap</a:t>
            </a:r>
          </a:p>
        </p:txBody>
      </p:sp>
      <p:sp>
        <p:nvSpPr>
          <p:cNvPr id="3" name="Content Placeholder 2">
            <a:extLst>
              <a:ext uri="{FF2B5EF4-FFF2-40B4-BE49-F238E27FC236}">
                <a16:creationId xmlns:a16="http://schemas.microsoft.com/office/drawing/2014/main" id="{6B002690-4C33-925D-21A5-1837F5C78086}"/>
              </a:ext>
            </a:extLst>
          </p:cNvPr>
          <p:cNvSpPr>
            <a:spLocks noGrp="1"/>
          </p:cNvSpPr>
          <p:nvPr>
            <p:ph idx="1"/>
          </p:nvPr>
        </p:nvSpPr>
        <p:spPr/>
        <p:txBody>
          <a:bodyPr/>
          <a:lstStyle/>
          <a:p>
            <a:r>
              <a:rPr lang="en-US" dirty="0"/>
              <a:t>Install/load Libraries</a:t>
            </a:r>
          </a:p>
          <a:p>
            <a:pPr lvl="1"/>
            <a:r>
              <a:rPr lang="en-US" b="1" dirty="0" err="1"/>
              <a:t>tigris</a:t>
            </a:r>
            <a:r>
              <a:rPr lang="en-US" dirty="0"/>
              <a:t> package to fetch the data</a:t>
            </a:r>
          </a:p>
          <a:p>
            <a:pPr lvl="1"/>
            <a:r>
              <a:rPr lang="en-US" b="1" dirty="0"/>
              <a:t>ggplot2 </a:t>
            </a:r>
            <a:r>
              <a:rPr lang="en-US" dirty="0"/>
              <a:t>(or </a:t>
            </a:r>
            <a:r>
              <a:rPr lang="en-US" b="1" dirty="0" err="1"/>
              <a:t>tmap</a:t>
            </a:r>
            <a:r>
              <a:rPr lang="en-US" dirty="0"/>
              <a:t>) for visualization.</a:t>
            </a:r>
          </a:p>
          <a:p>
            <a:r>
              <a:rPr lang="en-US" dirty="0"/>
              <a:t>Enable Caching</a:t>
            </a:r>
          </a:p>
          <a:p>
            <a:pPr lvl="1"/>
            <a:r>
              <a:rPr lang="en-US" dirty="0"/>
              <a:t>Use </a:t>
            </a:r>
            <a:r>
              <a:rPr lang="en-US" b="1" dirty="0"/>
              <a:t>options(</a:t>
            </a:r>
            <a:r>
              <a:rPr lang="en-US" b="1" dirty="0" err="1"/>
              <a:t>tigris_use_cache</a:t>
            </a:r>
            <a:r>
              <a:rPr lang="en-US" b="1" dirty="0"/>
              <a:t> = TRUE)</a:t>
            </a:r>
            <a:r>
              <a:rPr lang="en-US" dirty="0"/>
              <a:t> to save downloaded files locally, preventing repeated downloads.</a:t>
            </a:r>
          </a:p>
          <a:p>
            <a:r>
              <a:rPr lang="en-US" dirty="0"/>
              <a:t>Fetch Geographic Data</a:t>
            </a:r>
          </a:p>
          <a:p>
            <a:pPr lvl="1"/>
            <a:r>
              <a:rPr lang="en-US" dirty="0"/>
              <a:t>Call functions like </a:t>
            </a:r>
            <a:r>
              <a:rPr lang="en-US" b="1" dirty="0"/>
              <a:t>states()</a:t>
            </a:r>
            <a:r>
              <a:rPr lang="en-US" dirty="0"/>
              <a:t>, </a:t>
            </a:r>
            <a:r>
              <a:rPr lang="en-US" b="1" dirty="0"/>
              <a:t>counties()</a:t>
            </a:r>
            <a:r>
              <a:rPr lang="en-US" dirty="0"/>
              <a:t>, or </a:t>
            </a:r>
            <a:r>
              <a:rPr lang="en-US" b="1" dirty="0"/>
              <a:t>roads()</a:t>
            </a:r>
            <a:r>
              <a:rPr lang="en-US" dirty="0"/>
              <a:t> to retrieve the desired geometry.</a:t>
            </a:r>
          </a:p>
          <a:p>
            <a:r>
              <a:rPr lang="en-US" dirty="0"/>
              <a:t>Plot the Data</a:t>
            </a:r>
          </a:p>
          <a:p>
            <a:pPr lvl="1"/>
            <a:r>
              <a:rPr lang="en-US" dirty="0"/>
              <a:t>Use </a:t>
            </a:r>
            <a:r>
              <a:rPr lang="en-US" b="1" dirty="0" err="1"/>
              <a:t>geom_sf</a:t>
            </a:r>
            <a:r>
              <a:rPr lang="en-US" b="1" dirty="0"/>
              <a:t>()</a:t>
            </a:r>
            <a:r>
              <a:rPr lang="en-US" dirty="0"/>
              <a:t> in ggplot2 to render the spatial object.</a:t>
            </a:r>
          </a:p>
        </p:txBody>
      </p:sp>
      <p:sp>
        <p:nvSpPr>
          <p:cNvPr id="4" name="Slide Number Placeholder 3">
            <a:extLst>
              <a:ext uri="{FF2B5EF4-FFF2-40B4-BE49-F238E27FC236}">
                <a16:creationId xmlns:a16="http://schemas.microsoft.com/office/drawing/2014/main" id="{73D24484-BA1F-A97D-DBB9-E1A062068687}"/>
              </a:ext>
            </a:extLst>
          </p:cNvPr>
          <p:cNvSpPr>
            <a:spLocks noGrp="1"/>
          </p:cNvSpPr>
          <p:nvPr>
            <p:ph type="sldNum" sz="quarter" idx="12"/>
          </p:nvPr>
        </p:nvSpPr>
        <p:spPr/>
        <p:txBody>
          <a:bodyPr/>
          <a:lstStyle/>
          <a:p>
            <a:fld id="{C0343C75-1924-D247-85A3-0CB62E67E5D1}" type="slidenum">
              <a:rPr lang="en-US" smtClean="0"/>
              <a:t>11</a:t>
            </a:fld>
            <a:endParaRPr lang="en-US"/>
          </a:p>
        </p:txBody>
      </p:sp>
    </p:spTree>
    <p:extLst>
      <p:ext uri="{BB962C8B-B14F-4D97-AF65-F5344CB8AC3E}">
        <p14:creationId xmlns:p14="http://schemas.microsoft.com/office/powerpoint/2010/main" val="40578303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FA48D6-E8C3-6A98-322E-A00BA22F61DE}"/>
              </a:ext>
            </a:extLst>
          </p:cNvPr>
          <p:cNvSpPr>
            <a:spLocks noGrp="1"/>
          </p:cNvSpPr>
          <p:nvPr>
            <p:ph idx="1"/>
          </p:nvPr>
        </p:nvSpPr>
        <p:spPr>
          <a:xfrm>
            <a:off x="457200" y="428978"/>
            <a:ext cx="8229600" cy="6107289"/>
          </a:xfrm>
        </p:spPr>
        <p:txBody>
          <a:bodyPr>
            <a:noAutofit/>
          </a:bodyPr>
          <a:lstStyle/>
          <a:p>
            <a:pPr marL="0" indent="0">
              <a:buNone/>
            </a:pPr>
            <a:r>
              <a:rPr lang="en-US" sz="1400" dirty="0">
                <a:latin typeface="Consolas" panose="020B0609020204030204" pitchFamily="49" charset="0"/>
                <a:cs typeface="Consolas" panose="020B0609020204030204" pitchFamily="49" charset="0"/>
              </a:rPr>
              <a:t>library(</a:t>
            </a:r>
            <a:r>
              <a:rPr lang="en-US" sz="1400" dirty="0" err="1">
                <a:latin typeface="Consolas" panose="020B0609020204030204" pitchFamily="49" charset="0"/>
                <a:cs typeface="Consolas" panose="020B0609020204030204" pitchFamily="49" charset="0"/>
              </a:rPr>
              <a:t>tigris</a:t>
            </a:r>
            <a:r>
              <a:rPr lang="en-US" sz="1400" dirty="0">
                <a:latin typeface="Consolas" panose="020B0609020204030204" pitchFamily="49" charset="0"/>
                <a:cs typeface="Consolas" panose="020B0609020204030204" pitchFamily="49" charset="0"/>
              </a:rPr>
              <a:t>)</a:t>
            </a:r>
          </a:p>
          <a:p>
            <a:pPr marL="0" indent="0">
              <a:buNone/>
            </a:pPr>
            <a:r>
              <a:rPr lang="en-US" sz="1400" dirty="0">
                <a:latin typeface="Consolas" panose="020B0609020204030204" pitchFamily="49" charset="0"/>
                <a:cs typeface="Consolas" panose="020B0609020204030204" pitchFamily="49" charset="0"/>
              </a:rPr>
              <a:t>library(ggplot2)</a:t>
            </a:r>
          </a:p>
          <a:p>
            <a:pPr marL="0" indent="0">
              <a:buNone/>
            </a:pPr>
            <a:endParaRPr lang="en-US" sz="1400" dirty="0">
              <a:latin typeface="Consolas" panose="020B0609020204030204" pitchFamily="49" charset="0"/>
              <a:cs typeface="Consolas" panose="020B0609020204030204" pitchFamily="49" charset="0"/>
            </a:endParaRPr>
          </a:p>
          <a:p>
            <a:pPr marL="0" indent="0">
              <a:buNone/>
            </a:pPr>
            <a:r>
              <a:rPr lang="en-US" sz="1400" dirty="0">
                <a:solidFill>
                  <a:schemeClr val="tx1">
                    <a:lumMod val="50000"/>
                    <a:lumOff val="50000"/>
                  </a:schemeClr>
                </a:solidFill>
                <a:latin typeface="Consolas" panose="020B0609020204030204" pitchFamily="49" charset="0"/>
                <a:cs typeface="Consolas" panose="020B0609020204030204" pitchFamily="49" charset="0"/>
              </a:rPr>
              <a:t># Cache data for faster future use (recommended)</a:t>
            </a:r>
          </a:p>
          <a:p>
            <a:pPr marL="0" indent="0">
              <a:buNone/>
            </a:pPr>
            <a:r>
              <a:rPr lang="en-US" sz="1400" dirty="0">
                <a:latin typeface="Consolas" panose="020B0609020204030204" pitchFamily="49" charset="0"/>
                <a:cs typeface="Consolas" panose="020B0609020204030204" pitchFamily="49" charset="0"/>
              </a:rPr>
              <a:t>options(</a:t>
            </a:r>
            <a:r>
              <a:rPr lang="en-US" sz="1400" dirty="0" err="1">
                <a:latin typeface="Consolas" panose="020B0609020204030204" pitchFamily="49" charset="0"/>
                <a:cs typeface="Consolas" panose="020B0609020204030204" pitchFamily="49" charset="0"/>
              </a:rPr>
              <a:t>tigris_use_cache</a:t>
            </a:r>
            <a:r>
              <a:rPr lang="en-US" sz="1400" dirty="0">
                <a:latin typeface="Consolas" panose="020B0609020204030204" pitchFamily="49" charset="0"/>
                <a:cs typeface="Consolas" panose="020B0609020204030204" pitchFamily="49" charset="0"/>
              </a:rPr>
              <a:t> = TRUE)</a:t>
            </a:r>
          </a:p>
          <a:p>
            <a:pPr marL="0" indent="0">
              <a:buNone/>
            </a:pPr>
            <a:endParaRPr lang="en-US" sz="1400" dirty="0">
              <a:latin typeface="Consolas" panose="020B0609020204030204" pitchFamily="49" charset="0"/>
              <a:cs typeface="Consolas" panose="020B0609020204030204" pitchFamily="49" charset="0"/>
            </a:endParaRPr>
          </a:p>
          <a:p>
            <a:pPr marL="0" indent="0">
              <a:buNone/>
            </a:pPr>
            <a:r>
              <a:rPr lang="en-US" sz="1400" dirty="0">
                <a:solidFill>
                  <a:schemeClr val="tx1">
                    <a:lumMod val="50000"/>
                    <a:lumOff val="50000"/>
                  </a:schemeClr>
                </a:solidFill>
                <a:latin typeface="Consolas" panose="020B0609020204030204" pitchFamily="49" charset="0"/>
                <a:cs typeface="Consolas" panose="020B0609020204030204" pitchFamily="49" charset="0"/>
              </a:rPr>
              <a:t># 1. Fetch U.S. state boundaries</a:t>
            </a:r>
          </a:p>
          <a:p>
            <a:pPr marL="0" indent="0">
              <a:buNone/>
            </a:pPr>
            <a:r>
              <a:rPr lang="en-US" sz="1400" dirty="0">
                <a:solidFill>
                  <a:srgbClr val="C00000"/>
                </a:solidFill>
                <a:latin typeface="Consolas" panose="020B0609020204030204" pitchFamily="49" charset="0"/>
                <a:cs typeface="Consolas" panose="020B0609020204030204" pitchFamily="49" charset="0"/>
              </a:rPr>
              <a:t># </a:t>
            </a:r>
            <a:r>
              <a:rPr lang="en-US" sz="1400" dirty="0" err="1">
                <a:solidFill>
                  <a:srgbClr val="C00000"/>
                </a:solidFill>
                <a:latin typeface="Consolas" panose="020B0609020204030204" pitchFamily="49" charset="0"/>
                <a:cs typeface="Consolas" panose="020B0609020204030204" pitchFamily="49" charset="0"/>
              </a:rPr>
              <a:t>cb</a:t>
            </a:r>
            <a:r>
              <a:rPr lang="en-US" sz="1400" dirty="0">
                <a:solidFill>
                  <a:srgbClr val="C00000"/>
                </a:solidFill>
                <a:latin typeface="Consolas" panose="020B0609020204030204" pitchFamily="49" charset="0"/>
                <a:cs typeface="Consolas" panose="020B0609020204030204" pitchFamily="49" charset="0"/>
              </a:rPr>
              <a:t> = TRUE uses a lower-resolution "Cartographic Boundary" for faster plotting</a:t>
            </a:r>
          </a:p>
          <a:p>
            <a:pPr marL="0" indent="0">
              <a:buNone/>
            </a:pPr>
            <a:r>
              <a:rPr lang="en-US" sz="1400" dirty="0" err="1">
                <a:latin typeface="Consolas" panose="020B0609020204030204" pitchFamily="49" charset="0"/>
                <a:cs typeface="Consolas" panose="020B0609020204030204" pitchFamily="49" charset="0"/>
              </a:rPr>
              <a:t>us_states</a:t>
            </a:r>
            <a:r>
              <a:rPr lang="en-US" sz="1400" dirty="0">
                <a:latin typeface="Consolas" panose="020B0609020204030204" pitchFamily="49" charset="0"/>
                <a:cs typeface="Consolas" panose="020B0609020204030204" pitchFamily="49" charset="0"/>
              </a:rPr>
              <a:t> &lt;- states(</a:t>
            </a:r>
            <a:r>
              <a:rPr lang="en-US" sz="1400" dirty="0" err="1">
                <a:latin typeface="Consolas" panose="020B0609020204030204" pitchFamily="49" charset="0"/>
                <a:cs typeface="Consolas" panose="020B0609020204030204" pitchFamily="49" charset="0"/>
              </a:rPr>
              <a:t>cb</a:t>
            </a:r>
            <a:r>
              <a:rPr lang="en-US" sz="1400" dirty="0">
                <a:latin typeface="Consolas" panose="020B0609020204030204" pitchFamily="49" charset="0"/>
                <a:cs typeface="Consolas" panose="020B0609020204030204" pitchFamily="49" charset="0"/>
              </a:rPr>
              <a:t> = TRUE, resolution = "20m") </a:t>
            </a:r>
          </a:p>
          <a:p>
            <a:pPr marL="0" indent="0">
              <a:buNone/>
            </a:pPr>
            <a:endParaRPr lang="en-US" sz="1400" dirty="0">
              <a:latin typeface="Consolas" panose="020B0609020204030204" pitchFamily="49" charset="0"/>
              <a:cs typeface="Consolas" panose="020B0609020204030204" pitchFamily="49" charset="0"/>
            </a:endParaRPr>
          </a:p>
          <a:p>
            <a:pPr marL="0" indent="0">
              <a:buNone/>
            </a:pPr>
            <a:r>
              <a:rPr lang="en-US" sz="1400" dirty="0">
                <a:solidFill>
                  <a:schemeClr val="tx1">
                    <a:lumMod val="50000"/>
                    <a:lumOff val="50000"/>
                  </a:schemeClr>
                </a:solidFill>
                <a:latin typeface="Consolas" panose="020B0609020204030204" pitchFamily="49" charset="0"/>
                <a:cs typeface="Consolas" panose="020B0609020204030204" pitchFamily="49" charset="0"/>
              </a:rPr>
              <a:t># 2. Shift Alaska, Hawaii, and Puerto Rico for a standard "national" view</a:t>
            </a:r>
          </a:p>
          <a:p>
            <a:pPr marL="0" indent="0">
              <a:buNone/>
            </a:pPr>
            <a:r>
              <a:rPr lang="en-US" sz="1400" dirty="0" err="1">
                <a:latin typeface="Consolas" panose="020B0609020204030204" pitchFamily="49" charset="0"/>
                <a:cs typeface="Consolas" panose="020B0609020204030204" pitchFamily="49" charset="0"/>
              </a:rPr>
              <a:t>us_states_shifted</a:t>
            </a:r>
            <a:r>
              <a:rPr lang="en-US" sz="1400" dirty="0">
                <a:latin typeface="Consolas" panose="020B0609020204030204" pitchFamily="49" charset="0"/>
                <a:cs typeface="Consolas" panose="020B0609020204030204" pitchFamily="49" charset="0"/>
              </a:rPr>
              <a:t> &lt;- </a:t>
            </a:r>
            <a:r>
              <a:rPr lang="en-US" sz="1400" dirty="0" err="1">
                <a:latin typeface="Consolas" panose="020B0609020204030204" pitchFamily="49" charset="0"/>
                <a:cs typeface="Consolas" panose="020B0609020204030204" pitchFamily="49" charset="0"/>
              </a:rPr>
              <a:t>shift_geometry</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us_states</a:t>
            </a:r>
            <a:r>
              <a:rPr lang="en-US" sz="1400" dirty="0">
                <a:latin typeface="Consolas" panose="020B0609020204030204" pitchFamily="49" charset="0"/>
                <a:cs typeface="Consolas" panose="020B0609020204030204" pitchFamily="49" charset="0"/>
              </a:rPr>
              <a:t>)</a:t>
            </a:r>
          </a:p>
          <a:p>
            <a:pPr marL="0" indent="0">
              <a:buNone/>
            </a:pPr>
            <a:endParaRPr lang="en-US" sz="1400" dirty="0">
              <a:latin typeface="Consolas" panose="020B0609020204030204" pitchFamily="49" charset="0"/>
              <a:cs typeface="Consolas" panose="020B0609020204030204" pitchFamily="49" charset="0"/>
            </a:endParaRPr>
          </a:p>
          <a:p>
            <a:pPr marL="0" indent="0">
              <a:buNone/>
            </a:pPr>
            <a:r>
              <a:rPr lang="en-US" sz="1400" dirty="0">
                <a:solidFill>
                  <a:schemeClr val="tx1">
                    <a:lumMod val="50000"/>
                    <a:lumOff val="50000"/>
                  </a:schemeClr>
                </a:solidFill>
                <a:latin typeface="Consolas" panose="020B0609020204030204" pitchFamily="49" charset="0"/>
                <a:cs typeface="Consolas" panose="020B0609020204030204" pitchFamily="49" charset="0"/>
              </a:rPr>
              <a:t># 3. Create the basemap</a:t>
            </a:r>
          </a:p>
          <a:p>
            <a:pPr marL="0" indent="0">
              <a:buNone/>
            </a:pPr>
            <a:r>
              <a:rPr lang="en-US" sz="1400" dirty="0" err="1">
                <a:latin typeface="Consolas" panose="020B0609020204030204" pitchFamily="49" charset="0"/>
                <a:cs typeface="Consolas" panose="020B0609020204030204" pitchFamily="49" charset="0"/>
              </a:rPr>
              <a:t>ggplot</a:t>
            </a:r>
            <a:r>
              <a:rPr lang="en-US" sz="1400" dirty="0">
                <a:latin typeface="Consolas" panose="020B0609020204030204" pitchFamily="49" charset="0"/>
                <a:cs typeface="Consolas" panose="020B0609020204030204" pitchFamily="49" charset="0"/>
              </a:rPr>
              <a:t>(data = </a:t>
            </a:r>
            <a:r>
              <a:rPr lang="en-US" sz="1400" dirty="0" err="1">
                <a:latin typeface="Consolas" panose="020B0609020204030204" pitchFamily="49" charset="0"/>
                <a:cs typeface="Consolas" panose="020B0609020204030204" pitchFamily="49" charset="0"/>
              </a:rPr>
              <a:t>us_states_shifted</a:t>
            </a:r>
            <a:r>
              <a:rPr lang="en-US" sz="1400" dirty="0">
                <a:latin typeface="Consolas" panose="020B0609020204030204" pitchFamily="49" charset="0"/>
                <a:cs typeface="Consolas" panose="020B0609020204030204" pitchFamily="49" charset="0"/>
              </a:rPr>
              <a:t>) +</a:t>
            </a:r>
          </a:p>
          <a:p>
            <a:pPr marL="0" indent="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geom_sf</a:t>
            </a:r>
            <a:r>
              <a:rPr lang="en-US" sz="1400" dirty="0">
                <a:latin typeface="Consolas" panose="020B0609020204030204" pitchFamily="49" charset="0"/>
                <a:cs typeface="Consolas" panose="020B0609020204030204" pitchFamily="49" charset="0"/>
              </a:rPr>
              <a:t>(fill = "</a:t>
            </a:r>
            <a:r>
              <a:rPr lang="en-US" sz="1400" dirty="0" err="1">
                <a:latin typeface="Consolas" panose="020B0609020204030204" pitchFamily="49" charset="0"/>
                <a:cs typeface="Consolas" panose="020B0609020204030204" pitchFamily="49" charset="0"/>
              </a:rPr>
              <a:t>whitesmoke</a:t>
            </a:r>
            <a:r>
              <a:rPr lang="en-US" sz="1400" dirty="0">
                <a:latin typeface="Consolas" panose="020B0609020204030204" pitchFamily="49" charset="0"/>
                <a:cs typeface="Consolas" panose="020B0609020204030204" pitchFamily="49" charset="0"/>
              </a:rPr>
              <a:t>", color = "</a:t>
            </a:r>
            <a:r>
              <a:rPr lang="en-US" sz="1400" dirty="0" err="1">
                <a:latin typeface="Consolas" panose="020B0609020204030204" pitchFamily="49" charset="0"/>
                <a:cs typeface="Consolas" panose="020B0609020204030204" pitchFamily="49" charset="0"/>
              </a:rPr>
              <a:t>darkgray</a:t>
            </a:r>
            <a:r>
              <a:rPr lang="en-US" sz="1400" dirty="0">
                <a:latin typeface="Consolas" panose="020B0609020204030204" pitchFamily="49" charset="0"/>
                <a:cs typeface="Consolas" panose="020B0609020204030204" pitchFamily="49" charset="0"/>
              </a:rPr>
              <a:t>") +</a:t>
            </a:r>
          </a:p>
          <a:p>
            <a:pPr marL="0" indent="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theme_void</a:t>
            </a:r>
            <a:r>
              <a:rPr lang="en-US" sz="1400" dirty="0">
                <a:latin typeface="Consolas" panose="020B0609020204030204" pitchFamily="49" charset="0"/>
                <a:cs typeface="Consolas" panose="020B0609020204030204" pitchFamily="49" charset="0"/>
              </a:rPr>
              <a:t>() +</a:t>
            </a:r>
          </a:p>
          <a:p>
            <a:pPr marL="0" indent="0">
              <a:buNone/>
            </a:pPr>
            <a:r>
              <a:rPr lang="en-US" sz="1400" dirty="0">
                <a:latin typeface="Consolas" panose="020B0609020204030204" pitchFamily="49" charset="0"/>
                <a:cs typeface="Consolas" panose="020B0609020204030204" pitchFamily="49" charset="0"/>
              </a:rPr>
              <a:t>  labs(title = "U.S. State Basemap")</a:t>
            </a:r>
          </a:p>
        </p:txBody>
      </p:sp>
      <p:sp>
        <p:nvSpPr>
          <p:cNvPr id="4" name="Slide Number Placeholder 3">
            <a:extLst>
              <a:ext uri="{FF2B5EF4-FFF2-40B4-BE49-F238E27FC236}">
                <a16:creationId xmlns:a16="http://schemas.microsoft.com/office/drawing/2014/main" id="{81FD3CDF-4336-BAB4-AE92-F6A5EA6D2035}"/>
              </a:ext>
            </a:extLst>
          </p:cNvPr>
          <p:cNvSpPr>
            <a:spLocks noGrp="1"/>
          </p:cNvSpPr>
          <p:nvPr>
            <p:ph type="sldNum" sz="quarter" idx="12"/>
          </p:nvPr>
        </p:nvSpPr>
        <p:spPr/>
        <p:txBody>
          <a:bodyPr/>
          <a:lstStyle/>
          <a:p>
            <a:fld id="{C0343C75-1924-D247-85A3-0CB62E67E5D1}" type="slidenum">
              <a:rPr lang="en-US" smtClean="0"/>
              <a:t>12</a:t>
            </a:fld>
            <a:endParaRPr lang="en-US"/>
          </a:p>
        </p:txBody>
      </p:sp>
      <p:sp>
        <p:nvSpPr>
          <p:cNvPr id="5" name="TextBox 4">
            <a:extLst>
              <a:ext uri="{FF2B5EF4-FFF2-40B4-BE49-F238E27FC236}">
                <a16:creationId xmlns:a16="http://schemas.microsoft.com/office/drawing/2014/main" id="{6657287A-D79D-CEC8-A0B7-047C2CEDA8A2}"/>
              </a:ext>
            </a:extLst>
          </p:cNvPr>
          <p:cNvSpPr txBox="1"/>
          <p:nvPr/>
        </p:nvSpPr>
        <p:spPr>
          <a:xfrm>
            <a:off x="3964173" y="243769"/>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1</a:t>
            </a:r>
          </a:p>
        </p:txBody>
      </p:sp>
    </p:spTree>
    <p:extLst>
      <p:ext uri="{BB962C8B-B14F-4D97-AF65-F5344CB8AC3E}">
        <p14:creationId xmlns:p14="http://schemas.microsoft.com/office/powerpoint/2010/main" val="3656120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BD080-6790-D14E-8EDA-447ED53B55C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496807B-0E2C-B2EE-34FE-A5B7841ABA83}"/>
              </a:ext>
            </a:extLst>
          </p:cNvPr>
          <p:cNvSpPr>
            <a:spLocks noGrp="1"/>
          </p:cNvSpPr>
          <p:nvPr>
            <p:ph idx="1"/>
          </p:nvPr>
        </p:nvSpPr>
        <p:spPr>
          <a:xfrm>
            <a:off x="457200" y="428978"/>
            <a:ext cx="8229600" cy="6107289"/>
          </a:xfrm>
        </p:spPr>
        <p:txBody>
          <a:bodyPr>
            <a:noAutofit/>
          </a:bodyPr>
          <a:lstStyle/>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a:t>
            </a:r>
            <a:r>
              <a:rPr lang="en-US" sz="1200" dirty="0" err="1">
                <a:latin typeface="Consolas" panose="020B0609020204030204" pitchFamily="49" charset="0"/>
                <a:cs typeface="Consolas" panose="020B0609020204030204" pitchFamily="49" charset="0"/>
              </a:rPr>
              <a:t>tigris</a:t>
            </a: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library(ggplot2)</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library(sf)</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a:t>
            </a:r>
            <a:r>
              <a:rPr lang="en-US" sz="1200" dirty="0" err="1">
                <a:latin typeface="Consolas" panose="020B0609020204030204" pitchFamily="49" charset="0"/>
                <a:cs typeface="Consolas" panose="020B0609020204030204" pitchFamily="49" charset="0"/>
              </a:rPr>
              <a:t>dplyr</a:t>
            </a: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options(</a:t>
            </a:r>
            <a:r>
              <a:rPr lang="en-US" sz="1200" dirty="0" err="1">
                <a:latin typeface="Consolas" panose="020B0609020204030204" pitchFamily="49" charset="0"/>
                <a:cs typeface="Consolas" panose="020B0609020204030204" pitchFamily="49" charset="0"/>
              </a:rPr>
              <a:t>tigris_use_cache</a:t>
            </a:r>
            <a:r>
              <a:rPr lang="en-US" sz="1200" dirty="0">
                <a:latin typeface="Consolas" panose="020B0609020204030204" pitchFamily="49" charset="0"/>
                <a:cs typeface="Consolas" panose="020B0609020204030204" pitchFamily="49" charset="0"/>
              </a:rPr>
              <a:t> = TRUE)</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1. Get County Boundary</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county_bound</a:t>
            </a:r>
            <a:r>
              <a:rPr lang="en-US" sz="1200" dirty="0">
                <a:latin typeface="Consolas" panose="020B0609020204030204" pitchFamily="49" charset="0"/>
                <a:cs typeface="Consolas" panose="020B0609020204030204" pitchFamily="49" charset="0"/>
              </a:rPr>
              <a:t> &lt;- counties(state = "TX", </a:t>
            </a:r>
            <a:r>
              <a:rPr lang="en-US" sz="1200" dirty="0" err="1">
                <a:latin typeface="Consolas" panose="020B0609020204030204" pitchFamily="49" charset="0"/>
                <a:cs typeface="Consolas" panose="020B0609020204030204" pitchFamily="49" charset="0"/>
              </a:rPr>
              <a:t>cb</a:t>
            </a:r>
            <a:r>
              <a:rPr lang="en-US" sz="1200" dirty="0">
                <a:latin typeface="Consolas" panose="020B0609020204030204" pitchFamily="49" charset="0"/>
                <a:cs typeface="Consolas" panose="020B0609020204030204" pitchFamily="49" charset="0"/>
              </a:rPr>
              <a:t> = TRUE) %&gt;%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filter(NAME == "Travis")</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2. Get Water Bodies</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county_water</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area_water</a:t>
            </a:r>
            <a:r>
              <a:rPr lang="en-US" sz="1200" dirty="0">
                <a:latin typeface="Consolas" panose="020B0609020204030204" pitchFamily="49" charset="0"/>
                <a:cs typeface="Consolas" panose="020B0609020204030204" pitchFamily="49" charset="0"/>
              </a:rPr>
              <a:t>(state = "TX", county = "Travis")</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3. Get Roads (Primary and Secondary for clarity; 'roads()' gets every street)</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county_roads</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primary_secondary_roads</a:t>
            </a:r>
            <a:r>
              <a:rPr lang="en-US" sz="1200" dirty="0">
                <a:latin typeface="Consolas" panose="020B0609020204030204" pitchFamily="49" charset="0"/>
                <a:cs typeface="Consolas" panose="020B0609020204030204" pitchFamily="49" charset="0"/>
              </a:rPr>
              <a:t>(state = "TX")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st_intersection</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county_bound</a:t>
            </a:r>
            <a:r>
              <a:rPr lang="en-US" sz="1200" dirty="0">
                <a:latin typeface="Consolas" panose="020B0609020204030204" pitchFamily="49" charset="0"/>
                <a:cs typeface="Consolas" panose="020B0609020204030204" pitchFamily="49" charset="0"/>
              </a:rPr>
              <a:t>) </a:t>
            </a:r>
            <a:r>
              <a:rPr lang="en-US" sz="1200" dirty="0">
                <a:solidFill>
                  <a:schemeClr val="tx1">
                    <a:lumMod val="50000"/>
                    <a:lumOff val="50000"/>
                  </a:schemeClr>
                </a:solidFill>
                <a:latin typeface="Consolas" panose="020B0609020204030204" pitchFamily="49" charset="0"/>
                <a:cs typeface="Consolas" panose="020B0609020204030204" pitchFamily="49" charset="0"/>
              </a:rPr>
              <a:t># Clip roads to the county boundary</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5D4E984A-DC3C-1FFC-5CCD-1F4878F328A4}"/>
              </a:ext>
            </a:extLst>
          </p:cNvPr>
          <p:cNvSpPr>
            <a:spLocks noGrp="1"/>
          </p:cNvSpPr>
          <p:nvPr>
            <p:ph type="sldNum" sz="quarter" idx="12"/>
          </p:nvPr>
        </p:nvSpPr>
        <p:spPr/>
        <p:txBody>
          <a:bodyPr/>
          <a:lstStyle/>
          <a:p>
            <a:fld id="{C0343C75-1924-D247-85A3-0CB62E67E5D1}" type="slidenum">
              <a:rPr lang="en-US" smtClean="0"/>
              <a:t>13</a:t>
            </a:fld>
            <a:endParaRPr lang="en-US"/>
          </a:p>
        </p:txBody>
      </p:sp>
      <p:sp>
        <p:nvSpPr>
          <p:cNvPr id="2" name="TextBox 1">
            <a:extLst>
              <a:ext uri="{FF2B5EF4-FFF2-40B4-BE49-F238E27FC236}">
                <a16:creationId xmlns:a16="http://schemas.microsoft.com/office/drawing/2014/main" id="{F4D7E59A-69AD-23F2-9A9D-3E04B23CBB6B}"/>
              </a:ext>
            </a:extLst>
          </p:cNvPr>
          <p:cNvSpPr txBox="1"/>
          <p:nvPr/>
        </p:nvSpPr>
        <p:spPr>
          <a:xfrm>
            <a:off x="3964173" y="243769"/>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2</a:t>
            </a:r>
          </a:p>
        </p:txBody>
      </p:sp>
    </p:spTree>
    <p:extLst>
      <p:ext uri="{BB962C8B-B14F-4D97-AF65-F5344CB8AC3E}">
        <p14:creationId xmlns:p14="http://schemas.microsoft.com/office/powerpoint/2010/main" val="523266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70DAB-E61C-F85E-1645-4C082DBECCE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A4D83E-1AE5-8904-279C-0A63B968E7AD}"/>
              </a:ext>
            </a:extLst>
          </p:cNvPr>
          <p:cNvSpPr>
            <a:spLocks noGrp="1"/>
          </p:cNvSpPr>
          <p:nvPr>
            <p:ph idx="1"/>
          </p:nvPr>
        </p:nvSpPr>
        <p:spPr>
          <a:xfrm>
            <a:off x="457200" y="428978"/>
            <a:ext cx="8229600" cy="6107289"/>
          </a:xfrm>
        </p:spPr>
        <p:txBody>
          <a:bodyPr>
            <a:noAutofit/>
          </a:bodyPr>
          <a:lstStyle/>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ggplot</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 Layer 1: County Background</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county_bound</a:t>
            </a:r>
            <a:r>
              <a:rPr lang="en-US" sz="1200" dirty="0">
                <a:latin typeface="Consolas" panose="020B0609020204030204" pitchFamily="49" charset="0"/>
                <a:cs typeface="Consolas" panose="020B0609020204030204" pitchFamily="49" charset="0"/>
              </a:rPr>
              <a:t>, fill = "#</a:t>
            </a:r>
            <a:r>
              <a:rPr lang="en-US" sz="1200" dirty="0" err="1">
                <a:latin typeface="Consolas" panose="020B0609020204030204" pitchFamily="49" charset="0"/>
                <a:cs typeface="Consolas" panose="020B0609020204030204" pitchFamily="49" charset="0"/>
              </a:rPr>
              <a:t>fdfdfd</a:t>
            </a:r>
            <a:r>
              <a:rPr lang="en-US" sz="1200" dirty="0">
                <a:latin typeface="Consolas" panose="020B0609020204030204" pitchFamily="49" charset="0"/>
                <a:cs typeface="Consolas" panose="020B0609020204030204" pitchFamily="49" charset="0"/>
              </a:rPr>
              <a:t>", color = "black", size = 0.5)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Layer 2: Water</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county_water</a:t>
            </a:r>
            <a:r>
              <a:rPr lang="en-US" sz="1200" dirty="0">
                <a:latin typeface="Consolas" panose="020B0609020204030204" pitchFamily="49" charset="0"/>
                <a:cs typeface="Consolas" panose="020B0609020204030204" pitchFamily="49" charset="0"/>
              </a:rPr>
              <a:t>, fill = "#a2d2ff", color = "transparent")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Layer 3: Roads</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county_roads</a:t>
            </a:r>
            <a:r>
              <a:rPr lang="en-US" sz="1200" dirty="0">
                <a:latin typeface="Consolas" panose="020B0609020204030204" pitchFamily="49" charset="0"/>
                <a:cs typeface="Consolas" panose="020B0609020204030204" pitchFamily="49" charset="0"/>
              </a:rPr>
              <a:t>, color = "#6c757d", size = 0.2)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Formatting</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theme_void</a:t>
            </a:r>
            <a:r>
              <a:rPr lang="en-US" sz="1200" dirty="0">
                <a:latin typeface="Consolas" panose="020B0609020204030204" pitchFamily="49" charset="0"/>
                <a:cs typeface="Consolas" panose="020B0609020204030204" pitchFamily="49" charset="0"/>
              </a:rPr>
              <a:t>() +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labs(</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title = "Basemap of Travis County, TX",</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subtitle = "Including Waterways and Primary/Secondary Roads",</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caption = "Source: US Census Bureau via </a:t>
            </a:r>
            <a:r>
              <a:rPr lang="en-US" sz="1200" dirty="0" err="1">
                <a:latin typeface="Consolas" panose="020B0609020204030204" pitchFamily="49" charset="0"/>
                <a:cs typeface="Consolas" panose="020B0609020204030204" pitchFamily="49" charset="0"/>
              </a:rPr>
              <a:t>tigris</a:t>
            </a: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theme(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plot.title</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element_text</a:t>
            </a:r>
            <a:r>
              <a:rPr lang="en-US" sz="1200" dirty="0">
                <a:latin typeface="Consolas" panose="020B0609020204030204" pitchFamily="49" charset="0"/>
                <a:cs typeface="Consolas" panose="020B0609020204030204" pitchFamily="49" charset="0"/>
              </a:rPr>
              <a:t>(face = "bold", </a:t>
            </a:r>
            <a:r>
              <a:rPr lang="en-US" sz="1200" dirty="0" err="1">
                <a:latin typeface="Consolas" panose="020B0609020204030204" pitchFamily="49" charset="0"/>
                <a:cs typeface="Consolas" panose="020B0609020204030204" pitchFamily="49" charset="0"/>
              </a:rPr>
              <a:t>hjust</a:t>
            </a:r>
            <a:r>
              <a:rPr lang="en-US" sz="1200" dirty="0">
                <a:latin typeface="Consolas" panose="020B0609020204030204" pitchFamily="49" charset="0"/>
                <a:cs typeface="Consolas" panose="020B0609020204030204" pitchFamily="49" charset="0"/>
              </a:rPr>
              <a:t> = 0.5),</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plot.subtitle</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element_text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hjust</a:t>
            </a:r>
            <a:r>
              <a:rPr lang="en-US" sz="1200" dirty="0">
                <a:latin typeface="Consolas" panose="020B0609020204030204" pitchFamily="49" charset="0"/>
                <a:cs typeface="Consolas" panose="020B0609020204030204" pitchFamily="49" charset="0"/>
              </a:rPr>
              <a:t> = 0.5),</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panel.background</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element_rect</a:t>
            </a:r>
            <a:r>
              <a:rPr lang="en-US" sz="1200" dirty="0">
                <a:latin typeface="Consolas" panose="020B0609020204030204" pitchFamily="49" charset="0"/>
                <a:cs typeface="Consolas" panose="020B0609020204030204" pitchFamily="49" charset="0"/>
              </a:rPr>
              <a:t>(fill = "white", color = NA)</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p:txBody>
      </p:sp>
      <p:sp>
        <p:nvSpPr>
          <p:cNvPr id="4" name="Slide Number Placeholder 3">
            <a:extLst>
              <a:ext uri="{FF2B5EF4-FFF2-40B4-BE49-F238E27FC236}">
                <a16:creationId xmlns:a16="http://schemas.microsoft.com/office/drawing/2014/main" id="{1F7C2BE3-3490-FD38-A89A-6E6B01A26FD5}"/>
              </a:ext>
            </a:extLst>
          </p:cNvPr>
          <p:cNvSpPr>
            <a:spLocks noGrp="1"/>
          </p:cNvSpPr>
          <p:nvPr>
            <p:ph type="sldNum" sz="quarter" idx="12"/>
          </p:nvPr>
        </p:nvSpPr>
        <p:spPr/>
        <p:txBody>
          <a:bodyPr/>
          <a:lstStyle/>
          <a:p>
            <a:fld id="{C0343C75-1924-D247-85A3-0CB62E67E5D1}" type="slidenum">
              <a:rPr lang="en-US" smtClean="0"/>
              <a:t>14</a:t>
            </a:fld>
            <a:endParaRPr lang="en-US"/>
          </a:p>
        </p:txBody>
      </p:sp>
    </p:spTree>
    <p:extLst>
      <p:ext uri="{BB962C8B-B14F-4D97-AF65-F5344CB8AC3E}">
        <p14:creationId xmlns:p14="http://schemas.microsoft.com/office/powerpoint/2010/main" val="2309322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7469C71-072F-0E19-156A-29F7C3F765F9}"/>
              </a:ext>
            </a:extLst>
          </p:cNvPr>
          <p:cNvSpPr>
            <a:spLocks noGrp="1"/>
          </p:cNvSpPr>
          <p:nvPr>
            <p:ph type="sldNum" sz="quarter" idx="12"/>
          </p:nvPr>
        </p:nvSpPr>
        <p:spPr/>
        <p:txBody>
          <a:bodyPr/>
          <a:lstStyle/>
          <a:p>
            <a:fld id="{C0343C75-1924-D247-85A3-0CB62E67E5D1}" type="slidenum">
              <a:rPr lang="en-US" smtClean="0"/>
              <a:t>15</a:t>
            </a:fld>
            <a:endParaRPr lang="en-US"/>
          </a:p>
        </p:txBody>
      </p:sp>
      <p:pic>
        <p:nvPicPr>
          <p:cNvPr id="5" name="Picture 4">
            <a:extLst>
              <a:ext uri="{FF2B5EF4-FFF2-40B4-BE49-F238E27FC236}">
                <a16:creationId xmlns:a16="http://schemas.microsoft.com/office/drawing/2014/main" id="{5D7E72DA-0196-50CC-820A-5F0BA5C35862}"/>
              </a:ext>
            </a:extLst>
          </p:cNvPr>
          <p:cNvPicPr>
            <a:picLocks noChangeAspect="1"/>
          </p:cNvPicPr>
          <p:nvPr/>
        </p:nvPicPr>
        <p:blipFill>
          <a:blip r:embed="rId2"/>
          <a:stretch>
            <a:fillRect/>
          </a:stretch>
        </p:blipFill>
        <p:spPr>
          <a:xfrm>
            <a:off x="685800" y="879046"/>
            <a:ext cx="7772400" cy="5099908"/>
          </a:xfrm>
          <a:prstGeom prst="rect">
            <a:avLst/>
          </a:prstGeom>
        </p:spPr>
      </p:pic>
    </p:spTree>
    <p:extLst>
      <p:ext uri="{BB962C8B-B14F-4D97-AF65-F5344CB8AC3E}">
        <p14:creationId xmlns:p14="http://schemas.microsoft.com/office/powerpoint/2010/main" val="7343408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D086F-9590-06AD-54BE-8DB9A1A3BEE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AAE19F-3C14-E883-90B4-E023C3A6949C}"/>
              </a:ext>
            </a:extLst>
          </p:cNvPr>
          <p:cNvSpPr>
            <a:spLocks noGrp="1"/>
          </p:cNvSpPr>
          <p:nvPr>
            <p:ph idx="1"/>
          </p:nvPr>
        </p:nvSpPr>
        <p:spPr>
          <a:xfrm>
            <a:off x="457200" y="428978"/>
            <a:ext cx="8229600" cy="6107289"/>
          </a:xfrm>
        </p:spPr>
        <p:txBody>
          <a:bodyPr>
            <a:noAutofit/>
          </a:bodyPr>
          <a:lstStyle/>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library(</a:t>
            </a:r>
            <a:r>
              <a:rPr lang="en-US" sz="1200" dirty="0" err="1">
                <a:solidFill>
                  <a:srgbClr val="C00000"/>
                </a:solidFill>
                <a:latin typeface="Consolas" panose="020B0609020204030204" pitchFamily="49" charset="0"/>
                <a:cs typeface="Consolas" panose="020B0609020204030204" pitchFamily="49" charset="0"/>
              </a:rPr>
              <a:t>ggspatial</a:t>
            </a:r>
            <a:r>
              <a:rPr lang="en-US" sz="1200" dirty="0">
                <a:solidFill>
                  <a:srgbClr val="C00000"/>
                </a:solidFill>
                <a:latin typeface="Consolas" panose="020B0609020204030204" pitchFamily="49" charset="0"/>
                <a:cs typeface="Consolas" panose="020B0609020204030204" pitchFamily="49" charset="0"/>
              </a:rPr>
              <a:t>)</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ggplot</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county_bound</a:t>
            </a:r>
            <a:r>
              <a:rPr lang="en-US" sz="1200" dirty="0">
                <a:latin typeface="Consolas" panose="020B0609020204030204" pitchFamily="49" charset="0"/>
                <a:cs typeface="Consolas" panose="020B0609020204030204" pitchFamily="49" charset="0"/>
              </a:rPr>
              <a:t>, fill = "wheat", color = "black", size = 0.5)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county_water</a:t>
            </a:r>
            <a:r>
              <a:rPr lang="en-US" sz="1200" dirty="0">
                <a:latin typeface="Consolas" panose="020B0609020204030204" pitchFamily="49" charset="0"/>
                <a:cs typeface="Consolas" panose="020B0609020204030204" pitchFamily="49" charset="0"/>
              </a:rPr>
              <a:t>, fill = "#a2d2ff", color = "transparent")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county_roads</a:t>
            </a:r>
            <a:r>
              <a:rPr lang="en-US" sz="1200" dirty="0">
                <a:latin typeface="Consolas" panose="020B0609020204030204" pitchFamily="49" charset="0"/>
                <a:cs typeface="Consolas" panose="020B0609020204030204" pitchFamily="49" charset="0"/>
              </a:rPr>
              <a:t>, color = "#6c757d", size = 0.2)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Add Scale Bar</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annotation_scale</a:t>
            </a:r>
            <a:r>
              <a:rPr lang="en-US" sz="1200" dirty="0">
                <a:solidFill>
                  <a:srgbClr val="C00000"/>
                </a:solidFill>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location = "bl",        # 'bl' = bottom left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width_hint</a:t>
            </a:r>
            <a:r>
              <a:rPr lang="en-US" sz="1200" dirty="0">
                <a:solidFill>
                  <a:srgbClr val="C00000"/>
                </a:solidFill>
                <a:latin typeface="Consolas" panose="020B0609020204030204" pitchFamily="49" charset="0"/>
                <a:cs typeface="Consolas" panose="020B0609020204030204" pitchFamily="49" charset="0"/>
              </a:rPr>
              <a:t> = 0.4,       # Proportion of the map the scale bar should take</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style = "ticks"         # Can also use "bar"</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Add North Arrow</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annotation_north_arrow</a:t>
            </a:r>
            <a:r>
              <a:rPr lang="en-US" sz="1200" dirty="0">
                <a:solidFill>
                  <a:srgbClr val="C00000"/>
                </a:solidFill>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location = "tr",        # 'tr' = top right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which_north</a:t>
            </a:r>
            <a:r>
              <a:rPr lang="en-US" sz="1200" dirty="0">
                <a:solidFill>
                  <a:srgbClr val="C00000"/>
                </a:solidFill>
                <a:latin typeface="Consolas" panose="020B0609020204030204" pitchFamily="49" charset="0"/>
                <a:cs typeface="Consolas" panose="020B0609020204030204" pitchFamily="49" charset="0"/>
              </a:rPr>
              <a:t> = "true",   # Aligns to true north</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pad_x</a:t>
            </a:r>
            <a:r>
              <a:rPr lang="en-US" sz="1200" dirty="0">
                <a:solidFill>
                  <a:srgbClr val="C00000"/>
                </a:solidFill>
                <a:latin typeface="Consolas" panose="020B0609020204030204" pitchFamily="49" charset="0"/>
                <a:cs typeface="Consolas" panose="020B0609020204030204" pitchFamily="49" charset="0"/>
              </a:rPr>
              <a:t> = unit(0.2, "in"), </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pad_y</a:t>
            </a:r>
            <a:r>
              <a:rPr lang="en-US" sz="1200" dirty="0">
                <a:solidFill>
                  <a:srgbClr val="C00000"/>
                </a:solidFill>
                <a:latin typeface="Consolas" panose="020B0609020204030204" pitchFamily="49" charset="0"/>
                <a:cs typeface="Consolas" panose="020B0609020204030204" pitchFamily="49" charset="0"/>
              </a:rPr>
              <a:t> = unit(0.2, "in"),</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style = </a:t>
            </a:r>
            <a:r>
              <a:rPr lang="en-US" sz="1200" dirty="0" err="1">
                <a:solidFill>
                  <a:srgbClr val="C00000"/>
                </a:solidFill>
                <a:latin typeface="Consolas" panose="020B0609020204030204" pitchFamily="49" charset="0"/>
                <a:cs typeface="Consolas" panose="020B0609020204030204" pitchFamily="49" charset="0"/>
              </a:rPr>
              <a:t>north_arrow_fancy_orienteering</a:t>
            </a:r>
            <a:r>
              <a:rPr lang="en-US" sz="1200" dirty="0">
                <a:solidFill>
                  <a:srgbClr val="C00000"/>
                </a:solidFill>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theme_void</a:t>
            </a:r>
            <a:r>
              <a:rPr lang="en-US" sz="1200" dirty="0">
                <a:latin typeface="Consolas" panose="020B0609020204030204" pitchFamily="49" charset="0"/>
                <a:cs typeface="Consolas" panose="020B0609020204030204" pitchFamily="49" charset="0"/>
              </a:rPr>
              <a:t>() +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labs(</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title = "Basemap of Travis County, TX",</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caption = "Caption: Scale and orientation provided by </a:t>
            </a:r>
            <a:r>
              <a:rPr lang="en-US" sz="1200" dirty="0" err="1">
                <a:solidFill>
                  <a:srgbClr val="C00000"/>
                </a:solidFill>
                <a:latin typeface="Consolas" panose="020B0609020204030204" pitchFamily="49" charset="0"/>
                <a:cs typeface="Consolas" panose="020B0609020204030204" pitchFamily="49" charset="0"/>
              </a:rPr>
              <a:t>ggspatial</a:t>
            </a:r>
            <a:r>
              <a:rPr lang="en-US" sz="1200" dirty="0">
                <a:solidFill>
                  <a:srgbClr val="C00000"/>
                </a:solidFill>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p:txBody>
      </p:sp>
      <p:sp>
        <p:nvSpPr>
          <p:cNvPr id="4" name="Slide Number Placeholder 3">
            <a:extLst>
              <a:ext uri="{FF2B5EF4-FFF2-40B4-BE49-F238E27FC236}">
                <a16:creationId xmlns:a16="http://schemas.microsoft.com/office/drawing/2014/main" id="{4CC8DD92-E0BA-0A17-5DF9-337910A52422}"/>
              </a:ext>
            </a:extLst>
          </p:cNvPr>
          <p:cNvSpPr>
            <a:spLocks noGrp="1"/>
          </p:cNvSpPr>
          <p:nvPr>
            <p:ph type="sldNum" sz="quarter" idx="12"/>
          </p:nvPr>
        </p:nvSpPr>
        <p:spPr/>
        <p:txBody>
          <a:bodyPr/>
          <a:lstStyle/>
          <a:p>
            <a:fld id="{C0343C75-1924-D247-85A3-0CB62E67E5D1}" type="slidenum">
              <a:rPr lang="en-US" smtClean="0"/>
              <a:t>16</a:t>
            </a:fld>
            <a:endParaRPr lang="en-US"/>
          </a:p>
        </p:txBody>
      </p:sp>
    </p:spTree>
    <p:extLst>
      <p:ext uri="{BB962C8B-B14F-4D97-AF65-F5344CB8AC3E}">
        <p14:creationId xmlns:p14="http://schemas.microsoft.com/office/powerpoint/2010/main" val="12406625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41A6EBF-179C-087C-5DEA-185B4893458E}"/>
              </a:ext>
            </a:extLst>
          </p:cNvPr>
          <p:cNvSpPr>
            <a:spLocks noGrp="1"/>
          </p:cNvSpPr>
          <p:nvPr>
            <p:ph type="sldNum" sz="quarter" idx="12"/>
          </p:nvPr>
        </p:nvSpPr>
        <p:spPr/>
        <p:txBody>
          <a:bodyPr/>
          <a:lstStyle/>
          <a:p>
            <a:fld id="{C0343C75-1924-D247-85A3-0CB62E67E5D1}" type="slidenum">
              <a:rPr lang="en-US" smtClean="0"/>
              <a:t>17</a:t>
            </a:fld>
            <a:endParaRPr lang="en-US"/>
          </a:p>
        </p:txBody>
      </p:sp>
      <p:pic>
        <p:nvPicPr>
          <p:cNvPr id="5" name="Picture 4">
            <a:extLst>
              <a:ext uri="{FF2B5EF4-FFF2-40B4-BE49-F238E27FC236}">
                <a16:creationId xmlns:a16="http://schemas.microsoft.com/office/drawing/2014/main" id="{8908450C-126F-4CF7-40F5-1616D73CEEA8}"/>
              </a:ext>
            </a:extLst>
          </p:cNvPr>
          <p:cNvPicPr>
            <a:picLocks noChangeAspect="1"/>
          </p:cNvPicPr>
          <p:nvPr/>
        </p:nvPicPr>
        <p:blipFill>
          <a:blip r:embed="rId2"/>
          <a:stretch>
            <a:fillRect/>
          </a:stretch>
        </p:blipFill>
        <p:spPr>
          <a:xfrm>
            <a:off x="685800" y="879046"/>
            <a:ext cx="7772400" cy="5099908"/>
          </a:xfrm>
          <a:prstGeom prst="rect">
            <a:avLst/>
          </a:prstGeom>
        </p:spPr>
      </p:pic>
    </p:spTree>
    <p:extLst>
      <p:ext uri="{BB962C8B-B14F-4D97-AF65-F5344CB8AC3E}">
        <p14:creationId xmlns:p14="http://schemas.microsoft.com/office/powerpoint/2010/main" val="872356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D2241-9FA2-3BA4-CCA5-3C746E8AD6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3EBFA5-2ECC-3B05-8966-4F8C3E69F3EB}"/>
              </a:ext>
            </a:extLst>
          </p:cNvPr>
          <p:cNvSpPr>
            <a:spLocks noGrp="1"/>
          </p:cNvSpPr>
          <p:nvPr>
            <p:ph idx="1"/>
          </p:nvPr>
        </p:nvSpPr>
        <p:spPr>
          <a:xfrm>
            <a:off x="457200" y="428978"/>
            <a:ext cx="8229600" cy="6107289"/>
          </a:xfrm>
        </p:spPr>
        <p:txBody>
          <a:bodyPr>
            <a:noAutofit/>
          </a:bodyPr>
          <a:lstStyle/>
          <a:p>
            <a:pPr marL="0" indent="0">
              <a:lnSpc>
                <a:spcPct val="110000"/>
              </a:lnSpc>
              <a:spcBef>
                <a:spcPts val="0"/>
              </a:spcBef>
              <a:buNone/>
            </a:pPr>
            <a:r>
              <a:rPr lang="en-US" sz="1200" dirty="0">
                <a:solidFill>
                  <a:schemeClr val="tx1">
                    <a:lumMod val="50000"/>
                    <a:lumOff val="50000"/>
                  </a:schemeClr>
                </a:solidFill>
                <a:highlight>
                  <a:srgbClr val="FFFF00"/>
                </a:highlight>
                <a:latin typeface="Consolas" panose="020B0609020204030204" pitchFamily="49" charset="0"/>
                <a:cs typeface="Consolas" panose="020B0609020204030204" pitchFamily="49" charset="0"/>
              </a:rPr>
              <a:t># Filter for large water bodies (in square meters)</a:t>
            </a:r>
          </a:p>
          <a:p>
            <a:pPr marL="0" indent="0">
              <a:lnSpc>
                <a:spcPct val="110000"/>
              </a:lnSpc>
              <a:spcBef>
                <a:spcPts val="0"/>
              </a:spcBef>
              <a:buNone/>
            </a:pPr>
            <a:r>
              <a:rPr lang="en-US" sz="1200" dirty="0" err="1">
                <a:solidFill>
                  <a:srgbClr val="C00000"/>
                </a:solidFill>
                <a:latin typeface="Consolas" panose="020B0609020204030204" pitchFamily="49" charset="0"/>
                <a:cs typeface="Consolas" panose="020B0609020204030204" pitchFamily="49" charset="0"/>
              </a:rPr>
              <a:t>large_water</a:t>
            </a:r>
            <a:r>
              <a:rPr lang="en-US" sz="1200" dirty="0">
                <a:solidFill>
                  <a:srgbClr val="C00000"/>
                </a:solidFill>
                <a:latin typeface="Consolas" panose="020B0609020204030204" pitchFamily="49" charset="0"/>
                <a:cs typeface="Consolas" panose="020B0609020204030204" pitchFamily="49" charset="0"/>
              </a:rPr>
              <a:t> &lt;- </a:t>
            </a:r>
            <a:r>
              <a:rPr lang="en-US" sz="1200" dirty="0" err="1">
                <a:solidFill>
                  <a:srgbClr val="C00000"/>
                </a:solidFill>
                <a:latin typeface="Consolas" panose="020B0609020204030204" pitchFamily="49" charset="0"/>
                <a:cs typeface="Consolas" panose="020B0609020204030204" pitchFamily="49" charset="0"/>
              </a:rPr>
              <a:t>county_water</a:t>
            </a:r>
            <a:r>
              <a:rPr lang="en-US" sz="1200" dirty="0">
                <a:solidFill>
                  <a:srgbClr val="C00000"/>
                </a:solidFill>
                <a:latin typeface="Consolas" panose="020B0609020204030204" pitchFamily="49" charset="0"/>
                <a:cs typeface="Consolas" panose="020B0609020204030204" pitchFamily="49" charset="0"/>
              </a:rPr>
              <a:t> %&gt;%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mutate(area = </a:t>
            </a:r>
            <a:r>
              <a:rPr lang="en-US" sz="1200" dirty="0" err="1">
                <a:solidFill>
                  <a:srgbClr val="C00000"/>
                </a:solidFill>
                <a:latin typeface="Consolas" panose="020B0609020204030204" pitchFamily="49" charset="0"/>
                <a:cs typeface="Consolas" panose="020B0609020204030204" pitchFamily="49" charset="0"/>
              </a:rPr>
              <a:t>as.numeric</a:t>
            </a:r>
            <a:r>
              <a:rPr lang="en-US" sz="1200" dirty="0">
                <a:solidFill>
                  <a:srgbClr val="C00000"/>
                </a:solidFill>
                <a:latin typeface="Consolas" panose="020B0609020204030204" pitchFamily="49" charset="0"/>
                <a:cs typeface="Consolas" panose="020B0609020204030204" pitchFamily="49" charset="0"/>
              </a:rPr>
              <a:t>(</a:t>
            </a:r>
            <a:r>
              <a:rPr lang="en-US" sz="1200" dirty="0" err="1">
                <a:solidFill>
                  <a:srgbClr val="C00000"/>
                </a:solidFill>
                <a:latin typeface="Consolas" panose="020B0609020204030204" pitchFamily="49" charset="0"/>
                <a:cs typeface="Consolas" panose="020B0609020204030204" pitchFamily="49" charset="0"/>
              </a:rPr>
              <a:t>st_area</a:t>
            </a:r>
            <a:r>
              <a:rPr lang="en-US" sz="1200" dirty="0">
                <a:solidFill>
                  <a:srgbClr val="C00000"/>
                </a:solidFill>
                <a:latin typeface="Consolas" panose="020B0609020204030204" pitchFamily="49" charset="0"/>
                <a:cs typeface="Consolas" panose="020B0609020204030204" pitchFamily="49" charset="0"/>
              </a:rPr>
              <a:t>(.))) %&gt;%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filter(area &gt; 1000000) </a:t>
            </a:r>
            <a:r>
              <a:rPr lang="en-US" sz="1200" dirty="0">
                <a:solidFill>
                  <a:schemeClr val="tx1">
                    <a:lumMod val="50000"/>
                    <a:lumOff val="50000"/>
                  </a:schemeClr>
                </a:solidFill>
                <a:latin typeface="Consolas" panose="020B0609020204030204" pitchFamily="49" charset="0"/>
                <a:cs typeface="Consolas" panose="020B0609020204030204" pitchFamily="49" charset="0"/>
              </a:rPr>
              <a:t># Adjust this number based on your specific county</a:t>
            </a:r>
          </a:p>
          <a:p>
            <a:pPr marL="0" indent="0">
              <a:lnSpc>
                <a:spcPct val="110000"/>
              </a:lnSpc>
              <a:spcBef>
                <a:spcPts val="0"/>
              </a:spcBef>
              <a:buNone/>
            </a:pPr>
            <a:endParaRPr lang="en-US" sz="1200" dirty="0">
              <a:solidFill>
                <a:srgbClr val="C00000"/>
              </a:solidFill>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Get a cleaned list of unique primary roads for labeling</a:t>
            </a:r>
          </a:p>
          <a:p>
            <a:pPr marL="0" indent="0">
              <a:lnSpc>
                <a:spcPct val="110000"/>
              </a:lnSpc>
              <a:spcBef>
                <a:spcPts val="0"/>
              </a:spcBef>
              <a:buNone/>
            </a:pPr>
            <a:r>
              <a:rPr lang="en-US" sz="1200" dirty="0" err="1">
                <a:solidFill>
                  <a:srgbClr val="C00000"/>
                </a:solidFill>
                <a:latin typeface="Consolas" panose="020B0609020204030204" pitchFamily="49" charset="0"/>
                <a:cs typeface="Consolas" panose="020B0609020204030204" pitchFamily="49" charset="0"/>
              </a:rPr>
              <a:t>road_labels</a:t>
            </a:r>
            <a:r>
              <a:rPr lang="en-US" sz="1200" dirty="0">
                <a:solidFill>
                  <a:srgbClr val="C00000"/>
                </a:solidFill>
                <a:latin typeface="Consolas" panose="020B0609020204030204" pitchFamily="49" charset="0"/>
                <a:cs typeface="Consolas" panose="020B0609020204030204" pitchFamily="49" charset="0"/>
              </a:rPr>
              <a:t> &lt;- </a:t>
            </a:r>
            <a:r>
              <a:rPr lang="en-US" sz="1200" dirty="0" err="1">
                <a:solidFill>
                  <a:srgbClr val="C00000"/>
                </a:solidFill>
                <a:latin typeface="Consolas" panose="020B0609020204030204" pitchFamily="49" charset="0"/>
                <a:cs typeface="Consolas" panose="020B0609020204030204" pitchFamily="49" charset="0"/>
              </a:rPr>
              <a:t>county_roads</a:t>
            </a:r>
            <a:r>
              <a:rPr lang="en-US" sz="1200" dirty="0">
                <a:solidFill>
                  <a:srgbClr val="C00000"/>
                </a:solidFill>
                <a:latin typeface="Consolas" panose="020B0609020204030204" pitchFamily="49" charset="0"/>
                <a:cs typeface="Consolas" panose="020B0609020204030204" pitchFamily="49" charset="0"/>
              </a:rPr>
              <a:t> %&gt;%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filter(!</a:t>
            </a:r>
            <a:r>
              <a:rPr lang="en-US" sz="1200" dirty="0" err="1">
                <a:solidFill>
                  <a:srgbClr val="C00000"/>
                </a:solidFill>
                <a:latin typeface="Consolas" panose="020B0609020204030204" pitchFamily="49" charset="0"/>
                <a:cs typeface="Consolas" panose="020B0609020204030204" pitchFamily="49" charset="0"/>
              </a:rPr>
              <a:t>is.na</a:t>
            </a:r>
            <a:r>
              <a:rPr lang="en-US" sz="1200" dirty="0">
                <a:solidFill>
                  <a:srgbClr val="C00000"/>
                </a:solidFill>
                <a:latin typeface="Consolas" panose="020B0609020204030204" pitchFamily="49" charset="0"/>
                <a:cs typeface="Consolas" panose="020B0609020204030204" pitchFamily="49" charset="0"/>
              </a:rPr>
              <a:t>(FULLNAME)) %&gt;%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group_by</a:t>
            </a:r>
            <a:r>
              <a:rPr lang="en-US" sz="1200" dirty="0">
                <a:solidFill>
                  <a:srgbClr val="C00000"/>
                </a:solidFill>
                <a:latin typeface="Consolas" panose="020B0609020204030204" pitchFamily="49" charset="0"/>
                <a:cs typeface="Consolas" panose="020B0609020204030204" pitchFamily="49" charset="0"/>
              </a:rPr>
              <a:t>(FULLNAME) %&gt;%</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summarize() %&gt;%       </a:t>
            </a:r>
            <a:r>
              <a:rPr lang="en-US" sz="1200" dirty="0">
                <a:solidFill>
                  <a:schemeClr val="tx1">
                    <a:lumMod val="50000"/>
                    <a:lumOff val="50000"/>
                  </a:schemeClr>
                </a:solidFill>
                <a:latin typeface="Consolas" panose="020B0609020204030204" pitchFamily="49" charset="0"/>
                <a:cs typeface="Consolas" panose="020B0609020204030204" pitchFamily="49" charset="0"/>
              </a:rPr>
              <a:t># This dissolves multi-line geometries for cleaner labeling</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st_centroid</a:t>
            </a:r>
            <a:r>
              <a:rPr lang="en-US" sz="1200" dirty="0">
                <a:solidFill>
                  <a:srgbClr val="C00000"/>
                </a:solidFill>
                <a:latin typeface="Consolas" panose="020B0609020204030204" pitchFamily="49" charset="0"/>
                <a:cs typeface="Consolas" panose="020B0609020204030204" pitchFamily="49" charset="0"/>
              </a:rPr>
              <a:t>()         </a:t>
            </a:r>
            <a:r>
              <a:rPr lang="en-US" sz="1200" dirty="0">
                <a:solidFill>
                  <a:schemeClr val="tx1">
                    <a:lumMod val="50000"/>
                    <a:lumOff val="50000"/>
                  </a:schemeClr>
                </a:solidFill>
                <a:latin typeface="Consolas" panose="020B0609020204030204" pitchFamily="49" charset="0"/>
                <a:cs typeface="Consolas" panose="020B0609020204030204" pitchFamily="49" charset="0"/>
              </a:rPr>
              <a:t># Place text at the center point of the road</a:t>
            </a: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library(</a:t>
            </a:r>
            <a:r>
              <a:rPr lang="en-US" sz="1200" dirty="0" err="1">
                <a:solidFill>
                  <a:srgbClr val="C00000"/>
                </a:solidFill>
                <a:latin typeface="Consolas" panose="020B0609020204030204" pitchFamily="49" charset="0"/>
                <a:cs typeface="Consolas" panose="020B0609020204030204" pitchFamily="49" charset="0"/>
              </a:rPr>
              <a:t>ggrepel</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chemeClr val="tx1">
                    <a:lumMod val="50000"/>
                    <a:lumOff val="50000"/>
                  </a:schemeClr>
                </a:solidFill>
                <a:latin typeface="Consolas" panose="020B0609020204030204" pitchFamily="49" charset="0"/>
                <a:cs typeface="Consolas" panose="020B0609020204030204" pitchFamily="49" charset="0"/>
              </a:rPr>
              <a:t>        # Optional but much better for label placement</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ggplot</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county_bound</a:t>
            </a:r>
            <a:r>
              <a:rPr lang="en-US" sz="1200" dirty="0">
                <a:latin typeface="Consolas" panose="020B0609020204030204" pitchFamily="49" charset="0"/>
                <a:cs typeface="Consolas" panose="020B0609020204030204" pitchFamily="49" charset="0"/>
              </a:rPr>
              <a:t>, fill = "#</a:t>
            </a:r>
            <a:r>
              <a:rPr lang="en-US" sz="1200" dirty="0" err="1">
                <a:latin typeface="Consolas" panose="020B0609020204030204" pitchFamily="49" charset="0"/>
                <a:cs typeface="Consolas" panose="020B0609020204030204" pitchFamily="49" charset="0"/>
              </a:rPr>
              <a:t>fdfdfd</a:t>
            </a:r>
            <a:r>
              <a:rPr lang="en-US" sz="1200" dirty="0">
                <a:latin typeface="Consolas" panose="020B0609020204030204" pitchFamily="49" charset="0"/>
                <a:cs typeface="Consolas" panose="020B0609020204030204" pitchFamily="49" charset="0"/>
              </a:rPr>
              <a:t>", color = "black")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county_water</a:t>
            </a:r>
            <a:r>
              <a:rPr lang="en-US" sz="1200" dirty="0">
                <a:latin typeface="Consolas" panose="020B0609020204030204" pitchFamily="49" charset="0"/>
                <a:cs typeface="Consolas" panose="020B0609020204030204" pitchFamily="49" charset="0"/>
              </a:rPr>
              <a:t>, fill = "#a2d2ff", color = "transparent")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(data = </a:t>
            </a:r>
            <a:r>
              <a:rPr lang="en-US" sz="1200" dirty="0" err="1">
                <a:latin typeface="Consolas" panose="020B0609020204030204" pitchFamily="49" charset="0"/>
                <a:cs typeface="Consolas" panose="020B0609020204030204" pitchFamily="49" charset="0"/>
              </a:rPr>
              <a:t>county_roads</a:t>
            </a:r>
            <a:r>
              <a:rPr lang="en-US" sz="1200" dirty="0">
                <a:latin typeface="Consolas" panose="020B0609020204030204" pitchFamily="49" charset="0"/>
                <a:cs typeface="Consolas" panose="020B0609020204030204" pitchFamily="49" charset="0"/>
              </a:rPr>
              <a:t>, color = "#6c757d", size = 0.2)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Label Water Bodies</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geom_sf_text</a:t>
            </a:r>
            <a:r>
              <a:rPr lang="en-US" sz="1200" dirty="0">
                <a:solidFill>
                  <a:srgbClr val="C00000"/>
                </a:solidFill>
                <a:latin typeface="Consolas" panose="020B0609020204030204" pitchFamily="49" charset="0"/>
                <a:cs typeface="Consolas" panose="020B0609020204030204" pitchFamily="49" charset="0"/>
              </a:rPr>
              <a:t>(data = </a:t>
            </a:r>
            <a:r>
              <a:rPr lang="en-US" sz="1200" dirty="0" err="1">
                <a:solidFill>
                  <a:srgbClr val="C00000"/>
                </a:solidFill>
                <a:latin typeface="Consolas" panose="020B0609020204030204" pitchFamily="49" charset="0"/>
                <a:cs typeface="Consolas" panose="020B0609020204030204" pitchFamily="49" charset="0"/>
              </a:rPr>
              <a:t>large_water</a:t>
            </a: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aes</a:t>
            </a:r>
            <a:r>
              <a:rPr lang="en-US" sz="1200" dirty="0">
                <a:solidFill>
                  <a:srgbClr val="C00000"/>
                </a:solidFill>
                <a:latin typeface="Consolas" panose="020B0609020204030204" pitchFamily="49" charset="0"/>
                <a:cs typeface="Consolas" panose="020B0609020204030204" pitchFamily="49" charset="0"/>
              </a:rPr>
              <a:t>(label = FULLNAME), </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color = "#0077b6", </a:t>
            </a:r>
            <a:r>
              <a:rPr lang="en-US" sz="1200" dirty="0" err="1">
                <a:solidFill>
                  <a:srgbClr val="C00000"/>
                </a:solidFill>
                <a:latin typeface="Consolas" panose="020B0609020204030204" pitchFamily="49" charset="0"/>
                <a:cs typeface="Consolas" panose="020B0609020204030204" pitchFamily="49" charset="0"/>
              </a:rPr>
              <a:t>fontface</a:t>
            </a:r>
            <a:r>
              <a:rPr lang="en-US" sz="1200" dirty="0">
                <a:solidFill>
                  <a:srgbClr val="C00000"/>
                </a:solidFill>
                <a:latin typeface="Consolas" panose="020B0609020204030204" pitchFamily="49" charset="0"/>
                <a:cs typeface="Consolas" panose="020B0609020204030204" pitchFamily="49" charset="0"/>
              </a:rPr>
              <a:t> = "italic", size = 3, </a:t>
            </a:r>
            <a:r>
              <a:rPr lang="en-US" sz="1200" dirty="0" err="1">
                <a:solidFill>
                  <a:srgbClr val="C00000"/>
                </a:solidFill>
                <a:latin typeface="Consolas" panose="020B0609020204030204" pitchFamily="49" charset="0"/>
                <a:cs typeface="Consolas" panose="020B0609020204030204" pitchFamily="49" charset="0"/>
              </a:rPr>
              <a:t>check_overlap</a:t>
            </a:r>
            <a:r>
              <a:rPr lang="en-US" sz="1200" dirty="0">
                <a:solidFill>
                  <a:srgbClr val="C00000"/>
                </a:solidFill>
                <a:latin typeface="Consolas" panose="020B0609020204030204" pitchFamily="49" charset="0"/>
                <a:cs typeface="Consolas" panose="020B0609020204030204" pitchFamily="49" charset="0"/>
              </a:rPr>
              <a:t> = TRUE)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Label Roads</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geom_sf_text</a:t>
            </a:r>
            <a:r>
              <a:rPr lang="en-US" sz="1200" dirty="0">
                <a:solidFill>
                  <a:srgbClr val="C00000"/>
                </a:solidFill>
                <a:latin typeface="Consolas" panose="020B0609020204030204" pitchFamily="49" charset="0"/>
                <a:cs typeface="Consolas" panose="020B0609020204030204" pitchFamily="49" charset="0"/>
              </a:rPr>
              <a:t>(data = </a:t>
            </a:r>
            <a:r>
              <a:rPr lang="en-US" sz="1200" dirty="0" err="1">
                <a:solidFill>
                  <a:srgbClr val="C00000"/>
                </a:solidFill>
                <a:latin typeface="Consolas" panose="020B0609020204030204" pitchFamily="49" charset="0"/>
                <a:cs typeface="Consolas" panose="020B0609020204030204" pitchFamily="49" charset="0"/>
              </a:rPr>
              <a:t>road_labels</a:t>
            </a:r>
            <a:r>
              <a:rPr lang="en-US" sz="1200" dirty="0">
                <a:solidFill>
                  <a:srgbClr val="C00000"/>
                </a:solidFill>
                <a:latin typeface="Consolas" panose="020B0609020204030204" pitchFamily="49" charset="0"/>
                <a:cs typeface="Consolas" panose="020B0609020204030204" pitchFamily="49" charset="0"/>
              </a:rPr>
              <a:t>, </a:t>
            </a:r>
            <a:r>
              <a:rPr lang="en-US" sz="1200" dirty="0" err="1">
                <a:solidFill>
                  <a:srgbClr val="C00000"/>
                </a:solidFill>
                <a:latin typeface="Consolas" panose="020B0609020204030204" pitchFamily="49" charset="0"/>
                <a:cs typeface="Consolas" panose="020B0609020204030204" pitchFamily="49" charset="0"/>
              </a:rPr>
              <a:t>aes</a:t>
            </a:r>
            <a:r>
              <a:rPr lang="en-US" sz="1200" dirty="0">
                <a:solidFill>
                  <a:srgbClr val="C00000"/>
                </a:solidFill>
                <a:latin typeface="Consolas" panose="020B0609020204030204" pitchFamily="49" charset="0"/>
                <a:cs typeface="Consolas" panose="020B0609020204030204" pitchFamily="49" charset="0"/>
              </a:rPr>
              <a:t>(label = FULLNAME), </a:t>
            </a:r>
          </a:p>
          <a:p>
            <a:pPr marL="0" indent="0">
              <a:lnSpc>
                <a:spcPct val="110000"/>
              </a:lnSpc>
              <a:spcBef>
                <a:spcPts val="0"/>
              </a:spcBef>
              <a:buNone/>
            </a:pPr>
            <a:r>
              <a:rPr lang="en-US" sz="1200" dirty="0">
                <a:solidFill>
                  <a:srgbClr val="C00000"/>
                </a:solidFill>
                <a:latin typeface="Consolas" panose="020B0609020204030204" pitchFamily="49" charset="0"/>
                <a:cs typeface="Consolas" panose="020B0609020204030204" pitchFamily="49" charset="0"/>
              </a:rPr>
              <a:t>               color = "black", size = 2.5, </a:t>
            </a:r>
            <a:r>
              <a:rPr lang="en-US" sz="1200" dirty="0" err="1">
                <a:solidFill>
                  <a:srgbClr val="C00000"/>
                </a:solidFill>
                <a:latin typeface="Consolas" panose="020B0609020204030204" pitchFamily="49" charset="0"/>
                <a:cs typeface="Consolas" panose="020B0609020204030204" pitchFamily="49" charset="0"/>
              </a:rPr>
              <a:t>check_overlap</a:t>
            </a:r>
            <a:r>
              <a:rPr lang="en-US" sz="1200" dirty="0">
                <a:solidFill>
                  <a:srgbClr val="C00000"/>
                </a:solidFill>
                <a:latin typeface="Consolas" panose="020B0609020204030204" pitchFamily="49" charset="0"/>
                <a:cs typeface="Consolas" panose="020B0609020204030204" pitchFamily="49" charset="0"/>
              </a:rPr>
              <a:t> = TRUE)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annotation_scale</a:t>
            </a:r>
            <a:r>
              <a:rPr lang="en-US" sz="1200" dirty="0">
                <a:latin typeface="Consolas" panose="020B0609020204030204" pitchFamily="49" charset="0"/>
                <a:cs typeface="Consolas" panose="020B0609020204030204" pitchFamily="49" charset="0"/>
              </a:rPr>
              <a:t>(location = "bl")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annotation_north_arrow</a:t>
            </a:r>
            <a:r>
              <a:rPr lang="en-US" sz="1200" dirty="0">
                <a:latin typeface="Consolas" panose="020B0609020204030204" pitchFamily="49" charset="0"/>
                <a:cs typeface="Consolas" panose="020B0609020204030204" pitchFamily="49" charset="0"/>
              </a:rPr>
              <a:t>(location = "tr", style = </a:t>
            </a:r>
            <a:r>
              <a:rPr lang="en-US" sz="1200" dirty="0" err="1">
                <a:latin typeface="Consolas" panose="020B0609020204030204" pitchFamily="49" charset="0"/>
                <a:cs typeface="Consolas" panose="020B0609020204030204" pitchFamily="49" charset="0"/>
              </a:rPr>
              <a:t>north_arrow_minimal</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theme_void</a:t>
            </a:r>
            <a:r>
              <a:rPr lang="en-US" sz="1200" dirty="0">
                <a:latin typeface="Consolas" panose="020B0609020204030204" pitchFamily="49" charset="0"/>
                <a:cs typeface="Consolas" panose="020B0609020204030204" pitchFamily="49" charset="0"/>
              </a:rPr>
              <a:t>()</a:t>
            </a:r>
          </a:p>
        </p:txBody>
      </p:sp>
      <p:sp>
        <p:nvSpPr>
          <p:cNvPr id="4" name="Slide Number Placeholder 3">
            <a:extLst>
              <a:ext uri="{FF2B5EF4-FFF2-40B4-BE49-F238E27FC236}">
                <a16:creationId xmlns:a16="http://schemas.microsoft.com/office/drawing/2014/main" id="{EBDCCAE9-916C-F827-5CD5-6C314A108EAB}"/>
              </a:ext>
            </a:extLst>
          </p:cNvPr>
          <p:cNvSpPr>
            <a:spLocks noGrp="1"/>
          </p:cNvSpPr>
          <p:nvPr>
            <p:ph type="sldNum" sz="quarter" idx="12"/>
          </p:nvPr>
        </p:nvSpPr>
        <p:spPr/>
        <p:txBody>
          <a:bodyPr/>
          <a:lstStyle/>
          <a:p>
            <a:fld id="{C0343C75-1924-D247-85A3-0CB62E67E5D1}" type="slidenum">
              <a:rPr lang="en-US" smtClean="0"/>
              <a:t>18</a:t>
            </a:fld>
            <a:endParaRPr lang="en-US"/>
          </a:p>
        </p:txBody>
      </p:sp>
    </p:spTree>
    <p:extLst>
      <p:ext uri="{BB962C8B-B14F-4D97-AF65-F5344CB8AC3E}">
        <p14:creationId xmlns:p14="http://schemas.microsoft.com/office/powerpoint/2010/main" val="18338010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78529-FBE4-B50A-383C-09EC36F2CA4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AD052C-E78C-7A28-0458-0059F7D05D87}"/>
              </a:ext>
            </a:extLst>
          </p:cNvPr>
          <p:cNvSpPr>
            <a:spLocks noGrp="1"/>
          </p:cNvSpPr>
          <p:nvPr>
            <p:ph idx="1"/>
          </p:nvPr>
        </p:nvSpPr>
        <p:spPr>
          <a:xfrm>
            <a:off x="457200" y="428978"/>
            <a:ext cx="8229600" cy="6107289"/>
          </a:xfrm>
        </p:spPr>
        <p:txBody>
          <a:bodyPr>
            <a:noAutofit/>
          </a:bodyPr>
          <a:lstStyle/>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A cleaned list of unique primary roads for labeling</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road_labels</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county_roads</a:t>
            </a:r>
            <a:r>
              <a:rPr lang="en-US" sz="1200" dirty="0">
                <a:latin typeface="Consolas" panose="020B0609020204030204" pitchFamily="49" charset="0"/>
                <a:cs typeface="Consolas" panose="020B0609020204030204" pitchFamily="49" charset="0"/>
              </a:rPr>
              <a:t>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filter(!</a:t>
            </a:r>
            <a:r>
              <a:rPr lang="en-US" sz="1200" dirty="0" err="1">
                <a:latin typeface="Consolas" panose="020B0609020204030204" pitchFamily="49" charset="0"/>
                <a:cs typeface="Consolas" panose="020B0609020204030204" pitchFamily="49" charset="0"/>
              </a:rPr>
              <a:t>is.na</a:t>
            </a:r>
            <a:r>
              <a:rPr lang="en-US" sz="1200" dirty="0">
                <a:latin typeface="Consolas" panose="020B0609020204030204" pitchFamily="49" charset="0"/>
                <a:cs typeface="Consolas" panose="020B0609020204030204" pitchFamily="49" charset="0"/>
              </a:rPr>
              <a:t>(FULLNAME))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group_by</a:t>
            </a:r>
            <a:r>
              <a:rPr lang="en-US" sz="1200" dirty="0">
                <a:latin typeface="Consolas" panose="020B0609020204030204" pitchFamily="49" charset="0"/>
                <a:cs typeface="Consolas" panose="020B0609020204030204" pitchFamily="49" charset="0"/>
              </a:rPr>
              <a:t>(FULLNAME)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summarize() %&gt;%       </a:t>
            </a:r>
            <a:r>
              <a:rPr lang="en-US" sz="1200" dirty="0">
                <a:solidFill>
                  <a:schemeClr val="tx1">
                    <a:lumMod val="50000"/>
                    <a:lumOff val="50000"/>
                  </a:schemeClr>
                </a:solidFill>
                <a:latin typeface="Consolas" panose="020B0609020204030204" pitchFamily="49" charset="0"/>
                <a:cs typeface="Consolas" panose="020B0609020204030204" pitchFamily="49" charset="0"/>
              </a:rPr>
              <a:t># This dissolves multi-line geometries for cleaner labeling</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st_centroid</a:t>
            </a:r>
            <a:r>
              <a:rPr lang="en-US" sz="1200" dirty="0">
                <a:latin typeface="Consolas" panose="020B0609020204030204" pitchFamily="49" charset="0"/>
                <a:cs typeface="Consolas" panose="020B0609020204030204" pitchFamily="49" charset="0"/>
              </a:rPr>
              <a:t>() %&gt;%     </a:t>
            </a:r>
            <a:r>
              <a:rPr lang="en-US" sz="1200" dirty="0">
                <a:solidFill>
                  <a:schemeClr val="tx1">
                    <a:lumMod val="50000"/>
                    <a:lumOff val="50000"/>
                  </a:schemeClr>
                </a:solidFill>
                <a:latin typeface="Consolas" panose="020B0609020204030204" pitchFamily="49" charset="0"/>
                <a:cs typeface="Consolas" panose="020B0609020204030204" pitchFamily="49" charset="0"/>
              </a:rPr>
              <a:t># Place text at the center point of the road</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ungroup()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slice_sample</a:t>
            </a:r>
            <a:r>
              <a:rPr lang="en-US" sz="1200" dirty="0">
                <a:latin typeface="Consolas" panose="020B0609020204030204" pitchFamily="49" charset="0"/>
                <a:cs typeface="Consolas" panose="020B0609020204030204" pitchFamily="49" charset="0"/>
              </a:rPr>
              <a:t>(n = 10)  </a:t>
            </a:r>
            <a:r>
              <a:rPr lang="en-US" sz="1200" dirty="0">
                <a:solidFill>
                  <a:schemeClr val="tx1">
                    <a:lumMod val="50000"/>
                    <a:lumOff val="50000"/>
                  </a:schemeClr>
                </a:solidFill>
                <a:latin typeface="Consolas" panose="020B0609020204030204" pitchFamily="49" charset="0"/>
                <a:cs typeface="Consolas" panose="020B0609020204030204" pitchFamily="49" charset="0"/>
              </a:rPr>
              <a:t># Randomly pick 10</a:t>
            </a: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Or longest roads</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road_labels</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county_roads</a:t>
            </a:r>
            <a:r>
              <a:rPr lang="en-US" sz="1200" dirty="0">
                <a:latin typeface="Consolas" panose="020B0609020204030204" pitchFamily="49" charset="0"/>
                <a:cs typeface="Consolas" panose="020B0609020204030204" pitchFamily="49" charset="0"/>
              </a:rPr>
              <a:t>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filter(!</a:t>
            </a:r>
            <a:r>
              <a:rPr lang="en-US" sz="1200" dirty="0" err="1">
                <a:latin typeface="Consolas" panose="020B0609020204030204" pitchFamily="49" charset="0"/>
                <a:cs typeface="Consolas" panose="020B0609020204030204" pitchFamily="49" charset="0"/>
              </a:rPr>
              <a:t>is.na</a:t>
            </a:r>
            <a:r>
              <a:rPr lang="en-US" sz="1200" dirty="0">
                <a:latin typeface="Consolas" panose="020B0609020204030204" pitchFamily="49" charset="0"/>
                <a:cs typeface="Consolas" panose="020B0609020204030204" pitchFamily="49" charset="0"/>
              </a:rPr>
              <a:t>(FULLNAME))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group_by</a:t>
            </a:r>
            <a:r>
              <a:rPr lang="en-US" sz="1200" dirty="0">
                <a:latin typeface="Consolas" panose="020B0609020204030204" pitchFamily="49" charset="0"/>
                <a:cs typeface="Consolas" panose="020B0609020204030204" pitchFamily="49" charset="0"/>
              </a:rPr>
              <a:t>(FULLNAME)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summarize() %&gt;%                </a:t>
            </a:r>
            <a:r>
              <a:rPr lang="en-US" sz="1200" dirty="0">
                <a:solidFill>
                  <a:schemeClr val="tx1">
                    <a:lumMod val="50000"/>
                    <a:lumOff val="50000"/>
                  </a:schemeClr>
                </a:solidFill>
                <a:latin typeface="Consolas" panose="020B0609020204030204" pitchFamily="49" charset="0"/>
                <a:cs typeface="Consolas" panose="020B0609020204030204" pitchFamily="49" charset="0"/>
              </a:rPr>
              <a:t># Merges all segments of the same road name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mutate(</a:t>
            </a:r>
            <a:r>
              <a:rPr lang="en-US" sz="1200" dirty="0" err="1">
                <a:latin typeface="Consolas" panose="020B0609020204030204" pitchFamily="49" charset="0"/>
                <a:cs typeface="Consolas" panose="020B0609020204030204" pitchFamily="49" charset="0"/>
              </a:rPr>
              <a:t>road_length</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st_length</a:t>
            </a:r>
            <a:r>
              <a:rPr lang="en-US" sz="1200" dirty="0">
                <a:latin typeface="Consolas" panose="020B0609020204030204" pitchFamily="49" charset="0"/>
                <a:cs typeface="Consolas" panose="020B0609020204030204" pitchFamily="49" charset="0"/>
              </a:rPr>
              <a:t>(geometry)) %&gt;%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arrange(desc(</a:t>
            </a:r>
            <a:r>
              <a:rPr lang="en-US" sz="1200" dirty="0" err="1">
                <a:latin typeface="Consolas" panose="020B0609020204030204" pitchFamily="49" charset="0"/>
                <a:cs typeface="Consolas" panose="020B0609020204030204" pitchFamily="49" charset="0"/>
              </a:rPr>
              <a:t>road_length</a:t>
            </a:r>
            <a:r>
              <a:rPr lang="en-US" sz="1200" dirty="0">
                <a:latin typeface="Consolas" panose="020B0609020204030204" pitchFamily="49" charset="0"/>
                <a:cs typeface="Consolas" panose="020B0609020204030204" pitchFamily="49" charset="0"/>
              </a:rPr>
              <a:t>)) %&gt;% </a:t>
            </a:r>
            <a:r>
              <a:rPr lang="en-US" sz="1200" dirty="0">
                <a:solidFill>
                  <a:schemeClr val="tx1">
                    <a:lumMod val="50000"/>
                    <a:lumOff val="50000"/>
                  </a:schemeClr>
                </a:solidFill>
                <a:latin typeface="Consolas" panose="020B0609020204030204" pitchFamily="49" charset="0"/>
                <a:cs typeface="Consolas" panose="020B0609020204030204" pitchFamily="49" charset="0"/>
              </a:rPr>
              <a:t># Sort by length</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slice_head</a:t>
            </a:r>
            <a:r>
              <a:rPr lang="en-US" sz="1200" dirty="0">
                <a:latin typeface="Consolas" panose="020B0609020204030204" pitchFamily="49" charset="0"/>
                <a:cs typeface="Consolas" panose="020B0609020204030204" pitchFamily="49" charset="0"/>
              </a:rPr>
              <a:t>(n = 7) %&gt;%          </a:t>
            </a:r>
            <a:r>
              <a:rPr lang="en-US" sz="1200" dirty="0">
                <a:solidFill>
                  <a:schemeClr val="tx1">
                    <a:lumMod val="50000"/>
                    <a:lumOff val="50000"/>
                  </a:schemeClr>
                </a:solidFill>
                <a:latin typeface="Consolas" panose="020B0609020204030204" pitchFamily="49" charset="0"/>
                <a:cs typeface="Consolas" panose="020B0609020204030204" pitchFamily="49" charset="0"/>
              </a:rPr>
              <a:t># Take the top 7</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st_point_on_surface</a:t>
            </a:r>
            <a:r>
              <a:rPr lang="en-US" sz="1200" dirty="0">
                <a:latin typeface="Consolas" panose="020B0609020204030204" pitchFamily="49" charset="0"/>
                <a:cs typeface="Consolas" panose="020B0609020204030204" pitchFamily="49" charset="0"/>
              </a:rPr>
              <a:t>()          </a:t>
            </a:r>
            <a:r>
              <a:rPr lang="en-US" sz="1200" dirty="0">
                <a:solidFill>
                  <a:schemeClr val="tx1">
                    <a:lumMod val="50000"/>
                    <a:lumOff val="50000"/>
                  </a:schemeClr>
                </a:solidFill>
                <a:latin typeface="Consolas" panose="020B0609020204030204" pitchFamily="49" charset="0"/>
                <a:cs typeface="Consolas" panose="020B0609020204030204" pitchFamily="49" charset="0"/>
              </a:rPr>
              <a:t># Better than centroid for winding roads</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49BE909E-BDA6-6B4F-A980-B51753E93755}"/>
              </a:ext>
            </a:extLst>
          </p:cNvPr>
          <p:cNvSpPr>
            <a:spLocks noGrp="1"/>
          </p:cNvSpPr>
          <p:nvPr>
            <p:ph type="sldNum" sz="quarter" idx="12"/>
          </p:nvPr>
        </p:nvSpPr>
        <p:spPr/>
        <p:txBody>
          <a:bodyPr/>
          <a:lstStyle/>
          <a:p>
            <a:fld id="{C0343C75-1924-D247-85A3-0CB62E67E5D1}" type="slidenum">
              <a:rPr lang="en-US" smtClean="0"/>
              <a:t>19</a:t>
            </a:fld>
            <a:endParaRPr lang="en-US"/>
          </a:p>
        </p:txBody>
      </p:sp>
    </p:spTree>
    <p:extLst>
      <p:ext uri="{BB962C8B-B14F-4D97-AF65-F5344CB8AC3E}">
        <p14:creationId xmlns:p14="http://schemas.microsoft.com/office/powerpoint/2010/main" val="4116490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1910536-1B9B-D264-2FC7-3B2AADAE1ECB}"/>
              </a:ext>
            </a:extLst>
          </p:cNvPr>
          <p:cNvSpPr>
            <a:spLocks noGrp="1"/>
          </p:cNvSpPr>
          <p:nvPr>
            <p:ph type="sldNum" sz="quarter" idx="12"/>
          </p:nvPr>
        </p:nvSpPr>
        <p:spPr/>
        <p:txBody>
          <a:bodyPr/>
          <a:lstStyle/>
          <a:p>
            <a:fld id="{C0343C75-1924-D247-85A3-0CB62E67E5D1}" type="slidenum">
              <a:rPr lang="en-US" smtClean="0"/>
              <a:t>20</a:t>
            </a:fld>
            <a:endParaRPr lang="en-US"/>
          </a:p>
        </p:txBody>
      </p:sp>
      <p:pic>
        <p:nvPicPr>
          <p:cNvPr id="3" name="Picture 2">
            <a:extLst>
              <a:ext uri="{FF2B5EF4-FFF2-40B4-BE49-F238E27FC236}">
                <a16:creationId xmlns:a16="http://schemas.microsoft.com/office/drawing/2014/main" id="{66510BCE-F2FD-883D-C444-9F7C85F7BDC6}"/>
              </a:ext>
            </a:extLst>
          </p:cNvPr>
          <p:cNvPicPr>
            <a:picLocks noChangeAspect="1"/>
          </p:cNvPicPr>
          <p:nvPr/>
        </p:nvPicPr>
        <p:blipFill>
          <a:blip r:embed="rId2"/>
          <a:stretch>
            <a:fillRect/>
          </a:stretch>
        </p:blipFill>
        <p:spPr>
          <a:xfrm>
            <a:off x="685800" y="879046"/>
            <a:ext cx="7772400" cy="5099908"/>
          </a:xfrm>
          <a:prstGeom prst="rect">
            <a:avLst/>
          </a:prstGeom>
        </p:spPr>
      </p:pic>
    </p:spTree>
    <p:extLst>
      <p:ext uri="{BB962C8B-B14F-4D97-AF65-F5344CB8AC3E}">
        <p14:creationId xmlns:p14="http://schemas.microsoft.com/office/powerpoint/2010/main" val="15454987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3D0E6-CDF2-4016-019F-E6F21966E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3459E1-7CCD-6A27-2008-58A038353B9C}"/>
              </a:ext>
            </a:extLst>
          </p:cNvPr>
          <p:cNvSpPr>
            <a:spLocks noGrp="1"/>
          </p:cNvSpPr>
          <p:nvPr>
            <p:ph type="title"/>
          </p:nvPr>
        </p:nvSpPr>
        <p:spPr/>
        <p:txBody>
          <a:bodyPr/>
          <a:lstStyle/>
          <a:p>
            <a:r>
              <a:rPr lang="en-US" dirty="0"/>
              <a:t>Data Representation</a:t>
            </a:r>
            <a:br>
              <a:rPr lang="en-US" dirty="0"/>
            </a:br>
            <a:r>
              <a:rPr lang="en-US" b="1" dirty="0"/>
              <a:t>Thematic Maps</a:t>
            </a:r>
          </a:p>
        </p:txBody>
      </p:sp>
      <p:sp>
        <p:nvSpPr>
          <p:cNvPr id="3" name="Content Placeholder 2">
            <a:extLst>
              <a:ext uri="{FF2B5EF4-FFF2-40B4-BE49-F238E27FC236}">
                <a16:creationId xmlns:a16="http://schemas.microsoft.com/office/drawing/2014/main" id="{DF56C655-A93B-0845-C70D-FA0C9D1E159F}"/>
              </a:ext>
            </a:extLst>
          </p:cNvPr>
          <p:cNvSpPr>
            <a:spLocks noGrp="1"/>
          </p:cNvSpPr>
          <p:nvPr>
            <p:ph idx="1"/>
          </p:nvPr>
        </p:nvSpPr>
        <p:spPr/>
        <p:txBody>
          <a:bodyPr/>
          <a:lstStyle/>
          <a:p>
            <a:r>
              <a:rPr lang="en-US" dirty="0"/>
              <a:t>A popular way of presenting information about spatial patterns is to use a thematic map.</a:t>
            </a:r>
          </a:p>
          <a:p>
            <a:r>
              <a:rPr lang="en-US" b="1" dirty="0"/>
              <a:t>Data is aggregated </a:t>
            </a:r>
            <a:r>
              <a:rPr lang="en-US" dirty="0"/>
              <a:t>by predefined spatial units</a:t>
            </a:r>
            <a:br>
              <a:rPr lang="en-US" dirty="0"/>
            </a:br>
            <a:r>
              <a:rPr lang="en-US" dirty="0"/>
              <a:t>(geo-administrative layers, e.g., countries, states, or districts).</a:t>
            </a:r>
          </a:p>
          <a:p>
            <a:r>
              <a:rPr lang="en-US" dirty="0"/>
              <a:t>A broader category that includes various types of maps (e.g., choropleth, dot density, proportional symbols, isopleth maps, etc.)</a:t>
            </a:r>
          </a:p>
          <a:p>
            <a:r>
              <a:rPr lang="en-US" dirty="0"/>
              <a:t>A thematic map shows the spatial distribution of one or more specific data themes for selected geographic areas.</a:t>
            </a:r>
          </a:p>
          <a:p>
            <a:r>
              <a:rPr lang="en-US" dirty="0"/>
              <a:t>The data may be </a:t>
            </a:r>
            <a:r>
              <a:rPr lang="en-US" b="1" dirty="0"/>
              <a:t>quantitative</a:t>
            </a:r>
            <a:r>
              <a:rPr lang="en-US" dirty="0"/>
              <a:t> (e.g., percentage population change, income distribution) or </a:t>
            </a:r>
            <a:r>
              <a:rPr lang="en-US" b="1" dirty="0"/>
              <a:t>qualitative</a:t>
            </a:r>
            <a:r>
              <a:rPr lang="en-US" dirty="0"/>
              <a:t> (e.g., predominant soil types).</a:t>
            </a:r>
          </a:p>
          <a:p>
            <a:r>
              <a:rPr lang="en-US" dirty="0"/>
              <a:t>The basic way to create a vector thematic map is to identify the field in the attribute table of the map layer that will be used for mapping.</a:t>
            </a:r>
          </a:p>
          <a:p>
            <a:r>
              <a:rPr lang="en-US" dirty="0"/>
              <a:t>Note, the basemaps can be used for </a:t>
            </a:r>
            <a:r>
              <a:rPr lang="en-US" b="1" dirty="0"/>
              <a:t>context</a:t>
            </a:r>
            <a:r>
              <a:rPr lang="en-US" dirty="0"/>
              <a:t>!</a:t>
            </a:r>
          </a:p>
        </p:txBody>
      </p:sp>
      <p:sp>
        <p:nvSpPr>
          <p:cNvPr id="4" name="Slide Number Placeholder 3">
            <a:extLst>
              <a:ext uri="{FF2B5EF4-FFF2-40B4-BE49-F238E27FC236}">
                <a16:creationId xmlns:a16="http://schemas.microsoft.com/office/drawing/2014/main" id="{303DBA5A-5134-BA7E-0180-E06310DA7115}"/>
              </a:ext>
            </a:extLst>
          </p:cNvPr>
          <p:cNvSpPr>
            <a:spLocks noGrp="1"/>
          </p:cNvSpPr>
          <p:nvPr>
            <p:ph type="sldNum" sz="quarter" idx="12"/>
          </p:nvPr>
        </p:nvSpPr>
        <p:spPr/>
        <p:txBody>
          <a:bodyPr/>
          <a:lstStyle/>
          <a:p>
            <a:fld id="{C0343C75-1924-D247-85A3-0CB62E67E5D1}" type="slidenum">
              <a:rPr lang="en-US" smtClean="0"/>
              <a:t>21</a:t>
            </a:fld>
            <a:endParaRPr lang="en-US"/>
          </a:p>
        </p:txBody>
      </p:sp>
    </p:spTree>
    <p:extLst>
      <p:ext uri="{BB962C8B-B14F-4D97-AF65-F5344CB8AC3E}">
        <p14:creationId xmlns:p14="http://schemas.microsoft.com/office/powerpoint/2010/main" val="17216692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75070-49C3-84E8-B49B-A32FCE36F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59084-BEBF-2E67-1209-AAA035EA8E19}"/>
              </a:ext>
            </a:extLst>
          </p:cNvPr>
          <p:cNvSpPr>
            <a:spLocks noGrp="1"/>
          </p:cNvSpPr>
          <p:nvPr>
            <p:ph type="title"/>
          </p:nvPr>
        </p:nvSpPr>
        <p:spPr/>
        <p:txBody>
          <a:bodyPr/>
          <a:lstStyle/>
          <a:p>
            <a:r>
              <a:rPr lang="en-US" dirty="0"/>
              <a:t>Data Representation</a:t>
            </a:r>
            <a:br>
              <a:rPr lang="en-US" dirty="0"/>
            </a:br>
            <a:r>
              <a:rPr lang="en-US" b="1" dirty="0"/>
              <a:t>Thematic Maps</a:t>
            </a:r>
          </a:p>
        </p:txBody>
      </p:sp>
      <p:sp>
        <p:nvSpPr>
          <p:cNvPr id="3" name="Content Placeholder 2">
            <a:extLst>
              <a:ext uri="{FF2B5EF4-FFF2-40B4-BE49-F238E27FC236}">
                <a16:creationId xmlns:a16="http://schemas.microsoft.com/office/drawing/2014/main" id="{59EC6E49-6EF2-0F2B-2AE2-2B6BF4567078}"/>
              </a:ext>
            </a:extLst>
          </p:cNvPr>
          <p:cNvSpPr>
            <a:spLocks noGrp="1"/>
          </p:cNvSpPr>
          <p:nvPr>
            <p:ph idx="1"/>
          </p:nvPr>
        </p:nvSpPr>
        <p:spPr/>
        <p:txBody>
          <a:bodyPr>
            <a:normAutofit lnSpcReduction="10000"/>
          </a:bodyPr>
          <a:lstStyle/>
          <a:p>
            <a:r>
              <a:rPr lang="en-US" sz="1600" b="1" dirty="0"/>
              <a:t>Vector data </a:t>
            </a:r>
            <a:r>
              <a:rPr lang="en-US" sz="1600" dirty="0"/>
              <a:t>have </a:t>
            </a:r>
            <a:r>
              <a:rPr lang="en-US" sz="1600" b="1" dirty="0"/>
              <a:t>attributes</a:t>
            </a:r>
            <a:r>
              <a:rPr lang="en-US" sz="1600" dirty="0"/>
              <a:t> that describe </a:t>
            </a:r>
            <a:r>
              <a:rPr lang="en-US" sz="1600" b="1" dirty="0"/>
              <a:t>properties of the features</a:t>
            </a:r>
            <a:r>
              <a:rPr lang="en-US" sz="1600" dirty="0"/>
              <a:t>.</a:t>
            </a:r>
          </a:p>
          <a:p>
            <a:pPr lvl="1"/>
            <a:r>
              <a:rPr lang="en-US" sz="1600" dirty="0"/>
              <a:t>The attributes are stored in a </a:t>
            </a:r>
            <a:r>
              <a:rPr lang="en-US" sz="1600" b="1" dirty="0"/>
              <a:t>table.</a:t>
            </a:r>
          </a:p>
          <a:p>
            <a:pPr lvl="1"/>
            <a:r>
              <a:rPr lang="en-US" sz="1600" b="1" dirty="0"/>
              <a:t>Rows </a:t>
            </a:r>
            <a:r>
              <a:rPr lang="en-US" sz="1600" dirty="0"/>
              <a:t>are records.</a:t>
            </a:r>
          </a:p>
          <a:p>
            <a:pPr lvl="2"/>
            <a:r>
              <a:rPr lang="en-US" sz="1600" dirty="0"/>
              <a:t>There is </a:t>
            </a:r>
            <a:r>
              <a:rPr lang="en-US" sz="1600" b="1" dirty="0"/>
              <a:t>one record per feature</a:t>
            </a:r>
            <a:r>
              <a:rPr lang="en-US" sz="1600" dirty="0"/>
              <a:t> in the vector layer.</a:t>
            </a:r>
          </a:p>
          <a:p>
            <a:pPr lvl="1"/>
            <a:r>
              <a:rPr lang="en-US" sz="1600" b="1" dirty="0"/>
              <a:t>Columns</a:t>
            </a:r>
            <a:r>
              <a:rPr lang="en-US" sz="1600" dirty="0"/>
              <a:t> are </a:t>
            </a:r>
            <a:r>
              <a:rPr lang="en-US" sz="1600" b="1" dirty="0"/>
              <a:t>fields</a:t>
            </a:r>
            <a:r>
              <a:rPr lang="en-US" sz="1600" dirty="0"/>
              <a:t>.</a:t>
            </a:r>
          </a:p>
          <a:p>
            <a:pPr lvl="2"/>
            <a:r>
              <a:rPr lang="en-US" sz="1600" dirty="0"/>
              <a:t>Fields represent </a:t>
            </a:r>
            <a:r>
              <a:rPr lang="en-US" sz="1600" b="1" dirty="0"/>
              <a:t>properties</a:t>
            </a:r>
            <a:r>
              <a:rPr lang="en-US" sz="1600" dirty="0"/>
              <a:t> of the feature (e.g. height, color etc.)</a:t>
            </a:r>
          </a:p>
          <a:p>
            <a:pPr lvl="2"/>
            <a:r>
              <a:rPr lang="en-US" sz="1600" dirty="0"/>
              <a:t>Fields can contain </a:t>
            </a:r>
            <a:r>
              <a:rPr lang="en-US" sz="1600" b="1" dirty="0"/>
              <a:t>numerical</a:t>
            </a:r>
            <a:r>
              <a:rPr lang="en-US" sz="1600" dirty="0"/>
              <a:t>, </a:t>
            </a:r>
            <a:r>
              <a:rPr lang="en-US" sz="1600" b="1" dirty="0"/>
              <a:t>string</a:t>
            </a:r>
            <a:r>
              <a:rPr lang="en-US" sz="1600" dirty="0"/>
              <a:t> (text) and </a:t>
            </a:r>
            <a:r>
              <a:rPr lang="en-US" sz="1600" b="1" dirty="0"/>
              <a:t>date</a:t>
            </a:r>
            <a:r>
              <a:rPr lang="en-US" sz="1600" dirty="0"/>
              <a:t> information.</a:t>
            </a:r>
          </a:p>
          <a:p>
            <a:pPr lvl="1"/>
            <a:r>
              <a:rPr lang="en-US" sz="1600" dirty="0"/>
              <a:t>The </a:t>
            </a:r>
            <a:r>
              <a:rPr lang="en-US" sz="1600" b="1" dirty="0"/>
              <a:t>attribute data </a:t>
            </a:r>
            <a:r>
              <a:rPr lang="en-US" sz="1600" dirty="0"/>
              <a:t>can be used to determine how it is </a:t>
            </a:r>
            <a:r>
              <a:rPr lang="en-US" sz="1600" b="1" dirty="0"/>
              <a:t>symbolized</a:t>
            </a:r>
            <a:r>
              <a:rPr lang="en-US" sz="1600" dirty="0"/>
              <a:t>.</a:t>
            </a:r>
          </a:p>
          <a:p>
            <a:pPr lvl="2"/>
            <a:r>
              <a:rPr lang="en-US" sz="1600" dirty="0"/>
              <a:t>If the attribute of a vector layer </a:t>
            </a:r>
            <a:r>
              <a:rPr lang="en-US" sz="1600" b="1" dirty="0"/>
              <a:t>is not used </a:t>
            </a:r>
            <a:r>
              <a:rPr lang="en-US" sz="1600" dirty="0"/>
              <a:t>to determine its symbology,</a:t>
            </a:r>
            <a:br>
              <a:rPr lang="en-US" sz="1600" dirty="0"/>
            </a:br>
            <a:r>
              <a:rPr lang="en-US" sz="1600" dirty="0"/>
              <a:t>it is drawn using a </a:t>
            </a:r>
            <a:r>
              <a:rPr lang="en-US" sz="1600" b="1" dirty="0"/>
              <a:t>single symbol only</a:t>
            </a:r>
            <a:r>
              <a:rPr lang="en-US" sz="1600" dirty="0"/>
              <a:t>.</a:t>
            </a:r>
          </a:p>
          <a:p>
            <a:pPr lvl="2"/>
            <a:r>
              <a:rPr lang="en-US" sz="1600" b="1" dirty="0"/>
              <a:t>Graduated color </a:t>
            </a:r>
            <a:r>
              <a:rPr lang="en-US" sz="1600" dirty="0"/>
              <a:t>symbology groups the data into </a:t>
            </a:r>
            <a:r>
              <a:rPr lang="en-US" sz="1600" b="1" dirty="0"/>
              <a:t>discrete classes</a:t>
            </a:r>
            <a:r>
              <a:rPr lang="en-US" sz="1600" dirty="0"/>
              <a:t>.</a:t>
            </a:r>
          </a:p>
          <a:p>
            <a:pPr lvl="2"/>
            <a:r>
              <a:rPr lang="en-US" sz="1600" b="1" dirty="0"/>
              <a:t>Continuous color </a:t>
            </a:r>
            <a:r>
              <a:rPr lang="en-US" sz="1600" dirty="0"/>
              <a:t>symbology assigns colors from a color range to the features based on their attributes.</a:t>
            </a:r>
          </a:p>
          <a:p>
            <a:r>
              <a:rPr lang="en-US" sz="1600" b="1" dirty="0"/>
              <a:t>Classifying </a:t>
            </a:r>
            <a:r>
              <a:rPr lang="en-US" sz="1600" dirty="0"/>
              <a:t>attribute data (into nominal, ordinal, interval, and ratio types)</a:t>
            </a:r>
            <a:br>
              <a:rPr lang="en-US" sz="1600" dirty="0"/>
            </a:br>
            <a:r>
              <a:rPr lang="en-US" sz="1600" dirty="0"/>
              <a:t>helps in selecting appropriate spatial analysis and thematic mapping techniques.</a:t>
            </a:r>
          </a:p>
          <a:p>
            <a:r>
              <a:rPr lang="en-US" sz="1600" b="1" dirty="0"/>
              <a:t>Normalized data* </a:t>
            </a:r>
            <a:r>
              <a:rPr lang="en-US" sz="1600" dirty="0"/>
              <a:t>(e.g., percentages or densities) instead of raw count values in </a:t>
            </a:r>
            <a:br>
              <a:rPr lang="en-US" sz="1600" dirty="0"/>
            </a:br>
            <a:r>
              <a:rPr lang="en-US" sz="1600" dirty="0"/>
              <a:t>a choropleth map helps to prevent misleading interpretations due to differences </a:t>
            </a:r>
            <a:br>
              <a:rPr lang="en-US" sz="1600" dirty="0"/>
            </a:br>
            <a:r>
              <a:rPr lang="en-US" sz="1600" dirty="0"/>
              <a:t>in area size.</a:t>
            </a:r>
          </a:p>
        </p:txBody>
      </p:sp>
      <p:sp>
        <p:nvSpPr>
          <p:cNvPr id="4" name="Slide Number Placeholder 3">
            <a:extLst>
              <a:ext uri="{FF2B5EF4-FFF2-40B4-BE49-F238E27FC236}">
                <a16:creationId xmlns:a16="http://schemas.microsoft.com/office/drawing/2014/main" id="{2B124A71-F0E9-AEF0-4939-1E9136E3E6B0}"/>
              </a:ext>
            </a:extLst>
          </p:cNvPr>
          <p:cNvSpPr>
            <a:spLocks noGrp="1"/>
          </p:cNvSpPr>
          <p:nvPr>
            <p:ph type="sldNum" sz="quarter" idx="12"/>
          </p:nvPr>
        </p:nvSpPr>
        <p:spPr/>
        <p:txBody>
          <a:bodyPr/>
          <a:lstStyle/>
          <a:p>
            <a:fld id="{C0343C75-1924-D247-85A3-0CB62E67E5D1}" type="slidenum">
              <a:rPr lang="en-US" smtClean="0"/>
              <a:t>22</a:t>
            </a:fld>
            <a:endParaRPr lang="en-US"/>
          </a:p>
        </p:txBody>
      </p:sp>
      <p:sp>
        <p:nvSpPr>
          <p:cNvPr id="5" name="TextBox 4">
            <a:extLst>
              <a:ext uri="{FF2B5EF4-FFF2-40B4-BE49-F238E27FC236}">
                <a16:creationId xmlns:a16="http://schemas.microsoft.com/office/drawing/2014/main" id="{8A83D81E-28F5-4E8E-2E29-11DE59613F26}"/>
              </a:ext>
            </a:extLst>
          </p:cNvPr>
          <p:cNvSpPr txBox="1"/>
          <p:nvPr/>
        </p:nvSpPr>
        <p:spPr>
          <a:xfrm>
            <a:off x="457200" y="6172517"/>
            <a:ext cx="7495963" cy="261610"/>
          </a:xfrm>
          <a:prstGeom prst="rect">
            <a:avLst/>
          </a:prstGeom>
          <a:noFill/>
        </p:spPr>
        <p:txBody>
          <a:bodyPr wrap="none" rtlCol="0">
            <a:spAutoFit/>
          </a:bodyPr>
          <a:lstStyle/>
          <a:p>
            <a:r>
              <a:rPr lang="en-US" sz="1100" dirty="0">
                <a:solidFill>
                  <a:schemeClr val="tx1">
                    <a:lumMod val="50000"/>
                    <a:lumOff val="50000"/>
                  </a:schemeClr>
                </a:solidFill>
              </a:rPr>
              <a:t>* </a:t>
            </a:r>
            <a:r>
              <a:rPr lang="en-US" sz="1100" b="1" dirty="0">
                <a:solidFill>
                  <a:schemeClr val="tx1">
                    <a:lumMod val="50000"/>
                    <a:lumOff val="50000"/>
                  </a:schemeClr>
                </a:solidFill>
              </a:rPr>
              <a:t>normalization</a:t>
            </a:r>
            <a:r>
              <a:rPr lang="en-US" sz="1100" dirty="0">
                <a:solidFill>
                  <a:schemeClr val="tx1">
                    <a:lumMod val="50000"/>
                    <a:lumOff val="50000"/>
                  </a:schemeClr>
                </a:solidFill>
              </a:rPr>
              <a:t> (min-max scaling to a range), </a:t>
            </a:r>
            <a:r>
              <a:rPr lang="en-US" sz="1100" b="1" dirty="0">
                <a:solidFill>
                  <a:schemeClr val="tx1">
                    <a:lumMod val="50000"/>
                    <a:lumOff val="50000"/>
                  </a:schemeClr>
                </a:solidFill>
              </a:rPr>
              <a:t>standardization</a:t>
            </a:r>
            <a:r>
              <a:rPr lang="en-US" sz="1100" dirty="0">
                <a:solidFill>
                  <a:schemeClr val="tx1">
                    <a:lumMod val="50000"/>
                    <a:lumOff val="50000"/>
                  </a:schemeClr>
                </a:solidFill>
              </a:rPr>
              <a:t> (type of normalization, but using z-score/mean centering)</a:t>
            </a:r>
          </a:p>
        </p:txBody>
      </p:sp>
    </p:spTree>
    <p:extLst>
      <p:ext uri="{BB962C8B-B14F-4D97-AF65-F5344CB8AC3E}">
        <p14:creationId xmlns:p14="http://schemas.microsoft.com/office/powerpoint/2010/main" val="20044756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A5E1B4B-AC5F-4C2A-F5A0-8F0F9CCE43C5}"/>
              </a:ext>
            </a:extLst>
          </p:cNvPr>
          <p:cNvPicPr>
            <a:picLocks noChangeAspect="1"/>
          </p:cNvPicPr>
          <p:nvPr/>
        </p:nvPicPr>
        <p:blipFill>
          <a:blip r:embed="rId2"/>
          <a:stretch>
            <a:fillRect/>
          </a:stretch>
        </p:blipFill>
        <p:spPr>
          <a:xfrm>
            <a:off x="4873795" y="3272251"/>
            <a:ext cx="3813006" cy="2347823"/>
          </a:xfrm>
          <a:prstGeom prst="rect">
            <a:avLst/>
          </a:prstGeom>
        </p:spPr>
      </p:pic>
      <p:sp>
        <p:nvSpPr>
          <p:cNvPr id="2" name="Title 1">
            <a:extLst>
              <a:ext uri="{FF2B5EF4-FFF2-40B4-BE49-F238E27FC236}">
                <a16:creationId xmlns:a16="http://schemas.microsoft.com/office/drawing/2014/main" id="{3B4837BE-8C2C-1FD6-C3A8-F2515601BFE0}"/>
              </a:ext>
            </a:extLst>
          </p:cNvPr>
          <p:cNvSpPr>
            <a:spLocks noGrp="1"/>
          </p:cNvSpPr>
          <p:nvPr>
            <p:ph type="title"/>
          </p:nvPr>
        </p:nvSpPr>
        <p:spPr/>
        <p:txBody>
          <a:bodyPr anchor="ctr"/>
          <a:lstStyle/>
          <a:p>
            <a:r>
              <a:rPr lang="en-US" dirty="0" err="1"/>
              <a:t>tmap</a:t>
            </a:r>
            <a:r>
              <a:rPr lang="en-US" dirty="0"/>
              <a:t> basics</a:t>
            </a:r>
          </a:p>
        </p:txBody>
      </p:sp>
      <p:sp>
        <p:nvSpPr>
          <p:cNvPr id="3" name="Content Placeholder 2">
            <a:extLst>
              <a:ext uri="{FF2B5EF4-FFF2-40B4-BE49-F238E27FC236}">
                <a16:creationId xmlns:a16="http://schemas.microsoft.com/office/drawing/2014/main" id="{A7E380A9-9DF5-2FBE-1532-D3A30FA8FB5B}"/>
              </a:ext>
            </a:extLst>
          </p:cNvPr>
          <p:cNvSpPr>
            <a:spLocks noGrp="1"/>
          </p:cNvSpPr>
          <p:nvPr>
            <p:ph idx="1"/>
          </p:nvPr>
        </p:nvSpPr>
        <p:spPr>
          <a:xfrm>
            <a:off x="457200" y="1095022"/>
            <a:ext cx="8229600" cy="5077495"/>
          </a:xfrm>
        </p:spPr>
        <p:txBody>
          <a:bodyPr>
            <a:normAutofit/>
          </a:bodyPr>
          <a:lstStyle/>
          <a:p>
            <a:r>
              <a:rPr lang="en-US" sz="1600" dirty="0"/>
              <a:t>Like </a:t>
            </a:r>
            <a:r>
              <a:rPr lang="en-US" sz="1600" b="1" dirty="0"/>
              <a:t>ggplot2</a:t>
            </a:r>
            <a:r>
              <a:rPr lang="en-US" sz="1600" dirty="0"/>
              <a:t>, </a:t>
            </a:r>
            <a:r>
              <a:rPr lang="en-US" sz="1600" b="1" dirty="0" err="1"/>
              <a:t>tmap</a:t>
            </a:r>
            <a:r>
              <a:rPr lang="en-US" sz="1600" dirty="0"/>
              <a:t> is based on the idea of a 'grammar of graphics'.</a:t>
            </a:r>
          </a:p>
          <a:p>
            <a:r>
              <a:rPr lang="en-US" sz="1600" dirty="0"/>
              <a:t>This involves a separation between the input data and the aesthetics (how data are visualized):</a:t>
            </a:r>
          </a:p>
          <a:p>
            <a:pPr lvl="1"/>
            <a:r>
              <a:rPr lang="en-US" sz="1600" dirty="0"/>
              <a:t>each input dataset can be 'mapped' in a range of different ways including location on the map (defined by data's geometry), color, and other visual variables.</a:t>
            </a:r>
          </a:p>
          <a:p>
            <a:r>
              <a:rPr lang="en-US" sz="1600" dirty="0"/>
              <a:t>The basic building block is </a:t>
            </a:r>
            <a:r>
              <a:rPr lang="en-US" sz="1600" b="1" dirty="0" err="1"/>
              <a:t>tm_shape</a:t>
            </a:r>
            <a:r>
              <a:rPr lang="en-US" sz="1600" b="1" dirty="0"/>
              <a:t>() </a:t>
            </a:r>
            <a:r>
              <a:rPr lang="en-US" sz="1600" dirty="0"/>
              <a:t>(which defines input data: a </a:t>
            </a:r>
            <a:r>
              <a:rPr lang="en-US" sz="1600" b="1" dirty="0"/>
              <a:t>vector</a:t>
            </a:r>
            <a:r>
              <a:rPr lang="en-US" sz="1600" dirty="0"/>
              <a:t> or </a:t>
            </a:r>
            <a:r>
              <a:rPr lang="en-US" sz="1600" b="1" dirty="0"/>
              <a:t>raster</a:t>
            </a:r>
            <a:r>
              <a:rPr lang="en-US" sz="1600" dirty="0"/>
              <a:t> object), followed by one or more-layer elements such as </a:t>
            </a:r>
            <a:r>
              <a:rPr lang="en-US" sz="1600" b="1" dirty="0" err="1"/>
              <a:t>tm_fill</a:t>
            </a:r>
            <a:r>
              <a:rPr lang="en-US" sz="1600" b="1" dirty="0"/>
              <a:t>()</a:t>
            </a:r>
            <a:r>
              <a:rPr lang="en-US" sz="1600" dirty="0"/>
              <a:t> and </a:t>
            </a:r>
            <a:r>
              <a:rPr lang="en-US" sz="1600" b="1" dirty="0" err="1"/>
              <a:t>tm_dots</a:t>
            </a:r>
            <a:r>
              <a:rPr lang="en-US" sz="1600" b="1" dirty="0"/>
              <a:t>()</a:t>
            </a:r>
            <a:r>
              <a:rPr lang="en-US" sz="1600" dirty="0"/>
              <a:t>.</a:t>
            </a:r>
          </a:p>
        </p:txBody>
      </p:sp>
      <p:sp>
        <p:nvSpPr>
          <p:cNvPr id="4" name="Slide Number Placeholder 3">
            <a:extLst>
              <a:ext uri="{FF2B5EF4-FFF2-40B4-BE49-F238E27FC236}">
                <a16:creationId xmlns:a16="http://schemas.microsoft.com/office/drawing/2014/main" id="{AC4BF99E-9DD6-30A3-D27C-601F0EDBAC11}"/>
              </a:ext>
            </a:extLst>
          </p:cNvPr>
          <p:cNvSpPr>
            <a:spLocks noGrp="1"/>
          </p:cNvSpPr>
          <p:nvPr>
            <p:ph type="sldNum" sz="quarter" idx="12"/>
          </p:nvPr>
        </p:nvSpPr>
        <p:spPr/>
        <p:txBody>
          <a:bodyPr/>
          <a:lstStyle/>
          <a:p>
            <a:fld id="{C0343C75-1924-D247-85A3-0CB62E67E5D1}" type="slidenum">
              <a:rPr lang="en-US" smtClean="0"/>
              <a:t>23</a:t>
            </a:fld>
            <a:endParaRPr lang="en-US"/>
          </a:p>
        </p:txBody>
      </p:sp>
      <p:sp>
        <p:nvSpPr>
          <p:cNvPr id="5" name="TextBox 4">
            <a:extLst>
              <a:ext uri="{FF2B5EF4-FFF2-40B4-BE49-F238E27FC236}">
                <a16:creationId xmlns:a16="http://schemas.microsoft.com/office/drawing/2014/main" id="{C71D317E-BC94-00AB-E763-3DA1F661C6A3}"/>
              </a:ext>
            </a:extLst>
          </p:cNvPr>
          <p:cNvSpPr txBox="1"/>
          <p:nvPr/>
        </p:nvSpPr>
        <p:spPr>
          <a:xfrm>
            <a:off x="457200" y="3399592"/>
            <a:ext cx="4416594" cy="3308598"/>
          </a:xfrm>
          <a:prstGeom prst="rect">
            <a:avLst/>
          </a:prstGeom>
          <a:noFill/>
        </p:spPr>
        <p:txBody>
          <a:bodyPr wrap="none" rtlCol="0">
            <a:spAutoFit/>
          </a:bodyPr>
          <a:lstStyle/>
          <a:p>
            <a:r>
              <a:rPr lang="en-US" sz="1100" dirty="0">
                <a:latin typeface="Consolas" panose="020B0609020204030204" pitchFamily="49" charset="0"/>
                <a:cs typeface="Consolas" panose="020B0609020204030204" pitchFamily="49" charset="0"/>
              </a:rPr>
              <a:t>library(sf)</a:t>
            </a:r>
          </a:p>
          <a:p>
            <a:r>
              <a:rPr lang="en-US" sz="1100" dirty="0">
                <a:latin typeface="Consolas" panose="020B0609020204030204" pitchFamily="49" charset="0"/>
                <a:cs typeface="Consolas" panose="020B0609020204030204" pitchFamily="49" charset="0"/>
              </a:rPr>
              <a:t>library(terra)</a:t>
            </a:r>
          </a:p>
          <a:p>
            <a:r>
              <a:rPr lang="en-US" sz="1100" dirty="0">
                <a:latin typeface="Consolas" panose="020B0609020204030204" pitchFamily="49" charset="0"/>
                <a:cs typeface="Consolas" panose="020B0609020204030204" pitchFamily="49" charset="0"/>
              </a:rPr>
              <a:t>library(</a:t>
            </a:r>
            <a:r>
              <a:rPr lang="en-US" sz="1100" dirty="0" err="1">
                <a:latin typeface="Consolas" panose="020B0609020204030204" pitchFamily="49" charset="0"/>
                <a:cs typeface="Consolas" panose="020B0609020204030204" pitchFamily="49" charset="0"/>
              </a:rPr>
              <a:t>dplyr</a:t>
            </a:r>
            <a:r>
              <a:rPr lang="en-US" sz="1100" dirty="0">
                <a:latin typeface="Consolas" panose="020B0609020204030204" pitchFamily="49" charset="0"/>
                <a:cs typeface="Consolas" panose="020B0609020204030204" pitchFamily="49" charset="0"/>
              </a:rPr>
              <a:t>)</a:t>
            </a:r>
          </a:p>
          <a:p>
            <a:r>
              <a:rPr lang="en-US" sz="1100" dirty="0">
                <a:latin typeface="Consolas" panose="020B0609020204030204" pitchFamily="49" charset="0"/>
                <a:cs typeface="Consolas" panose="020B0609020204030204" pitchFamily="49" charset="0"/>
              </a:rPr>
              <a:t>library(</a:t>
            </a:r>
            <a:r>
              <a:rPr lang="en-US" sz="1100" dirty="0" err="1">
                <a:latin typeface="Consolas" panose="020B0609020204030204" pitchFamily="49" charset="0"/>
                <a:cs typeface="Consolas" panose="020B0609020204030204" pitchFamily="49" charset="0"/>
              </a:rPr>
              <a:t>spData</a:t>
            </a:r>
            <a:r>
              <a:rPr lang="en-US" sz="1100" dirty="0">
                <a:latin typeface="Consolas" panose="020B0609020204030204" pitchFamily="49" charset="0"/>
                <a:cs typeface="Consolas" panose="020B0609020204030204" pitchFamily="49" charset="0"/>
              </a:rPr>
              <a:t>)</a:t>
            </a:r>
          </a:p>
          <a:p>
            <a:r>
              <a:rPr lang="en-US" sz="1100" dirty="0">
                <a:latin typeface="Consolas" panose="020B0609020204030204" pitchFamily="49" charset="0"/>
                <a:cs typeface="Consolas" panose="020B0609020204030204" pitchFamily="49" charset="0"/>
              </a:rPr>
              <a:t>library(</a:t>
            </a:r>
            <a:r>
              <a:rPr lang="en-US" sz="1100" dirty="0" err="1">
                <a:latin typeface="Consolas" panose="020B0609020204030204" pitchFamily="49" charset="0"/>
                <a:cs typeface="Consolas" panose="020B0609020204030204" pitchFamily="49" charset="0"/>
              </a:rPr>
              <a:t>spDataLarge</a:t>
            </a:r>
            <a:r>
              <a:rPr lang="en-US" sz="1100" dirty="0">
                <a:latin typeface="Consolas" panose="020B0609020204030204" pitchFamily="49" charset="0"/>
                <a:cs typeface="Consolas" panose="020B0609020204030204" pitchFamily="49" charset="0"/>
              </a:rPr>
              <a:t>)</a:t>
            </a:r>
          </a:p>
          <a:p>
            <a:endParaRPr lang="en-US" sz="1100" dirty="0">
              <a:latin typeface="Consolas" panose="020B0609020204030204" pitchFamily="49" charset="0"/>
              <a:cs typeface="Consolas" panose="020B0609020204030204" pitchFamily="49" charset="0"/>
            </a:endParaRPr>
          </a:p>
          <a:p>
            <a:r>
              <a:rPr lang="en-US" sz="1100" dirty="0">
                <a:latin typeface="Consolas" panose="020B0609020204030204" pitchFamily="49" charset="0"/>
                <a:cs typeface="Consolas" panose="020B0609020204030204" pitchFamily="49" charset="0"/>
              </a:rPr>
              <a:t>library(</a:t>
            </a:r>
            <a:r>
              <a:rPr lang="en-US" sz="1100" dirty="0" err="1">
                <a:latin typeface="Consolas" panose="020B0609020204030204" pitchFamily="49" charset="0"/>
                <a:cs typeface="Consolas" panose="020B0609020204030204" pitchFamily="49" charset="0"/>
              </a:rPr>
              <a:t>tmap</a:t>
            </a:r>
            <a:r>
              <a:rPr lang="en-US" sz="1100" dirty="0">
                <a:latin typeface="Consolas" panose="020B0609020204030204" pitchFamily="49" charset="0"/>
                <a:cs typeface="Consolas" panose="020B0609020204030204" pitchFamily="49" charset="0"/>
              </a:rPr>
              <a:t>)    # for static and interactive maps</a:t>
            </a:r>
          </a:p>
          <a:p>
            <a:r>
              <a:rPr lang="en-US" sz="1100" dirty="0">
                <a:latin typeface="Consolas" panose="020B0609020204030204" pitchFamily="49" charset="0"/>
                <a:cs typeface="Consolas" panose="020B0609020204030204" pitchFamily="49" charset="0"/>
              </a:rPr>
              <a:t>library(leaflet) # for interactive maps</a:t>
            </a:r>
          </a:p>
          <a:p>
            <a:r>
              <a:rPr lang="en-US" sz="1100" dirty="0">
                <a:latin typeface="Consolas" panose="020B0609020204030204" pitchFamily="49" charset="0"/>
                <a:cs typeface="Consolas" panose="020B0609020204030204" pitchFamily="49" charset="0"/>
              </a:rPr>
              <a:t>library(ggplot2) # </a:t>
            </a:r>
            <a:r>
              <a:rPr lang="en-US" sz="1100" dirty="0" err="1">
                <a:latin typeface="Consolas" panose="020B0609020204030204" pitchFamily="49" charset="0"/>
                <a:cs typeface="Consolas" panose="020B0609020204030204" pitchFamily="49" charset="0"/>
              </a:rPr>
              <a:t>tidyverse</a:t>
            </a:r>
            <a:r>
              <a:rPr lang="en-US" sz="1100" dirty="0">
                <a:latin typeface="Consolas" panose="020B0609020204030204" pitchFamily="49" charset="0"/>
                <a:cs typeface="Consolas" panose="020B0609020204030204" pitchFamily="49" charset="0"/>
              </a:rPr>
              <a:t> data visualization package</a:t>
            </a:r>
          </a:p>
          <a:p>
            <a:endParaRPr lang="en-US" sz="1100" dirty="0">
              <a:latin typeface="Consolas" panose="020B0609020204030204" pitchFamily="49" charset="0"/>
              <a:cs typeface="Consolas" panose="020B0609020204030204" pitchFamily="49" charset="0"/>
            </a:endParaRPr>
          </a:p>
          <a:p>
            <a:r>
              <a:rPr lang="en-US" sz="1100" dirty="0" err="1">
                <a:latin typeface="Consolas" panose="020B0609020204030204" pitchFamily="49" charset="0"/>
                <a:cs typeface="Consolas" panose="020B0609020204030204" pitchFamily="49" charset="0"/>
              </a:rPr>
              <a:t>nz_elev</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rast</a:t>
            </a:r>
            <a:r>
              <a:rPr lang="en-US" sz="1100" dirty="0">
                <a:latin typeface="Consolas" panose="020B0609020204030204" pitchFamily="49" charset="0"/>
                <a:cs typeface="Consolas" panose="020B0609020204030204" pitchFamily="49" charset="0"/>
              </a:rPr>
              <a:t>(</a:t>
            </a:r>
            <a:r>
              <a:rPr lang="en-US" sz="1100" dirty="0" err="1">
                <a:latin typeface="Consolas" panose="020B0609020204030204" pitchFamily="49" charset="0"/>
                <a:cs typeface="Consolas" panose="020B0609020204030204" pitchFamily="49" charset="0"/>
              </a:rPr>
              <a:t>system.file</a:t>
            </a:r>
            <a:r>
              <a:rPr lang="en-US" sz="1100" dirty="0">
                <a:latin typeface="Consolas" panose="020B0609020204030204" pitchFamily="49" charset="0"/>
                <a:cs typeface="Consolas" panose="020B0609020204030204" pitchFamily="49" charset="0"/>
              </a:rPr>
              <a:t>("raster/</a:t>
            </a:r>
            <a:r>
              <a:rPr lang="en-US" sz="1100" dirty="0" err="1">
                <a:latin typeface="Consolas" panose="020B0609020204030204" pitchFamily="49" charset="0"/>
                <a:cs typeface="Consolas" panose="020B0609020204030204" pitchFamily="49" charset="0"/>
              </a:rPr>
              <a:t>nz_elev.tif</a:t>
            </a:r>
            <a:r>
              <a:rPr lang="en-US" sz="1100" dirty="0">
                <a:latin typeface="Consolas" panose="020B0609020204030204" pitchFamily="49" charset="0"/>
                <a:cs typeface="Consolas" panose="020B0609020204030204" pitchFamily="49" charset="0"/>
              </a:rPr>
              <a:t>",</a:t>
            </a:r>
          </a:p>
          <a:p>
            <a:r>
              <a:rPr lang="en-US" sz="1100" dirty="0">
                <a:latin typeface="Consolas" panose="020B0609020204030204" pitchFamily="49" charset="0"/>
                <a:cs typeface="Consolas" panose="020B0609020204030204" pitchFamily="49" charset="0"/>
              </a:rPr>
              <a:t>               package = "</a:t>
            </a:r>
            <a:r>
              <a:rPr lang="en-US" sz="1100" dirty="0" err="1">
                <a:latin typeface="Consolas" panose="020B0609020204030204" pitchFamily="49" charset="0"/>
                <a:cs typeface="Consolas" panose="020B0609020204030204" pitchFamily="49" charset="0"/>
              </a:rPr>
              <a:t>spDataLarge</a:t>
            </a:r>
            <a:r>
              <a:rPr lang="en-US" sz="1100" dirty="0">
                <a:latin typeface="Consolas" panose="020B0609020204030204" pitchFamily="49" charset="0"/>
                <a:cs typeface="Consolas" panose="020B0609020204030204" pitchFamily="49" charset="0"/>
              </a:rPr>
              <a:t>"))</a:t>
            </a:r>
          </a:p>
          <a:p>
            <a:endParaRPr lang="en-US" sz="1100" dirty="0">
              <a:latin typeface="Consolas" panose="020B0609020204030204" pitchFamily="49" charset="0"/>
              <a:cs typeface="Consolas" panose="020B0609020204030204" pitchFamily="49" charset="0"/>
            </a:endParaRPr>
          </a:p>
          <a:p>
            <a:r>
              <a:rPr lang="en-US" sz="1100" dirty="0">
                <a:latin typeface="Consolas" panose="020B0609020204030204" pitchFamily="49" charset="0"/>
                <a:cs typeface="Consolas" panose="020B0609020204030204" pitchFamily="49" charset="0"/>
              </a:rPr>
              <a:t># Add fill layer to </a:t>
            </a:r>
            <a:r>
              <a:rPr lang="en-US" sz="1100" dirty="0" err="1">
                <a:latin typeface="Consolas" panose="020B0609020204030204" pitchFamily="49" charset="0"/>
                <a:cs typeface="Consolas" panose="020B0609020204030204" pitchFamily="49" charset="0"/>
              </a:rPr>
              <a:t>nz</a:t>
            </a:r>
            <a:r>
              <a:rPr lang="en-US" sz="1100" dirty="0">
                <a:latin typeface="Consolas" panose="020B0609020204030204" pitchFamily="49" charset="0"/>
                <a:cs typeface="Consolas" panose="020B0609020204030204" pitchFamily="49" charset="0"/>
              </a:rPr>
              <a:t> shape</a:t>
            </a:r>
          </a:p>
          <a:p>
            <a:r>
              <a:rPr lang="en-US" sz="1100" dirty="0" err="1">
                <a:latin typeface="Consolas" panose="020B0609020204030204" pitchFamily="49" charset="0"/>
                <a:cs typeface="Consolas" panose="020B0609020204030204" pitchFamily="49" charset="0"/>
              </a:rPr>
              <a:t>tm_shape</a:t>
            </a:r>
            <a:r>
              <a:rPr lang="en-US" sz="1100" dirty="0">
                <a:latin typeface="Consolas" panose="020B0609020204030204" pitchFamily="49" charset="0"/>
                <a:cs typeface="Consolas" panose="020B0609020204030204" pitchFamily="49" charset="0"/>
              </a:rPr>
              <a:t>(</a:t>
            </a:r>
            <a:r>
              <a:rPr lang="en-US" sz="1100" dirty="0" err="1">
                <a:latin typeface="Consolas" panose="020B0609020204030204" pitchFamily="49" charset="0"/>
                <a:cs typeface="Consolas" panose="020B0609020204030204" pitchFamily="49" charset="0"/>
              </a:rPr>
              <a:t>nz</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tm_fill</a:t>
            </a:r>
            <a:r>
              <a:rPr lang="en-US" sz="1100" dirty="0">
                <a:latin typeface="Consolas" panose="020B0609020204030204" pitchFamily="49" charset="0"/>
                <a:cs typeface="Consolas" panose="020B0609020204030204" pitchFamily="49" charset="0"/>
              </a:rPr>
              <a:t>() </a:t>
            </a:r>
          </a:p>
          <a:p>
            <a:r>
              <a:rPr lang="en-US" sz="1100" dirty="0">
                <a:latin typeface="Consolas" panose="020B0609020204030204" pitchFamily="49" charset="0"/>
                <a:cs typeface="Consolas" panose="020B0609020204030204" pitchFamily="49" charset="0"/>
              </a:rPr>
              <a:t># Add border layer to </a:t>
            </a:r>
            <a:r>
              <a:rPr lang="en-US" sz="1100" dirty="0" err="1">
                <a:latin typeface="Consolas" panose="020B0609020204030204" pitchFamily="49" charset="0"/>
                <a:cs typeface="Consolas" panose="020B0609020204030204" pitchFamily="49" charset="0"/>
              </a:rPr>
              <a:t>nz</a:t>
            </a:r>
            <a:r>
              <a:rPr lang="en-US" sz="1100" dirty="0">
                <a:latin typeface="Consolas" panose="020B0609020204030204" pitchFamily="49" charset="0"/>
                <a:cs typeface="Consolas" panose="020B0609020204030204" pitchFamily="49" charset="0"/>
              </a:rPr>
              <a:t> shape</a:t>
            </a:r>
          </a:p>
          <a:p>
            <a:r>
              <a:rPr lang="en-US" sz="1100" dirty="0" err="1">
                <a:latin typeface="Consolas" panose="020B0609020204030204" pitchFamily="49" charset="0"/>
                <a:cs typeface="Consolas" panose="020B0609020204030204" pitchFamily="49" charset="0"/>
              </a:rPr>
              <a:t>tm_shape</a:t>
            </a:r>
            <a:r>
              <a:rPr lang="en-US" sz="1100" dirty="0">
                <a:latin typeface="Consolas" panose="020B0609020204030204" pitchFamily="49" charset="0"/>
                <a:cs typeface="Consolas" panose="020B0609020204030204" pitchFamily="49" charset="0"/>
              </a:rPr>
              <a:t>(</a:t>
            </a:r>
            <a:r>
              <a:rPr lang="en-US" sz="1100" dirty="0" err="1">
                <a:latin typeface="Consolas" panose="020B0609020204030204" pitchFamily="49" charset="0"/>
                <a:cs typeface="Consolas" panose="020B0609020204030204" pitchFamily="49" charset="0"/>
              </a:rPr>
              <a:t>nz</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tm_borders</a:t>
            </a:r>
            <a:r>
              <a:rPr lang="en-US" sz="1100" dirty="0">
                <a:latin typeface="Consolas" panose="020B0609020204030204" pitchFamily="49" charset="0"/>
                <a:cs typeface="Consolas" panose="020B0609020204030204" pitchFamily="49" charset="0"/>
              </a:rPr>
              <a:t>() </a:t>
            </a:r>
          </a:p>
          <a:p>
            <a:r>
              <a:rPr lang="en-US" sz="1100" dirty="0">
                <a:latin typeface="Consolas" panose="020B0609020204030204" pitchFamily="49" charset="0"/>
                <a:cs typeface="Consolas" panose="020B0609020204030204" pitchFamily="49" charset="0"/>
              </a:rPr>
              <a:t># Add fill and border layers to </a:t>
            </a:r>
            <a:r>
              <a:rPr lang="en-US" sz="1100" dirty="0" err="1">
                <a:latin typeface="Consolas" panose="020B0609020204030204" pitchFamily="49" charset="0"/>
                <a:cs typeface="Consolas" panose="020B0609020204030204" pitchFamily="49" charset="0"/>
              </a:rPr>
              <a:t>nz</a:t>
            </a:r>
            <a:r>
              <a:rPr lang="en-US" sz="1100" dirty="0">
                <a:latin typeface="Consolas" panose="020B0609020204030204" pitchFamily="49" charset="0"/>
                <a:cs typeface="Consolas" panose="020B0609020204030204" pitchFamily="49" charset="0"/>
              </a:rPr>
              <a:t> shape</a:t>
            </a:r>
          </a:p>
          <a:p>
            <a:r>
              <a:rPr lang="en-US" sz="1100" dirty="0" err="1">
                <a:latin typeface="Consolas" panose="020B0609020204030204" pitchFamily="49" charset="0"/>
                <a:cs typeface="Consolas" panose="020B0609020204030204" pitchFamily="49" charset="0"/>
              </a:rPr>
              <a:t>tm_shape</a:t>
            </a:r>
            <a:r>
              <a:rPr lang="en-US" sz="1100" dirty="0">
                <a:latin typeface="Consolas" panose="020B0609020204030204" pitchFamily="49" charset="0"/>
                <a:cs typeface="Consolas" panose="020B0609020204030204" pitchFamily="49" charset="0"/>
              </a:rPr>
              <a:t>(</a:t>
            </a:r>
            <a:r>
              <a:rPr lang="en-US" sz="1100" dirty="0" err="1">
                <a:latin typeface="Consolas" panose="020B0609020204030204" pitchFamily="49" charset="0"/>
                <a:cs typeface="Consolas" panose="020B0609020204030204" pitchFamily="49" charset="0"/>
              </a:rPr>
              <a:t>nz</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tm_fill</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tm_borders</a:t>
            </a:r>
            <a:r>
              <a:rPr lang="en-US" sz="1100" dirty="0">
                <a:latin typeface="Consolas" panose="020B0609020204030204" pitchFamily="49" charset="0"/>
                <a:cs typeface="Consolas" panose="020B0609020204030204" pitchFamily="49" charset="0"/>
              </a:rPr>
              <a:t>()</a:t>
            </a:r>
          </a:p>
        </p:txBody>
      </p:sp>
      <p:sp>
        <p:nvSpPr>
          <p:cNvPr id="6" name="TextBox 5">
            <a:extLst>
              <a:ext uri="{FF2B5EF4-FFF2-40B4-BE49-F238E27FC236}">
                <a16:creationId xmlns:a16="http://schemas.microsoft.com/office/drawing/2014/main" id="{EF4ACA94-A2BC-3A25-5D63-1AFCAA057F80}"/>
              </a:ext>
            </a:extLst>
          </p:cNvPr>
          <p:cNvSpPr txBox="1"/>
          <p:nvPr/>
        </p:nvSpPr>
        <p:spPr>
          <a:xfrm>
            <a:off x="457200" y="3087585"/>
            <a:ext cx="1045734" cy="369332"/>
          </a:xfrm>
          <a:prstGeom prst="rect">
            <a:avLst/>
          </a:prstGeom>
          <a:solidFill>
            <a:srgbClr val="C00000"/>
          </a:solidFill>
        </p:spPr>
        <p:txBody>
          <a:bodyPr wrap="none" rtlCol="0" anchor="ctr">
            <a:spAutoFit/>
          </a:bodyPr>
          <a:lstStyle/>
          <a:p>
            <a:pPr algn="ctr"/>
            <a:r>
              <a:rPr lang="en-US" dirty="0">
                <a:solidFill>
                  <a:schemeClr val="bg1"/>
                </a:solidFill>
              </a:rPr>
              <a:t>Example</a:t>
            </a:r>
          </a:p>
        </p:txBody>
      </p:sp>
    </p:spTree>
    <p:extLst>
      <p:ext uri="{BB962C8B-B14F-4D97-AF65-F5344CB8AC3E}">
        <p14:creationId xmlns:p14="http://schemas.microsoft.com/office/powerpoint/2010/main" val="1507065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68246-CF18-1CFF-4DD6-DB4F178C2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8C3132-9EB3-CAEF-6B96-45ACB22CFD6E}"/>
              </a:ext>
            </a:extLst>
          </p:cNvPr>
          <p:cNvSpPr>
            <a:spLocks noGrp="1"/>
          </p:cNvSpPr>
          <p:nvPr>
            <p:ph type="title"/>
          </p:nvPr>
        </p:nvSpPr>
        <p:spPr/>
        <p:txBody>
          <a:bodyPr/>
          <a:lstStyle/>
          <a:p>
            <a:r>
              <a:rPr lang="en-US" dirty="0"/>
              <a:t>Data Representation</a:t>
            </a:r>
            <a:br>
              <a:rPr lang="en-US" dirty="0"/>
            </a:br>
            <a:r>
              <a:rPr lang="en-US" b="1" dirty="0"/>
              <a:t>Rate vs Count</a:t>
            </a:r>
          </a:p>
        </p:txBody>
      </p:sp>
      <p:sp>
        <p:nvSpPr>
          <p:cNvPr id="3" name="Content Placeholder 2">
            <a:extLst>
              <a:ext uri="{FF2B5EF4-FFF2-40B4-BE49-F238E27FC236}">
                <a16:creationId xmlns:a16="http://schemas.microsoft.com/office/drawing/2014/main" id="{A44D2802-8EC2-3FDC-4875-DCB925A329B7}"/>
              </a:ext>
            </a:extLst>
          </p:cNvPr>
          <p:cNvSpPr>
            <a:spLocks noGrp="1"/>
          </p:cNvSpPr>
          <p:nvPr>
            <p:ph idx="1"/>
          </p:nvPr>
        </p:nvSpPr>
        <p:spPr/>
        <p:txBody>
          <a:bodyPr>
            <a:normAutofit/>
          </a:bodyPr>
          <a:lstStyle/>
          <a:p>
            <a:r>
              <a:rPr lang="en-US" sz="1600" b="1" dirty="0"/>
              <a:t>Count (Absolute)</a:t>
            </a:r>
            <a:r>
              <a:rPr lang="en-US" sz="1600" dirty="0"/>
              <a:t>: The raw number of occurrences within a boundary (e.g., total number of traffic accidents, total population).</a:t>
            </a:r>
          </a:p>
          <a:p>
            <a:r>
              <a:rPr lang="en-US" sz="1600" b="1" dirty="0"/>
              <a:t>Rate (Relative)</a:t>
            </a:r>
            <a:r>
              <a:rPr lang="en-US" sz="1600" dirty="0"/>
              <a:t>: A value derived by dividing the count by a denominator, such as population or land area (e.g., accidents per 1,000 residents, cases per square mile).</a:t>
            </a:r>
          </a:p>
          <a:p>
            <a:r>
              <a:rPr lang="en-US" sz="1600" dirty="0"/>
              <a:t>"Population Bias" Trap … when mapping Counts at the geographic level:</a:t>
            </a:r>
          </a:p>
          <a:p>
            <a:pPr lvl="2"/>
            <a:r>
              <a:rPr lang="en-US" sz="1400" dirty="0"/>
              <a:t>Large or densely populated counties will almost always appear as "hotspots."</a:t>
            </a:r>
          </a:p>
          <a:p>
            <a:pPr lvl="2"/>
            <a:r>
              <a:rPr lang="en-US" sz="1400" dirty="0"/>
              <a:t>You end up mapping where people live rather than the intensity of the variable.</a:t>
            </a:r>
          </a:p>
          <a:p>
            <a:pPr lvl="2"/>
            <a:r>
              <a:rPr lang="en-US" sz="1400" dirty="0"/>
              <a:t>Example: Mapping total COVID-19 cases will always highlight Los Angeles and New York City, even if the risk of infection is higher in a small rural town.</a:t>
            </a:r>
          </a:p>
        </p:txBody>
      </p:sp>
      <p:sp>
        <p:nvSpPr>
          <p:cNvPr id="4" name="Slide Number Placeholder 3">
            <a:extLst>
              <a:ext uri="{FF2B5EF4-FFF2-40B4-BE49-F238E27FC236}">
                <a16:creationId xmlns:a16="http://schemas.microsoft.com/office/drawing/2014/main" id="{5878E0CE-1643-C6CC-DF35-4680AE41AF40}"/>
              </a:ext>
            </a:extLst>
          </p:cNvPr>
          <p:cNvSpPr>
            <a:spLocks noGrp="1"/>
          </p:cNvSpPr>
          <p:nvPr>
            <p:ph type="sldNum" sz="quarter" idx="12"/>
          </p:nvPr>
        </p:nvSpPr>
        <p:spPr/>
        <p:txBody>
          <a:bodyPr/>
          <a:lstStyle/>
          <a:p>
            <a:fld id="{C0343C75-1924-D247-85A3-0CB62E67E5D1}" type="slidenum">
              <a:rPr lang="en-US" smtClean="0"/>
              <a:t>24</a:t>
            </a:fld>
            <a:endParaRPr lang="en-US"/>
          </a:p>
        </p:txBody>
      </p:sp>
      <p:graphicFrame>
        <p:nvGraphicFramePr>
          <p:cNvPr id="5" name="Table 4">
            <a:extLst>
              <a:ext uri="{FF2B5EF4-FFF2-40B4-BE49-F238E27FC236}">
                <a16:creationId xmlns:a16="http://schemas.microsoft.com/office/drawing/2014/main" id="{E07C4881-98BC-3859-851D-214230DA088C}"/>
              </a:ext>
            </a:extLst>
          </p:cNvPr>
          <p:cNvGraphicFramePr>
            <a:graphicFrameLocks noGrp="1"/>
          </p:cNvGraphicFramePr>
          <p:nvPr>
            <p:extLst>
              <p:ext uri="{D42A27DB-BD31-4B8C-83A1-F6EECF244321}">
                <p14:modId xmlns:p14="http://schemas.microsoft.com/office/powerpoint/2010/main" val="1701004133"/>
              </p:ext>
            </p:extLst>
          </p:nvPr>
        </p:nvGraphicFramePr>
        <p:xfrm>
          <a:off x="903827" y="4033302"/>
          <a:ext cx="7336346" cy="1859280"/>
        </p:xfrm>
        <a:graphic>
          <a:graphicData uri="http://schemas.openxmlformats.org/drawingml/2006/table">
            <a:tbl>
              <a:tblPr>
                <a:tableStyleId>{616DA210-FB5B-4158-B5E0-FEB733F419BA}</a:tableStyleId>
              </a:tblPr>
              <a:tblGrid>
                <a:gridCol w="1849946">
                  <a:extLst>
                    <a:ext uri="{9D8B030D-6E8A-4147-A177-3AD203B41FA5}">
                      <a16:colId xmlns:a16="http://schemas.microsoft.com/office/drawing/2014/main" val="210398078"/>
                    </a:ext>
                  </a:extLst>
                </a:gridCol>
                <a:gridCol w="2743200">
                  <a:extLst>
                    <a:ext uri="{9D8B030D-6E8A-4147-A177-3AD203B41FA5}">
                      <a16:colId xmlns:a16="http://schemas.microsoft.com/office/drawing/2014/main" val="3515447173"/>
                    </a:ext>
                  </a:extLst>
                </a:gridCol>
                <a:gridCol w="2743200">
                  <a:extLst>
                    <a:ext uri="{9D8B030D-6E8A-4147-A177-3AD203B41FA5}">
                      <a16:colId xmlns:a16="http://schemas.microsoft.com/office/drawing/2014/main" val="1499567359"/>
                    </a:ext>
                  </a:extLst>
                </a:gridCol>
              </a:tblGrid>
              <a:tr h="0">
                <a:tc>
                  <a:txBody>
                    <a:bodyPr/>
                    <a:lstStyle/>
                    <a:p>
                      <a:pPr>
                        <a:buNone/>
                      </a:pPr>
                      <a:r>
                        <a:rPr lang="en-US" sz="1400" b="1">
                          <a:effectLst/>
                        </a:rPr>
                        <a:t>Feature</a:t>
                      </a:r>
                      <a:endParaRPr lang="en-US" sz="1400">
                        <a:effectLst/>
                        <a:latin typeface="Google Sans Text"/>
                      </a:endParaRPr>
                    </a:p>
                  </a:txBody>
                  <a:tcPr anchor="ctr"/>
                </a:tc>
                <a:tc>
                  <a:txBody>
                    <a:bodyPr/>
                    <a:lstStyle/>
                    <a:p>
                      <a:pPr>
                        <a:buNone/>
                      </a:pPr>
                      <a:r>
                        <a:rPr lang="en-US" sz="1400" b="1" dirty="0">
                          <a:effectLst/>
                        </a:rPr>
                        <a:t>Use Count When...</a:t>
                      </a:r>
                      <a:endParaRPr lang="en-US" sz="1400" dirty="0">
                        <a:effectLst/>
                        <a:latin typeface="Google Sans Text"/>
                      </a:endParaRPr>
                    </a:p>
                  </a:txBody>
                  <a:tcPr anchor="ctr"/>
                </a:tc>
                <a:tc>
                  <a:txBody>
                    <a:bodyPr/>
                    <a:lstStyle/>
                    <a:p>
                      <a:pPr>
                        <a:buNone/>
                      </a:pPr>
                      <a:r>
                        <a:rPr lang="en-US" sz="1400" b="1">
                          <a:effectLst/>
                        </a:rPr>
                        <a:t>Use Rate When...</a:t>
                      </a:r>
                      <a:endParaRPr lang="en-US" sz="1400">
                        <a:effectLst/>
                        <a:latin typeface="Google Sans Text"/>
                      </a:endParaRPr>
                    </a:p>
                  </a:txBody>
                  <a:tcPr anchor="ctr"/>
                </a:tc>
                <a:extLst>
                  <a:ext uri="{0D108BD9-81ED-4DB2-BD59-A6C34878D82A}">
                    <a16:rowId xmlns:a16="http://schemas.microsoft.com/office/drawing/2014/main" val="2360734914"/>
                  </a:ext>
                </a:extLst>
              </a:tr>
              <a:tr h="0">
                <a:tc>
                  <a:txBody>
                    <a:bodyPr/>
                    <a:lstStyle/>
                    <a:p>
                      <a:pPr>
                        <a:buNone/>
                      </a:pPr>
                      <a:r>
                        <a:rPr lang="en-US" sz="1400" b="1">
                          <a:effectLst/>
                        </a:rPr>
                        <a:t>Objective</a:t>
                      </a:r>
                      <a:endParaRPr lang="en-US" sz="1400">
                        <a:effectLst/>
                        <a:latin typeface="Google Sans Text"/>
                      </a:endParaRPr>
                    </a:p>
                  </a:txBody>
                  <a:tcPr anchor="ctr"/>
                </a:tc>
                <a:tc>
                  <a:txBody>
                    <a:bodyPr/>
                    <a:lstStyle/>
                    <a:p>
                      <a:pPr>
                        <a:buNone/>
                      </a:pPr>
                      <a:r>
                        <a:rPr lang="en-US" sz="1400">
                          <a:effectLst/>
                        </a:rPr>
                        <a:t>You need to know the total magnitude or volume.</a:t>
                      </a:r>
                      <a:endParaRPr lang="en-US" sz="1400">
                        <a:effectLst/>
                        <a:latin typeface="Google Sans Text"/>
                      </a:endParaRPr>
                    </a:p>
                  </a:txBody>
                  <a:tcPr anchor="ctr"/>
                </a:tc>
                <a:tc>
                  <a:txBody>
                    <a:bodyPr/>
                    <a:lstStyle/>
                    <a:p>
                      <a:pPr>
                        <a:buNone/>
                      </a:pPr>
                      <a:r>
                        <a:rPr lang="en-US" sz="1400">
                          <a:effectLst/>
                        </a:rPr>
                        <a:t>You need to compare the intensity or risk across regions.</a:t>
                      </a:r>
                      <a:endParaRPr lang="en-US" sz="1400">
                        <a:effectLst/>
                        <a:latin typeface="Google Sans Text"/>
                      </a:endParaRPr>
                    </a:p>
                  </a:txBody>
                  <a:tcPr anchor="ctr"/>
                </a:tc>
                <a:extLst>
                  <a:ext uri="{0D108BD9-81ED-4DB2-BD59-A6C34878D82A}">
                    <a16:rowId xmlns:a16="http://schemas.microsoft.com/office/drawing/2014/main" val="3353199994"/>
                  </a:ext>
                </a:extLst>
              </a:tr>
              <a:tr h="0">
                <a:tc>
                  <a:txBody>
                    <a:bodyPr/>
                    <a:lstStyle/>
                    <a:p>
                      <a:pPr>
                        <a:buNone/>
                      </a:pPr>
                      <a:r>
                        <a:rPr lang="en-US" sz="1400" b="1">
                          <a:effectLst/>
                        </a:rPr>
                        <a:t>Resource Allocation</a:t>
                      </a:r>
                      <a:endParaRPr lang="en-US" sz="1400">
                        <a:effectLst/>
                        <a:latin typeface="Google Sans Text"/>
                      </a:endParaRPr>
                    </a:p>
                  </a:txBody>
                  <a:tcPr anchor="ctr"/>
                </a:tc>
                <a:tc>
                  <a:txBody>
                    <a:bodyPr/>
                    <a:lstStyle/>
                    <a:p>
                      <a:pPr>
                        <a:buNone/>
                      </a:pPr>
                      <a:r>
                        <a:rPr lang="en-US" sz="1400">
                          <a:effectLst/>
                        </a:rPr>
                        <a:t>Determining how many total vaccines to ship to a county.</a:t>
                      </a:r>
                      <a:endParaRPr lang="en-US" sz="1400">
                        <a:effectLst/>
                        <a:latin typeface="Google Sans Text"/>
                      </a:endParaRPr>
                    </a:p>
                  </a:txBody>
                  <a:tcPr anchor="ctr"/>
                </a:tc>
                <a:tc>
                  <a:txBody>
                    <a:bodyPr/>
                    <a:lstStyle/>
                    <a:p>
                      <a:pPr>
                        <a:buNone/>
                      </a:pPr>
                      <a:r>
                        <a:rPr lang="en-US" sz="1400">
                          <a:effectLst/>
                        </a:rPr>
                        <a:t>Determining which county has the highest infection risk.</a:t>
                      </a:r>
                      <a:endParaRPr lang="en-US" sz="1400">
                        <a:effectLst/>
                        <a:latin typeface="Google Sans Text"/>
                      </a:endParaRPr>
                    </a:p>
                  </a:txBody>
                  <a:tcPr anchor="ctr"/>
                </a:tc>
                <a:extLst>
                  <a:ext uri="{0D108BD9-81ED-4DB2-BD59-A6C34878D82A}">
                    <a16:rowId xmlns:a16="http://schemas.microsoft.com/office/drawing/2014/main" val="2010305150"/>
                  </a:ext>
                </a:extLst>
              </a:tr>
              <a:tr h="0">
                <a:tc>
                  <a:txBody>
                    <a:bodyPr/>
                    <a:lstStyle/>
                    <a:p>
                      <a:pPr>
                        <a:buNone/>
                      </a:pPr>
                      <a:r>
                        <a:rPr lang="en-US" sz="1400" b="1" dirty="0">
                          <a:effectLst/>
                          <a:highlight>
                            <a:srgbClr val="FFFF00"/>
                          </a:highlight>
                        </a:rPr>
                        <a:t>Visual Encoding</a:t>
                      </a:r>
                      <a:endParaRPr lang="en-US" sz="1400" dirty="0">
                        <a:effectLst/>
                        <a:highlight>
                          <a:srgbClr val="FFFF00"/>
                        </a:highlight>
                        <a:latin typeface="Google Sans Text"/>
                      </a:endParaRPr>
                    </a:p>
                  </a:txBody>
                  <a:tcPr anchor="ctr"/>
                </a:tc>
                <a:tc>
                  <a:txBody>
                    <a:bodyPr/>
                    <a:lstStyle/>
                    <a:p>
                      <a:pPr>
                        <a:buNone/>
                      </a:pPr>
                      <a:r>
                        <a:rPr lang="en-US" sz="1400" dirty="0">
                          <a:effectLst/>
                        </a:rPr>
                        <a:t>Best used with </a:t>
                      </a:r>
                      <a:r>
                        <a:rPr lang="en-US" sz="1400" b="1" dirty="0">
                          <a:effectLst/>
                        </a:rPr>
                        <a:t>Proportional Symbols</a:t>
                      </a:r>
                      <a:r>
                        <a:rPr lang="en-US" sz="1400" dirty="0">
                          <a:effectLst/>
                        </a:rPr>
                        <a:t> (bubbles).</a:t>
                      </a:r>
                      <a:endParaRPr lang="en-US" sz="1400" dirty="0">
                        <a:effectLst/>
                        <a:latin typeface="Google Sans Text"/>
                      </a:endParaRPr>
                    </a:p>
                  </a:txBody>
                  <a:tcPr anchor="ctr"/>
                </a:tc>
                <a:tc>
                  <a:txBody>
                    <a:bodyPr/>
                    <a:lstStyle/>
                    <a:p>
                      <a:pPr>
                        <a:buNone/>
                      </a:pPr>
                      <a:r>
                        <a:rPr lang="en-US" sz="1400" dirty="0">
                          <a:effectLst/>
                        </a:rPr>
                        <a:t>Best used with </a:t>
                      </a:r>
                      <a:r>
                        <a:rPr lang="en-US" sz="1400" b="1" dirty="0">
                          <a:effectLst/>
                        </a:rPr>
                        <a:t>Choropleth Maps</a:t>
                      </a:r>
                      <a:r>
                        <a:rPr lang="en-US" sz="1400" dirty="0">
                          <a:effectLst/>
                        </a:rPr>
                        <a:t> (shaded regions).</a:t>
                      </a:r>
                      <a:endParaRPr lang="en-US" sz="1400" dirty="0">
                        <a:effectLst/>
                        <a:latin typeface="Google Sans Text"/>
                      </a:endParaRPr>
                    </a:p>
                  </a:txBody>
                  <a:tcPr anchor="ctr"/>
                </a:tc>
                <a:extLst>
                  <a:ext uri="{0D108BD9-81ED-4DB2-BD59-A6C34878D82A}">
                    <a16:rowId xmlns:a16="http://schemas.microsoft.com/office/drawing/2014/main" val="2750912653"/>
                  </a:ext>
                </a:extLst>
              </a:tr>
            </a:tbl>
          </a:graphicData>
        </a:graphic>
      </p:graphicFrame>
      <p:sp>
        <p:nvSpPr>
          <p:cNvPr id="9" name="Rectangle 2">
            <a:extLst>
              <a:ext uri="{FF2B5EF4-FFF2-40B4-BE49-F238E27FC236}">
                <a16:creationId xmlns:a16="http://schemas.microsoft.com/office/drawing/2014/main" id="{0E22421D-CA12-D79E-95C7-D2D2ADF637E0}"/>
              </a:ext>
            </a:extLst>
          </p:cNvPr>
          <p:cNvSpPr>
            <a:spLocks noChangeArrowheads="1"/>
          </p:cNvSpPr>
          <p:nvPr/>
        </p:nvSpPr>
        <p:spPr bwMode="auto">
          <a:xfrm>
            <a:off x="903827" y="5892582"/>
            <a:ext cx="733634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defTabSz="914400"/>
            <a:r>
              <a:rPr kumimoji="0" lang="en-US" altLang="en-US" sz="1200" i="1" u="none" strike="noStrike" cap="none" normalizeH="0" baseline="0" dirty="0">
                <a:ln>
                  <a:noFill/>
                </a:ln>
                <a:solidFill>
                  <a:srgbClr val="000000"/>
                </a:solidFill>
                <a:effectLst/>
                <a:latin typeface="Aptos" panose="020B0004020202020204" pitchFamily="34" charset="0"/>
              </a:rPr>
              <a:t>"Never shade a county map based on raw counts." </a:t>
            </a:r>
            <a:r>
              <a:rPr kumimoji="0" lang="en-US" altLang="en-US" sz="1200" b="0" i="0" u="none" strike="noStrike" cap="none" normalizeH="0" baseline="0" dirty="0">
                <a:ln>
                  <a:noFill/>
                </a:ln>
                <a:solidFill>
                  <a:srgbClr val="000000"/>
                </a:solidFill>
                <a:effectLst/>
                <a:latin typeface="Aptos" panose="020B0004020202020204" pitchFamily="34" charset="0"/>
              </a:rPr>
              <a:t> &gt;&gt; To normalize data for fair comparison, always convert counts to rates (normalization) using a common denominator (Rate </a:t>
            </a:r>
            <a:r>
              <a:rPr lang="en-US" altLang="en-US" sz="1200" dirty="0">
                <a:solidFill>
                  <a:srgbClr val="000000"/>
                </a:solidFill>
                <a:latin typeface="Aptos" panose="020B0004020202020204" pitchFamily="34" charset="0"/>
              </a:rPr>
              <a:t>= Count / Population ​</a:t>
            </a:r>
            <a:r>
              <a:rPr kumimoji="0" lang="en-US" altLang="en-US" sz="1200" b="0" i="0" u="none" strike="noStrike" cap="none" normalizeH="0" baseline="0" dirty="0">
                <a:ln>
                  <a:noFill/>
                </a:ln>
                <a:solidFill>
                  <a:srgbClr val="000000"/>
                </a:solidFill>
                <a:effectLst/>
                <a:latin typeface="Aptos" panose="020B0004020202020204" pitchFamily="34" charset="0"/>
              </a:rPr>
              <a:t>× 100,000) or density (Density </a:t>
            </a:r>
            <a:r>
              <a:rPr lang="en-US" altLang="en-US" sz="1200" dirty="0">
                <a:solidFill>
                  <a:srgbClr val="000000"/>
                </a:solidFill>
                <a:latin typeface="Aptos" panose="020B0004020202020204" pitchFamily="34" charset="0"/>
              </a:rPr>
              <a:t>= Count / Area​</a:t>
            </a:r>
            <a:r>
              <a:rPr kumimoji="0" lang="en-US" altLang="en-US" sz="1200" b="0" i="0" u="none" strike="noStrike" cap="none" normalizeH="0" baseline="0" dirty="0">
                <a:ln>
                  <a:noFill/>
                </a:ln>
                <a:solidFill>
                  <a:srgbClr val="000000"/>
                </a:solidFill>
                <a:effectLst/>
                <a:latin typeface="Aptos" panose="020B0004020202020204" pitchFamily="34" charset="0"/>
              </a:rPr>
              <a:t>).</a:t>
            </a:r>
            <a:endParaRPr kumimoji="0" lang="en-US" altLang="en-US" sz="1200" b="0" i="0" u="none" strike="noStrike" cap="none" normalizeH="0" baseline="0" dirty="0">
              <a:ln>
                <a:noFill/>
              </a:ln>
              <a:solidFill>
                <a:schemeClr val="tx1"/>
              </a:solidFill>
              <a:effectLst/>
              <a:latin typeface="Aptos" panose="020B0004020202020204" pitchFamily="34" charset="0"/>
            </a:endParaRPr>
          </a:p>
        </p:txBody>
      </p:sp>
    </p:spTree>
    <p:extLst>
      <p:ext uri="{BB962C8B-B14F-4D97-AF65-F5344CB8AC3E}">
        <p14:creationId xmlns:p14="http://schemas.microsoft.com/office/powerpoint/2010/main" val="3491815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E8826-CC0B-5543-F683-B34923062B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5A83189-FEA2-7E20-62BC-BF5AD943FAA0}"/>
              </a:ext>
            </a:extLst>
          </p:cNvPr>
          <p:cNvSpPr>
            <a:spLocks noGrp="1"/>
          </p:cNvSpPr>
          <p:nvPr>
            <p:ph idx="1"/>
          </p:nvPr>
        </p:nvSpPr>
        <p:spPr>
          <a:xfrm>
            <a:off x="457200" y="428978"/>
            <a:ext cx="8229600" cy="6107289"/>
          </a:xfrm>
        </p:spPr>
        <p:txBody>
          <a:bodyPr>
            <a:noAutofit/>
          </a:bodyPr>
          <a:lstStyle/>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library(sf)</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a:t>
            </a:r>
            <a:r>
              <a:rPr lang="en-US" sz="1200" dirty="0" err="1">
                <a:latin typeface="Consolas" panose="020B0609020204030204" pitchFamily="49" charset="0"/>
                <a:cs typeface="Consolas" panose="020B0609020204030204" pitchFamily="49" charset="0"/>
              </a:rPr>
              <a:t>dplyr</a:t>
            </a: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library(ggplot2)</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library(patchwork)</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library(</a:t>
            </a:r>
            <a:r>
              <a:rPr lang="en-US" sz="1200" dirty="0" err="1">
                <a:latin typeface="Consolas" panose="020B0609020204030204" pitchFamily="49" charset="0"/>
                <a:cs typeface="Consolas" panose="020B0609020204030204" pitchFamily="49" charset="0"/>
              </a:rPr>
              <a:t>viridis</a:t>
            </a: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Create simple square geometries to represent counties in a grid</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polys &lt;- </a:t>
            </a:r>
            <a:r>
              <a:rPr lang="en-US" sz="1200" dirty="0" err="1">
                <a:latin typeface="Consolas" panose="020B0609020204030204" pitchFamily="49" charset="0"/>
                <a:cs typeface="Consolas" panose="020B0609020204030204" pitchFamily="49" charset="0"/>
              </a:rPr>
              <a:t>st_sfc</a:t>
            </a: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st_polygon</a:t>
            </a:r>
            <a:r>
              <a:rPr lang="en-US" sz="1200" dirty="0">
                <a:latin typeface="Consolas" panose="020B0609020204030204" pitchFamily="49" charset="0"/>
                <a:cs typeface="Consolas" panose="020B0609020204030204" pitchFamily="49" charset="0"/>
              </a:rPr>
              <a:t>(list(matrix(c(0,0, 1,0, 1,1, 0,1, 0,0), </a:t>
            </a:r>
            <a:r>
              <a:rPr lang="en-US" sz="1200" dirty="0" err="1">
                <a:latin typeface="Consolas" panose="020B0609020204030204" pitchFamily="49" charset="0"/>
                <a:cs typeface="Consolas" panose="020B0609020204030204" pitchFamily="49" charset="0"/>
              </a:rPr>
              <a:t>ncol</a:t>
            </a:r>
            <a:r>
              <a:rPr lang="en-US" sz="1200" dirty="0">
                <a:latin typeface="Consolas" panose="020B0609020204030204" pitchFamily="49" charset="0"/>
                <a:cs typeface="Consolas" panose="020B0609020204030204" pitchFamily="49" charset="0"/>
              </a:rPr>
              <a:t>=2, </a:t>
            </a:r>
            <a:r>
              <a:rPr lang="en-US" sz="1200" dirty="0" err="1">
                <a:latin typeface="Consolas" panose="020B0609020204030204" pitchFamily="49" charset="0"/>
                <a:cs typeface="Consolas" panose="020B0609020204030204" pitchFamily="49" charset="0"/>
              </a:rPr>
              <a:t>byrow</a:t>
            </a:r>
            <a:r>
              <a:rPr lang="en-US" sz="1200" dirty="0">
                <a:latin typeface="Consolas" panose="020B0609020204030204" pitchFamily="49" charset="0"/>
                <a:cs typeface="Consolas" panose="020B0609020204030204" pitchFamily="49" charset="0"/>
              </a:rPr>
              <a:t>=TRUE))), # Bottom Left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st_polygon</a:t>
            </a:r>
            <a:r>
              <a:rPr lang="en-US" sz="1200" dirty="0">
                <a:latin typeface="Consolas" panose="020B0609020204030204" pitchFamily="49" charset="0"/>
                <a:cs typeface="Consolas" panose="020B0609020204030204" pitchFamily="49" charset="0"/>
              </a:rPr>
              <a:t>(list(matrix(c(1,0, 2,0, 2,1, 1,1, 1,0), </a:t>
            </a:r>
            <a:r>
              <a:rPr lang="en-US" sz="1200" dirty="0" err="1">
                <a:latin typeface="Consolas" panose="020B0609020204030204" pitchFamily="49" charset="0"/>
                <a:cs typeface="Consolas" panose="020B0609020204030204" pitchFamily="49" charset="0"/>
              </a:rPr>
              <a:t>ncol</a:t>
            </a:r>
            <a:r>
              <a:rPr lang="en-US" sz="1200" dirty="0">
                <a:latin typeface="Consolas" panose="020B0609020204030204" pitchFamily="49" charset="0"/>
                <a:cs typeface="Consolas" panose="020B0609020204030204" pitchFamily="49" charset="0"/>
              </a:rPr>
              <a:t>=2, </a:t>
            </a:r>
            <a:r>
              <a:rPr lang="en-US" sz="1200" dirty="0" err="1">
                <a:latin typeface="Consolas" panose="020B0609020204030204" pitchFamily="49" charset="0"/>
                <a:cs typeface="Consolas" panose="020B0609020204030204" pitchFamily="49" charset="0"/>
              </a:rPr>
              <a:t>byrow</a:t>
            </a:r>
            <a:r>
              <a:rPr lang="en-US" sz="1200" dirty="0">
                <a:latin typeface="Consolas" panose="020B0609020204030204" pitchFamily="49" charset="0"/>
                <a:cs typeface="Consolas" panose="020B0609020204030204" pitchFamily="49" charset="0"/>
              </a:rPr>
              <a:t>=TRUE))), # Bottom Right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st_polygon</a:t>
            </a:r>
            <a:r>
              <a:rPr lang="en-US" sz="1200" dirty="0">
                <a:latin typeface="Consolas" panose="020B0609020204030204" pitchFamily="49" charset="0"/>
                <a:cs typeface="Consolas" panose="020B0609020204030204" pitchFamily="49" charset="0"/>
              </a:rPr>
              <a:t>(list(matrix(c(0,1, 2,1, 2,2, 0,2, 0,1), </a:t>
            </a:r>
            <a:r>
              <a:rPr lang="en-US" sz="1200" dirty="0" err="1">
                <a:latin typeface="Consolas" panose="020B0609020204030204" pitchFamily="49" charset="0"/>
                <a:cs typeface="Consolas" panose="020B0609020204030204" pitchFamily="49" charset="0"/>
              </a:rPr>
              <a:t>ncol</a:t>
            </a:r>
            <a:r>
              <a:rPr lang="en-US" sz="1200" dirty="0">
                <a:latin typeface="Consolas" panose="020B0609020204030204" pitchFamily="49" charset="0"/>
                <a:cs typeface="Consolas" panose="020B0609020204030204" pitchFamily="49" charset="0"/>
              </a:rPr>
              <a:t>=2, </a:t>
            </a:r>
            <a:r>
              <a:rPr lang="en-US" sz="1200" dirty="0" err="1">
                <a:latin typeface="Consolas" panose="020B0609020204030204" pitchFamily="49" charset="0"/>
                <a:cs typeface="Consolas" panose="020B0609020204030204" pitchFamily="49" charset="0"/>
              </a:rPr>
              <a:t>byrow</a:t>
            </a:r>
            <a:r>
              <a:rPr lang="en-US" sz="1200" dirty="0">
                <a:latin typeface="Consolas" panose="020B0609020204030204" pitchFamily="49" charset="0"/>
                <a:cs typeface="Consolas" panose="020B0609020204030204" pitchFamily="49" charset="0"/>
              </a:rPr>
              <a:t>=TRUE)))  # Top (Large)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Convert to sf object and add the table data</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df</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data.frame</a:t>
            </a: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name = c("Rural County", "Suburban County", "Urban County"),</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total_incidents</a:t>
            </a:r>
            <a:r>
              <a:rPr lang="en-US" sz="1200" dirty="0">
                <a:latin typeface="Consolas" panose="020B0609020204030204" pitchFamily="49" charset="0"/>
                <a:cs typeface="Consolas" panose="020B0609020204030204" pitchFamily="49" charset="0"/>
              </a:rPr>
              <a:t> = c(50, 100, 500),</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population = c(5000, 50000, 1000000),</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incident_rate</a:t>
            </a:r>
            <a:r>
              <a:rPr lang="en-US" sz="1200" dirty="0">
                <a:latin typeface="Consolas" panose="020B0609020204030204" pitchFamily="49" charset="0"/>
                <a:cs typeface="Consolas" panose="020B0609020204030204" pitchFamily="49" charset="0"/>
              </a:rPr>
              <a:t> = c(10.0, 2.0, 0.5) # Incidents per 1,000)</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Join geometry to data</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comparison_data</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st_sf</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df</a:t>
            </a:r>
            <a:r>
              <a:rPr lang="en-US" sz="1200" dirty="0">
                <a:latin typeface="Consolas" panose="020B0609020204030204" pitchFamily="49" charset="0"/>
                <a:cs typeface="Consolas" panose="020B0609020204030204" pitchFamily="49" charset="0"/>
              </a:rPr>
              <a:t>, geometry = polys)</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Add centroid coordinates for labeling</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comparison_data</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comparison_data</a:t>
            </a:r>
            <a:r>
              <a:rPr lang="en-US" sz="1200" dirty="0">
                <a:latin typeface="Consolas" panose="020B0609020204030204" pitchFamily="49" charset="0"/>
                <a:cs typeface="Consolas" panose="020B0609020204030204" pitchFamily="49" charset="0"/>
              </a:rPr>
              <a:t> %&gt;%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mutate(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centroid = </a:t>
            </a:r>
            <a:r>
              <a:rPr lang="en-US" sz="1200" dirty="0" err="1">
                <a:latin typeface="Consolas" panose="020B0609020204030204" pitchFamily="49" charset="0"/>
                <a:cs typeface="Consolas" panose="020B0609020204030204" pitchFamily="49" charset="0"/>
              </a:rPr>
              <a:t>st_centroid</a:t>
            </a:r>
            <a:r>
              <a:rPr lang="en-US" sz="1200" dirty="0">
                <a:latin typeface="Consolas" panose="020B0609020204030204" pitchFamily="49" charset="0"/>
                <a:cs typeface="Consolas" panose="020B0609020204030204" pitchFamily="49" charset="0"/>
              </a:rPr>
              <a:t>(geometry),</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lon</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st_coordinates</a:t>
            </a:r>
            <a:r>
              <a:rPr lang="en-US" sz="1200" dirty="0">
                <a:latin typeface="Consolas" panose="020B0609020204030204" pitchFamily="49" charset="0"/>
                <a:cs typeface="Consolas" panose="020B0609020204030204" pitchFamily="49" charset="0"/>
              </a:rPr>
              <a:t>(centroid)[,1],</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lat</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st_coordinates</a:t>
            </a:r>
            <a:r>
              <a:rPr lang="en-US" sz="1200" dirty="0">
                <a:latin typeface="Consolas" panose="020B0609020204030204" pitchFamily="49" charset="0"/>
                <a:cs typeface="Consolas" panose="020B0609020204030204" pitchFamily="49" charset="0"/>
              </a:rPr>
              <a:t>(centroid)[,2])</a:t>
            </a:r>
          </a:p>
        </p:txBody>
      </p:sp>
      <p:sp>
        <p:nvSpPr>
          <p:cNvPr id="4" name="Slide Number Placeholder 3">
            <a:extLst>
              <a:ext uri="{FF2B5EF4-FFF2-40B4-BE49-F238E27FC236}">
                <a16:creationId xmlns:a16="http://schemas.microsoft.com/office/drawing/2014/main" id="{6B0DA105-7701-4C11-021F-D81309F6847C}"/>
              </a:ext>
            </a:extLst>
          </p:cNvPr>
          <p:cNvSpPr>
            <a:spLocks noGrp="1"/>
          </p:cNvSpPr>
          <p:nvPr>
            <p:ph type="sldNum" sz="quarter" idx="12"/>
          </p:nvPr>
        </p:nvSpPr>
        <p:spPr/>
        <p:txBody>
          <a:bodyPr/>
          <a:lstStyle/>
          <a:p>
            <a:fld id="{C0343C75-1924-D247-85A3-0CB62E67E5D1}" type="slidenum">
              <a:rPr lang="en-US" smtClean="0"/>
              <a:t>25</a:t>
            </a:fld>
            <a:endParaRPr lang="en-US"/>
          </a:p>
        </p:txBody>
      </p:sp>
    </p:spTree>
    <p:extLst>
      <p:ext uri="{BB962C8B-B14F-4D97-AF65-F5344CB8AC3E}">
        <p14:creationId xmlns:p14="http://schemas.microsoft.com/office/powerpoint/2010/main" val="3387395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6170D-DCFA-FCDE-5AA8-AB6EC839EDB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1476C5-1A65-5939-33BB-8F40554BBCC2}"/>
              </a:ext>
            </a:extLst>
          </p:cNvPr>
          <p:cNvSpPr>
            <a:spLocks noGrp="1"/>
          </p:cNvSpPr>
          <p:nvPr>
            <p:ph idx="1"/>
          </p:nvPr>
        </p:nvSpPr>
        <p:spPr>
          <a:xfrm>
            <a:off x="457200" y="428978"/>
            <a:ext cx="8229600" cy="6107289"/>
          </a:xfrm>
        </p:spPr>
        <p:txBody>
          <a:bodyPr>
            <a:noAutofit/>
          </a:bodyPr>
          <a:lstStyle/>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2. CREATE MAP 1: WRONGFUL (COUNT) ----------------------------------------</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map_count</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ggplot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comparison_data</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Shade by Total Incidents</a:t>
            </a:r>
          </a:p>
          <a:p>
            <a:pPr marL="0" indent="0">
              <a:lnSpc>
                <a:spcPct val="110000"/>
              </a:lnSpc>
              <a:spcBef>
                <a:spcPts val="0"/>
              </a:spcBef>
              <a:buNone/>
            </a:pPr>
            <a:endParaRPr lang="en-US" sz="1200" dirty="0">
              <a:solidFill>
                <a:schemeClr val="tx1">
                  <a:lumMod val="50000"/>
                  <a:lumOff val="50000"/>
                </a:schemeClr>
              </a:solidFill>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aes</a:t>
            </a:r>
            <a:r>
              <a:rPr lang="en-US" sz="1200" dirty="0">
                <a:latin typeface="Consolas" panose="020B0609020204030204" pitchFamily="49" charset="0"/>
                <a:cs typeface="Consolas" panose="020B0609020204030204" pitchFamily="49" charset="0"/>
              </a:rPr>
              <a:t>(fill = </a:t>
            </a:r>
            <a:r>
              <a:rPr lang="en-US" sz="1200" dirty="0" err="1">
                <a:latin typeface="Consolas" panose="020B0609020204030204" pitchFamily="49" charset="0"/>
                <a:cs typeface="Consolas" panose="020B0609020204030204" pitchFamily="49" charset="0"/>
              </a:rPr>
              <a:t>total_incidents</a:t>
            </a:r>
            <a:r>
              <a:rPr lang="en-US" sz="1200" dirty="0">
                <a:latin typeface="Consolas" panose="020B0609020204030204" pitchFamily="49" charset="0"/>
                <a:cs typeface="Consolas" panose="020B0609020204030204" pitchFamily="49" charset="0"/>
              </a:rPr>
              <a:t>), color = "black", size = 0.5) +</a:t>
            </a:r>
          </a:p>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 Color scale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scale_fill_viridis_c</a:t>
            </a:r>
            <a:r>
              <a:rPr lang="en-US" sz="1200" dirty="0">
                <a:latin typeface="Consolas" panose="020B0609020204030204" pitchFamily="49" charset="0"/>
                <a:cs typeface="Consolas" panose="020B0609020204030204" pitchFamily="49" charset="0"/>
              </a:rPr>
              <a:t>(option = "rocket", begin = 0.3, end = 1) +</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geom_text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aes</a:t>
            </a:r>
            <a:r>
              <a:rPr lang="en-US" sz="1200" dirty="0">
                <a:latin typeface="Consolas" panose="020B0609020204030204" pitchFamily="49" charset="0"/>
                <a:cs typeface="Consolas" panose="020B0609020204030204" pitchFamily="49" charset="0"/>
              </a:rPr>
              <a:t>(x = </a:t>
            </a:r>
            <a:r>
              <a:rPr lang="en-US" sz="1200" dirty="0" err="1">
                <a:latin typeface="Consolas" panose="020B0609020204030204" pitchFamily="49" charset="0"/>
                <a:cs typeface="Consolas" panose="020B0609020204030204" pitchFamily="49" charset="0"/>
              </a:rPr>
              <a:t>lon</a:t>
            </a:r>
            <a:r>
              <a:rPr lang="en-US" sz="1200" dirty="0">
                <a:latin typeface="Consolas" panose="020B0609020204030204" pitchFamily="49" charset="0"/>
                <a:cs typeface="Consolas" panose="020B0609020204030204" pitchFamily="49" charset="0"/>
              </a:rPr>
              <a:t>, y = </a:t>
            </a:r>
            <a:r>
              <a:rPr lang="en-US" sz="1200" dirty="0" err="1">
                <a:latin typeface="Consolas" panose="020B0609020204030204" pitchFamily="49" charset="0"/>
                <a:cs typeface="Consolas" panose="020B0609020204030204" pitchFamily="49" charset="0"/>
              </a:rPr>
              <a:t>lat</a:t>
            </a:r>
            <a:r>
              <a:rPr lang="en-US" sz="1200" dirty="0">
                <a:latin typeface="Consolas" panose="020B0609020204030204" pitchFamily="49" charset="0"/>
                <a:cs typeface="Consolas" panose="020B0609020204030204" pitchFamily="49" charset="0"/>
              </a:rPr>
              <a:t>, label = name),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fontface</a:t>
            </a:r>
            <a:r>
              <a:rPr lang="en-US" sz="1200" dirty="0">
                <a:latin typeface="Consolas" panose="020B0609020204030204" pitchFamily="49" charset="0"/>
                <a:cs typeface="Consolas" panose="020B0609020204030204" pitchFamily="49" charset="0"/>
              </a:rPr>
              <a:t> = "bold", </a:t>
            </a:r>
            <a:r>
              <a:rPr lang="en-US" sz="1200" dirty="0" err="1">
                <a:latin typeface="Consolas" panose="020B0609020204030204" pitchFamily="49" charset="0"/>
                <a:cs typeface="Consolas" panose="020B0609020204030204" pitchFamily="49" charset="0"/>
              </a:rPr>
              <a:t>nudge_y</a:t>
            </a:r>
            <a:r>
              <a:rPr lang="en-US" sz="1200" dirty="0">
                <a:latin typeface="Consolas" panose="020B0609020204030204" pitchFamily="49" charset="0"/>
                <a:cs typeface="Consolas" panose="020B0609020204030204" pitchFamily="49" charset="0"/>
              </a:rPr>
              <a:t> = 0.2, </a:t>
            </a:r>
            <a:r>
              <a:rPr lang="en-US" sz="1200" dirty="0" err="1">
                <a:latin typeface="Consolas" panose="020B0609020204030204" pitchFamily="49" charset="0"/>
                <a:cs typeface="Consolas" panose="020B0609020204030204" pitchFamily="49" charset="0"/>
              </a:rPr>
              <a:t>check_overlap</a:t>
            </a:r>
            <a:r>
              <a:rPr lang="en-US" sz="1200" dirty="0">
                <a:latin typeface="Consolas" panose="020B0609020204030204" pitchFamily="49" charset="0"/>
                <a:cs typeface="Consolas" panose="020B0609020204030204" pitchFamily="49" charset="0"/>
              </a:rPr>
              <a:t> = TRUE)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geom_text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aes</a:t>
            </a:r>
            <a:r>
              <a:rPr lang="en-US" sz="1200" dirty="0">
                <a:latin typeface="Consolas" panose="020B0609020204030204" pitchFamily="49" charset="0"/>
                <a:cs typeface="Consolas" panose="020B0609020204030204" pitchFamily="49" charset="0"/>
              </a:rPr>
              <a:t>(x = </a:t>
            </a:r>
            <a:r>
              <a:rPr lang="en-US" sz="1200" dirty="0" err="1">
                <a:latin typeface="Consolas" panose="020B0609020204030204" pitchFamily="49" charset="0"/>
                <a:cs typeface="Consolas" panose="020B0609020204030204" pitchFamily="49" charset="0"/>
              </a:rPr>
              <a:t>lon</a:t>
            </a:r>
            <a:r>
              <a:rPr lang="en-US" sz="1200" dirty="0">
                <a:latin typeface="Consolas" panose="020B0609020204030204" pitchFamily="49" charset="0"/>
                <a:cs typeface="Consolas" panose="020B0609020204030204" pitchFamily="49" charset="0"/>
              </a:rPr>
              <a:t>, y = </a:t>
            </a:r>
            <a:r>
              <a:rPr lang="en-US" sz="1200" dirty="0" err="1">
                <a:latin typeface="Consolas" panose="020B0609020204030204" pitchFamily="49" charset="0"/>
                <a:cs typeface="Consolas" panose="020B0609020204030204" pitchFamily="49" charset="0"/>
              </a:rPr>
              <a:t>lat</a:t>
            </a:r>
            <a:r>
              <a:rPr lang="en-US" sz="1200" dirty="0">
                <a:latin typeface="Consolas" panose="020B0609020204030204" pitchFamily="49" charset="0"/>
                <a:cs typeface="Consolas" panose="020B0609020204030204" pitchFamily="49" charset="0"/>
              </a:rPr>
              <a:t>, label = paste("Count:", </a:t>
            </a:r>
            <a:r>
              <a:rPr lang="en-US" sz="1200" dirty="0" err="1">
                <a:latin typeface="Consolas" panose="020B0609020204030204" pitchFamily="49" charset="0"/>
                <a:cs typeface="Consolas" panose="020B0609020204030204" pitchFamily="49" charset="0"/>
              </a:rPr>
              <a:t>total_incidents</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size = 3.5, </a:t>
            </a:r>
            <a:r>
              <a:rPr lang="en-US" sz="1200" dirty="0" err="1">
                <a:latin typeface="Consolas" panose="020B0609020204030204" pitchFamily="49" charset="0"/>
                <a:cs typeface="Consolas" panose="020B0609020204030204" pitchFamily="49" charset="0"/>
              </a:rPr>
              <a:t>nudge_y</a:t>
            </a:r>
            <a:r>
              <a:rPr lang="en-US" sz="1200" dirty="0">
                <a:latin typeface="Consolas" panose="020B0609020204030204" pitchFamily="49" charset="0"/>
                <a:cs typeface="Consolas" panose="020B0609020204030204" pitchFamily="49" charset="0"/>
              </a:rPr>
              <a:t> = -0.1)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geom_text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aes</a:t>
            </a:r>
            <a:r>
              <a:rPr lang="en-US" sz="1200" dirty="0">
                <a:latin typeface="Consolas" panose="020B0609020204030204" pitchFamily="49" charset="0"/>
                <a:cs typeface="Consolas" panose="020B0609020204030204" pitchFamily="49" charset="0"/>
              </a:rPr>
              <a:t>(x = </a:t>
            </a:r>
            <a:r>
              <a:rPr lang="en-US" sz="1200" dirty="0" err="1">
                <a:latin typeface="Consolas" panose="020B0609020204030204" pitchFamily="49" charset="0"/>
                <a:cs typeface="Consolas" panose="020B0609020204030204" pitchFamily="49" charset="0"/>
              </a:rPr>
              <a:t>lon</a:t>
            </a:r>
            <a:r>
              <a:rPr lang="en-US" sz="1200" dirty="0">
                <a:latin typeface="Consolas" panose="020B0609020204030204" pitchFamily="49" charset="0"/>
                <a:cs typeface="Consolas" panose="020B0609020204030204" pitchFamily="49" charset="0"/>
              </a:rPr>
              <a:t>, y = </a:t>
            </a:r>
            <a:r>
              <a:rPr lang="en-US" sz="1200" dirty="0" err="1">
                <a:latin typeface="Consolas" panose="020B0609020204030204" pitchFamily="49" charset="0"/>
                <a:cs typeface="Consolas" panose="020B0609020204030204" pitchFamily="49" charset="0"/>
              </a:rPr>
              <a:t>lat</a:t>
            </a:r>
            <a:r>
              <a:rPr lang="en-US" sz="1200" dirty="0">
                <a:latin typeface="Consolas" panose="020B0609020204030204" pitchFamily="49" charset="0"/>
                <a:cs typeface="Consolas" panose="020B0609020204030204" pitchFamily="49" charset="0"/>
              </a:rPr>
              <a:t>, label = paste("Pop:", format(population, </a:t>
            </a:r>
            <a:r>
              <a:rPr lang="en-US" sz="1200" dirty="0" err="1">
                <a:latin typeface="Consolas" panose="020B0609020204030204" pitchFamily="49" charset="0"/>
                <a:cs typeface="Consolas" panose="020B0609020204030204" pitchFamily="49" charset="0"/>
              </a:rPr>
              <a:t>big.mark</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size = 3.5, </a:t>
            </a:r>
            <a:r>
              <a:rPr lang="en-US" sz="1200" dirty="0" err="1">
                <a:latin typeface="Consolas" panose="020B0609020204030204" pitchFamily="49" charset="0"/>
                <a:cs typeface="Consolas" panose="020B0609020204030204" pitchFamily="49" charset="0"/>
              </a:rPr>
              <a:t>nudge_y</a:t>
            </a:r>
            <a:r>
              <a:rPr lang="en-US" sz="1200" dirty="0">
                <a:latin typeface="Consolas" panose="020B0609020204030204" pitchFamily="49" charset="0"/>
                <a:cs typeface="Consolas" panose="020B0609020204030204" pitchFamily="49" charset="0"/>
              </a:rPr>
              <a:t> = -0.3) +</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theme_void</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labs(</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title = "Map 1: Wrongful Showing (Raw Count)",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subtitle = "Darker colors focus only on magnitude, ignoring population size.",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fill = "# of\</a:t>
            </a:r>
            <a:r>
              <a:rPr lang="en-US" sz="1200" dirty="0" err="1">
                <a:latin typeface="Consolas" panose="020B0609020204030204" pitchFamily="49" charset="0"/>
                <a:cs typeface="Consolas" panose="020B0609020204030204" pitchFamily="49" charset="0"/>
              </a:rPr>
              <a:t>nIncidents</a:t>
            </a:r>
            <a:r>
              <a:rPr lang="en-US" sz="1200" dirty="0">
                <a:latin typeface="Consolas" panose="020B0609020204030204" pitchFamily="49" charset="0"/>
                <a:cs typeface="Consolas" panose="020B0609020204030204" pitchFamily="49" charset="0"/>
              </a:rPr>
              <a: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 +</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theme(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plot.title</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element_text</a:t>
            </a:r>
            <a:r>
              <a:rPr lang="en-US" sz="1200" dirty="0">
                <a:latin typeface="Consolas" panose="020B0609020204030204" pitchFamily="49" charset="0"/>
                <a:cs typeface="Consolas" panose="020B0609020204030204" pitchFamily="49" charset="0"/>
              </a:rPr>
              <a:t>(color = "red", face = "bold", size = 14),</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legend.position</a:t>
            </a:r>
            <a:r>
              <a:rPr lang="en-US" sz="1200" dirty="0">
                <a:latin typeface="Consolas" panose="020B0609020204030204" pitchFamily="49" charset="0"/>
                <a:cs typeface="Consolas" panose="020B0609020204030204" pitchFamily="49" charset="0"/>
              </a:rPr>
              <a:t> = "right",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plot.margin</a:t>
            </a:r>
            <a:r>
              <a:rPr lang="en-US" sz="1200" dirty="0">
                <a:latin typeface="Consolas" panose="020B0609020204030204" pitchFamily="49" charset="0"/>
                <a:cs typeface="Consolas" panose="020B0609020204030204" pitchFamily="49" charset="0"/>
              </a:rPr>
              <a:t> = margin(10,10,10,10)</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p:txBody>
      </p:sp>
      <p:sp>
        <p:nvSpPr>
          <p:cNvPr id="4" name="Slide Number Placeholder 3">
            <a:extLst>
              <a:ext uri="{FF2B5EF4-FFF2-40B4-BE49-F238E27FC236}">
                <a16:creationId xmlns:a16="http://schemas.microsoft.com/office/drawing/2014/main" id="{179E9A54-4442-DCE0-3840-0149D8F06F33}"/>
              </a:ext>
            </a:extLst>
          </p:cNvPr>
          <p:cNvSpPr>
            <a:spLocks noGrp="1"/>
          </p:cNvSpPr>
          <p:nvPr>
            <p:ph type="sldNum" sz="quarter" idx="12"/>
          </p:nvPr>
        </p:nvSpPr>
        <p:spPr/>
        <p:txBody>
          <a:bodyPr/>
          <a:lstStyle/>
          <a:p>
            <a:fld id="{C0343C75-1924-D247-85A3-0CB62E67E5D1}" type="slidenum">
              <a:rPr lang="en-US" smtClean="0"/>
              <a:t>26</a:t>
            </a:fld>
            <a:endParaRPr lang="en-US"/>
          </a:p>
        </p:txBody>
      </p:sp>
    </p:spTree>
    <p:extLst>
      <p:ext uri="{BB962C8B-B14F-4D97-AF65-F5344CB8AC3E}">
        <p14:creationId xmlns:p14="http://schemas.microsoft.com/office/powerpoint/2010/main" val="26101436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8167B-2C6B-9A51-47EC-6E26E95B7AF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0E4BE9-B577-F7C7-C71B-EFD9EDB97562}"/>
              </a:ext>
            </a:extLst>
          </p:cNvPr>
          <p:cNvSpPr>
            <a:spLocks noGrp="1"/>
          </p:cNvSpPr>
          <p:nvPr>
            <p:ph idx="1"/>
          </p:nvPr>
        </p:nvSpPr>
        <p:spPr>
          <a:xfrm>
            <a:off x="457200" y="428978"/>
            <a:ext cx="8229600" cy="6107289"/>
          </a:xfrm>
        </p:spPr>
        <p:txBody>
          <a:bodyPr>
            <a:noAutofit/>
          </a:bodyPr>
          <a:lstStyle/>
          <a:p>
            <a:pPr marL="0" indent="0">
              <a:lnSpc>
                <a:spcPct val="110000"/>
              </a:lnSpc>
              <a:spcBef>
                <a:spcPts val="0"/>
              </a:spcBef>
              <a:buNone/>
            </a:pPr>
            <a:r>
              <a:rPr lang="en-US" sz="1200" dirty="0">
                <a:solidFill>
                  <a:schemeClr val="tx1">
                    <a:lumMod val="50000"/>
                    <a:lumOff val="50000"/>
                  </a:schemeClr>
                </a:solidFill>
                <a:latin typeface="Consolas" panose="020B0609020204030204" pitchFamily="49" charset="0"/>
                <a:cs typeface="Consolas" panose="020B0609020204030204" pitchFamily="49" charset="0"/>
              </a:rPr>
              <a:t># 3. CREATE MAP 2: CORRECT (RATE) ------------------------------------------</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map_rate</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ggplot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comparison_data</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geom_sf</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aes</a:t>
            </a:r>
            <a:r>
              <a:rPr lang="en-US" sz="1200" dirty="0">
                <a:latin typeface="Consolas" panose="020B0609020204030204" pitchFamily="49" charset="0"/>
                <a:cs typeface="Consolas" panose="020B0609020204030204" pitchFamily="49" charset="0"/>
              </a:rPr>
              <a:t>(fill = </a:t>
            </a:r>
            <a:r>
              <a:rPr lang="en-US" sz="1200" dirty="0" err="1">
                <a:latin typeface="Consolas" panose="020B0609020204030204" pitchFamily="49" charset="0"/>
                <a:cs typeface="Consolas" panose="020B0609020204030204" pitchFamily="49" charset="0"/>
              </a:rPr>
              <a:t>incident_rate</a:t>
            </a:r>
            <a:r>
              <a:rPr lang="en-US" sz="1200" dirty="0">
                <a:latin typeface="Consolas" panose="020B0609020204030204" pitchFamily="49" charset="0"/>
                <a:cs typeface="Consolas" panose="020B0609020204030204" pitchFamily="49" charset="0"/>
              </a:rPr>
              <a:t>), color = "black", size = 0.5)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scale_fill_viridis_c</a:t>
            </a:r>
            <a:r>
              <a:rPr lang="en-US" sz="1200" dirty="0">
                <a:latin typeface="Consolas" panose="020B0609020204030204" pitchFamily="49" charset="0"/>
                <a:cs typeface="Consolas" panose="020B0609020204030204" pitchFamily="49" charset="0"/>
              </a:rPr>
              <a:t>(option = "mako", direction = -1)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geom_text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aes</a:t>
            </a:r>
            <a:r>
              <a:rPr lang="en-US" sz="1200" dirty="0">
                <a:latin typeface="Consolas" panose="020B0609020204030204" pitchFamily="49" charset="0"/>
                <a:cs typeface="Consolas" panose="020B0609020204030204" pitchFamily="49" charset="0"/>
              </a:rPr>
              <a:t>(x = </a:t>
            </a:r>
            <a:r>
              <a:rPr lang="en-US" sz="1200" dirty="0" err="1">
                <a:latin typeface="Consolas" panose="020B0609020204030204" pitchFamily="49" charset="0"/>
                <a:cs typeface="Consolas" panose="020B0609020204030204" pitchFamily="49" charset="0"/>
              </a:rPr>
              <a:t>lon</a:t>
            </a:r>
            <a:r>
              <a:rPr lang="en-US" sz="1200" dirty="0">
                <a:latin typeface="Consolas" panose="020B0609020204030204" pitchFamily="49" charset="0"/>
                <a:cs typeface="Consolas" panose="020B0609020204030204" pitchFamily="49" charset="0"/>
              </a:rPr>
              <a:t>, y = </a:t>
            </a:r>
            <a:r>
              <a:rPr lang="en-US" sz="1200" dirty="0" err="1">
                <a:latin typeface="Consolas" panose="020B0609020204030204" pitchFamily="49" charset="0"/>
                <a:cs typeface="Consolas" panose="020B0609020204030204" pitchFamily="49" charset="0"/>
              </a:rPr>
              <a:t>lat</a:t>
            </a:r>
            <a:r>
              <a:rPr lang="en-US" sz="1200" dirty="0">
                <a:latin typeface="Consolas" panose="020B0609020204030204" pitchFamily="49" charset="0"/>
                <a:cs typeface="Consolas" panose="020B0609020204030204" pitchFamily="49" charset="0"/>
              </a:rPr>
              <a:t>, label = name),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fontface</a:t>
            </a:r>
            <a:r>
              <a:rPr lang="en-US" sz="1200" dirty="0">
                <a:latin typeface="Consolas" panose="020B0609020204030204" pitchFamily="49" charset="0"/>
                <a:cs typeface="Consolas" panose="020B0609020204030204" pitchFamily="49" charset="0"/>
              </a:rPr>
              <a:t> = "bold", </a:t>
            </a:r>
            <a:r>
              <a:rPr lang="en-US" sz="1200" dirty="0" err="1">
                <a:latin typeface="Consolas" panose="020B0609020204030204" pitchFamily="49" charset="0"/>
                <a:cs typeface="Consolas" panose="020B0609020204030204" pitchFamily="49" charset="0"/>
              </a:rPr>
              <a:t>nudge_y</a:t>
            </a:r>
            <a:r>
              <a:rPr lang="en-US" sz="1200" dirty="0">
                <a:latin typeface="Consolas" panose="020B0609020204030204" pitchFamily="49" charset="0"/>
                <a:cs typeface="Consolas" panose="020B0609020204030204" pitchFamily="49" charset="0"/>
              </a:rPr>
              <a:t> = 0.2, </a:t>
            </a:r>
            <a:r>
              <a:rPr lang="en-US" sz="1200" dirty="0" err="1">
                <a:latin typeface="Consolas" panose="020B0609020204030204" pitchFamily="49" charset="0"/>
                <a:cs typeface="Consolas" panose="020B0609020204030204" pitchFamily="49" charset="0"/>
              </a:rPr>
              <a:t>check_overlap</a:t>
            </a:r>
            <a:r>
              <a:rPr lang="en-US" sz="1200" dirty="0">
                <a:latin typeface="Consolas" panose="020B0609020204030204" pitchFamily="49" charset="0"/>
                <a:cs typeface="Consolas" panose="020B0609020204030204" pitchFamily="49" charset="0"/>
              </a:rPr>
              <a:t> = TRUE)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geom_text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aes</a:t>
            </a:r>
            <a:r>
              <a:rPr lang="en-US" sz="1200" dirty="0">
                <a:latin typeface="Consolas" panose="020B0609020204030204" pitchFamily="49" charset="0"/>
                <a:cs typeface="Consolas" panose="020B0609020204030204" pitchFamily="49" charset="0"/>
              </a:rPr>
              <a:t>(x = </a:t>
            </a:r>
            <a:r>
              <a:rPr lang="en-US" sz="1200" dirty="0" err="1">
                <a:latin typeface="Consolas" panose="020B0609020204030204" pitchFamily="49" charset="0"/>
                <a:cs typeface="Consolas" panose="020B0609020204030204" pitchFamily="49" charset="0"/>
              </a:rPr>
              <a:t>lon</a:t>
            </a:r>
            <a:r>
              <a:rPr lang="en-US" sz="1200" dirty="0">
                <a:latin typeface="Consolas" panose="020B0609020204030204" pitchFamily="49" charset="0"/>
                <a:cs typeface="Consolas" panose="020B0609020204030204" pitchFamily="49" charset="0"/>
              </a:rPr>
              <a:t>, y = </a:t>
            </a:r>
            <a:r>
              <a:rPr lang="en-US" sz="1200" dirty="0" err="1">
                <a:latin typeface="Consolas" panose="020B0609020204030204" pitchFamily="49" charset="0"/>
                <a:cs typeface="Consolas" panose="020B0609020204030204" pitchFamily="49" charset="0"/>
              </a:rPr>
              <a:t>lat</a:t>
            </a:r>
            <a:r>
              <a:rPr lang="en-US" sz="1200" dirty="0">
                <a:latin typeface="Consolas" panose="020B0609020204030204" pitchFamily="49" charset="0"/>
                <a:cs typeface="Consolas" panose="020B0609020204030204" pitchFamily="49" charset="0"/>
              </a:rPr>
              <a:t>, label = paste("Rate:", </a:t>
            </a:r>
            <a:r>
              <a:rPr lang="en-US" sz="1200" dirty="0" err="1">
                <a:latin typeface="Consolas" panose="020B0609020204030204" pitchFamily="49" charset="0"/>
                <a:cs typeface="Consolas" panose="020B0609020204030204" pitchFamily="49" charset="0"/>
              </a:rPr>
              <a:t>incident_rate</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size = 3.5, </a:t>
            </a:r>
            <a:r>
              <a:rPr lang="en-US" sz="1200" dirty="0" err="1">
                <a:latin typeface="Consolas" panose="020B0609020204030204" pitchFamily="49" charset="0"/>
                <a:cs typeface="Consolas" panose="020B0609020204030204" pitchFamily="49" charset="0"/>
              </a:rPr>
              <a:t>nudge_y</a:t>
            </a:r>
            <a:r>
              <a:rPr lang="en-US" sz="1200" dirty="0">
                <a:latin typeface="Consolas" panose="020B0609020204030204" pitchFamily="49" charset="0"/>
                <a:cs typeface="Consolas" panose="020B0609020204030204" pitchFamily="49" charset="0"/>
              </a:rPr>
              <a:t> = -0.1, color = "white")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theme_void</a:t>
            </a: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labs(</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title = "Map 2: Correct Showing (Normalized Rate)",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subtitle = "Darker colors focus on intensity, revealing the true hotspot.",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fill = "Rate per\n1,000 Pop."</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 +</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theme(</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plot.title</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element_text</a:t>
            </a:r>
            <a:r>
              <a:rPr lang="en-US" sz="1200" dirty="0">
                <a:latin typeface="Consolas" panose="020B0609020204030204" pitchFamily="49" charset="0"/>
                <a:cs typeface="Consolas" panose="020B0609020204030204" pitchFamily="49" charset="0"/>
              </a:rPr>
              <a:t>(color = "green4", face = "bold", size = 14),</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legend.position</a:t>
            </a:r>
            <a:r>
              <a:rPr lang="en-US" sz="1200" dirty="0">
                <a:latin typeface="Consolas" panose="020B0609020204030204" pitchFamily="49" charset="0"/>
                <a:cs typeface="Consolas" panose="020B0609020204030204" pitchFamily="49" charset="0"/>
              </a:rPr>
              <a:t> = "right",</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plot.margin</a:t>
            </a:r>
            <a:r>
              <a:rPr lang="en-US" sz="1200" dirty="0">
                <a:latin typeface="Consolas" panose="020B0609020204030204" pitchFamily="49" charset="0"/>
                <a:cs typeface="Consolas" panose="020B0609020204030204" pitchFamily="49" charset="0"/>
              </a:rPr>
              <a:t> = margin(10,10,10,10)</a:t>
            </a:r>
          </a:p>
          <a:p>
            <a:pPr marL="0" indent="0">
              <a:lnSpc>
                <a:spcPct val="110000"/>
              </a:lnSpc>
              <a:spcBef>
                <a:spcPts val="0"/>
              </a:spcBef>
              <a:buNone/>
            </a:pPr>
            <a:r>
              <a:rPr lang="en-US" sz="1200" dirty="0">
                <a:latin typeface="Consolas" panose="020B0609020204030204" pitchFamily="49" charset="0"/>
                <a:cs typeface="Consolas" panose="020B0609020204030204" pitchFamily="49" charset="0"/>
              </a:rPr>
              <a:t>  )</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a:solidFill>
                  <a:schemeClr val="tx1">
                    <a:lumMod val="50000"/>
                    <a:lumOff val="50000"/>
                  </a:schemeClr>
                </a:solidFill>
                <a:highlight>
                  <a:srgbClr val="FFFF00"/>
                </a:highlight>
                <a:latin typeface="Consolas" panose="020B0609020204030204" pitchFamily="49" charset="0"/>
                <a:cs typeface="Consolas" panose="020B0609020204030204" pitchFamily="49" charset="0"/>
              </a:rPr>
              <a:t># 4. DISPLAY COMPARISON USING PATCHWORK ------------------------------------</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comparison_plot</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map_count</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map_rate</a:t>
            </a:r>
            <a:r>
              <a:rPr lang="en-US" sz="1200" dirty="0">
                <a:latin typeface="Consolas" panose="020B0609020204030204" pitchFamily="49" charset="0"/>
                <a:cs typeface="Consolas" panose="020B0609020204030204" pitchFamily="49" charset="0"/>
              </a:rPr>
              <a:t> </a:t>
            </a:r>
            <a:r>
              <a:rPr lang="en-US" sz="1200" dirty="0">
                <a:solidFill>
                  <a:schemeClr val="tx1">
                    <a:lumMod val="50000"/>
                    <a:lumOff val="50000"/>
                  </a:schemeClr>
                </a:solidFill>
                <a:latin typeface="Consolas" panose="020B0609020204030204" pitchFamily="49" charset="0"/>
                <a:cs typeface="Consolas" panose="020B0609020204030204" pitchFamily="49" charset="0"/>
              </a:rPr>
              <a:t># Stack them vertically</a:t>
            </a: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comparison_plot</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map_count</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map_rate</a:t>
            </a:r>
            <a:r>
              <a:rPr lang="en-US" sz="1200" dirty="0">
                <a:latin typeface="Consolas" panose="020B0609020204030204" pitchFamily="49" charset="0"/>
                <a:cs typeface="Consolas" panose="020B0609020204030204" pitchFamily="49" charset="0"/>
              </a:rPr>
              <a:t> </a:t>
            </a:r>
            <a:r>
              <a:rPr lang="en-US" sz="1200" dirty="0">
                <a:solidFill>
                  <a:schemeClr val="tx1">
                    <a:lumMod val="50000"/>
                    <a:lumOff val="50000"/>
                  </a:schemeClr>
                </a:solidFill>
                <a:latin typeface="Consolas" panose="020B0609020204030204" pitchFamily="49" charset="0"/>
                <a:cs typeface="Consolas" panose="020B0609020204030204" pitchFamily="49" charset="0"/>
              </a:rPr>
              <a:t># Stack them vertically</a:t>
            </a:r>
          </a:p>
          <a:p>
            <a:pPr marL="0" indent="0">
              <a:lnSpc>
                <a:spcPct val="110000"/>
              </a:lnSpc>
              <a:spcBef>
                <a:spcPts val="0"/>
              </a:spcBef>
              <a:buNone/>
            </a:pPr>
            <a:endParaRPr lang="en-US" sz="1200" dirty="0">
              <a:latin typeface="Consolas" panose="020B0609020204030204" pitchFamily="49" charset="0"/>
              <a:cs typeface="Consolas" panose="020B0609020204030204" pitchFamily="49" charset="0"/>
            </a:endParaRPr>
          </a:p>
          <a:p>
            <a:pPr marL="0" indent="0">
              <a:lnSpc>
                <a:spcPct val="110000"/>
              </a:lnSpc>
              <a:spcBef>
                <a:spcPts val="0"/>
              </a:spcBef>
              <a:buNone/>
            </a:pPr>
            <a:r>
              <a:rPr lang="en-US" sz="1200" dirty="0" err="1">
                <a:latin typeface="Consolas" panose="020B0609020204030204" pitchFamily="49" charset="0"/>
                <a:cs typeface="Consolas" panose="020B0609020204030204" pitchFamily="49" charset="0"/>
              </a:rPr>
              <a:t>comparison_plot</a:t>
            </a:r>
            <a:endParaRPr lang="en-US" sz="12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B62A0319-528E-AF3C-5814-8845E863D656}"/>
              </a:ext>
            </a:extLst>
          </p:cNvPr>
          <p:cNvSpPr>
            <a:spLocks noGrp="1"/>
          </p:cNvSpPr>
          <p:nvPr>
            <p:ph type="sldNum" sz="quarter" idx="12"/>
          </p:nvPr>
        </p:nvSpPr>
        <p:spPr/>
        <p:txBody>
          <a:bodyPr/>
          <a:lstStyle/>
          <a:p>
            <a:fld id="{C0343C75-1924-D247-85A3-0CB62E67E5D1}" type="slidenum">
              <a:rPr lang="en-US" smtClean="0"/>
              <a:t>27</a:t>
            </a:fld>
            <a:endParaRPr lang="en-US"/>
          </a:p>
        </p:txBody>
      </p:sp>
    </p:spTree>
    <p:extLst>
      <p:ext uri="{BB962C8B-B14F-4D97-AF65-F5344CB8AC3E}">
        <p14:creationId xmlns:p14="http://schemas.microsoft.com/office/powerpoint/2010/main" val="39958620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A42DD5F-5FE6-950B-2F6C-37C3F65AA2B4}"/>
              </a:ext>
            </a:extLst>
          </p:cNvPr>
          <p:cNvSpPr>
            <a:spLocks noGrp="1"/>
          </p:cNvSpPr>
          <p:nvPr>
            <p:ph type="sldNum" sz="quarter" idx="12"/>
          </p:nvPr>
        </p:nvSpPr>
        <p:spPr/>
        <p:txBody>
          <a:bodyPr/>
          <a:lstStyle/>
          <a:p>
            <a:fld id="{C0343C75-1924-D247-85A3-0CB62E67E5D1}" type="slidenum">
              <a:rPr lang="en-US" smtClean="0"/>
              <a:t>28</a:t>
            </a:fld>
            <a:endParaRPr lang="en-US"/>
          </a:p>
        </p:txBody>
      </p:sp>
      <p:pic>
        <p:nvPicPr>
          <p:cNvPr id="3" name="Picture 2">
            <a:extLst>
              <a:ext uri="{FF2B5EF4-FFF2-40B4-BE49-F238E27FC236}">
                <a16:creationId xmlns:a16="http://schemas.microsoft.com/office/drawing/2014/main" id="{73F0389E-399B-2541-291C-736D9A231C27}"/>
              </a:ext>
            </a:extLst>
          </p:cNvPr>
          <p:cNvPicPr>
            <a:picLocks noChangeAspect="1"/>
          </p:cNvPicPr>
          <p:nvPr/>
        </p:nvPicPr>
        <p:blipFill>
          <a:blip r:embed="rId2"/>
          <a:stretch>
            <a:fillRect/>
          </a:stretch>
        </p:blipFill>
        <p:spPr>
          <a:xfrm>
            <a:off x="891822" y="1369581"/>
            <a:ext cx="7772400" cy="4118838"/>
          </a:xfrm>
          <a:prstGeom prst="rect">
            <a:avLst/>
          </a:prstGeom>
        </p:spPr>
      </p:pic>
    </p:spTree>
    <p:extLst>
      <p:ext uri="{BB962C8B-B14F-4D97-AF65-F5344CB8AC3E}">
        <p14:creationId xmlns:p14="http://schemas.microsoft.com/office/powerpoint/2010/main" val="1264047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DD0B1-3E3A-22FD-62A1-D887A1D75D6A}"/>
            </a:ext>
          </a:extLst>
        </p:cNvPr>
        <p:cNvGrpSpPr/>
        <p:nvPr/>
      </p:nvGrpSpPr>
      <p:grpSpPr>
        <a:xfrm>
          <a:off x="0" y="0"/>
          <a:ext cx="0" cy="0"/>
          <a:chOff x="0" y="0"/>
          <a:chExt cx="0" cy="0"/>
        </a:xfrm>
      </p:grpSpPr>
      <p:pic>
        <p:nvPicPr>
          <p:cNvPr id="5" name="Content Placeholder 4" descr="A row of different colored squares&#10;&#10;AI-generated content may be incorrect.">
            <a:extLst>
              <a:ext uri="{FF2B5EF4-FFF2-40B4-BE49-F238E27FC236}">
                <a16:creationId xmlns:a16="http://schemas.microsoft.com/office/drawing/2014/main" id="{BDE47196-8F56-2B79-39D2-6898963ED913}"/>
              </a:ext>
            </a:extLst>
          </p:cNvPr>
          <p:cNvPicPr>
            <a:picLocks noChangeAspect="1"/>
          </p:cNvPicPr>
          <p:nvPr/>
        </p:nvPicPr>
        <p:blipFill>
          <a:blip r:embed="rId2"/>
          <a:stretch>
            <a:fillRect/>
          </a:stretch>
        </p:blipFill>
        <p:spPr>
          <a:xfrm>
            <a:off x="4231678" y="0"/>
            <a:ext cx="4455122" cy="2743200"/>
          </a:xfrm>
          <a:prstGeom prst="rect">
            <a:avLst/>
          </a:prstGeom>
        </p:spPr>
      </p:pic>
      <p:sp>
        <p:nvSpPr>
          <p:cNvPr id="2" name="Title 1">
            <a:extLst>
              <a:ext uri="{FF2B5EF4-FFF2-40B4-BE49-F238E27FC236}">
                <a16:creationId xmlns:a16="http://schemas.microsoft.com/office/drawing/2014/main" id="{C098F571-5315-3247-DDF1-B0A6CD54C306}"/>
              </a:ext>
            </a:extLst>
          </p:cNvPr>
          <p:cNvSpPr>
            <a:spLocks noGrp="1"/>
          </p:cNvSpPr>
          <p:nvPr>
            <p:ph type="title"/>
          </p:nvPr>
        </p:nvSpPr>
        <p:spPr/>
        <p:txBody>
          <a:bodyPr/>
          <a:lstStyle/>
          <a:p>
            <a:r>
              <a:rPr lang="en-US" dirty="0"/>
              <a:t>Data Representation</a:t>
            </a:r>
            <a:br>
              <a:rPr lang="en-US" dirty="0"/>
            </a:br>
            <a:r>
              <a:rPr lang="en-US" b="1" dirty="0"/>
              <a:t>Color</a:t>
            </a:r>
          </a:p>
        </p:txBody>
      </p:sp>
      <p:sp>
        <p:nvSpPr>
          <p:cNvPr id="3" name="Content Placeholder 2">
            <a:extLst>
              <a:ext uri="{FF2B5EF4-FFF2-40B4-BE49-F238E27FC236}">
                <a16:creationId xmlns:a16="http://schemas.microsoft.com/office/drawing/2014/main" id="{01005197-31B0-887A-90BA-C76469CCBDC9}"/>
              </a:ext>
            </a:extLst>
          </p:cNvPr>
          <p:cNvSpPr>
            <a:spLocks noGrp="1"/>
          </p:cNvSpPr>
          <p:nvPr>
            <p:ph idx="1"/>
          </p:nvPr>
        </p:nvSpPr>
        <p:spPr>
          <a:xfrm>
            <a:off x="457200" y="2696844"/>
            <a:ext cx="8229600" cy="4024631"/>
          </a:xfrm>
        </p:spPr>
        <p:txBody>
          <a:bodyPr>
            <a:normAutofit/>
          </a:bodyPr>
          <a:lstStyle/>
          <a:p>
            <a:r>
              <a:rPr lang="en-US" sz="1600" b="1" dirty="0"/>
              <a:t>Categorical palettes</a:t>
            </a:r>
          </a:p>
          <a:p>
            <a:pPr lvl="1"/>
            <a:r>
              <a:rPr lang="en-US" sz="1400" dirty="0"/>
              <a:t>Consist of easily distinguishable colors and are most appropriate for categorical data without any particular order such as state names or land cover classes.</a:t>
            </a:r>
          </a:p>
          <a:p>
            <a:pPr lvl="1"/>
            <a:r>
              <a:rPr lang="en-US" sz="1400" dirty="0"/>
              <a:t>Colors should be intuitive: rivers should be blue, for example, and pastures green.</a:t>
            </a:r>
          </a:p>
          <a:p>
            <a:pPr lvl="1"/>
            <a:r>
              <a:rPr lang="en-US" sz="1400" dirty="0"/>
              <a:t>Avoid too many categories: maps with large legends and many colors can be uninterpretable.</a:t>
            </a:r>
          </a:p>
          <a:p>
            <a:r>
              <a:rPr lang="en-US" sz="1600" b="1" dirty="0"/>
              <a:t>Sequential palettes</a:t>
            </a:r>
          </a:p>
          <a:p>
            <a:pPr lvl="1"/>
            <a:r>
              <a:rPr lang="en-US" sz="1400" dirty="0"/>
              <a:t>Follow a gradient, for example from light to dark colors (light colors often tend to represent lower values), and are appropriate for continuous (numeric) variables.</a:t>
            </a:r>
          </a:p>
          <a:p>
            <a:pPr lvl="1"/>
            <a:r>
              <a:rPr lang="en-US" sz="1400" dirty="0"/>
              <a:t>Sequential palettes can be single (greens goes from light to dark green, for example) or multi-color/hue.</a:t>
            </a:r>
          </a:p>
          <a:p>
            <a:r>
              <a:rPr lang="en-US" sz="1600" b="1" dirty="0"/>
              <a:t>Diverging palettes</a:t>
            </a:r>
          </a:p>
          <a:p>
            <a:pPr lvl="1"/>
            <a:r>
              <a:rPr lang="en-US" sz="1400" dirty="0"/>
              <a:t>Typically range between three distinct colors (purple-white-green) and are usually created by joining two single-color sequential palettes with the darker colors at each end.</a:t>
            </a:r>
          </a:p>
          <a:p>
            <a:pPr lvl="1"/>
            <a:r>
              <a:rPr lang="en-US" sz="1400" dirty="0"/>
              <a:t>Their main purpose is to visualize the difference from an important reference point, e.g., a certain temperature, the median household income or the mean probability for a drought event.</a:t>
            </a:r>
          </a:p>
        </p:txBody>
      </p:sp>
      <p:sp>
        <p:nvSpPr>
          <p:cNvPr id="4" name="Slide Number Placeholder 3">
            <a:extLst>
              <a:ext uri="{FF2B5EF4-FFF2-40B4-BE49-F238E27FC236}">
                <a16:creationId xmlns:a16="http://schemas.microsoft.com/office/drawing/2014/main" id="{A14C1BAE-E96B-90E7-88D4-083AB21D9906}"/>
              </a:ext>
            </a:extLst>
          </p:cNvPr>
          <p:cNvSpPr>
            <a:spLocks noGrp="1"/>
          </p:cNvSpPr>
          <p:nvPr>
            <p:ph type="sldNum" sz="quarter" idx="12"/>
          </p:nvPr>
        </p:nvSpPr>
        <p:spPr/>
        <p:txBody>
          <a:bodyPr/>
          <a:lstStyle/>
          <a:p>
            <a:fld id="{C0343C75-1924-D247-85A3-0CB62E67E5D1}" type="slidenum">
              <a:rPr lang="en-US" smtClean="0"/>
              <a:t>29</a:t>
            </a:fld>
            <a:endParaRPr lang="en-US"/>
          </a:p>
        </p:txBody>
      </p:sp>
      <p:sp>
        <p:nvSpPr>
          <p:cNvPr id="6" name="TextBox 5">
            <a:extLst>
              <a:ext uri="{FF2B5EF4-FFF2-40B4-BE49-F238E27FC236}">
                <a16:creationId xmlns:a16="http://schemas.microsoft.com/office/drawing/2014/main" id="{CB851778-4861-926B-02B8-13E62FA6FA70}"/>
              </a:ext>
            </a:extLst>
          </p:cNvPr>
          <p:cNvSpPr txBox="1"/>
          <p:nvPr/>
        </p:nvSpPr>
        <p:spPr>
          <a:xfrm>
            <a:off x="457200" y="1365884"/>
            <a:ext cx="3685822" cy="738664"/>
          </a:xfrm>
          <a:prstGeom prst="rect">
            <a:avLst/>
          </a:prstGeom>
          <a:noFill/>
        </p:spPr>
        <p:txBody>
          <a:bodyPr wrap="square" rtlCol="0">
            <a:spAutoFit/>
          </a:bodyPr>
          <a:lstStyle/>
          <a:p>
            <a:r>
              <a:rPr lang="en-US" sz="1400" dirty="0"/>
              <a:t>There are two important principles for consideration when working with colors: </a:t>
            </a:r>
            <a:r>
              <a:rPr lang="en-US" sz="1400" b="1" dirty="0"/>
              <a:t>perceptibility</a:t>
            </a:r>
            <a:r>
              <a:rPr lang="en-US" sz="1400" dirty="0"/>
              <a:t> and </a:t>
            </a:r>
            <a:r>
              <a:rPr lang="en-US" sz="1400" b="1" dirty="0"/>
              <a:t>accessibility.</a:t>
            </a:r>
          </a:p>
        </p:txBody>
      </p:sp>
      <p:sp>
        <p:nvSpPr>
          <p:cNvPr id="7" name="TextBox 6">
            <a:hlinkClick r:id="rId3"/>
            <a:extLst>
              <a:ext uri="{FF2B5EF4-FFF2-40B4-BE49-F238E27FC236}">
                <a16:creationId xmlns:a16="http://schemas.microsoft.com/office/drawing/2014/main" id="{03214E03-BCEB-8D25-2C1B-9706200E64A3}"/>
              </a:ext>
            </a:extLst>
          </p:cNvPr>
          <p:cNvSpPr txBox="1"/>
          <p:nvPr/>
        </p:nvSpPr>
        <p:spPr>
          <a:xfrm>
            <a:off x="1025978" y="2363784"/>
            <a:ext cx="2548262" cy="276999"/>
          </a:xfrm>
          <a:prstGeom prst="rect">
            <a:avLst/>
          </a:prstGeom>
          <a:noFill/>
        </p:spPr>
        <p:txBody>
          <a:bodyPr wrap="none" rtlCol="0">
            <a:spAutoFit/>
          </a:bodyPr>
          <a:lstStyle/>
          <a:p>
            <a:pPr algn="ctr"/>
            <a:r>
              <a:rPr lang="en-US" sz="1200" dirty="0" err="1">
                <a:hlinkClick r:id="rId3"/>
              </a:rPr>
              <a:t>ColorBrewer</a:t>
            </a:r>
            <a:r>
              <a:rPr lang="en-US" sz="1200" dirty="0">
                <a:hlinkClick r:id="rId3"/>
              </a:rPr>
              <a:t>: Color Advice for Maps</a:t>
            </a:r>
            <a:endParaRPr lang="en-US" sz="1200" dirty="0"/>
          </a:p>
        </p:txBody>
      </p:sp>
      <p:sp>
        <p:nvSpPr>
          <p:cNvPr id="8" name="TextBox 7">
            <a:extLst>
              <a:ext uri="{FF2B5EF4-FFF2-40B4-BE49-F238E27FC236}">
                <a16:creationId xmlns:a16="http://schemas.microsoft.com/office/drawing/2014/main" id="{718D118A-12E2-F9EC-0593-62762DB40B7A}"/>
              </a:ext>
            </a:extLst>
          </p:cNvPr>
          <p:cNvSpPr txBox="1"/>
          <p:nvPr/>
        </p:nvSpPr>
        <p:spPr>
          <a:xfrm>
            <a:off x="1583567" y="2086785"/>
            <a:ext cx="1433085" cy="276999"/>
          </a:xfrm>
          <a:prstGeom prst="rect">
            <a:avLst/>
          </a:prstGeom>
          <a:noFill/>
        </p:spPr>
        <p:txBody>
          <a:bodyPr wrap="none" rtlCol="0">
            <a:spAutoFit/>
          </a:bodyPr>
          <a:lstStyle/>
          <a:p>
            <a:pPr algn="ctr"/>
            <a:r>
              <a:rPr lang="en-US" sz="1200" dirty="0">
                <a:hlinkClick r:id="rId4"/>
              </a:rPr>
              <a:t>R color </a:t>
            </a:r>
            <a:r>
              <a:rPr lang="en-US" sz="1200" dirty="0" err="1">
                <a:hlinkClick r:id="rId4"/>
              </a:rPr>
              <a:t>cheatsheet</a:t>
            </a:r>
            <a:endParaRPr lang="en-US" sz="1200" dirty="0"/>
          </a:p>
        </p:txBody>
      </p:sp>
    </p:spTree>
    <p:extLst>
      <p:ext uri="{BB962C8B-B14F-4D97-AF65-F5344CB8AC3E}">
        <p14:creationId xmlns:p14="http://schemas.microsoft.com/office/powerpoint/2010/main" val="16217749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8D1D8-1A35-106E-52E1-185C112F3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F9A046-676E-39EF-5BAD-70A5828AA6E6}"/>
              </a:ext>
            </a:extLst>
          </p:cNvPr>
          <p:cNvSpPr>
            <a:spLocks noGrp="1"/>
          </p:cNvSpPr>
          <p:nvPr>
            <p:ph type="title"/>
          </p:nvPr>
        </p:nvSpPr>
        <p:spPr/>
        <p:txBody>
          <a:bodyPr/>
          <a:lstStyle/>
          <a:p>
            <a:r>
              <a:rPr lang="en-US" dirty="0"/>
              <a:t>Legend</a:t>
            </a:r>
            <a:endParaRPr lang="en-US" b="1" dirty="0"/>
          </a:p>
        </p:txBody>
      </p:sp>
      <p:sp>
        <p:nvSpPr>
          <p:cNvPr id="3" name="Content Placeholder 2">
            <a:extLst>
              <a:ext uri="{FF2B5EF4-FFF2-40B4-BE49-F238E27FC236}">
                <a16:creationId xmlns:a16="http://schemas.microsoft.com/office/drawing/2014/main" id="{75644077-1151-2ED8-19BE-C70425708990}"/>
              </a:ext>
            </a:extLst>
          </p:cNvPr>
          <p:cNvSpPr>
            <a:spLocks noGrp="1"/>
          </p:cNvSpPr>
          <p:nvPr>
            <p:ph idx="1"/>
          </p:nvPr>
        </p:nvSpPr>
        <p:spPr>
          <a:xfrm>
            <a:off x="457200" y="1600517"/>
            <a:ext cx="8229600" cy="4935750"/>
          </a:xfrm>
        </p:spPr>
        <p:txBody>
          <a:bodyPr>
            <a:normAutofit lnSpcReduction="10000"/>
          </a:bodyPr>
          <a:lstStyle/>
          <a:p>
            <a:r>
              <a:rPr lang="en-US" dirty="0"/>
              <a:t>After we decided on our visual variable and its properties, we should move our attention toward the related map legend style.</a:t>
            </a:r>
          </a:p>
          <a:p>
            <a:r>
              <a:rPr lang="en-US" dirty="0"/>
              <a:t>Using the </a:t>
            </a:r>
            <a:r>
              <a:rPr lang="en-US" b="1" dirty="0" err="1"/>
              <a:t>tm_legend</a:t>
            </a:r>
            <a:r>
              <a:rPr lang="en-US" b="1" dirty="0"/>
              <a:t>() </a:t>
            </a:r>
            <a:r>
              <a:rPr lang="en-US" dirty="0"/>
              <a:t>function, we may change its title, position, orientation, or even disable it.</a:t>
            </a:r>
          </a:p>
          <a:p>
            <a:r>
              <a:rPr lang="en-US" dirty="0"/>
              <a:t>The most important argument in this function is </a:t>
            </a:r>
            <a:r>
              <a:rPr lang="en-US" b="1" dirty="0"/>
              <a:t>title</a:t>
            </a:r>
            <a:r>
              <a:rPr lang="en-US" dirty="0"/>
              <a:t>, which sets the title of the associated legend.</a:t>
            </a:r>
          </a:p>
          <a:p>
            <a:r>
              <a:rPr lang="en-US" dirty="0"/>
              <a:t>In general, a map legend title should provide two pieces of information: </a:t>
            </a:r>
          </a:p>
          <a:p>
            <a:pPr lvl="1"/>
            <a:r>
              <a:rPr lang="en-US" u="sng" dirty="0"/>
              <a:t>what the legend represents</a:t>
            </a:r>
            <a:endParaRPr lang="en-US" dirty="0"/>
          </a:p>
          <a:p>
            <a:pPr lvl="1"/>
            <a:r>
              <a:rPr lang="en-US" u="sng" dirty="0"/>
              <a:t>what the units are of the presented variable</a:t>
            </a:r>
            <a:r>
              <a:rPr lang="en-US" dirty="0"/>
              <a:t>.</a:t>
            </a:r>
          </a:p>
          <a:p>
            <a:pPr lvl="1"/>
            <a:r>
              <a:rPr lang="en-US" dirty="0"/>
              <a:t>Check the scales … </a:t>
            </a:r>
            <a:r>
              <a:rPr lang="en-US" b="1" dirty="0"/>
              <a:t>breaks</a:t>
            </a:r>
            <a:r>
              <a:rPr lang="en-US" dirty="0"/>
              <a:t> control how the values are represented on the map and in the legend, and they largely depend on the selected visual variable.</a:t>
            </a:r>
          </a:p>
          <a:p>
            <a:pPr lvl="2"/>
            <a:r>
              <a:rPr lang="en-US" sz="1500" dirty="0"/>
              <a:t>The default setting uses 'pretty' breaks</a:t>
            </a:r>
          </a:p>
          <a:p>
            <a:pPr lvl="2"/>
            <a:r>
              <a:rPr lang="en-US" sz="1500" dirty="0"/>
              <a:t>But </a:t>
            </a:r>
            <a:r>
              <a:rPr lang="en-US" sz="1500" b="1" dirty="0"/>
              <a:t>breaks</a:t>
            </a:r>
            <a:r>
              <a:rPr lang="en-US" sz="1500" dirty="0"/>
              <a:t> allows you to manually set the breaks</a:t>
            </a:r>
          </a:p>
          <a:p>
            <a:pPr lvl="3"/>
            <a:r>
              <a:rPr lang="en-US" sz="1300" b="1" dirty="0"/>
              <a:t>n</a:t>
            </a:r>
            <a:r>
              <a:rPr lang="en-US" sz="1300" dirty="0"/>
              <a:t> sets the number of bins into which numeric variables are categorized</a:t>
            </a:r>
          </a:p>
          <a:p>
            <a:pPr lvl="3"/>
            <a:r>
              <a:rPr lang="en-US" sz="1300" b="1" dirty="0"/>
              <a:t>values</a:t>
            </a:r>
            <a:r>
              <a:rPr lang="en-US" sz="1300" dirty="0"/>
              <a:t> defines the color scheme, for example, </a:t>
            </a:r>
            <a:r>
              <a:rPr lang="en-US" sz="1300" b="1" dirty="0" err="1"/>
              <a:t>BuGn</a:t>
            </a:r>
            <a:endParaRPr lang="en-US" sz="1300" b="1" dirty="0"/>
          </a:p>
        </p:txBody>
      </p:sp>
      <p:sp>
        <p:nvSpPr>
          <p:cNvPr id="4" name="Slide Number Placeholder 3">
            <a:extLst>
              <a:ext uri="{FF2B5EF4-FFF2-40B4-BE49-F238E27FC236}">
                <a16:creationId xmlns:a16="http://schemas.microsoft.com/office/drawing/2014/main" id="{566FBE1A-A6A3-B6C3-5CAC-119725B82A6B}"/>
              </a:ext>
            </a:extLst>
          </p:cNvPr>
          <p:cNvSpPr>
            <a:spLocks noGrp="1"/>
          </p:cNvSpPr>
          <p:nvPr>
            <p:ph type="sldNum" sz="quarter" idx="12"/>
          </p:nvPr>
        </p:nvSpPr>
        <p:spPr/>
        <p:txBody>
          <a:bodyPr/>
          <a:lstStyle/>
          <a:p>
            <a:fld id="{C0343C75-1924-D247-85A3-0CB62E67E5D1}" type="slidenum">
              <a:rPr lang="en-US" smtClean="0"/>
              <a:t>30</a:t>
            </a:fld>
            <a:endParaRPr lang="en-US"/>
          </a:p>
        </p:txBody>
      </p:sp>
    </p:spTree>
    <p:extLst>
      <p:ext uri="{BB962C8B-B14F-4D97-AF65-F5344CB8AC3E}">
        <p14:creationId xmlns:p14="http://schemas.microsoft.com/office/powerpoint/2010/main" val="29632731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8C348-140B-DFD4-BE6A-B4AC972E1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2EADC-42A7-47D9-989E-95168F40584F}"/>
              </a:ext>
            </a:extLst>
          </p:cNvPr>
          <p:cNvSpPr>
            <a:spLocks noGrp="1"/>
          </p:cNvSpPr>
          <p:nvPr>
            <p:ph type="title"/>
          </p:nvPr>
        </p:nvSpPr>
        <p:spPr/>
        <p:txBody>
          <a:bodyPr/>
          <a:lstStyle/>
          <a:p>
            <a:r>
              <a:rPr lang="en-US" dirty="0"/>
              <a:t>Context</a:t>
            </a:r>
            <a:br>
              <a:rPr lang="en-US" dirty="0"/>
            </a:br>
            <a:r>
              <a:rPr lang="en-US" b="1" dirty="0"/>
              <a:t>Inset Maps</a:t>
            </a:r>
          </a:p>
        </p:txBody>
      </p:sp>
      <p:sp>
        <p:nvSpPr>
          <p:cNvPr id="3" name="Content Placeholder 2">
            <a:extLst>
              <a:ext uri="{FF2B5EF4-FFF2-40B4-BE49-F238E27FC236}">
                <a16:creationId xmlns:a16="http://schemas.microsoft.com/office/drawing/2014/main" id="{39851B43-F316-1A9C-8941-DFE4BB33B0C3}"/>
              </a:ext>
            </a:extLst>
          </p:cNvPr>
          <p:cNvSpPr>
            <a:spLocks noGrp="1"/>
          </p:cNvSpPr>
          <p:nvPr>
            <p:ph idx="1"/>
          </p:nvPr>
        </p:nvSpPr>
        <p:spPr/>
        <p:txBody>
          <a:bodyPr/>
          <a:lstStyle/>
          <a:p>
            <a:r>
              <a:rPr lang="en-US" dirty="0"/>
              <a:t>An inset map is a smaller map rendered within or next to the main map. </a:t>
            </a:r>
          </a:p>
          <a:p>
            <a:r>
              <a:rPr lang="en-US" dirty="0"/>
              <a:t>It could serve many different purposes, including providing a context or bringing some non-contiguous regions closer to ease their comparison.</a:t>
            </a:r>
          </a:p>
          <a:p>
            <a:endParaRPr lang="en-US" dirty="0"/>
          </a:p>
        </p:txBody>
      </p:sp>
      <p:sp>
        <p:nvSpPr>
          <p:cNvPr id="4" name="Slide Number Placeholder 3">
            <a:extLst>
              <a:ext uri="{FF2B5EF4-FFF2-40B4-BE49-F238E27FC236}">
                <a16:creationId xmlns:a16="http://schemas.microsoft.com/office/drawing/2014/main" id="{5D708F04-FD02-0849-904E-42C4BFE247BB}"/>
              </a:ext>
            </a:extLst>
          </p:cNvPr>
          <p:cNvSpPr>
            <a:spLocks noGrp="1"/>
          </p:cNvSpPr>
          <p:nvPr>
            <p:ph type="sldNum" sz="quarter" idx="12"/>
          </p:nvPr>
        </p:nvSpPr>
        <p:spPr/>
        <p:txBody>
          <a:bodyPr/>
          <a:lstStyle/>
          <a:p>
            <a:fld id="{C0343C75-1924-D247-85A3-0CB62E67E5D1}" type="slidenum">
              <a:rPr lang="en-US" smtClean="0"/>
              <a:t>31</a:t>
            </a:fld>
            <a:endParaRPr lang="en-US"/>
          </a:p>
        </p:txBody>
      </p:sp>
      <p:pic>
        <p:nvPicPr>
          <p:cNvPr id="5" name="Picture 4">
            <a:extLst>
              <a:ext uri="{FF2B5EF4-FFF2-40B4-BE49-F238E27FC236}">
                <a16:creationId xmlns:a16="http://schemas.microsoft.com/office/drawing/2014/main" id="{61B1AD24-4035-17CF-989B-6372034F21B0}"/>
              </a:ext>
            </a:extLst>
          </p:cNvPr>
          <p:cNvPicPr>
            <a:picLocks noChangeAspect="1"/>
          </p:cNvPicPr>
          <p:nvPr/>
        </p:nvPicPr>
        <p:blipFill>
          <a:blip r:embed="rId2"/>
          <a:srcRect l="18133" t="12817" r="17815" b="13065"/>
          <a:stretch>
            <a:fillRect/>
          </a:stretch>
        </p:blipFill>
        <p:spPr>
          <a:xfrm>
            <a:off x="4800600" y="3269556"/>
            <a:ext cx="3657600" cy="2612664"/>
          </a:xfrm>
          <a:prstGeom prst="rect">
            <a:avLst/>
          </a:prstGeom>
        </p:spPr>
      </p:pic>
      <p:pic>
        <p:nvPicPr>
          <p:cNvPr id="7" name="Picture 6">
            <a:extLst>
              <a:ext uri="{FF2B5EF4-FFF2-40B4-BE49-F238E27FC236}">
                <a16:creationId xmlns:a16="http://schemas.microsoft.com/office/drawing/2014/main" id="{CAAAA7EB-B559-0913-2751-0470DA3879C3}"/>
              </a:ext>
            </a:extLst>
          </p:cNvPr>
          <p:cNvPicPr>
            <a:picLocks noChangeAspect="1"/>
          </p:cNvPicPr>
          <p:nvPr/>
        </p:nvPicPr>
        <p:blipFill>
          <a:blip r:embed="rId3"/>
          <a:stretch>
            <a:fillRect/>
          </a:stretch>
        </p:blipFill>
        <p:spPr>
          <a:xfrm>
            <a:off x="607060" y="3269556"/>
            <a:ext cx="3840480" cy="2530462"/>
          </a:xfrm>
          <a:prstGeom prst="rect">
            <a:avLst/>
          </a:prstGeom>
        </p:spPr>
      </p:pic>
    </p:spTree>
    <p:extLst>
      <p:ext uri="{BB962C8B-B14F-4D97-AF65-F5344CB8AC3E}">
        <p14:creationId xmlns:p14="http://schemas.microsoft.com/office/powerpoint/2010/main" val="9168065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CABE4-2991-1E09-1CF2-F4C1C93053E3}"/>
              </a:ext>
            </a:extLst>
          </p:cNvPr>
          <p:cNvSpPr>
            <a:spLocks noGrp="1"/>
          </p:cNvSpPr>
          <p:nvPr>
            <p:ph type="title"/>
          </p:nvPr>
        </p:nvSpPr>
        <p:spPr/>
        <p:txBody>
          <a:bodyPr/>
          <a:lstStyle/>
          <a:p>
            <a:r>
              <a:rPr lang="en-US" dirty="0"/>
              <a:t>Faceted Maps</a:t>
            </a:r>
          </a:p>
        </p:txBody>
      </p:sp>
      <p:sp>
        <p:nvSpPr>
          <p:cNvPr id="3" name="Content Placeholder 2">
            <a:extLst>
              <a:ext uri="{FF2B5EF4-FFF2-40B4-BE49-F238E27FC236}">
                <a16:creationId xmlns:a16="http://schemas.microsoft.com/office/drawing/2014/main" id="{7F762C10-0346-AC16-B08F-030EFBBD0903}"/>
              </a:ext>
            </a:extLst>
          </p:cNvPr>
          <p:cNvSpPr>
            <a:spLocks noGrp="1"/>
          </p:cNvSpPr>
          <p:nvPr>
            <p:ph idx="1"/>
          </p:nvPr>
        </p:nvSpPr>
        <p:spPr/>
        <p:txBody>
          <a:bodyPr/>
          <a:lstStyle/>
          <a:p>
            <a:r>
              <a:rPr lang="en-US" dirty="0"/>
              <a:t>Faceted maps, also referred to as 'small multiples', are composed of many maps arranged side-by-side, and sometimes stacked vertically.</a:t>
            </a:r>
          </a:p>
          <a:p>
            <a:r>
              <a:rPr lang="en-US" dirty="0"/>
              <a:t>Facets enable the visualization of how spatial relationships change with respect to another variable, such as time.</a:t>
            </a:r>
          </a:p>
        </p:txBody>
      </p:sp>
      <p:sp>
        <p:nvSpPr>
          <p:cNvPr id="4" name="Slide Number Placeholder 3">
            <a:extLst>
              <a:ext uri="{FF2B5EF4-FFF2-40B4-BE49-F238E27FC236}">
                <a16:creationId xmlns:a16="http://schemas.microsoft.com/office/drawing/2014/main" id="{8DD723DB-E028-C9C1-9647-83D0919ADC06}"/>
              </a:ext>
            </a:extLst>
          </p:cNvPr>
          <p:cNvSpPr>
            <a:spLocks noGrp="1"/>
          </p:cNvSpPr>
          <p:nvPr>
            <p:ph type="sldNum" sz="quarter" idx="12"/>
          </p:nvPr>
        </p:nvSpPr>
        <p:spPr/>
        <p:txBody>
          <a:bodyPr/>
          <a:lstStyle/>
          <a:p>
            <a:fld id="{C0343C75-1924-D247-85A3-0CB62E67E5D1}" type="slidenum">
              <a:rPr lang="en-US" smtClean="0"/>
              <a:t>32</a:t>
            </a:fld>
            <a:endParaRPr lang="en-US"/>
          </a:p>
        </p:txBody>
      </p:sp>
      <p:pic>
        <p:nvPicPr>
          <p:cNvPr id="5" name="Picture 4">
            <a:extLst>
              <a:ext uri="{FF2B5EF4-FFF2-40B4-BE49-F238E27FC236}">
                <a16:creationId xmlns:a16="http://schemas.microsoft.com/office/drawing/2014/main" id="{DA829FEF-FDC7-CD31-9921-98972777D835}"/>
              </a:ext>
            </a:extLst>
          </p:cNvPr>
          <p:cNvPicPr>
            <a:picLocks noChangeAspect="1"/>
          </p:cNvPicPr>
          <p:nvPr/>
        </p:nvPicPr>
        <p:blipFill>
          <a:blip r:embed="rId2"/>
          <a:stretch>
            <a:fillRect/>
          </a:stretch>
        </p:blipFill>
        <p:spPr>
          <a:xfrm>
            <a:off x="1868582" y="4698824"/>
            <a:ext cx="3657600" cy="1828800"/>
          </a:xfrm>
          <a:prstGeom prst="rect">
            <a:avLst/>
          </a:prstGeom>
        </p:spPr>
      </p:pic>
      <p:sp>
        <p:nvSpPr>
          <p:cNvPr id="6" name="TextBox 5">
            <a:extLst>
              <a:ext uri="{FF2B5EF4-FFF2-40B4-BE49-F238E27FC236}">
                <a16:creationId xmlns:a16="http://schemas.microsoft.com/office/drawing/2014/main" id="{FF3E1626-80ED-1244-F1A9-F034BF9FED98}"/>
              </a:ext>
            </a:extLst>
          </p:cNvPr>
          <p:cNvSpPr txBox="1"/>
          <p:nvPr/>
        </p:nvSpPr>
        <p:spPr>
          <a:xfrm>
            <a:off x="1868582" y="3364477"/>
            <a:ext cx="5955476" cy="1446550"/>
          </a:xfrm>
          <a:prstGeom prst="rect">
            <a:avLst/>
          </a:prstGeom>
          <a:noFill/>
        </p:spPr>
        <p:txBody>
          <a:bodyPr wrap="none" rtlCol="0">
            <a:spAutoFit/>
          </a:bodyPr>
          <a:lstStyle/>
          <a:p>
            <a:r>
              <a:rPr lang="en-US" sz="1100" dirty="0">
                <a:latin typeface="Consolas" panose="020B0609020204030204" pitchFamily="49" charset="0"/>
                <a:cs typeface="Consolas" panose="020B0609020204030204" pitchFamily="49" charset="0"/>
              </a:rPr>
              <a:t>urb_1970_2030 = </a:t>
            </a:r>
            <a:r>
              <a:rPr lang="en-US" sz="1100" dirty="0" err="1">
                <a:latin typeface="Consolas" panose="020B0609020204030204" pitchFamily="49" charset="0"/>
                <a:cs typeface="Consolas" panose="020B0609020204030204" pitchFamily="49" charset="0"/>
              </a:rPr>
              <a:t>urban_agglomerations</a:t>
            </a:r>
            <a:r>
              <a:rPr lang="en-US" sz="1100" dirty="0">
                <a:latin typeface="Consolas" panose="020B0609020204030204" pitchFamily="49" charset="0"/>
                <a:cs typeface="Consolas" panose="020B0609020204030204" pitchFamily="49" charset="0"/>
              </a:rPr>
              <a:t> |&gt; </a:t>
            </a:r>
          </a:p>
          <a:p>
            <a:r>
              <a:rPr lang="en-US" sz="1100" dirty="0">
                <a:latin typeface="Consolas" panose="020B0609020204030204" pitchFamily="49" charset="0"/>
                <a:cs typeface="Consolas" panose="020B0609020204030204" pitchFamily="49" charset="0"/>
              </a:rPr>
              <a:t>  filter(year %in% c(1970, 1990, 2010, 2030))</a:t>
            </a:r>
          </a:p>
          <a:p>
            <a:endParaRPr lang="en-US" sz="1100" dirty="0">
              <a:latin typeface="Consolas" panose="020B0609020204030204" pitchFamily="49" charset="0"/>
              <a:cs typeface="Consolas" panose="020B0609020204030204" pitchFamily="49" charset="0"/>
            </a:endParaRPr>
          </a:p>
          <a:p>
            <a:r>
              <a:rPr lang="en-US" sz="1100" dirty="0" err="1">
                <a:latin typeface="Consolas" panose="020B0609020204030204" pitchFamily="49" charset="0"/>
                <a:cs typeface="Consolas" panose="020B0609020204030204" pitchFamily="49" charset="0"/>
              </a:rPr>
              <a:t>tm_shape</a:t>
            </a:r>
            <a:r>
              <a:rPr lang="en-US" sz="1100" dirty="0">
                <a:latin typeface="Consolas" panose="020B0609020204030204" pitchFamily="49" charset="0"/>
                <a:cs typeface="Consolas" panose="020B0609020204030204" pitchFamily="49" charset="0"/>
              </a:rPr>
              <a:t>(world) +</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tm_polygons</a:t>
            </a:r>
            <a:r>
              <a:rPr lang="en-US" sz="1100" dirty="0">
                <a:latin typeface="Consolas" panose="020B0609020204030204" pitchFamily="49" charset="0"/>
                <a:cs typeface="Consolas" panose="020B0609020204030204" pitchFamily="49" charset="0"/>
              </a:rPr>
              <a:t>() +</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tm_shape</a:t>
            </a:r>
            <a:r>
              <a:rPr lang="en-US" sz="1100" dirty="0">
                <a:latin typeface="Consolas" panose="020B0609020204030204" pitchFamily="49" charset="0"/>
                <a:cs typeface="Consolas" panose="020B0609020204030204" pitchFamily="49" charset="0"/>
              </a:rPr>
              <a:t>(urb_1970_2030) +</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tm_symbols</a:t>
            </a:r>
            <a:r>
              <a:rPr lang="en-US" sz="1100" dirty="0">
                <a:latin typeface="Consolas" panose="020B0609020204030204" pitchFamily="49" charset="0"/>
                <a:cs typeface="Consolas" panose="020B0609020204030204" pitchFamily="49" charset="0"/>
              </a:rPr>
              <a:t>(fill = "black", col = "white", size = "</a:t>
            </a:r>
            <a:r>
              <a:rPr lang="en-US" sz="1100" dirty="0" err="1">
                <a:latin typeface="Consolas" panose="020B0609020204030204" pitchFamily="49" charset="0"/>
                <a:cs typeface="Consolas" panose="020B0609020204030204" pitchFamily="49" charset="0"/>
              </a:rPr>
              <a:t>population_millions</a:t>
            </a:r>
            <a:r>
              <a:rPr lang="en-US" sz="1100" dirty="0">
                <a:latin typeface="Consolas" panose="020B0609020204030204" pitchFamily="49" charset="0"/>
                <a:cs typeface="Consolas" panose="020B0609020204030204" pitchFamily="49" charset="0"/>
              </a:rPr>
              <a:t>") +</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tm_facets_wrap</a:t>
            </a:r>
            <a:r>
              <a:rPr lang="en-US" sz="1100" dirty="0">
                <a:latin typeface="Consolas" panose="020B0609020204030204" pitchFamily="49" charset="0"/>
                <a:cs typeface="Consolas" panose="020B0609020204030204" pitchFamily="49" charset="0"/>
              </a:rPr>
              <a:t>(by = "year", </a:t>
            </a:r>
            <a:r>
              <a:rPr lang="en-US" sz="1100" dirty="0" err="1">
                <a:latin typeface="Consolas" panose="020B0609020204030204" pitchFamily="49" charset="0"/>
                <a:cs typeface="Consolas" panose="020B0609020204030204" pitchFamily="49" charset="0"/>
              </a:rPr>
              <a:t>nrow</a:t>
            </a:r>
            <a:r>
              <a:rPr lang="en-US" sz="1100" dirty="0">
                <a:latin typeface="Consolas" panose="020B0609020204030204" pitchFamily="49" charset="0"/>
                <a:cs typeface="Consolas" panose="020B0609020204030204" pitchFamily="49" charset="0"/>
              </a:rPr>
              <a:t> = 2)</a:t>
            </a:r>
          </a:p>
        </p:txBody>
      </p:sp>
      <p:sp>
        <p:nvSpPr>
          <p:cNvPr id="7" name="TextBox 6">
            <a:extLst>
              <a:ext uri="{FF2B5EF4-FFF2-40B4-BE49-F238E27FC236}">
                <a16:creationId xmlns:a16="http://schemas.microsoft.com/office/drawing/2014/main" id="{B966B6A0-E1A2-EDB4-C62A-18F129404B59}"/>
              </a:ext>
            </a:extLst>
          </p:cNvPr>
          <p:cNvSpPr txBox="1"/>
          <p:nvPr/>
        </p:nvSpPr>
        <p:spPr>
          <a:xfrm>
            <a:off x="1868582" y="2995145"/>
            <a:ext cx="1045734" cy="369332"/>
          </a:xfrm>
          <a:prstGeom prst="rect">
            <a:avLst/>
          </a:prstGeom>
          <a:solidFill>
            <a:srgbClr val="C00000"/>
          </a:solidFill>
        </p:spPr>
        <p:txBody>
          <a:bodyPr wrap="none" rtlCol="0" anchor="ctr">
            <a:spAutoFit/>
          </a:bodyPr>
          <a:lstStyle/>
          <a:p>
            <a:pPr algn="ctr"/>
            <a:r>
              <a:rPr lang="en-US" dirty="0">
                <a:solidFill>
                  <a:schemeClr val="bg1"/>
                </a:solidFill>
              </a:rPr>
              <a:t>Example</a:t>
            </a:r>
          </a:p>
        </p:txBody>
      </p:sp>
    </p:spTree>
    <p:extLst>
      <p:ext uri="{BB962C8B-B14F-4D97-AF65-F5344CB8AC3E}">
        <p14:creationId xmlns:p14="http://schemas.microsoft.com/office/powerpoint/2010/main" val="39680524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20E9-B191-430C-0C03-2CE73DB173C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D6680E6-21FB-B9FC-B921-FB08AF5D8B57}"/>
              </a:ext>
            </a:extLst>
          </p:cNvPr>
          <p:cNvSpPr>
            <a:spLocks noGrp="1"/>
          </p:cNvSpPr>
          <p:nvPr>
            <p:ph type="title"/>
          </p:nvPr>
        </p:nvSpPr>
        <p:spPr/>
        <p:txBody>
          <a:bodyPr/>
          <a:lstStyle/>
          <a:p>
            <a:r>
              <a:rPr lang="en-US" dirty="0"/>
              <a:t>Animated maps</a:t>
            </a:r>
          </a:p>
        </p:txBody>
      </p:sp>
      <p:sp>
        <p:nvSpPr>
          <p:cNvPr id="4" name="Slide Number Placeholder 3">
            <a:extLst>
              <a:ext uri="{FF2B5EF4-FFF2-40B4-BE49-F238E27FC236}">
                <a16:creationId xmlns:a16="http://schemas.microsoft.com/office/drawing/2014/main" id="{FAE202AD-F5C4-00F7-743A-FA6ECFBC4A76}"/>
              </a:ext>
            </a:extLst>
          </p:cNvPr>
          <p:cNvSpPr>
            <a:spLocks noGrp="1"/>
          </p:cNvSpPr>
          <p:nvPr>
            <p:ph type="sldNum" sz="quarter" idx="12"/>
          </p:nvPr>
        </p:nvSpPr>
        <p:spPr/>
        <p:txBody>
          <a:bodyPr/>
          <a:lstStyle/>
          <a:p>
            <a:fld id="{C0343C75-1924-D247-85A3-0CB62E67E5D1}" type="slidenum">
              <a:rPr lang="en-US" smtClean="0"/>
              <a:t>33</a:t>
            </a:fld>
            <a:endParaRPr lang="en-US"/>
          </a:p>
        </p:txBody>
      </p:sp>
    </p:spTree>
    <p:extLst>
      <p:ext uri="{BB962C8B-B14F-4D97-AF65-F5344CB8AC3E}">
        <p14:creationId xmlns:p14="http://schemas.microsoft.com/office/powerpoint/2010/main" val="29321113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BE119-69AC-2958-CE32-2C414B4DEB3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331457-74FC-5DB0-4CD9-FAEAD5F7FEC5}"/>
              </a:ext>
            </a:extLst>
          </p:cNvPr>
          <p:cNvSpPr>
            <a:spLocks noGrp="1"/>
          </p:cNvSpPr>
          <p:nvPr>
            <p:ph idx="1"/>
          </p:nvPr>
        </p:nvSpPr>
        <p:spPr>
          <a:xfrm>
            <a:off x="457200" y="319087"/>
            <a:ext cx="8229600" cy="5853430"/>
          </a:xfrm>
        </p:spPr>
        <p:txBody>
          <a:bodyPr/>
          <a:lstStyle/>
          <a:p>
            <a:r>
              <a:rPr lang="en-US" dirty="0"/>
              <a:t>Faceted maps can show how spatial distributions of variables change (e.g., over time), but the approach has disadvantages.</a:t>
            </a:r>
          </a:p>
          <a:p>
            <a:r>
              <a:rPr lang="en-US" dirty="0"/>
              <a:t>Facets become tiny when there are many of them.</a:t>
            </a:r>
          </a:p>
          <a:p>
            <a:r>
              <a:rPr lang="en-US" dirty="0"/>
              <a:t>Animated maps solve these issues. Although they depend on digital publication, this is becoming less of an issue as more and more content moves online.</a:t>
            </a:r>
          </a:p>
          <a:p>
            <a:endParaRPr lang="en-US" dirty="0"/>
          </a:p>
        </p:txBody>
      </p:sp>
      <p:sp>
        <p:nvSpPr>
          <p:cNvPr id="4" name="Slide Number Placeholder 3">
            <a:extLst>
              <a:ext uri="{FF2B5EF4-FFF2-40B4-BE49-F238E27FC236}">
                <a16:creationId xmlns:a16="http://schemas.microsoft.com/office/drawing/2014/main" id="{0152F613-5612-6D1C-A596-EF36633EBB5B}"/>
              </a:ext>
            </a:extLst>
          </p:cNvPr>
          <p:cNvSpPr>
            <a:spLocks noGrp="1"/>
          </p:cNvSpPr>
          <p:nvPr>
            <p:ph type="sldNum" sz="quarter" idx="12"/>
          </p:nvPr>
        </p:nvSpPr>
        <p:spPr/>
        <p:txBody>
          <a:bodyPr/>
          <a:lstStyle/>
          <a:p>
            <a:fld id="{C0343C75-1924-D247-85A3-0CB62E67E5D1}" type="slidenum">
              <a:rPr lang="en-US" smtClean="0"/>
              <a:t>34</a:t>
            </a:fld>
            <a:endParaRPr lang="en-US"/>
          </a:p>
        </p:txBody>
      </p:sp>
      <p:sp>
        <p:nvSpPr>
          <p:cNvPr id="5" name="TextBox 4">
            <a:extLst>
              <a:ext uri="{FF2B5EF4-FFF2-40B4-BE49-F238E27FC236}">
                <a16:creationId xmlns:a16="http://schemas.microsoft.com/office/drawing/2014/main" id="{E09E50C8-92D8-F5EE-DEA8-4B5FA5F4B5EB}"/>
              </a:ext>
            </a:extLst>
          </p:cNvPr>
          <p:cNvSpPr txBox="1"/>
          <p:nvPr/>
        </p:nvSpPr>
        <p:spPr>
          <a:xfrm>
            <a:off x="1584850" y="2657558"/>
            <a:ext cx="6726521" cy="1015663"/>
          </a:xfrm>
          <a:prstGeom prst="rect">
            <a:avLst/>
          </a:prstGeom>
          <a:noFill/>
        </p:spPr>
        <p:txBody>
          <a:bodyPr wrap="none" rtlCol="0">
            <a:spAutoFit/>
          </a:bodyPr>
          <a:lstStyle/>
          <a:p>
            <a:r>
              <a:rPr lang="en-US" sz="1200" dirty="0" err="1">
                <a:latin typeface="Consolas" panose="020B0609020204030204" pitchFamily="49" charset="0"/>
                <a:cs typeface="Consolas" panose="020B0609020204030204" pitchFamily="49" charset="0"/>
              </a:rPr>
              <a:t>urb_anim</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tm_shape</a:t>
            </a:r>
            <a:r>
              <a:rPr lang="en-US" sz="1200" dirty="0">
                <a:latin typeface="Consolas" panose="020B0609020204030204" pitchFamily="49" charset="0"/>
                <a:cs typeface="Consolas" panose="020B0609020204030204" pitchFamily="49" charset="0"/>
              </a:rPr>
              <a:t>(world) + </a:t>
            </a:r>
            <a:r>
              <a:rPr lang="en-US" sz="1200" dirty="0" err="1">
                <a:latin typeface="Consolas" panose="020B0609020204030204" pitchFamily="49" charset="0"/>
                <a:cs typeface="Consolas" panose="020B0609020204030204" pitchFamily="49" charset="0"/>
              </a:rPr>
              <a:t>tm_polygons</a:t>
            </a:r>
            <a:r>
              <a:rPr lang="en-US" sz="1200" dirty="0">
                <a:latin typeface="Consolas" panose="020B0609020204030204" pitchFamily="49" charset="0"/>
                <a:cs typeface="Consolas" panose="020B0609020204030204" pitchFamily="49" charset="0"/>
              </a:rPr>
              <a:t>() + </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tm_shape</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urban_agglomerations</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tm_symbols</a:t>
            </a:r>
            <a:r>
              <a:rPr lang="en-US" sz="1200" dirty="0">
                <a:latin typeface="Consolas" panose="020B0609020204030204" pitchFamily="49" charset="0"/>
                <a:cs typeface="Consolas" panose="020B0609020204030204" pitchFamily="49" charset="0"/>
              </a:rPr>
              <a:t>(size = "</a:t>
            </a:r>
            <a:r>
              <a:rPr lang="en-US" sz="1200" dirty="0" err="1">
                <a:latin typeface="Consolas" panose="020B0609020204030204" pitchFamily="49" charset="0"/>
                <a:cs typeface="Consolas" panose="020B0609020204030204" pitchFamily="49" charset="0"/>
              </a:rPr>
              <a:t>population_millions</a:t>
            </a:r>
            <a:r>
              <a:rPr lang="en-US" sz="1200" dirty="0">
                <a:latin typeface="Consolas" panose="020B0609020204030204" pitchFamily="49" charset="0"/>
                <a:cs typeface="Consolas" panose="020B0609020204030204" pitchFamily="49" charset="0"/>
              </a:rPr>
              <a:t>") +</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tm_facets_wrap</a:t>
            </a:r>
            <a:r>
              <a:rPr lang="en-US" sz="1200" dirty="0">
                <a:latin typeface="Consolas" panose="020B0609020204030204" pitchFamily="49" charset="0"/>
                <a:cs typeface="Consolas" panose="020B0609020204030204" pitchFamily="49" charset="0"/>
              </a:rPr>
              <a:t>(by = "year", </a:t>
            </a:r>
            <a:r>
              <a:rPr lang="en-US" sz="1200" dirty="0" err="1">
                <a:latin typeface="Consolas" panose="020B0609020204030204" pitchFamily="49" charset="0"/>
                <a:cs typeface="Consolas" panose="020B0609020204030204" pitchFamily="49" charset="0"/>
              </a:rPr>
              <a:t>nrow</a:t>
            </a:r>
            <a:r>
              <a:rPr lang="en-US" sz="1200" dirty="0">
                <a:latin typeface="Consolas" panose="020B0609020204030204" pitchFamily="49" charset="0"/>
                <a:cs typeface="Consolas" panose="020B0609020204030204" pitchFamily="49" charset="0"/>
              </a:rPr>
              <a:t> = 1, </a:t>
            </a:r>
            <a:r>
              <a:rPr lang="en-US" sz="1200" dirty="0" err="1">
                <a:latin typeface="Consolas" panose="020B0609020204030204" pitchFamily="49" charset="0"/>
                <a:cs typeface="Consolas" panose="020B0609020204030204" pitchFamily="49" charset="0"/>
              </a:rPr>
              <a:t>ncol</a:t>
            </a:r>
            <a:r>
              <a:rPr lang="en-US" sz="1200" dirty="0">
                <a:latin typeface="Consolas" panose="020B0609020204030204" pitchFamily="49" charset="0"/>
                <a:cs typeface="Consolas" panose="020B0609020204030204" pitchFamily="49" charset="0"/>
              </a:rPr>
              <a:t> = 1, </a:t>
            </a:r>
            <a:r>
              <a:rPr lang="en-US" sz="1200" dirty="0" err="1">
                <a:latin typeface="Consolas" panose="020B0609020204030204" pitchFamily="49" charset="0"/>
                <a:cs typeface="Consolas" panose="020B0609020204030204" pitchFamily="49" charset="0"/>
              </a:rPr>
              <a:t>free.coords</a:t>
            </a:r>
            <a:r>
              <a:rPr lang="en-US" sz="1200" dirty="0">
                <a:latin typeface="Consolas" panose="020B0609020204030204" pitchFamily="49" charset="0"/>
                <a:cs typeface="Consolas" panose="020B0609020204030204" pitchFamily="49" charset="0"/>
              </a:rPr>
              <a:t> = FALSE)</a:t>
            </a:r>
          </a:p>
          <a:p>
            <a:endParaRPr lang="en-US" sz="1200" dirty="0">
              <a:latin typeface="Consolas" panose="020B0609020204030204" pitchFamily="49" charset="0"/>
              <a:cs typeface="Consolas" panose="020B0609020204030204" pitchFamily="49" charset="0"/>
            </a:endParaRPr>
          </a:p>
          <a:p>
            <a:r>
              <a:rPr lang="en-US" sz="1200" dirty="0" err="1">
                <a:highlight>
                  <a:srgbClr val="FFFF00"/>
                </a:highlight>
                <a:latin typeface="Consolas" panose="020B0609020204030204" pitchFamily="49" charset="0"/>
                <a:cs typeface="Consolas" panose="020B0609020204030204" pitchFamily="49" charset="0"/>
              </a:rPr>
              <a:t>tmap_animation</a:t>
            </a:r>
            <a:r>
              <a:rPr lang="en-US" sz="1200" dirty="0">
                <a:highlight>
                  <a:srgbClr val="FFFF00"/>
                </a:highlight>
                <a:latin typeface="Consolas" panose="020B0609020204030204" pitchFamily="49" charset="0"/>
                <a:cs typeface="Consolas" panose="020B0609020204030204" pitchFamily="49" charset="0"/>
              </a:rPr>
              <a:t>(</a:t>
            </a:r>
            <a:r>
              <a:rPr lang="en-US" sz="1200" dirty="0" err="1">
                <a:highlight>
                  <a:srgbClr val="FFFF00"/>
                </a:highlight>
                <a:latin typeface="Consolas" panose="020B0609020204030204" pitchFamily="49" charset="0"/>
                <a:cs typeface="Consolas" panose="020B0609020204030204" pitchFamily="49" charset="0"/>
              </a:rPr>
              <a:t>urb_anim</a:t>
            </a:r>
            <a:r>
              <a:rPr lang="en-US" sz="1200" dirty="0">
                <a:highlight>
                  <a:srgbClr val="FFFF00"/>
                </a:highlight>
                <a:latin typeface="Consolas" panose="020B0609020204030204" pitchFamily="49" charset="0"/>
                <a:cs typeface="Consolas" panose="020B0609020204030204" pitchFamily="49" charset="0"/>
              </a:rPr>
              <a:t>, filename = "</a:t>
            </a:r>
            <a:r>
              <a:rPr lang="en-US" sz="1200" dirty="0" err="1">
                <a:highlight>
                  <a:srgbClr val="FFFF00"/>
                </a:highlight>
                <a:latin typeface="Consolas" panose="020B0609020204030204" pitchFamily="49" charset="0"/>
                <a:cs typeface="Consolas" panose="020B0609020204030204" pitchFamily="49" charset="0"/>
              </a:rPr>
              <a:t>urb_anim.gif</a:t>
            </a:r>
            <a:r>
              <a:rPr lang="en-US" sz="1200" dirty="0">
                <a:highlight>
                  <a:srgbClr val="FFFF00"/>
                </a:highlight>
                <a:latin typeface="Consolas" panose="020B0609020204030204" pitchFamily="49" charset="0"/>
                <a:cs typeface="Consolas" panose="020B0609020204030204" pitchFamily="49" charset="0"/>
              </a:rPr>
              <a:t>", delay = 25)</a:t>
            </a:r>
          </a:p>
        </p:txBody>
      </p:sp>
      <p:pic>
        <p:nvPicPr>
          <p:cNvPr id="6" name="Picture 5">
            <a:extLst>
              <a:ext uri="{FF2B5EF4-FFF2-40B4-BE49-F238E27FC236}">
                <a16:creationId xmlns:a16="http://schemas.microsoft.com/office/drawing/2014/main" id="{046A05CD-012F-B447-01CF-37A59CCE2F0B}"/>
              </a:ext>
            </a:extLst>
          </p:cNvPr>
          <p:cNvPicPr>
            <a:picLocks noChangeAspect="1"/>
          </p:cNvPicPr>
          <p:nvPr/>
        </p:nvPicPr>
        <p:blipFill>
          <a:blip r:embed="rId2"/>
          <a:stretch>
            <a:fillRect/>
          </a:stretch>
        </p:blipFill>
        <p:spPr>
          <a:xfrm>
            <a:off x="2514601" y="3703375"/>
            <a:ext cx="4116211" cy="2835538"/>
          </a:xfrm>
          <a:prstGeom prst="rect">
            <a:avLst/>
          </a:prstGeom>
        </p:spPr>
      </p:pic>
      <p:sp>
        <p:nvSpPr>
          <p:cNvPr id="7" name="TextBox 6">
            <a:extLst>
              <a:ext uri="{FF2B5EF4-FFF2-40B4-BE49-F238E27FC236}">
                <a16:creationId xmlns:a16="http://schemas.microsoft.com/office/drawing/2014/main" id="{396DE0D4-4394-0DAE-2400-43399B236B84}"/>
              </a:ext>
            </a:extLst>
          </p:cNvPr>
          <p:cNvSpPr txBox="1"/>
          <p:nvPr/>
        </p:nvSpPr>
        <p:spPr>
          <a:xfrm>
            <a:off x="4049133" y="2258073"/>
            <a:ext cx="1045734" cy="369332"/>
          </a:xfrm>
          <a:prstGeom prst="rect">
            <a:avLst/>
          </a:prstGeom>
          <a:solidFill>
            <a:srgbClr val="C00000"/>
          </a:solidFill>
        </p:spPr>
        <p:txBody>
          <a:bodyPr wrap="none" rtlCol="0" anchor="ctr">
            <a:spAutoFit/>
          </a:bodyPr>
          <a:lstStyle/>
          <a:p>
            <a:pPr algn="ctr"/>
            <a:r>
              <a:rPr lang="en-US" dirty="0">
                <a:solidFill>
                  <a:schemeClr val="bg1"/>
                </a:solidFill>
              </a:rPr>
              <a:t>Example</a:t>
            </a:r>
          </a:p>
        </p:txBody>
      </p:sp>
    </p:spTree>
    <p:extLst>
      <p:ext uri="{BB962C8B-B14F-4D97-AF65-F5344CB8AC3E}">
        <p14:creationId xmlns:p14="http://schemas.microsoft.com/office/powerpoint/2010/main" val="3854753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F5D6C-A8DA-73B8-2114-F48DD715F17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0359EC1-5698-4292-410B-7F0358B35B0C}"/>
              </a:ext>
            </a:extLst>
          </p:cNvPr>
          <p:cNvSpPr>
            <a:spLocks noGrp="1"/>
          </p:cNvSpPr>
          <p:nvPr>
            <p:ph type="title"/>
          </p:nvPr>
        </p:nvSpPr>
        <p:spPr/>
        <p:txBody>
          <a:bodyPr/>
          <a:lstStyle/>
          <a:p>
            <a:r>
              <a:rPr lang="en-US" dirty="0"/>
              <a:t>Interactive maps</a:t>
            </a:r>
          </a:p>
        </p:txBody>
      </p:sp>
      <p:sp>
        <p:nvSpPr>
          <p:cNvPr id="4" name="Slide Number Placeholder 3">
            <a:extLst>
              <a:ext uri="{FF2B5EF4-FFF2-40B4-BE49-F238E27FC236}">
                <a16:creationId xmlns:a16="http://schemas.microsoft.com/office/drawing/2014/main" id="{A49868F4-0621-D21D-0EF3-2F2D268C47DF}"/>
              </a:ext>
            </a:extLst>
          </p:cNvPr>
          <p:cNvSpPr>
            <a:spLocks noGrp="1"/>
          </p:cNvSpPr>
          <p:nvPr>
            <p:ph type="sldNum" sz="quarter" idx="12"/>
          </p:nvPr>
        </p:nvSpPr>
        <p:spPr/>
        <p:txBody>
          <a:bodyPr/>
          <a:lstStyle/>
          <a:p>
            <a:fld id="{C0343C75-1924-D247-85A3-0CB62E67E5D1}" type="slidenum">
              <a:rPr lang="en-US" smtClean="0"/>
              <a:t>35</a:t>
            </a:fld>
            <a:endParaRPr lang="en-US"/>
          </a:p>
        </p:txBody>
      </p:sp>
    </p:spTree>
    <p:extLst>
      <p:ext uri="{BB962C8B-B14F-4D97-AF65-F5344CB8AC3E}">
        <p14:creationId xmlns:p14="http://schemas.microsoft.com/office/powerpoint/2010/main" val="9253753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22A68-EF06-100A-3BF1-68AFE22C9C7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E120AB-187D-B899-1A3E-7CC12F6C38EB}"/>
              </a:ext>
            </a:extLst>
          </p:cNvPr>
          <p:cNvSpPr>
            <a:spLocks noGrp="1"/>
          </p:cNvSpPr>
          <p:nvPr>
            <p:ph idx="1"/>
          </p:nvPr>
        </p:nvSpPr>
        <p:spPr>
          <a:xfrm>
            <a:off x="457200" y="395112"/>
            <a:ext cx="8229600" cy="5777406"/>
          </a:xfrm>
        </p:spPr>
        <p:txBody>
          <a:bodyPr>
            <a:normAutofit/>
          </a:bodyPr>
          <a:lstStyle/>
          <a:p>
            <a:r>
              <a:rPr lang="en-US" sz="1800" dirty="0"/>
              <a:t>While static and animated maps can enliven geographic datasets, interactive maps can take them to a new level.</a:t>
            </a:r>
          </a:p>
          <a:p>
            <a:r>
              <a:rPr lang="en-US" sz="1800" dirty="0"/>
              <a:t>Interactivity can take many forms, the most common and useful of which is the ability to pan around and zoom into any part of a geographic dataset overlaid on a 'web map' to show context.</a:t>
            </a:r>
          </a:p>
          <a:p>
            <a:r>
              <a:rPr lang="en-US" sz="1800" dirty="0"/>
              <a:t>Less advanced interactivity levels include pop-ups which appear when you click on different features, a kind of interactive label</a:t>
            </a:r>
          </a:p>
        </p:txBody>
      </p:sp>
      <p:sp>
        <p:nvSpPr>
          <p:cNvPr id="4" name="Slide Number Placeholder 3">
            <a:extLst>
              <a:ext uri="{FF2B5EF4-FFF2-40B4-BE49-F238E27FC236}">
                <a16:creationId xmlns:a16="http://schemas.microsoft.com/office/drawing/2014/main" id="{6F1CC0E9-0E1A-31B5-4EAA-0970B842600B}"/>
              </a:ext>
            </a:extLst>
          </p:cNvPr>
          <p:cNvSpPr>
            <a:spLocks noGrp="1"/>
          </p:cNvSpPr>
          <p:nvPr>
            <p:ph type="sldNum" sz="quarter" idx="12"/>
          </p:nvPr>
        </p:nvSpPr>
        <p:spPr/>
        <p:txBody>
          <a:bodyPr/>
          <a:lstStyle/>
          <a:p>
            <a:fld id="{C0343C75-1924-D247-85A3-0CB62E67E5D1}" type="slidenum">
              <a:rPr lang="en-US" smtClean="0"/>
              <a:t>36</a:t>
            </a:fld>
            <a:endParaRPr lang="en-US"/>
          </a:p>
        </p:txBody>
      </p:sp>
      <p:sp>
        <p:nvSpPr>
          <p:cNvPr id="5" name="TextBox 4">
            <a:extLst>
              <a:ext uri="{FF2B5EF4-FFF2-40B4-BE49-F238E27FC236}">
                <a16:creationId xmlns:a16="http://schemas.microsoft.com/office/drawing/2014/main" id="{E07DC110-1B64-03C0-C95D-D43534CD2EFB}"/>
              </a:ext>
            </a:extLst>
          </p:cNvPr>
          <p:cNvSpPr txBox="1"/>
          <p:nvPr/>
        </p:nvSpPr>
        <p:spPr>
          <a:xfrm>
            <a:off x="457200" y="2614487"/>
            <a:ext cx="6748670" cy="646331"/>
          </a:xfrm>
          <a:prstGeom prst="rect">
            <a:avLst/>
          </a:prstGeom>
          <a:noFill/>
        </p:spPr>
        <p:txBody>
          <a:bodyPr wrap="square" rtlCol="0">
            <a:spAutoFit/>
          </a:bodyPr>
          <a:lstStyle/>
          <a:p>
            <a:r>
              <a:rPr lang="en-US" sz="1200" dirty="0" err="1">
                <a:latin typeface="Consolas" panose="020B0609020204030204" pitchFamily="49" charset="0"/>
                <a:cs typeface="Consolas" panose="020B0609020204030204" pitchFamily="49" charset="0"/>
              </a:rPr>
              <a:t>tmap_mode</a:t>
            </a:r>
            <a:r>
              <a:rPr lang="en-US" sz="1200" dirty="0">
                <a:latin typeface="Consolas" panose="020B0609020204030204" pitchFamily="49" charset="0"/>
                <a:cs typeface="Consolas" panose="020B0609020204030204" pitchFamily="49" charset="0"/>
              </a:rPr>
              <a:t>("view")</a:t>
            </a:r>
          </a:p>
          <a:p>
            <a:r>
              <a:rPr lang="en-US" sz="1200" dirty="0" err="1">
                <a:latin typeface="Consolas" panose="020B0609020204030204" pitchFamily="49" charset="0"/>
                <a:cs typeface="Consolas" panose="020B0609020204030204" pitchFamily="49" charset="0"/>
              </a:rPr>
              <a:t>map_nz</a:t>
            </a:r>
            <a:endParaRPr lang="en-US" sz="1200" dirty="0">
              <a:highlight>
                <a:srgbClr val="FFFF00"/>
              </a:highlight>
              <a:latin typeface="Consolas" panose="020B0609020204030204" pitchFamily="49" charset="0"/>
              <a:cs typeface="Consolas" panose="020B0609020204030204" pitchFamily="49" charset="0"/>
            </a:endParaRPr>
          </a:p>
          <a:p>
            <a:r>
              <a:rPr lang="en-US" sz="1200" dirty="0" err="1">
                <a:latin typeface="Consolas" panose="020B0609020204030204" pitchFamily="49" charset="0"/>
                <a:cs typeface="Consolas" panose="020B0609020204030204" pitchFamily="49" charset="0"/>
              </a:rPr>
              <a:t>map_nz</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tm_basemap</a:t>
            </a:r>
            <a:r>
              <a:rPr lang="en-US" sz="1200" dirty="0">
                <a:latin typeface="Consolas" panose="020B0609020204030204" pitchFamily="49" charset="0"/>
                <a:cs typeface="Consolas" panose="020B0609020204030204" pitchFamily="49" charset="0"/>
              </a:rPr>
              <a:t>(server = "</a:t>
            </a:r>
            <a:r>
              <a:rPr lang="en-US" sz="1200" dirty="0" err="1">
                <a:latin typeface="Consolas" panose="020B0609020204030204" pitchFamily="49" charset="0"/>
                <a:cs typeface="Consolas" panose="020B0609020204030204" pitchFamily="49" charset="0"/>
              </a:rPr>
              <a:t>OpenTopoMap</a:t>
            </a:r>
            <a:r>
              <a:rPr lang="en-US" sz="1200" dirty="0">
                <a:latin typeface="Consolas" panose="020B0609020204030204" pitchFamily="49" charset="0"/>
                <a:cs typeface="Consolas" panose="020B0609020204030204" pitchFamily="49" charset="0"/>
              </a:rPr>
              <a:t>")</a:t>
            </a:r>
          </a:p>
        </p:txBody>
      </p:sp>
      <p:pic>
        <p:nvPicPr>
          <p:cNvPr id="6" name="Picture 5">
            <a:extLst>
              <a:ext uri="{FF2B5EF4-FFF2-40B4-BE49-F238E27FC236}">
                <a16:creationId xmlns:a16="http://schemas.microsoft.com/office/drawing/2014/main" id="{2EC4A6A8-1891-4A14-BD53-5366B557290B}"/>
              </a:ext>
            </a:extLst>
          </p:cNvPr>
          <p:cNvPicPr>
            <a:picLocks noChangeAspect="1"/>
          </p:cNvPicPr>
          <p:nvPr/>
        </p:nvPicPr>
        <p:blipFill>
          <a:blip r:embed="rId2"/>
          <a:stretch>
            <a:fillRect/>
          </a:stretch>
        </p:blipFill>
        <p:spPr>
          <a:xfrm>
            <a:off x="2174369" y="4005371"/>
            <a:ext cx="5031501" cy="2533542"/>
          </a:xfrm>
          <a:prstGeom prst="rect">
            <a:avLst/>
          </a:prstGeom>
        </p:spPr>
      </p:pic>
      <p:sp>
        <p:nvSpPr>
          <p:cNvPr id="7" name="TextBox 6">
            <a:extLst>
              <a:ext uri="{FF2B5EF4-FFF2-40B4-BE49-F238E27FC236}">
                <a16:creationId xmlns:a16="http://schemas.microsoft.com/office/drawing/2014/main" id="{B01630D7-14C9-29B5-5991-9F52DA01D103}"/>
              </a:ext>
            </a:extLst>
          </p:cNvPr>
          <p:cNvSpPr txBox="1"/>
          <p:nvPr/>
        </p:nvSpPr>
        <p:spPr>
          <a:xfrm>
            <a:off x="4049133" y="2435711"/>
            <a:ext cx="1045734" cy="369332"/>
          </a:xfrm>
          <a:prstGeom prst="rect">
            <a:avLst/>
          </a:prstGeom>
          <a:solidFill>
            <a:srgbClr val="C00000"/>
          </a:solidFill>
        </p:spPr>
        <p:txBody>
          <a:bodyPr wrap="none" rtlCol="0" anchor="ctr">
            <a:spAutoFit/>
          </a:bodyPr>
          <a:lstStyle/>
          <a:p>
            <a:pPr algn="ctr"/>
            <a:r>
              <a:rPr lang="en-US" dirty="0">
                <a:solidFill>
                  <a:schemeClr val="bg1"/>
                </a:solidFill>
              </a:rPr>
              <a:t>Example</a:t>
            </a:r>
          </a:p>
        </p:txBody>
      </p:sp>
      <p:sp>
        <p:nvSpPr>
          <p:cNvPr id="8" name="TextBox 7">
            <a:extLst>
              <a:ext uri="{FF2B5EF4-FFF2-40B4-BE49-F238E27FC236}">
                <a16:creationId xmlns:a16="http://schemas.microsoft.com/office/drawing/2014/main" id="{E76DFBEC-FE27-0EF7-EE41-70DCF64D7A45}"/>
              </a:ext>
            </a:extLst>
          </p:cNvPr>
          <p:cNvSpPr txBox="1"/>
          <p:nvPr/>
        </p:nvSpPr>
        <p:spPr>
          <a:xfrm>
            <a:off x="457200" y="3439594"/>
            <a:ext cx="6748670" cy="1015663"/>
          </a:xfrm>
          <a:prstGeom prst="rect">
            <a:avLst/>
          </a:prstGeom>
          <a:noFill/>
        </p:spPr>
        <p:txBody>
          <a:bodyPr wrap="square" rtlCol="0">
            <a:spAutoFit/>
          </a:bodyPr>
          <a:lstStyle/>
          <a:p>
            <a:r>
              <a:rPr lang="en-US" sz="1200" dirty="0" err="1">
                <a:latin typeface="Consolas" panose="020B0609020204030204" pitchFamily="49" charset="0"/>
                <a:cs typeface="Consolas" panose="020B0609020204030204" pitchFamily="49" charset="0"/>
              </a:rPr>
              <a:t>world_coffee</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left_join</a:t>
            </a:r>
            <a:r>
              <a:rPr lang="en-US" sz="1200" dirty="0">
                <a:latin typeface="Consolas" panose="020B0609020204030204" pitchFamily="49" charset="0"/>
                <a:cs typeface="Consolas" panose="020B0609020204030204" pitchFamily="49" charset="0"/>
              </a:rPr>
              <a:t>(world, </a:t>
            </a:r>
            <a:r>
              <a:rPr lang="en-US" sz="1200" dirty="0" err="1">
                <a:latin typeface="Consolas" panose="020B0609020204030204" pitchFamily="49" charset="0"/>
                <a:cs typeface="Consolas" panose="020B0609020204030204" pitchFamily="49" charset="0"/>
              </a:rPr>
              <a:t>coffee_data</a:t>
            </a:r>
            <a:r>
              <a:rPr lang="en-US" sz="1200" dirty="0">
                <a:latin typeface="Consolas" panose="020B0609020204030204" pitchFamily="49" charset="0"/>
                <a:cs typeface="Consolas" panose="020B0609020204030204" pitchFamily="49" charset="0"/>
              </a:rPr>
              <a:t>, by = "</a:t>
            </a:r>
            <a:r>
              <a:rPr lang="en-US" sz="1200" dirty="0" err="1">
                <a:latin typeface="Consolas" panose="020B0609020204030204" pitchFamily="49" charset="0"/>
                <a:cs typeface="Consolas" panose="020B0609020204030204" pitchFamily="49" charset="0"/>
              </a:rPr>
              <a:t>name_long</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facets = c("coffee_production_2016", "coffee_production_2017")</a:t>
            </a:r>
          </a:p>
          <a:p>
            <a:endParaRPr lang="en-US" sz="1200" dirty="0">
              <a:highlight>
                <a:srgbClr val="FFFF00"/>
              </a:highlight>
              <a:latin typeface="Consolas" panose="020B0609020204030204" pitchFamily="49" charset="0"/>
              <a:cs typeface="Consolas" panose="020B0609020204030204" pitchFamily="49" charset="0"/>
            </a:endParaRPr>
          </a:p>
          <a:p>
            <a:r>
              <a:rPr lang="en-US" sz="1200" dirty="0" err="1">
                <a:highlight>
                  <a:srgbClr val="FFFF00"/>
                </a:highlight>
                <a:latin typeface="Consolas" panose="020B0609020204030204" pitchFamily="49" charset="0"/>
                <a:cs typeface="Consolas" panose="020B0609020204030204" pitchFamily="49" charset="0"/>
              </a:rPr>
              <a:t>tm_shape</a:t>
            </a:r>
            <a:r>
              <a:rPr lang="en-US" sz="1200" dirty="0">
                <a:highlight>
                  <a:srgbClr val="FFFF00"/>
                </a:highlight>
                <a:latin typeface="Consolas" panose="020B0609020204030204" pitchFamily="49" charset="0"/>
                <a:cs typeface="Consolas" panose="020B0609020204030204" pitchFamily="49" charset="0"/>
              </a:rPr>
              <a:t>(</a:t>
            </a:r>
            <a:r>
              <a:rPr lang="en-US" sz="1200" dirty="0" err="1">
                <a:highlight>
                  <a:srgbClr val="FFFF00"/>
                </a:highlight>
                <a:latin typeface="Consolas" panose="020B0609020204030204" pitchFamily="49" charset="0"/>
                <a:cs typeface="Consolas" panose="020B0609020204030204" pitchFamily="49" charset="0"/>
              </a:rPr>
              <a:t>world_coffee</a:t>
            </a:r>
            <a:r>
              <a:rPr lang="en-US" sz="1200" dirty="0">
                <a:highlight>
                  <a:srgbClr val="FFFF00"/>
                </a:highlight>
                <a:latin typeface="Consolas" panose="020B0609020204030204" pitchFamily="49" charset="0"/>
                <a:cs typeface="Consolas" panose="020B0609020204030204" pitchFamily="49" charset="0"/>
              </a:rPr>
              <a:t>) + </a:t>
            </a:r>
            <a:r>
              <a:rPr lang="en-US" sz="1200" dirty="0" err="1">
                <a:highlight>
                  <a:srgbClr val="FFFF00"/>
                </a:highlight>
                <a:latin typeface="Consolas" panose="020B0609020204030204" pitchFamily="49" charset="0"/>
                <a:cs typeface="Consolas" panose="020B0609020204030204" pitchFamily="49" charset="0"/>
              </a:rPr>
              <a:t>tm_polygons</a:t>
            </a:r>
            <a:r>
              <a:rPr lang="en-US" sz="1200" dirty="0">
                <a:highlight>
                  <a:srgbClr val="FFFF00"/>
                </a:highlight>
                <a:latin typeface="Consolas" panose="020B0609020204030204" pitchFamily="49" charset="0"/>
                <a:cs typeface="Consolas" panose="020B0609020204030204" pitchFamily="49" charset="0"/>
              </a:rPr>
              <a:t>(facets) + </a:t>
            </a:r>
          </a:p>
          <a:p>
            <a:r>
              <a:rPr lang="en-US" sz="1200" dirty="0">
                <a:highlight>
                  <a:srgbClr val="FFFF00"/>
                </a:highlight>
                <a:latin typeface="Consolas" panose="020B0609020204030204" pitchFamily="49" charset="0"/>
                <a:cs typeface="Consolas" panose="020B0609020204030204" pitchFamily="49" charset="0"/>
              </a:rPr>
              <a:t>  </a:t>
            </a:r>
            <a:r>
              <a:rPr lang="en-US" sz="1200" dirty="0" err="1">
                <a:highlight>
                  <a:srgbClr val="FFFF00"/>
                </a:highlight>
                <a:latin typeface="Consolas" panose="020B0609020204030204" pitchFamily="49" charset="0"/>
                <a:cs typeface="Consolas" panose="020B0609020204030204" pitchFamily="49" charset="0"/>
              </a:rPr>
              <a:t>tm_facets_wrap</a:t>
            </a:r>
            <a:r>
              <a:rPr lang="en-US" sz="1200" dirty="0">
                <a:highlight>
                  <a:srgbClr val="FFFF00"/>
                </a:highlight>
                <a:latin typeface="Consolas" panose="020B0609020204030204" pitchFamily="49" charset="0"/>
                <a:cs typeface="Consolas" panose="020B0609020204030204" pitchFamily="49" charset="0"/>
              </a:rPr>
              <a:t>(</a:t>
            </a:r>
            <a:r>
              <a:rPr lang="en-US" sz="1200" dirty="0" err="1">
                <a:highlight>
                  <a:srgbClr val="FFFF00"/>
                </a:highlight>
                <a:latin typeface="Consolas" panose="020B0609020204030204" pitchFamily="49" charset="0"/>
                <a:cs typeface="Consolas" panose="020B0609020204030204" pitchFamily="49" charset="0"/>
              </a:rPr>
              <a:t>nrow</a:t>
            </a:r>
            <a:r>
              <a:rPr lang="en-US" sz="1200" dirty="0">
                <a:highlight>
                  <a:srgbClr val="FFFF00"/>
                </a:highlight>
                <a:latin typeface="Consolas" panose="020B0609020204030204" pitchFamily="49" charset="0"/>
                <a:cs typeface="Consolas" panose="020B0609020204030204" pitchFamily="49" charset="0"/>
              </a:rPr>
              <a:t> = 1, sync = TRUE)</a:t>
            </a:r>
          </a:p>
        </p:txBody>
      </p:sp>
    </p:spTree>
    <p:extLst>
      <p:ext uri="{BB962C8B-B14F-4D97-AF65-F5344CB8AC3E}">
        <p14:creationId xmlns:p14="http://schemas.microsoft.com/office/powerpoint/2010/main" val="42507347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57D37-5C69-905D-6C0A-B3699FC9571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C2500EA-3E20-82BD-2C3F-E9229E07712F}"/>
              </a:ext>
            </a:extLst>
          </p:cNvPr>
          <p:cNvSpPr>
            <a:spLocks noGrp="1"/>
          </p:cNvSpPr>
          <p:nvPr>
            <p:ph type="title"/>
          </p:nvPr>
        </p:nvSpPr>
        <p:spPr/>
        <p:txBody>
          <a:bodyPr/>
          <a:lstStyle/>
          <a:p>
            <a:r>
              <a:rPr lang="en-US" dirty="0"/>
              <a:t>Mapping applications</a:t>
            </a:r>
          </a:p>
        </p:txBody>
      </p:sp>
      <p:sp>
        <p:nvSpPr>
          <p:cNvPr id="4" name="Slide Number Placeholder 3">
            <a:extLst>
              <a:ext uri="{FF2B5EF4-FFF2-40B4-BE49-F238E27FC236}">
                <a16:creationId xmlns:a16="http://schemas.microsoft.com/office/drawing/2014/main" id="{DC217F24-7728-5B60-D9E5-2CCC802DFE90}"/>
              </a:ext>
            </a:extLst>
          </p:cNvPr>
          <p:cNvSpPr>
            <a:spLocks noGrp="1"/>
          </p:cNvSpPr>
          <p:nvPr>
            <p:ph type="sldNum" sz="quarter" idx="12"/>
          </p:nvPr>
        </p:nvSpPr>
        <p:spPr/>
        <p:txBody>
          <a:bodyPr/>
          <a:lstStyle/>
          <a:p>
            <a:fld id="{C0343C75-1924-D247-85A3-0CB62E67E5D1}" type="slidenum">
              <a:rPr lang="en-US" smtClean="0"/>
              <a:t>37</a:t>
            </a:fld>
            <a:endParaRPr lang="en-US"/>
          </a:p>
        </p:txBody>
      </p:sp>
    </p:spTree>
    <p:extLst>
      <p:ext uri="{BB962C8B-B14F-4D97-AF65-F5344CB8AC3E}">
        <p14:creationId xmlns:p14="http://schemas.microsoft.com/office/powerpoint/2010/main" val="3273839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28F41-73AF-2FE0-18CE-2743A64370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9794CF-6B0A-B06F-DFF3-9A1B2BE0CA63}"/>
              </a:ext>
            </a:extLst>
          </p:cNvPr>
          <p:cNvSpPr>
            <a:spLocks noGrp="1"/>
          </p:cNvSpPr>
          <p:nvPr>
            <p:ph idx="1"/>
          </p:nvPr>
        </p:nvSpPr>
        <p:spPr>
          <a:xfrm>
            <a:off x="457200" y="406400"/>
            <a:ext cx="8229600" cy="6129867"/>
          </a:xfrm>
        </p:spPr>
        <p:txBody>
          <a:bodyPr>
            <a:normAutofit fontScale="92500" lnSpcReduction="20000"/>
          </a:bodyPr>
          <a:lstStyle/>
          <a:p>
            <a:r>
              <a:rPr lang="en-US" dirty="0"/>
              <a:t>While interactive web maps (e.g., leaflet) allow for zooming and panning, mapping applications provide a higher level of interactivity and scalability by using server-side frameworks.</a:t>
            </a:r>
          </a:p>
          <a:p>
            <a:r>
              <a:rPr lang="en-US" dirty="0"/>
              <a:t>Limitations of basic web maps:</a:t>
            </a:r>
          </a:p>
          <a:p>
            <a:pPr lvl="1"/>
            <a:r>
              <a:rPr lang="en-US" b="1" dirty="0"/>
              <a:t>Fixed interface</a:t>
            </a:r>
            <a:r>
              <a:rPr lang="en-US" dirty="0"/>
              <a:t>: The UI is static and cannot be easily customized by the user.</a:t>
            </a:r>
          </a:p>
          <a:p>
            <a:pPr lvl="1"/>
            <a:r>
              <a:rPr lang="en-US" b="1" dirty="0"/>
              <a:t>Data scaling</a:t>
            </a:r>
            <a:r>
              <a:rPr lang="en-US" dirty="0"/>
              <a:t>: Basic web maps struggle with very large datasets as all content is typically pre-loaded.</a:t>
            </a:r>
          </a:p>
          <a:p>
            <a:pPr lvl="1"/>
            <a:r>
              <a:rPr lang="en-US" b="1" dirty="0"/>
              <a:t>Low complexity</a:t>
            </a:r>
            <a:r>
              <a:rPr lang="en-US" dirty="0"/>
              <a:t>: Difficult to integrate complex dashboards, real-time graphs, or multi-variable relationships.</a:t>
            </a:r>
          </a:p>
          <a:p>
            <a:r>
              <a:rPr lang="en-US" dirty="0"/>
              <a:t>The Power of Shiny (for R Users):</a:t>
            </a:r>
          </a:p>
          <a:p>
            <a:pPr lvl="1"/>
            <a:r>
              <a:rPr lang="en-US" b="1" dirty="0"/>
              <a:t>Rapid development</a:t>
            </a:r>
            <a:r>
              <a:rPr lang="en-US" dirty="0"/>
              <a:t>: Convert R code directly into interactive web apps without needing deep HTML/JS knowledge.</a:t>
            </a:r>
          </a:p>
          <a:p>
            <a:pPr lvl="1"/>
            <a:r>
              <a:rPr lang="en-US" b="1" dirty="0"/>
              <a:t>Integration</a:t>
            </a:r>
            <a:r>
              <a:rPr lang="en-US" dirty="0"/>
              <a:t>: Seamlessly embed maps using functions like </a:t>
            </a:r>
            <a:r>
              <a:rPr lang="en-US" sz="1900" dirty="0"/>
              <a:t>leaflet::</a:t>
            </a:r>
            <a:r>
              <a:rPr lang="en-US" sz="1900" dirty="0" err="1"/>
              <a:t>renderLeaflet</a:t>
            </a:r>
            <a:r>
              <a:rPr lang="en-US" sz="1900" dirty="0"/>
              <a:t>()</a:t>
            </a:r>
            <a:endParaRPr lang="en-US" dirty="0"/>
          </a:p>
          <a:p>
            <a:pPr lvl="1"/>
            <a:r>
              <a:rPr lang="en-US" b="1" dirty="0"/>
              <a:t>Reactive logic</a:t>
            </a:r>
            <a:r>
              <a:rPr lang="en-US" dirty="0"/>
              <a:t>: Maps can update instantly based on user input, filters, or external data changes.</a:t>
            </a:r>
          </a:p>
          <a:p>
            <a:r>
              <a:rPr lang="en-US" b="1" dirty="0"/>
              <a:t>Enterprise-Level Framework</a:t>
            </a:r>
            <a:r>
              <a:rPr lang="en-US" dirty="0"/>
              <a:t>:</a:t>
            </a:r>
          </a:p>
          <a:p>
            <a:pPr lvl="1"/>
            <a:r>
              <a:rPr lang="en-US" dirty="0"/>
              <a:t>For high-traffic or massive data needs, R can interface with or be replaced by dedicated map servers:</a:t>
            </a:r>
          </a:p>
          <a:p>
            <a:pPr lvl="2"/>
            <a:r>
              <a:rPr lang="en-US" b="1" dirty="0" err="1"/>
              <a:t>GeoServer</a:t>
            </a:r>
            <a:r>
              <a:rPr lang="en-US" b="1" dirty="0"/>
              <a:t> / </a:t>
            </a:r>
            <a:r>
              <a:rPr lang="en-US" b="1" dirty="0" err="1"/>
              <a:t>MapServer</a:t>
            </a:r>
            <a:r>
              <a:rPr lang="en-US" dirty="0"/>
              <a:t>: Mature, scalable servers for thousands of daily users.</a:t>
            </a:r>
          </a:p>
          <a:p>
            <a:pPr lvl="2"/>
            <a:r>
              <a:rPr lang="en-US" b="1" dirty="0" err="1"/>
              <a:t>GeoDjango</a:t>
            </a:r>
            <a:r>
              <a:rPr lang="en-US" dirty="0"/>
              <a:t>: Python-based framework for complex geospatial web development.</a:t>
            </a:r>
          </a:p>
        </p:txBody>
      </p:sp>
      <p:sp>
        <p:nvSpPr>
          <p:cNvPr id="4" name="Slide Number Placeholder 3">
            <a:extLst>
              <a:ext uri="{FF2B5EF4-FFF2-40B4-BE49-F238E27FC236}">
                <a16:creationId xmlns:a16="http://schemas.microsoft.com/office/drawing/2014/main" id="{1FA18C70-EF25-DA32-D7F2-91859E10209B}"/>
              </a:ext>
            </a:extLst>
          </p:cNvPr>
          <p:cNvSpPr>
            <a:spLocks noGrp="1"/>
          </p:cNvSpPr>
          <p:nvPr>
            <p:ph type="sldNum" sz="quarter" idx="12"/>
          </p:nvPr>
        </p:nvSpPr>
        <p:spPr/>
        <p:txBody>
          <a:bodyPr/>
          <a:lstStyle/>
          <a:p>
            <a:fld id="{C0343C75-1924-D247-85A3-0CB62E67E5D1}" type="slidenum">
              <a:rPr lang="en-US" smtClean="0"/>
              <a:t>38</a:t>
            </a:fld>
            <a:endParaRPr lang="en-US"/>
          </a:p>
        </p:txBody>
      </p:sp>
    </p:spTree>
    <p:extLst>
      <p:ext uri="{BB962C8B-B14F-4D97-AF65-F5344CB8AC3E}">
        <p14:creationId xmlns:p14="http://schemas.microsoft.com/office/powerpoint/2010/main" val="35333294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B1660-383F-8CF6-883A-0C5B2FC908E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B7043AB-84EE-344E-E33C-C9563637F949}"/>
              </a:ext>
            </a:extLst>
          </p:cNvPr>
          <p:cNvSpPr>
            <a:spLocks noGrp="1"/>
          </p:cNvSpPr>
          <p:nvPr>
            <p:ph type="sldNum" sz="quarter" idx="12"/>
          </p:nvPr>
        </p:nvSpPr>
        <p:spPr/>
        <p:txBody>
          <a:bodyPr/>
          <a:lstStyle/>
          <a:p>
            <a:fld id="{C0343C75-1924-D247-85A3-0CB62E67E5D1}" type="slidenum">
              <a:rPr lang="en-US" smtClean="0"/>
              <a:t>39</a:t>
            </a:fld>
            <a:endParaRPr lang="en-US"/>
          </a:p>
        </p:txBody>
      </p:sp>
      <p:pic>
        <p:nvPicPr>
          <p:cNvPr id="5" name="Picture 4">
            <a:extLst>
              <a:ext uri="{FF2B5EF4-FFF2-40B4-BE49-F238E27FC236}">
                <a16:creationId xmlns:a16="http://schemas.microsoft.com/office/drawing/2014/main" id="{83DE5C35-3ACE-3AB8-4FBF-AE261F8A0D91}"/>
              </a:ext>
            </a:extLst>
          </p:cNvPr>
          <p:cNvPicPr>
            <a:picLocks noChangeAspect="1"/>
          </p:cNvPicPr>
          <p:nvPr/>
        </p:nvPicPr>
        <p:blipFill>
          <a:blip r:embed="rId2"/>
          <a:stretch>
            <a:fillRect/>
          </a:stretch>
        </p:blipFill>
        <p:spPr>
          <a:xfrm>
            <a:off x="2194560" y="3237137"/>
            <a:ext cx="4754880" cy="3301776"/>
          </a:xfrm>
          <a:prstGeom prst="rect">
            <a:avLst/>
          </a:prstGeom>
        </p:spPr>
      </p:pic>
      <p:sp>
        <p:nvSpPr>
          <p:cNvPr id="6" name="TextBox 5">
            <a:extLst>
              <a:ext uri="{FF2B5EF4-FFF2-40B4-BE49-F238E27FC236}">
                <a16:creationId xmlns:a16="http://schemas.microsoft.com/office/drawing/2014/main" id="{22D64FDD-5939-BD87-88F3-AD77CE03F320}"/>
              </a:ext>
            </a:extLst>
          </p:cNvPr>
          <p:cNvSpPr txBox="1"/>
          <p:nvPr/>
        </p:nvSpPr>
        <p:spPr>
          <a:xfrm>
            <a:off x="1372274" y="503910"/>
            <a:ext cx="6748670" cy="2677656"/>
          </a:xfrm>
          <a:prstGeom prst="rect">
            <a:avLst/>
          </a:prstGeom>
          <a:noFill/>
        </p:spPr>
        <p:txBody>
          <a:bodyPr wrap="square" rtlCol="0">
            <a:spAutoFit/>
          </a:bodyPr>
          <a:lstStyle/>
          <a:p>
            <a:r>
              <a:rPr lang="en-US" sz="1200" dirty="0">
                <a:latin typeface="Consolas" panose="020B0609020204030204" pitchFamily="49" charset="0"/>
                <a:cs typeface="Consolas" panose="020B0609020204030204" pitchFamily="49" charset="0"/>
              </a:rPr>
              <a:t>library(shiny)    # for shiny apps</a:t>
            </a:r>
          </a:p>
          <a:p>
            <a:r>
              <a:rPr lang="en-US" sz="1200" dirty="0">
                <a:latin typeface="Consolas" panose="020B0609020204030204" pitchFamily="49" charset="0"/>
                <a:cs typeface="Consolas" panose="020B0609020204030204" pitchFamily="49" charset="0"/>
              </a:rPr>
              <a:t>library(leaflet)  # </a:t>
            </a:r>
            <a:r>
              <a:rPr lang="en-US" sz="1200" dirty="0" err="1">
                <a:latin typeface="Consolas" panose="020B0609020204030204" pitchFamily="49" charset="0"/>
                <a:cs typeface="Consolas" panose="020B0609020204030204" pitchFamily="49" charset="0"/>
              </a:rPr>
              <a:t>renderLeaflet</a:t>
            </a:r>
            <a:r>
              <a:rPr lang="en-US" sz="1200" dirty="0">
                <a:latin typeface="Consolas" panose="020B0609020204030204" pitchFamily="49" charset="0"/>
                <a:cs typeface="Consolas" panose="020B0609020204030204" pitchFamily="49" charset="0"/>
              </a:rPr>
              <a:t> function</a:t>
            </a:r>
          </a:p>
          <a:p>
            <a:r>
              <a:rPr lang="en-US" sz="1200" dirty="0">
                <a:latin typeface="Consolas" panose="020B0609020204030204" pitchFamily="49" charset="0"/>
                <a:cs typeface="Consolas" panose="020B0609020204030204" pitchFamily="49" charset="0"/>
              </a:rPr>
              <a:t>library(</a:t>
            </a:r>
            <a:r>
              <a:rPr lang="en-US" sz="1200" dirty="0" err="1">
                <a:latin typeface="Consolas" panose="020B0609020204030204" pitchFamily="49" charset="0"/>
                <a:cs typeface="Consolas" panose="020B0609020204030204" pitchFamily="49" charset="0"/>
              </a:rPr>
              <a:t>spData</a:t>
            </a:r>
            <a:r>
              <a:rPr lang="en-US" sz="1200" dirty="0">
                <a:latin typeface="Consolas" panose="020B0609020204030204" pitchFamily="49" charset="0"/>
                <a:cs typeface="Consolas" panose="020B0609020204030204" pitchFamily="49" charset="0"/>
              </a:rPr>
              <a:t>)   # loads the world dataset </a:t>
            </a:r>
          </a:p>
          <a:p>
            <a:r>
              <a:rPr lang="en-US" sz="1200" dirty="0" err="1">
                <a:latin typeface="Consolas" panose="020B0609020204030204" pitchFamily="49" charset="0"/>
                <a:cs typeface="Consolas" panose="020B0609020204030204" pitchFamily="49" charset="0"/>
              </a:rPr>
              <a:t>ui</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fluidPage</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sliderInput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inputId</a:t>
            </a:r>
            <a:r>
              <a:rPr lang="en-US" sz="1200" dirty="0">
                <a:latin typeface="Consolas" panose="020B0609020204030204" pitchFamily="49" charset="0"/>
                <a:cs typeface="Consolas" panose="020B0609020204030204" pitchFamily="49" charset="0"/>
              </a:rPr>
              <a:t> = "life", "Life expectancy", 49, 84, value = 80),</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leafletOutput</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outputId</a:t>
            </a:r>
            <a:r>
              <a:rPr lang="en-US" sz="1200" dirty="0">
                <a:latin typeface="Consolas" panose="020B0609020204030204" pitchFamily="49" charset="0"/>
                <a:cs typeface="Consolas" panose="020B0609020204030204" pitchFamily="49" charset="0"/>
              </a:rPr>
              <a:t> = "map")</a:t>
            </a:r>
          </a:p>
          <a:p>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server = function(input, output) {</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output$map</a:t>
            </a:r>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renderLeaflet</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leaflet() |&gt; </a:t>
            </a:r>
          </a:p>
          <a:p>
            <a:r>
              <a:rPr lang="en-US" sz="1200" dirty="0">
                <a:latin typeface="Consolas" panose="020B0609020204030204" pitchFamily="49" charset="0"/>
                <a:cs typeface="Consolas" panose="020B0609020204030204" pitchFamily="49" charset="0"/>
              </a:rPr>
              <a:t>      # </a:t>
            </a:r>
            <a:r>
              <a:rPr lang="en-US" sz="1200" dirty="0" err="1">
                <a:latin typeface="Consolas" panose="020B0609020204030204" pitchFamily="49" charset="0"/>
                <a:cs typeface="Consolas" panose="020B0609020204030204" pitchFamily="49" charset="0"/>
              </a:rPr>
              <a:t>addProviderTiles</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OpenStreetMap.BlackAndWhite</a:t>
            </a:r>
            <a:r>
              <a:rPr lang="en-US" sz="1200" dirty="0">
                <a:latin typeface="Consolas" panose="020B0609020204030204" pitchFamily="49" charset="0"/>
                <a:cs typeface="Consolas" panose="020B0609020204030204" pitchFamily="49" charset="0"/>
              </a:rPr>
              <a:t>") |&gt;</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addPolygons</a:t>
            </a:r>
            <a:r>
              <a:rPr lang="en-US" sz="1200" dirty="0">
                <a:latin typeface="Consolas" panose="020B0609020204030204" pitchFamily="49" charset="0"/>
                <a:cs typeface="Consolas" panose="020B0609020204030204" pitchFamily="49" charset="0"/>
              </a:rPr>
              <a:t>(data = world[</a:t>
            </a:r>
            <a:r>
              <a:rPr lang="en-US" sz="1200" dirty="0" err="1">
                <a:latin typeface="Consolas" panose="020B0609020204030204" pitchFamily="49" charset="0"/>
                <a:cs typeface="Consolas" panose="020B0609020204030204" pitchFamily="49" charset="0"/>
              </a:rPr>
              <a:t>world$lifeExp</a:t>
            </a:r>
            <a:r>
              <a:rPr lang="en-US" sz="1200" dirty="0">
                <a:latin typeface="Consolas" panose="020B0609020204030204" pitchFamily="49" charset="0"/>
                <a:cs typeface="Consolas" panose="020B0609020204030204" pitchFamily="49" charset="0"/>
              </a:rPr>
              <a:t> &lt; </a:t>
            </a:r>
            <a:r>
              <a:rPr lang="en-US" sz="1200" dirty="0" err="1">
                <a:latin typeface="Consolas" panose="020B0609020204030204" pitchFamily="49" charset="0"/>
                <a:cs typeface="Consolas" panose="020B0609020204030204" pitchFamily="49" charset="0"/>
              </a:rPr>
              <a:t>input$life</a:t>
            </a:r>
            <a:r>
              <a:rPr lang="en-US" sz="1200" dirty="0">
                <a:latin typeface="Consolas" panose="020B0609020204030204" pitchFamily="49" charset="0"/>
                <a:cs typeface="Consolas" panose="020B0609020204030204" pitchFamily="49" charset="0"/>
              </a:rPr>
              <a:t>, ])})</a:t>
            </a:r>
          </a:p>
          <a:p>
            <a:r>
              <a:rPr lang="en-US" sz="1200" dirty="0">
                <a:latin typeface="Consolas" panose="020B0609020204030204" pitchFamily="49" charset="0"/>
                <a:cs typeface="Consolas" panose="020B0609020204030204" pitchFamily="49" charset="0"/>
              </a:rPr>
              <a:t>}</a:t>
            </a:r>
          </a:p>
          <a:p>
            <a:r>
              <a:rPr lang="en-US" sz="1200" dirty="0" err="1">
                <a:latin typeface="Consolas" panose="020B0609020204030204" pitchFamily="49" charset="0"/>
                <a:cs typeface="Consolas" panose="020B0609020204030204" pitchFamily="49" charset="0"/>
              </a:rPr>
              <a:t>shinyApp</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ui</a:t>
            </a:r>
            <a:r>
              <a:rPr lang="en-US" sz="1200" dirty="0">
                <a:latin typeface="Consolas" panose="020B0609020204030204" pitchFamily="49" charset="0"/>
                <a:cs typeface="Consolas" panose="020B0609020204030204" pitchFamily="49" charset="0"/>
              </a:rPr>
              <a:t>, server)</a:t>
            </a:r>
          </a:p>
        </p:txBody>
      </p:sp>
    </p:spTree>
    <p:extLst>
      <p:ext uri="{BB962C8B-B14F-4D97-AF65-F5344CB8AC3E}">
        <p14:creationId xmlns:p14="http://schemas.microsoft.com/office/powerpoint/2010/main" val="3329738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778A9-DF75-760E-5946-D5CB9BB0CCCA}"/>
              </a:ext>
            </a:extLst>
          </p:cNvPr>
          <p:cNvSpPr>
            <a:spLocks noGrp="1"/>
          </p:cNvSpPr>
          <p:nvPr>
            <p:ph type="title"/>
          </p:nvPr>
        </p:nvSpPr>
        <p:spPr/>
        <p:txBody>
          <a:bodyPr/>
          <a:lstStyle/>
          <a:p>
            <a:r>
              <a:rPr lang="en-US" dirty="0"/>
              <a:t>More References</a:t>
            </a:r>
          </a:p>
        </p:txBody>
      </p:sp>
      <p:sp>
        <p:nvSpPr>
          <p:cNvPr id="3" name="Content Placeholder 2">
            <a:extLst>
              <a:ext uri="{FF2B5EF4-FFF2-40B4-BE49-F238E27FC236}">
                <a16:creationId xmlns:a16="http://schemas.microsoft.com/office/drawing/2014/main" id="{9D8C69DB-0DB5-ECA1-24D0-4233342F2729}"/>
              </a:ext>
            </a:extLst>
          </p:cNvPr>
          <p:cNvSpPr>
            <a:spLocks noGrp="1"/>
          </p:cNvSpPr>
          <p:nvPr>
            <p:ph idx="1"/>
          </p:nvPr>
        </p:nvSpPr>
        <p:spPr/>
        <p:txBody>
          <a:bodyPr/>
          <a:lstStyle/>
          <a:p>
            <a:r>
              <a:rPr lang="en-US" dirty="0"/>
              <a:t>Cartographic Design Process</a:t>
            </a:r>
            <a:br>
              <a:rPr lang="en-US" dirty="0"/>
            </a:br>
            <a:r>
              <a:rPr lang="en-US" sz="1400" dirty="0">
                <a:hlinkClick r:id="rId2"/>
              </a:rPr>
              <a:t>https://colorado.pressbooks.pub/makingmaps/chapter/cartographic-design-process/</a:t>
            </a:r>
            <a:endParaRPr lang="en-US" sz="1400" dirty="0"/>
          </a:p>
          <a:p>
            <a:r>
              <a:rPr lang="en-US" dirty="0"/>
              <a:t>Crime Mapping and Spatial Data Analysis using R</a:t>
            </a:r>
            <a:br>
              <a:rPr lang="en-US" dirty="0"/>
            </a:br>
            <a:r>
              <a:rPr lang="en-US" sz="1400" dirty="0"/>
              <a:t>Chapter 6 </a:t>
            </a:r>
            <a:r>
              <a:rPr lang="en-US" sz="1400" b="1" dirty="0"/>
              <a:t>Basics of cartographic design: elements of a map</a:t>
            </a:r>
            <a:br>
              <a:rPr lang="en-US" sz="1400" dirty="0"/>
            </a:br>
            <a:r>
              <a:rPr lang="en-US" sz="1400" dirty="0">
                <a:hlinkClick r:id="rId3"/>
              </a:rPr>
              <a:t>https://maczokni.github.io/crime_mapping/basics-of-cartographic-design-elements-of-a-map.html</a:t>
            </a:r>
            <a:endParaRPr lang="en-US" sz="1400" dirty="0"/>
          </a:p>
          <a:p>
            <a:endParaRPr lang="en-US" dirty="0"/>
          </a:p>
          <a:p>
            <a:endParaRPr lang="en-US" dirty="0"/>
          </a:p>
        </p:txBody>
      </p:sp>
      <p:sp>
        <p:nvSpPr>
          <p:cNvPr id="4" name="Slide Number Placeholder 3">
            <a:extLst>
              <a:ext uri="{FF2B5EF4-FFF2-40B4-BE49-F238E27FC236}">
                <a16:creationId xmlns:a16="http://schemas.microsoft.com/office/drawing/2014/main" id="{D2808ED0-60BE-81B0-39D1-0C0EE44FDD5E}"/>
              </a:ext>
            </a:extLst>
          </p:cNvPr>
          <p:cNvSpPr>
            <a:spLocks noGrp="1"/>
          </p:cNvSpPr>
          <p:nvPr>
            <p:ph type="sldNum" sz="quarter" idx="12"/>
          </p:nvPr>
        </p:nvSpPr>
        <p:spPr/>
        <p:txBody>
          <a:bodyPr/>
          <a:lstStyle/>
          <a:p>
            <a:fld id="{C0343C75-1924-D247-85A3-0CB62E67E5D1}" type="slidenum">
              <a:rPr lang="en-US" smtClean="0"/>
              <a:t>40</a:t>
            </a:fld>
            <a:endParaRPr lang="en-US"/>
          </a:p>
        </p:txBody>
      </p:sp>
    </p:spTree>
    <p:extLst>
      <p:ext uri="{BB962C8B-B14F-4D97-AF65-F5344CB8AC3E}">
        <p14:creationId xmlns:p14="http://schemas.microsoft.com/office/powerpoint/2010/main" val="2393416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8E4E3741-84A4-3587-68D3-9D65C0A014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B6800B-4DDB-E29C-61D8-221674B1EDAB}"/>
              </a:ext>
            </a:extLst>
          </p:cNvPr>
          <p:cNvSpPr>
            <a:spLocks noGrp="1"/>
          </p:cNvSpPr>
          <p:nvPr>
            <p:ph type="title"/>
          </p:nvPr>
        </p:nvSpPr>
        <p:spPr/>
        <p:txBody>
          <a:bodyPr/>
          <a:lstStyle/>
          <a:p>
            <a:r>
              <a:rPr lang="en-US" dirty="0"/>
              <a:t>Next</a:t>
            </a:r>
          </a:p>
        </p:txBody>
      </p:sp>
      <p:sp>
        <p:nvSpPr>
          <p:cNvPr id="3" name="Content Placeholder 2">
            <a:extLst>
              <a:ext uri="{FF2B5EF4-FFF2-40B4-BE49-F238E27FC236}">
                <a16:creationId xmlns:a16="http://schemas.microsoft.com/office/drawing/2014/main" id="{38739DCE-20B0-86B8-B3DF-D3CD62E73B09}"/>
              </a:ext>
            </a:extLst>
          </p:cNvPr>
          <p:cNvSpPr>
            <a:spLocks noGrp="1"/>
          </p:cNvSpPr>
          <p:nvPr>
            <p:ph idx="1"/>
          </p:nvPr>
        </p:nvSpPr>
        <p:spPr/>
        <p:txBody>
          <a:bodyPr/>
          <a:lstStyle/>
          <a:p>
            <a:r>
              <a:rPr lang="en-US" dirty="0"/>
              <a:t>Getting started with statistical learning</a:t>
            </a:r>
          </a:p>
          <a:p>
            <a:pPr lvl="1"/>
            <a:r>
              <a:rPr lang="en-US" b="1" dirty="0"/>
              <a:t>Exploratory</a:t>
            </a:r>
            <a:r>
              <a:rPr lang="en-US" dirty="0"/>
              <a:t> spatial data analysis</a:t>
            </a:r>
            <a:br>
              <a:rPr lang="en-US" dirty="0"/>
            </a:br>
            <a:r>
              <a:rPr lang="en-US" sz="1600" dirty="0">
                <a:hlinkClick r:id="rId2"/>
              </a:rPr>
              <a:t>https://cran.r-project.org/web/packages/geostan/vignettes/measuring-sa.html</a:t>
            </a:r>
            <a:endParaRPr lang="en-US" sz="1600" dirty="0"/>
          </a:p>
          <a:p>
            <a:pPr lvl="1"/>
            <a:r>
              <a:rPr lang="en-US" dirty="0"/>
              <a:t>Measures of </a:t>
            </a:r>
            <a:r>
              <a:rPr lang="en-US" b="1" dirty="0"/>
              <a:t>spatial autocorrelation</a:t>
            </a:r>
            <a:br>
              <a:rPr lang="en-US" dirty="0"/>
            </a:br>
            <a:r>
              <a:rPr lang="en-US" sz="1600" dirty="0">
                <a:hlinkClick r:id="rId3"/>
              </a:rPr>
              <a:t>https://r-spatial.org/book/15-Measures.html</a:t>
            </a:r>
            <a:endParaRPr lang="en-US" sz="1600" dirty="0"/>
          </a:p>
          <a:p>
            <a:pPr lvl="1"/>
            <a:r>
              <a:rPr lang="en-US" dirty="0"/>
              <a:t>Point </a:t>
            </a:r>
            <a:r>
              <a:rPr lang="en-US" b="1" dirty="0"/>
              <a:t>pattern </a:t>
            </a:r>
            <a:r>
              <a:rPr lang="en-US" dirty="0"/>
              <a:t>analysis</a:t>
            </a:r>
            <a:br>
              <a:rPr lang="en-US" dirty="0"/>
            </a:br>
            <a:r>
              <a:rPr lang="en-US" sz="1600" dirty="0">
                <a:hlinkClick r:id="rId4"/>
              </a:rPr>
              <a:t>https://r-spatial.org/book/11-PointPattern.html</a:t>
            </a:r>
            <a:endParaRPr lang="en-US" dirty="0"/>
          </a:p>
          <a:p>
            <a:pPr lvl="1"/>
            <a:r>
              <a:rPr lang="en-US" dirty="0"/>
              <a:t>Spatial </a:t>
            </a:r>
            <a:r>
              <a:rPr lang="en-US" b="1" dirty="0"/>
              <a:t>interpolation</a:t>
            </a:r>
            <a:br>
              <a:rPr lang="en-US" dirty="0"/>
            </a:br>
            <a:r>
              <a:rPr lang="en-US" sz="1600" dirty="0">
                <a:hlinkClick r:id="rId5"/>
              </a:rPr>
              <a:t>https://r-spatial.org/book/12-Interpolation.html</a:t>
            </a:r>
            <a:endParaRPr lang="en-US" dirty="0"/>
          </a:p>
        </p:txBody>
      </p:sp>
      <p:sp>
        <p:nvSpPr>
          <p:cNvPr id="4" name="Slide Number Placeholder 3">
            <a:extLst>
              <a:ext uri="{FF2B5EF4-FFF2-40B4-BE49-F238E27FC236}">
                <a16:creationId xmlns:a16="http://schemas.microsoft.com/office/drawing/2014/main" id="{B982C76C-A760-A154-6CE6-5A0BE42A67AC}"/>
              </a:ext>
            </a:extLst>
          </p:cNvPr>
          <p:cNvSpPr>
            <a:spLocks noGrp="1"/>
          </p:cNvSpPr>
          <p:nvPr>
            <p:ph type="sldNum" sz="quarter" idx="12"/>
          </p:nvPr>
        </p:nvSpPr>
        <p:spPr/>
        <p:txBody>
          <a:bodyPr/>
          <a:lstStyle/>
          <a:p>
            <a:fld id="{C0343C75-1924-D247-85A3-0CB62E67E5D1}" type="slidenum">
              <a:rPr lang="en-US" smtClean="0"/>
              <a:t>41</a:t>
            </a:fld>
            <a:endParaRPr lang="en-US"/>
          </a:p>
        </p:txBody>
      </p:sp>
    </p:spTree>
    <p:extLst>
      <p:ext uri="{BB962C8B-B14F-4D97-AF65-F5344CB8AC3E}">
        <p14:creationId xmlns:p14="http://schemas.microsoft.com/office/powerpoint/2010/main" val="20760177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85CDE-94F4-AFE4-7648-0210E84486FC}"/>
              </a:ext>
            </a:extLst>
          </p:cNvPr>
          <p:cNvSpPr>
            <a:spLocks noGrp="1"/>
          </p:cNvSpPr>
          <p:nvPr>
            <p:ph type="title"/>
          </p:nvPr>
        </p:nvSpPr>
        <p:spPr/>
        <p:txBody>
          <a:bodyPr/>
          <a:lstStyle/>
          <a:p>
            <a:r>
              <a:rPr lang="en-US" dirty="0"/>
              <a:t>Notes</a:t>
            </a:r>
          </a:p>
        </p:txBody>
      </p:sp>
      <p:sp>
        <p:nvSpPr>
          <p:cNvPr id="3" name="Content Placeholder 2">
            <a:extLst>
              <a:ext uri="{FF2B5EF4-FFF2-40B4-BE49-F238E27FC236}">
                <a16:creationId xmlns:a16="http://schemas.microsoft.com/office/drawing/2014/main" id="{1165D726-EDD9-33D1-4A57-C5230D0B7DF1}"/>
              </a:ext>
            </a:extLst>
          </p:cNvPr>
          <p:cNvSpPr>
            <a:spLocks noGrp="1"/>
          </p:cNvSpPr>
          <p:nvPr>
            <p:ph idx="1"/>
          </p:nvPr>
        </p:nvSpPr>
        <p:spPr/>
        <p:txBody>
          <a:bodyPr>
            <a:normAutofit/>
          </a:bodyPr>
          <a:lstStyle/>
          <a:p>
            <a:r>
              <a:rPr lang="en-US" sz="1800" dirty="0"/>
              <a:t>Meet a new format: </a:t>
            </a:r>
            <a:r>
              <a:rPr lang="en-US" sz="1800" dirty="0" err="1"/>
              <a:t>geoJSON</a:t>
            </a:r>
            <a:endParaRPr lang="en-US" sz="1800" dirty="0"/>
          </a:p>
          <a:p>
            <a:pPr lvl="1"/>
            <a:r>
              <a:rPr lang="en-US" sz="1800" dirty="0" err="1"/>
              <a:t>GeoJSON</a:t>
            </a:r>
            <a:r>
              <a:rPr lang="en-US" sz="1800" dirty="0"/>
              <a:t> is an open standard format designed for representing simple geographical features, along with their non-spatial attributes.</a:t>
            </a:r>
          </a:p>
          <a:p>
            <a:pPr lvl="1"/>
            <a:r>
              <a:rPr lang="en-US" sz="1800" dirty="0"/>
              <a:t>It is based on JSON, the JavaScript Object Notation.</a:t>
            </a:r>
          </a:p>
          <a:p>
            <a:pPr lvl="1"/>
            <a:r>
              <a:rPr lang="en-US" sz="1800" dirty="0"/>
              <a:t>It is a format for encoding a variety of geographic data structures and is the most common format for geographical representation in the web. </a:t>
            </a:r>
          </a:p>
          <a:p>
            <a:pPr lvl="1"/>
            <a:r>
              <a:rPr lang="en-US" sz="1800" dirty="0"/>
              <a:t>Unlike ESRI shapefiles, with </a:t>
            </a:r>
            <a:r>
              <a:rPr lang="en-US" sz="1800" dirty="0" err="1"/>
              <a:t>GeoJSON</a:t>
            </a:r>
            <a:r>
              <a:rPr lang="en-US" sz="1800" dirty="0"/>
              <a:t> data everything is stored in a single file.</a:t>
            </a:r>
          </a:p>
        </p:txBody>
      </p:sp>
      <p:sp>
        <p:nvSpPr>
          <p:cNvPr id="4" name="Slide Number Placeholder 3">
            <a:extLst>
              <a:ext uri="{FF2B5EF4-FFF2-40B4-BE49-F238E27FC236}">
                <a16:creationId xmlns:a16="http://schemas.microsoft.com/office/drawing/2014/main" id="{162F6CA0-AA6C-337F-C975-459118412735}"/>
              </a:ext>
            </a:extLst>
          </p:cNvPr>
          <p:cNvSpPr>
            <a:spLocks noGrp="1"/>
          </p:cNvSpPr>
          <p:nvPr>
            <p:ph type="sldNum" sz="quarter" idx="12"/>
          </p:nvPr>
        </p:nvSpPr>
        <p:spPr/>
        <p:txBody>
          <a:bodyPr/>
          <a:lstStyle/>
          <a:p>
            <a:fld id="{C0343C75-1924-D247-85A3-0CB62E67E5D1}" type="slidenum">
              <a:rPr lang="en-US" smtClean="0"/>
              <a:t>42</a:t>
            </a:fld>
            <a:endParaRPr lang="en-US"/>
          </a:p>
        </p:txBody>
      </p:sp>
    </p:spTree>
    <p:extLst>
      <p:ext uri="{BB962C8B-B14F-4D97-AF65-F5344CB8AC3E}">
        <p14:creationId xmlns:p14="http://schemas.microsoft.com/office/powerpoint/2010/main" val="153227442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1547</TotalTime>
  <Words>4960</Words>
  <Application>Microsoft Macintosh PowerPoint</Application>
  <PresentationFormat>On-screen Show (4:3)</PresentationFormat>
  <Paragraphs>485</Paragraphs>
  <Slides>42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Aptos</vt:lpstr>
      <vt:lpstr>Aptos Display</vt:lpstr>
      <vt:lpstr>Arial</vt:lpstr>
      <vt:lpstr>Consolas</vt:lpstr>
      <vt:lpstr>Google Sans Text</vt:lpstr>
      <vt:lpstr>Office Theme</vt:lpstr>
      <vt:lpstr>Making Maps and Cartographic Design</vt:lpstr>
      <vt:lpstr>Project Proposal Updates</vt:lpstr>
      <vt:lpstr>Introduction</vt:lpstr>
      <vt:lpstr>PowerPoint Presentation</vt:lpstr>
      <vt:lpstr>PowerPoint Presentation</vt:lpstr>
      <vt:lpstr>Static maps</vt:lpstr>
      <vt:lpstr>Map showing the elements that can be part of a map layout</vt:lpstr>
      <vt:lpstr>PowerPoint Presentation</vt:lpstr>
      <vt:lpstr>PowerPoint Presentation</vt:lpstr>
      <vt:lpstr>A General Reference Map</vt:lpstr>
      <vt:lpstr>Basic Steps to Create a Basemap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Data Representation Thematic Maps</vt:lpstr>
      <vt:lpstr>Data Representation Thematic Maps</vt:lpstr>
      <vt:lpstr>tmap basics</vt:lpstr>
      <vt:lpstr>Data Representation Rate vs Count</vt:lpstr>
      <vt:lpstr>PowerPoint Presentation</vt:lpstr>
      <vt:lpstr>PowerPoint Presentation</vt:lpstr>
      <vt:lpstr>PowerPoint Presentation</vt:lpstr>
      <vt:lpstr>PowerPoint Presentation</vt:lpstr>
      <vt:lpstr>Data Representation Color</vt:lpstr>
      <vt:lpstr>Legend</vt:lpstr>
      <vt:lpstr>Context Inset Maps</vt:lpstr>
      <vt:lpstr>Faceted Maps</vt:lpstr>
      <vt:lpstr>Animated maps</vt:lpstr>
      <vt:lpstr>PowerPoint Presentation</vt:lpstr>
      <vt:lpstr>Interactive maps</vt:lpstr>
      <vt:lpstr>PowerPoint Presentation</vt:lpstr>
      <vt:lpstr>Mapping applications</vt:lpstr>
      <vt:lpstr>PowerPoint Presentation</vt:lpstr>
      <vt:lpstr>PowerPoint Presentation</vt:lpstr>
      <vt:lpstr>More References</vt:lpstr>
      <vt:lpstr>Next</vt:lpstr>
      <vt:lpstr>Notes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137</cp:revision>
  <dcterms:created xsi:type="dcterms:W3CDTF">2026-03-25T20:47:13Z</dcterms:created>
  <dcterms:modified xsi:type="dcterms:W3CDTF">2026-04-02T15:50:34Z</dcterms:modified>
  <cp:category/>
</cp:coreProperties>
</file>