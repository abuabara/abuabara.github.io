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0"/>
  </p:notesMasterIdLst>
  <p:sldIdLst>
    <p:sldId id="256" r:id="rId2"/>
    <p:sldId id="293" r:id="rId3"/>
    <p:sldId id="317" r:id="rId4"/>
    <p:sldId id="318" r:id="rId5"/>
    <p:sldId id="308" r:id="rId6"/>
    <p:sldId id="331" r:id="rId7"/>
    <p:sldId id="330" r:id="rId8"/>
    <p:sldId id="319" r:id="rId9"/>
    <p:sldId id="332" r:id="rId10"/>
    <p:sldId id="320" r:id="rId11"/>
    <p:sldId id="321" r:id="rId12"/>
    <p:sldId id="322" r:id="rId13"/>
    <p:sldId id="323" r:id="rId14"/>
    <p:sldId id="324" r:id="rId15"/>
    <p:sldId id="325" r:id="rId16"/>
    <p:sldId id="326" r:id="rId17"/>
    <p:sldId id="327" r:id="rId18"/>
    <p:sldId id="328" r:id="rId19"/>
    <p:sldId id="329" r:id="rId20"/>
    <p:sldId id="309" r:id="rId21"/>
    <p:sldId id="310" r:id="rId22"/>
    <p:sldId id="311" r:id="rId23"/>
    <p:sldId id="312" r:id="rId24"/>
    <p:sldId id="313" r:id="rId25"/>
    <p:sldId id="315" r:id="rId26"/>
    <p:sldId id="314" r:id="rId27"/>
    <p:sldId id="305" r:id="rId28"/>
    <p:sldId id="333"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A1FBEB-8E98-2648-AACA-444C6CF94B58}">
          <p14:sldIdLst>
            <p14:sldId id="256"/>
            <p14:sldId id="293"/>
          </p14:sldIdLst>
        </p14:section>
        <p14:section name="Intro" id="{AAAF4145-0111-8840-BC27-A001451B4C1C}">
          <p14:sldIdLst>
            <p14:sldId id="317"/>
            <p14:sldId id="318"/>
          </p14:sldIdLst>
        </p14:section>
        <p14:section name="Static" id="{726521BA-6FDD-E141-85CC-06ADFED5112F}">
          <p14:sldIdLst>
            <p14:sldId id="308"/>
            <p14:sldId id="331"/>
            <p14:sldId id="330"/>
            <p14:sldId id="319"/>
            <p14:sldId id="332"/>
            <p14:sldId id="320"/>
            <p14:sldId id="321"/>
            <p14:sldId id="322"/>
            <p14:sldId id="323"/>
            <p14:sldId id="324"/>
            <p14:sldId id="325"/>
            <p14:sldId id="326"/>
            <p14:sldId id="327"/>
            <p14:sldId id="328"/>
            <p14:sldId id="329"/>
            <p14:sldId id="309"/>
          </p14:sldIdLst>
        </p14:section>
        <p14:section name="Animated" id="{53927C2D-7BF2-7C4A-8F49-AF0199F08B9A}">
          <p14:sldIdLst>
            <p14:sldId id="310"/>
            <p14:sldId id="311"/>
          </p14:sldIdLst>
        </p14:section>
        <p14:section name="Interactive" id="{3B4263D5-AE2C-504D-A27F-EEEB4EBC5B3D}">
          <p14:sldIdLst>
            <p14:sldId id="312"/>
            <p14:sldId id="313"/>
          </p14:sldIdLst>
        </p14:section>
        <p14:section name="Applications" id="{8107A08D-8E25-5A4B-B6E5-4FDF6CDDA291}">
          <p14:sldIdLst>
            <p14:sldId id="315"/>
            <p14:sldId id="314"/>
          </p14:sldIdLst>
        </p14:section>
        <p14:section name="References" id="{80CE1547-8FED-EB40-BEB2-D4CEAADA67FE}">
          <p14:sldIdLst>
            <p14:sldId id="305"/>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p:restoredTop sz="95545"/>
  </p:normalViewPr>
  <p:slideViewPr>
    <p:cSldViewPr snapToGrid="0">
      <p:cViewPr varScale="1">
        <p:scale>
          <a:sx n="131" d="100"/>
          <a:sy n="131" d="100"/>
        </p:scale>
        <p:origin x="184" y="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FB6DC-B598-8B49-8FDB-37BE75E655AD}" type="datetimeFigureOut">
              <a:rPr lang="en-US" smtClean="0"/>
              <a:t>4/1/26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215A32-F46A-7344-9EED-8329BFD45968}" type="slidenum">
              <a:rPr lang="en-US" smtClean="0"/>
              <a:t>‹#›</a:t>
            </a:fld>
            <a:endParaRPr lang="en-US"/>
          </a:p>
        </p:txBody>
      </p:sp>
    </p:spTree>
    <p:extLst>
      <p:ext uri="{BB962C8B-B14F-4D97-AF65-F5344CB8AC3E}">
        <p14:creationId xmlns:p14="http://schemas.microsoft.com/office/powerpoint/2010/main" val="1041731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EA6D9-2D7F-9442-BED1-4D7FFC9A34F4}" type="datetime1">
              <a:rPr lang="en-US" smtClean="0"/>
              <a:t>4/1/26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AE58ED-569E-7141-BEA4-8F66F85D6EA8}" type="datetime1">
              <a:rPr lang="en-US" smtClean="0"/>
              <a:t>4/1/26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32CD10-D7BB-1A41-A802-BCEB6EE7274C}" type="datetime1">
              <a:rPr lang="en-US" smtClean="0"/>
              <a:t>4/1/26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a:solidFill>
            <a:srgbClr val="002060"/>
          </a:solidFill>
        </p:spPr>
        <p:txBody>
          <a:bodyPr/>
          <a:lstStyle>
            <a:lvl1pPr>
              <a:buNone/>
              <a:defRPr sz="1600" b="1">
                <a:solidFill>
                  <a:schemeClr val="bg1"/>
                </a:solidFill>
                <a:latin typeface="Consolas" panose="020B0609020204030204" pitchFamily="49" charset="0"/>
                <a:cs typeface="Consolas" panose="020B0609020204030204" pitchFamily="49" charset="0"/>
              </a:defRPr>
            </a:lvl1pPr>
            <a:lvl2pPr>
              <a:buNone/>
              <a:defRPr sz="1600" b="1">
                <a:latin typeface="Consolas" panose="020B0609020204030204" pitchFamily="49" charset="0"/>
                <a:cs typeface="Consolas" panose="020B0609020204030204" pitchFamily="49" charset="0"/>
              </a:defRPr>
            </a:lvl2pPr>
            <a:lvl3pPr>
              <a:defRPr sz="1600" b="1">
                <a:latin typeface="Consolas" panose="020B0609020204030204" pitchFamily="49" charset="0"/>
                <a:cs typeface="Consolas" panose="020B0609020204030204" pitchFamily="49" charset="0"/>
              </a:defRPr>
            </a:lvl3pPr>
            <a:lvl4pPr>
              <a:defRPr sz="1600" b="1">
                <a:latin typeface="Consolas" panose="020B0609020204030204" pitchFamily="49" charset="0"/>
                <a:cs typeface="Consolas" panose="020B0609020204030204" pitchFamily="49" charset="0"/>
              </a:defRPr>
            </a:lvl4pPr>
            <a:lvl5pPr>
              <a:defRPr sz="1600" b="1">
                <a:latin typeface="Consolas" panose="020B0609020204030204" pitchFamily="49" charset="0"/>
                <a:cs typeface="Consolas" panose="020B0609020204030204" pitchFamily="49" charset="0"/>
              </a:defRPr>
            </a:lvl5pPr>
          </a:lstStyle>
          <a:p>
            <a:pPr lvl="0"/>
            <a:r>
              <a:rPr lang="en-US"/>
              <a:t>Click to edit Master text styles</a:t>
            </a:r>
          </a:p>
        </p:txBody>
      </p:sp>
      <p:sp>
        <p:nvSpPr>
          <p:cNvPr id="5" name="Date Placeholder 4"/>
          <p:cNvSpPr>
            <a:spLocks noGrp="1"/>
          </p:cNvSpPr>
          <p:nvPr>
            <p:ph type="dt" sz="half" idx="10"/>
          </p:nvPr>
        </p:nvSpPr>
        <p:spPr/>
        <p:txBody>
          <a:bodyPr/>
          <a:lstStyle/>
          <a:p>
            <a:fld id="{37563A2C-1A5C-EB4D-A972-6AE3285E62FE}" type="datetime1">
              <a:rPr lang="en-US" smtClean="0"/>
              <a:t>4/1/26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96932"/>
            <a:ext cx="4040982" cy="3792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396932"/>
            <a:ext cx="4057650" cy="3792731"/>
          </a:xfrm>
          <a:solidFill>
            <a:srgbClr val="002060"/>
          </a:solidFill>
        </p:spPr>
        <p:txBody>
          <a:bodyPr/>
          <a:lstStyle>
            <a:lvl1pPr>
              <a:buNone/>
              <a:defRPr sz="1600">
                <a:solidFill>
                  <a:schemeClr val="bg1"/>
                </a:solidFill>
                <a:latin typeface="Consolas" panose="020B0609020204030204" pitchFamily="49" charset="0"/>
                <a:cs typeface="Consolas" panose="020B0609020204030204" pitchFamily="49" charset="0"/>
              </a:defRPr>
            </a:lvl1pPr>
            <a:lvl2pPr>
              <a:defRPr sz="1800">
                <a:solidFill>
                  <a:schemeClr val="bg1"/>
                </a:solidFill>
                <a:latin typeface="Consolas" panose="020B0609020204030204" pitchFamily="49" charset="0"/>
                <a:cs typeface="Consolas" panose="020B0609020204030204" pitchFamily="49" charset="0"/>
              </a:defRPr>
            </a:lvl2pPr>
            <a:lvl3pPr>
              <a:defRPr sz="1800">
                <a:solidFill>
                  <a:schemeClr val="bg1"/>
                </a:solidFill>
                <a:latin typeface="Consolas" panose="020B0609020204030204" pitchFamily="49" charset="0"/>
                <a:cs typeface="Consolas" panose="020B0609020204030204" pitchFamily="49" charset="0"/>
              </a:defRPr>
            </a:lvl3pPr>
            <a:lvl4pPr>
              <a:defRPr sz="1800">
                <a:solidFill>
                  <a:schemeClr val="bg1"/>
                </a:solidFill>
                <a:latin typeface="Consolas" panose="020B0609020204030204" pitchFamily="49" charset="0"/>
                <a:cs typeface="Consolas" panose="020B0609020204030204" pitchFamily="49" charset="0"/>
              </a:defRPr>
            </a:lvl4pPr>
            <a:lvl5pPr>
              <a:defRPr sz="1800">
                <a:solidFill>
                  <a:schemeClr val="bg1"/>
                </a:solidFill>
                <a:latin typeface="Consolas" panose="020B0609020204030204" pitchFamily="49" charset="0"/>
                <a:cs typeface="Consolas" panose="020B0609020204030204" pitchFamily="49" charset="0"/>
              </a:defRPr>
            </a:lvl5pPr>
          </a:lstStyle>
          <a:p>
            <a:pPr lvl="0"/>
            <a:r>
              <a:rPr lang="en-US"/>
              <a:t>Click to edit Master text styles</a:t>
            </a:r>
          </a:p>
        </p:txBody>
      </p:sp>
      <p:sp>
        <p:nvSpPr>
          <p:cNvPr id="7" name="Date Placeholder 6"/>
          <p:cNvSpPr>
            <a:spLocks noGrp="1"/>
          </p:cNvSpPr>
          <p:nvPr>
            <p:ph type="dt" sz="half" idx="10"/>
          </p:nvPr>
        </p:nvSpPr>
        <p:spPr/>
        <p:txBody>
          <a:bodyPr/>
          <a:lstStyle/>
          <a:p>
            <a:fld id="{5CC0F2D4-C57D-2449-85CE-67A0F42FDA3B}" type="datetime1">
              <a:rPr lang="en-US" smtClean="0"/>
              <a:t>4/1/26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165B4F-A2D4-8548-B798-9B676580887F}" type="datetime1">
              <a:rPr lang="en-US" smtClean="0"/>
              <a:t>4/1/26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23453A-5CCA-2B47-B840-00C815B24B38}" type="datetime1">
              <a:rPr lang="en-US" smtClean="0"/>
              <a:t>4/1/26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088FA9-E09B-F247-9C69-3141F5729F41}" type="datetime1">
              <a:rPr lang="en-US" smtClean="0"/>
              <a:t>4/1/26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spreadsheets/d/1RqVF_3GTnQsld3ikscjSPqKV1eLFaDH0qI4oAXluFZs/edit?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maczokni.github.io/crime_mapping/basics-of-cartographic-design-elements-of-a-map.html" TargetMode="External"/><Relationship Id="rId2" Type="http://schemas.openxmlformats.org/officeDocument/2006/relationships/hyperlink" Target="https://colorado.pressbooks.pub/makingmaps/chapter/cartographic-design-proces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r-spatial.org/book/15-Measures.html" TargetMode="External"/><Relationship Id="rId2" Type="http://schemas.openxmlformats.org/officeDocument/2006/relationships/hyperlink" Target="https://cran.r-project.org/web/packages/geostan/vignettes/measuring-sa.html" TargetMode="External"/><Relationship Id="rId1" Type="http://schemas.openxmlformats.org/officeDocument/2006/relationships/slideLayout" Target="../slideLayouts/slideLayout2.xml"/><Relationship Id="rId5" Type="http://schemas.openxmlformats.org/officeDocument/2006/relationships/hyperlink" Target="https://r-spatial.org/book/12-Interpolation.html" TargetMode="External"/><Relationship Id="rId4" Type="http://schemas.openxmlformats.org/officeDocument/2006/relationships/hyperlink" Target="https://r-spatial.org/book/11-PointPatter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Making Maps</a:t>
            </a:r>
            <a:br>
              <a:rPr lang="en-US" dirty="0"/>
            </a:br>
            <a:r>
              <a:rPr lang="en-US" dirty="0"/>
              <a:t>and Cartographic Design</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lstStyle/>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C4A8EBE0-BF84-E506-2E75-D9731D5BB86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D78D7-14D6-AD3F-99CA-EA474511F219}"/>
              </a:ext>
            </a:extLst>
          </p:cNvPr>
          <p:cNvSpPr>
            <a:spLocks noGrp="1"/>
          </p:cNvSpPr>
          <p:nvPr>
            <p:ph type="title"/>
          </p:nvPr>
        </p:nvSpPr>
        <p:spPr/>
        <p:txBody>
          <a:bodyPr anchor="ctr"/>
          <a:lstStyle/>
          <a:p>
            <a:r>
              <a:rPr lang="en-US" dirty="0"/>
              <a:t>Project Proposal </a:t>
            </a:r>
            <a:r>
              <a:rPr lang="en-US" i="1" dirty="0"/>
              <a:t>Updates</a:t>
            </a:r>
          </a:p>
        </p:txBody>
      </p:sp>
      <p:sp>
        <p:nvSpPr>
          <p:cNvPr id="3" name="Content Placeholder 2">
            <a:extLst>
              <a:ext uri="{FF2B5EF4-FFF2-40B4-BE49-F238E27FC236}">
                <a16:creationId xmlns:a16="http://schemas.microsoft.com/office/drawing/2014/main" id="{FAC76504-BF4C-DF04-8302-F9D0D78686C7}"/>
              </a:ext>
            </a:extLst>
          </p:cNvPr>
          <p:cNvSpPr>
            <a:spLocks noGrp="1"/>
          </p:cNvSpPr>
          <p:nvPr>
            <p:ph idx="1"/>
          </p:nvPr>
        </p:nvSpPr>
        <p:spPr>
          <a:xfrm>
            <a:off x="457199" y="1146516"/>
            <a:ext cx="8229599" cy="5209835"/>
          </a:xfrm>
        </p:spPr>
        <p:txBody>
          <a:bodyPr>
            <a:normAutofit/>
          </a:bodyPr>
          <a:lstStyle/>
          <a:p>
            <a:r>
              <a:rPr lang="en-US" dirty="0"/>
              <a:t>Spreadsheet to help organize the groups</a:t>
            </a:r>
          </a:p>
          <a:p>
            <a:pPr marL="0" indent="0">
              <a:buNone/>
            </a:pPr>
            <a:r>
              <a:rPr lang="en-US" sz="1200" dirty="0">
                <a:hlinkClick r:id="rId2"/>
              </a:rPr>
              <a:t>https://docs.google.com/spreadsheets/d/1RqVF_3GTnQsld3ikscjSPqKV1eLFaDH0qI4oAXluFZs/edit?usp=sharing</a:t>
            </a:r>
            <a:endParaRPr lang="en-US" sz="1200" dirty="0"/>
          </a:p>
          <a:p>
            <a:r>
              <a:rPr lang="en-US" dirty="0"/>
              <a:t>One idea for a project:</a:t>
            </a:r>
          </a:p>
          <a:p>
            <a:pPr lvl="1"/>
            <a:r>
              <a:rPr lang="en-US" dirty="0"/>
              <a:t>Determine in multiple years if there is a statistically significant difference (</a:t>
            </a:r>
            <a:r>
              <a:rPr lang="en-US" i="1" dirty="0"/>
              <a:t>paired sample t-test</a:t>
            </a:r>
            <a:r>
              <a:rPr lang="en-US" dirty="0"/>
              <a:t>) between the aggregated </a:t>
            </a:r>
            <a:r>
              <a:rPr lang="en-US" dirty="0" err="1"/>
              <a:t>LandScan</a:t>
            </a:r>
            <a:r>
              <a:rPr lang="en-US" dirty="0"/>
              <a:t> population estimates and the Census residential population (where people live) at multiple census geometric boundary levels (tract, county, zip-code</a:t>
            </a:r>
            <a:r>
              <a:rPr lang="en-US"/>
              <a:t>, etc.)</a:t>
            </a:r>
            <a:endParaRPr lang="en-US" dirty="0"/>
          </a:p>
        </p:txBody>
      </p:sp>
      <p:sp>
        <p:nvSpPr>
          <p:cNvPr id="4" name="Slide Number Placeholder 3">
            <a:extLst>
              <a:ext uri="{FF2B5EF4-FFF2-40B4-BE49-F238E27FC236}">
                <a16:creationId xmlns:a16="http://schemas.microsoft.com/office/drawing/2014/main" id="{DC22AB96-D365-6614-A563-B0F41B0ACC9A}"/>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3122879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D4F4-56EF-F0A2-DABF-D2E0DDA1155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4F257A74-6E54-A3C6-164F-19148FEF3388}"/>
              </a:ext>
            </a:extLst>
          </p:cNvPr>
          <p:cNvSpPr>
            <a:spLocks noGrp="1"/>
          </p:cNvSpPr>
          <p:nvPr>
            <p:ph idx="1"/>
          </p:nvPr>
        </p:nvSpPr>
        <p:spPr/>
        <p:txBody>
          <a:bodyPr>
            <a:normAutofit/>
          </a:bodyPr>
          <a:lstStyle/>
          <a:p>
            <a:r>
              <a:rPr lang="en-US" sz="2000" dirty="0"/>
              <a:t>Cartography is the intersection of </a:t>
            </a:r>
            <a:r>
              <a:rPr lang="en-US" sz="2000" b="1" dirty="0"/>
              <a:t>art</a:t>
            </a:r>
            <a:r>
              <a:rPr lang="en-US" sz="2000" dirty="0"/>
              <a:t>, </a:t>
            </a:r>
            <a:r>
              <a:rPr lang="en-US" sz="2000" b="1" dirty="0"/>
              <a:t>science</a:t>
            </a:r>
            <a:r>
              <a:rPr lang="en-US" sz="2000" dirty="0"/>
              <a:t>, and </a:t>
            </a:r>
            <a:r>
              <a:rPr lang="en-US" sz="2000" b="1" dirty="0"/>
              <a:t>technology</a:t>
            </a:r>
          </a:p>
          <a:p>
            <a:r>
              <a:rPr lang="en-US" sz="2000" b="1" dirty="0"/>
              <a:t>Goal</a:t>
            </a:r>
            <a:r>
              <a:rPr lang="en-US" sz="2000" dirty="0"/>
              <a:t>: To communicate complex spatial information clearly and accurately to a specific audience.</a:t>
            </a:r>
          </a:p>
          <a:p>
            <a:r>
              <a:rPr lang="en-US" sz="2000" b="1" dirty="0"/>
              <a:t>Key</a:t>
            </a:r>
            <a:r>
              <a:rPr lang="en-US" sz="2000" dirty="0"/>
              <a:t>: What is the story you want your map to tell?</a:t>
            </a:r>
          </a:p>
          <a:p>
            <a:pPr lvl="1"/>
            <a:r>
              <a:rPr lang="en-US" sz="2000" dirty="0"/>
              <a:t>Design is not just "making it pretty" but about functional clarity.</a:t>
            </a:r>
          </a:p>
          <a:p>
            <a:pPr lvl="2"/>
            <a:r>
              <a:rPr lang="en-US" dirty="0"/>
              <a:t>Poorly designed maps can leave a bad impression.</a:t>
            </a:r>
          </a:p>
          <a:p>
            <a:pPr lvl="1"/>
            <a:r>
              <a:rPr lang="en-US" dirty="0"/>
              <a:t>Common design issues include:</a:t>
            </a:r>
          </a:p>
          <a:p>
            <a:pPr lvl="2"/>
            <a:r>
              <a:rPr lang="en-US" dirty="0"/>
              <a:t>Poor placement, size and readability of text,</a:t>
            </a:r>
          </a:p>
          <a:p>
            <a:pPr lvl="2"/>
            <a:r>
              <a:rPr lang="en-US" dirty="0"/>
              <a:t>Careless selection of colors.</a:t>
            </a:r>
          </a:p>
        </p:txBody>
      </p:sp>
      <p:sp>
        <p:nvSpPr>
          <p:cNvPr id="4" name="Slide Number Placeholder 3">
            <a:extLst>
              <a:ext uri="{FF2B5EF4-FFF2-40B4-BE49-F238E27FC236}">
                <a16:creationId xmlns:a16="http://schemas.microsoft.com/office/drawing/2014/main" id="{9E65888D-A593-654D-089C-4B3A6249D528}"/>
              </a:ext>
            </a:extLst>
          </p:cNvPr>
          <p:cNvSpPr>
            <a:spLocks noGrp="1"/>
          </p:cNvSpPr>
          <p:nvPr>
            <p:ph type="sldNum" sz="quarter" idx="12"/>
          </p:nvPr>
        </p:nvSpPr>
        <p:spPr/>
        <p:txBody>
          <a:bodyPr/>
          <a:lstStyle/>
          <a:p>
            <a:fld id="{C0343C75-1924-D247-85A3-0CB62E67E5D1}" type="slidenum">
              <a:rPr lang="en-US" smtClean="0"/>
              <a:t>3</a:t>
            </a:fld>
            <a:endParaRPr lang="en-US"/>
          </a:p>
        </p:txBody>
      </p:sp>
    </p:spTree>
    <p:extLst>
      <p:ext uri="{BB962C8B-B14F-4D97-AF65-F5344CB8AC3E}">
        <p14:creationId xmlns:p14="http://schemas.microsoft.com/office/powerpoint/2010/main" val="2041093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0F6E13C-D359-2B6F-AF3F-016B2747B6CE}"/>
              </a:ext>
            </a:extLst>
          </p:cNvPr>
          <p:cNvPicPr>
            <a:picLocks noChangeAspect="1"/>
          </p:cNvPicPr>
          <p:nvPr/>
        </p:nvPicPr>
        <p:blipFill>
          <a:blip r:embed="rId2"/>
          <a:stretch>
            <a:fillRect/>
          </a:stretch>
        </p:blipFill>
        <p:spPr>
          <a:xfrm>
            <a:off x="5248030" y="4674421"/>
            <a:ext cx="3881917" cy="2183579"/>
          </a:xfrm>
          <a:prstGeom prst="rect">
            <a:avLst/>
          </a:prstGeom>
        </p:spPr>
      </p:pic>
      <p:pic>
        <p:nvPicPr>
          <p:cNvPr id="12" name="Picture 11">
            <a:extLst>
              <a:ext uri="{FF2B5EF4-FFF2-40B4-BE49-F238E27FC236}">
                <a16:creationId xmlns:a16="http://schemas.microsoft.com/office/drawing/2014/main" id="{9927796D-1377-DF07-109F-B49558B94C3E}"/>
              </a:ext>
            </a:extLst>
          </p:cNvPr>
          <p:cNvPicPr>
            <a:picLocks noChangeAspect="1"/>
          </p:cNvPicPr>
          <p:nvPr/>
        </p:nvPicPr>
        <p:blipFill>
          <a:blip r:embed="rId3"/>
          <a:stretch>
            <a:fillRect/>
          </a:stretch>
        </p:blipFill>
        <p:spPr>
          <a:xfrm>
            <a:off x="2708613" y="4288607"/>
            <a:ext cx="2539418" cy="2569394"/>
          </a:xfrm>
          <a:prstGeom prst="rect">
            <a:avLst/>
          </a:prstGeom>
        </p:spPr>
      </p:pic>
      <p:sp>
        <p:nvSpPr>
          <p:cNvPr id="4" name="Slide Number Placeholder 3">
            <a:extLst>
              <a:ext uri="{FF2B5EF4-FFF2-40B4-BE49-F238E27FC236}">
                <a16:creationId xmlns:a16="http://schemas.microsoft.com/office/drawing/2014/main" id="{A67D9509-8192-D260-FED7-CF105870D3C3}"/>
              </a:ext>
            </a:extLst>
          </p:cNvPr>
          <p:cNvSpPr>
            <a:spLocks noGrp="1"/>
          </p:cNvSpPr>
          <p:nvPr>
            <p:ph type="sldNum" sz="quarter" idx="12"/>
          </p:nvPr>
        </p:nvSpPr>
        <p:spPr/>
        <p:txBody>
          <a:bodyPr/>
          <a:lstStyle/>
          <a:p>
            <a:fld id="{C0343C75-1924-D247-85A3-0CB62E67E5D1}" type="slidenum">
              <a:rPr lang="en-US" smtClean="0"/>
              <a:t>4</a:t>
            </a:fld>
            <a:endParaRPr lang="en-US"/>
          </a:p>
        </p:txBody>
      </p:sp>
      <p:pic>
        <p:nvPicPr>
          <p:cNvPr id="5" name="Picture 4">
            <a:extLst>
              <a:ext uri="{FF2B5EF4-FFF2-40B4-BE49-F238E27FC236}">
                <a16:creationId xmlns:a16="http://schemas.microsoft.com/office/drawing/2014/main" id="{685D303C-5D4F-83A1-5DAE-5CE9C10E2604}"/>
              </a:ext>
            </a:extLst>
          </p:cNvPr>
          <p:cNvPicPr>
            <a:picLocks noChangeAspect="1"/>
          </p:cNvPicPr>
          <p:nvPr/>
        </p:nvPicPr>
        <p:blipFill>
          <a:blip r:embed="rId4"/>
          <a:stretch>
            <a:fillRect/>
          </a:stretch>
        </p:blipFill>
        <p:spPr>
          <a:xfrm>
            <a:off x="0" y="0"/>
            <a:ext cx="3628417" cy="3117997"/>
          </a:xfrm>
          <a:prstGeom prst="rect">
            <a:avLst/>
          </a:prstGeom>
        </p:spPr>
      </p:pic>
      <p:pic>
        <p:nvPicPr>
          <p:cNvPr id="6" name="Picture 5">
            <a:extLst>
              <a:ext uri="{FF2B5EF4-FFF2-40B4-BE49-F238E27FC236}">
                <a16:creationId xmlns:a16="http://schemas.microsoft.com/office/drawing/2014/main" id="{5E555AC7-B4D3-567F-F7A0-044CA774970D}"/>
              </a:ext>
            </a:extLst>
          </p:cNvPr>
          <p:cNvPicPr>
            <a:picLocks noChangeAspect="1"/>
          </p:cNvPicPr>
          <p:nvPr/>
        </p:nvPicPr>
        <p:blipFill>
          <a:blip r:embed="rId5"/>
          <a:stretch>
            <a:fillRect/>
          </a:stretch>
        </p:blipFill>
        <p:spPr>
          <a:xfrm>
            <a:off x="4301493" y="0"/>
            <a:ext cx="4842507" cy="3061524"/>
          </a:xfrm>
          <a:prstGeom prst="rect">
            <a:avLst/>
          </a:prstGeom>
        </p:spPr>
      </p:pic>
      <p:pic>
        <p:nvPicPr>
          <p:cNvPr id="7" name="Picture 6">
            <a:extLst>
              <a:ext uri="{FF2B5EF4-FFF2-40B4-BE49-F238E27FC236}">
                <a16:creationId xmlns:a16="http://schemas.microsoft.com/office/drawing/2014/main" id="{0F974E36-FD82-2F54-1967-0F47D1980F8F}"/>
              </a:ext>
            </a:extLst>
          </p:cNvPr>
          <p:cNvPicPr>
            <a:picLocks noChangeAspect="1"/>
          </p:cNvPicPr>
          <p:nvPr/>
        </p:nvPicPr>
        <p:blipFill>
          <a:blip r:embed="rId6"/>
          <a:srcRect r="9731"/>
          <a:stretch>
            <a:fillRect/>
          </a:stretch>
        </p:blipFill>
        <p:spPr>
          <a:xfrm>
            <a:off x="3628417" y="0"/>
            <a:ext cx="1980119" cy="2496141"/>
          </a:xfrm>
          <a:prstGeom prst="rect">
            <a:avLst/>
          </a:prstGeom>
        </p:spPr>
      </p:pic>
      <p:pic>
        <p:nvPicPr>
          <p:cNvPr id="10" name="Picture 9">
            <a:extLst>
              <a:ext uri="{FF2B5EF4-FFF2-40B4-BE49-F238E27FC236}">
                <a16:creationId xmlns:a16="http://schemas.microsoft.com/office/drawing/2014/main" id="{7FCA0154-4007-7EA8-928F-C053D6DA4E1E}"/>
              </a:ext>
            </a:extLst>
          </p:cNvPr>
          <p:cNvPicPr>
            <a:picLocks noChangeAspect="1"/>
          </p:cNvPicPr>
          <p:nvPr/>
        </p:nvPicPr>
        <p:blipFill>
          <a:blip r:embed="rId7"/>
          <a:stretch>
            <a:fillRect/>
          </a:stretch>
        </p:blipFill>
        <p:spPr>
          <a:xfrm>
            <a:off x="5248029" y="3067061"/>
            <a:ext cx="2644387" cy="1601823"/>
          </a:xfrm>
          <a:prstGeom prst="rect">
            <a:avLst/>
          </a:prstGeom>
        </p:spPr>
      </p:pic>
      <p:pic>
        <p:nvPicPr>
          <p:cNvPr id="13" name="Picture 12">
            <a:extLst>
              <a:ext uri="{FF2B5EF4-FFF2-40B4-BE49-F238E27FC236}">
                <a16:creationId xmlns:a16="http://schemas.microsoft.com/office/drawing/2014/main" id="{B0130F32-EC49-7C2F-017C-31FCCCD72C05}"/>
              </a:ext>
            </a:extLst>
          </p:cNvPr>
          <p:cNvPicPr>
            <a:picLocks noChangeAspect="1"/>
          </p:cNvPicPr>
          <p:nvPr/>
        </p:nvPicPr>
        <p:blipFill>
          <a:blip r:embed="rId8"/>
          <a:stretch>
            <a:fillRect/>
          </a:stretch>
        </p:blipFill>
        <p:spPr>
          <a:xfrm>
            <a:off x="-1010" y="2531947"/>
            <a:ext cx="2709623" cy="4326053"/>
          </a:xfrm>
          <a:prstGeom prst="rect">
            <a:avLst/>
          </a:prstGeom>
        </p:spPr>
      </p:pic>
      <p:pic>
        <p:nvPicPr>
          <p:cNvPr id="8" name="Picture 7">
            <a:extLst>
              <a:ext uri="{FF2B5EF4-FFF2-40B4-BE49-F238E27FC236}">
                <a16:creationId xmlns:a16="http://schemas.microsoft.com/office/drawing/2014/main" id="{899724AC-CB11-DCC0-0E05-D99F7F344146}"/>
              </a:ext>
            </a:extLst>
          </p:cNvPr>
          <p:cNvPicPr>
            <a:picLocks noChangeAspect="1"/>
          </p:cNvPicPr>
          <p:nvPr/>
        </p:nvPicPr>
        <p:blipFill>
          <a:blip r:embed="rId9"/>
          <a:stretch>
            <a:fillRect/>
          </a:stretch>
        </p:blipFill>
        <p:spPr>
          <a:xfrm>
            <a:off x="2678294" y="1815636"/>
            <a:ext cx="2588943" cy="2352046"/>
          </a:xfrm>
          <a:prstGeom prst="rect">
            <a:avLst/>
          </a:prstGeom>
        </p:spPr>
      </p:pic>
      <p:pic>
        <p:nvPicPr>
          <p:cNvPr id="14" name="Picture 13">
            <a:extLst>
              <a:ext uri="{FF2B5EF4-FFF2-40B4-BE49-F238E27FC236}">
                <a16:creationId xmlns:a16="http://schemas.microsoft.com/office/drawing/2014/main" id="{36AB0821-3792-1055-167A-5B12619FA16B}"/>
              </a:ext>
            </a:extLst>
          </p:cNvPr>
          <p:cNvPicPr>
            <a:picLocks noChangeAspect="1"/>
          </p:cNvPicPr>
          <p:nvPr/>
        </p:nvPicPr>
        <p:blipFill>
          <a:blip r:embed="rId10"/>
          <a:stretch>
            <a:fillRect/>
          </a:stretch>
        </p:blipFill>
        <p:spPr>
          <a:xfrm>
            <a:off x="7873210" y="3443968"/>
            <a:ext cx="1256737" cy="1256737"/>
          </a:xfrm>
          <a:prstGeom prst="rect">
            <a:avLst/>
          </a:prstGeom>
        </p:spPr>
      </p:pic>
    </p:spTree>
    <p:extLst>
      <p:ext uri="{BB962C8B-B14F-4D97-AF65-F5344CB8AC3E}">
        <p14:creationId xmlns:p14="http://schemas.microsoft.com/office/powerpoint/2010/main" val="2866823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7523D7-3FD0-2714-1E85-4D110673F4C9}"/>
              </a:ext>
            </a:extLst>
          </p:cNvPr>
          <p:cNvSpPr>
            <a:spLocks noGrp="1"/>
          </p:cNvSpPr>
          <p:nvPr>
            <p:ph type="title"/>
          </p:nvPr>
        </p:nvSpPr>
        <p:spPr/>
        <p:txBody>
          <a:bodyPr/>
          <a:lstStyle/>
          <a:p>
            <a:r>
              <a:rPr lang="en-US" dirty="0"/>
              <a:t>Static maps</a:t>
            </a:r>
          </a:p>
        </p:txBody>
      </p:sp>
      <p:sp>
        <p:nvSpPr>
          <p:cNvPr id="4" name="Slide Number Placeholder 3">
            <a:extLst>
              <a:ext uri="{FF2B5EF4-FFF2-40B4-BE49-F238E27FC236}">
                <a16:creationId xmlns:a16="http://schemas.microsoft.com/office/drawing/2014/main" id="{971B4E3D-5C6C-3D1F-FC83-3C3D5EE29461}"/>
              </a:ext>
            </a:extLst>
          </p:cNvPr>
          <p:cNvSpPr>
            <a:spLocks noGrp="1"/>
          </p:cNvSpPr>
          <p:nvPr>
            <p:ph type="sldNum" sz="quarter" idx="12"/>
          </p:nvPr>
        </p:nvSpPr>
        <p:spPr/>
        <p:txBody>
          <a:bodyPr/>
          <a:lstStyle/>
          <a:p>
            <a:fld id="{C0343C75-1924-D247-85A3-0CB62E67E5D1}" type="slidenum">
              <a:rPr lang="en-US" smtClean="0"/>
              <a:t>5</a:t>
            </a:fld>
            <a:endParaRPr lang="en-US"/>
          </a:p>
        </p:txBody>
      </p:sp>
    </p:spTree>
    <p:extLst>
      <p:ext uri="{BB962C8B-B14F-4D97-AF65-F5344CB8AC3E}">
        <p14:creationId xmlns:p14="http://schemas.microsoft.com/office/powerpoint/2010/main" val="2329665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C45D2-751A-B7E4-B469-14AF57672F5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CDD8FB-B825-6D59-0C3B-C880652E3B95}"/>
              </a:ext>
            </a:extLst>
          </p:cNvPr>
          <p:cNvSpPr>
            <a:spLocks noGrp="1"/>
          </p:cNvSpPr>
          <p:nvPr>
            <p:ph type="sldNum" sz="quarter" idx="12"/>
          </p:nvPr>
        </p:nvSpPr>
        <p:spPr/>
        <p:txBody>
          <a:bodyPr/>
          <a:lstStyle/>
          <a:p>
            <a:fld id="{C0343C75-1924-D247-85A3-0CB62E67E5D1}" type="slidenum">
              <a:rPr lang="en-US" smtClean="0"/>
              <a:t>6</a:t>
            </a:fld>
            <a:endParaRPr lang="en-US"/>
          </a:p>
        </p:txBody>
      </p:sp>
      <p:pic>
        <p:nvPicPr>
          <p:cNvPr id="3" name="Picture 2">
            <a:extLst>
              <a:ext uri="{FF2B5EF4-FFF2-40B4-BE49-F238E27FC236}">
                <a16:creationId xmlns:a16="http://schemas.microsoft.com/office/drawing/2014/main" id="{83BADF7A-F511-1CA1-9962-0AE99DF85434}"/>
              </a:ext>
            </a:extLst>
          </p:cNvPr>
          <p:cNvPicPr>
            <a:picLocks noChangeAspect="1"/>
          </p:cNvPicPr>
          <p:nvPr/>
        </p:nvPicPr>
        <p:blipFill>
          <a:blip r:embed="rId2"/>
          <a:stretch>
            <a:fillRect/>
          </a:stretch>
        </p:blipFill>
        <p:spPr>
          <a:xfrm>
            <a:off x="457200" y="136524"/>
            <a:ext cx="5326616" cy="4148783"/>
          </a:xfrm>
          <a:prstGeom prst="rect">
            <a:avLst/>
          </a:prstGeom>
        </p:spPr>
      </p:pic>
      <p:sp>
        <p:nvSpPr>
          <p:cNvPr id="5" name="TextBox 4">
            <a:extLst>
              <a:ext uri="{FF2B5EF4-FFF2-40B4-BE49-F238E27FC236}">
                <a16:creationId xmlns:a16="http://schemas.microsoft.com/office/drawing/2014/main" id="{EA9E751B-DB8C-8614-9C33-01402D188538}"/>
              </a:ext>
            </a:extLst>
          </p:cNvPr>
          <p:cNvSpPr txBox="1"/>
          <p:nvPr/>
        </p:nvSpPr>
        <p:spPr>
          <a:xfrm>
            <a:off x="2830749" y="4048027"/>
            <a:ext cx="5856051" cy="2308324"/>
          </a:xfrm>
          <a:prstGeom prst="rect">
            <a:avLst/>
          </a:prstGeom>
          <a:noFill/>
        </p:spPr>
        <p:txBody>
          <a:bodyPr wrap="square" rtlCol="0">
            <a:spAutoFit/>
          </a:bodyPr>
          <a:lstStyle/>
          <a:p>
            <a:r>
              <a:rPr lang="en-US" sz="1600" dirty="0"/>
              <a:t>The map body map element is the </a:t>
            </a:r>
            <a:r>
              <a:rPr lang="en-US" sz="1600" b="1" dirty="0"/>
              <a:t>main focus </a:t>
            </a:r>
            <a:r>
              <a:rPr lang="en-US" sz="1600" dirty="0"/>
              <a:t>of the map and should be visually dominant in every case. The map body contains the features important to the message of the map. The map body should be made as large as possible on the medium but should also </a:t>
            </a:r>
            <a:r>
              <a:rPr lang="en-US" sz="1600" u="sng" dirty="0"/>
              <a:t>leave room for other map elements</a:t>
            </a:r>
            <a:r>
              <a:rPr lang="en-US" sz="1600" dirty="0"/>
              <a:t> and should not crowd the edges so that the map has a little "breathing room". The map body is the </a:t>
            </a:r>
            <a:r>
              <a:rPr lang="en-US" sz="1600" u="sng" dirty="0"/>
              <a:t>only map</a:t>
            </a:r>
            <a:r>
              <a:rPr lang="en-US" sz="1600" dirty="0"/>
              <a:t> element that is absolutely required when composing a map. However, the map is often much more useful when other map elements are included.</a:t>
            </a:r>
          </a:p>
        </p:txBody>
      </p:sp>
    </p:spTree>
    <p:extLst>
      <p:ext uri="{BB962C8B-B14F-4D97-AF65-F5344CB8AC3E}">
        <p14:creationId xmlns:p14="http://schemas.microsoft.com/office/powerpoint/2010/main" val="1111842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C61FF5-2E06-6CF1-43D2-43EA2C4D877E}"/>
              </a:ext>
            </a:extLst>
          </p:cNvPr>
          <p:cNvSpPr>
            <a:spLocks noGrp="1"/>
          </p:cNvSpPr>
          <p:nvPr>
            <p:ph type="sldNum" sz="quarter" idx="12"/>
          </p:nvPr>
        </p:nvSpPr>
        <p:spPr/>
        <p:txBody>
          <a:bodyPr/>
          <a:lstStyle/>
          <a:p>
            <a:fld id="{C0343C75-1924-D247-85A3-0CB62E67E5D1}" type="slidenum">
              <a:rPr lang="en-US" smtClean="0"/>
              <a:t>7</a:t>
            </a:fld>
            <a:endParaRPr lang="en-US"/>
          </a:p>
        </p:txBody>
      </p:sp>
      <p:pic>
        <p:nvPicPr>
          <p:cNvPr id="6" name="Picture 5">
            <a:extLst>
              <a:ext uri="{FF2B5EF4-FFF2-40B4-BE49-F238E27FC236}">
                <a16:creationId xmlns:a16="http://schemas.microsoft.com/office/drawing/2014/main" id="{E136811E-3B13-78C8-754F-8E9383C07ED7}"/>
              </a:ext>
            </a:extLst>
          </p:cNvPr>
          <p:cNvPicPr>
            <a:picLocks noChangeAspect="1"/>
          </p:cNvPicPr>
          <p:nvPr/>
        </p:nvPicPr>
        <p:blipFill>
          <a:blip r:embed="rId2"/>
          <a:stretch>
            <a:fillRect/>
          </a:stretch>
        </p:blipFill>
        <p:spPr>
          <a:xfrm>
            <a:off x="2115000" y="0"/>
            <a:ext cx="4914000" cy="6858000"/>
          </a:xfrm>
          <a:prstGeom prst="rect">
            <a:avLst/>
          </a:prstGeom>
        </p:spPr>
      </p:pic>
    </p:spTree>
    <p:extLst>
      <p:ext uri="{BB962C8B-B14F-4D97-AF65-F5344CB8AC3E}">
        <p14:creationId xmlns:p14="http://schemas.microsoft.com/office/powerpoint/2010/main" val="1477719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3631-D183-DD03-8E15-E1E2AF1F5603}"/>
              </a:ext>
            </a:extLst>
          </p:cNvPr>
          <p:cNvSpPr>
            <a:spLocks noGrp="1"/>
          </p:cNvSpPr>
          <p:nvPr>
            <p:ph type="title"/>
          </p:nvPr>
        </p:nvSpPr>
        <p:spPr/>
        <p:txBody>
          <a:bodyPr anchor="ctr">
            <a:normAutofit/>
          </a:bodyPr>
          <a:lstStyle/>
          <a:p>
            <a:r>
              <a:rPr lang="en-US" sz="2400" dirty="0"/>
              <a:t>Map showing the elements that can be part of a map layout</a:t>
            </a:r>
          </a:p>
        </p:txBody>
      </p:sp>
      <p:sp>
        <p:nvSpPr>
          <p:cNvPr id="3" name="Content Placeholder 2">
            <a:extLst>
              <a:ext uri="{FF2B5EF4-FFF2-40B4-BE49-F238E27FC236}">
                <a16:creationId xmlns:a16="http://schemas.microsoft.com/office/drawing/2014/main" id="{42567BEF-554D-E278-F30F-6F4575C1680A}"/>
              </a:ext>
            </a:extLst>
          </p:cNvPr>
          <p:cNvSpPr>
            <a:spLocks noGrp="1"/>
          </p:cNvSpPr>
          <p:nvPr>
            <p:ph idx="1"/>
          </p:nvPr>
        </p:nvSpPr>
        <p:spPr/>
        <p:txBody>
          <a:bodyPr/>
          <a:lstStyle/>
          <a:p>
            <a:r>
              <a:rPr lang="en-US" dirty="0"/>
              <a:t>data (or map) frame</a:t>
            </a:r>
          </a:p>
          <a:p>
            <a:r>
              <a:rPr lang="en-US" dirty="0"/>
              <a:t>map legend</a:t>
            </a:r>
          </a:p>
          <a:p>
            <a:r>
              <a:rPr lang="en-US" dirty="0"/>
              <a:t>map title</a:t>
            </a:r>
          </a:p>
          <a:p>
            <a:r>
              <a:rPr lang="en-US" dirty="0"/>
              <a:t>north arrow</a:t>
            </a:r>
          </a:p>
          <a:p>
            <a:r>
              <a:rPr lang="en-US" dirty="0"/>
              <a:t>map scale bar</a:t>
            </a:r>
          </a:p>
          <a:p>
            <a:r>
              <a:rPr lang="en-US" dirty="0"/>
              <a:t>metadata (or map citation)</a:t>
            </a:r>
          </a:p>
          <a:p>
            <a:r>
              <a:rPr lang="en-US" dirty="0"/>
              <a:t>border</a:t>
            </a:r>
          </a:p>
          <a:p>
            <a:r>
              <a:rPr lang="en-US" dirty="0"/>
              <a:t>inset (or locator) map</a:t>
            </a:r>
          </a:p>
        </p:txBody>
      </p:sp>
      <p:sp>
        <p:nvSpPr>
          <p:cNvPr id="4" name="Slide Number Placeholder 3">
            <a:extLst>
              <a:ext uri="{FF2B5EF4-FFF2-40B4-BE49-F238E27FC236}">
                <a16:creationId xmlns:a16="http://schemas.microsoft.com/office/drawing/2014/main" id="{80F46A77-44DF-551A-E333-477297E75D7F}"/>
              </a:ext>
            </a:extLst>
          </p:cNvPr>
          <p:cNvSpPr>
            <a:spLocks noGrp="1"/>
          </p:cNvSpPr>
          <p:nvPr>
            <p:ph type="sldNum" sz="quarter" idx="12"/>
          </p:nvPr>
        </p:nvSpPr>
        <p:spPr/>
        <p:txBody>
          <a:bodyPr/>
          <a:lstStyle/>
          <a:p>
            <a:fld id="{C0343C75-1924-D247-85A3-0CB62E67E5D1}" type="slidenum">
              <a:rPr lang="en-US" smtClean="0"/>
              <a:t>8</a:t>
            </a:fld>
            <a:endParaRPr lang="en-US"/>
          </a:p>
        </p:txBody>
      </p:sp>
      <p:pic>
        <p:nvPicPr>
          <p:cNvPr id="7" name="Picture 6">
            <a:extLst>
              <a:ext uri="{FF2B5EF4-FFF2-40B4-BE49-F238E27FC236}">
                <a16:creationId xmlns:a16="http://schemas.microsoft.com/office/drawing/2014/main" id="{A7EDA5AE-B05D-A15E-13D8-26C7E18EBB69}"/>
              </a:ext>
            </a:extLst>
          </p:cNvPr>
          <p:cNvPicPr>
            <a:picLocks noChangeAspect="1"/>
          </p:cNvPicPr>
          <p:nvPr/>
        </p:nvPicPr>
        <p:blipFill>
          <a:blip r:embed="rId2"/>
          <a:stretch>
            <a:fillRect/>
          </a:stretch>
        </p:blipFill>
        <p:spPr>
          <a:xfrm>
            <a:off x="4036980" y="1416683"/>
            <a:ext cx="4649820" cy="4565981"/>
          </a:xfrm>
          <a:prstGeom prst="rect">
            <a:avLst/>
          </a:prstGeom>
        </p:spPr>
      </p:pic>
    </p:spTree>
    <p:extLst>
      <p:ext uri="{BB962C8B-B14F-4D97-AF65-F5344CB8AC3E}">
        <p14:creationId xmlns:p14="http://schemas.microsoft.com/office/powerpoint/2010/main" val="1476805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A531D-6E47-EF6E-7DAA-4EDC3EFFD171}"/>
              </a:ext>
            </a:extLst>
          </p:cNvPr>
          <p:cNvSpPr>
            <a:spLocks noGrp="1"/>
          </p:cNvSpPr>
          <p:nvPr>
            <p:ph type="title"/>
          </p:nvPr>
        </p:nvSpPr>
        <p:spPr/>
        <p:txBody>
          <a:bodyPr anchor="ctr"/>
          <a:lstStyle/>
          <a:p>
            <a:r>
              <a:rPr lang="en-US" dirty="0"/>
              <a:t>A General Reference Map</a:t>
            </a:r>
          </a:p>
        </p:txBody>
      </p:sp>
      <p:pic>
        <p:nvPicPr>
          <p:cNvPr id="5" name="Content Placeholder 4">
            <a:extLst>
              <a:ext uri="{FF2B5EF4-FFF2-40B4-BE49-F238E27FC236}">
                <a16:creationId xmlns:a16="http://schemas.microsoft.com/office/drawing/2014/main" id="{F5EE0869-791C-54BD-2F64-FF12E51E23CE}"/>
              </a:ext>
            </a:extLst>
          </p:cNvPr>
          <p:cNvPicPr>
            <a:picLocks noGrp="1" noChangeAspect="1"/>
          </p:cNvPicPr>
          <p:nvPr>
            <p:ph idx="1"/>
          </p:nvPr>
        </p:nvPicPr>
        <p:blipFill>
          <a:blip r:embed="rId2"/>
          <a:stretch>
            <a:fillRect/>
          </a:stretch>
        </p:blipFill>
        <p:spPr>
          <a:xfrm>
            <a:off x="1879600" y="1170420"/>
            <a:ext cx="5384800" cy="4038600"/>
          </a:xfrm>
        </p:spPr>
      </p:pic>
      <p:sp>
        <p:nvSpPr>
          <p:cNvPr id="4" name="Slide Number Placeholder 3">
            <a:extLst>
              <a:ext uri="{FF2B5EF4-FFF2-40B4-BE49-F238E27FC236}">
                <a16:creationId xmlns:a16="http://schemas.microsoft.com/office/drawing/2014/main" id="{317BD18B-3358-4EA8-2F98-E7E33BCEC141}"/>
              </a:ext>
            </a:extLst>
          </p:cNvPr>
          <p:cNvSpPr>
            <a:spLocks noGrp="1"/>
          </p:cNvSpPr>
          <p:nvPr>
            <p:ph type="sldNum" sz="quarter" idx="12"/>
          </p:nvPr>
        </p:nvSpPr>
        <p:spPr/>
        <p:txBody>
          <a:bodyPr/>
          <a:lstStyle/>
          <a:p>
            <a:fld id="{C0343C75-1924-D247-85A3-0CB62E67E5D1}" type="slidenum">
              <a:rPr lang="en-US" smtClean="0"/>
              <a:t>9</a:t>
            </a:fld>
            <a:endParaRPr lang="en-US"/>
          </a:p>
        </p:txBody>
      </p:sp>
      <p:sp>
        <p:nvSpPr>
          <p:cNvPr id="6" name="TextBox 5">
            <a:extLst>
              <a:ext uri="{FF2B5EF4-FFF2-40B4-BE49-F238E27FC236}">
                <a16:creationId xmlns:a16="http://schemas.microsoft.com/office/drawing/2014/main" id="{B79D2806-011C-4E98-0568-A8E02211ED21}"/>
              </a:ext>
            </a:extLst>
          </p:cNvPr>
          <p:cNvSpPr txBox="1"/>
          <p:nvPr/>
        </p:nvSpPr>
        <p:spPr>
          <a:xfrm>
            <a:off x="457200" y="5305632"/>
            <a:ext cx="8229599" cy="954107"/>
          </a:xfrm>
          <a:prstGeom prst="rect">
            <a:avLst/>
          </a:prstGeom>
          <a:noFill/>
        </p:spPr>
        <p:txBody>
          <a:bodyPr wrap="square" rtlCol="0">
            <a:spAutoFit/>
          </a:bodyPr>
          <a:lstStyle/>
          <a:p>
            <a:r>
              <a:rPr lang="en-US" sz="1400" dirty="0"/>
              <a:t>This map legend has two columns of information that are roughly equal in size. Each map feature is identified with a symbol that is identical to the symbol found on the map followed by the name of the map feature to the right of the symbol. On this general reference map legend common features such as lakes, parks, rivers, railroads, and roads are included, where they </a:t>
            </a:r>
            <a:r>
              <a:rPr lang="en-US" sz="1400" u="sng" dirty="0"/>
              <a:t>may not be included on thematic maps</a:t>
            </a:r>
            <a:r>
              <a:rPr lang="en-US" sz="1400" dirty="0"/>
              <a:t>.</a:t>
            </a:r>
          </a:p>
        </p:txBody>
      </p:sp>
    </p:spTree>
    <p:extLst>
      <p:ext uri="{BB962C8B-B14F-4D97-AF65-F5344CB8AC3E}">
        <p14:creationId xmlns:p14="http://schemas.microsoft.com/office/powerpoint/2010/main" val="2984081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D0E6-CDF2-4016-019F-E6F21966E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459E1-7CCD-6A27-2008-58A038353B9C}"/>
              </a:ext>
            </a:extLst>
          </p:cNvPr>
          <p:cNvSpPr>
            <a:spLocks noGrp="1"/>
          </p:cNvSpPr>
          <p:nvPr>
            <p:ph type="title"/>
          </p:nvPr>
        </p:nvSpPr>
        <p:spPr/>
        <p:txBody>
          <a:bodyPr/>
          <a:lstStyle/>
          <a:p>
            <a:r>
              <a:rPr lang="en-US" dirty="0"/>
              <a:t>Data Representation</a:t>
            </a:r>
            <a:br>
              <a:rPr lang="en-US" dirty="0"/>
            </a:br>
            <a:r>
              <a:rPr lang="en-US" b="1" dirty="0"/>
              <a:t>Thematic Maps</a:t>
            </a:r>
          </a:p>
        </p:txBody>
      </p:sp>
      <p:sp>
        <p:nvSpPr>
          <p:cNvPr id="3" name="Content Placeholder 2">
            <a:extLst>
              <a:ext uri="{FF2B5EF4-FFF2-40B4-BE49-F238E27FC236}">
                <a16:creationId xmlns:a16="http://schemas.microsoft.com/office/drawing/2014/main" id="{DF56C655-A93B-0845-C70D-FA0C9D1E159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03DBA5A-5134-BA7E-0180-E06310DA7115}"/>
              </a:ext>
            </a:extLst>
          </p:cNvPr>
          <p:cNvSpPr>
            <a:spLocks noGrp="1"/>
          </p:cNvSpPr>
          <p:nvPr>
            <p:ph type="sldNum" sz="quarter" idx="12"/>
          </p:nvPr>
        </p:nvSpPr>
        <p:spPr/>
        <p:txBody>
          <a:bodyPr/>
          <a:lstStyle/>
          <a:p>
            <a:fld id="{C0343C75-1924-D247-85A3-0CB62E67E5D1}" type="slidenum">
              <a:rPr lang="en-US" smtClean="0"/>
              <a:t>10</a:t>
            </a:fld>
            <a:endParaRPr lang="en-US"/>
          </a:p>
        </p:txBody>
      </p:sp>
    </p:spTree>
    <p:extLst>
      <p:ext uri="{BB962C8B-B14F-4D97-AF65-F5344CB8AC3E}">
        <p14:creationId xmlns:p14="http://schemas.microsoft.com/office/powerpoint/2010/main" val="1721669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CC64B-D999-17F5-7ADC-88EA9C69E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9763E-345C-C206-F9DC-87D40E13594D}"/>
              </a:ext>
            </a:extLst>
          </p:cNvPr>
          <p:cNvSpPr>
            <a:spLocks noGrp="1"/>
          </p:cNvSpPr>
          <p:nvPr>
            <p:ph type="title"/>
          </p:nvPr>
        </p:nvSpPr>
        <p:spPr/>
        <p:txBody>
          <a:bodyPr/>
          <a:lstStyle/>
          <a:p>
            <a:r>
              <a:rPr lang="en-US" dirty="0"/>
              <a:t>Data Representation</a:t>
            </a:r>
            <a:br>
              <a:rPr lang="en-US" dirty="0"/>
            </a:br>
            <a:r>
              <a:rPr lang="en-US" b="1" dirty="0"/>
              <a:t>Symbols</a:t>
            </a:r>
          </a:p>
        </p:txBody>
      </p:sp>
      <p:sp>
        <p:nvSpPr>
          <p:cNvPr id="3" name="Content Placeholder 2">
            <a:extLst>
              <a:ext uri="{FF2B5EF4-FFF2-40B4-BE49-F238E27FC236}">
                <a16:creationId xmlns:a16="http://schemas.microsoft.com/office/drawing/2014/main" id="{32EFBC93-CDEC-C802-F2A4-653FE747CE7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6ECC17C-0465-7F5A-EDED-DF19094E9F4E}"/>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1258004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8246-CF18-1CFF-4DD6-DB4F178C2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C3132-9EB3-CAEF-6B96-45ACB22CFD6E}"/>
              </a:ext>
            </a:extLst>
          </p:cNvPr>
          <p:cNvSpPr>
            <a:spLocks noGrp="1"/>
          </p:cNvSpPr>
          <p:nvPr>
            <p:ph type="title"/>
          </p:nvPr>
        </p:nvSpPr>
        <p:spPr/>
        <p:txBody>
          <a:bodyPr/>
          <a:lstStyle/>
          <a:p>
            <a:r>
              <a:rPr lang="en-US" dirty="0"/>
              <a:t>Data Representation</a:t>
            </a:r>
            <a:br>
              <a:rPr lang="en-US" dirty="0"/>
            </a:br>
            <a:r>
              <a:rPr lang="en-US" b="1" dirty="0"/>
              <a:t>Rate vs Count</a:t>
            </a:r>
          </a:p>
        </p:txBody>
      </p:sp>
      <p:sp>
        <p:nvSpPr>
          <p:cNvPr id="3" name="Content Placeholder 2">
            <a:extLst>
              <a:ext uri="{FF2B5EF4-FFF2-40B4-BE49-F238E27FC236}">
                <a16:creationId xmlns:a16="http://schemas.microsoft.com/office/drawing/2014/main" id="{A44D2802-8EC2-3FDC-4875-DCB925A329B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878E0CE-1643-C6CC-DF35-4680AE41AF40}"/>
              </a:ext>
            </a:extLst>
          </p:cNvPr>
          <p:cNvSpPr>
            <a:spLocks noGrp="1"/>
          </p:cNvSpPr>
          <p:nvPr>
            <p:ph type="sldNum" sz="quarter" idx="12"/>
          </p:nvPr>
        </p:nvSpPr>
        <p:spPr/>
        <p:txBody>
          <a:bodyPr/>
          <a:lstStyle/>
          <a:p>
            <a:fld id="{C0343C75-1924-D247-85A3-0CB62E67E5D1}" type="slidenum">
              <a:rPr lang="en-US" smtClean="0"/>
              <a:t>12</a:t>
            </a:fld>
            <a:endParaRPr lang="en-US"/>
          </a:p>
        </p:txBody>
      </p:sp>
    </p:spTree>
    <p:extLst>
      <p:ext uri="{BB962C8B-B14F-4D97-AF65-F5344CB8AC3E}">
        <p14:creationId xmlns:p14="http://schemas.microsoft.com/office/powerpoint/2010/main" val="349181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DD0B1-3E3A-22FD-62A1-D887A1D75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8F571-5315-3247-DDF1-B0A6CD54C306}"/>
              </a:ext>
            </a:extLst>
          </p:cNvPr>
          <p:cNvSpPr>
            <a:spLocks noGrp="1"/>
          </p:cNvSpPr>
          <p:nvPr>
            <p:ph type="title"/>
          </p:nvPr>
        </p:nvSpPr>
        <p:spPr/>
        <p:txBody>
          <a:bodyPr/>
          <a:lstStyle/>
          <a:p>
            <a:r>
              <a:rPr lang="en-US" dirty="0"/>
              <a:t>Data Representation</a:t>
            </a:r>
            <a:br>
              <a:rPr lang="en-US" dirty="0"/>
            </a:br>
            <a:r>
              <a:rPr lang="en-US" b="1" dirty="0" err="1"/>
              <a:t>Colour</a:t>
            </a:r>
            <a:endParaRPr lang="en-US" b="1" dirty="0"/>
          </a:p>
        </p:txBody>
      </p:sp>
      <p:sp>
        <p:nvSpPr>
          <p:cNvPr id="3" name="Content Placeholder 2">
            <a:extLst>
              <a:ext uri="{FF2B5EF4-FFF2-40B4-BE49-F238E27FC236}">
                <a16:creationId xmlns:a16="http://schemas.microsoft.com/office/drawing/2014/main" id="{01005197-31B0-887A-90BA-C76469CCBDC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14C1BAE-E96B-90E7-88D4-083AB21D9906}"/>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1621774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B9695-5772-0A13-F911-172D9CA28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62A00-E734-34D8-6113-320596180DE6}"/>
              </a:ext>
            </a:extLst>
          </p:cNvPr>
          <p:cNvSpPr>
            <a:spLocks noGrp="1"/>
          </p:cNvSpPr>
          <p:nvPr>
            <p:ph type="title"/>
          </p:nvPr>
        </p:nvSpPr>
        <p:spPr/>
        <p:txBody>
          <a:bodyPr/>
          <a:lstStyle/>
          <a:p>
            <a:r>
              <a:rPr lang="en-US" dirty="0"/>
              <a:t>Text</a:t>
            </a:r>
            <a:endParaRPr lang="en-US" b="1" dirty="0"/>
          </a:p>
        </p:txBody>
      </p:sp>
      <p:sp>
        <p:nvSpPr>
          <p:cNvPr id="3" name="Content Placeholder 2">
            <a:extLst>
              <a:ext uri="{FF2B5EF4-FFF2-40B4-BE49-F238E27FC236}">
                <a16:creationId xmlns:a16="http://schemas.microsoft.com/office/drawing/2014/main" id="{638F7C29-A1B4-116B-40B3-675F669A481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811D8F9-C7A9-4D9C-3827-B8A0B776844B}"/>
              </a:ext>
            </a:extLst>
          </p:cNvPr>
          <p:cNvSpPr>
            <a:spLocks noGrp="1"/>
          </p:cNvSpPr>
          <p:nvPr>
            <p:ph type="sldNum" sz="quarter" idx="12"/>
          </p:nvPr>
        </p:nvSpPr>
        <p:spPr/>
        <p:txBody>
          <a:bodyPr/>
          <a:lstStyle/>
          <a:p>
            <a:fld id="{C0343C75-1924-D247-85A3-0CB62E67E5D1}" type="slidenum">
              <a:rPr lang="en-US" smtClean="0"/>
              <a:t>14</a:t>
            </a:fld>
            <a:endParaRPr lang="en-US"/>
          </a:p>
        </p:txBody>
      </p:sp>
    </p:spTree>
    <p:extLst>
      <p:ext uri="{BB962C8B-B14F-4D97-AF65-F5344CB8AC3E}">
        <p14:creationId xmlns:p14="http://schemas.microsoft.com/office/powerpoint/2010/main" val="2274443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8D1D8-1A35-106E-52E1-185C112F3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9A046-676E-39EF-5BAD-70A5828AA6E6}"/>
              </a:ext>
            </a:extLst>
          </p:cNvPr>
          <p:cNvSpPr>
            <a:spLocks noGrp="1"/>
          </p:cNvSpPr>
          <p:nvPr>
            <p:ph type="title"/>
          </p:nvPr>
        </p:nvSpPr>
        <p:spPr/>
        <p:txBody>
          <a:bodyPr/>
          <a:lstStyle/>
          <a:p>
            <a:r>
              <a:rPr lang="en-US" dirty="0"/>
              <a:t>Legend</a:t>
            </a:r>
            <a:endParaRPr lang="en-US" b="1" dirty="0"/>
          </a:p>
        </p:txBody>
      </p:sp>
      <p:sp>
        <p:nvSpPr>
          <p:cNvPr id="3" name="Content Placeholder 2">
            <a:extLst>
              <a:ext uri="{FF2B5EF4-FFF2-40B4-BE49-F238E27FC236}">
                <a16:creationId xmlns:a16="http://schemas.microsoft.com/office/drawing/2014/main" id="{75644077-1151-2ED8-19BE-C7042570899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66FBE1A-A6A3-B6C3-5CAC-119725B82A6B}"/>
              </a:ext>
            </a:extLst>
          </p:cNvPr>
          <p:cNvSpPr>
            <a:spLocks noGrp="1"/>
          </p:cNvSpPr>
          <p:nvPr>
            <p:ph type="sldNum" sz="quarter" idx="12"/>
          </p:nvPr>
        </p:nvSpPr>
        <p:spPr/>
        <p:txBody>
          <a:bodyPr/>
          <a:lstStyle/>
          <a:p>
            <a:fld id="{C0343C75-1924-D247-85A3-0CB62E67E5D1}" type="slidenum">
              <a:rPr lang="en-US" smtClean="0"/>
              <a:t>15</a:t>
            </a:fld>
            <a:endParaRPr lang="en-US"/>
          </a:p>
        </p:txBody>
      </p:sp>
    </p:spTree>
    <p:extLst>
      <p:ext uri="{BB962C8B-B14F-4D97-AF65-F5344CB8AC3E}">
        <p14:creationId xmlns:p14="http://schemas.microsoft.com/office/powerpoint/2010/main" val="2963273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C1B7F-71D2-3A8E-4F55-5B4754E13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EF4E6-5BC4-ED86-255E-A232B1B5CDA5}"/>
              </a:ext>
            </a:extLst>
          </p:cNvPr>
          <p:cNvSpPr>
            <a:spLocks noGrp="1"/>
          </p:cNvSpPr>
          <p:nvPr>
            <p:ph type="title"/>
          </p:nvPr>
        </p:nvSpPr>
        <p:spPr/>
        <p:txBody>
          <a:bodyPr/>
          <a:lstStyle/>
          <a:p>
            <a:r>
              <a:rPr lang="en-US" dirty="0"/>
              <a:t>Annotation/Production Notes</a:t>
            </a:r>
            <a:endParaRPr lang="en-US" b="1" dirty="0"/>
          </a:p>
        </p:txBody>
      </p:sp>
      <p:sp>
        <p:nvSpPr>
          <p:cNvPr id="3" name="Content Placeholder 2">
            <a:extLst>
              <a:ext uri="{FF2B5EF4-FFF2-40B4-BE49-F238E27FC236}">
                <a16:creationId xmlns:a16="http://schemas.microsoft.com/office/drawing/2014/main" id="{031F3A3D-8DED-89E4-14F4-5D65F570FBF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FB74C40-4216-8A5C-8B0C-99A89DEFB701}"/>
              </a:ext>
            </a:extLst>
          </p:cNvPr>
          <p:cNvSpPr>
            <a:spLocks noGrp="1"/>
          </p:cNvSpPr>
          <p:nvPr>
            <p:ph type="sldNum" sz="quarter" idx="12"/>
          </p:nvPr>
        </p:nvSpPr>
        <p:spPr/>
        <p:txBody>
          <a:bodyPr/>
          <a:lstStyle/>
          <a:p>
            <a:fld id="{C0343C75-1924-D247-85A3-0CB62E67E5D1}" type="slidenum">
              <a:rPr lang="en-US" smtClean="0"/>
              <a:t>16</a:t>
            </a:fld>
            <a:endParaRPr lang="en-US"/>
          </a:p>
        </p:txBody>
      </p:sp>
    </p:spTree>
    <p:extLst>
      <p:ext uri="{BB962C8B-B14F-4D97-AF65-F5344CB8AC3E}">
        <p14:creationId xmlns:p14="http://schemas.microsoft.com/office/powerpoint/2010/main" val="1654664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E21A1-35BA-9A45-8277-AC3DA9833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448B5-FD3F-EEEB-B436-F09710875093}"/>
              </a:ext>
            </a:extLst>
          </p:cNvPr>
          <p:cNvSpPr>
            <a:spLocks noGrp="1"/>
          </p:cNvSpPr>
          <p:nvPr>
            <p:ph type="title"/>
          </p:nvPr>
        </p:nvSpPr>
        <p:spPr/>
        <p:txBody>
          <a:bodyPr/>
          <a:lstStyle/>
          <a:p>
            <a:r>
              <a:rPr lang="en-US" dirty="0"/>
              <a:t>Composition / Orientation / Scale</a:t>
            </a:r>
            <a:endParaRPr lang="en-US" b="1" dirty="0"/>
          </a:p>
        </p:txBody>
      </p:sp>
      <p:sp>
        <p:nvSpPr>
          <p:cNvPr id="3" name="Content Placeholder 2">
            <a:extLst>
              <a:ext uri="{FF2B5EF4-FFF2-40B4-BE49-F238E27FC236}">
                <a16:creationId xmlns:a16="http://schemas.microsoft.com/office/drawing/2014/main" id="{A9A0D4B8-1757-71F4-B4BE-FFED7E6C0B6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9CD3432-E192-95BD-3DF5-BEC3498EC94D}"/>
              </a:ext>
            </a:extLst>
          </p:cNvPr>
          <p:cNvSpPr>
            <a:spLocks noGrp="1"/>
          </p:cNvSpPr>
          <p:nvPr>
            <p:ph type="sldNum" sz="quarter" idx="12"/>
          </p:nvPr>
        </p:nvSpPr>
        <p:spPr/>
        <p:txBody>
          <a:bodyPr/>
          <a:lstStyle/>
          <a:p>
            <a:fld id="{C0343C75-1924-D247-85A3-0CB62E67E5D1}" type="slidenum">
              <a:rPr lang="en-US" smtClean="0"/>
              <a:t>17</a:t>
            </a:fld>
            <a:endParaRPr lang="en-US"/>
          </a:p>
        </p:txBody>
      </p:sp>
    </p:spTree>
    <p:extLst>
      <p:ext uri="{BB962C8B-B14F-4D97-AF65-F5344CB8AC3E}">
        <p14:creationId xmlns:p14="http://schemas.microsoft.com/office/powerpoint/2010/main" val="3535271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63484-2694-8197-E3DC-94CF77C93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12227-87B1-4D2A-AE12-51215BF152DA}"/>
              </a:ext>
            </a:extLst>
          </p:cNvPr>
          <p:cNvSpPr>
            <a:spLocks noGrp="1"/>
          </p:cNvSpPr>
          <p:nvPr>
            <p:ph type="title"/>
          </p:nvPr>
        </p:nvSpPr>
        <p:spPr/>
        <p:txBody>
          <a:bodyPr/>
          <a:lstStyle/>
          <a:p>
            <a:r>
              <a:rPr lang="en-US" dirty="0"/>
              <a:t>Context</a:t>
            </a:r>
            <a:br>
              <a:rPr lang="en-US" dirty="0"/>
            </a:br>
            <a:r>
              <a:rPr lang="en-US" b="1" dirty="0"/>
              <a:t>Basemap</a:t>
            </a:r>
          </a:p>
        </p:txBody>
      </p:sp>
      <p:sp>
        <p:nvSpPr>
          <p:cNvPr id="3" name="Content Placeholder 2">
            <a:extLst>
              <a:ext uri="{FF2B5EF4-FFF2-40B4-BE49-F238E27FC236}">
                <a16:creationId xmlns:a16="http://schemas.microsoft.com/office/drawing/2014/main" id="{94278D24-C32A-9230-F6D9-4F4F6AEC316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BDBB7E6-D148-84DB-06BB-10A43BF57AA3}"/>
              </a:ext>
            </a:extLst>
          </p:cNvPr>
          <p:cNvSpPr>
            <a:spLocks noGrp="1"/>
          </p:cNvSpPr>
          <p:nvPr>
            <p:ph type="sldNum" sz="quarter" idx="12"/>
          </p:nvPr>
        </p:nvSpPr>
        <p:spPr/>
        <p:txBody>
          <a:bodyPr/>
          <a:lstStyle/>
          <a:p>
            <a:fld id="{C0343C75-1924-D247-85A3-0CB62E67E5D1}" type="slidenum">
              <a:rPr lang="en-US" smtClean="0"/>
              <a:t>18</a:t>
            </a:fld>
            <a:endParaRPr lang="en-US"/>
          </a:p>
        </p:txBody>
      </p:sp>
    </p:spTree>
    <p:extLst>
      <p:ext uri="{BB962C8B-B14F-4D97-AF65-F5344CB8AC3E}">
        <p14:creationId xmlns:p14="http://schemas.microsoft.com/office/powerpoint/2010/main" val="2615006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8C348-140B-DFD4-BE6A-B4AC972E1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2EADC-42A7-47D9-989E-95168F40584F}"/>
              </a:ext>
            </a:extLst>
          </p:cNvPr>
          <p:cNvSpPr>
            <a:spLocks noGrp="1"/>
          </p:cNvSpPr>
          <p:nvPr>
            <p:ph type="title"/>
          </p:nvPr>
        </p:nvSpPr>
        <p:spPr/>
        <p:txBody>
          <a:bodyPr/>
          <a:lstStyle/>
          <a:p>
            <a:r>
              <a:rPr lang="en-US" dirty="0"/>
              <a:t>Context</a:t>
            </a:r>
            <a:br>
              <a:rPr lang="en-US" dirty="0"/>
            </a:br>
            <a:r>
              <a:rPr lang="en-US" b="1" dirty="0"/>
              <a:t>Inset Maps</a:t>
            </a:r>
          </a:p>
        </p:txBody>
      </p:sp>
      <p:sp>
        <p:nvSpPr>
          <p:cNvPr id="3" name="Content Placeholder 2">
            <a:extLst>
              <a:ext uri="{FF2B5EF4-FFF2-40B4-BE49-F238E27FC236}">
                <a16:creationId xmlns:a16="http://schemas.microsoft.com/office/drawing/2014/main" id="{39851B43-F316-1A9C-8941-DFE4BB33B0C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D708F04-FD02-0849-904E-42C4BFE247BB}"/>
              </a:ext>
            </a:extLst>
          </p:cNvPr>
          <p:cNvSpPr>
            <a:spLocks noGrp="1"/>
          </p:cNvSpPr>
          <p:nvPr>
            <p:ph type="sldNum" sz="quarter" idx="12"/>
          </p:nvPr>
        </p:nvSpPr>
        <p:spPr/>
        <p:txBody>
          <a:bodyPr/>
          <a:lstStyle/>
          <a:p>
            <a:fld id="{C0343C75-1924-D247-85A3-0CB62E67E5D1}" type="slidenum">
              <a:rPr lang="en-US" smtClean="0"/>
              <a:t>19</a:t>
            </a:fld>
            <a:endParaRPr lang="en-US"/>
          </a:p>
        </p:txBody>
      </p:sp>
    </p:spTree>
    <p:extLst>
      <p:ext uri="{BB962C8B-B14F-4D97-AF65-F5344CB8AC3E}">
        <p14:creationId xmlns:p14="http://schemas.microsoft.com/office/powerpoint/2010/main" val="916806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5FB5-2A4E-82FF-054C-159B31C3F9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E2A95E-8B3D-F6E3-F3A4-A92D41FC6EF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15E8E2B-704B-9D42-F0E4-755195ECE135}"/>
              </a:ext>
            </a:extLst>
          </p:cNvPr>
          <p:cNvSpPr>
            <a:spLocks noGrp="1"/>
          </p:cNvSpPr>
          <p:nvPr>
            <p:ph type="sldNum" sz="quarter" idx="12"/>
          </p:nvPr>
        </p:nvSpPr>
        <p:spPr/>
        <p:txBody>
          <a:bodyPr/>
          <a:lstStyle/>
          <a:p>
            <a:fld id="{C0343C75-1924-D247-85A3-0CB62E67E5D1}" type="slidenum">
              <a:rPr lang="en-US" smtClean="0"/>
              <a:t>20</a:t>
            </a:fld>
            <a:endParaRPr lang="en-US"/>
          </a:p>
        </p:txBody>
      </p:sp>
    </p:spTree>
    <p:extLst>
      <p:ext uri="{BB962C8B-B14F-4D97-AF65-F5344CB8AC3E}">
        <p14:creationId xmlns:p14="http://schemas.microsoft.com/office/powerpoint/2010/main" val="564498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320E9-B191-430C-0C03-2CE73DB173C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D6680E6-21FB-B9FC-B921-FB08AF5D8B57}"/>
              </a:ext>
            </a:extLst>
          </p:cNvPr>
          <p:cNvSpPr>
            <a:spLocks noGrp="1"/>
          </p:cNvSpPr>
          <p:nvPr>
            <p:ph type="title"/>
          </p:nvPr>
        </p:nvSpPr>
        <p:spPr/>
        <p:txBody>
          <a:bodyPr/>
          <a:lstStyle/>
          <a:p>
            <a:r>
              <a:rPr lang="en-US" dirty="0"/>
              <a:t>Animated maps</a:t>
            </a:r>
          </a:p>
        </p:txBody>
      </p:sp>
      <p:sp>
        <p:nvSpPr>
          <p:cNvPr id="4" name="Slide Number Placeholder 3">
            <a:extLst>
              <a:ext uri="{FF2B5EF4-FFF2-40B4-BE49-F238E27FC236}">
                <a16:creationId xmlns:a16="http://schemas.microsoft.com/office/drawing/2014/main" id="{FAE202AD-F5C4-00F7-743A-FA6ECFBC4A76}"/>
              </a:ext>
            </a:extLst>
          </p:cNvPr>
          <p:cNvSpPr>
            <a:spLocks noGrp="1"/>
          </p:cNvSpPr>
          <p:nvPr>
            <p:ph type="sldNum" sz="quarter" idx="12"/>
          </p:nvPr>
        </p:nvSpPr>
        <p:spPr/>
        <p:txBody>
          <a:bodyPr/>
          <a:lstStyle/>
          <a:p>
            <a:fld id="{C0343C75-1924-D247-85A3-0CB62E67E5D1}" type="slidenum">
              <a:rPr lang="en-US" smtClean="0"/>
              <a:t>21</a:t>
            </a:fld>
            <a:endParaRPr lang="en-US"/>
          </a:p>
        </p:txBody>
      </p:sp>
    </p:spTree>
    <p:extLst>
      <p:ext uri="{BB962C8B-B14F-4D97-AF65-F5344CB8AC3E}">
        <p14:creationId xmlns:p14="http://schemas.microsoft.com/office/powerpoint/2010/main" val="2932111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BE119-69AC-2958-CE32-2C414B4DE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ED7C4-A5EA-C3C4-91E9-186BC945AB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331457-74FC-5DB0-4CD9-FAEAD5F7FEC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152F613-5612-6D1C-A596-EF36633EBB5B}"/>
              </a:ext>
            </a:extLst>
          </p:cNvPr>
          <p:cNvSpPr>
            <a:spLocks noGrp="1"/>
          </p:cNvSpPr>
          <p:nvPr>
            <p:ph type="sldNum" sz="quarter" idx="12"/>
          </p:nvPr>
        </p:nvSpPr>
        <p:spPr/>
        <p:txBody>
          <a:bodyPr/>
          <a:lstStyle/>
          <a:p>
            <a:fld id="{C0343C75-1924-D247-85A3-0CB62E67E5D1}" type="slidenum">
              <a:rPr lang="en-US" smtClean="0"/>
              <a:t>22</a:t>
            </a:fld>
            <a:endParaRPr lang="en-US"/>
          </a:p>
        </p:txBody>
      </p:sp>
    </p:spTree>
    <p:extLst>
      <p:ext uri="{BB962C8B-B14F-4D97-AF65-F5344CB8AC3E}">
        <p14:creationId xmlns:p14="http://schemas.microsoft.com/office/powerpoint/2010/main" val="385475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F5D6C-A8DA-73B8-2114-F48DD715F1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0359EC1-5698-4292-410B-7F0358B35B0C}"/>
              </a:ext>
            </a:extLst>
          </p:cNvPr>
          <p:cNvSpPr>
            <a:spLocks noGrp="1"/>
          </p:cNvSpPr>
          <p:nvPr>
            <p:ph type="title"/>
          </p:nvPr>
        </p:nvSpPr>
        <p:spPr/>
        <p:txBody>
          <a:bodyPr/>
          <a:lstStyle/>
          <a:p>
            <a:r>
              <a:rPr lang="en-US" dirty="0"/>
              <a:t>Interactive maps</a:t>
            </a:r>
          </a:p>
        </p:txBody>
      </p:sp>
      <p:sp>
        <p:nvSpPr>
          <p:cNvPr id="4" name="Slide Number Placeholder 3">
            <a:extLst>
              <a:ext uri="{FF2B5EF4-FFF2-40B4-BE49-F238E27FC236}">
                <a16:creationId xmlns:a16="http://schemas.microsoft.com/office/drawing/2014/main" id="{A49868F4-0621-D21D-0EF3-2F2D268C47DF}"/>
              </a:ext>
            </a:extLst>
          </p:cNvPr>
          <p:cNvSpPr>
            <a:spLocks noGrp="1"/>
          </p:cNvSpPr>
          <p:nvPr>
            <p:ph type="sldNum" sz="quarter" idx="12"/>
          </p:nvPr>
        </p:nvSpPr>
        <p:spPr/>
        <p:txBody>
          <a:bodyPr/>
          <a:lstStyle/>
          <a:p>
            <a:fld id="{C0343C75-1924-D247-85A3-0CB62E67E5D1}" type="slidenum">
              <a:rPr lang="en-US" smtClean="0"/>
              <a:t>23</a:t>
            </a:fld>
            <a:endParaRPr lang="en-US"/>
          </a:p>
        </p:txBody>
      </p:sp>
    </p:spTree>
    <p:extLst>
      <p:ext uri="{BB962C8B-B14F-4D97-AF65-F5344CB8AC3E}">
        <p14:creationId xmlns:p14="http://schemas.microsoft.com/office/powerpoint/2010/main" val="925375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22A68-EF06-100A-3BF1-68AFE22C9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3A898A-1A9C-6725-65FD-ADCF83F275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E120AB-187D-B899-1A3E-7CC12F6C38E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F1CC0E9-0E1A-31B5-4EAA-0970B842600B}"/>
              </a:ext>
            </a:extLst>
          </p:cNvPr>
          <p:cNvSpPr>
            <a:spLocks noGrp="1"/>
          </p:cNvSpPr>
          <p:nvPr>
            <p:ph type="sldNum" sz="quarter" idx="12"/>
          </p:nvPr>
        </p:nvSpPr>
        <p:spPr/>
        <p:txBody>
          <a:bodyPr/>
          <a:lstStyle/>
          <a:p>
            <a:fld id="{C0343C75-1924-D247-85A3-0CB62E67E5D1}" type="slidenum">
              <a:rPr lang="en-US" smtClean="0"/>
              <a:t>24</a:t>
            </a:fld>
            <a:endParaRPr lang="en-US"/>
          </a:p>
        </p:txBody>
      </p:sp>
    </p:spTree>
    <p:extLst>
      <p:ext uri="{BB962C8B-B14F-4D97-AF65-F5344CB8AC3E}">
        <p14:creationId xmlns:p14="http://schemas.microsoft.com/office/powerpoint/2010/main" val="4250734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57D37-5C69-905D-6C0A-B3699FC9571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C2500EA-3E20-82BD-2C3F-E9229E07712F}"/>
              </a:ext>
            </a:extLst>
          </p:cNvPr>
          <p:cNvSpPr>
            <a:spLocks noGrp="1"/>
          </p:cNvSpPr>
          <p:nvPr>
            <p:ph type="title"/>
          </p:nvPr>
        </p:nvSpPr>
        <p:spPr/>
        <p:txBody>
          <a:bodyPr/>
          <a:lstStyle/>
          <a:p>
            <a:r>
              <a:rPr lang="en-US" dirty="0"/>
              <a:t>Mapping applications</a:t>
            </a:r>
          </a:p>
        </p:txBody>
      </p:sp>
      <p:sp>
        <p:nvSpPr>
          <p:cNvPr id="4" name="Slide Number Placeholder 3">
            <a:extLst>
              <a:ext uri="{FF2B5EF4-FFF2-40B4-BE49-F238E27FC236}">
                <a16:creationId xmlns:a16="http://schemas.microsoft.com/office/drawing/2014/main" id="{DC217F24-7728-5B60-D9E5-2CCC802DFE90}"/>
              </a:ext>
            </a:extLst>
          </p:cNvPr>
          <p:cNvSpPr>
            <a:spLocks noGrp="1"/>
          </p:cNvSpPr>
          <p:nvPr>
            <p:ph type="sldNum" sz="quarter" idx="12"/>
          </p:nvPr>
        </p:nvSpPr>
        <p:spPr/>
        <p:txBody>
          <a:bodyPr/>
          <a:lstStyle/>
          <a:p>
            <a:fld id="{C0343C75-1924-D247-85A3-0CB62E67E5D1}" type="slidenum">
              <a:rPr lang="en-US" smtClean="0"/>
              <a:t>25</a:t>
            </a:fld>
            <a:endParaRPr lang="en-US"/>
          </a:p>
        </p:txBody>
      </p:sp>
    </p:spTree>
    <p:extLst>
      <p:ext uri="{BB962C8B-B14F-4D97-AF65-F5344CB8AC3E}">
        <p14:creationId xmlns:p14="http://schemas.microsoft.com/office/powerpoint/2010/main" val="3273839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8F41-73AF-2FE0-18CE-2743A6437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0FB9D-E7E4-FE1B-1A19-9A2E846826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9794CF-6B0A-B06F-DFF3-9A1B2BE0CA6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FA18C70-EF25-DA32-D7F2-91859E10209B}"/>
              </a:ext>
            </a:extLst>
          </p:cNvPr>
          <p:cNvSpPr>
            <a:spLocks noGrp="1"/>
          </p:cNvSpPr>
          <p:nvPr>
            <p:ph type="sldNum" sz="quarter" idx="12"/>
          </p:nvPr>
        </p:nvSpPr>
        <p:spPr/>
        <p:txBody>
          <a:bodyPr/>
          <a:lstStyle/>
          <a:p>
            <a:fld id="{C0343C75-1924-D247-85A3-0CB62E67E5D1}" type="slidenum">
              <a:rPr lang="en-US" smtClean="0"/>
              <a:t>26</a:t>
            </a:fld>
            <a:endParaRPr lang="en-US"/>
          </a:p>
        </p:txBody>
      </p:sp>
    </p:spTree>
    <p:extLst>
      <p:ext uri="{BB962C8B-B14F-4D97-AF65-F5344CB8AC3E}">
        <p14:creationId xmlns:p14="http://schemas.microsoft.com/office/powerpoint/2010/main" val="3533329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78A9-DF75-760E-5946-D5CB9BB0CCCA}"/>
              </a:ext>
            </a:extLst>
          </p:cNvPr>
          <p:cNvSpPr>
            <a:spLocks noGrp="1"/>
          </p:cNvSpPr>
          <p:nvPr>
            <p:ph type="title"/>
          </p:nvPr>
        </p:nvSpPr>
        <p:spPr/>
        <p:txBody>
          <a:bodyPr/>
          <a:lstStyle/>
          <a:p>
            <a:r>
              <a:rPr lang="en-US" dirty="0"/>
              <a:t>More References</a:t>
            </a:r>
          </a:p>
        </p:txBody>
      </p:sp>
      <p:sp>
        <p:nvSpPr>
          <p:cNvPr id="3" name="Content Placeholder 2">
            <a:extLst>
              <a:ext uri="{FF2B5EF4-FFF2-40B4-BE49-F238E27FC236}">
                <a16:creationId xmlns:a16="http://schemas.microsoft.com/office/drawing/2014/main" id="{9D8C69DB-0DB5-ECA1-24D0-4233342F2729}"/>
              </a:ext>
            </a:extLst>
          </p:cNvPr>
          <p:cNvSpPr>
            <a:spLocks noGrp="1"/>
          </p:cNvSpPr>
          <p:nvPr>
            <p:ph idx="1"/>
          </p:nvPr>
        </p:nvSpPr>
        <p:spPr/>
        <p:txBody>
          <a:bodyPr/>
          <a:lstStyle/>
          <a:p>
            <a:r>
              <a:rPr lang="en-US" dirty="0"/>
              <a:t>Cartographic Design Process</a:t>
            </a:r>
            <a:br>
              <a:rPr lang="en-US" dirty="0"/>
            </a:br>
            <a:r>
              <a:rPr lang="en-US" sz="1400" dirty="0">
                <a:hlinkClick r:id="rId2"/>
              </a:rPr>
              <a:t>https://colorado.pressbooks.pub/makingmaps/chapter/cartographic-design-process/</a:t>
            </a:r>
            <a:endParaRPr lang="en-US" sz="1400" dirty="0"/>
          </a:p>
          <a:p>
            <a:r>
              <a:rPr lang="en-US" dirty="0"/>
              <a:t>Crime Mapping and Spatial Data Analysis using R</a:t>
            </a:r>
            <a:br>
              <a:rPr lang="en-US" dirty="0"/>
            </a:br>
            <a:r>
              <a:rPr lang="en-US" sz="1400" dirty="0"/>
              <a:t>Chapter 6 </a:t>
            </a:r>
            <a:r>
              <a:rPr lang="en-US" sz="1400" b="1" dirty="0"/>
              <a:t>Basics of cartographic design: elements of a map</a:t>
            </a:r>
            <a:br>
              <a:rPr lang="en-US" sz="1400" dirty="0"/>
            </a:br>
            <a:r>
              <a:rPr lang="en-US" sz="1400" dirty="0">
                <a:hlinkClick r:id="rId3"/>
              </a:rPr>
              <a:t>https://maczokni.github.io/crime_mapping/basics-of-cartographic-design-elements-of-a-map.html</a:t>
            </a:r>
            <a:endParaRPr lang="en-US" sz="1400" dirty="0"/>
          </a:p>
          <a:p>
            <a:endParaRPr lang="en-US" dirty="0"/>
          </a:p>
          <a:p>
            <a:endParaRPr lang="en-US" dirty="0"/>
          </a:p>
        </p:txBody>
      </p:sp>
      <p:sp>
        <p:nvSpPr>
          <p:cNvPr id="4" name="Slide Number Placeholder 3">
            <a:extLst>
              <a:ext uri="{FF2B5EF4-FFF2-40B4-BE49-F238E27FC236}">
                <a16:creationId xmlns:a16="http://schemas.microsoft.com/office/drawing/2014/main" id="{D2808ED0-60BE-81B0-39D1-0C0EE44FDD5E}"/>
              </a:ext>
            </a:extLst>
          </p:cNvPr>
          <p:cNvSpPr>
            <a:spLocks noGrp="1"/>
          </p:cNvSpPr>
          <p:nvPr>
            <p:ph type="sldNum" sz="quarter" idx="12"/>
          </p:nvPr>
        </p:nvSpPr>
        <p:spPr/>
        <p:txBody>
          <a:bodyPr/>
          <a:lstStyle/>
          <a:p>
            <a:fld id="{C0343C75-1924-D247-85A3-0CB62E67E5D1}" type="slidenum">
              <a:rPr lang="en-US" smtClean="0"/>
              <a:t>27</a:t>
            </a:fld>
            <a:endParaRPr lang="en-US"/>
          </a:p>
        </p:txBody>
      </p:sp>
    </p:spTree>
    <p:extLst>
      <p:ext uri="{BB962C8B-B14F-4D97-AF65-F5344CB8AC3E}">
        <p14:creationId xmlns:p14="http://schemas.microsoft.com/office/powerpoint/2010/main" val="2393416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E3741-84A4-3587-68D3-9D65C0A01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6800B-4DDB-E29C-61D8-221674B1EDAB}"/>
              </a:ext>
            </a:extLst>
          </p:cNvPr>
          <p:cNvSpPr>
            <a:spLocks noGrp="1"/>
          </p:cNvSpPr>
          <p:nvPr>
            <p:ph type="title"/>
          </p:nvPr>
        </p:nvSpPr>
        <p:spPr/>
        <p:txBody>
          <a:bodyPr/>
          <a:lstStyle/>
          <a:p>
            <a:r>
              <a:rPr lang="en-US" dirty="0"/>
              <a:t>Next</a:t>
            </a:r>
          </a:p>
        </p:txBody>
      </p:sp>
      <p:sp>
        <p:nvSpPr>
          <p:cNvPr id="3" name="Content Placeholder 2">
            <a:extLst>
              <a:ext uri="{FF2B5EF4-FFF2-40B4-BE49-F238E27FC236}">
                <a16:creationId xmlns:a16="http://schemas.microsoft.com/office/drawing/2014/main" id="{38739DCE-20B0-86B8-B3DF-D3CD62E73B09}"/>
              </a:ext>
            </a:extLst>
          </p:cNvPr>
          <p:cNvSpPr>
            <a:spLocks noGrp="1"/>
          </p:cNvSpPr>
          <p:nvPr>
            <p:ph idx="1"/>
          </p:nvPr>
        </p:nvSpPr>
        <p:spPr/>
        <p:txBody>
          <a:bodyPr/>
          <a:lstStyle/>
          <a:p>
            <a:r>
              <a:rPr lang="en-US" dirty="0"/>
              <a:t>Getting started with statistical learning</a:t>
            </a:r>
          </a:p>
          <a:p>
            <a:pPr lvl="1"/>
            <a:r>
              <a:rPr lang="en-US" dirty="0"/>
              <a:t>Exploratory spatial data analysis</a:t>
            </a:r>
            <a:br>
              <a:rPr lang="en-US" dirty="0"/>
            </a:br>
            <a:r>
              <a:rPr lang="en-US" sz="1600" dirty="0">
                <a:hlinkClick r:id="rId2"/>
              </a:rPr>
              <a:t>https://cran.r-project.org/web/packages/geostan/vignettes/measuring-sa.html</a:t>
            </a:r>
            <a:endParaRPr lang="en-US" sz="1600" dirty="0"/>
          </a:p>
          <a:p>
            <a:pPr lvl="1"/>
            <a:r>
              <a:rPr lang="en-US" dirty="0"/>
              <a:t>Measures of spatial autocorrelation</a:t>
            </a:r>
            <a:br>
              <a:rPr lang="en-US" dirty="0"/>
            </a:br>
            <a:r>
              <a:rPr lang="en-US" sz="1600" dirty="0">
                <a:hlinkClick r:id="rId3"/>
              </a:rPr>
              <a:t>https://r-spatial.org/book/15-Measures.html</a:t>
            </a:r>
            <a:endParaRPr lang="en-US" sz="1600" dirty="0"/>
          </a:p>
          <a:p>
            <a:pPr lvl="1"/>
            <a:r>
              <a:rPr lang="en-US" dirty="0"/>
              <a:t>Point pattern analysis</a:t>
            </a:r>
            <a:br>
              <a:rPr lang="en-US" dirty="0"/>
            </a:br>
            <a:r>
              <a:rPr lang="en-US" sz="1600" dirty="0">
                <a:hlinkClick r:id="rId4"/>
              </a:rPr>
              <a:t>https://r-spatial.org/book/11-PointPattern.html</a:t>
            </a:r>
            <a:endParaRPr lang="en-US" dirty="0"/>
          </a:p>
          <a:p>
            <a:pPr lvl="1"/>
            <a:r>
              <a:rPr lang="en-US" dirty="0"/>
              <a:t>Spatial interpolation</a:t>
            </a:r>
            <a:br>
              <a:rPr lang="en-US" dirty="0"/>
            </a:br>
            <a:r>
              <a:rPr lang="en-US" sz="1600" dirty="0">
                <a:hlinkClick r:id="rId5"/>
              </a:rPr>
              <a:t>https://r-spatial.org/book/12-Interpolation.html</a:t>
            </a:r>
            <a:endParaRPr lang="en-US" dirty="0"/>
          </a:p>
        </p:txBody>
      </p:sp>
      <p:sp>
        <p:nvSpPr>
          <p:cNvPr id="4" name="Slide Number Placeholder 3">
            <a:extLst>
              <a:ext uri="{FF2B5EF4-FFF2-40B4-BE49-F238E27FC236}">
                <a16:creationId xmlns:a16="http://schemas.microsoft.com/office/drawing/2014/main" id="{B982C76C-A760-A154-6CE6-5A0BE42A67AC}"/>
              </a:ext>
            </a:extLst>
          </p:cNvPr>
          <p:cNvSpPr>
            <a:spLocks noGrp="1"/>
          </p:cNvSpPr>
          <p:nvPr>
            <p:ph type="sldNum" sz="quarter" idx="12"/>
          </p:nvPr>
        </p:nvSpPr>
        <p:spPr/>
        <p:txBody>
          <a:bodyPr/>
          <a:lstStyle/>
          <a:p>
            <a:fld id="{C0343C75-1924-D247-85A3-0CB62E67E5D1}" type="slidenum">
              <a:rPr lang="en-US" smtClean="0"/>
              <a:t>28</a:t>
            </a:fld>
            <a:endParaRPr lang="en-US"/>
          </a:p>
        </p:txBody>
      </p:sp>
    </p:spTree>
    <p:extLst>
      <p:ext uri="{BB962C8B-B14F-4D97-AF65-F5344CB8AC3E}">
        <p14:creationId xmlns:p14="http://schemas.microsoft.com/office/powerpoint/2010/main" val="20760177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AAD8946F-0F31-3B4A-8CB9-5FA22C3CE7DB}" vid="{C0D572B3-B117-984B-94A9-96E09E0151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421</TotalTime>
  <Words>614</Words>
  <Application>Microsoft Macintosh PowerPoint</Application>
  <PresentationFormat>On-screen Show (4:3)</PresentationFormat>
  <Paragraphs>79</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Consolas</vt:lpstr>
      <vt:lpstr>Office Theme</vt:lpstr>
      <vt:lpstr>Making Maps and Cartographic Design</vt:lpstr>
      <vt:lpstr>Project Proposal Updates</vt:lpstr>
      <vt:lpstr>Introduction</vt:lpstr>
      <vt:lpstr>PowerPoint Presentation</vt:lpstr>
      <vt:lpstr>Static maps</vt:lpstr>
      <vt:lpstr>PowerPoint Presentation</vt:lpstr>
      <vt:lpstr>PowerPoint Presentation</vt:lpstr>
      <vt:lpstr>Map showing the elements that can be part of a map layout</vt:lpstr>
      <vt:lpstr>A General Reference Map</vt:lpstr>
      <vt:lpstr>Data Representation Thematic Maps</vt:lpstr>
      <vt:lpstr>Data Representation Symbols</vt:lpstr>
      <vt:lpstr>Data Representation Rate vs Count</vt:lpstr>
      <vt:lpstr>Data Representation Colour</vt:lpstr>
      <vt:lpstr>Text</vt:lpstr>
      <vt:lpstr>Legend</vt:lpstr>
      <vt:lpstr>Annotation/Production Notes</vt:lpstr>
      <vt:lpstr>Composition / Orientation / Scale</vt:lpstr>
      <vt:lpstr>Context Basemap</vt:lpstr>
      <vt:lpstr>Context Inset Maps</vt:lpstr>
      <vt:lpstr>PowerPoint Presentation</vt:lpstr>
      <vt:lpstr>Animated maps</vt:lpstr>
      <vt:lpstr>PowerPoint Presentation</vt:lpstr>
      <vt:lpstr>Interactive maps</vt:lpstr>
      <vt:lpstr>PowerPoint Presentation</vt:lpstr>
      <vt:lpstr>Mapping applications</vt:lpstr>
      <vt:lpstr>PowerPoint Presentation</vt:lpstr>
      <vt:lpstr>More References</vt:lpstr>
      <vt:lpstr>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Alexander Abuabara</cp:lastModifiedBy>
  <cp:revision>95</cp:revision>
  <dcterms:created xsi:type="dcterms:W3CDTF">2026-03-25T20:47:13Z</dcterms:created>
  <dcterms:modified xsi:type="dcterms:W3CDTF">2026-04-01T20:22:39Z</dcterms:modified>
  <cp:category/>
</cp:coreProperties>
</file>