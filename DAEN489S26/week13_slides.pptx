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390" r:id="rId3"/>
    <p:sldId id="403" r:id="rId4"/>
    <p:sldId id="370" r:id="rId5"/>
    <p:sldId id="404" r:id="rId6"/>
    <p:sldId id="392" r:id="rId7"/>
    <p:sldId id="391" r:id="rId8"/>
    <p:sldId id="371" r:id="rId9"/>
    <p:sldId id="372" r:id="rId10"/>
    <p:sldId id="379" r:id="rId11"/>
    <p:sldId id="389" r:id="rId12"/>
    <p:sldId id="369" r:id="rId13"/>
    <p:sldId id="381" r:id="rId14"/>
    <p:sldId id="394" r:id="rId15"/>
    <p:sldId id="396" r:id="rId16"/>
    <p:sldId id="398" r:id="rId17"/>
    <p:sldId id="395" r:id="rId18"/>
    <p:sldId id="383" r:id="rId19"/>
    <p:sldId id="382" r:id="rId20"/>
    <p:sldId id="384" r:id="rId21"/>
    <p:sldId id="386" r:id="rId22"/>
    <p:sldId id="401" r:id="rId23"/>
    <p:sldId id="400" r:id="rId24"/>
    <p:sldId id="397" r:id="rId25"/>
    <p:sldId id="399" r:id="rId26"/>
    <p:sldId id="385" r:id="rId27"/>
    <p:sldId id="387" r:id="rId28"/>
    <p:sldId id="343" r:id="rId29"/>
    <p:sldId id="380" r:id="rId30"/>
    <p:sldId id="365" r:id="rId31"/>
    <p:sldId id="354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416"/>
    <a:srgbClr val="C00000"/>
    <a:srgbClr val="CDF0E4"/>
    <a:srgbClr val="9CB6AC"/>
    <a:srgbClr val="FFD84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29"/>
    <p:restoredTop sz="95545"/>
  </p:normalViewPr>
  <p:slideViewPr>
    <p:cSldViewPr snapToGrid="0">
      <p:cViewPr varScale="1">
        <p:scale>
          <a:sx n="124" d="100"/>
          <a:sy n="124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FB6DC-B598-8B49-8FDB-37BE75E655AD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5A32-F46A-7344-9EED-8329BFD45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22363"/>
            <a:ext cx="82296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82295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A6D9-2D7F-9442-BED1-4D7FFC9A34F4}" type="datetime1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E58ED-569E-7141-BEA4-8F66F85D6EA8}" type="datetime1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9"/>
            <a:ext cx="8229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4"/>
            <a:ext cx="8229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CD10-D7BB-1A41-A802-BCEB6EE7274C}" type="datetime1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8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580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4580891"/>
          </a:xfrm>
          <a:solidFill>
            <a:srgbClr val="002060"/>
          </a:solidFill>
        </p:spPr>
        <p:txBody>
          <a:bodyPr/>
          <a:lstStyle>
            <a:lvl1pPr>
              <a:buNone/>
              <a:defRPr sz="1600" b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buNone/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A2C-1A5C-EB4D-A972-6AE3285E62FE}" type="datetime1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4040982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96932"/>
            <a:ext cx="4040982" cy="3792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057650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96932"/>
            <a:ext cx="4057650" cy="3792731"/>
          </a:xfrm>
          <a:solidFill>
            <a:srgbClr val="002060"/>
          </a:solidFill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F2D4-C57D-2449-85CE-67A0F42FDA3B}" type="datetime1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5B4F-A2D4-8548-B798-9B676580887F}" type="datetime1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453A-5CCA-2B47-B840-00C815B24B38}" type="datetime1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6524"/>
            <a:ext cx="8229600" cy="1280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517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5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88FA9-E09B-F247-9C69-3141F5729F41}" type="datetime1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356351"/>
            <a:ext cx="365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3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ooh/math/data-scientists.htm" TargetMode="External"/><Relationship Id="rId2" Type="http://schemas.openxmlformats.org/officeDocument/2006/relationships/hyperlink" Target="https://www.bls.gov/ooh/fastest-growing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hyperlink" Target="https://karpathy.ai/jobs/" TargetMode="External"/><Relationship Id="rId4" Type="http://schemas.openxmlformats.org/officeDocument/2006/relationships/hyperlink" Target="https://www.bls.gov/ooh/architecture-and-engineering/industrial-engineers.ht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eostan/vignettes/spatial-analysis.html" TargetMode="External"/><Relationship Id="rId2" Type="http://schemas.openxmlformats.org/officeDocument/2006/relationships/hyperlink" Target="https://cran.r-project.org/web/packages/geostan/vignettes/measuring-s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geostan/vignettes/raster-regression.html" TargetMode="External"/><Relationship Id="rId5" Type="http://schemas.openxmlformats.org/officeDocument/2006/relationships/hyperlink" Target="https://cran.r-project.org/web/packages/geostan/vignettes/custom-spatial-models.html" TargetMode="External"/><Relationship Id="rId4" Type="http://schemas.openxmlformats.org/officeDocument/2006/relationships/hyperlink" Target="https://cran.r-project.org/web/packages/geostan/vignettes/spatial-me-models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-spatial.org/book/16-SpatialRegression.html" TargetMode="External"/><Relationship Id="rId2" Type="http://schemas.openxmlformats.org/officeDocument/2006/relationships/hyperlink" Target="https://r-spatial.org/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-spatial.org/book/17-Econometrics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riction_of_distance" TargetMode="External"/><Relationship Id="rId2" Type="http://schemas.openxmlformats.org/officeDocument/2006/relationships/hyperlink" Target="https://legacy.geog.ucsb.edu/tobler-map-projection-used-for-wikipedia-featured-pictu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E524-E5FF-51D1-243B-26982FBA4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 of</a:t>
            </a:r>
            <a:br>
              <a:rPr lang="en-US" dirty="0"/>
            </a:br>
            <a:r>
              <a:rPr lang="en-US" dirty="0"/>
              <a:t>Spatial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24C6C-7F39-D280-5F4E-FDDD50584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Alexander Abuabara</a:t>
            </a:r>
          </a:p>
          <a:p>
            <a:r>
              <a:rPr lang="en-US" dirty="0"/>
              <a:t>DAEN 489 ISEN 489 Spring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8EBE0-BF84-E506-2E75-D9731D5B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8" y="5861278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1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3B31-1853-B7E0-3AFC-5360573C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E1AB-5D47-52F4-D916-218B0389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750B-0C80-4756-FEFE-6AFE73C8B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all know: "</a:t>
            </a:r>
            <a:r>
              <a:rPr lang="en-US" i="1" dirty="0"/>
              <a:t>Go to college, get a better job, make more money</a:t>
            </a:r>
            <a:r>
              <a:rPr lang="en-US" dirty="0"/>
              <a:t>"</a:t>
            </a:r>
          </a:p>
          <a:p>
            <a:r>
              <a:rPr lang="en-US" dirty="0"/>
              <a:t>Let us look at all 254 Texas counties</a:t>
            </a:r>
          </a:p>
          <a:p>
            <a:r>
              <a:rPr lang="en-US" dirty="0"/>
              <a:t>See if education is a driver of wealth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8D0FF-DDE3-D9CB-F064-3C598768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FB5F8-6232-000E-EB75-56FF0B06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263" y="2881313"/>
            <a:ext cx="516747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8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E88ECA-2DC5-2698-C32D-48F7E24F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4A0C0F-47A5-B9E6-10EE-E23C9886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67" y="1432870"/>
            <a:ext cx="7772400" cy="417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7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32B2-7A0C-556E-17A2-4B123EFA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4618-E829-A3C1-7E3C-82AF0F00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EAF4-11FC-448A-1F8B-4C01FB87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Pulled 2022 ACS 5-year census data.</a:t>
            </a:r>
          </a:p>
          <a:p>
            <a:r>
              <a:rPr lang="en-US" b="1" dirty="0"/>
              <a:t>Dependent Variable</a:t>
            </a:r>
            <a:r>
              <a:rPr lang="en-US" dirty="0"/>
              <a:t>: Median  Household Income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153FE-C5BE-7F1C-FA3A-E40BD1DE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0C316-59C0-3806-709D-CBDE6C94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52295" y="2502707"/>
            <a:ext cx="5741613" cy="1714054"/>
          </a:xfrm>
          <a:prstGeom prst="rect">
            <a:avLst/>
          </a:prstGeom>
        </p:spPr>
      </p:pic>
      <p:pic>
        <p:nvPicPr>
          <p:cNvPr id="9" name="Content Placeholder 6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44DAD73A-5A1C-2E9C-4F7D-F070F01E4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86" y="4216761"/>
            <a:ext cx="4829826" cy="24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150B-DE55-3702-E9BE-F741A76C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633ACF5-C898-4CAB-06D6-91D2B9EA3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95" y="4710430"/>
            <a:ext cx="5513384" cy="1645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67E846-AEBE-DD84-D055-8129ECF2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E371-46A1-6BB5-36FC-6C1508C2C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Pulled 2022 ACS 5-year census data.</a:t>
            </a:r>
          </a:p>
          <a:p>
            <a:r>
              <a:rPr lang="en-US" b="1" dirty="0"/>
              <a:t>Dependent Variable</a:t>
            </a:r>
            <a:r>
              <a:rPr lang="en-US" dirty="0"/>
              <a:t>: Median  Household Income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r>
              <a:rPr lang="en-US" b="1" dirty="0"/>
              <a:t>Independent Variable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Percentage of adults with a Bachelor's degree or higher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7DD7-4A17-8039-7DDA-96E48175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3909B-B18A-05B6-A620-11F236CD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2295" y="2502707"/>
            <a:ext cx="5741613" cy="171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4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1D3D7-D49C-7125-3940-3F4A31BB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D044F-A82E-D375-5137-6CCB0F8F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52872"/>
            <a:ext cx="7772400" cy="455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8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8D43-0EBB-61FA-D769-AFBEBDFA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(OLS)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8DCFA-1A28-B647-110F-E9A8B386D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6684"/>
                <a:ext cx="8229600" cy="4755833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First model, a simple linear regression: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lvl="1"/>
                <a:r>
                  <a:rPr lang="en-US" sz="1800" dirty="0"/>
                  <a:t>Y: Median Household Income.</a:t>
                </a:r>
              </a:p>
              <a:p>
                <a:pPr lvl="1"/>
                <a:r>
                  <a:rPr lang="en-US" sz="1800" dirty="0"/>
                  <a:t>X: % with a Bachelor's degree or higher.</a:t>
                </a:r>
              </a:p>
              <a:p>
                <a:r>
                  <a:rPr lang="en-US" sz="1800" dirty="0"/>
                  <a:t>This model assumes </a:t>
                </a:r>
                <a:r>
                  <a:rPr lang="el-GR" sz="1800" dirty="0"/>
                  <a:t>ϵ (</a:t>
                </a:r>
                <a:r>
                  <a:rPr lang="en-US" sz="1800" dirty="0"/>
                  <a:t>the error) is independent.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8DCFA-1A28-B647-110F-E9A8B386D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6684"/>
                <a:ext cx="8229600" cy="4755833"/>
              </a:xfrm>
              <a:blipFill>
                <a:blip r:embed="rId2"/>
                <a:stretch>
                  <a:fillRect l="-463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89D0-D04A-92BB-77B6-0F964AF8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ACC49-7CFF-2989-F76B-61EF7AB76717}"/>
              </a:ext>
            </a:extLst>
          </p:cNvPr>
          <p:cNvSpPr txBox="1"/>
          <p:nvPr/>
        </p:nvSpPr>
        <p:spPr>
          <a:xfrm>
            <a:off x="1827516" y="3724861"/>
            <a:ext cx="480188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Dependent variable:   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med_income_k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(1)                  (2)  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r>
              <a:rPr lang="en-US" sz="11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pct_with_diploma</a:t>
            </a:r>
            <a:r>
              <a:rPr lang="en-US" sz="11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1.03***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Constant                62.04***            33.13***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Observations              253                  253      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R2                        0.00                0.38          </a:t>
            </a:r>
          </a:p>
          <a:p>
            <a:r>
              <a:rPr lang="en-US" sz="11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Residual Std. Error 15.23 (</a:t>
            </a:r>
            <a:r>
              <a:rPr lang="en-US" sz="11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1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252)    11.98 (</a:t>
            </a:r>
            <a:r>
              <a:rPr lang="en-US" sz="11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1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251) 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 Statistic                          156.10*** 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1; 251)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Note:                            *p&lt;0.1; **p&lt;0.05; ***p&lt;0.01</a:t>
            </a:r>
          </a:p>
        </p:txBody>
      </p:sp>
    </p:spTree>
    <p:extLst>
      <p:ext uri="{BB962C8B-B14F-4D97-AF65-F5344CB8AC3E}">
        <p14:creationId xmlns:p14="http://schemas.microsoft.com/office/powerpoint/2010/main" val="409131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A691-D7BB-2FDB-7DEE-AC0A8A1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0DB134-4C32-B8B5-2B03-9BBA5D5C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46" y="776604"/>
            <a:ext cx="8118356" cy="4754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4D7E8-7D0A-6743-6D9C-1F25DA5A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Baseline (OLS)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4ED2-4C81-A5A5-1EE5-DF42815F2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49555"/>
            <a:ext cx="8229600" cy="1280160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As education goes up, income follows.</a:t>
            </a:r>
          </a:p>
          <a:p>
            <a:r>
              <a:rPr lang="en-US" sz="1400" dirty="0"/>
              <a:t>Basic scatterplot and baseline model shows a strong, positive correlation</a:t>
            </a:r>
          </a:p>
          <a:p>
            <a:pPr lvl="1"/>
            <a:r>
              <a:rPr lang="en-US" sz="1400" dirty="0"/>
              <a:t>This model assumes </a:t>
            </a:r>
            <a:r>
              <a:rPr lang="en-US" sz="1400" u="sng" dirty="0"/>
              <a:t>every county is independent</a:t>
            </a:r>
            <a:r>
              <a:rPr lang="en-US" sz="1400" dirty="0"/>
              <a:t>*</a:t>
            </a:r>
          </a:p>
          <a:p>
            <a:pPr lvl="1"/>
            <a:r>
              <a:rPr lang="en-US" sz="1400" dirty="0"/>
              <a:t>It assumes that what happens in Travis County has zero effect on Williamson County.</a:t>
            </a:r>
          </a:p>
          <a:p>
            <a:pPr lvl="1"/>
            <a:r>
              <a:rPr lang="en-US" sz="1400" dirty="0"/>
              <a:t>We know that's not how the real-world works.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0534-9210-D83B-FB7C-0B5657A0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E65003-1DD3-333C-4CE6-3078F7A95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95825" y="1966352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2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595A1BEE-BF0C-EDE0-5EC8-A799BD536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619963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In a standard Ordinary Least Squares (OLS) regression, one of the core "Gauss-Markov" assumptions is that the observations (specifically the error terms) are independent of one another.</a:t>
                </a:r>
              </a:p>
              <a:p>
                <a:r>
                  <a:rPr lang="en-US" sz="1800" dirty="0"/>
                  <a:t>When this assumption is met, the covariance between any two different error terms is zero: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r>
                  <a:rPr lang="en-US" sz="1800" b="1" dirty="0"/>
                  <a:t>Why Independence Matters?</a:t>
                </a:r>
              </a:p>
              <a:p>
                <a:pPr lvl="1"/>
                <a:r>
                  <a:rPr lang="en-US" sz="1800" b="1" dirty="0"/>
                  <a:t>Standard Errors</a:t>
                </a:r>
                <a:r>
                  <a:rPr lang="en-US" sz="1800" dirty="0"/>
                  <a:t>: If observations are correlated, OLS will typically underestimate the standard errors.</a:t>
                </a:r>
              </a:p>
              <a:p>
                <a:pPr lvl="2"/>
                <a:r>
                  <a:rPr lang="en-US" sz="1800" dirty="0"/>
                  <a:t>This leads to artificially low p-values and "false positives"</a:t>
                </a:r>
                <a:br>
                  <a:rPr lang="en-US" sz="1800" dirty="0"/>
                </a:br>
                <a:r>
                  <a:rPr lang="en-US" sz="1800" dirty="0"/>
                  <a:t>(Type I errors)</a:t>
                </a:r>
              </a:p>
              <a:p>
                <a:pPr lvl="1"/>
                <a:r>
                  <a:rPr lang="en-US" sz="1800" b="1" dirty="0"/>
                  <a:t>Reliability</a:t>
                </a:r>
                <a:r>
                  <a:rPr lang="en-US" sz="1800" dirty="0"/>
                  <a:t>: You might think a relationship is statistically significant when, in reality, you just have a bunch of repeating patterns in your data.</a:t>
                </a:r>
              </a:p>
              <a:p>
                <a:r>
                  <a:rPr lang="en-US" sz="1800" dirty="0"/>
                  <a:t>Common Ways Independence is Violated</a:t>
                </a:r>
              </a:p>
              <a:p>
                <a:pPr lvl="1"/>
                <a:r>
                  <a:rPr lang="en-US" sz="1800" dirty="0"/>
                  <a:t>Autocorrelation (Time Series)</a:t>
                </a:r>
              </a:p>
              <a:p>
                <a:pPr lvl="1"/>
                <a:r>
                  <a:rPr lang="en-US" sz="1800" dirty="0"/>
                  <a:t>Clustering (Grouped Data)</a:t>
                </a:r>
              </a:p>
              <a:p>
                <a:pPr lvl="1"/>
                <a:r>
                  <a:rPr lang="en-US" sz="1800" dirty="0"/>
                  <a:t>Spatial Correlation</a:t>
                </a:r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595A1BEE-BF0C-EDE0-5EC8-A799BD536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619963"/>
              </a:xfrm>
              <a:blipFill>
                <a:blip r:embed="rId2"/>
                <a:stretch>
                  <a:fillRect l="-463" t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48A92-9398-EF96-E9DF-ADFAEFC3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2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64C9-17FD-1046-9A40-AAFDB05D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947AF-205A-74A9-BE7C-52470499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0" r="5250"/>
          <a:stretch>
            <a:fillRect/>
          </a:stretch>
        </p:blipFill>
        <p:spPr>
          <a:xfrm>
            <a:off x="589736" y="822960"/>
            <a:ext cx="7964528" cy="52120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8E311-E3CB-5F68-708D-4713AD43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10</a:t>
            </a:fld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094A3A-C8E7-A341-E03E-B6607F2AA593}"/>
              </a:ext>
            </a:extLst>
          </p:cNvPr>
          <p:cNvCxnSpPr>
            <a:cxnSpLocks/>
          </p:cNvCxnSpPr>
          <p:nvPr/>
        </p:nvCxnSpPr>
        <p:spPr>
          <a:xfrm flipH="1" flipV="1">
            <a:off x="6074596" y="4202131"/>
            <a:ext cx="1583504" cy="1458930"/>
          </a:xfrm>
          <a:prstGeom prst="straightConnector1">
            <a:avLst/>
          </a:prstGeom>
          <a:ln w="38100">
            <a:solidFill>
              <a:srgbClr val="F5A416">
                <a:alpha val="74781"/>
              </a:srgbClr>
            </a:solidFill>
            <a:prstDash val="sysDot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884717-9A31-3470-370F-10008434D76B}"/>
              </a:ext>
            </a:extLst>
          </p:cNvPr>
          <p:cNvSpPr txBox="1"/>
          <p:nvPr/>
        </p:nvSpPr>
        <p:spPr>
          <a:xfrm>
            <a:off x="7658100" y="5476395"/>
            <a:ext cx="85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Brazos</a:t>
            </a:r>
          </a:p>
        </p:txBody>
      </p:sp>
    </p:spTree>
    <p:extLst>
      <p:ext uri="{BB962C8B-B14F-4D97-AF65-F5344CB8AC3E}">
        <p14:creationId xmlns:p14="http://schemas.microsoft.com/office/powerpoint/2010/main" val="124257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A3B60E-6095-9742-682B-2610CC0B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FF474-E6CF-18BC-D54D-9BD3EE4D89D1}"/>
              </a:ext>
            </a:extLst>
          </p:cNvPr>
          <p:cNvSpPr txBox="1"/>
          <p:nvPr/>
        </p:nvSpPr>
        <p:spPr>
          <a:xfrm>
            <a:off x="267128" y="136524"/>
            <a:ext cx="82541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PS. Just sharing some labor statistics data:</a:t>
            </a:r>
          </a:p>
          <a:p>
            <a:r>
              <a:rPr lang="en-US" dirty="0"/>
              <a:t>- </a:t>
            </a:r>
            <a:r>
              <a:rPr lang="en-US" dirty="0">
                <a:hlinkClick r:id="rId2"/>
              </a:rPr>
              <a:t>https://www.bls.gov/ooh/fastest-growing.htm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>
                <a:hlinkClick r:id="rId3"/>
              </a:rPr>
              <a:t>https://www.bls.gov/ooh/math/data-scientists.htm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>
                <a:hlinkClick r:id="rId4"/>
              </a:rPr>
              <a:t>https://www.bls.gov/ooh/architecture-and-engineering/industrial-engineers.htm</a:t>
            </a:r>
            <a:endParaRPr lang="en-US" dirty="0"/>
          </a:p>
          <a:p>
            <a:endParaRPr lang="en-US" dirty="0"/>
          </a:p>
          <a:p>
            <a:r>
              <a:rPr lang="en-US" dirty="0"/>
              <a:t>PS. This job market visualization (</a:t>
            </a:r>
            <a:r>
              <a:rPr lang="en-US" dirty="0">
                <a:hlinkClick r:id="rId5"/>
              </a:rPr>
              <a:t>https://karpathy.ai/jobs/</a:t>
            </a:r>
            <a:r>
              <a:rPr lang="en-US" dirty="0"/>
              <a:t>) is also interesting …</a:t>
            </a:r>
          </a:p>
          <a:p>
            <a:r>
              <a:rPr lang="en-US" dirty="0"/>
              <a:t>helps to see the size of each area in the overall working force.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CB2DE-4290-E6F3-99DB-B22551BB41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312"/>
          <a:stretch>
            <a:fillRect/>
          </a:stretch>
        </p:blipFill>
        <p:spPr>
          <a:xfrm>
            <a:off x="1435907" y="2424701"/>
            <a:ext cx="6222193" cy="411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2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64BB-9C86-6E11-1D36-2C1F72B7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50FD-F6DE-817E-3AC0-AC5B57B1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Geography could also be an influencer too 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D75D8-9A55-B844-6A75-717F08B6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3417D4-62EE-20CF-8AB9-B3DB78DA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603" y="2057400"/>
            <a:ext cx="361079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9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6758-C7F7-3704-3F8C-54F93A0F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83B8E-CF9C-4C67-4F6C-05728709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9FDBC6-CA87-F305-791F-DB71D54D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487" y="149115"/>
            <a:ext cx="3841825" cy="3279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B961A6-8D13-40BD-E030-38F4579A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88" y="1801648"/>
            <a:ext cx="3841825" cy="32798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9D0BE-F710-502C-E8B1-13F76604E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486" y="3441590"/>
            <a:ext cx="3841825" cy="327988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63FAA8-7213-3F6D-0DE1-3C313DA7F960}"/>
              </a:ext>
            </a:extLst>
          </p:cNvPr>
          <p:cNvCxnSpPr>
            <a:cxnSpLocks/>
          </p:cNvCxnSpPr>
          <p:nvPr/>
        </p:nvCxnSpPr>
        <p:spPr>
          <a:xfrm>
            <a:off x="4572000" y="3441590"/>
            <a:ext cx="472611" cy="359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59869A-9C99-C0C3-3168-0271A1D0D936}"/>
              </a:ext>
            </a:extLst>
          </p:cNvPr>
          <p:cNvCxnSpPr>
            <a:cxnSpLocks/>
          </p:cNvCxnSpPr>
          <p:nvPr/>
        </p:nvCxnSpPr>
        <p:spPr>
          <a:xfrm flipV="1">
            <a:off x="4572000" y="3041151"/>
            <a:ext cx="472611" cy="4004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8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69F076-B65F-50FE-3CBF-573160243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621" y="4992359"/>
            <a:ext cx="1962757" cy="18656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2FC70-22D6-3D9C-119B-24628DF1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0B2F7-075B-E236-372B-AA6412DAC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80" y="313362"/>
            <a:ext cx="8060468" cy="4720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159F0-110D-C83D-8291-A8F12058BF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7" t="5725" r="9994" b="5077"/>
          <a:stretch>
            <a:fillRect/>
          </a:stretch>
        </p:blipFill>
        <p:spPr>
          <a:xfrm>
            <a:off x="208052" y="4355896"/>
            <a:ext cx="2434975" cy="21887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CF51C1-AE7F-9AE1-810D-06115D4A8762}"/>
              </a:ext>
            </a:extLst>
          </p:cNvPr>
          <p:cNvCxnSpPr>
            <a:cxnSpLocks/>
          </p:cNvCxnSpPr>
          <p:nvPr/>
        </p:nvCxnSpPr>
        <p:spPr>
          <a:xfrm flipV="1">
            <a:off x="1828800" y="4355896"/>
            <a:ext cx="472611" cy="4004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A8D74D-446F-8EE3-B616-C9767A0BFE2B}"/>
              </a:ext>
            </a:extLst>
          </p:cNvPr>
          <p:cNvCxnSpPr>
            <a:cxnSpLocks/>
          </p:cNvCxnSpPr>
          <p:nvPr/>
        </p:nvCxnSpPr>
        <p:spPr>
          <a:xfrm>
            <a:off x="4571999" y="4900773"/>
            <a:ext cx="0" cy="3843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03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BAED94-4C6C-AA02-7485-F1711F75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B7D4DB-D1CB-C2A0-E109-21E78A513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Texas is a patchwork of different economies </a:t>
                </a:r>
                <a:r>
                  <a:rPr lang="en-US" baseline="30000" dirty="0"/>
                  <a:t>(Valley, Permian Basin, High Plains, etc.)</a:t>
                </a:r>
                <a:endParaRPr lang="en-US" dirty="0"/>
              </a:p>
              <a:p>
                <a:r>
                  <a:rPr lang="en-US" dirty="0"/>
                  <a:t>A degree in a rural region might yield a different income than a degree in a tech hub.</a:t>
                </a:r>
              </a:p>
              <a:p>
                <a:r>
                  <a:rPr lang="en-US" dirty="0"/>
                  <a:t>We use a </a:t>
                </a:r>
                <a:r>
                  <a:rPr lang="en-US" b="1" dirty="0"/>
                  <a:t>Random Intercept Model </a:t>
                </a:r>
                <a:r>
                  <a:rPr lang="en-US" dirty="0"/>
                  <a:t>to account for regional nesting: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use K-means clustering to define 5 geographic regions (</a:t>
                </a:r>
                <a:r>
                  <a:rPr lang="en-US" i="1" dirty="0" err="1"/>
                  <a:t>u</a:t>
                </a:r>
                <a:r>
                  <a:rPr lang="en-US" i="1" baseline="-25000" dirty="0" err="1"/>
                  <a:t>j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Goal: To see if the "Education Effect" stays the same once we acknowledge that different parts of Texas have different economic "baselines"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0B7D4DB-D1CB-C2A0-E109-21E78A513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385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BAFA7B-C1A0-7391-7671-4BF5B1D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6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0017-4E11-53EB-1404-A8CB045E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48472F-7499-CC82-BECB-3A907EEB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170AF0-4C74-CD92-8951-BC00726D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EC457-4215-D72C-7C83-CE76C3A7375B}"/>
              </a:ext>
            </a:extLst>
          </p:cNvPr>
          <p:cNvSpPr txBox="1"/>
          <p:nvPr/>
        </p:nvSpPr>
        <p:spPr>
          <a:xfrm>
            <a:off x="960634" y="1608384"/>
            <a:ext cx="72227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==========================================================================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Dependent variable: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med_income_k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OLS                       linear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             mixed-effects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(1)                  (2)                (3)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--------------------------------------------------------------------------</a:t>
            </a:r>
          </a:p>
          <a:p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pct_with_diploma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1.03***            1.03***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Constant                62.04***            33.13***           33.10***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Observations              253                  253                253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R2                        0.00                0.38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Adjusted R2               0.00                0.38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Log Likelihood                                                  -987.20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Akaike Inf. Crit.                                              1,982.00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Bayesian Inf. Crit.                                            1,997.00   </a:t>
            </a:r>
          </a:p>
          <a:p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Residual Std. Error      15.23 (</a:t>
            </a:r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252)    11.98 (</a:t>
            </a:r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251)     11.97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==========================================================================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Note:                                          *p&lt;0.1; **p&lt;0.05; ***p&lt;0.01</a:t>
            </a:r>
          </a:p>
        </p:txBody>
      </p:sp>
    </p:spTree>
    <p:extLst>
      <p:ext uri="{BB962C8B-B14F-4D97-AF65-F5344CB8AC3E}">
        <p14:creationId xmlns:p14="http://schemas.microsoft.com/office/powerpoint/2010/main" val="4173214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5C34E-429C-6B41-F92C-6E4567EE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8498"/>
            <a:ext cx="8229600" cy="6402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do we define "nearby"?</a:t>
            </a:r>
          </a:p>
          <a:p>
            <a:r>
              <a:rPr lang="en-US" dirty="0"/>
              <a:t>In this analysis, let us use Queen Contiguity:</a:t>
            </a:r>
          </a:p>
          <a:p>
            <a:pPr lvl="1"/>
            <a:r>
              <a:rPr lang="en-US" dirty="0"/>
              <a:t>If two counties share even a single corner, they are neighbors</a:t>
            </a:r>
            <a:br>
              <a:rPr lang="en-US" dirty="0"/>
            </a:br>
            <a:r>
              <a:rPr lang="en-US" dirty="0"/>
              <a:t>(like a Queen on a chessboard)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Spatial Weights Matrix (W)</a:t>
            </a:r>
          </a:p>
          <a:p>
            <a:r>
              <a:rPr lang="en-US" dirty="0"/>
              <a:t>If county A and B are neighbors, </a:t>
            </a:r>
            <a:r>
              <a:rPr lang="en-US" i="1" dirty="0" err="1"/>
              <a:t>W</a:t>
            </a:r>
            <a:r>
              <a:rPr lang="en-US" i="1" baseline="-25000" dirty="0" err="1"/>
              <a:t>ab</a:t>
            </a:r>
            <a:r>
              <a:rPr lang="en-US" i="1" dirty="0"/>
              <a:t> = 1</a:t>
            </a:r>
            <a:r>
              <a:rPr lang="en-US" dirty="0"/>
              <a:t>; otherwise, 0</a:t>
            </a:r>
          </a:p>
          <a:p>
            <a:pPr lvl="1"/>
            <a:r>
              <a:rPr lang="en-US" dirty="0"/>
              <a:t>Then </a:t>
            </a:r>
            <a:r>
              <a:rPr lang="en-US" b="1" dirty="0"/>
              <a:t>row-standardize </a:t>
            </a:r>
            <a:r>
              <a:rPr lang="en-US" dirty="0"/>
              <a:t>the matrix</a:t>
            </a:r>
            <a:br>
              <a:rPr lang="en-US" dirty="0"/>
            </a:br>
            <a:r>
              <a:rPr lang="en-US" dirty="0"/>
              <a:t>so the influence of all neighbors sums to 1</a:t>
            </a:r>
          </a:p>
          <a:p>
            <a:pPr lvl="1"/>
            <a:r>
              <a:rPr lang="en-US" dirty="0"/>
              <a:t>This allows us to calculate a "Spatial Lag"</a:t>
            </a:r>
            <a:br>
              <a:rPr lang="en-US" dirty="0"/>
            </a:br>
            <a:r>
              <a:rPr lang="en-US" dirty="0"/>
              <a:t>essentially the weighted average of everything happening next 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0CE14-F143-5690-7FEE-75C4E7DE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B57FB-8268-21B2-E4EC-AA4BF2DF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487" y="1746606"/>
            <a:ext cx="3783026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3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8190E-B317-4BB7-4347-B9D79458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AF3D8-D697-F0F1-0C95-527E536AA0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29" t="14555" r="15344" b="17937"/>
          <a:stretch>
            <a:fillRect/>
          </a:stretch>
        </p:blipFill>
        <p:spPr>
          <a:xfrm>
            <a:off x="2149866" y="1189234"/>
            <a:ext cx="4844268" cy="447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45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5A368-E92C-61FA-326D-9E7FF9C9E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41984" y="1193098"/>
            <a:ext cx="4693420" cy="40069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47B5-AF08-734A-367C-B0FF59CA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CB94A-DCC8-D25F-EE83-4A6EFECC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24" t="15329" r="16490" b="19176"/>
          <a:stretch>
            <a:fillRect/>
          </a:stretch>
        </p:blipFill>
        <p:spPr>
          <a:xfrm>
            <a:off x="0" y="0"/>
            <a:ext cx="3452117" cy="319655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19C41A-817F-203B-A415-26065AF48843}"/>
              </a:ext>
            </a:extLst>
          </p:cNvPr>
          <p:cNvCxnSpPr>
            <a:cxnSpLocks/>
          </p:cNvCxnSpPr>
          <p:nvPr/>
        </p:nvCxnSpPr>
        <p:spPr>
          <a:xfrm>
            <a:off x="2441984" y="2722651"/>
            <a:ext cx="712182" cy="1438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E404B20-FA4C-4485-A09D-5B75437F16A8}"/>
              </a:ext>
            </a:extLst>
          </p:cNvPr>
          <p:cNvSpPr/>
          <p:nvPr/>
        </p:nvSpPr>
        <p:spPr>
          <a:xfrm>
            <a:off x="2008596" y="2485699"/>
            <a:ext cx="433388" cy="4739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66812-06EC-C6A0-B7D6-19DACD49A176}"/>
              </a:ext>
            </a:extLst>
          </p:cNvPr>
          <p:cNvSpPr txBox="1"/>
          <p:nvPr/>
        </p:nvSpPr>
        <p:spPr>
          <a:xfrm>
            <a:off x="623833" y="4726111"/>
            <a:ext cx="22044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from  to weights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1    1  27    0.25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2    1 104    0.25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3    1 198    0.25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4    1 243    0.25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D75675-B9D7-7BB4-9610-61665B3B6DEC}"/>
              </a:ext>
            </a:extLst>
          </p:cNvPr>
          <p:cNvCxnSpPr>
            <a:cxnSpLocks/>
          </p:cNvCxnSpPr>
          <p:nvPr/>
        </p:nvCxnSpPr>
        <p:spPr>
          <a:xfrm flipH="1" flipV="1">
            <a:off x="4150760" y="2404153"/>
            <a:ext cx="452062" cy="47261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0CA472-81F9-C524-CA37-C09483F8B7F3}"/>
              </a:ext>
            </a:extLst>
          </p:cNvPr>
          <p:cNvCxnSpPr>
            <a:cxnSpLocks/>
          </p:cNvCxnSpPr>
          <p:nvPr/>
        </p:nvCxnSpPr>
        <p:spPr>
          <a:xfrm flipV="1">
            <a:off x="4726112" y="2404153"/>
            <a:ext cx="157856" cy="410966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03468A-042B-A25A-4A7B-4E40376DC94E}"/>
              </a:ext>
            </a:extLst>
          </p:cNvPr>
          <p:cNvCxnSpPr>
            <a:cxnSpLocks/>
          </p:cNvCxnSpPr>
          <p:nvPr/>
        </p:nvCxnSpPr>
        <p:spPr>
          <a:xfrm>
            <a:off x="4702528" y="3159292"/>
            <a:ext cx="23584" cy="848925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13299B-449F-58EF-3FE7-93EE69AF07C9}"/>
              </a:ext>
            </a:extLst>
          </p:cNvPr>
          <p:cNvCxnSpPr>
            <a:cxnSpLocks/>
          </p:cNvCxnSpPr>
          <p:nvPr/>
        </p:nvCxnSpPr>
        <p:spPr>
          <a:xfrm flipH="1">
            <a:off x="3885505" y="3102796"/>
            <a:ext cx="696769" cy="575352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84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38C54C-91BF-F40E-9473-6F480AFF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19CDF-27EF-ADE5-B0CE-F4FECB8F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36524"/>
            <a:ext cx="67691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222329-D260-208A-10F7-C9ADEDBCF1DF}"/>
              </a:ext>
            </a:extLst>
          </p:cNvPr>
          <p:cNvSpPr txBox="1"/>
          <p:nvPr/>
        </p:nvSpPr>
        <p:spPr>
          <a:xfrm>
            <a:off x="889000" y="4540469"/>
            <a:ext cx="220445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from  to weights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1  198   1  0.1667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2  198  29  0.1667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3  198 104  0.1667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4  198 164  0.1667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5  198 170  0.1667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6  198 243  0.1667</a:t>
            </a:r>
          </a:p>
        </p:txBody>
      </p:sp>
    </p:spTree>
    <p:extLst>
      <p:ext uri="{BB962C8B-B14F-4D97-AF65-F5344CB8AC3E}">
        <p14:creationId xmlns:p14="http://schemas.microsoft.com/office/powerpoint/2010/main" val="2875138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0F190-FF91-CC3A-334E-D3D2FA54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C9EDBB-758C-B4F0-C744-17716866007F}"/>
              </a:ext>
            </a:extLst>
          </p:cNvPr>
          <p:cNvGrpSpPr/>
          <p:nvPr/>
        </p:nvGrpSpPr>
        <p:grpSpPr>
          <a:xfrm>
            <a:off x="685800" y="2698753"/>
            <a:ext cx="7772400" cy="3657600"/>
            <a:chOff x="685800" y="1600200"/>
            <a:chExt cx="7772400" cy="3657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E4EE078-135F-4BB9-145D-81082B135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959365"/>
              <a:ext cx="7772400" cy="2939270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A64873C-C138-095F-F385-6AB3395D9D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660" y="1600200"/>
              <a:ext cx="3657600" cy="3657600"/>
            </a:xfrm>
            <a:prstGeom prst="ellipse">
              <a:avLst/>
            </a:prstGeom>
            <a:solidFill>
              <a:srgbClr val="FFC000">
                <a:alpha val="3000"/>
              </a:srgbClr>
            </a:solidFill>
            <a:ln w="38100">
              <a:solidFill>
                <a:srgbClr val="C00000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A6CE72-A420-6E6B-CA3E-643A34C02C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321734"/>
                <a:ext cx="8229600" cy="603461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/>
                  <a:t>Spatial Lag</a:t>
                </a:r>
              </a:p>
              <a:p>
                <a:r>
                  <a:rPr lang="en-US" sz="1600" dirty="0"/>
                  <a:t>The spatial lag (y-axis) represents the </a:t>
                </a:r>
                <a:r>
                  <a:rPr lang="en-US" sz="1600" u="sng" dirty="0"/>
                  <a:t>average value</a:t>
                </a:r>
                <a:r>
                  <a:rPr lang="en-US" sz="1600" dirty="0"/>
                  <a:t> of the variable in neighboring locations for each observation.</a:t>
                </a:r>
              </a:p>
              <a:p>
                <a:pPr lvl="1"/>
                <a:r>
                  <a:rPr lang="en-US" sz="1600" dirty="0"/>
                  <a:t>The scatterplot axis are centered around 0.</a:t>
                </a:r>
              </a:p>
              <a:p>
                <a:pPr lvl="2"/>
                <a:r>
                  <a:rPr lang="en-US" sz="1600" b="1" dirty="0"/>
                  <a:t>Mean-Centering</a:t>
                </a:r>
                <a:r>
                  <a:rPr lang="en-US" sz="1600" dirty="0"/>
                  <a:t>: The function calculates the average for all counties.</a:t>
                </a:r>
              </a:p>
              <a:p>
                <a:pPr lvl="2"/>
                <a:r>
                  <a:rPr lang="en-US" sz="1600" b="1" dirty="0"/>
                  <a:t>Subtraction</a:t>
                </a:r>
                <a:r>
                  <a:rPr lang="en-US" sz="1600" dirty="0"/>
                  <a:t>: then subtracts that average from every county value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/>
                <a:r>
                  <a:rPr lang="en-US" sz="1600" b="1" dirty="0"/>
                  <a:t>Spatial Lag</a:t>
                </a:r>
                <a:r>
                  <a:rPr lang="en-US" sz="1600" dirty="0"/>
                  <a:t>: is the weighted average of the centered values of a county's neighbors.</a:t>
                </a:r>
                <a:endParaRPr lang="en-US" sz="18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A6CE72-A420-6E6B-CA3E-643A34C02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1734"/>
                <a:ext cx="8229600" cy="6034618"/>
              </a:xfrm>
              <a:prstGeom prst="rect">
                <a:avLst/>
              </a:prstGeom>
              <a:blipFill>
                <a:blip r:embed="rId3"/>
                <a:stretch>
                  <a:fillRect l="-1235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536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86EE-492E-AAE9-15ED-D9334F0C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C1EB0-0EB2-D1A0-7DB8-D60AE2C8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E587D-7B88-097A-0F20-231388CD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3313271"/>
            <a:ext cx="7772400" cy="30430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64374B-9009-DCD2-B630-B2FF4ED1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21734"/>
            <a:ext cx="8354291" cy="2777346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/>
              <a:t>Local Indicators of Spatial Association</a:t>
            </a:r>
          </a:p>
          <a:p>
            <a:pPr marL="0" indent="0">
              <a:buNone/>
            </a:pPr>
            <a:r>
              <a:rPr lang="en-US" sz="1400" b="1" dirty="0"/>
              <a:t>Local Geary</a:t>
            </a:r>
            <a:r>
              <a:rPr lang="en-US" sz="1400" dirty="0"/>
              <a:t>: absolute difference between a county and its neighbors (dissimilarity).</a:t>
            </a:r>
          </a:p>
          <a:p>
            <a:pPr marL="0" indent="0">
              <a:buNone/>
            </a:pPr>
            <a:r>
              <a:rPr lang="en-US" sz="1400" dirty="0"/>
              <a:t>Usually:</a:t>
            </a:r>
          </a:p>
          <a:p>
            <a:pPr>
              <a:buFontTx/>
              <a:buChar char="-"/>
            </a:pPr>
            <a:r>
              <a:rPr lang="en-US" sz="1400" b="1" dirty="0"/>
              <a:t>small</a:t>
            </a:r>
            <a:r>
              <a:rPr lang="en-US" sz="1400" dirty="0"/>
              <a:t> values of </a:t>
            </a:r>
            <a:r>
              <a:rPr lang="en-US" sz="1400" i="1" dirty="0"/>
              <a:t>Ci</a:t>
            </a:r>
            <a:r>
              <a:rPr lang="en-US" sz="1400" dirty="0"/>
              <a:t> indicate </a:t>
            </a:r>
            <a:r>
              <a:rPr lang="en-US" sz="1400" b="1" dirty="0"/>
              <a:t>positive spatial autocorrelation</a:t>
            </a:r>
            <a:r>
              <a:rPr lang="en-US" sz="1400" dirty="0"/>
              <a:t> (neighbors are similar)</a:t>
            </a:r>
          </a:p>
          <a:p>
            <a:pPr>
              <a:buFontTx/>
              <a:buChar char="-"/>
            </a:pPr>
            <a:r>
              <a:rPr lang="en-US" sz="1400" b="1" dirty="0"/>
              <a:t>large</a:t>
            </a:r>
            <a:r>
              <a:rPr lang="en-US" sz="1400" dirty="0"/>
              <a:t> values indicate </a:t>
            </a:r>
            <a:r>
              <a:rPr lang="en-US" sz="1400" b="1" dirty="0"/>
              <a:t>negative spatial autocorrelation</a:t>
            </a:r>
            <a:r>
              <a:rPr lang="en-US" sz="1400" dirty="0"/>
              <a:t> (neighbors are different)</a:t>
            </a:r>
          </a:p>
          <a:p>
            <a:pPr marL="0" indent="0">
              <a:buNone/>
            </a:pPr>
            <a:r>
              <a:rPr lang="en-US" sz="1400" dirty="0"/>
              <a:t>The dark blue areas represent counties that have</a:t>
            </a:r>
            <a:br>
              <a:rPr lang="en-US" sz="1400" dirty="0"/>
            </a:br>
            <a:r>
              <a:rPr lang="en-US" sz="1400" dirty="0"/>
              <a:t>very different values compared to their immediate neighbors. These are your spatial outliers: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Local Moran's I</a:t>
            </a:r>
            <a:r>
              <a:rPr lang="en-US" sz="1400" dirty="0"/>
              <a:t>: cross-product of deviations from the mean. Measures whether a county and its neighbors are both above or both below the average.</a:t>
            </a:r>
          </a:p>
          <a:p>
            <a:pPr>
              <a:buFontTx/>
              <a:buChar char="-"/>
            </a:pPr>
            <a:r>
              <a:rPr lang="en-US" sz="1400" b="1" dirty="0"/>
              <a:t>Positive values </a:t>
            </a:r>
            <a:r>
              <a:rPr lang="en-US" sz="1400" dirty="0"/>
              <a:t>(</a:t>
            </a:r>
            <a:r>
              <a:rPr lang="en-US" sz="1400" b="1" dirty="0"/>
              <a:t>Blue</a:t>
            </a:r>
            <a:r>
              <a:rPr lang="en-US" sz="1400" dirty="0"/>
              <a:t>): Indicate Spatial Clusters. This means the county is surrounded by neighbors with similar values (High-High or Low-Low).</a:t>
            </a:r>
          </a:p>
          <a:p>
            <a:pPr>
              <a:buFontTx/>
              <a:buChar char="-"/>
            </a:pPr>
            <a:r>
              <a:rPr lang="en-US" sz="1400" b="1" dirty="0"/>
              <a:t>Near Zero </a:t>
            </a:r>
            <a:r>
              <a:rPr lang="en-US" sz="1400" dirty="0"/>
              <a:t>(</a:t>
            </a:r>
            <a:r>
              <a:rPr lang="en-US" sz="1400" b="1" dirty="0"/>
              <a:t>White</a:t>
            </a:r>
            <a:r>
              <a:rPr lang="en-US" sz="1400" dirty="0"/>
              <a:t>): Indicates a random spatial distribution.</a:t>
            </a:r>
          </a:p>
          <a:p>
            <a:pPr>
              <a:buFontTx/>
              <a:buChar char="-"/>
            </a:pPr>
            <a:r>
              <a:rPr lang="en-US" sz="1400" b="1" dirty="0"/>
              <a:t>Negative values </a:t>
            </a:r>
            <a:r>
              <a:rPr lang="en-US" sz="1400" dirty="0"/>
              <a:t>(</a:t>
            </a:r>
            <a:r>
              <a:rPr lang="en-US" sz="1400" b="1" dirty="0"/>
              <a:t>Red/Pink</a:t>
            </a:r>
            <a:r>
              <a:rPr lang="en-US" sz="1400" dirty="0"/>
              <a:t>): Indicate Spatial Outliers. A "High" value surrounded by "Low" values, or vice versa.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8F7E54-4F8A-9F66-58BF-2ED066DA3DB5}"/>
              </a:ext>
            </a:extLst>
          </p:cNvPr>
          <p:cNvSpPr/>
          <p:nvPr/>
        </p:nvSpPr>
        <p:spPr>
          <a:xfrm>
            <a:off x="6474351" y="4067920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63022A-F366-CF3E-9D06-EE5F07EB21BC}"/>
              </a:ext>
            </a:extLst>
          </p:cNvPr>
          <p:cNvSpPr/>
          <p:nvPr/>
        </p:nvSpPr>
        <p:spPr>
          <a:xfrm>
            <a:off x="4572000" y="4402078"/>
            <a:ext cx="1119883" cy="101664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FA7E78-F1B9-E516-1728-33CF11F81218}"/>
              </a:ext>
            </a:extLst>
          </p:cNvPr>
          <p:cNvSpPr/>
          <p:nvPr/>
        </p:nvSpPr>
        <p:spPr>
          <a:xfrm>
            <a:off x="6176753" y="5728979"/>
            <a:ext cx="655914" cy="62737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1349F3-2997-DC5F-36D1-734C231D2D61}"/>
              </a:ext>
            </a:extLst>
          </p:cNvPr>
          <p:cNvSpPr/>
          <p:nvPr/>
        </p:nvSpPr>
        <p:spPr>
          <a:xfrm>
            <a:off x="6207575" y="4791354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5FF194-5920-12AC-0045-AFBCDEF7DDFB}"/>
              </a:ext>
            </a:extLst>
          </p:cNvPr>
          <p:cNvSpPr/>
          <p:nvPr/>
        </p:nvSpPr>
        <p:spPr>
          <a:xfrm>
            <a:off x="6802660" y="5005545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6AFC29-816A-C45E-F440-56D7474EDE14}"/>
              </a:ext>
            </a:extLst>
          </p:cNvPr>
          <p:cNvSpPr/>
          <p:nvPr/>
        </p:nvSpPr>
        <p:spPr>
          <a:xfrm>
            <a:off x="5236547" y="3723269"/>
            <a:ext cx="655914" cy="627370"/>
          </a:xfrm>
          <a:prstGeom prst="ellipse">
            <a:avLst/>
          </a:prstGeom>
          <a:noFill/>
          <a:ln w="285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EFCF1-EF76-5BAF-C46B-3246EC9C1ECB}"/>
              </a:ext>
            </a:extLst>
          </p:cNvPr>
          <p:cNvSpPr txBox="1"/>
          <p:nvPr/>
        </p:nvSpPr>
        <p:spPr>
          <a:xfrm>
            <a:off x="6514984" y="5632915"/>
            <a:ext cx="2360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The cluster of blue suggests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areas share a common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trend with their neighbors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("High-High" of the variable)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C4220-3ABC-62F6-969E-6DB9DFCFB6E6}"/>
              </a:ext>
            </a:extLst>
          </p:cNvPr>
          <p:cNvSpPr txBox="1"/>
          <p:nvPr/>
        </p:nvSpPr>
        <p:spPr>
          <a:xfrm>
            <a:off x="4530904" y="290843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(LISAs)</a:t>
            </a:r>
          </a:p>
        </p:txBody>
      </p:sp>
    </p:spTree>
    <p:extLst>
      <p:ext uri="{BB962C8B-B14F-4D97-AF65-F5344CB8AC3E}">
        <p14:creationId xmlns:p14="http://schemas.microsoft.com/office/powerpoint/2010/main" val="3099079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30612-D6EA-9BEF-BA00-93543262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35B43-5AE2-50EA-EB35-5DFCDD44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3313271"/>
            <a:ext cx="7772400" cy="30430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55B103-636C-F30A-DD77-0A040DEF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21734"/>
            <a:ext cx="8354291" cy="60346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Local Indicators of Spatial Association (LISAs)</a:t>
            </a:r>
            <a:endParaRPr lang="en-US" sz="1600" dirty="0"/>
          </a:p>
          <a:p>
            <a:r>
              <a:rPr lang="en-US" sz="1600" b="1" dirty="0"/>
              <a:t>Indicates Clustering</a:t>
            </a:r>
            <a:r>
              <a:rPr lang="en-US" sz="1600" dirty="0"/>
              <a:t>: specific spots surrounded by similar values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High-High (</a:t>
            </a:r>
            <a:r>
              <a:rPr lang="en-US" sz="1600" b="1" dirty="0">
                <a:solidFill>
                  <a:srgbClr val="FF0000"/>
                </a:solidFill>
              </a:rPr>
              <a:t>Hot Spots</a:t>
            </a:r>
            <a:r>
              <a:rPr lang="en-US" sz="1600" b="1" dirty="0"/>
              <a:t>) </a:t>
            </a:r>
            <a:r>
              <a:rPr lang="en-US" sz="1600" b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wealthy surrounded by wealthy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Low-Low (</a:t>
            </a:r>
            <a:r>
              <a:rPr lang="en-US" sz="1600" b="1" dirty="0">
                <a:solidFill>
                  <a:srgbClr val="0070C0"/>
                </a:solidFill>
              </a:rPr>
              <a:t>Cold Spots</a:t>
            </a:r>
            <a:r>
              <a:rPr lang="en-US" sz="1600" b="1" dirty="0"/>
              <a:t>) </a:t>
            </a:r>
            <a:r>
              <a:rPr lang="en-US" sz="1600" b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poor surrounded by poor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High-Low (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Spatial Outlier</a:t>
            </a:r>
            <a:r>
              <a:rPr lang="en-US" sz="1600" b="1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Low-High (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Spatial Outlier</a:t>
            </a:r>
            <a:r>
              <a:rPr lang="en-US" sz="1600" b="1" dirty="0"/>
              <a:t>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0C63B4-67F4-AEA1-D379-89601E410A17}"/>
              </a:ext>
            </a:extLst>
          </p:cNvPr>
          <p:cNvSpPr/>
          <p:nvPr/>
        </p:nvSpPr>
        <p:spPr>
          <a:xfrm>
            <a:off x="6474351" y="4067920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ABF4B8-1FC3-746E-6993-6AFB9E5A645D}"/>
              </a:ext>
            </a:extLst>
          </p:cNvPr>
          <p:cNvSpPr/>
          <p:nvPr/>
        </p:nvSpPr>
        <p:spPr>
          <a:xfrm>
            <a:off x="4572000" y="4402078"/>
            <a:ext cx="1119883" cy="101664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3357EF1-3C2F-D546-82BF-155E39851EF3}"/>
              </a:ext>
            </a:extLst>
          </p:cNvPr>
          <p:cNvSpPr/>
          <p:nvPr/>
        </p:nvSpPr>
        <p:spPr>
          <a:xfrm>
            <a:off x="6176753" y="5728979"/>
            <a:ext cx="655914" cy="62737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EAEE7F-8230-5D4A-8765-4B3AEA9DDC41}"/>
              </a:ext>
            </a:extLst>
          </p:cNvPr>
          <p:cNvSpPr/>
          <p:nvPr/>
        </p:nvSpPr>
        <p:spPr>
          <a:xfrm>
            <a:off x="6207575" y="4791354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1DD9D7-938D-2607-3140-6C3CF4D86705}"/>
              </a:ext>
            </a:extLst>
          </p:cNvPr>
          <p:cNvSpPr/>
          <p:nvPr/>
        </p:nvSpPr>
        <p:spPr>
          <a:xfrm>
            <a:off x="6802660" y="5005545"/>
            <a:ext cx="655914" cy="62737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0B23C6-84E1-3590-27FA-34975A81097E}"/>
              </a:ext>
            </a:extLst>
          </p:cNvPr>
          <p:cNvSpPr/>
          <p:nvPr/>
        </p:nvSpPr>
        <p:spPr>
          <a:xfrm>
            <a:off x="5236547" y="3723269"/>
            <a:ext cx="655914" cy="627370"/>
          </a:xfrm>
          <a:prstGeom prst="ellipse">
            <a:avLst/>
          </a:prstGeom>
          <a:noFill/>
          <a:ln w="285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05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031F2-3F4F-052C-CB48-4C7C4EE6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B94B49-CBA5-8E07-FA16-43BD73B5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Lag Model (SAR)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0BEE88-E06B-B7FF-770C-984625AC82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are no longer just looking at </a:t>
                </a:r>
                <a:r>
                  <a:rPr lang="en-US" i="1" dirty="0"/>
                  <a:t>X</a:t>
                </a:r>
                <a:r>
                  <a:rPr lang="en-US" dirty="0"/>
                  <a:t> </a:t>
                </a:r>
                <a:r>
                  <a:rPr lang="en-US" baseline="30000" dirty="0"/>
                  <a:t>(Education)</a:t>
                </a:r>
                <a:br>
                  <a:rPr lang="en-US" dirty="0"/>
                </a:br>
                <a:r>
                  <a:rPr lang="en-US" dirty="0"/>
                  <a:t>			we are looking at the </a:t>
                </a:r>
                <a:r>
                  <a:rPr lang="en-US" i="1" dirty="0"/>
                  <a:t>Spatial Lag </a:t>
                </a:r>
                <a:r>
                  <a:rPr lang="en-US" dirty="0"/>
                  <a:t>of </a:t>
                </a:r>
                <a:r>
                  <a:rPr lang="en-US" i="1" dirty="0"/>
                  <a:t>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l-GR" i="1" dirty="0"/>
                  <a:t>ρ</a:t>
                </a:r>
                <a:r>
                  <a:rPr lang="el-GR" dirty="0"/>
                  <a:t> (</a:t>
                </a:r>
                <a:r>
                  <a:rPr lang="en-US" dirty="0"/>
                  <a:t>Rho): The autoregressive coefficient.</a:t>
                </a:r>
              </a:p>
              <a:p>
                <a:pPr lvl="1"/>
                <a:r>
                  <a:rPr lang="en-US" dirty="0"/>
                  <a:t>It tells us how much the income of neighboring counties "drags" your county's income up or down.</a:t>
                </a:r>
              </a:p>
              <a:p>
                <a:r>
                  <a:rPr lang="en-US" i="1" dirty="0"/>
                  <a:t>WY</a:t>
                </a:r>
                <a:r>
                  <a:rPr lang="en-US" dirty="0"/>
                  <a:t>: The "spatial lag": Represents the average income of the neighbors</a:t>
                </a:r>
              </a:p>
              <a:p>
                <a:r>
                  <a:rPr lang="en-US" dirty="0"/>
                  <a:t>If </a:t>
                </a:r>
                <a:r>
                  <a:rPr lang="el-GR" i="1" dirty="0"/>
                  <a:t>ρ</a:t>
                </a:r>
                <a:r>
                  <a:rPr lang="el-GR" dirty="0"/>
                  <a:t> </a:t>
                </a:r>
                <a:r>
                  <a:rPr lang="en-US" dirty="0"/>
                  <a:t>is significant, it means income is "contagious"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0BEE88-E06B-B7FF-770C-984625AC8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510CF1-82BE-B4DF-4CBD-D39569EF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94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B237C-215B-B1B4-C731-2599E4B5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F3337F-107D-2E04-E67D-BF438A62C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6FA3D0-04E7-BF1D-0E51-C9B4804E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EDF33-16C3-DE74-AD60-0921F3A224E2}"/>
              </a:ext>
            </a:extLst>
          </p:cNvPr>
          <p:cNvSpPr txBox="1"/>
          <p:nvPr/>
        </p:nvSpPr>
        <p:spPr>
          <a:xfrm>
            <a:off x="457200" y="1416684"/>
            <a:ext cx="822959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============================================================================================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Dependent variable:   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med_income_k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OLS                       linear          spatial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             mixed-effects  autoregressive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(1)                  (2)                (3)             (4)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--------------------------------------------------------------------------------------------</a:t>
            </a:r>
          </a:p>
          <a:p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pct_with_diploma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1.03***            1.03***         0.77***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Constant                62.04***            33.13***           33.10***         7.58**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Observations              253                  253                253             253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R2                        0.00                0.38                  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Adjusted R2               0.00                0.38                                     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Log Likelihood                                                  -987.20         -953.20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Akaike Inf. Crit.                                              </a:t>
            </a:r>
            <a:r>
              <a:rPr lang="en-US" sz="12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1,982.00        1,914.00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Residual Std. Error.     15.23 (</a:t>
            </a:r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252)    11.98 (</a:t>
            </a:r>
            <a:r>
              <a:rPr lang="en-US" sz="12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2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251)     11.97           10.22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============================================================================================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Note:                                                            *p&lt;0.1; **p&lt;0.05; ***p&lt;0.01</a:t>
            </a:r>
          </a:p>
        </p:txBody>
      </p:sp>
    </p:spTree>
    <p:extLst>
      <p:ext uri="{BB962C8B-B14F-4D97-AF65-F5344CB8AC3E}">
        <p14:creationId xmlns:p14="http://schemas.microsoft.com/office/powerpoint/2010/main" val="2165997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2DB83C-150A-8044-0466-2C627B73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E9035-42E1-B942-3BD8-BC91E083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338996"/>
            <a:ext cx="5785349" cy="2832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2A727A-DA8E-45F3-4310-B470FF7FC2DF}"/>
              </a:ext>
            </a:extLst>
          </p:cNvPr>
          <p:cNvSpPr txBox="1"/>
          <p:nvPr/>
        </p:nvSpPr>
        <p:spPr>
          <a:xfrm>
            <a:off x="317500" y="3284871"/>
            <a:ext cx="795319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the simple OLS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"Education" was "stealing" the "credit" that actually belonged to the neighbors.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For instance: A county might be wealthy partly because of its degrees, but also because it's a bedroom community for a neighboring wealthy 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Spatial Lag model separates these two: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coefficient for Education gets smaller.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Tells us the direct effect of the degree versus the indirect effect of the location.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Conclusions: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Education remains a primary driver of income across all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Being educated in a "wealthy cluster" is different than in a "spatial void".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Implication: To boost Texas economy, we can't just fund schools in isolation but foster regional ecosystems </a:t>
            </a:r>
            <a:r>
              <a:rPr lang="en-US" sz="1600" dirty="0" err="1"/>
              <a:t>bc</a:t>
            </a:r>
            <a:r>
              <a:rPr lang="en-US" sz="1600" dirty="0"/>
              <a:t> prosperity clearly spills over boundary lines.</a:t>
            </a:r>
          </a:p>
        </p:txBody>
      </p:sp>
    </p:spTree>
    <p:extLst>
      <p:ext uri="{BB962C8B-B14F-4D97-AF65-F5344CB8AC3E}">
        <p14:creationId xmlns:p14="http://schemas.microsoft.com/office/powerpoint/2010/main" val="428016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29BB-0FEF-FEF9-4D8D-68AE84E5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30FBD3-FF81-4968-C21B-E201658B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958EE-0B34-F811-B62D-F2D4CF89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484"/>
            <a:ext cx="7772400" cy="293927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81302-13F9-3891-BD0A-15F050BBA093}"/>
              </a:ext>
            </a:extLst>
          </p:cNvPr>
          <p:cNvSpPr txBox="1">
            <a:spLocks/>
          </p:cNvSpPr>
          <p:nvPr/>
        </p:nvSpPr>
        <p:spPr>
          <a:xfrm>
            <a:off x="457200" y="3624754"/>
            <a:ext cx="8229600" cy="30967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One more thing </a:t>
            </a:r>
            <a:r>
              <a:rPr lang="en-US" sz="1800" baseline="30000" dirty="0"/>
              <a:t>("Model Stress Test")</a:t>
            </a:r>
          </a:p>
          <a:p>
            <a:r>
              <a:rPr lang="en-US" sz="1800" dirty="0"/>
              <a:t>Where is the spatial model succeeding?</a:t>
            </a:r>
            <a:br>
              <a:rPr lang="en-US" sz="1800" dirty="0"/>
            </a:br>
            <a:r>
              <a:rPr lang="en-US" sz="1800" dirty="0"/>
              <a:t>Where is the "Geography of Texas" still outsmarting your math?</a:t>
            </a:r>
          </a:p>
          <a:p>
            <a:r>
              <a:rPr lang="en-US" sz="1800" dirty="0"/>
              <a:t>Notice that as income gets higher </a:t>
            </a:r>
            <a:r>
              <a:rPr lang="en-US" sz="1800" baseline="30000" dirty="0"/>
              <a:t>(the right side of the graph)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/>
              <a:t>the error bars get longer and the dots drift further from the line.</a:t>
            </a:r>
          </a:p>
          <a:p>
            <a:r>
              <a:rPr lang="en-US" sz="1800" dirty="0"/>
              <a:t>The model is good at predicting income for "average" counties,</a:t>
            </a:r>
            <a:br>
              <a:rPr lang="en-US" sz="1800" dirty="0"/>
            </a:br>
            <a:r>
              <a:rPr lang="en-US" sz="1800" dirty="0"/>
              <a:t>struggles with the extremely wealthy or extremely poor outliers.</a:t>
            </a:r>
          </a:p>
          <a:p>
            <a:pPr lvl="1"/>
            <a:r>
              <a:rPr lang="en-US" sz="1800" dirty="0"/>
              <a:t>0.303 tells that the model errors are "contagious."</a:t>
            </a:r>
          </a:p>
          <a:p>
            <a:pPr lvl="2"/>
            <a:r>
              <a:rPr lang="en-US" sz="1500" dirty="0"/>
              <a:t>If the model under-predicts income in one county, it is very likely to under-predict it in the neighboring county too.</a:t>
            </a:r>
          </a:p>
          <a:p>
            <a:pPr lvl="2"/>
            <a:r>
              <a:rPr lang="en-US" sz="1500" dirty="0"/>
              <a:t>We have reduced the spatial bias, but we haven't eliminated 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EA8CC-B919-E478-6DC3-A35D666216E9}"/>
              </a:ext>
            </a:extLst>
          </p:cNvPr>
          <p:cNvSpPr txBox="1"/>
          <p:nvPr/>
        </p:nvSpPr>
        <p:spPr>
          <a:xfrm>
            <a:off x="4572000" y="136524"/>
            <a:ext cx="2429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highlight>
                  <a:srgbClr val="FFFF00"/>
                </a:highlight>
              </a:rPr>
              <a:t>0.0 = Perfectly random (Goal)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0.303 =&gt;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Clustered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B5F1F9-71E7-5345-2A50-4D5D3BD6B78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366517" y="398134"/>
            <a:ext cx="205483" cy="2616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157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183F7-89EA-9A68-1A69-F5E6FEA8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0E41-2E39-E43E-5295-1F5CA4FD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 More</a:t>
            </a:r>
            <a:r>
              <a:rPr lang="en-US" dirty="0"/>
              <a:t> </a:t>
            </a:r>
            <a:r>
              <a:rPr lang="en-US" baseline="30000" dirty="0"/>
              <a:t>(Vignettes)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43DE-EACC-8822-7145-5389C9F57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Exploratory spatial data analysis</a:t>
            </a:r>
            <a:br>
              <a:rPr lang="en-US" dirty="0"/>
            </a:br>
            <a:r>
              <a:rPr lang="en-US" dirty="0">
                <a:hlinkClick r:id="rId2"/>
              </a:rPr>
              <a:t>https://cran.r-project.org/web/packages/geostan/vignettes/measuring-sa.html</a:t>
            </a:r>
            <a:endParaRPr lang="en-US" dirty="0"/>
          </a:p>
          <a:p>
            <a:r>
              <a:rPr lang="en-US" dirty="0"/>
              <a:t>Spatial analysis (with </a:t>
            </a:r>
            <a:r>
              <a:rPr lang="en-US" dirty="0" err="1"/>
              <a:t>geostan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hlinkClick r:id="rId3"/>
              </a:rPr>
              <a:t>https://cran.r-project.org/web/packages/geostan/vignettes/spatial-analysis.html</a:t>
            </a:r>
            <a:endParaRPr lang="en-US" dirty="0"/>
          </a:p>
          <a:p>
            <a:r>
              <a:rPr lang="en-US" dirty="0"/>
              <a:t>Spatial measurement error models</a:t>
            </a:r>
            <a:br>
              <a:rPr lang="en-US" dirty="0"/>
            </a:br>
            <a:r>
              <a:rPr lang="en-US" dirty="0">
                <a:hlinkClick r:id="rId4"/>
              </a:rPr>
              <a:t>https://cran.r-project.org/web/packages/geostan/vignettes/spatial-me-models.html</a:t>
            </a:r>
            <a:endParaRPr lang="en-US" dirty="0"/>
          </a:p>
          <a:p>
            <a:r>
              <a:rPr lang="en-US" dirty="0"/>
              <a:t>Custom spatial models (with </a:t>
            </a:r>
            <a:r>
              <a:rPr lang="en-US" dirty="0" err="1"/>
              <a:t>RStan</a:t>
            </a:r>
            <a:r>
              <a:rPr lang="en-US" dirty="0"/>
              <a:t> and </a:t>
            </a:r>
            <a:r>
              <a:rPr lang="en-US" dirty="0" err="1"/>
              <a:t>geostan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hlinkClick r:id="rId5"/>
              </a:rPr>
              <a:t>https://cran.r-project.org/web/packages/geostan/vignettes/custom-spatial-models.html</a:t>
            </a:r>
            <a:endParaRPr lang="en-US" dirty="0"/>
          </a:p>
          <a:p>
            <a:r>
              <a:rPr lang="en-US" dirty="0"/>
              <a:t>Raster regression</a:t>
            </a:r>
            <a:br>
              <a:rPr lang="en-US" dirty="0"/>
            </a:br>
            <a:r>
              <a:rPr lang="en-US" dirty="0">
                <a:hlinkClick r:id="rId6"/>
              </a:rPr>
              <a:t>https://cran.r-project.org/web/packages/geostan/vignettes/raster-regression.html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79B02-505A-1D31-BDF3-236A0DEF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67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2EE24-17A6-D835-8D88-39C23ACE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3F31-A396-31F7-3C1A-2C360DAD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97C0C-B4DA-E2BB-2EC3-F463B217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 Data Science</a:t>
            </a:r>
            <a:br>
              <a:rPr lang="en-US" dirty="0"/>
            </a:br>
            <a:r>
              <a:rPr lang="en-US" sz="1800" dirty="0">
                <a:hlinkClick r:id="rId2"/>
              </a:rPr>
              <a:t>https://r-spatial.org/book/</a:t>
            </a:r>
            <a:endParaRPr lang="en-US" sz="1800" dirty="0"/>
          </a:p>
          <a:p>
            <a:pPr lvl="1"/>
            <a:r>
              <a:rPr lang="en-US" dirty="0"/>
              <a:t>Spatial Regression </a:t>
            </a:r>
            <a:r>
              <a:rPr lang="en-US" baseline="30000" dirty="0"/>
              <a:t>(Markov random field and multilevel models)</a:t>
            </a:r>
            <a:br>
              <a:rPr lang="en-US" baseline="30000" dirty="0"/>
            </a:br>
            <a:r>
              <a:rPr lang="en-US" dirty="0">
                <a:hlinkClick r:id="rId3"/>
              </a:rPr>
              <a:t>https://r-spatial.org/book/16-SpatialRegression.html</a:t>
            </a:r>
            <a:endParaRPr lang="en-US" dirty="0"/>
          </a:p>
          <a:p>
            <a:pPr lvl="1"/>
            <a:r>
              <a:rPr lang="en-US" dirty="0"/>
              <a:t>Spatial Econometrics Models</a:t>
            </a:r>
            <a:br>
              <a:rPr lang="en-US" dirty="0"/>
            </a:br>
            <a:r>
              <a:rPr lang="en-US" dirty="0">
                <a:hlinkClick r:id="rId4"/>
              </a:rPr>
              <a:t>https://r-spatial.org/book/17-Econometrics.html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31F52-54AA-5B97-C3EF-C34D311B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76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D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4BB4-E132-0127-951D-CA14C12C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Tobler's First Law of Geography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325FB-359E-F51F-B21A-CE3299745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1802"/>
            <a:ext cx="8413668" cy="5351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"</a:t>
            </a:r>
            <a:r>
              <a:rPr lang="en-US" sz="2400" b="1" i="1" dirty="0">
                <a:solidFill>
                  <a:srgbClr val="C00000"/>
                </a:solidFill>
              </a:rPr>
              <a:t>Everything is related to everything else,</a:t>
            </a:r>
            <a:br>
              <a:rPr lang="en-US" sz="2400" b="1" i="1" dirty="0">
                <a:solidFill>
                  <a:srgbClr val="C00000"/>
                </a:solidFill>
              </a:rPr>
            </a:br>
            <a:r>
              <a:rPr lang="en-US" sz="2400" b="1" i="1" dirty="0">
                <a:solidFill>
                  <a:srgbClr val="C00000"/>
                </a:solidFill>
              </a:rPr>
              <a:t>but near things are more related </a:t>
            </a:r>
            <a:br>
              <a:rPr lang="en-US" sz="2400" b="1" i="1" dirty="0">
                <a:solidFill>
                  <a:srgbClr val="C00000"/>
                </a:solidFill>
              </a:rPr>
            </a:br>
            <a:r>
              <a:rPr lang="en-US" sz="2400" b="1" i="1" dirty="0">
                <a:solidFill>
                  <a:srgbClr val="C00000"/>
                </a:solidFill>
              </a:rPr>
              <a:t>than distant things.</a:t>
            </a:r>
            <a:r>
              <a:rPr lang="en-US" sz="2400" dirty="0">
                <a:solidFill>
                  <a:srgbClr val="C00000"/>
                </a:solidFill>
              </a:rPr>
              <a:t>" </a:t>
            </a:r>
            <a:r>
              <a:rPr lang="en-US" sz="1400" dirty="0">
                <a:hlinkClick r:id="rId2"/>
              </a:rPr>
              <a:t>Waldo Tobler</a:t>
            </a:r>
            <a:r>
              <a:rPr lang="en-US" sz="1400" dirty="0"/>
              <a:t> (1930-2018)</a:t>
            </a: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r>
              <a:rPr lang="en-US" b="1" dirty="0"/>
              <a:t>Distance Decay</a:t>
            </a:r>
            <a:br>
              <a:rPr lang="en-US" dirty="0"/>
            </a:br>
            <a:r>
              <a:rPr lang="en-US" sz="1600" dirty="0"/>
              <a:t>The further apart two things are, the less they </a:t>
            </a:r>
            <a:r>
              <a:rPr lang="en-US" sz="1600" b="1" dirty="0"/>
              <a:t>interact</a:t>
            </a:r>
            <a:r>
              <a:rPr lang="en-US" sz="1600" dirty="0"/>
              <a:t> or </a:t>
            </a:r>
            <a:r>
              <a:rPr lang="en-US" sz="1600" b="1" dirty="0"/>
              <a:t>influence</a:t>
            </a:r>
            <a:r>
              <a:rPr lang="en-US" sz="1600" dirty="0"/>
              <a:t> each other</a:t>
            </a:r>
          </a:p>
          <a:p>
            <a:r>
              <a:rPr lang="en-US" b="1" dirty="0"/>
              <a:t>Spatial Autocorrelation</a:t>
            </a:r>
            <a:br>
              <a:rPr lang="en-US" dirty="0"/>
            </a:br>
            <a:r>
              <a:rPr lang="en-US" sz="1600" dirty="0"/>
              <a:t>The mathematical way to </a:t>
            </a:r>
            <a:r>
              <a:rPr lang="en-US" sz="1600" b="1" dirty="0"/>
              <a:t>measure</a:t>
            </a:r>
            <a:r>
              <a:rPr lang="en-US" sz="1600" dirty="0"/>
              <a:t> this "relatedness"</a:t>
            </a:r>
            <a:endParaRPr lang="en-US" dirty="0"/>
          </a:p>
          <a:p>
            <a:r>
              <a:rPr lang="en-US" b="1" dirty="0"/>
              <a:t>Neighborhood Effect</a:t>
            </a:r>
            <a:br>
              <a:rPr lang="en-US" dirty="0"/>
            </a:br>
            <a:r>
              <a:rPr lang="en-US" sz="1600" dirty="0"/>
              <a:t>Expect neighbors to be similar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>
                <a:hlinkClick r:id="rId3"/>
              </a:rPr>
              <a:t>Friction of distance</a:t>
            </a:r>
            <a:endParaRPr lang="en-US" b="1" dirty="0"/>
          </a:p>
          <a:p>
            <a:pPr lvl="1"/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 it's raining at a house, it's likely raining at neighbor's house, but it might be sunny somewhere else.</a:t>
            </a:r>
          </a:p>
          <a:p>
            <a:pPr lvl="1"/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price of a house is heavily influenced by the prices of the houses on that same street.</a:t>
            </a:r>
          </a:p>
          <a:p>
            <a:pPr lvl="1"/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People in neighboring towns usually speak with similar accents;</a:t>
            </a:r>
            <a:b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people across the country sound different.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81538-8A82-4378-B97E-5B455B45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5A9C6-FDF1-8BD0-C407-F613939D9C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74" t="6039" r="19026" b="3960"/>
          <a:stretch>
            <a:fillRect/>
          </a:stretch>
        </p:blipFill>
        <p:spPr>
          <a:xfrm>
            <a:off x="6400800" y="550993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01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35C746-258A-4683-1545-B1EE7B0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8F3B68-B3E7-E656-07A4-4C2BDE97BC2C}"/>
              </a:ext>
            </a:extLst>
          </p:cNvPr>
          <p:cNvSpPr txBox="1"/>
          <p:nvPr/>
        </p:nvSpPr>
        <p:spPr>
          <a:xfrm>
            <a:off x="4690150" y="5575922"/>
            <a:ext cx="3511741" cy="738664"/>
          </a:xfrm>
          <a:prstGeom prst="rect">
            <a:avLst/>
          </a:prstGeom>
          <a:solidFill>
            <a:srgbClr val="FFD84C">
              <a:alpha val="40000"/>
            </a:srgbClr>
          </a:solidFill>
          <a:ln w="38100">
            <a:solidFill>
              <a:srgbClr val="C00000">
                <a:alpha val="50196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Inflated Type I Error</a:t>
            </a:r>
            <a:r>
              <a:rPr lang="en-US" sz="1400" dirty="0"/>
              <a:t>: Much more likely to find a relationship where none exists if you ignore the reduced effective sample size.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B825-D805-C9DF-7CD2-A1F721D0B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9382"/>
            <a:ext cx="8229600" cy="61069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Effective Sample Size (ESS)</a:t>
            </a:r>
          </a:p>
          <a:p>
            <a:r>
              <a:rPr lang="en-US" sz="1600" dirty="0"/>
              <a:t>Spatial patterns aren't just visual: they fundamentally </a:t>
            </a:r>
            <a:r>
              <a:rPr lang="en-US" sz="1600" b="1" dirty="0"/>
              <a:t>change</a:t>
            </a:r>
            <a:r>
              <a:rPr lang="en-US" sz="1600" dirty="0"/>
              <a:t> the information content of a dataset.</a:t>
            </a:r>
          </a:p>
          <a:p>
            <a:pPr lvl="1"/>
            <a:r>
              <a:rPr lang="en-US" sz="1400" dirty="0"/>
              <a:t>When data points are spatially autocorrelated, they are </a:t>
            </a:r>
            <a:r>
              <a:rPr lang="en-US" sz="1400" b="1" dirty="0"/>
              <a:t>not independent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which reduces the amount of "new" evidence each additional observation provides.</a:t>
            </a:r>
          </a:p>
          <a:p>
            <a:pPr lvl="2"/>
            <a:r>
              <a:rPr lang="en-US" sz="1400" dirty="0"/>
              <a:t>High SA leads to redundant information.</a:t>
            </a:r>
          </a:p>
          <a:p>
            <a:pPr lvl="1"/>
            <a:r>
              <a:rPr lang="en-US" sz="1400" dirty="0"/>
              <a:t>Using </a:t>
            </a:r>
            <a:r>
              <a:rPr lang="en-US" sz="1400" u="sng" dirty="0"/>
              <a:t>conventional statistical</a:t>
            </a:r>
            <a:r>
              <a:rPr lang="en-US" sz="1400" dirty="0"/>
              <a:t> methods (which </a:t>
            </a:r>
            <a:r>
              <a:rPr lang="en-US" sz="1400" b="1" dirty="0"/>
              <a:t>assume independence</a:t>
            </a:r>
            <a:r>
              <a:rPr lang="en-US" sz="1400" dirty="0"/>
              <a:t>) on spatial data often leads to "perilous" results, as the methods overestimate the true sample size.</a:t>
            </a:r>
          </a:p>
          <a:p>
            <a:r>
              <a:rPr lang="en-US" sz="1600" dirty="0"/>
              <a:t>ESS represents the number of independent observations that would contain the same amount of information as your spatially dependent dataset.</a:t>
            </a:r>
          </a:p>
          <a:p>
            <a:pPr lvl="1"/>
            <a:r>
              <a:rPr lang="en-US" sz="1400" dirty="0"/>
              <a:t>The </a:t>
            </a:r>
            <a:r>
              <a:rPr lang="en-US" sz="1400" b="1" dirty="0" err="1"/>
              <a:t>n_eff</a:t>
            </a:r>
            <a:r>
              <a:rPr lang="en-US" sz="1400" b="1" dirty="0"/>
              <a:t> </a:t>
            </a:r>
            <a:r>
              <a:rPr lang="en-US" sz="1400" dirty="0"/>
              <a:t>function approximates ESS using the Simultaneous Autoregressive (SAR) model framework.</a:t>
            </a:r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AD20C-9FD5-FAF7-E84B-F94ED338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31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49F6066-F05B-5E52-E6EF-A26F83720C82}"/>
              </a:ext>
            </a:extLst>
          </p:cNvPr>
          <p:cNvSpPr txBox="1">
            <a:spLocks/>
          </p:cNvSpPr>
          <p:nvPr/>
        </p:nvSpPr>
        <p:spPr>
          <a:xfrm>
            <a:off x="457200" y="3269671"/>
            <a:ext cx="8229600" cy="1842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&lt;- log(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georgia$income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c(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nominal_n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nrow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georgia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rho = </a:t>
            </a:r>
            <a:r>
              <a:rPr lang="en-US" sz="1200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aple</a:t>
            </a:r>
            <a:r>
              <a:rPr lang="en-US" sz="12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W),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MC = mc(x, W),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ESS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n_eff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(rho = rho, n = n))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nominal_n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rho        MC       ESS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159.00000   0.70100   0.49800  23.34735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3EA63-541E-9139-EDF0-E7BBCED7CB9F}"/>
              </a:ext>
            </a:extLst>
          </p:cNvPr>
          <p:cNvSpPr txBox="1"/>
          <p:nvPr/>
        </p:nvSpPr>
        <p:spPr>
          <a:xfrm>
            <a:off x="457200" y="4961584"/>
            <a:ext cx="7744691" cy="523220"/>
          </a:xfrm>
          <a:prstGeom prst="rect">
            <a:avLst/>
          </a:prstGeom>
          <a:solidFill>
            <a:srgbClr val="FFD84C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Bottom Line</a:t>
            </a:r>
            <a:r>
              <a:rPr lang="en-US" sz="1400" dirty="0"/>
              <a:t>: Because of strong spatial patterns, 159 data points only provide the same statistical "punch" as 23 independent observations.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7CF37D6C-6B9D-B901-0CF4-F2026FB495F1}"/>
              </a:ext>
            </a:extLst>
          </p:cNvPr>
          <p:cNvSpPr/>
          <p:nvPr/>
        </p:nvSpPr>
        <p:spPr>
          <a:xfrm>
            <a:off x="4329545" y="3866976"/>
            <a:ext cx="387927" cy="393900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85751D-D18A-6249-A9AF-DF8ED0DC8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783662"/>
              </p:ext>
            </p:extLst>
          </p:nvPr>
        </p:nvGraphicFramePr>
        <p:xfrm>
          <a:off x="4862945" y="3353142"/>
          <a:ext cx="3338946" cy="14215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468412114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2867274649"/>
                    </a:ext>
                  </a:extLst>
                </a:gridCol>
              </a:tblGrid>
              <a:tr h="3553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37119"/>
                  </a:ext>
                </a:extLst>
              </a:tr>
              <a:tr h="3553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Nominal 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844849"/>
                  </a:ext>
                </a:extLst>
              </a:tr>
              <a:tr h="3553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Spatial Autocorrelation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50230"/>
                  </a:ext>
                </a:extLst>
              </a:tr>
              <a:tr h="3553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Effective 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467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7D1D5B-6943-C4DB-7542-8DB2CF319990}"/>
              </a:ext>
            </a:extLst>
          </p:cNvPr>
          <p:cNvSpPr txBox="1"/>
          <p:nvPr/>
        </p:nvSpPr>
        <p:spPr>
          <a:xfrm>
            <a:off x="457200" y="5575922"/>
            <a:ext cx="3511741" cy="738664"/>
          </a:xfrm>
          <a:prstGeom prst="rect">
            <a:avLst/>
          </a:prstGeom>
          <a:solidFill>
            <a:srgbClr val="FFD84C">
              <a:alpha val="40000"/>
            </a:srgbClr>
          </a:solidFill>
          <a:ln w="38100">
            <a:solidFill>
              <a:srgbClr val="C00000">
                <a:alpha val="50196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False Confidence</a:t>
            </a:r>
            <a:r>
              <a:rPr lang="en-US" sz="1400" dirty="0"/>
              <a:t>: Conventional methods might report a "significant" correlation that is just an artifact of spatial patterning.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D1A01DEE-304D-9387-C41D-53A3EECD18C0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4279623" y="5534727"/>
            <a:ext cx="460450" cy="360604"/>
          </a:xfrm>
          <a:prstGeom prst="curvedConnector2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0F1535C7-1322-DD15-5C98-1804A20CDBEF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>
          <a:xfrm rot="5400000">
            <a:off x="3919019" y="5534727"/>
            <a:ext cx="460450" cy="360605"/>
          </a:xfrm>
          <a:prstGeom prst="curvedConnector2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0CEDA1-7E15-8A73-AEC7-040A239D9520}"/>
              </a:ext>
            </a:extLst>
          </p:cNvPr>
          <p:cNvSpPr txBox="1"/>
          <p:nvPr/>
        </p:nvSpPr>
        <p:spPr>
          <a:xfrm>
            <a:off x="457199" y="6317732"/>
            <a:ext cx="7938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* The </a:t>
            </a:r>
            <a:r>
              <a:rPr lang="en-US" sz="1200" b="1" dirty="0">
                <a:solidFill>
                  <a:schemeClr val="accent5"/>
                </a:solidFill>
              </a:rPr>
              <a:t>APLE</a:t>
            </a:r>
            <a:r>
              <a:rPr lang="en-US" sz="1200" dirty="0">
                <a:solidFill>
                  <a:schemeClr val="accent5"/>
                </a:solidFill>
              </a:rPr>
              <a:t> is an estimate of the spatial autocorrelation parameter one would obtain from fitting an intercept-only SAR model. Note, the APLE approximation is not reliable when the number of observations is large.</a:t>
            </a:r>
          </a:p>
        </p:txBody>
      </p:sp>
    </p:spTree>
    <p:extLst>
      <p:ext uri="{BB962C8B-B14F-4D97-AF65-F5344CB8AC3E}">
        <p14:creationId xmlns:p14="http://schemas.microsoft.com/office/powerpoint/2010/main" val="324970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AD8946F-0F31-3B4A-8CB9-5FA22C3CE7DB}" vid="{C0D572B3-B117-984B-94A9-96E09E0151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7654</TotalTime>
  <Words>2301</Words>
  <Application>Microsoft Macintosh PowerPoint</Application>
  <PresentationFormat>On-screen Show (4:3)</PresentationFormat>
  <Paragraphs>281</Paragraphs>
  <Slides>31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Consolas</vt:lpstr>
      <vt:lpstr>Office Theme</vt:lpstr>
      <vt:lpstr>Basics of Spatial Regression</vt:lpstr>
      <vt:lpstr>Question</vt:lpstr>
      <vt:lpstr>PowerPoint Presentation</vt:lpstr>
      <vt:lpstr>Data</vt:lpstr>
      <vt:lpstr>Data</vt:lpstr>
      <vt:lpstr>PowerPoint Presentation</vt:lpstr>
      <vt:lpstr>Baseline (OLS)</vt:lpstr>
      <vt:lpstr>Baseline (OLS)</vt:lpstr>
      <vt:lpstr>PowerPoint Presentation</vt:lpstr>
      <vt:lpstr>PowerPoint Presentation</vt:lpstr>
      <vt:lpstr>PowerPoint Presentation</vt:lpstr>
      <vt:lpstr>Question 2</vt:lpstr>
      <vt:lpstr>PowerPoint Presentation</vt:lpstr>
      <vt:lpstr>PowerPoint Presentation</vt:lpstr>
      <vt:lpstr>Multilevel Model</vt:lpstr>
      <vt:lpstr>Multilevel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Spatial Lag Model (SAR)</vt:lpstr>
      <vt:lpstr>Multilevel Model</vt:lpstr>
      <vt:lpstr>PowerPoint Presentation</vt:lpstr>
      <vt:lpstr>PowerPoint Presentation</vt:lpstr>
      <vt:lpstr>Learn More (Vignettes)</vt:lpstr>
      <vt:lpstr>References</vt:lpstr>
      <vt:lpstr>Tobler's First Law of Geography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Alexander Abuabara</dc:creator>
  <cp:keywords/>
  <dc:description/>
  <cp:lastModifiedBy>Alexander Abuabara</cp:lastModifiedBy>
  <cp:revision>326</cp:revision>
  <dcterms:created xsi:type="dcterms:W3CDTF">2026-03-25T20:47:13Z</dcterms:created>
  <dcterms:modified xsi:type="dcterms:W3CDTF">2026-04-16T16:19:06Z</dcterms:modified>
  <cp:category/>
</cp:coreProperties>
</file>