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14"/>
  </p:notesMasterIdLst>
  <p:sldIdLst>
    <p:sldId id="256" r:id="rId2"/>
    <p:sldId id="365" r:id="rId3"/>
    <p:sldId id="359" r:id="rId4"/>
    <p:sldId id="345" r:id="rId5"/>
    <p:sldId id="346" r:id="rId6"/>
    <p:sldId id="364" r:id="rId7"/>
    <p:sldId id="363" r:id="rId8"/>
    <p:sldId id="362" r:id="rId9"/>
    <p:sldId id="354" r:id="rId10"/>
    <p:sldId id="366" r:id="rId11"/>
    <p:sldId id="367" r:id="rId12"/>
    <p:sldId id="343"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5A1FBEB-8E98-2648-AACA-444C6CF94B58}">
          <p14:sldIdLst>
            <p14:sldId id="256"/>
          </p14:sldIdLst>
        </p14:section>
        <p14:section name="Review" id="{726521BA-6FDD-E141-85CC-06ADFED5112F}">
          <p14:sldIdLst>
            <p14:sldId id="365"/>
            <p14:sldId id="359"/>
            <p14:sldId id="345"/>
            <p14:sldId id="346"/>
            <p14:sldId id="364"/>
            <p14:sldId id="363"/>
            <p14:sldId id="362"/>
            <p14:sldId id="354"/>
          </p14:sldIdLst>
        </p14:section>
        <p14:section name="Regression" id="{33B13A44-D93C-8E43-A76A-DA40F1DCD619}">
          <p14:sldIdLst>
            <p14:sldId id="366"/>
            <p14:sldId id="367"/>
          </p14:sldIdLst>
        </p14:section>
        <p14:section name="References" id="{80CE1547-8FED-EB40-BEB2-D4CEAADA67FE}">
          <p14:sldIdLst>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CDF0E4"/>
    <a:srgbClr val="9CB6AC"/>
    <a:srgbClr val="FFD84C"/>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522"/>
    <p:restoredTop sz="95545"/>
  </p:normalViewPr>
  <p:slideViewPr>
    <p:cSldViewPr snapToGrid="0">
      <p:cViewPr varScale="1">
        <p:scale>
          <a:sx n="124" d="100"/>
          <a:sy n="124" d="100"/>
        </p:scale>
        <p:origin x="179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4/14/26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4/14/26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Friction_of_distance" TargetMode="External"/><Relationship Id="rId2" Type="http://schemas.openxmlformats.org/officeDocument/2006/relationships/hyperlink" Target="https://legacy.geog.ucsb.edu/tobler-map-projection-used-for-wikipedia-featured-picture/" TargetMode="Externa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cran.r-project.org/web/packages/geostan/vignettes/measuring-sa.html" TargetMode="External"/><Relationship Id="rId2" Type="http://schemas.openxmlformats.org/officeDocument/2006/relationships/hyperlink" Target="https://r-spatial.org/book/"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Spatial Analysis and</a:t>
            </a:r>
            <a:br>
              <a:rPr lang="en-US" dirty="0"/>
            </a:br>
            <a:r>
              <a:rPr lang="en-US" dirty="0"/>
              <a:t>Spatial Regression</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CDF0E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D4BB4-E132-0127-951D-CA14C12CCF88}"/>
              </a:ext>
            </a:extLst>
          </p:cNvPr>
          <p:cNvSpPr>
            <a:spLocks noGrp="1"/>
          </p:cNvSpPr>
          <p:nvPr>
            <p:ph type="title"/>
          </p:nvPr>
        </p:nvSpPr>
        <p:spPr/>
        <p:txBody>
          <a:bodyPr anchor="ctr"/>
          <a:lstStyle/>
          <a:p>
            <a:r>
              <a:rPr lang="en-US" dirty="0"/>
              <a:t>Tobler's First Law of Geography</a:t>
            </a:r>
          </a:p>
        </p:txBody>
      </p:sp>
      <p:sp>
        <p:nvSpPr>
          <p:cNvPr id="3" name="Content Placeholder 2">
            <a:extLst>
              <a:ext uri="{FF2B5EF4-FFF2-40B4-BE49-F238E27FC236}">
                <a16:creationId xmlns:a16="http://schemas.microsoft.com/office/drawing/2014/main" id="{100325FB-359E-F51F-B21A-CE3299745F09}"/>
              </a:ext>
            </a:extLst>
          </p:cNvPr>
          <p:cNvSpPr>
            <a:spLocks noGrp="1"/>
          </p:cNvSpPr>
          <p:nvPr>
            <p:ph idx="1"/>
          </p:nvPr>
        </p:nvSpPr>
        <p:spPr>
          <a:xfrm>
            <a:off x="457200" y="1191802"/>
            <a:ext cx="8413668" cy="5351501"/>
          </a:xfrm>
        </p:spPr>
        <p:txBody>
          <a:bodyPr>
            <a:normAutofit/>
          </a:bodyPr>
          <a:lstStyle/>
          <a:p>
            <a:pPr marL="0" indent="0">
              <a:buNone/>
            </a:pPr>
            <a:r>
              <a:rPr lang="en-US" sz="2400" dirty="0">
                <a:solidFill>
                  <a:srgbClr val="C00000"/>
                </a:solidFill>
              </a:rPr>
              <a:t>"</a:t>
            </a:r>
            <a:r>
              <a:rPr lang="en-US" sz="2400" b="1" i="1" dirty="0">
                <a:solidFill>
                  <a:srgbClr val="C00000"/>
                </a:solidFill>
              </a:rPr>
              <a:t>Everything is related to everything else,</a:t>
            </a:r>
            <a:br>
              <a:rPr lang="en-US" sz="2400" b="1" i="1" dirty="0">
                <a:solidFill>
                  <a:srgbClr val="C00000"/>
                </a:solidFill>
              </a:rPr>
            </a:br>
            <a:r>
              <a:rPr lang="en-US" sz="2400" b="1" i="1" dirty="0">
                <a:solidFill>
                  <a:srgbClr val="C00000"/>
                </a:solidFill>
              </a:rPr>
              <a:t>but near things are more related </a:t>
            </a:r>
            <a:br>
              <a:rPr lang="en-US" sz="2400" b="1" i="1" dirty="0">
                <a:solidFill>
                  <a:srgbClr val="C00000"/>
                </a:solidFill>
              </a:rPr>
            </a:br>
            <a:r>
              <a:rPr lang="en-US" sz="2400" b="1" i="1" dirty="0">
                <a:solidFill>
                  <a:srgbClr val="C00000"/>
                </a:solidFill>
              </a:rPr>
              <a:t>than distant things.</a:t>
            </a:r>
            <a:r>
              <a:rPr lang="en-US" sz="2400" dirty="0">
                <a:solidFill>
                  <a:srgbClr val="C00000"/>
                </a:solidFill>
              </a:rPr>
              <a:t>" </a:t>
            </a:r>
            <a:r>
              <a:rPr lang="en-US" sz="1400" dirty="0">
                <a:hlinkClick r:id="rId2"/>
              </a:rPr>
              <a:t>Waldo Tobler</a:t>
            </a:r>
            <a:r>
              <a:rPr lang="en-US" sz="1400" dirty="0"/>
              <a:t> (1930-2018)</a:t>
            </a:r>
          </a:p>
          <a:p>
            <a:pPr marL="0" indent="0" algn="ctr">
              <a:buNone/>
            </a:pPr>
            <a:endParaRPr lang="en-US" sz="1000" dirty="0"/>
          </a:p>
          <a:p>
            <a:pPr marL="0" indent="0" algn="ctr">
              <a:buNone/>
            </a:pPr>
            <a:endParaRPr lang="en-US" sz="1000" dirty="0"/>
          </a:p>
          <a:p>
            <a:r>
              <a:rPr lang="en-US" b="1" dirty="0"/>
              <a:t>Distance Decay</a:t>
            </a:r>
            <a:br>
              <a:rPr lang="en-US" dirty="0"/>
            </a:br>
            <a:r>
              <a:rPr lang="en-US" sz="1600" dirty="0"/>
              <a:t>The further apart two things are, the less they </a:t>
            </a:r>
            <a:r>
              <a:rPr lang="en-US" sz="1600" b="1" dirty="0"/>
              <a:t>interact</a:t>
            </a:r>
            <a:r>
              <a:rPr lang="en-US" sz="1600" dirty="0"/>
              <a:t> or </a:t>
            </a:r>
            <a:r>
              <a:rPr lang="en-US" sz="1600" b="1" dirty="0"/>
              <a:t>influence</a:t>
            </a:r>
            <a:r>
              <a:rPr lang="en-US" sz="1600" dirty="0"/>
              <a:t> each other</a:t>
            </a:r>
          </a:p>
          <a:p>
            <a:r>
              <a:rPr lang="en-US" b="1" dirty="0"/>
              <a:t>Spatial Autocorrelation</a:t>
            </a:r>
            <a:br>
              <a:rPr lang="en-US" dirty="0"/>
            </a:br>
            <a:r>
              <a:rPr lang="en-US" sz="1600" dirty="0"/>
              <a:t>The mathematical way to </a:t>
            </a:r>
            <a:r>
              <a:rPr lang="en-US" sz="1600" b="1" dirty="0"/>
              <a:t>measure</a:t>
            </a:r>
            <a:r>
              <a:rPr lang="en-US" sz="1600" dirty="0"/>
              <a:t> this "relatedness"</a:t>
            </a:r>
            <a:endParaRPr lang="en-US" dirty="0"/>
          </a:p>
          <a:p>
            <a:r>
              <a:rPr lang="en-US" b="1" dirty="0"/>
              <a:t>Neighborhood Effect</a:t>
            </a:r>
            <a:br>
              <a:rPr lang="en-US" dirty="0"/>
            </a:br>
            <a:r>
              <a:rPr lang="en-US" sz="1600" dirty="0"/>
              <a:t>Expect neighbors to be similar</a:t>
            </a:r>
          </a:p>
          <a:p>
            <a:pPr marL="0" indent="0">
              <a:buNone/>
            </a:pPr>
            <a:endParaRPr lang="en-US" sz="1000" dirty="0"/>
          </a:p>
          <a:p>
            <a:pPr marL="0" indent="0">
              <a:buNone/>
            </a:pPr>
            <a:r>
              <a:rPr lang="en-US" b="1" dirty="0">
                <a:hlinkClick r:id="rId3"/>
              </a:rPr>
              <a:t>Friction of distance</a:t>
            </a:r>
            <a:endParaRPr lang="en-US" b="1" dirty="0"/>
          </a:p>
          <a:p>
            <a:pPr lvl="1"/>
            <a:r>
              <a:rPr lang="en-US" sz="1400" i="1" dirty="0">
                <a:solidFill>
                  <a:schemeClr val="tx1">
                    <a:lumMod val="65000"/>
                    <a:lumOff val="35000"/>
                  </a:schemeClr>
                </a:solidFill>
              </a:rPr>
              <a:t>If it's raining at a house, it's likely raining at neighbor's house, but it might be sunny somewhere else.</a:t>
            </a:r>
          </a:p>
          <a:p>
            <a:pPr lvl="1"/>
            <a:r>
              <a:rPr lang="en-US" sz="1400" i="1" dirty="0">
                <a:solidFill>
                  <a:schemeClr val="tx1">
                    <a:lumMod val="65000"/>
                    <a:lumOff val="35000"/>
                  </a:schemeClr>
                </a:solidFill>
              </a:rPr>
              <a:t>The price of a house is heavily influenced by the prices of the houses on that same street.</a:t>
            </a:r>
          </a:p>
          <a:p>
            <a:pPr lvl="1"/>
            <a:r>
              <a:rPr lang="en-US" sz="1400" i="1" dirty="0">
                <a:solidFill>
                  <a:schemeClr val="tx1">
                    <a:lumMod val="65000"/>
                    <a:lumOff val="35000"/>
                  </a:schemeClr>
                </a:solidFill>
              </a:rPr>
              <a:t>People in neighboring towns usually speak with similar accents;</a:t>
            </a:r>
            <a:br>
              <a:rPr lang="en-US" sz="1400" i="1" dirty="0">
                <a:solidFill>
                  <a:schemeClr val="tx1">
                    <a:lumMod val="65000"/>
                    <a:lumOff val="35000"/>
                  </a:schemeClr>
                </a:solidFill>
              </a:rPr>
            </a:br>
            <a:r>
              <a:rPr lang="en-US" sz="1400" i="1" dirty="0">
                <a:solidFill>
                  <a:schemeClr val="tx1">
                    <a:lumMod val="65000"/>
                    <a:lumOff val="35000"/>
                  </a:schemeClr>
                </a:solidFill>
              </a:rPr>
              <a:t>people across the country sound different.</a:t>
            </a:r>
          </a:p>
        </p:txBody>
      </p:sp>
      <p:sp>
        <p:nvSpPr>
          <p:cNvPr id="4" name="Slide Number Placeholder 3">
            <a:extLst>
              <a:ext uri="{FF2B5EF4-FFF2-40B4-BE49-F238E27FC236}">
                <a16:creationId xmlns:a16="http://schemas.microsoft.com/office/drawing/2014/main" id="{5CE81538-8A82-4378-B97E-5B455B45AD94}"/>
              </a:ext>
            </a:extLst>
          </p:cNvPr>
          <p:cNvSpPr>
            <a:spLocks noGrp="1"/>
          </p:cNvSpPr>
          <p:nvPr>
            <p:ph type="sldNum" sz="quarter" idx="12"/>
          </p:nvPr>
        </p:nvSpPr>
        <p:spPr/>
        <p:txBody>
          <a:bodyPr/>
          <a:lstStyle/>
          <a:p>
            <a:fld id="{C0343C75-1924-D247-85A3-0CB62E67E5D1}" type="slidenum">
              <a:rPr lang="en-US" smtClean="0"/>
              <a:t>2</a:t>
            </a:fld>
            <a:endParaRPr lang="en-US"/>
          </a:p>
        </p:txBody>
      </p:sp>
      <p:pic>
        <p:nvPicPr>
          <p:cNvPr id="6" name="Picture 5">
            <a:extLst>
              <a:ext uri="{FF2B5EF4-FFF2-40B4-BE49-F238E27FC236}">
                <a16:creationId xmlns:a16="http://schemas.microsoft.com/office/drawing/2014/main" id="{66D5A9C6-FDF1-8BD0-C407-F613939D9CC4}"/>
              </a:ext>
            </a:extLst>
          </p:cNvPr>
          <p:cNvPicPr>
            <a:picLocks noChangeAspect="1"/>
          </p:cNvPicPr>
          <p:nvPr/>
        </p:nvPicPr>
        <p:blipFill>
          <a:blip r:embed="rId4"/>
          <a:srcRect l="13474" t="6039" r="19026" b="3960"/>
          <a:stretch>
            <a:fillRect/>
          </a:stretch>
        </p:blipFill>
        <p:spPr>
          <a:xfrm>
            <a:off x="6400800" y="550993"/>
            <a:ext cx="2286000" cy="2286000"/>
          </a:xfrm>
          <a:prstGeom prst="rect">
            <a:avLst/>
          </a:prstGeom>
        </p:spPr>
      </p:pic>
    </p:spTree>
    <p:extLst>
      <p:ext uri="{BB962C8B-B14F-4D97-AF65-F5344CB8AC3E}">
        <p14:creationId xmlns:p14="http://schemas.microsoft.com/office/powerpoint/2010/main" val="13483019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CB32-C173-B837-76EA-CABB16AABC26}"/>
            </a:ext>
          </a:extLst>
        </p:cNvPr>
        <p:cNvGrpSpPr/>
        <p:nvPr/>
      </p:nvGrpSpPr>
      <p:grpSpPr>
        <a:xfrm>
          <a:off x="0" y="0"/>
          <a:ext cx="0" cy="0"/>
          <a:chOff x="0" y="0"/>
          <a:chExt cx="0" cy="0"/>
        </a:xfrm>
      </p:grpSpPr>
      <p:sp>
        <p:nvSpPr>
          <p:cNvPr id="7" name="Content Placeholder 2">
            <a:extLst>
              <a:ext uri="{FF2B5EF4-FFF2-40B4-BE49-F238E27FC236}">
                <a16:creationId xmlns:a16="http://schemas.microsoft.com/office/drawing/2014/main" id="{57EF2203-5AE3-8CB8-D479-ACE224E98F37}"/>
              </a:ext>
            </a:extLst>
          </p:cNvPr>
          <p:cNvSpPr txBox="1">
            <a:spLocks/>
          </p:cNvSpPr>
          <p:nvPr/>
        </p:nvSpPr>
        <p:spPr>
          <a:xfrm>
            <a:off x="4572000" y="1592494"/>
            <a:ext cx="4114801" cy="476385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dirty="0"/>
              <a:t>If we pass any variable x and its corresponding spatial object (e.g., </a:t>
            </a:r>
            <a:r>
              <a:rPr lang="en-US" sz="1400" i="1" dirty="0"/>
              <a:t>simple features</a:t>
            </a:r>
            <a:r>
              <a:rPr lang="en-US" sz="1400" dirty="0"/>
              <a:t>) to the </a:t>
            </a:r>
            <a:r>
              <a:rPr lang="en-US" sz="1400" b="1" dirty="0" err="1"/>
              <a:t>sp_diag</a:t>
            </a:r>
            <a:r>
              <a:rPr lang="en-US" sz="1400" b="1" dirty="0"/>
              <a:t> </a:t>
            </a:r>
            <a:r>
              <a:rPr lang="en-US" sz="1400" dirty="0"/>
              <a:t>function, it returns a </a:t>
            </a:r>
            <a:r>
              <a:rPr lang="en-US" sz="1400" u="sng" dirty="0"/>
              <a:t>histogram</a:t>
            </a:r>
            <a:r>
              <a:rPr lang="en-US" sz="1400" dirty="0"/>
              <a:t>, </a:t>
            </a:r>
            <a:br>
              <a:rPr lang="en-US" sz="1400" dirty="0"/>
            </a:br>
            <a:r>
              <a:rPr lang="en-US" sz="1400" u="sng" dirty="0"/>
              <a:t>Moran scatter plot</a:t>
            </a:r>
            <a:r>
              <a:rPr lang="en-US" sz="1400" dirty="0"/>
              <a:t>, and </a:t>
            </a:r>
            <a:r>
              <a:rPr lang="en-US" sz="1400" u="sng" dirty="0"/>
              <a:t>map of the estimates</a:t>
            </a:r>
            <a:r>
              <a:rPr lang="en-US" sz="1400" dirty="0"/>
              <a:t>:</a:t>
            </a:r>
          </a:p>
        </p:txBody>
      </p:sp>
      <p:sp>
        <p:nvSpPr>
          <p:cNvPr id="2" name="Title 1">
            <a:extLst>
              <a:ext uri="{FF2B5EF4-FFF2-40B4-BE49-F238E27FC236}">
                <a16:creationId xmlns:a16="http://schemas.microsoft.com/office/drawing/2014/main" id="{318850D4-5775-0675-37B0-E6A72D15F14A}"/>
              </a:ext>
            </a:extLst>
          </p:cNvPr>
          <p:cNvSpPr>
            <a:spLocks noGrp="1"/>
          </p:cNvSpPr>
          <p:nvPr>
            <p:ph type="title"/>
          </p:nvPr>
        </p:nvSpPr>
        <p:spPr/>
        <p:txBody>
          <a:bodyPr anchor="ctr"/>
          <a:lstStyle/>
          <a:p>
            <a:r>
              <a:rPr lang="en-US" b="1" dirty="0"/>
              <a:t>Exploratory </a:t>
            </a:r>
            <a:r>
              <a:rPr lang="en-US" b="1" u="sng" dirty="0"/>
              <a:t>Spatial</a:t>
            </a:r>
            <a:r>
              <a:rPr lang="en-US" b="1" dirty="0"/>
              <a:t> Data Analysis (ESDA)</a:t>
            </a:r>
          </a:p>
        </p:txBody>
      </p:sp>
      <p:sp>
        <p:nvSpPr>
          <p:cNvPr id="3" name="Content Placeholder 2">
            <a:extLst>
              <a:ext uri="{FF2B5EF4-FFF2-40B4-BE49-F238E27FC236}">
                <a16:creationId xmlns:a16="http://schemas.microsoft.com/office/drawing/2014/main" id="{B90DBCA9-641A-1002-4426-F6F967D0C2C2}"/>
              </a:ext>
            </a:extLst>
          </p:cNvPr>
          <p:cNvSpPr>
            <a:spLocks noGrp="1"/>
          </p:cNvSpPr>
          <p:nvPr>
            <p:ph idx="1"/>
          </p:nvPr>
        </p:nvSpPr>
        <p:spPr>
          <a:xfrm>
            <a:off x="457199" y="1140432"/>
            <a:ext cx="4114801" cy="5215920"/>
          </a:xfrm>
        </p:spPr>
        <p:txBody>
          <a:bodyPr>
            <a:noAutofit/>
          </a:bodyPr>
          <a:lstStyle/>
          <a:p>
            <a:r>
              <a:rPr lang="en-US" sz="1400" dirty="0"/>
              <a:t>ESDA </a:t>
            </a:r>
            <a:r>
              <a:rPr lang="en-US" sz="1400" b="1" dirty="0"/>
              <a:t>extends</a:t>
            </a:r>
            <a:r>
              <a:rPr lang="en-US" sz="1400" dirty="0"/>
              <a:t> traditional EDA by incorporating the </a:t>
            </a:r>
            <a:r>
              <a:rPr lang="en-US" sz="1400" u="sng" dirty="0"/>
              <a:t>spatial dimension</a:t>
            </a:r>
            <a:r>
              <a:rPr lang="en-US" sz="1400" dirty="0"/>
              <a:t> of data.</a:t>
            </a:r>
          </a:p>
          <a:p>
            <a:r>
              <a:rPr lang="en-US" sz="1400" dirty="0"/>
              <a:t>In addition to standard visual summaries:</a:t>
            </a:r>
          </a:p>
          <a:p>
            <a:pPr lvl="1"/>
            <a:r>
              <a:rPr lang="en-US" sz="1400" u="sng" dirty="0"/>
              <a:t>Emphasizes mapping</a:t>
            </a:r>
            <a:r>
              <a:rPr lang="en-US" sz="1400" dirty="0"/>
              <a:t> (including residual patterns), breaking down spatial structures into meaningful components, </a:t>
            </a:r>
            <a:br>
              <a:rPr lang="en-US" sz="1400" dirty="0"/>
            </a:br>
            <a:r>
              <a:rPr lang="en-US" sz="1400" dirty="0"/>
              <a:t>and quantifying the degree of spatial dependence or clustering.</a:t>
            </a:r>
          </a:p>
          <a:p>
            <a:pPr lvl="1"/>
            <a:r>
              <a:rPr lang="en-US" sz="1400" dirty="0"/>
              <a:t>Highlights unusual observations, interpret patterns in geographic context.</a:t>
            </a:r>
          </a:p>
          <a:p>
            <a:pPr lvl="1"/>
            <a:r>
              <a:rPr lang="en-US" sz="1400" dirty="0"/>
              <a:t>Spotlights </a:t>
            </a:r>
            <a:r>
              <a:rPr lang="en-US" sz="1400" u="sng" dirty="0"/>
              <a:t>open-ended investigation</a:t>
            </a:r>
            <a:r>
              <a:rPr lang="en-US" sz="1400" dirty="0"/>
              <a:t> circumventing formal hypothesis testing in the early stages of analysis.</a:t>
            </a:r>
          </a:p>
        </p:txBody>
      </p:sp>
      <p:sp>
        <p:nvSpPr>
          <p:cNvPr id="4" name="Slide Number Placeholder 3">
            <a:extLst>
              <a:ext uri="{FF2B5EF4-FFF2-40B4-BE49-F238E27FC236}">
                <a16:creationId xmlns:a16="http://schemas.microsoft.com/office/drawing/2014/main" id="{8EB122BE-B5E2-B812-31A5-773D90C106BC}"/>
              </a:ext>
            </a:extLst>
          </p:cNvPr>
          <p:cNvSpPr>
            <a:spLocks noGrp="1"/>
          </p:cNvSpPr>
          <p:nvPr>
            <p:ph type="sldNum" sz="quarter" idx="12"/>
          </p:nvPr>
        </p:nvSpPr>
        <p:spPr/>
        <p:txBody>
          <a:bodyPr/>
          <a:lstStyle/>
          <a:p>
            <a:fld id="{C0343C75-1924-D247-85A3-0CB62E67E5D1}" type="slidenum">
              <a:rPr lang="en-US" smtClean="0"/>
              <a:t>3</a:t>
            </a:fld>
            <a:endParaRPr lang="en-US"/>
          </a:p>
        </p:txBody>
      </p:sp>
      <p:sp>
        <p:nvSpPr>
          <p:cNvPr id="6" name="Content Placeholder 2">
            <a:extLst>
              <a:ext uri="{FF2B5EF4-FFF2-40B4-BE49-F238E27FC236}">
                <a16:creationId xmlns:a16="http://schemas.microsoft.com/office/drawing/2014/main" id="{016650FA-95B3-AB1F-D440-F183B97F8D30}"/>
              </a:ext>
            </a:extLst>
          </p:cNvPr>
          <p:cNvSpPr txBox="1">
            <a:spLocks/>
          </p:cNvSpPr>
          <p:nvPr/>
        </p:nvSpPr>
        <p:spPr>
          <a:xfrm>
            <a:off x="4849402" y="2969231"/>
            <a:ext cx="3837398" cy="35670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geostan</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chemeClr val="tx1">
                    <a:lumMod val="65000"/>
                    <a:lumOff val="35000"/>
                  </a:schemeClr>
                </a:solidFill>
                <a:latin typeface="Consolas" panose="020B0609020204030204" pitchFamily="49" charset="0"/>
                <a:cs typeface="Consolas" panose="020B0609020204030204" pitchFamily="49" charset="0"/>
              </a:rPr>
              <a:t>sp_diag</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georgia$college</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br>
              <a:rPr lang="en-US" sz="1200" b="1" dirty="0">
                <a:solidFill>
                  <a:schemeClr val="tx1">
                    <a:lumMod val="65000"/>
                    <a:lumOff val="35000"/>
                  </a:schemeClr>
                </a:solidFill>
                <a:latin typeface="Consolas" panose="020B0609020204030204" pitchFamily="49" charset="0"/>
                <a:cs typeface="Consolas" panose="020B0609020204030204" pitchFamily="49" charset="0"/>
              </a:rPr>
            </a:br>
            <a:r>
              <a:rPr lang="en-US" sz="1200" b="1" dirty="0">
                <a:solidFill>
                  <a:schemeClr val="tx1">
                    <a:lumMod val="65000"/>
                    <a:lumOff val="35000"/>
                  </a:schemeClr>
                </a:solidFill>
                <a:latin typeface="Consolas" panose="020B0609020204030204" pitchFamily="49" charset="0"/>
                <a:cs typeface="Consolas" panose="020B0609020204030204" pitchFamily="49" charset="0"/>
              </a:rPr>
              <a:t>        </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georgia</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br>
              <a:rPr lang="en-US" sz="1200" b="1" dirty="0">
                <a:solidFill>
                  <a:schemeClr val="tx1">
                    <a:lumMod val="65000"/>
                    <a:lumOff val="35000"/>
                  </a:schemeClr>
                </a:solidFill>
                <a:latin typeface="Consolas" panose="020B0609020204030204" pitchFamily="49" charset="0"/>
                <a:cs typeface="Consolas" panose="020B0609020204030204" pitchFamily="49" charset="0"/>
              </a:rPr>
            </a:br>
            <a:r>
              <a:rPr lang="en-US" sz="1200" b="1" dirty="0">
                <a:solidFill>
                  <a:schemeClr val="tx1">
                    <a:lumMod val="65000"/>
                    <a:lumOff val="35000"/>
                  </a:schemeClr>
                </a:solidFill>
                <a:latin typeface="Consolas" panose="020B0609020204030204" pitchFamily="49" charset="0"/>
                <a:cs typeface="Consolas" panose="020B0609020204030204" pitchFamily="49" charset="0"/>
              </a:rPr>
              <a:t>        name = "College (%)")</a:t>
            </a:r>
          </a:p>
        </p:txBody>
      </p:sp>
      <p:sp>
        <p:nvSpPr>
          <p:cNvPr id="10" name="TextBox 9">
            <a:extLst>
              <a:ext uri="{FF2B5EF4-FFF2-40B4-BE49-F238E27FC236}">
                <a16:creationId xmlns:a16="http://schemas.microsoft.com/office/drawing/2014/main" id="{704AB3F7-8958-8105-5EEC-B97E9888C91A}"/>
              </a:ext>
            </a:extLst>
          </p:cNvPr>
          <p:cNvSpPr txBox="1"/>
          <p:nvPr/>
        </p:nvSpPr>
        <p:spPr>
          <a:xfrm>
            <a:off x="5948476" y="2604107"/>
            <a:ext cx="1361847" cy="307777"/>
          </a:xfrm>
          <a:prstGeom prst="rect">
            <a:avLst/>
          </a:prstGeom>
          <a:solidFill>
            <a:srgbClr val="C00000"/>
          </a:solidFill>
        </p:spPr>
        <p:txBody>
          <a:bodyPr wrap="none" rtlCol="0" anchor="ctr">
            <a:spAutoFit/>
          </a:bodyPr>
          <a:lstStyle/>
          <a:p>
            <a:pPr algn="ctr"/>
            <a:r>
              <a:rPr lang="en-US" sz="1400" dirty="0">
                <a:solidFill>
                  <a:schemeClr val="bg1"/>
                </a:solidFill>
              </a:rPr>
              <a:t>Example 2 </a:t>
            </a:r>
            <a:r>
              <a:rPr lang="en-US" sz="1400" baseline="30000" dirty="0">
                <a:solidFill>
                  <a:schemeClr val="bg1"/>
                </a:solidFill>
              </a:rPr>
              <a:t>(cont.)</a:t>
            </a:r>
          </a:p>
        </p:txBody>
      </p:sp>
      <p:pic>
        <p:nvPicPr>
          <p:cNvPr id="12" name="Picture 11">
            <a:extLst>
              <a:ext uri="{FF2B5EF4-FFF2-40B4-BE49-F238E27FC236}">
                <a16:creationId xmlns:a16="http://schemas.microsoft.com/office/drawing/2014/main" id="{758FB1E4-9C6D-206F-3E1D-4E1C0A60A00F}"/>
              </a:ext>
            </a:extLst>
          </p:cNvPr>
          <p:cNvPicPr>
            <a:picLocks noChangeAspect="1"/>
          </p:cNvPicPr>
          <p:nvPr/>
        </p:nvPicPr>
        <p:blipFill>
          <a:blip r:embed="rId2"/>
          <a:stretch>
            <a:fillRect/>
          </a:stretch>
        </p:blipFill>
        <p:spPr>
          <a:xfrm>
            <a:off x="685800" y="4071084"/>
            <a:ext cx="7772400" cy="2374704"/>
          </a:xfrm>
          <a:prstGeom prst="rect">
            <a:avLst/>
          </a:prstGeom>
        </p:spPr>
      </p:pic>
    </p:spTree>
    <p:extLst>
      <p:ext uri="{BB962C8B-B14F-4D97-AF65-F5344CB8AC3E}">
        <p14:creationId xmlns:p14="http://schemas.microsoft.com/office/powerpoint/2010/main" val="37696861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46FAF-0A58-A3BA-74A8-936E0A3F716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01CEB3-889F-0CF7-5429-63BD8F57861C}"/>
                  </a:ext>
                </a:extLst>
              </p:cNvPr>
              <p:cNvSpPr>
                <a:spLocks noGrp="1"/>
              </p:cNvSpPr>
              <p:nvPr>
                <p:ph idx="1"/>
              </p:nvPr>
            </p:nvSpPr>
            <p:spPr>
              <a:xfrm>
                <a:off x="457200" y="321734"/>
                <a:ext cx="8229600" cy="6034618"/>
              </a:xfrm>
            </p:spPr>
            <p:txBody>
              <a:bodyPr>
                <a:noAutofit/>
              </a:bodyPr>
              <a:lstStyle/>
              <a:p>
                <a:pPr marL="0" indent="0">
                  <a:buNone/>
                </a:pPr>
                <a:r>
                  <a:rPr lang="en-US" sz="2400" b="1" dirty="0"/>
                  <a:t>Spatial Lag</a:t>
                </a:r>
              </a:p>
              <a:p>
                <a:r>
                  <a:rPr lang="en-US" sz="1600" dirty="0"/>
                  <a:t>The spatial lag (y-axis) represents the </a:t>
                </a:r>
                <a:r>
                  <a:rPr lang="en-US" sz="1600" u="sng" dirty="0"/>
                  <a:t>average value</a:t>
                </a:r>
                <a:r>
                  <a:rPr lang="en-US" sz="1600" dirty="0"/>
                  <a:t> of the variable in neighboring locations for each observation.</a:t>
                </a:r>
              </a:p>
              <a:p>
                <a:pPr lvl="1"/>
                <a:r>
                  <a:rPr lang="en-US" sz="1600" dirty="0"/>
                  <a:t>The scatterplot's horizontal axis (College %) and vertical axis (Spatial Lag) are centered around 0.</a:t>
                </a:r>
              </a:p>
              <a:p>
                <a:pPr lvl="2"/>
                <a:r>
                  <a:rPr lang="en-US" sz="1600" b="1" dirty="0"/>
                  <a:t>Mean-Centering</a:t>
                </a:r>
                <a:r>
                  <a:rPr lang="en-US" sz="1600" dirty="0"/>
                  <a:t>: The function calculates the average college attainment for all counties in Georgia (around 20%).</a:t>
                </a:r>
              </a:p>
              <a:p>
                <a:pPr lvl="2"/>
                <a:r>
                  <a:rPr lang="en-US" sz="1600" b="1" dirty="0"/>
                  <a:t>Subtraction</a:t>
                </a:r>
                <a:r>
                  <a:rPr lang="en-US" sz="1600" dirty="0"/>
                  <a:t>: then subtracts that average from every individual county's value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𝑥</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acc>
                      <m:accPr>
                        <m:chr m:val="̅"/>
                        <m:ctrlPr>
                          <a:rPr lang="en-US" sz="1600" b="0" i="1" smtClean="0">
                            <a:latin typeface="Cambria Math" panose="02040503050406030204" pitchFamily="18" charset="0"/>
                          </a:rPr>
                        </m:ctrlPr>
                      </m:accPr>
                      <m:e>
                        <m:r>
                          <a:rPr lang="en-US" sz="1600" b="0" i="1" smtClean="0">
                            <a:latin typeface="Cambria Math" panose="02040503050406030204" pitchFamily="18" charset="0"/>
                          </a:rPr>
                          <m:t>𝑥</m:t>
                        </m:r>
                      </m:e>
                    </m:acc>
                    <m:r>
                      <a:rPr lang="en-US" sz="1600" b="0" i="1" smtClean="0">
                        <a:latin typeface="Cambria Math" panose="02040503050406030204" pitchFamily="18" charset="0"/>
                      </a:rPr>
                      <m:t>)</m:t>
                    </m:r>
                  </m:oMath>
                </a14:m>
                <a:r>
                  <a:rPr lang="en-US" sz="1600" dirty="0"/>
                  <a:t>.</a:t>
                </a:r>
              </a:p>
              <a:p>
                <a:pPr lvl="2"/>
                <a:r>
                  <a:rPr lang="en-US" sz="1600" b="1" dirty="0"/>
                  <a:t>Spatial Lag</a:t>
                </a:r>
                <a:r>
                  <a:rPr lang="en-US" sz="1600" dirty="0"/>
                  <a:t>: is the weighted average of the centered values of a county's neighbors. Many neighbors also have values below the mean, their average can be also negative.</a:t>
                </a:r>
              </a:p>
              <a:p>
                <a:pPr lvl="2"/>
                <a:endParaRPr lang="en-US" sz="1800" dirty="0"/>
              </a:p>
            </p:txBody>
          </p:sp>
        </mc:Choice>
        <mc:Fallback>
          <p:sp>
            <p:nvSpPr>
              <p:cNvPr id="3" name="Content Placeholder 2">
                <a:extLst>
                  <a:ext uri="{FF2B5EF4-FFF2-40B4-BE49-F238E27FC236}">
                    <a16:creationId xmlns:a16="http://schemas.microsoft.com/office/drawing/2014/main" id="{9601CEB3-889F-0CF7-5429-63BD8F57861C}"/>
                  </a:ext>
                </a:extLst>
              </p:cNvPr>
              <p:cNvSpPr>
                <a:spLocks noGrp="1" noRot="1" noChangeAspect="1" noMove="1" noResize="1" noEditPoints="1" noAdjustHandles="1" noChangeArrowheads="1" noChangeShapeType="1" noTextEdit="1"/>
              </p:cNvSpPr>
              <p:nvPr>
                <p:ph idx="1"/>
              </p:nvPr>
            </p:nvSpPr>
            <p:spPr>
              <a:xfrm>
                <a:off x="457200" y="321734"/>
                <a:ext cx="8229600" cy="6034618"/>
              </a:xfrm>
              <a:blipFill>
                <a:blip r:embed="rId2"/>
                <a:stretch>
                  <a:fillRect l="-1235" t="-1471" r="-77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7B853FC-DD10-4B16-03F6-972DC000AC14}"/>
              </a:ext>
            </a:extLst>
          </p:cNvPr>
          <p:cNvSpPr>
            <a:spLocks noGrp="1"/>
          </p:cNvSpPr>
          <p:nvPr>
            <p:ph type="sldNum" sz="quarter" idx="12"/>
          </p:nvPr>
        </p:nvSpPr>
        <p:spPr/>
        <p:txBody>
          <a:bodyPr/>
          <a:lstStyle/>
          <a:p>
            <a:fld id="{C0343C75-1924-D247-85A3-0CB62E67E5D1}" type="slidenum">
              <a:rPr lang="en-US" smtClean="0"/>
              <a:t>4</a:t>
            </a:fld>
            <a:endParaRPr lang="en-US"/>
          </a:p>
        </p:txBody>
      </p:sp>
      <p:pic>
        <p:nvPicPr>
          <p:cNvPr id="7" name="Picture 6">
            <a:extLst>
              <a:ext uri="{FF2B5EF4-FFF2-40B4-BE49-F238E27FC236}">
                <a16:creationId xmlns:a16="http://schemas.microsoft.com/office/drawing/2014/main" id="{54150E02-77AB-34E3-2408-B2D0C61AC0BA}"/>
              </a:ext>
            </a:extLst>
          </p:cNvPr>
          <p:cNvPicPr>
            <a:picLocks noChangeAspect="1"/>
          </p:cNvPicPr>
          <p:nvPr/>
        </p:nvPicPr>
        <p:blipFill>
          <a:blip r:embed="rId3"/>
          <a:stretch>
            <a:fillRect/>
          </a:stretch>
        </p:blipFill>
        <p:spPr>
          <a:xfrm>
            <a:off x="685800" y="4071084"/>
            <a:ext cx="7772400" cy="2374704"/>
          </a:xfrm>
          <a:prstGeom prst="rect">
            <a:avLst/>
          </a:prstGeom>
        </p:spPr>
      </p:pic>
      <p:sp>
        <p:nvSpPr>
          <p:cNvPr id="10" name="Oval 9">
            <a:extLst>
              <a:ext uri="{FF2B5EF4-FFF2-40B4-BE49-F238E27FC236}">
                <a16:creationId xmlns:a16="http://schemas.microsoft.com/office/drawing/2014/main" id="{D9A2F6D5-AB38-EBAA-C89F-A584B3410B67}"/>
              </a:ext>
            </a:extLst>
          </p:cNvPr>
          <p:cNvSpPr>
            <a:spLocks/>
          </p:cNvSpPr>
          <p:nvPr/>
        </p:nvSpPr>
        <p:spPr>
          <a:xfrm>
            <a:off x="3063240" y="3744024"/>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699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10D98-1C85-6059-AB54-03AD882CE1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683515-487B-B04A-44A6-60C3CAF35D16}"/>
              </a:ext>
            </a:extLst>
          </p:cNvPr>
          <p:cNvSpPr>
            <a:spLocks noGrp="1"/>
          </p:cNvSpPr>
          <p:nvPr>
            <p:ph idx="1"/>
          </p:nvPr>
        </p:nvSpPr>
        <p:spPr>
          <a:xfrm>
            <a:off x="457200" y="321734"/>
            <a:ext cx="8229600" cy="6034618"/>
          </a:xfrm>
        </p:spPr>
        <p:txBody>
          <a:bodyPr>
            <a:noAutofit/>
          </a:bodyPr>
          <a:lstStyle/>
          <a:p>
            <a:pPr marL="0" indent="0">
              <a:buNone/>
            </a:pPr>
            <a:r>
              <a:rPr lang="en-US" sz="2400" b="1" dirty="0"/>
              <a:t>Moran's I Coefficient</a:t>
            </a:r>
          </a:p>
          <a:p>
            <a:r>
              <a:rPr lang="en-US" sz="1600" dirty="0"/>
              <a:t>A measure of spatial autocorrelation:</a:t>
            </a:r>
          </a:p>
          <a:p>
            <a:pPr lvl="1"/>
            <a:r>
              <a:rPr lang="en-US" sz="1600" dirty="0"/>
              <a:t>Quantifies how similar values are across nearby locations.</a:t>
            </a:r>
          </a:p>
          <a:p>
            <a:pPr lvl="1"/>
            <a:r>
              <a:rPr lang="en-US" sz="1600" dirty="0"/>
              <a:t>The value ranges roughly from -1 to +1:</a:t>
            </a:r>
          </a:p>
          <a:p>
            <a:pPr lvl="2"/>
            <a:r>
              <a:rPr lang="en-US" sz="1600" dirty="0"/>
              <a:t>Positive (0.422) → nearby areas tend to have similar values (clustering)</a:t>
            </a:r>
          </a:p>
          <a:p>
            <a:pPr lvl="2"/>
            <a:r>
              <a:rPr lang="en-US" sz="1600" dirty="0"/>
              <a:t>Near 0 → spatial randomness</a:t>
            </a:r>
          </a:p>
          <a:p>
            <a:pPr lvl="2"/>
            <a:r>
              <a:rPr lang="en-US" sz="1600" dirty="0"/>
              <a:t>Negative → nearby areas tend to be dissimilar (dispersion)</a:t>
            </a:r>
          </a:p>
          <a:p>
            <a:r>
              <a:rPr lang="en-US" sz="1600" dirty="0"/>
              <a:t>A value of 0.422 indicates a </a:t>
            </a:r>
            <a:r>
              <a:rPr lang="en-US" sz="1600" u="sng" dirty="0"/>
              <a:t>moderate positive spatial autocorrelation</a:t>
            </a:r>
            <a:r>
              <a:rPr lang="en-US" sz="1600" dirty="0"/>
              <a:t>, meaning counties with similar college attainment levels tend to cluster geographically.</a:t>
            </a:r>
          </a:p>
        </p:txBody>
      </p:sp>
      <p:sp>
        <p:nvSpPr>
          <p:cNvPr id="4" name="Slide Number Placeholder 3">
            <a:extLst>
              <a:ext uri="{FF2B5EF4-FFF2-40B4-BE49-F238E27FC236}">
                <a16:creationId xmlns:a16="http://schemas.microsoft.com/office/drawing/2014/main" id="{F76CDA9E-A9BB-9184-A7D4-0FDDED6704E3}"/>
              </a:ext>
            </a:extLst>
          </p:cNvPr>
          <p:cNvSpPr>
            <a:spLocks noGrp="1"/>
          </p:cNvSpPr>
          <p:nvPr>
            <p:ph type="sldNum" sz="quarter" idx="12"/>
          </p:nvPr>
        </p:nvSpPr>
        <p:spPr/>
        <p:txBody>
          <a:bodyPr/>
          <a:lstStyle/>
          <a:p>
            <a:fld id="{C0343C75-1924-D247-85A3-0CB62E67E5D1}" type="slidenum">
              <a:rPr lang="en-US" smtClean="0"/>
              <a:t>5</a:t>
            </a:fld>
            <a:endParaRPr lang="en-US"/>
          </a:p>
        </p:txBody>
      </p:sp>
      <p:sp>
        <p:nvSpPr>
          <p:cNvPr id="2" name="TextBox 1">
            <a:extLst>
              <a:ext uri="{FF2B5EF4-FFF2-40B4-BE49-F238E27FC236}">
                <a16:creationId xmlns:a16="http://schemas.microsoft.com/office/drawing/2014/main" id="{B6B1921B-8F9B-7DC8-50FF-432A23E7C9C2}"/>
              </a:ext>
            </a:extLst>
          </p:cNvPr>
          <p:cNvSpPr txBox="1"/>
          <p:nvPr/>
        </p:nvSpPr>
        <p:spPr>
          <a:xfrm>
            <a:off x="471791" y="3162353"/>
            <a:ext cx="4007796" cy="738664"/>
          </a:xfrm>
          <a:prstGeom prst="rect">
            <a:avLst/>
          </a:prstGeom>
          <a:solidFill>
            <a:srgbClr val="FFC000"/>
          </a:solidFill>
          <a:ln>
            <a:noFill/>
          </a:ln>
        </p:spPr>
        <p:txBody>
          <a:bodyPr wrap="square" rtlCol="0">
            <a:spAutoFit/>
          </a:bodyPr>
          <a:lstStyle/>
          <a:p>
            <a:r>
              <a:rPr lang="en-US" sz="1400" b="1" dirty="0">
                <a:solidFill>
                  <a:srgbClr val="C00000"/>
                </a:solidFill>
              </a:rPr>
              <a:t>Spatial autocorrelation refers to the degree to which values of a variable are similar </a:t>
            </a:r>
            <a:r>
              <a:rPr lang="en-US" sz="1400" b="1" baseline="30000" dirty="0">
                <a:solidFill>
                  <a:srgbClr val="C00000"/>
                </a:solidFill>
              </a:rPr>
              <a:t>(or dissimilar)</a:t>
            </a:r>
            <a:r>
              <a:rPr lang="en-US" sz="1400" b="1" dirty="0">
                <a:solidFill>
                  <a:srgbClr val="C00000"/>
                </a:solidFill>
              </a:rPr>
              <a:t> across nearby geographic locations.</a:t>
            </a:r>
          </a:p>
        </p:txBody>
      </p:sp>
      <p:sp>
        <p:nvSpPr>
          <p:cNvPr id="5" name="TextBox 4">
            <a:extLst>
              <a:ext uri="{FF2B5EF4-FFF2-40B4-BE49-F238E27FC236}">
                <a16:creationId xmlns:a16="http://schemas.microsoft.com/office/drawing/2014/main" id="{C8E0FB8B-85B7-EDEE-2F2C-04B39A1EBF14}"/>
              </a:ext>
            </a:extLst>
          </p:cNvPr>
          <p:cNvSpPr txBox="1"/>
          <p:nvPr/>
        </p:nvSpPr>
        <p:spPr>
          <a:xfrm>
            <a:off x="5106256" y="3162353"/>
            <a:ext cx="3565953" cy="523220"/>
          </a:xfrm>
          <a:prstGeom prst="rect">
            <a:avLst/>
          </a:prstGeom>
          <a:solidFill>
            <a:srgbClr val="FFC000"/>
          </a:solidFill>
          <a:ln>
            <a:noFill/>
          </a:ln>
        </p:spPr>
        <p:txBody>
          <a:bodyPr wrap="square" rtlCol="0">
            <a:spAutoFit/>
          </a:bodyPr>
          <a:lstStyle>
            <a:defPPr>
              <a:defRPr lang="en-US"/>
            </a:defPPr>
            <a:lvl1pPr>
              <a:defRPr sz="1400" b="1">
                <a:solidFill>
                  <a:srgbClr val="C00000"/>
                </a:solidFill>
              </a:defRPr>
            </a:lvl1pPr>
          </a:lstStyle>
          <a:p>
            <a:pPr algn="r"/>
            <a:r>
              <a:rPr lang="en-US" dirty="0"/>
              <a:t>In essence, it captures whether "location matters" in the distribution of a variable.</a:t>
            </a:r>
          </a:p>
        </p:txBody>
      </p:sp>
      <p:pic>
        <p:nvPicPr>
          <p:cNvPr id="6" name="Picture 5">
            <a:extLst>
              <a:ext uri="{FF2B5EF4-FFF2-40B4-BE49-F238E27FC236}">
                <a16:creationId xmlns:a16="http://schemas.microsoft.com/office/drawing/2014/main" id="{85844C06-6287-61E3-3546-06878D9B72C6}"/>
              </a:ext>
            </a:extLst>
          </p:cNvPr>
          <p:cNvPicPr>
            <a:picLocks noChangeAspect="1"/>
          </p:cNvPicPr>
          <p:nvPr/>
        </p:nvPicPr>
        <p:blipFill>
          <a:blip r:embed="rId2"/>
          <a:stretch>
            <a:fillRect/>
          </a:stretch>
        </p:blipFill>
        <p:spPr>
          <a:xfrm>
            <a:off x="685800" y="4071084"/>
            <a:ext cx="7772400" cy="2374704"/>
          </a:xfrm>
          <a:prstGeom prst="rect">
            <a:avLst/>
          </a:prstGeom>
        </p:spPr>
      </p:pic>
    </p:spTree>
    <p:extLst>
      <p:ext uri="{BB962C8B-B14F-4D97-AF65-F5344CB8AC3E}">
        <p14:creationId xmlns:p14="http://schemas.microsoft.com/office/powerpoint/2010/main" val="3827104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CC58-61B5-7E21-8542-AB657EE2FB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1F03CE-3D47-4C3D-F4BF-C9A208F407E0}"/>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dirty="0"/>
              <a:t>Four Categories of LISA (Moran Scatterplot categories):</a:t>
            </a:r>
          </a:p>
          <a:p>
            <a:pPr marL="800100" lvl="1" indent="-342900">
              <a:buFont typeface="+mj-lt"/>
              <a:buAutoNum type="arabicPeriod"/>
            </a:pPr>
            <a:r>
              <a:rPr lang="en-US" sz="1600" b="1" dirty="0"/>
              <a:t>High-High (</a:t>
            </a:r>
            <a:r>
              <a:rPr lang="en-US" sz="1600" b="1" dirty="0">
                <a:solidFill>
                  <a:srgbClr val="FF0000"/>
                </a:solidFill>
              </a:rPr>
              <a:t>Hot Spots</a:t>
            </a:r>
            <a:r>
              <a:rPr lang="en-US" sz="1600" b="1" dirty="0"/>
              <a:t>)</a:t>
            </a:r>
          </a:p>
          <a:p>
            <a:pPr lvl="2"/>
            <a:r>
              <a:rPr lang="en-US" sz="1400" dirty="0"/>
              <a:t>A high-value location surrounded by other high-value neighbors.</a:t>
            </a:r>
          </a:p>
          <a:p>
            <a:pPr lvl="2"/>
            <a:r>
              <a:rPr lang="en-US" sz="1400" b="1" dirty="0">
                <a:solidFill>
                  <a:schemeClr val="tx1">
                    <a:lumMod val="50000"/>
                    <a:lumOff val="50000"/>
                  </a:schemeClr>
                </a:solidFill>
              </a:rPr>
              <a:t>Example: A wealthy neighborhood surrounded by wealthy neighborhoods.</a:t>
            </a:r>
          </a:p>
          <a:p>
            <a:pPr marL="800100" lvl="1" indent="-342900">
              <a:buFont typeface="+mj-lt"/>
              <a:buAutoNum type="arabicPeriod"/>
            </a:pPr>
            <a:r>
              <a:rPr lang="en-US" sz="1600" b="1" dirty="0"/>
              <a:t>Low-Low (</a:t>
            </a:r>
            <a:r>
              <a:rPr lang="en-US" sz="1600" b="1" dirty="0">
                <a:solidFill>
                  <a:srgbClr val="0070C0"/>
                </a:solidFill>
              </a:rPr>
              <a:t>Cold Spots</a:t>
            </a:r>
            <a:r>
              <a:rPr lang="en-US" sz="1600" b="1" dirty="0"/>
              <a:t>)</a:t>
            </a:r>
          </a:p>
          <a:p>
            <a:pPr lvl="2"/>
            <a:r>
              <a:rPr lang="en-US" sz="1400" dirty="0"/>
              <a:t>A low-value location surrounded by other low-value neighbors.</a:t>
            </a:r>
          </a:p>
          <a:p>
            <a:pPr lvl="2"/>
            <a:r>
              <a:rPr lang="en-US" sz="1400" b="1" dirty="0">
                <a:solidFill>
                  <a:schemeClr val="tx1">
                    <a:lumMod val="50000"/>
                    <a:lumOff val="50000"/>
                  </a:schemeClr>
                </a:solidFill>
              </a:rPr>
              <a:t>Example: A rural area with low internet speeds surrounded by areas with slow internet.</a:t>
            </a:r>
          </a:p>
          <a:p>
            <a:pPr marL="800100" lvl="1" indent="-342900">
              <a:buFont typeface="+mj-lt"/>
              <a:buAutoNum type="arabicPeriod"/>
            </a:pPr>
            <a:r>
              <a:rPr lang="en-US" sz="1600" b="1" dirty="0"/>
              <a:t>High-Low (</a:t>
            </a:r>
            <a:r>
              <a:rPr lang="en-US" sz="1600" b="1" dirty="0">
                <a:solidFill>
                  <a:srgbClr val="7030A0"/>
                </a:solidFill>
              </a:rPr>
              <a:t>Spatial Outlier</a:t>
            </a:r>
            <a:r>
              <a:rPr lang="en-US" sz="1600" b="1" dirty="0"/>
              <a:t>)</a:t>
            </a:r>
          </a:p>
          <a:p>
            <a:pPr lvl="2"/>
            <a:r>
              <a:rPr lang="en-US" sz="1400" dirty="0"/>
              <a:t>A "High" value location surrounded by "Low" value neighbors.</a:t>
            </a:r>
          </a:p>
          <a:p>
            <a:pPr lvl="2"/>
            <a:r>
              <a:rPr lang="en-US" sz="1400" b="1" dirty="0">
                <a:solidFill>
                  <a:schemeClr val="tx1">
                    <a:lumMod val="50000"/>
                    <a:lumOff val="50000"/>
                  </a:schemeClr>
                </a:solidFill>
              </a:rPr>
              <a:t>Example: A single skyscraper in the middle of a small farming town.</a:t>
            </a:r>
          </a:p>
          <a:p>
            <a:pPr marL="800100" lvl="1" indent="-342900">
              <a:buFont typeface="+mj-lt"/>
              <a:buAutoNum type="arabicPeriod"/>
            </a:pPr>
            <a:r>
              <a:rPr lang="en-US" sz="1600" b="1" dirty="0"/>
              <a:t>Low-High (</a:t>
            </a:r>
            <a:r>
              <a:rPr lang="en-US" sz="1600" b="1" dirty="0">
                <a:solidFill>
                  <a:srgbClr val="7030A0"/>
                </a:solidFill>
              </a:rPr>
              <a:t>Spatial Outlier</a:t>
            </a:r>
            <a:r>
              <a:rPr lang="en-US" sz="1600" b="1" dirty="0"/>
              <a:t>)</a:t>
            </a:r>
          </a:p>
          <a:p>
            <a:pPr lvl="2"/>
            <a:r>
              <a:rPr lang="en-US" sz="1400" dirty="0"/>
              <a:t>A "Low" value location surrounded by "High" value neighbors.</a:t>
            </a:r>
          </a:p>
          <a:p>
            <a:pPr lvl="2"/>
            <a:r>
              <a:rPr lang="en-US" sz="1400" b="1" dirty="0">
                <a:solidFill>
                  <a:schemeClr val="tx1">
                    <a:lumMod val="50000"/>
                    <a:lumOff val="50000"/>
                  </a:schemeClr>
                </a:solidFill>
              </a:rPr>
              <a:t>Example: A small park or vacant lot in the middle of a dense, expensive downtown.</a:t>
            </a:r>
          </a:p>
        </p:txBody>
      </p:sp>
      <p:sp>
        <p:nvSpPr>
          <p:cNvPr id="4" name="Slide Number Placeholder 3">
            <a:extLst>
              <a:ext uri="{FF2B5EF4-FFF2-40B4-BE49-F238E27FC236}">
                <a16:creationId xmlns:a16="http://schemas.microsoft.com/office/drawing/2014/main" id="{58F9033B-16CF-89E8-DEE0-D80111EB1AB7}"/>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2944899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9AC70-EC1D-111E-B813-F5879CF378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E5C7E-697D-650E-9BD5-153565327557}"/>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p:txBody>
      </p:sp>
      <p:sp>
        <p:nvSpPr>
          <p:cNvPr id="4" name="Slide Number Placeholder 3">
            <a:extLst>
              <a:ext uri="{FF2B5EF4-FFF2-40B4-BE49-F238E27FC236}">
                <a16:creationId xmlns:a16="http://schemas.microsoft.com/office/drawing/2014/main" id="{11A82876-8F30-5703-A18A-61DD7EF3918B}"/>
              </a:ext>
            </a:extLst>
          </p:cNvPr>
          <p:cNvSpPr>
            <a:spLocks noGrp="1"/>
          </p:cNvSpPr>
          <p:nvPr>
            <p:ph type="sldNum" sz="quarter" idx="12"/>
          </p:nvPr>
        </p:nvSpPr>
        <p:spPr/>
        <p:txBody>
          <a:bodyPr/>
          <a:lstStyle/>
          <a:p>
            <a:fld id="{C0343C75-1924-D247-85A3-0CB62E67E5D1}" type="slidenum">
              <a:rPr lang="en-US" smtClean="0"/>
              <a:t>7</a:t>
            </a:fld>
            <a:endParaRPr lang="en-US"/>
          </a:p>
        </p:txBody>
      </p:sp>
      <p:sp>
        <p:nvSpPr>
          <p:cNvPr id="6" name="Content Placeholder 2">
            <a:extLst>
              <a:ext uri="{FF2B5EF4-FFF2-40B4-BE49-F238E27FC236}">
                <a16:creationId xmlns:a16="http://schemas.microsoft.com/office/drawing/2014/main" id="{DB6056BA-4FCB-3D96-2BE3-C112C0601F12}"/>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rgbClr val="0070C0"/>
                </a:solidFill>
                <a:highlight>
                  <a:srgbClr val="FFFF00"/>
                </a:highlight>
                <a:latin typeface="Consolas" panose="020B0609020204030204" pitchFamily="49" charset="0"/>
                <a:cs typeface="Consolas" panose="020B0609020204030204" pitchFamily="49" charset="0"/>
              </a:rPr>
              <a:t>x &lt;- log(</a:t>
            </a:r>
            <a:r>
              <a:rPr lang="en-US" sz="1200" b="1" dirty="0" err="1">
                <a:solidFill>
                  <a:srgbClr val="0070C0"/>
                </a:solidFill>
                <a:highlight>
                  <a:srgbClr val="FFFF00"/>
                </a:highlight>
                <a:latin typeface="Consolas" panose="020B0609020204030204" pitchFamily="49" charset="0"/>
                <a:cs typeface="Consolas" panose="020B0609020204030204" pitchFamily="49" charset="0"/>
              </a:rPr>
              <a:t>georgia$income</a:t>
            </a:r>
            <a:r>
              <a:rPr lang="en-US" sz="1200" b="1" dirty="0">
                <a:solidFill>
                  <a:srgbClr val="0070C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lisa</a:t>
            </a:r>
            <a:r>
              <a:rPr lang="en-US" sz="1200" b="1" dirty="0">
                <a:solidFill>
                  <a:srgbClr val="0070C0"/>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head(</a:t>
            </a: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Li type</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0.139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2  0.574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3  1.327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4  1.473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5 -0.688   HL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6  3.282   HH</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Ci &lt;- lg(x, W)</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head(Ci)</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1.183 0.381 1.049 0.347 6.307 0.509</a:t>
            </a:r>
          </a:p>
        </p:txBody>
      </p:sp>
      <p:grpSp>
        <p:nvGrpSpPr>
          <p:cNvPr id="15" name="Group 14">
            <a:extLst>
              <a:ext uri="{FF2B5EF4-FFF2-40B4-BE49-F238E27FC236}">
                <a16:creationId xmlns:a16="http://schemas.microsoft.com/office/drawing/2014/main" id="{497169D3-955D-8A0D-9F19-668FB5533495}"/>
              </a:ext>
            </a:extLst>
          </p:cNvPr>
          <p:cNvGrpSpPr/>
          <p:nvPr/>
        </p:nvGrpSpPr>
        <p:grpSpPr>
          <a:xfrm>
            <a:off x="1918463" y="4136831"/>
            <a:ext cx="4636716" cy="1448790"/>
            <a:chOff x="1965963" y="4386208"/>
            <a:chExt cx="4636716" cy="1448790"/>
          </a:xfrm>
        </p:grpSpPr>
        <p:sp>
          <p:nvSpPr>
            <p:cNvPr id="7" name="TextBox 6">
              <a:extLst>
                <a:ext uri="{FF2B5EF4-FFF2-40B4-BE49-F238E27FC236}">
                  <a16:creationId xmlns:a16="http://schemas.microsoft.com/office/drawing/2014/main" id="{D92C91C3-4F76-3835-E02E-A0C2F1C80FD8}"/>
                </a:ext>
              </a:extLst>
            </p:cNvPr>
            <p:cNvSpPr txBox="1"/>
            <p:nvPr/>
          </p:nvSpPr>
          <p:spPr>
            <a:xfrm>
              <a:off x="2227218" y="4848993"/>
              <a:ext cx="4375461" cy="523220"/>
            </a:xfrm>
            <a:prstGeom prst="rect">
              <a:avLst/>
            </a:prstGeom>
            <a:solidFill>
              <a:srgbClr val="FFD84C"/>
            </a:solidFill>
            <a:ln>
              <a:solidFill>
                <a:srgbClr val="C00000"/>
              </a:solidFill>
            </a:ln>
          </p:spPr>
          <p:txBody>
            <a:bodyPr wrap="square" rtlCol="0">
              <a:spAutoFit/>
            </a:bodyPr>
            <a:lstStyle/>
            <a:p>
              <a:r>
                <a:rPr lang="en-US" sz="1400" dirty="0">
                  <a:solidFill>
                    <a:srgbClr val="C00000"/>
                  </a:solidFill>
                </a:rPr>
                <a:t>"HH" indicates a high value surrounded by high values;</a:t>
              </a:r>
              <a:br>
                <a:rPr lang="en-US" sz="1400" dirty="0">
                  <a:solidFill>
                    <a:srgbClr val="C00000"/>
                  </a:solidFill>
                </a:rPr>
              </a:br>
              <a:r>
                <a:rPr lang="en-US" sz="1400" dirty="0">
                  <a:solidFill>
                    <a:srgbClr val="C00000"/>
                  </a:solidFill>
                </a:rPr>
                <a:t>"LL" is a low surrounded by low values, and so on.</a:t>
              </a:r>
            </a:p>
          </p:txBody>
        </p:sp>
        <p:sp>
          <p:nvSpPr>
            <p:cNvPr id="8" name="Right Brace 7">
              <a:extLst>
                <a:ext uri="{FF2B5EF4-FFF2-40B4-BE49-F238E27FC236}">
                  <a16:creationId xmlns:a16="http://schemas.microsoft.com/office/drawing/2014/main" id="{9C52360B-E612-A1DB-C0B9-E3D802EF9C4E}"/>
                </a:ext>
              </a:extLst>
            </p:cNvPr>
            <p:cNvSpPr/>
            <p:nvPr/>
          </p:nvSpPr>
          <p:spPr>
            <a:xfrm>
              <a:off x="1965963" y="4386208"/>
              <a:ext cx="178130" cy="1448790"/>
            </a:xfrm>
            <a:prstGeom prst="rightBrace">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4" name="TextBox 13">
            <a:extLst>
              <a:ext uri="{FF2B5EF4-FFF2-40B4-BE49-F238E27FC236}">
                <a16:creationId xmlns:a16="http://schemas.microsoft.com/office/drawing/2014/main" id="{7D693B98-FCCE-0173-DD1B-7A4FC72D2D6B}"/>
              </a:ext>
            </a:extLst>
          </p:cNvPr>
          <p:cNvSpPr txBox="1"/>
          <p:nvPr/>
        </p:nvSpPr>
        <p:spPr>
          <a:xfrm>
            <a:off x="3589912" y="5931530"/>
            <a:ext cx="5096888" cy="307777"/>
          </a:xfrm>
          <a:prstGeom prst="rect">
            <a:avLst/>
          </a:prstGeom>
          <a:solidFill>
            <a:srgbClr val="FFD84C"/>
          </a:solidFill>
        </p:spPr>
        <p:txBody>
          <a:bodyPr wrap="square" rtlCol="0">
            <a:spAutoFit/>
          </a:bodyPr>
          <a:lstStyle/>
          <a:p>
            <a:r>
              <a:rPr lang="en-US" sz="1400" dirty="0"/>
              <a:t>The local Geary statistic can be calculated using the lg function.</a:t>
            </a:r>
          </a:p>
        </p:txBody>
      </p:sp>
    </p:spTree>
    <p:extLst>
      <p:ext uri="{BB962C8B-B14F-4D97-AF65-F5344CB8AC3E}">
        <p14:creationId xmlns:p14="http://schemas.microsoft.com/office/powerpoint/2010/main" val="4206483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C4CAB-5A85-3178-1511-A6CF8B4FB0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8118A0-9B7E-71FA-870C-890A4CB63BC1}"/>
              </a:ext>
            </a:extLst>
          </p:cNvPr>
          <p:cNvSpPr>
            <a:spLocks noGrp="1"/>
          </p:cNvSpPr>
          <p:nvPr>
            <p:ph type="sldNum" sz="quarter" idx="12"/>
          </p:nvPr>
        </p:nvSpPr>
        <p:spPr/>
        <p:txBody>
          <a:bodyPr/>
          <a:lstStyle/>
          <a:p>
            <a:fld id="{C0343C75-1924-D247-85A3-0CB62E67E5D1}" type="slidenum">
              <a:rPr lang="en-US" smtClean="0"/>
              <a:t>8</a:t>
            </a:fld>
            <a:endParaRPr lang="en-US"/>
          </a:p>
        </p:txBody>
      </p:sp>
      <p:pic>
        <p:nvPicPr>
          <p:cNvPr id="2" name="Picture 1">
            <a:extLst>
              <a:ext uri="{FF2B5EF4-FFF2-40B4-BE49-F238E27FC236}">
                <a16:creationId xmlns:a16="http://schemas.microsoft.com/office/drawing/2014/main" id="{9520A0C6-FDAA-4C7F-C42D-FA10936E7E3E}"/>
              </a:ext>
            </a:extLst>
          </p:cNvPr>
          <p:cNvPicPr>
            <a:picLocks noChangeAspect="1"/>
          </p:cNvPicPr>
          <p:nvPr/>
        </p:nvPicPr>
        <p:blipFill>
          <a:blip r:embed="rId2"/>
          <a:stretch>
            <a:fillRect/>
          </a:stretch>
        </p:blipFill>
        <p:spPr>
          <a:xfrm>
            <a:off x="1005840" y="1471901"/>
            <a:ext cx="7132320" cy="2925574"/>
          </a:xfrm>
          <a:prstGeom prst="rect">
            <a:avLst/>
          </a:prstGeom>
        </p:spPr>
      </p:pic>
      <p:sp>
        <p:nvSpPr>
          <p:cNvPr id="5" name="Content Placeholder 2">
            <a:extLst>
              <a:ext uri="{FF2B5EF4-FFF2-40B4-BE49-F238E27FC236}">
                <a16:creationId xmlns:a16="http://schemas.microsoft.com/office/drawing/2014/main" id="{78529DC2-9770-9311-C49C-0F0367C90251}"/>
              </a:ext>
            </a:extLst>
          </p:cNvPr>
          <p:cNvSpPr txBox="1">
            <a:spLocks/>
          </p:cNvSpPr>
          <p:nvPr/>
        </p:nvSpPr>
        <p:spPr>
          <a:xfrm>
            <a:off x="457200" y="4144487"/>
            <a:ext cx="8229600" cy="23917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Ci_map</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ggplot</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geom_sf</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aes</a:t>
            </a:r>
            <a:r>
              <a:rPr lang="en-US" sz="1200" b="1" dirty="0">
                <a:solidFill>
                  <a:srgbClr val="0070C0"/>
                </a:solidFill>
                <a:latin typeface="Consolas" panose="020B0609020204030204" pitchFamily="49" charset="0"/>
                <a:cs typeface="Consolas" panose="020B0609020204030204" pitchFamily="49" charset="0"/>
              </a:rPr>
              <a:t>(fill=Ci))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scale_fill_gradient</a:t>
            </a:r>
            <a:r>
              <a:rPr lang="en-US" sz="1200" b="1" dirty="0">
                <a:solidFill>
                  <a:srgbClr val="0070C0"/>
                </a:solidFill>
                <a:latin typeface="Consolas" panose="020B0609020204030204" pitchFamily="49" charset="0"/>
                <a:cs typeface="Consolas" panose="020B0609020204030204" pitchFamily="49" charset="0"/>
              </a:rPr>
              <a:t>(high = "navy",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low = "white") + </a:t>
            </a:r>
            <a:r>
              <a:rPr lang="en-US" sz="1200" b="1" dirty="0" err="1">
                <a:solidFill>
                  <a:srgbClr val="0070C0"/>
                </a:solidFill>
                <a:latin typeface="Consolas" panose="020B0609020204030204" pitchFamily="49" charset="0"/>
                <a:cs typeface="Consolas" panose="020B0609020204030204" pitchFamily="49" charset="0"/>
              </a:rPr>
              <a:t>theme_void</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C00000"/>
                </a:solidFill>
                <a:latin typeface="Consolas" panose="020B0609020204030204" pitchFamily="49" charset="0"/>
                <a:cs typeface="Consolas" panose="020B0609020204030204" pitchFamily="49" charset="0"/>
              </a:rPr>
              <a:t>Li_map</a:t>
            </a:r>
            <a:r>
              <a:rPr lang="en-US" sz="1200" b="1" dirty="0">
                <a:solidFill>
                  <a:srgbClr val="C00000"/>
                </a:solidFill>
                <a:latin typeface="Consolas" panose="020B0609020204030204" pitchFamily="49" charset="0"/>
                <a:cs typeface="Consolas" panose="020B0609020204030204" pitchFamily="49" charset="0"/>
              </a:rPr>
              <a:t> &lt;- </a:t>
            </a:r>
            <a:r>
              <a:rPr lang="en-US" sz="1200" b="1" dirty="0" err="1">
                <a:solidFill>
                  <a:srgbClr val="C00000"/>
                </a:solidFill>
                <a:latin typeface="Consolas" panose="020B0609020204030204" pitchFamily="49" charset="0"/>
                <a:cs typeface="Consolas" panose="020B0609020204030204" pitchFamily="49" charset="0"/>
              </a:rPr>
              <a:t>ggplot</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georgia</a:t>
            </a:r>
            <a:r>
              <a:rPr lang="en-US" sz="1200" b="1" dirty="0">
                <a:solidFill>
                  <a:srgbClr val="C0000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a:t>
            </a:r>
            <a:r>
              <a:rPr lang="en-US" sz="1200" b="1" dirty="0" err="1">
                <a:solidFill>
                  <a:srgbClr val="C00000"/>
                </a:solidFill>
                <a:latin typeface="Consolas" panose="020B0609020204030204" pitchFamily="49" charset="0"/>
                <a:cs typeface="Consolas" panose="020B0609020204030204" pitchFamily="49" charset="0"/>
              </a:rPr>
              <a:t>geom_sf</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aes</a:t>
            </a:r>
            <a:r>
              <a:rPr lang="en-US" sz="1200" b="1" dirty="0">
                <a:solidFill>
                  <a:srgbClr val="C00000"/>
                </a:solidFill>
                <a:latin typeface="Consolas" panose="020B0609020204030204" pitchFamily="49" charset="0"/>
                <a:cs typeface="Consolas" panose="020B0609020204030204" pitchFamily="49" charset="0"/>
              </a:rPr>
              <a:t>(fill=</a:t>
            </a:r>
            <a:r>
              <a:rPr lang="en-US" sz="1200" b="1" dirty="0" err="1">
                <a:solidFill>
                  <a:srgbClr val="C00000"/>
                </a:solidFill>
                <a:latin typeface="Consolas" panose="020B0609020204030204" pitchFamily="49" charset="0"/>
                <a:cs typeface="Consolas" panose="020B0609020204030204" pitchFamily="49" charset="0"/>
              </a:rPr>
              <a:t>Ii$Li</a:t>
            </a:r>
            <a:r>
              <a:rPr lang="en-US" sz="1200" b="1" dirty="0">
                <a:solidFill>
                  <a:srgbClr val="C0000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scale_fill_gradient2(name = "</a:t>
            </a:r>
            <a:r>
              <a:rPr lang="en-US" sz="1200" b="1" dirty="0" err="1">
                <a:solidFill>
                  <a:srgbClr val="C00000"/>
                </a:solidFill>
                <a:latin typeface="Consolas" panose="020B0609020204030204" pitchFamily="49" charset="0"/>
                <a:cs typeface="Consolas" panose="020B0609020204030204" pitchFamily="49" charset="0"/>
              </a:rPr>
              <a:t>Ii</a:t>
            </a:r>
            <a:r>
              <a:rPr lang="en-US" sz="1200" b="1" dirty="0">
                <a:solidFill>
                  <a:srgbClr val="C00000"/>
                </a:solidFill>
                <a:latin typeface="Consolas" panose="020B0609020204030204" pitchFamily="49" charset="0"/>
                <a:cs typeface="Consolas" panose="020B0609020204030204" pitchFamily="49" charset="0"/>
              </a:rPr>
              <a:t>") + </a:t>
            </a:r>
            <a:r>
              <a:rPr lang="en-US" sz="1200" b="1" dirty="0" err="1">
                <a:solidFill>
                  <a:srgbClr val="C00000"/>
                </a:solidFill>
                <a:latin typeface="Consolas" panose="020B0609020204030204" pitchFamily="49" charset="0"/>
                <a:cs typeface="Consolas" panose="020B0609020204030204" pitchFamily="49" charset="0"/>
              </a:rPr>
              <a:t>theme_void</a:t>
            </a:r>
            <a:r>
              <a:rPr lang="en-US" sz="1200" b="1" dirty="0">
                <a:solidFill>
                  <a:srgbClr val="C0000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C0000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00B050"/>
                </a:solidFill>
                <a:latin typeface="Consolas" panose="020B0609020204030204" pitchFamily="49" charset="0"/>
                <a:cs typeface="Consolas" panose="020B0609020204030204" pitchFamily="49" charset="0"/>
              </a:rPr>
              <a:t>gridExtra</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grid.arrange</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Ci_map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Li_map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nrow</a:t>
            </a:r>
            <a:r>
              <a:rPr lang="en-US" sz="1200" b="1" dirty="0">
                <a:solidFill>
                  <a:srgbClr val="00B050"/>
                </a:solidFill>
                <a:latin typeface="Consolas" panose="020B0609020204030204" pitchFamily="49" charset="0"/>
                <a:cs typeface="Consolas" panose="020B0609020204030204" pitchFamily="49" charset="0"/>
              </a:rPr>
              <a:t> = 1)</a:t>
            </a:r>
          </a:p>
        </p:txBody>
      </p:sp>
      <p:sp>
        <p:nvSpPr>
          <p:cNvPr id="6" name="TextBox 5">
            <a:extLst>
              <a:ext uri="{FF2B5EF4-FFF2-40B4-BE49-F238E27FC236}">
                <a16:creationId xmlns:a16="http://schemas.microsoft.com/office/drawing/2014/main" id="{73F749A4-A12A-59AF-0252-5CB3987BF56B}"/>
              </a:ext>
            </a:extLst>
          </p:cNvPr>
          <p:cNvSpPr txBox="1"/>
          <p:nvPr/>
        </p:nvSpPr>
        <p:spPr>
          <a:xfrm>
            <a:off x="7212776" y="1090701"/>
            <a:ext cx="1474024" cy="1015663"/>
          </a:xfrm>
          <a:prstGeom prst="rect">
            <a:avLst/>
          </a:prstGeom>
          <a:solidFill>
            <a:srgbClr val="FFD84C"/>
          </a:solidFill>
        </p:spPr>
        <p:txBody>
          <a:bodyPr wrap="square" rtlCol="0">
            <a:spAutoFit/>
          </a:bodyPr>
          <a:lstStyle/>
          <a:p>
            <a:pPr algn="r"/>
            <a:r>
              <a:rPr lang="en-US" sz="1200" dirty="0"/>
              <a:t>Due to their complementary strengths, these two indices are best used together.</a:t>
            </a:r>
          </a:p>
        </p:txBody>
      </p:sp>
      <p:sp>
        <p:nvSpPr>
          <p:cNvPr id="7" name="TextBox 6">
            <a:extLst>
              <a:ext uri="{FF2B5EF4-FFF2-40B4-BE49-F238E27FC236}">
                <a16:creationId xmlns:a16="http://schemas.microsoft.com/office/drawing/2014/main" id="{D5434B6F-A2DB-E9FD-4665-C1D617CAAF32}"/>
              </a:ext>
            </a:extLst>
          </p:cNvPr>
          <p:cNvSpPr txBox="1"/>
          <p:nvPr/>
        </p:nvSpPr>
        <p:spPr>
          <a:xfrm>
            <a:off x="5153891" y="4325025"/>
            <a:ext cx="3532909" cy="2031325"/>
          </a:xfrm>
          <a:prstGeom prst="rect">
            <a:avLst/>
          </a:prstGeom>
          <a:solidFill>
            <a:srgbClr val="FFD84C"/>
          </a:solidFill>
        </p:spPr>
        <p:txBody>
          <a:bodyPr wrap="square" rtlCol="0">
            <a:spAutoFit/>
          </a:bodyPr>
          <a:lstStyle/>
          <a:p>
            <a:r>
              <a:rPr lang="en-US" sz="1400" dirty="0"/>
              <a:t>LISA is the most useful tool because it provides a </a:t>
            </a:r>
            <a:r>
              <a:rPr lang="en-US" sz="1400" b="1" dirty="0"/>
              <a:t>Cluster Map</a:t>
            </a:r>
            <a:r>
              <a:rPr lang="en-US" sz="1400" dirty="0"/>
              <a:t>.</a:t>
            </a:r>
          </a:p>
          <a:p>
            <a:endParaRPr lang="en-US" sz="1400" dirty="0"/>
          </a:p>
          <a:p>
            <a:r>
              <a:rPr lang="en-US" sz="1400" dirty="0"/>
              <a:t>Instead of just saying "the state has a high crime rate," a LISA map can show you the specific blocks where the crime is clustered (Hot Spots) or the specific safe zones (Cold Spots). It helps people put resources exactly where they are needed most.</a:t>
            </a:r>
          </a:p>
        </p:txBody>
      </p:sp>
      <p:sp>
        <p:nvSpPr>
          <p:cNvPr id="3" name="Content Placeholder 2">
            <a:extLst>
              <a:ext uri="{FF2B5EF4-FFF2-40B4-BE49-F238E27FC236}">
                <a16:creationId xmlns:a16="http://schemas.microsoft.com/office/drawing/2014/main" id="{FBC64C5A-3C74-D26A-C53B-4CFA2FB24CA1}"/>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a:p>
            <a:r>
              <a:rPr lang="en-US" sz="1600" dirty="0"/>
              <a:t>Maps of the two local statistics highlight different qualities:</a:t>
            </a:r>
          </a:p>
          <a:p>
            <a:pPr lvl="1"/>
            <a:r>
              <a:rPr lang="en-US" sz="1600" dirty="0"/>
              <a:t>𝐼</a:t>
            </a:r>
            <a:r>
              <a:rPr lang="en-US" sz="1600" baseline="-25000" dirty="0"/>
              <a:t>𝑖</a:t>
            </a:r>
            <a:r>
              <a:rPr lang="en-US" sz="1600" dirty="0"/>
              <a:t> draws attention to clustering,</a:t>
            </a:r>
          </a:p>
          <a:p>
            <a:pPr lvl="1"/>
            <a:r>
              <a:rPr lang="en-US" sz="1600" dirty="0"/>
              <a:t>𝐶</a:t>
            </a:r>
            <a:r>
              <a:rPr lang="en-US" sz="1600" baseline="-25000" dirty="0"/>
              <a:t>𝑖</a:t>
            </a:r>
            <a:r>
              <a:rPr lang="en-US" sz="1600" dirty="0"/>
              <a:t> draws attention to discontinuities and outliers.</a:t>
            </a:r>
          </a:p>
        </p:txBody>
      </p:sp>
    </p:spTree>
    <p:extLst>
      <p:ext uri="{BB962C8B-B14F-4D97-AF65-F5344CB8AC3E}">
        <p14:creationId xmlns:p14="http://schemas.microsoft.com/office/powerpoint/2010/main" val="431984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5C746-258A-4683-1545-B1EE7B03B93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278F3B68-B3E7-E656-07A4-4C2BDE97BC2C}"/>
              </a:ext>
            </a:extLst>
          </p:cNvPr>
          <p:cNvSpPr txBox="1"/>
          <p:nvPr/>
        </p:nvSpPr>
        <p:spPr>
          <a:xfrm>
            <a:off x="469015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Inflated Type I Error</a:t>
            </a:r>
            <a:r>
              <a:rPr lang="en-US" sz="1400" dirty="0"/>
              <a:t>: Much more likely to find a relationship where none exists if you ignore the reduced effective sample size.</a:t>
            </a:r>
          </a:p>
        </p:txBody>
      </p:sp>
      <p:sp>
        <p:nvSpPr>
          <p:cNvPr id="3" name="Content Placeholder 2">
            <a:extLst>
              <a:ext uri="{FF2B5EF4-FFF2-40B4-BE49-F238E27FC236}">
                <a16:creationId xmlns:a16="http://schemas.microsoft.com/office/drawing/2014/main" id="{A358B825-D805-C9DF-7CD2-A1F721D0B669}"/>
              </a:ext>
            </a:extLst>
          </p:cNvPr>
          <p:cNvSpPr>
            <a:spLocks noGrp="1"/>
          </p:cNvSpPr>
          <p:nvPr>
            <p:ph idx="1"/>
          </p:nvPr>
        </p:nvSpPr>
        <p:spPr>
          <a:xfrm>
            <a:off x="457200" y="249382"/>
            <a:ext cx="8229600" cy="6106970"/>
          </a:xfrm>
        </p:spPr>
        <p:txBody>
          <a:bodyPr>
            <a:noAutofit/>
          </a:bodyPr>
          <a:lstStyle/>
          <a:p>
            <a:pPr marL="0" indent="0">
              <a:buNone/>
            </a:pPr>
            <a:r>
              <a:rPr lang="en-US" sz="1800" b="1" dirty="0"/>
              <a:t>Effective Sample Size (ESS)</a:t>
            </a:r>
          </a:p>
          <a:p>
            <a:r>
              <a:rPr lang="en-US" sz="1600" dirty="0"/>
              <a:t>Spatial patterns aren't just visual: they fundamentally </a:t>
            </a:r>
            <a:r>
              <a:rPr lang="en-US" sz="1600" b="1" dirty="0"/>
              <a:t>change</a:t>
            </a:r>
            <a:r>
              <a:rPr lang="en-US" sz="1600" dirty="0"/>
              <a:t> the information content of a dataset.</a:t>
            </a:r>
          </a:p>
          <a:p>
            <a:pPr lvl="1"/>
            <a:r>
              <a:rPr lang="en-US" sz="1400" dirty="0"/>
              <a:t>When data points are spatially autocorrelated, they are </a:t>
            </a:r>
            <a:r>
              <a:rPr lang="en-US" sz="1400" b="1" dirty="0"/>
              <a:t>not independent</a:t>
            </a:r>
            <a:r>
              <a:rPr lang="en-US" sz="1400" dirty="0"/>
              <a:t>,</a:t>
            </a:r>
            <a:br>
              <a:rPr lang="en-US" sz="1400" dirty="0"/>
            </a:br>
            <a:r>
              <a:rPr lang="en-US" sz="1400" dirty="0"/>
              <a:t>which reduces the amount of "new" evidence each additional observation provides.</a:t>
            </a:r>
          </a:p>
          <a:p>
            <a:pPr lvl="2"/>
            <a:r>
              <a:rPr lang="en-US" sz="1400" dirty="0"/>
              <a:t>High SA leads to redundant information.</a:t>
            </a:r>
          </a:p>
          <a:p>
            <a:pPr lvl="1"/>
            <a:r>
              <a:rPr lang="en-US" sz="1400" dirty="0"/>
              <a:t>Using </a:t>
            </a:r>
            <a:r>
              <a:rPr lang="en-US" sz="1400" u="sng" dirty="0"/>
              <a:t>conventional statistical</a:t>
            </a:r>
            <a:r>
              <a:rPr lang="en-US" sz="1400" dirty="0"/>
              <a:t> methods (which </a:t>
            </a:r>
            <a:r>
              <a:rPr lang="en-US" sz="1400" b="1" dirty="0"/>
              <a:t>assume independence</a:t>
            </a:r>
            <a:r>
              <a:rPr lang="en-US" sz="1400" dirty="0"/>
              <a:t>) on spatial data often leads to "perilous" results, as the methods overestimate the true sample size.</a:t>
            </a:r>
          </a:p>
          <a:p>
            <a:r>
              <a:rPr lang="en-US" sz="1600" dirty="0"/>
              <a:t>ESS represents the number of independent observations that would contain the same amount of information as your spatially dependent dataset.</a:t>
            </a:r>
          </a:p>
          <a:p>
            <a:pPr lvl="1"/>
            <a:r>
              <a:rPr lang="en-US" sz="1400" dirty="0"/>
              <a:t>The </a:t>
            </a:r>
            <a:r>
              <a:rPr lang="en-US" sz="1400" b="1" dirty="0" err="1"/>
              <a:t>n_eff</a:t>
            </a:r>
            <a:r>
              <a:rPr lang="en-US" sz="1400" b="1" dirty="0"/>
              <a:t> </a:t>
            </a:r>
            <a:r>
              <a:rPr lang="en-US" sz="1400" dirty="0"/>
              <a:t>function approximates ESS using the Simultaneous Autoregressive (SAR) model framework.</a:t>
            </a:r>
          </a:p>
          <a:p>
            <a:endParaRPr lang="en-US" sz="1600" dirty="0"/>
          </a:p>
        </p:txBody>
      </p:sp>
      <p:sp>
        <p:nvSpPr>
          <p:cNvPr id="4" name="Slide Number Placeholder 3">
            <a:extLst>
              <a:ext uri="{FF2B5EF4-FFF2-40B4-BE49-F238E27FC236}">
                <a16:creationId xmlns:a16="http://schemas.microsoft.com/office/drawing/2014/main" id="{1E1AD20C-9FD5-FAF7-E84B-F94ED338BC26}"/>
              </a:ext>
            </a:extLst>
          </p:cNvPr>
          <p:cNvSpPr>
            <a:spLocks noGrp="1"/>
          </p:cNvSpPr>
          <p:nvPr>
            <p:ph type="sldNum" sz="quarter" idx="12"/>
          </p:nvPr>
        </p:nvSpPr>
        <p:spPr/>
        <p:txBody>
          <a:bodyPr/>
          <a:lstStyle/>
          <a:p>
            <a:fld id="{C0343C75-1924-D247-85A3-0CB62E67E5D1}" type="slidenum">
              <a:rPr lang="en-US" smtClean="0"/>
              <a:t>9</a:t>
            </a:fld>
            <a:endParaRPr lang="en-US" dirty="0"/>
          </a:p>
        </p:txBody>
      </p:sp>
      <p:sp>
        <p:nvSpPr>
          <p:cNvPr id="2" name="Content Placeholder 2">
            <a:extLst>
              <a:ext uri="{FF2B5EF4-FFF2-40B4-BE49-F238E27FC236}">
                <a16:creationId xmlns:a16="http://schemas.microsoft.com/office/drawing/2014/main" id="{649F6066-F05B-5E52-E6EF-A26F83720C82}"/>
              </a:ext>
            </a:extLst>
          </p:cNvPr>
          <p:cNvSpPr txBox="1">
            <a:spLocks/>
          </p:cNvSpPr>
          <p:nvPr/>
        </p:nvSpPr>
        <p:spPr>
          <a:xfrm>
            <a:off x="457200" y="3269671"/>
            <a:ext cx="8229600" cy="18426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x &lt;- log(</a:t>
            </a:r>
            <a:r>
              <a:rPr lang="en-US" sz="1200" b="1" dirty="0" err="1">
                <a:solidFill>
                  <a:srgbClr val="0070C0"/>
                </a:solidFill>
                <a:latin typeface="Consolas" panose="020B0609020204030204" pitchFamily="49" charset="0"/>
                <a:cs typeface="Consolas" panose="020B0609020204030204" pitchFamily="49" charset="0"/>
              </a:rPr>
              <a:t>georgia$income</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c(</a:t>
            </a:r>
            <a:r>
              <a:rPr lang="en-US" sz="1200" b="1" dirty="0" err="1">
                <a:solidFill>
                  <a:srgbClr val="0070C0"/>
                </a:solidFill>
                <a:latin typeface="Consolas" panose="020B0609020204030204" pitchFamily="49" charset="0"/>
                <a:cs typeface="Consolas" panose="020B0609020204030204" pitchFamily="49" charset="0"/>
              </a:rPr>
              <a:t>nominal_n</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nrow</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accent5"/>
                </a:solidFill>
                <a:latin typeface="Consolas" panose="020B0609020204030204" pitchFamily="49" charset="0"/>
                <a:cs typeface="Consolas" panose="020B0609020204030204" pitchFamily="49" charset="0"/>
              </a:rPr>
              <a:t>  rho = </a:t>
            </a:r>
            <a:r>
              <a:rPr lang="en-US" sz="1200" b="1" dirty="0" err="1">
                <a:solidFill>
                  <a:schemeClr val="accent5"/>
                </a:solidFill>
                <a:latin typeface="Consolas" panose="020B0609020204030204" pitchFamily="49" charset="0"/>
                <a:cs typeface="Consolas" panose="020B0609020204030204" pitchFamily="49" charset="0"/>
              </a:rPr>
              <a:t>aple</a:t>
            </a:r>
            <a:r>
              <a:rPr lang="en-US" sz="1200" b="1" dirty="0">
                <a:solidFill>
                  <a:schemeClr val="accent5"/>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MC = mc(x,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ESS = </a:t>
            </a:r>
            <a:r>
              <a:rPr lang="en-US" sz="1200" b="1" dirty="0" err="1">
                <a:solidFill>
                  <a:srgbClr val="0070C0"/>
                </a:solidFill>
                <a:latin typeface="Consolas" panose="020B0609020204030204" pitchFamily="49" charset="0"/>
                <a:cs typeface="Consolas" panose="020B0609020204030204" pitchFamily="49" charset="0"/>
              </a:rPr>
              <a:t>n_eff</a:t>
            </a:r>
            <a:r>
              <a:rPr lang="en-US" sz="1200" b="1" dirty="0">
                <a:solidFill>
                  <a:srgbClr val="0070C0"/>
                </a:solidFill>
                <a:latin typeface="Consolas" panose="020B0609020204030204" pitchFamily="49" charset="0"/>
                <a:cs typeface="Consolas" panose="020B0609020204030204" pitchFamily="49" charset="0"/>
              </a:rPr>
              <a:t>(rho = rho, n = n))</a:t>
            </a: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nominal_n</a:t>
            </a:r>
            <a:r>
              <a:rPr lang="en-US" sz="1200" b="1" dirty="0">
                <a:solidFill>
                  <a:schemeClr val="tx1">
                    <a:lumMod val="65000"/>
                    <a:lumOff val="35000"/>
                  </a:schemeClr>
                </a:solidFill>
                <a:latin typeface="Consolas" panose="020B0609020204030204" pitchFamily="49" charset="0"/>
                <a:cs typeface="Consolas" panose="020B0609020204030204" pitchFamily="49" charset="0"/>
              </a:rPr>
              <a:t>       rho        MC       ESS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159.00000   0.70100   0.49800  23.34735</a:t>
            </a:r>
          </a:p>
        </p:txBody>
      </p:sp>
      <p:sp>
        <p:nvSpPr>
          <p:cNvPr id="5" name="TextBox 4">
            <a:extLst>
              <a:ext uri="{FF2B5EF4-FFF2-40B4-BE49-F238E27FC236}">
                <a16:creationId xmlns:a16="http://schemas.microsoft.com/office/drawing/2014/main" id="{D203EA63-541E-9139-EDF0-E7BBCED7CB9F}"/>
              </a:ext>
            </a:extLst>
          </p:cNvPr>
          <p:cNvSpPr txBox="1"/>
          <p:nvPr/>
        </p:nvSpPr>
        <p:spPr>
          <a:xfrm>
            <a:off x="457200" y="4961584"/>
            <a:ext cx="7744691" cy="523220"/>
          </a:xfrm>
          <a:prstGeom prst="rect">
            <a:avLst/>
          </a:prstGeom>
          <a:solidFill>
            <a:srgbClr val="FFD84C"/>
          </a:solidFill>
          <a:ln w="38100">
            <a:solidFill>
              <a:srgbClr val="C00000"/>
            </a:solidFill>
          </a:ln>
        </p:spPr>
        <p:txBody>
          <a:bodyPr wrap="square" rtlCol="0">
            <a:spAutoFit/>
          </a:bodyPr>
          <a:lstStyle/>
          <a:p>
            <a:r>
              <a:rPr lang="en-US" sz="1400" b="1" dirty="0"/>
              <a:t>Bottom Line</a:t>
            </a:r>
            <a:r>
              <a:rPr lang="en-US" sz="1400" dirty="0"/>
              <a:t>: Because of strong spatial patterns, 159 data points only provide the same statistical "punch" as 23 independent observations.</a:t>
            </a:r>
          </a:p>
        </p:txBody>
      </p:sp>
      <p:sp>
        <p:nvSpPr>
          <p:cNvPr id="6" name="Right Arrow 5">
            <a:extLst>
              <a:ext uri="{FF2B5EF4-FFF2-40B4-BE49-F238E27FC236}">
                <a16:creationId xmlns:a16="http://schemas.microsoft.com/office/drawing/2014/main" id="{7CF37D6C-6B9D-B901-0CF4-F2026FB495F1}"/>
              </a:ext>
            </a:extLst>
          </p:cNvPr>
          <p:cNvSpPr/>
          <p:nvPr/>
        </p:nvSpPr>
        <p:spPr>
          <a:xfrm>
            <a:off x="4329545" y="3866976"/>
            <a:ext cx="387927" cy="393900"/>
          </a:xfrm>
          <a:prstGeom prst="rightArrow">
            <a:avLst/>
          </a:prstGeom>
          <a:solidFill>
            <a:schemeClr val="bg2">
              <a:lumMod val="9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8285751D-D18A-6249-A9AF-DF8ED0DC8354}"/>
              </a:ext>
            </a:extLst>
          </p:cNvPr>
          <p:cNvGraphicFramePr>
            <a:graphicFrameLocks noGrp="1"/>
          </p:cNvGraphicFramePr>
          <p:nvPr>
            <p:extLst>
              <p:ext uri="{D42A27DB-BD31-4B8C-83A1-F6EECF244321}">
                <p14:modId xmlns:p14="http://schemas.microsoft.com/office/powerpoint/2010/main" val="1343783662"/>
              </p:ext>
            </p:extLst>
          </p:nvPr>
        </p:nvGraphicFramePr>
        <p:xfrm>
          <a:off x="4862945" y="3353142"/>
          <a:ext cx="3338946" cy="1421568"/>
        </p:xfrm>
        <a:graphic>
          <a:graphicData uri="http://schemas.openxmlformats.org/drawingml/2006/table">
            <a:tbl>
              <a:tblPr firstRow="1" bandRow="1">
                <a:tableStyleId>{073A0DAA-6AF3-43AB-8588-CEC1D06C72B9}</a:tableStyleId>
              </a:tblPr>
              <a:tblGrid>
                <a:gridCol w="2286000">
                  <a:extLst>
                    <a:ext uri="{9D8B030D-6E8A-4147-A177-3AD203B41FA5}">
                      <a16:colId xmlns:a16="http://schemas.microsoft.com/office/drawing/2014/main" val="3468412114"/>
                    </a:ext>
                  </a:extLst>
                </a:gridCol>
                <a:gridCol w="1052946">
                  <a:extLst>
                    <a:ext uri="{9D8B030D-6E8A-4147-A177-3AD203B41FA5}">
                      <a16:colId xmlns:a16="http://schemas.microsoft.com/office/drawing/2014/main" val="2867274649"/>
                    </a:ext>
                  </a:extLst>
                </a:gridCol>
              </a:tblGrid>
              <a:tr h="355392">
                <a:tc>
                  <a:txBody>
                    <a:bodyPr/>
                    <a:lstStyle/>
                    <a:p>
                      <a:pPr algn="ctr"/>
                      <a:r>
                        <a:rPr lang="en-US" sz="1400" dirty="0"/>
                        <a:t>Metric</a:t>
                      </a:r>
                    </a:p>
                  </a:txBody>
                  <a:tcPr/>
                </a:tc>
                <a:tc>
                  <a:txBody>
                    <a:bodyPr/>
                    <a:lstStyle/>
                    <a:p>
                      <a:pPr algn="ctr"/>
                      <a:r>
                        <a:rPr lang="en-US" sz="1400" dirty="0"/>
                        <a:t>Value</a:t>
                      </a:r>
                    </a:p>
                  </a:txBody>
                  <a:tcPr/>
                </a:tc>
                <a:extLst>
                  <a:ext uri="{0D108BD9-81ED-4DB2-BD59-A6C34878D82A}">
                    <a16:rowId xmlns:a16="http://schemas.microsoft.com/office/drawing/2014/main" val="3074637119"/>
                  </a:ext>
                </a:extLst>
              </a:tr>
              <a:tr h="355392">
                <a:tc>
                  <a:txBody>
                    <a:bodyPr/>
                    <a:lstStyle/>
                    <a:p>
                      <a:pPr algn="ctr"/>
                      <a:r>
                        <a:rPr lang="en-US" sz="1400" dirty="0"/>
                        <a:t>Nominal Sample Size</a:t>
                      </a:r>
                    </a:p>
                  </a:txBody>
                  <a:tcPr/>
                </a:tc>
                <a:tc>
                  <a:txBody>
                    <a:bodyPr/>
                    <a:lstStyle/>
                    <a:p>
                      <a:pPr algn="ctr"/>
                      <a:r>
                        <a:rPr lang="en-US" sz="1400" dirty="0"/>
                        <a:t>159</a:t>
                      </a:r>
                    </a:p>
                  </a:txBody>
                  <a:tcPr/>
                </a:tc>
                <a:extLst>
                  <a:ext uri="{0D108BD9-81ED-4DB2-BD59-A6C34878D82A}">
                    <a16:rowId xmlns:a16="http://schemas.microsoft.com/office/drawing/2014/main" val="658844849"/>
                  </a:ext>
                </a:extLst>
              </a:tr>
              <a:tr h="355392">
                <a:tc>
                  <a:txBody>
                    <a:bodyPr/>
                    <a:lstStyle/>
                    <a:p>
                      <a:pPr algn="ctr"/>
                      <a:r>
                        <a:rPr lang="en-US" sz="1400" dirty="0"/>
                        <a:t>Spatial Autocorrelation</a:t>
                      </a:r>
                    </a:p>
                  </a:txBody>
                  <a:tcPr/>
                </a:tc>
                <a:tc>
                  <a:txBody>
                    <a:bodyPr/>
                    <a:lstStyle/>
                    <a:p>
                      <a:pPr algn="ctr"/>
                      <a:r>
                        <a:rPr lang="en-US" sz="1400" dirty="0"/>
                        <a:t>0.70</a:t>
                      </a:r>
                    </a:p>
                  </a:txBody>
                  <a:tcPr/>
                </a:tc>
                <a:extLst>
                  <a:ext uri="{0D108BD9-81ED-4DB2-BD59-A6C34878D82A}">
                    <a16:rowId xmlns:a16="http://schemas.microsoft.com/office/drawing/2014/main" val="2385550230"/>
                  </a:ext>
                </a:extLst>
              </a:tr>
              <a:tr h="355392">
                <a:tc>
                  <a:txBody>
                    <a:bodyPr/>
                    <a:lstStyle/>
                    <a:p>
                      <a:pPr algn="ctr"/>
                      <a:r>
                        <a:rPr lang="en-US" sz="1400" dirty="0"/>
                        <a:t>Effective Sample Size</a:t>
                      </a:r>
                    </a:p>
                  </a:txBody>
                  <a:tcPr/>
                </a:tc>
                <a:tc>
                  <a:txBody>
                    <a:bodyPr/>
                    <a:lstStyle/>
                    <a:p>
                      <a:pPr algn="ctr"/>
                      <a:r>
                        <a:rPr lang="en-US" sz="1400" dirty="0"/>
                        <a:t>~23</a:t>
                      </a:r>
                    </a:p>
                  </a:txBody>
                  <a:tcPr/>
                </a:tc>
                <a:extLst>
                  <a:ext uri="{0D108BD9-81ED-4DB2-BD59-A6C34878D82A}">
                    <a16:rowId xmlns:a16="http://schemas.microsoft.com/office/drawing/2014/main" val="1554346745"/>
                  </a:ext>
                </a:extLst>
              </a:tr>
            </a:tbl>
          </a:graphicData>
        </a:graphic>
      </p:graphicFrame>
      <p:sp>
        <p:nvSpPr>
          <p:cNvPr id="8" name="TextBox 7">
            <a:extLst>
              <a:ext uri="{FF2B5EF4-FFF2-40B4-BE49-F238E27FC236}">
                <a16:creationId xmlns:a16="http://schemas.microsoft.com/office/drawing/2014/main" id="{2D7D1D5B-6943-C4DB-7542-8DB2CF319990}"/>
              </a:ext>
            </a:extLst>
          </p:cNvPr>
          <p:cNvSpPr txBox="1"/>
          <p:nvPr/>
        </p:nvSpPr>
        <p:spPr>
          <a:xfrm>
            <a:off x="45720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False Confidence</a:t>
            </a:r>
            <a:r>
              <a:rPr lang="en-US" sz="1400" dirty="0"/>
              <a:t>: Conventional methods might report a "significant" correlation that is just an artifact of spatial patterning.</a:t>
            </a:r>
          </a:p>
        </p:txBody>
      </p:sp>
      <p:cxnSp>
        <p:nvCxnSpPr>
          <p:cNvPr id="11" name="Curved Connector 10">
            <a:extLst>
              <a:ext uri="{FF2B5EF4-FFF2-40B4-BE49-F238E27FC236}">
                <a16:creationId xmlns:a16="http://schemas.microsoft.com/office/drawing/2014/main" id="{D1A01DEE-304D-9387-C41D-53A3EECD18C0}"/>
              </a:ext>
            </a:extLst>
          </p:cNvPr>
          <p:cNvCxnSpPr>
            <a:cxnSpLocks/>
            <a:stCxn id="5" idx="2"/>
            <a:endCxn id="9" idx="1"/>
          </p:cNvCxnSpPr>
          <p:nvPr/>
        </p:nvCxnSpPr>
        <p:spPr>
          <a:xfrm rot="16200000" flipH="1">
            <a:off x="4279623" y="5534727"/>
            <a:ext cx="460450" cy="360604"/>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4" name="Curved Connector 13">
            <a:extLst>
              <a:ext uri="{FF2B5EF4-FFF2-40B4-BE49-F238E27FC236}">
                <a16:creationId xmlns:a16="http://schemas.microsoft.com/office/drawing/2014/main" id="{0F1535C7-1322-DD15-5C98-1804A20CDBEF}"/>
              </a:ext>
            </a:extLst>
          </p:cNvPr>
          <p:cNvCxnSpPr>
            <a:cxnSpLocks/>
            <a:stCxn id="5" idx="2"/>
            <a:endCxn id="8" idx="3"/>
          </p:cNvCxnSpPr>
          <p:nvPr/>
        </p:nvCxnSpPr>
        <p:spPr>
          <a:xfrm rot="5400000">
            <a:off x="3919019" y="5534727"/>
            <a:ext cx="460450" cy="360605"/>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70CEDA1-7E15-8A73-AEC7-040A239D9520}"/>
              </a:ext>
            </a:extLst>
          </p:cNvPr>
          <p:cNvSpPr txBox="1"/>
          <p:nvPr/>
        </p:nvSpPr>
        <p:spPr>
          <a:xfrm>
            <a:off x="457199" y="6317732"/>
            <a:ext cx="7938656" cy="461665"/>
          </a:xfrm>
          <a:prstGeom prst="rect">
            <a:avLst/>
          </a:prstGeom>
          <a:noFill/>
        </p:spPr>
        <p:txBody>
          <a:bodyPr wrap="square" rtlCol="0">
            <a:spAutoFit/>
          </a:bodyPr>
          <a:lstStyle/>
          <a:p>
            <a:r>
              <a:rPr lang="en-US" sz="1200" dirty="0">
                <a:solidFill>
                  <a:schemeClr val="accent5"/>
                </a:solidFill>
              </a:rPr>
              <a:t>* The </a:t>
            </a:r>
            <a:r>
              <a:rPr lang="en-US" sz="1200" b="1" dirty="0">
                <a:solidFill>
                  <a:schemeClr val="accent5"/>
                </a:solidFill>
              </a:rPr>
              <a:t>APLE</a:t>
            </a:r>
            <a:r>
              <a:rPr lang="en-US" sz="1200" dirty="0">
                <a:solidFill>
                  <a:schemeClr val="accent5"/>
                </a:solidFill>
              </a:rPr>
              <a:t> is an estimate of the spatial autocorrelation parameter one would obtain from fitting an intercept-only SAR model. Note, the APLE approximation is not reliable when the number of observations is large.</a:t>
            </a:r>
          </a:p>
        </p:txBody>
      </p:sp>
    </p:spTree>
    <p:extLst>
      <p:ext uri="{BB962C8B-B14F-4D97-AF65-F5344CB8AC3E}">
        <p14:creationId xmlns:p14="http://schemas.microsoft.com/office/powerpoint/2010/main" val="3249708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DC0E-5DA0-EE3A-EDF8-D128EB0C43CB}"/>
            </a:ext>
          </a:extLst>
        </p:cNvPr>
        <p:cNvGrpSpPr/>
        <p:nvPr/>
      </p:nvGrpSpPr>
      <p:grpSpPr>
        <a:xfrm>
          <a:off x="0" y="0"/>
          <a:ext cx="0" cy="0"/>
          <a:chOff x="0" y="0"/>
          <a:chExt cx="0" cy="0"/>
        </a:xfrm>
      </p:grpSpPr>
      <p:sp>
        <p:nvSpPr>
          <p:cNvPr id="7" name="Content Placeholder 2">
            <a:extLst>
              <a:ext uri="{FF2B5EF4-FFF2-40B4-BE49-F238E27FC236}">
                <a16:creationId xmlns:a16="http://schemas.microsoft.com/office/drawing/2014/main" id="{E64F6C3B-E080-8481-B871-FBA1CF1A564A}"/>
              </a:ext>
            </a:extLst>
          </p:cNvPr>
          <p:cNvSpPr txBox="1">
            <a:spLocks/>
          </p:cNvSpPr>
          <p:nvPr/>
        </p:nvSpPr>
        <p:spPr>
          <a:xfrm>
            <a:off x="4572000" y="1592494"/>
            <a:ext cx="4114801" cy="476385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400" dirty="0"/>
          </a:p>
        </p:txBody>
      </p:sp>
      <p:sp>
        <p:nvSpPr>
          <p:cNvPr id="2" name="Title 1">
            <a:extLst>
              <a:ext uri="{FF2B5EF4-FFF2-40B4-BE49-F238E27FC236}">
                <a16:creationId xmlns:a16="http://schemas.microsoft.com/office/drawing/2014/main" id="{764CE543-5136-9DAC-AD2A-BD1F66260BDB}"/>
              </a:ext>
            </a:extLst>
          </p:cNvPr>
          <p:cNvSpPr>
            <a:spLocks noGrp="1"/>
          </p:cNvSpPr>
          <p:nvPr>
            <p:ph type="title"/>
          </p:nvPr>
        </p:nvSpPr>
        <p:spPr/>
        <p:txBody>
          <a:bodyPr anchor="ctr"/>
          <a:lstStyle/>
          <a:p>
            <a:endParaRPr lang="en-US" b="1" dirty="0"/>
          </a:p>
        </p:txBody>
      </p:sp>
      <p:sp>
        <p:nvSpPr>
          <p:cNvPr id="3" name="Content Placeholder 2">
            <a:extLst>
              <a:ext uri="{FF2B5EF4-FFF2-40B4-BE49-F238E27FC236}">
                <a16:creationId xmlns:a16="http://schemas.microsoft.com/office/drawing/2014/main" id="{94446766-CBCB-2B6F-08AE-D5CC516889E5}"/>
              </a:ext>
            </a:extLst>
          </p:cNvPr>
          <p:cNvSpPr>
            <a:spLocks noGrp="1"/>
          </p:cNvSpPr>
          <p:nvPr>
            <p:ph idx="1"/>
          </p:nvPr>
        </p:nvSpPr>
        <p:spPr>
          <a:xfrm>
            <a:off x="457199" y="1140432"/>
            <a:ext cx="4114801" cy="5215920"/>
          </a:xfrm>
        </p:spPr>
        <p:txBody>
          <a:bodyPr>
            <a:noAutofit/>
          </a:bodyPr>
          <a:lstStyle/>
          <a:p>
            <a:endParaRPr lang="en-US" sz="1400" dirty="0"/>
          </a:p>
        </p:txBody>
      </p:sp>
      <p:sp>
        <p:nvSpPr>
          <p:cNvPr id="4" name="Slide Number Placeholder 3">
            <a:extLst>
              <a:ext uri="{FF2B5EF4-FFF2-40B4-BE49-F238E27FC236}">
                <a16:creationId xmlns:a16="http://schemas.microsoft.com/office/drawing/2014/main" id="{638B7185-82F2-4A5E-5B22-7EC65200C79A}"/>
              </a:ext>
            </a:extLst>
          </p:cNvPr>
          <p:cNvSpPr>
            <a:spLocks noGrp="1"/>
          </p:cNvSpPr>
          <p:nvPr>
            <p:ph type="sldNum" sz="quarter" idx="12"/>
          </p:nvPr>
        </p:nvSpPr>
        <p:spPr/>
        <p:txBody>
          <a:bodyPr/>
          <a:lstStyle/>
          <a:p>
            <a:fld id="{C0343C75-1924-D247-85A3-0CB62E67E5D1}" type="slidenum">
              <a:rPr lang="en-US" smtClean="0"/>
              <a:t>10</a:t>
            </a:fld>
            <a:endParaRPr lang="en-US"/>
          </a:p>
        </p:txBody>
      </p:sp>
      <p:sp>
        <p:nvSpPr>
          <p:cNvPr id="6" name="Content Placeholder 2">
            <a:extLst>
              <a:ext uri="{FF2B5EF4-FFF2-40B4-BE49-F238E27FC236}">
                <a16:creationId xmlns:a16="http://schemas.microsoft.com/office/drawing/2014/main" id="{6DDD6E87-C414-6EF1-6F29-4CF989BA00F7}"/>
              </a:ext>
            </a:extLst>
          </p:cNvPr>
          <p:cNvSpPr txBox="1">
            <a:spLocks/>
          </p:cNvSpPr>
          <p:nvPr/>
        </p:nvSpPr>
        <p:spPr>
          <a:xfrm>
            <a:off x="4849402" y="2969231"/>
            <a:ext cx="3837398" cy="35670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p:txBody>
      </p:sp>
      <p:sp>
        <p:nvSpPr>
          <p:cNvPr id="10" name="TextBox 9">
            <a:extLst>
              <a:ext uri="{FF2B5EF4-FFF2-40B4-BE49-F238E27FC236}">
                <a16:creationId xmlns:a16="http://schemas.microsoft.com/office/drawing/2014/main" id="{5A3B335F-4906-89D3-2B3E-A7CA0CE24A42}"/>
              </a:ext>
            </a:extLst>
          </p:cNvPr>
          <p:cNvSpPr txBox="1"/>
          <p:nvPr/>
        </p:nvSpPr>
        <p:spPr>
          <a:xfrm>
            <a:off x="6537034" y="2640014"/>
            <a:ext cx="184730" cy="235962"/>
          </a:xfrm>
          <a:prstGeom prst="rect">
            <a:avLst/>
          </a:prstGeom>
          <a:solidFill>
            <a:srgbClr val="C00000"/>
          </a:solidFill>
        </p:spPr>
        <p:txBody>
          <a:bodyPr wrap="none" rtlCol="0" anchor="ctr">
            <a:spAutoFit/>
          </a:bodyPr>
          <a:lstStyle/>
          <a:p>
            <a:pPr algn="ctr"/>
            <a:endParaRPr lang="en-US" sz="1400" baseline="30000" dirty="0">
              <a:solidFill>
                <a:schemeClr val="bg1"/>
              </a:solidFill>
            </a:endParaRPr>
          </a:p>
        </p:txBody>
      </p:sp>
      <p:pic>
        <p:nvPicPr>
          <p:cNvPr id="12" name="Picture 11">
            <a:extLst>
              <a:ext uri="{FF2B5EF4-FFF2-40B4-BE49-F238E27FC236}">
                <a16:creationId xmlns:a16="http://schemas.microsoft.com/office/drawing/2014/main" id="{34B9EA82-EEB5-96AF-068D-36F9ECFD8F78}"/>
              </a:ext>
            </a:extLst>
          </p:cNvPr>
          <p:cNvPicPr>
            <a:picLocks noChangeAspect="1"/>
          </p:cNvPicPr>
          <p:nvPr/>
        </p:nvPicPr>
        <p:blipFill>
          <a:blip r:embed="rId2"/>
          <a:stretch>
            <a:fillRect/>
          </a:stretch>
        </p:blipFill>
        <p:spPr>
          <a:xfrm>
            <a:off x="685800" y="4071084"/>
            <a:ext cx="7772400" cy="2374704"/>
          </a:xfrm>
          <a:prstGeom prst="rect">
            <a:avLst/>
          </a:prstGeom>
        </p:spPr>
      </p:pic>
    </p:spTree>
    <p:extLst>
      <p:ext uri="{BB962C8B-B14F-4D97-AF65-F5344CB8AC3E}">
        <p14:creationId xmlns:p14="http://schemas.microsoft.com/office/powerpoint/2010/main" val="33875038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4F36F-56ED-D413-3936-1775C02DE92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37507E-BEE7-1C3E-D954-248C666E769C}"/>
              </a:ext>
            </a:extLst>
          </p:cNvPr>
          <p:cNvSpPr>
            <a:spLocks noGrp="1"/>
          </p:cNvSpPr>
          <p:nvPr>
            <p:ph idx="1"/>
          </p:nvPr>
        </p:nvSpPr>
        <p:spPr>
          <a:xfrm>
            <a:off x="457200" y="321734"/>
            <a:ext cx="8229600" cy="6034618"/>
          </a:xfrm>
        </p:spPr>
        <p:txBody>
          <a:bodyPr>
            <a:noAutofit/>
          </a:bodyPr>
          <a:lstStyle/>
          <a:p>
            <a:pPr marL="0" indent="0">
              <a:buNone/>
            </a:pPr>
            <a:r>
              <a:rPr lang="en-US" sz="2400" b="1" dirty="0"/>
              <a:t>AA</a:t>
            </a:r>
          </a:p>
          <a:p>
            <a:r>
              <a:rPr lang="en-US" sz="1600" dirty="0"/>
              <a:t>AA</a:t>
            </a:r>
          </a:p>
          <a:p>
            <a:pPr lvl="2"/>
            <a:endParaRPr lang="en-US" sz="1800" dirty="0"/>
          </a:p>
        </p:txBody>
      </p:sp>
      <p:sp>
        <p:nvSpPr>
          <p:cNvPr id="4" name="Slide Number Placeholder 3">
            <a:extLst>
              <a:ext uri="{FF2B5EF4-FFF2-40B4-BE49-F238E27FC236}">
                <a16:creationId xmlns:a16="http://schemas.microsoft.com/office/drawing/2014/main" id="{DBF402D8-9403-798E-B33F-D6D5B3DE09C9}"/>
              </a:ext>
            </a:extLst>
          </p:cNvPr>
          <p:cNvSpPr>
            <a:spLocks noGrp="1"/>
          </p:cNvSpPr>
          <p:nvPr>
            <p:ph type="sldNum" sz="quarter" idx="12"/>
          </p:nvPr>
        </p:nvSpPr>
        <p:spPr/>
        <p:txBody>
          <a:bodyPr/>
          <a:lstStyle/>
          <a:p>
            <a:fld id="{C0343C75-1924-D247-85A3-0CB62E67E5D1}" type="slidenum">
              <a:rPr lang="en-US" smtClean="0"/>
              <a:t>11</a:t>
            </a:fld>
            <a:endParaRPr lang="en-US"/>
          </a:p>
        </p:txBody>
      </p:sp>
      <p:pic>
        <p:nvPicPr>
          <p:cNvPr id="7" name="Picture 6">
            <a:extLst>
              <a:ext uri="{FF2B5EF4-FFF2-40B4-BE49-F238E27FC236}">
                <a16:creationId xmlns:a16="http://schemas.microsoft.com/office/drawing/2014/main" id="{BEC47934-BEF8-097B-51C8-AFE9841C5E51}"/>
              </a:ext>
            </a:extLst>
          </p:cNvPr>
          <p:cNvPicPr>
            <a:picLocks noChangeAspect="1"/>
          </p:cNvPicPr>
          <p:nvPr/>
        </p:nvPicPr>
        <p:blipFill>
          <a:blip r:embed="rId2"/>
          <a:stretch>
            <a:fillRect/>
          </a:stretch>
        </p:blipFill>
        <p:spPr>
          <a:xfrm>
            <a:off x="685800" y="4071084"/>
            <a:ext cx="7772400" cy="2374704"/>
          </a:xfrm>
          <a:prstGeom prst="rect">
            <a:avLst/>
          </a:prstGeom>
        </p:spPr>
      </p:pic>
      <p:sp>
        <p:nvSpPr>
          <p:cNvPr id="10" name="Oval 9">
            <a:extLst>
              <a:ext uri="{FF2B5EF4-FFF2-40B4-BE49-F238E27FC236}">
                <a16:creationId xmlns:a16="http://schemas.microsoft.com/office/drawing/2014/main" id="{2BC61E6C-FF64-6BBB-BC76-2294CE26E8EF}"/>
              </a:ext>
            </a:extLst>
          </p:cNvPr>
          <p:cNvSpPr>
            <a:spLocks/>
          </p:cNvSpPr>
          <p:nvPr/>
        </p:nvSpPr>
        <p:spPr>
          <a:xfrm>
            <a:off x="3063240" y="3744024"/>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639202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D62183F7-89EA-9A68-1A69-F5E6FEA87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50E41-2E39-E43E-5295-1F5CA4FD9E2A}"/>
              </a:ext>
            </a:extLst>
          </p:cNvPr>
          <p:cNvSpPr>
            <a:spLocks noGrp="1"/>
          </p:cNvSpPr>
          <p:nvPr>
            <p:ph type="title"/>
          </p:nvPr>
        </p:nvSpPr>
        <p:spPr/>
        <p:txBody>
          <a:bodyPr/>
          <a:lstStyle/>
          <a:p>
            <a:r>
              <a:rPr lang="en-US" b="1" dirty="0"/>
              <a:t>References</a:t>
            </a:r>
          </a:p>
        </p:txBody>
      </p:sp>
      <p:sp>
        <p:nvSpPr>
          <p:cNvPr id="3" name="Content Placeholder 2">
            <a:extLst>
              <a:ext uri="{FF2B5EF4-FFF2-40B4-BE49-F238E27FC236}">
                <a16:creationId xmlns:a16="http://schemas.microsoft.com/office/drawing/2014/main" id="{E2FB43DE-EACC-8822-7145-5389C9F57F1D}"/>
              </a:ext>
            </a:extLst>
          </p:cNvPr>
          <p:cNvSpPr>
            <a:spLocks noGrp="1"/>
          </p:cNvSpPr>
          <p:nvPr>
            <p:ph idx="1"/>
          </p:nvPr>
        </p:nvSpPr>
        <p:spPr/>
        <p:txBody>
          <a:bodyPr/>
          <a:lstStyle/>
          <a:p>
            <a:r>
              <a:rPr lang="en-US" dirty="0"/>
              <a:t>Spatial Data Science</a:t>
            </a:r>
            <a:br>
              <a:rPr lang="en-US" dirty="0"/>
            </a:br>
            <a:r>
              <a:rPr lang="en-US" sz="1800" dirty="0">
                <a:hlinkClick r:id="rId2"/>
              </a:rPr>
              <a:t>https://r-spatial.org/book/</a:t>
            </a:r>
            <a:endParaRPr lang="en-US" dirty="0"/>
          </a:p>
          <a:p>
            <a:r>
              <a:rPr lang="en-US" dirty="0"/>
              <a:t>Exploratory Spatial Data Analysis</a:t>
            </a:r>
            <a:br>
              <a:rPr lang="en-US" dirty="0"/>
            </a:br>
            <a:r>
              <a:rPr lang="en-US" sz="1800" dirty="0">
                <a:hlinkClick r:id="rId3"/>
              </a:rPr>
              <a:t>https://cran.r-project.org/web/packages/geostan/vignettes/measuring-sa.html</a:t>
            </a:r>
            <a:endParaRPr lang="en-US" sz="1800" dirty="0"/>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F379B02-505A-1D31-BDF3-236A0DEF457C}"/>
              </a:ext>
            </a:extLst>
          </p:cNvPr>
          <p:cNvSpPr>
            <a:spLocks noGrp="1"/>
          </p:cNvSpPr>
          <p:nvPr>
            <p:ph type="sldNum" sz="quarter" idx="12"/>
          </p:nvPr>
        </p:nvSpPr>
        <p:spPr/>
        <p:txBody>
          <a:bodyPr/>
          <a:lstStyle/>
          <a:p>
            <a:fld id="{C0343C75-1924-D247-85A3-0CB62E67E5D1}" type="slidenum">
              <a:rPr lang="en-US" smtClean="0"/>
              <a:t>12</a:t>
            </a:fld>
            <a:endParaRPr lang="en-US"/>
          </a:p>
        </p:txBody>
      </p:sp>
    </p:spTree>
    <p:extLst>
      <p:ext uri="{BB962C8B-B14F-4D97-AF65-F5344CB8AC3E}">
        <p14:creationId xmlns:p14="http://schemas.microsoft.com/office/powerpoint/2010/main" val="26233671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4810</TotalTime>
  <Words>1508</Words>
  <Application>Microsoft Macintosh PowerPoint</Application>
  <PresentationFormat>On-screen Show (4:3)</PresentationFormat>
  <Paragraphs>150</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Cambria Math</vt:lpstr>
      <vt:lpstr>Consolas</vt:lpstr>
      <vt:lpstr>Office Theme</vt:lpstr>
      <vt:lpstr>Spatial Analysis and Spatial Regression</vt:lpstr>
      <vt:lpstr>Tobler's First Law of Geography</vt:lpstr>
      <vt:lpstr>Exploratory Spatial Data Analysis (ESDA)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264</cp:revision>
  <dcterms:created xsi:type="dcterms:W3CDTF">2026-03-25T20:47:13Z</dcterms:created>
  <dcterms:modified xsi:type="dcterms:W3CDTF">2026-04-14T16:54:31Z</dcterms:modified>
  <cp:category/>
</cp:coreProperties>
</file>