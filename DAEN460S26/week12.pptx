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26" r:id="rId3"/>
    <p:sldId id="258" r:id="rId4"/>
    <p:sldId id="320" r:id="rId5"/>
    <p:sldId id="330" r:id="rId6"/>
    <p:sldId id="328" r:id="rId7"/>
    <p:sldId id="292" r:id="rId8"/>
    <p:sldId id="293" r:id="rId9"/>
    <p:sldId id="371" r:id="rId10"/>
    <p:sldId id="361" r:id="rId11"/>
    <p:sldId id="356" r:id="rId12"/>
    <p:sldId id="319" r:id="rId13"/>
    <p:sldId id="332" r:id="rId14"/>
    <p:sldId id="331" r:id="rId15"/>
    <p:sldId id="372" r:id="rId16"/>
    <p:sldId id="373" r:id="rId17"/>
    <p:sldId id="374" r:id="rId18"/>
    <p:sldId id="375" r:id="rId19"/>
    <p:sldId id="376" r:id="rId20"/>
    <p:sldId id="378" r:id="rId21"/>
    <p:sldId id="306" r:id="rId22"/>
    <p:sldId id="377" r:id="rId23"/>
    <p:sldId id="33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3E4"/>
    <a:srgbClr val="4B1211"/>
    <a:srgbClr val="FFAC00"/>
    <a:srgbClr val="FFCDC7"/>
    <a:srgbClr val="F9ECD3"/>
    <a:srgbClr val="FFD8AC"/>
    <a:srgbClr val="F2F2F2"/>
    <a:srgbClr val="FFE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8"/>
    <p:restoredTop sz="96018"/>
  </p:normalViewPr>
  <p:slideViewPr>
    <p:cSldViewPr snapToGrid="0">
      <p:cViewPr varScale="1">
        <p:scale>
          <a:sx n="124" d="100"/>
          <a:sy n="124" d="100"/>
        </p:scale>
        <p:origin x="130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A349-295A-9648-AC81-268E9C74AF3D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13196-D6CC-4148-993F-EDD11FE55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813196-D6CC-4148-993F-EDD11FE55E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1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0913-1F13-4744-B94A-DD1167A56E7D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163F-7EC9-5B47-A192-CB50DE612FED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2BC-3CB7-1146-A19E-4D5E63F3B742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1693-1844-8848-86CC-F923317986AD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5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DF2-3CCE-3449-B48D-F4595C3D57FE}" type="datetime1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FDB3-FCD2-A24F-8241-8DA72B16D6B1}" type="datetime1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C91C-CE34-DA4E-B4C2-6B29BDE88023}" type="datetime1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4E1-3786-E644-95CD-0EC484282321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75EC-C44D-6048-B3A9-C5F04F3202FD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7D1-F120-9444-A8E9-CC8E63B024C0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6640-3593-E045-822D-D104552937CC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CE539-832A-BA41-9408-4A63384D7065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tamueps.secure-platform.com/judge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ma.org/learning-resources/dama-data-management-body-of-knowledge-dmbok/" TargetMode="External"/><Relationship Id="rId2" Type="http://schemas.openxmlformats.org/officeDocument/2006/relationships/hyperlink" Target="https://www.iso.org/obp/ui#iso:std:iso:8000:-1:ed-1:v1:e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youtube.com/watch?v=b4n8uT12ij8&amp;t=410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Future_(rapper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3C3F-1404-17C0-C624-2093CA988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Phase 4 Delivery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3F7C0-3B00-9922-4283-570E4A6CA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DAEN 460 Capstone Senior Design</a:t>
            </a:r>
          </a:p>
          <a:p>
            <a:r>
              <a:rPr lang="en-US" sz="1800" dirty="0">
                <a:solidFill>
                  <a:srgbClr val="4B1211"/>
                </a:solidFill>
              </a:rPr>
              <a:t>Alexander Abuabara</a:t>
            </a:r>
          </a:p>
          <a:p>
            <a:r>
              <a:rPr lang="en-US" sz="1800" dirty="0">
                <a:solidFill>
                  <a:srgbClr val="4B1211"/>
                </a:solidFill>
              </a:rPr>
              <a:t>Spring 2026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7B844F80-89B7-0A8B-956D-1507C8E5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5257800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51359-476B-3BFA-469F-650B1C5E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DFFDD-D222-079A-DD9B-040B835E1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9" t="9887" r="2909" b="6675"/>
          <a:stretch>
            <a:fillRect/>
          </a:stretch>
        </p:blipFill>
        <p:spPr>
          <a:xfrm>
            <a:off x="809896" y="1554198"/>
            <a:ext cx="7524208" cy="374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085869-76FF-93CF-88FC-D39524560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589" y="2881313"/>
            <a:ext cx="3657600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BD8D0B-3289-BF73-1A3E-D4A1F445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D565-3CFE-D911-73C3-E4E8C8F28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Exit Interviews </a:t>
            </a:r>
            <a:r>
              <a:rPr lang="en-US" b="1" baseline="30000" dirty="0">
                <a:solidFill>
                  <a:srgbClr val="002060"/>
                </a:solidFill>
              </a:rPr>
              <a:t>(</a:t>
            </a:r>
            <a:r>
              <a:rPr lang="en-US" b="1" baseline="30000" dirty="0">
                <a:solidFill>
                  <a:srgbClr val="002060"/>
                </a:solidFill>
                <a:highlight>
                  <a:srgbClr val="FFFF00"/>
                </a:highlight>
              </a:rPr>
              <a:t>everyone needs to be here next week!</a:t>
            </a:r>
            <a:r>
              <a:rPr lang="en-US" b="1" baseline="30000" dirty="0">
                <a:solidFill>
                  <a:srgbClr val="002060"/>
                </a:solidFill>
              </a:rPr>
              <a:t>)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sz="1800" dirty="0">
                <a:solidFill>
                  <a:srgbClr val="002060"/>
                </a:solidFill>
              </a:rPr>
              <a:t>ISEN UG Program Staff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Comms activity</a:t>
            </a:r>
          </a:p>
          <a:p>
            <a:pPr lvl="1"/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Ethics</a:t>
            </a:r>
          </a:p>
          <a:p>
            <a:pPr lvl="1"/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Elevator Pitch</a:t>
            </a:r>
          </a:p>
          <a:p>
            <a:pPr lvl="1"/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Final Report Template and Expectations</a:t>
            </a:r>
          </a:p>
          <a:p>
            <a:r>
              <a:rPr lang="en-US" b="1" dirty="0">
                <a:solidFill>
                  <a:srgbClr val="C00000"/>
                </a:solidFill>
              </a:rPr>
              <a:t>Phase 4 Process and Requirements</a:t>
            </a:r>
          </a:p>
          <a:p>
            <a:pPr lvl="1"/>
            <a:r>
              <a:rPr lang="en-US" sz="1800" dirty="0">
                <a:solidFill>
                  <a:srgbClr val="FFAC00"/>
                </a:solidFill>
              </a:rPr>
              <a:t>Revise</a:t>
            </a:r>
          </a:p>
          <a:p>
            <a:pPr lvl="2"/>
            <a:r>
              <a:rPr lang="en-US" sz="1800" b="1" dirty="0">
                <a:solidFill>
                  <a:srgbClr val="FFAC00"/>
                </a:solidFill>
              </a:rPr>
              <a:t>Constrains</a:t>
            </a:r>
          </a:p>
          <a:p>
            <a:pPr lvl="2"/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Standards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1AD5-0C4D-2175-EF32-E8733F3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0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BE5633-9F5C-F7CE-0B3B-76A5E3D0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Upcoming Semester Schedule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6BA54-B0C5-3CDD-E853-8A76DC39F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4/14 </a:t>
            </a:r>
            <a:r>
              <a:rPr lang="en-US" sz="2200" b="1" dirty="0"/>
              <a:t>Phase 4 Presentations BH/COE</a:t>
            </a:r>
          </a:p>
          <a:p>
            <a:r>
              <a:rPr lang="en-US" sz="2200" dirty="0"/>
              <a:t>4/14 </a:t>
            </a:r>
            <a:r>
              <a:rPr lang="en-US" sz="2200" baseline="30000" dirty="0"/>
              <a:t>mandatory attendance for all 2:15-3:15</a:t>
            </a:r>
            <a:r>
              <a:rPr lang="en-US" sz="2200" dirty="0"/>
              <a:t> </a:t>
            </a:r>
            <a:r>
              <a:rPr lang="en-US" sz="2200" b="1" dirty="0"/>
              <a:t>Senior Exit Interviews</a:t>
            </a:r>
          </a:p>
          <a:p>
            <a:r>
              <a:rPr lang="en-US" sz="2200" dirty="0"/>
              <a:t>4/21 </a:t>
            </a:r>
            <a:r>
              <a:rPr lang="en-US" sz="2200" b="1" dirty="0"/>
              <a:t>Phase 4 Presentations ML</a:t>
            </a:r>
          </a:p>
          <a:p>
            <a:r>
              <a:rPr lang="en-US" sz="2200" dirty="0"/>
              <a:t>4/24 </a:t>
            </a:r>
            <a:r>
              <a:rPr lang="en-US" sz="2200" baseline="30000" dirty="0"/>
              <a:t>in-person, all day</a:t>
            </a:r>
            <a:r>
              <a:rPr lang="en-US" sz="2200" dirty="0"/>
              <a:t> </a:t>
            </a:r>
            <a:r>
              <a:rPr lang="en-US" sz="2200" b="1" dirty="0"/>
              <a:t>COE Showcase</a:t>
            </a:r>
            <a:br>
              <a:rPr lang="en-US" sz="2200" dirty="0"/>
            </a:br>
            <a:r>
              <a:rPr lang="en-US" sz="1800" dirty="0"/>
              <a:t>schedule at </a:t>
            </a:r>
            <a:r>
              <a:rPr lang="en-US" sz="1800" dirty="0">
                <a:hlinkClick r:id="rId2"/>
              </a:rPr>
              <a:t>https://tamueps.secure-platform.com/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US" sz="1800" dirty="0"/>
          </a:p>
          <a:p>
            <a:r>
              <a:rPr lang="en-US" sz="2200" dirty="0"/>
              <a:t>5/5</a:t>
            </a:r>
            <a:r>
              <a:rPr lang="en-US" sz="2200" baseline="30000" dirty="0"/>
              <a:t>5 PM</a:t>
            </a:r>
            <a:r>
              <a:rPr lang="en-US" sz="2200" dirty="0"/>
              <a:t> </a:t>
            </a:r>
            <a:r>
              <a:rPr lang="en-US" sz="2200" b="1" dirty="0"/>
              <a:t>Final Report Due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6C73-35A2-D42C-CDED-8F3C0FD9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BC0925-F4B1-167B-7064-075541813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4" y="3601680"/>
            <a:ext cx="6858000" cy="9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6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1C1E-5C8D-2CE2-32D1-91AB9A21D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864BC1-6CBF-7040-D785-377308C6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Final/Phase 4 Presentation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2A82C-1FFE-1388-6E1C-AE7992B31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690689"/>
            <a:ext cx="8186577" cy="4486274"/>
          </a:xfrm>
        </p:spPr>
        <p:txBody>
          <a:bodyPr>
            <a:normAutofit/>
          </a:bodyPr>
          <a:lstStyle/>
          <a:p>
            <a:r>
              <a:rPr lang="en-US" sz="2000" i="1" u="sng" dirty="0">
                <a:highlight>
                  <a:srgbClr val="FFFF00"/>
                </a:highlight>
              </a:rPr>
              <a:t>Welcome</a:t>
            </a:r>
            <a:r>
              <a:rPr lang="en-US" sz="2000" dirty="0">
                <a:highlight>
                  <a:srgbClr val="FFFF00"/>
                </a:highlight>
              </a:rPr>
              <a:t> to invite </a:t>
            </a:r>
            <a:r>
              <a:rPr lang="en-US" sz="2000" b="1" dirty="0">
                <a:highlight>
                  <a:srgbClr val="FFFF00"/>
                </a:highlight>
              </a:rPr>
              <a:t>sponsors</a:t>
            </a:r>
            <a:r>
              <a:rPr lang="en-US" sz="2000" dirty="0">
                <a:highlight>
                  <a:srgbClr val="FFFF00"/>
                </a:highlight>
              </a:rPr>
              <a:t> </a:t>
            </a:r>
            <a:r>
              <a:rPr lang="en-US" sz="2000" baseline="30000" dirty="0">
                <a:highlight>
                  <a:srgbClr val="FFFF00"/>
                </a:highlight>
              </a:rPr>
              <a:t>(and others)</a:t>
            </a:r>
            <a:r>
              <a:rPr lang="en-US" sz="2000" dirty="0">
                <a:highlight>
                  <a:srgbClr val="FFFF00"/>
                </a:highlight>
              </a:rPr>
              <a:t> to attend your presentation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Coordinate if you need something</a:t>
            </a:r>
          </a:p>
          <a:p>
            <a:pPr lvl="1"/>
            <a:r>
              <a:rPr lang="en-US" sz="2000" dirty="0"/>
              <a:t>Such as parking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62AC9-4EC4-1628-E54E-330A66D5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239E35-FBD2-A554-C89D-78A8FAE0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121532"/>
            <a:ext cx="3657600" cy="2283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6A2145-8CC9-4B67-B1B3-DACEC14DB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5322191"/>
            <a:ext cx="22860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5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EB0F-58B5-AF94-0961-30BA330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F9FD79-8BDF-723A-BA1E-AC7C272F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Peer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AE2D7-A0EC-D8F4-DF5D-B824AE89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b="1" dirty="0"/>
              <a:t>Forms</a:t>
            </a:r>
          </a:p>
          <a:p>
            <a:pPr lvl="1"/>
            <a:r>
              <a:rPr lang="en-US" dirty="0"/>
              <a:t>Developing this week</a:t>
            </a:r>
            <a:endParaRPr lang="en-US" sz="2200" dirty="0"/>
          </a:p>
          <a:p>
            <a:pPr lvl="1"/>
            <a:r>
              <a:rPr lang="en-US" sz="2200" dirty="0"/>
              <a:t>Peer Evaluation due after the final report</a:t>
            </a:r>
          </a:p>
          <a:p>
            <a:pPr lvl="1"/>
            <a:r>
              <a:rPr lang="en-US" sz="2200" dirty="0"/>
              <a:t>You will rate your performance on the project as well as teammates</a:t>
            </a:r>
          </a:p>
          <a:p>
            <a:r>
              <a:rPr lang="en-US" sz="2200" b="1" dirty="0"/>
              <a:t>A grade (12% of overall grade) determined using:</a:t>
            </a:r>
          </a:p>
          <a:p>
            <a:pPr lvl="1"/>
            <a:r>
              <a:rPr lang="en-US" sz="1600" dirty="0"/>
              <a:t>Peer Evaluation ratings and comments</a:t>
            </a:r>
          </a:p>
          <a:p>
            <a:pPr lvl="1"/>
            <a:r>
              <a:rPr lang="en-US" sz="1600" dirty="0"/>
              <a:t>Class attendance/tardiness/participation</a:t>
            </a:r>
          </a:p>
          <a:p>
            <a:pPr lvl="1"/>
            <a:r>
              <a:rPr lang="en-US" sz="1600" dirty="0"/>
              <a:t>Instructors' observation of </a:t>
            </a:r>
            <a:br>
              <a:rPr lang="en-US" sz="1600" dirty="0"/>
            </a:br>
            <a:r>
              <a:rPr lang="en-US" sz="1600" dirty="0"/>
              <a:t>team participation/contribution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CFD4-EDD2-47EB-5E4C-A7284023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B6AB34-3CDE-8DF7-A7BF-344F2BB1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997" y="4165283"/>
            <a:ext cx="295835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8B6E-329F-38D2-90F0-602E0D884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60825"/>
            <a:ext cx="8135340" cy="311613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Critique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your own project against </a:t>
            </a:r>
            <a:r>
              <a:rPr lang="en-US" sz="2000" b="1" dirty="0"/>
              <a:t>learning outcomes</a:t>
            </a:r>
            <a:br>
              <a:rPr lang="en-US" sz="2000" b="1" dirty="0"/>
            </a:br>
            <a:r>
              <a:rPr lang="en-US" sz="2000" dirty="0"/>
              <a:t>rather than </a:t>
            </a:r>
            <a:r>
              <a:rPr lang="en-US" sz="2000" u="sng" dirty="0"/>
              <a:t>technical checklists only</a:t>
            </a:r>
            <a:r>
              <a:rPr lang="en-US" sz="2000" dirty="0"/>
              <a:t>!</a:t>
            </a:r>
          </a:p>
          <a:p>
            <a:pPr lvl="1"/>
            <a:r>
              <a:rPr lang="en-US" sz="1600" dirty="0"/>
              <a:t>You are </a:t>
            </a:r>
            <a:r>
              <a:rPr lang="en-US" sz="1600" b="1" dirty="0">
                <a:solidFill>
                  <a:srgbClr val="FF0000"/>
                </a:solidFill>
              </a:rPr>
              <a:t>not</a:t>
            </a:r>
            <a:r>
              <a:rPr lang="en-US" sz="1600" dirty="0"/>
              <a:t> being graded on </a:t>
            </a:r>
            <a:r>
              <a:rPr lang="en-US" sz="1600" b="1" dirty="0">
                <a:solidFill>
                  <a:srgbClr val="FF0000"/>
                </a:solidFill>
              </a:rPr>
              <a:t>reproducing</a:t>
            </a:r>
            <a:r>
              <a:rPr lang="en-US" sz="1600" dirty="0"/>
              <a:t> a solution but</a:t>
            </a:r>
            <a:br>
              <a:rPr lang="en-US" sz="1600" dirty="0"/>
            </a:br>
            <a:r>
              <a:rPr lang="en-US" sz="1600" dirty="0"/>
              <a:t>on the </a:t>
            </a:r>
            <a:r>
              <a:rPr lang="en-US" sz="1600" b="1" dirty="0"/>
              <a:t>quality of your thinking and decisions</a:t>
            </a:r>
            <a:r>
              <a:rPr lang="en-US" sz="1600" dirty="0"/>
              <a:t>!</a:t>
            </a:r>
          </a:p>
          <a:p>
            <a:r>
              <a:rPr lang="en-US" sz="2000" dirty="0"/>
              <a:t>You're not just working alongside your peers, you're learning with them. </a:t>
            </a:r>
          </a:p>
          <a:p>
            <a:pPr lvl="1"/>
            <a:r>
              <a:rPr lang="en-US" sz="1600" dirty="0"/>
              <a:t>The goal is to move from individual results to shared success through real collaboration.</a:t>
            </a:r>
          </a:p>
          <a:p>
            <a:pPr lvl="1"/>
            <a:r>
              <a:rPr lang="en-US" sz="1600" dirty="0"/>
              <a:t>Peers are teammates, not just people doing the same assignment.</a:t>
            </a:r>
          </a:p>
          <a:p>
            <a:pPr lvl="1"/>
            <a:r>
              <a:rPr lang="en-US" sz="1600" dirty="0"/>
              <a:t>The aim is to build a culture of shared responsibility and genuine collaboration.</a:t>
            </a:r>
          </a:p>
          <a:p>
            <a:r>
              <a:rPr lang="en-US" sz="2000" dirty="0"/>
              <a:t>Pay attention to </a:t>
            </a:r>
            <a:r>
              <a:rPr lang="en-US" sz="2000" b="1" dirty="0"/>
              <a:t>how</a:t>
            </a:r>
            <a:r>
              <a:rPr lang="en-US" sz="2000" dirty="0"/>
              <a:t> and </a:t>
            </a:r>
            <a:r>
              <a:rPr lang="en-US" sz="2000" b="1" dirty="0"/>
              <a:t>why</a:t>
            </a:r>
            <a:r>
              <a:rPr lang="en-US" sz="2000" dirty="0"/>
              <a:t> you think the way you do when learning!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F7177-E4F2-112D-C5DE-580CC5F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D8DED4-5A3F-05B2-A499-861BE7FAD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36" y="185738"/>
            <a:ext cx="4046339" cy="26956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E82AC3-D5D5-4736-8CEB-7B9040914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41" t="15041" r="12853" b="9757"/>
          <a:stretch>
            <a:fillRect/>
          </a:stretch>
        </p:blipFill>
        <p:spPr>
          <a:xfrm>
            <a:off x="949925" y="497266"/>
            <a:ext cx="2286000" cy="23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1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040D-CC22-DED9-4D13-1B28E25B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Learning Outcomes </a:t>
            </a:r>
            <a:r>
              <a:rPr lang="en-US" sz="2000" dirty="0">
                <a:solidFill>
                  <a:srgbClr val="C00000"/>
                </a:solidFill>
              </a:rPr>
              <a:t>(</a:t>
            </a:r>
            <a:r>
              <a:rPr lang="en-US" sz="2000" i="1" dirty="0">
                <a:solidFill>
                  <a:srgbClr val="C00000"/>
                </a:solidFill>
              </a:rPr>
              <a:t>syllabus</a:t>
            </a:r>
            <a:r>
              <a:rPr lang="en-US" sz="2000" dirty="0">
                <a:solidFill>
                  <a:srgbClr val="C00000"/>
                </a:solidFill>
              </a:rPr>
              <a:t>)</a:t>
            </a:r>
            <a:br>
              <a:rPr lang="en-US" sz="3200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Ability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16252-D7F4-38A7-484F-5F2C30598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5030786"/>
          </a:xfrm>
        </p:spPr>
        <p:txBody>
          <a:bodyPr>
            <a:normAutofit fontScale="85000" lnSpcReduction="20000"/>
          </a:bodyPr>
          <a:lstStyle/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Identify</a:t>
            </a:r>
            <a:r>
              <a:rPr lang="en-US" dirty="0"/>
              <a:t>, </a:t>
            </a:r>
            <a:r>
              <a:rPr lang="en-US" b="1" dirty="0"/>
              <a:t>formulate</a:t>
            </a:r>
            <a:r>
              <a:rPr lang="en-US" dirty="0"/>
              <a:t>, and </a:t>
            </a:r>
            <a:r>
              <a:rPr lang="en-US" b="1" dirty="0"/>
              <a:t>solve</a:t>
            </a:r>
            <a:r>
              <a:rPr lang="en-US" dirty="0"/>
              <a:t> </a:t>
            </a:r>
            <a:r>
              <a:rPr lang="en-US" u="sng" dirty="0"/>
              <a:t>complex engineering problems</a:t>
            </a:r>
            <a:br>
              <a:rPr lang="en-US" u="sng" dirty="0"/>
            </a:br>
            <a:r>
              <a:rPr lang="en-US" dirty="0"/>
              <a:t>by applying </a:t>
            </a:r>
            <a:r>
              <a:rPr lang="en-US" dirty="0">
                <a:highlight>
                  <a:srgbClr val="FFFF00"/>
                </a:highlight>
              </a:rPr>
              <a:t>principles</a:t>
            </a:r>
            <a:r>
              <a:rPr lang="en-US" dirty="0"/>
              <a:t> of </a:t>
            </a:r>
            <a:r>
              <a:rPr lang="en-US" u="sng" dirty="0"/>
              <a:t>engineering</a:t>
            </a:r>
            <a:r>
              <a:rPr lang="en-US" dirty="0"/>
              <a:t>, </a:t>
            </a:r>
            <a:r>
              <a:rPr lang="en-US" u="sng" dirty="0"/>
              <a:t>science</a:t>
            </a:r>
            <a:r>
              <a:rPr lang="en-US" dirty="0"/>
              <a:t>, and </a:t>
            </a:r>
            <a:r>
              <a:rPr lang="en-US" u="sng" dirty="0"/>
              <a:t>mathematics</a:t>
            </a:r>
            <a:r>
              <a:rPr lang="en-US" dirty="0"/>
              <a:t>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Apply engineering design </a:t>
            </a:r>
            <a:r>
              <a:rPr lang="en-US" dirty="0"/>
              <a:t>to produce solutions that meet specified needs with </a:t>
            </a:r>
            <a:r>
              <a:rPr lang="en-US" dirty="0">
                <a:highlight>
                  <a:srgbClr val="FFFF00"/>
                </a:highlight>
              </a:rPr>
              <a:t>consideration</a:t>
            </a:r>
            <a:r>
              <a:rPr lang="en-US" dirty="0"/>
              <a:t> of public health, safety, and welfare, as well as global, cultural, social, environmental, and economic factors.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Communicate </a:t>
            </a:r>
            <a:r>
              <a:rPr lang="en-US" dirty="0">
                <a:highlight>
                  <a:srgbClr val="FFFF00"/>
                </a:highlight>
              </a:rPr>
              <a:t>effectively</a:t>
            </a:r>
            <a:r>
              <a:rPr lang="en-US" b="1" dirty="0"/>
              <a:t> </a:t>
            </a:r>
            <a:r>
              <a:rPr lang="en-US" dirty="0"/>
              <a:t>with a range of audiences.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Recognize</a:t>
            </a:r>
            <a:r>
              <a:rPr lang="en-US" b="1" dirty="0"/>
              <a:t> ethical and professional responsibilities </a:t>
            </a:r>
            <a:r>
              <a:rPr lang="en-US" dirty="0"/>
              <a:t>in engineering situations and make informed judgments, which must consider </a:t>
            </a:r>
            <a:br>
              <a:rPr lang="en-US" dirty="0"/>
            </a:br>
            <a:r>
              <a:rPr lang="en-US" dirty="0"/>
              <a:t>the impact of engineering solutions in global, economic, </a:t>
            </a:r>
            <a:br>
              <a:rPr lang="en-US" dirty="0"/>
            </a:br>
            <a:r>
              <a:rPr lang="en-US" dirty="0"/>
              <a:t>environmental, and societal contexts.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Function effectively on a team </a:t>
            </a:r>
            <a:r>
              <a:rPr lang="en-US" dirty="0"/>
              <a:t>whose members together provide leadership, create a collaborative and inclusive environment, 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establish</a:t>
            </a:r>
            <a:r>
              <a:rPr lang="en-US" dirty="0"/>
              <a:t> goals, plan tasks and meet objectives.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Develop and conduct </a:t>
            </a:r>
            <a:r>
              <a:rPr lang="en-US" b="1" dirty="0">
                <a:highlight>
                  <a:srgbClr val="FFFF00"/>
                </a:highlight>
              </a:rPr>
              <a:t>appropriate</a:t>
            </a:r>
            <a:r>
              <a:rPr lang="en-US" b="1" dirty="0"/>
              <a:t> experimentation, analyze and interpret data </a:t>
            </a:r>
            <a:r>
              <a:rPr lang="en-US" dirty="0"/>
              <a:t>and use engineering judgment to </a:t>
            </a:r>
            <a:r>
              <a:rPr lang="en-US" b="1" dirty="0"/>
              <a:t>draw conclusions</a:t>
            </a:r>
            <a:r>
              <a:rPr lang="en-US" dirty="0"/>
              <a:t>.</a:t>
            </a:r>
          </a:p>
          <a:p>
            <a:pPr marL="292100" indent="-292100">
              <a:lnSpc>
                <a:spcPct val="110000"/>
              </a:lnSpc>
              <a:spcBef>
                <a:spcPts val="400"/>
              </a:spcBef>
              <a:buFont typeface="+mj-lt"/>
              <a:buAutoNum type="arabicPeriod"/>
            </a:pPr>
            <a:r>
              <a:rPr lang="en-US" b="1" dirty="0"/>
              <a:t>Acquire and apply new knowledge as needed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highlight>
                  <a:srgbClr val="FFFF00"/>
                </a:highlight>
              </a:rPr>
              <a:t>appropriate</a:t>
            </a:r>
            <a:r>
              <a:rPr lang="en-US" dirty="0"/>
              <a:t> learning strategies.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20B6D-48EF-13E1-C2C5-83D4C2CB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7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64BFA-3889-EAB3-E5C6-0D05B159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EC51-C45A-DDBA-20FC-E1CCD69E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Standards </a:t>
            </a:r>
            <a:r>
              <a:rPr lang="en-US" b="1" baseline="30000" dirty="0">
                <a:solidFill>
                  <a:srgbClr val="C00000"/>
                </a:solidFill>
              </a:rPr>
              <a:t>(A Universal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30FC-AE5B-4BB8-51CE-7E302E098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9514"/>
            <a:ext cx="4660980" cy="517336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Standards are the agreed-upon rules and technical specifications that ensure safety, reliability, and interoperability. Without them, your lightbulb might not fit into a socket made by a different company.</a:t>
            </a:r>
          </a:p>
          <a:p>
            <a:r>
              <a:rPr lang="en-US" sz="1800" b="1" dirty="0"/>
              <a:t>Safety &amp; Compliance</a:t>
            </a:r>
            <a:r>
              <a:rPr lang="en-US" sz="1800" dirty="0"/>
              <a:t>: Regulatory bodies (like OSHA or the FAA) mandate standards to prevent catastrophic failure and protect the public.</a:t>
            </a:r>
          </a:p>
          <a:p>
            <a:r>
              <a:rPr lang="en-US" sz="1800" b="1" dirty="0"/>
              <a:t>Interchangeability</a:t>
            </a:r>
            <a:r>
              <a:rPr lang="en-US" sz="1800" dirty="0"/>
              <a:t>: Standards like ISO or ASME ensure that parts from different global suppliers work together seamlessly.</a:t>
            </a:r>
          </a:p>
          <a:p>
            <a:r>
              <a:rPr lang="en-US" sz="1800" b="1" dirty="0"/>
              <a:t>Quality Benchmarks</a:t>
            </a:r>
            <a:r>
              <a:rPr lang="en-US" sz="1800" dirty="0"/>
              <a:t>: Following established standards provides a baseline for "what good looks like," reducing the risk of design flaws.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35D74-250D-4627-CAFE-FE188C24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F4C90-689B-BA2E-0544-2E635C38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630" y="1319514"/>
            <a:ext cx="3657600" cy="3307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038E26-178E-44F8-9AAE-BE0E18633A13}"/>
              </a:ext>
            </a:extLst>
          </p:cNvPr>
          <p:cNvSpPr txBox="1"/>
          <p:nvPr/>
        </p:nvSpPr>
        <p:spPr>
          <a:xfrm>
            <a:off x="5289630" y="4627077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Screw standards define the dimensions, thread pitch, and tolerances for fasteners to ensure interchangeability and strength, with the two primary systems being the Unified Thread Standard (UTS/Imperial) in North America and ISO Metric worldwide. Key standards include ISO 68-1 for metric, and ASME B1.1 for unified inch threads (UNC/UNF).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6D17D-90CB-D0FC-4AD5-F96AE6BA4F2D}"/>
              </a:ext>
            </a:extLst>
          </p:cNvPr>
          <p:cNvSpPr txBox="1"/>
          <p:nvPr/>
        </p:nvSpPr>
        <p:spPr>
          <a:xfrm>
            <a:off x="2134442" y="183151"/>
            <a:ext cx="487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highlight>
                  <a:srgbClr val="FFFF00"/>
                </a:highlight>
              </a:rPr>
              <a:t>IT NEEDS TO BE REVIEWED IN ALL PROJECTS!</a:t>
            </a:r>
          </a:p>
        </p:txBody>
      </p:sp>
    </p:spTree>
    <p:extLst>
      <p:ext uri="{BB962C8B-B14F-4D97-AF65-F5344CB8AC3E}">
        <p14:creationId xmlns:p14="http://schemas.microsoft.com/office/powerpoint/2010/main" val="410488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578D0-5979-248B-10E9-B2C31739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9FF442-551D-414B-855F-B26DD41CDFAE}"/>
              </a:ext>
            </a:extLst>
          </p:cNvPr>
          <p:cNvSpPr txBox="1"/>
          <p:nvPr/>
        </p:nvSpPr>
        <p:spPr>
          <a:xfrm>
            <a:off x="2134442" y="183151"/>
            <a:ext cx="487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highlight>
                  <a:srgbClr val="FFFF00"/>
                </a:highlight>
              </a:rPr>
              <a:t>IT NEEDS TO BE REVIEWED IN ALL PROJECTS!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224482-10AB-0454-527C-67E24AD1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solidFill>
                  <a:srgbClr val="C00000"/>
                </a:solidFill>
              </a:rPr>
              <a:t>Engineering Standards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B21B4-08DC-8480-51E5-E8DF87B74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99596"/>
            <a:ext cx="8232321" cy="5393278"/>
          </a:xfrm>
        </p:spPr>
        <p:txBody>
          <a:bodyPr anchor="ctr">
            <a:normAutofit lnSpcReduction="10000"/>
          </a:bodyPr>
          <a:lstStyle/>
          <a:p>
            <a:r>
              <a:rPr lang="en-US" sz="1800" b="1" dirty="0"/>
              <a:t>Data Quality &amp; Governance</a:t>
            </a:r>
            <a:endParaRPr lang="en-US" sz="1800" dirty="0"/>
          </a:p>
          <a:p>
            <a:pPr lvl="1"/>
            <a:r>
              <a:rPr lang="en-US" sz="1400" b="1" dirty="0">
                <a:hlinkClick r:id="rId2"/>
              </a:rPr>
              <a:t>ISO/IEC 8000 </a:t>
            </a:r>
            <a:r>
              <a:rPr lang="en-US" sz="1400" b="1" dirty="0"/>
              <a:t>– Data Quality Standard</a:t>
            </a:r>
            <a:r>
              <a:rPr lang="en-US" sz="1400" dirty="0"/>
              <a:t>: Defines requirements for reliable and accurate data across systems.</a:t>
            </a:r>
          </a:p>
          <a:p>
            <a:pPr lvl="1"/>
            <a:r>
              <a:rPr lang="en-US" sz="1400" b="1" dirty="0"/>
              <a:t>ISO/IEC 11179 – Metadata Registry Standard</a:t>
            </a:r>
            <a:r>
              <a:rPr lang="en-US" sz="1400" dirty="0"/>
              <a:t>: Governs how data elements and metadata should be defined and documented.</a:t>
            </a:r>
          </a:p>
          <a:p>
            <a:pPr lvl="1"/>
            <a:r>
              <a:rPr lang="en-US" sz="1400" b="1" dirty="0"/>
              <a:t>ISO/IEC 38505 – Data Governance Framework</a:t>
            </a:r>
            <a:r>
              <a:rPr lang="en-US" sz="1400" dirty="0"/>
              <a:t>: Defines governance practices for managing organizational data.</a:t>
            </a:r>
          </a:p>
          <a:p>
            <a:pPr lvl="1"/>
            <a:r>
              <a:rPr lang="en-US" sz="1400" b="1" dirty="0"/>
              <a:t>General Data Protection Regulation </a:t>
            </a:r>
            <a:r>
              <a:rPr lang="en-US" sz="1400" dirty="0"/>
              <a:t>(GDPR)</a:t>
            </a:r>
          </a:p>
          <a:p>
            <a:r>
              <a:rPr lang="en-US" sz="1800" b="1" dirty="0"/>
              <a:t>Data Management Body of Knowledge</a:t>
            </a:r>
            <a:endParaRPr lang="en-US" sz="1800" dirty="0"/>
          </a:p>
          <a:p>
            <a:pPr lvl="1"/>
            <a:r>
              <a:rPr lang="en-US" sz="1400" b="1" dirty="0">
                <a:hlinkClick r:id="rId3"/>
              </a:rPr>
              <a:t>DAMA International Data Management Framework </a:t>
            </a:r>
            <a:r>
              <a:rPr lang="en-US" sz="1400" dirty="0"/>
              <a:t>(DMBOK): Widely used reference covering: data governance, data architecture, data quality, master data management, metadata management</a:t>
            </a:r>
          </a:p>
          <a:p>
            <a:r>
              <a:rPr lang="en-US" sz="1800" b="1" dirty="0"/>
              <a:t>Data Architecture</a:t>
            </a:r>
            <a:endParaRPr lang="en-US" sz="1800" dirty="0"/>
          </a:p>
          <a:p>
            <a:pPr lvl="1"/>
            <a:r>
              <a:rPr lang="en-US" sz="1400" dirty="0"/>
              <a:t>The Open Group TOGAF Enterprise architecture framework often used in data platform design.</a:t>
            </a:r>
          </a:p>
          <a:p>
            <a:pPr lvl="1"/>
            <a:r>
              <a:rPr lang="en-US" sz="1400" dirty="0"/>
              <a:t>World Wide Web Consortium standards (JSON, XML, RDF, etc.) that govern structured data exchange.</a:t>
            </a:r>
          </a:p>
          <a:p>
            <a:pPr lvl="1"/>
            <a:r>
              <a:rPr lang="en-US" sz="1400" dirty="0"/>
              <a:t>ISO/IEC 9075 – SQL Standard: The formal specification behind relational databases.</a:t>
            </a:r>
          </a:p>
          <a:p>
            <a:r>
              <a:rPr lang="en-US" sz="1800" b="1" dirty="0"/>
              <a:t>Data Security Standards</a:t>
            </a:r>
          </a:p>
          <a:p>
            <a:pPr lvl="1"/>
            <a:r>
              <a:rPr lang="en-US" sz="1400" b="1" dirty="0"/>
              <a:t>ISO/IEC 27001 – Information Security Management</a:t>
            </a:r>
          </a:p>
          <a:p>
            <a:pPr lvl="1"/>
            <a:r>
              <a:rPr lang="en-US" sz="1400" dirty="0"/>
              <a:t>National Institute of Standards and Technology Cybersecurity Framework</a:t>
            </a:r>
          </a:p>
          <a:p>
            <a:pPr marL="457200" lvl="1" indent="0">
              <a:buNone/>
            </a:pPr>
            <a:r>
              <a:rPr lang="en-US" sz="1400" dirty="0"/>
              <a:t>These can govern encryption, access control, auditing, breach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6FAD5-6213-A1D1-D6B0-5CFBADE3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3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7FD0D-6610-F93D-6C5C-581A9148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4DE73C-FEFF-41FE-6F90-DD14366B83B9}"/>
              </a:ext>
            </a:extLst>
          </p:cNvPr>
          <p:cNvSpPr txBox="1"/>
          <p:nvPr/>
        </p:nvSpPr>
        <p:spPr>
          <a:xfrm>
            <a:off x="2134442" y="183151"/>
            <a:ext cx="487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highlight>
                  <a:srgbClr val="FFFF00"/>
                </a:highlight>
              </a:rPr>
              <a:t>IT NEEDS TO BE REVIEWED IN ALL PROJECTS!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BE851B-2C02-4046-AE16-31A2C132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>
                <a:solidFill>
                  <a:srgbClr val="C00000"/>
                </a:solidFill>
              </a:rPr>
              <a:t>Engineering Standards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F0144-C891-2DB4-7276-D9FF5244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5894"/>
            <a:ext cx="7886700" cy="5031069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Manufacturing</a:t>
            </a:r>
            <a:r>
              <a:rPr lang="en-US" sz="1800" dirty="0"/>
              <a:t>: ASME Y14.5 (GD&amp;T), ASTM Standards, ISO 2768 (General Tolerances), ISO 9001, ANSI Standards, IPC Standards, API Standards</a:t>
            </a:r>
          </a:p>
          <a:p>
            <a:r>
              <a:rPr lang="en-US" sz="1800" b="1" dirty="0"/>
              <a:t>Aerospace &amp; Defense</a:t>
            </a:r>
            <a:r>
              <a:rPr lang="en-US" sz="1800" dirty="0"/>
              <a:t>: AS9100, ASME Standards, ASTM F519, MIL-STD-810 (Environmental Engineering), MIL-STD-461 (EMC), RTCA DO-160 (Environmental Testing), SAE AS Standards, ISO 9100 Series</a:t>
            </a:r>
          </a:p>
          <a:p>
            <a:r>
              <a:rPr lang="en-US" sz="1800" b="1" dirty="0"/>
              <a:t>Healthcare</a:t>
            </a:r>
            <a:r>
              <a:rPr lang="en-US" sz="1800" dirty="0"/>
              <a:t>: ISO 13485, IEC 60601 (Medical Electrical Equipment), ISO 14971 (Risk Management), ASTM Standards (Medical Devices), FDA 21 CFR Part 820 (Quality Systems Regulation), ANSI/AAMI Standards</a:t>
            </a:r>
          </a:p>
          <a:p>
            <a:r>
              <a:rPr lang="en-US" sz="1800" b="1" dirty="0"/>
              <a:t>Food Industry</a:t>
            </a:r>
            <a:r>
              <a:rPr lang="en-US" sz="1800" dirty="0"/>
              <a:t>: ISO 22000 (Food Safety Management), 3-A Sanitary Standards, ANSI/NSF Standards, ASTM Food Packaging Standards, EHEDG (European Hygienic Engineering &amp; Design Group), GMP Engineering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4DCEE-1D48-0F1C-B2B9-5999746B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57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A15D5-204B-CDC8-CD0B-5A7A1F98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5266-C482-2BE1-0271-68A87CD63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Comms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F317-B36D-4A37-5EC1-D93FFC14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6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A9A2-3256-2E79-A75E-1BE32C5B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2DEC-377B-0E82-8C87-7D7E578F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Phase 4 /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Phase 4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DBCCB-5A0C-0E00-0F62-99C12B2EB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Canvas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1403-C602-F90D-10BE-ACCE376F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44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3914-CDD3-B43E-C9AF-86A94BA7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83F1F-CBB7-2EF0-86C5-CAAF09AF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AF05A-9641-8032-920D-FE11675D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sz="2200" dirty="0"/>
              <a:t>Phase 4 is about delivering the results of your project</a:t>
            </a:r>
          </a:p>
          <a:p>
            <a:r>
              <a:rPr lang="en-US" sz="2200" dirty="0"/>
              <a:t>You should provide </a:t>
            </a:r>
            <a:r>
              <a:rPr lang="en-US" sz="2200" b="1" dirty="0"/>
              <a:t>actionable information </a:t>
            </a:r>
            <a:r>
              <a:rPr lang="en-US" sz="2200" dirty="0"/>
              <a:t>that will allow your </a:t>
            </a:r>
            <a:r>
              <a:rPr lang="en-US" sz="2200" u="sng" dirty="0"/>
              <a:t>sponsor to implement</a:t>
            </a:r>
            <a:r>
              <a:rPr lang="en-US" sz="2200" dirty="0"/>
              <a:t> your solution </a:t>
            </a:r>
            <a:r>
              <a:rPr lang="en-US" sz="2200" u="sng" dirty="0"/>
              <a:t>and/or</a:t>
            </a:r>
            <a:r>
              <a:rPr lang="en-US" sz="2200" dirty="0"/>
              <a:t> </a:t>
            </a:r>
            <a:r>
              <a:rPr lang="en-US" sz="2200" u="sng" dirty="0"/>
              <a:t>continue development</a:t>
            </a:r>
            <a:r>
              <a:rPr lang="en-US" sz="2200" dirty="0"/>
              <a:t> based on your research</a:t>
            </a:r>
          </a:p>
          <a:p>
            <a:r>
              <a:rPr lang="en-US" sz="2200" dirty="0"/>
              <a:t>Your presentation should provide </a:t>
            </a:r>
            <a:r>
              <a:rPr lang="en-US" sz="2200" b="1" dirty="0"/>
              <a:t>enough analysis </a:t>
            </a:r>
            <a:r>
              <a:rPr lang="en-US" sz="2200" dirty="0"/>
              <a:t>to prove you have rigorously examined the problem and your solution</a:t>
            </a:r>
          </a:p>
          <a:p>
            <a:r>
              <a:rPr lang="en-US" sz="2200" dirty="0"/>
              <a:t>You should also show that you have considered </a:t>
            </a:r>
            <a:r>
              <a:rPr lang="en-US" sz="2200" b="1" dirty="0"/>
              <a:t>appropriate engineering standards and constraints </a:t>
            </a:r>
            <a:r>
              <a:rPr lang="en-US" sz="2200" dirty="0"/>
              <a:t>as you developed your solution</a:t>
            </a:r>
          </a:p>
          <a:p>
            <a:r>
              <a:rPr lang="en-US" sz="2200" dirty="0"/>
              <a:t>Phase 4 technical grade will </a:t>
            </a:r>
            <a:r>
              <a:rPr lang="en-US" sz="2200" b="1" dirty="0"/>
              <a:t>not be subject to resubmissions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E7A1-857D-F4CB-5277-B3D6AE51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94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0B8C-F826-DF56-6CE4-F322A3BC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26050B-6E88-6A47-D6D9-29E5408B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 Presentation Guidelines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562EC-BD02-7C52-585C-9E5AFFBBE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Project Recap</a:t>
            </a:r>
          </a:p>
          <a:p>
            <a:r>
              <a:rPr lang="en-US" sz="2200" dirty="0"/>
              <a:t>In addition to displaying your problem statement in the introduction, provide a project recap</a:t>
            </a:r>
          </a:p>
          <a:p>
            <a:r>
              <a:rPr lang="en-US" sz="2200" dirty="0"/>
              <a:t>A slide or two (visuals are good) explaining the "why" of your project and your efforts to date</a:t>
            </a:r>
          </a:p>
          <a:p>
            <a:r>
              <a:rPr lang="en-US" sz="2200" dirty="0"/>
              <a:t>This is likely going to be included in your showcase poster as a project introduction</a:t>
            </a:r>
          </a:p>
          <a:p>
            <a:r>
              <a:rPr lang="en-US" sz="2200" dirty="0"/>
              <a:t>Think of it as your "elevator pitch", but along with a minute or so to talk, you'll have visuals to back it up</a:t>
            </a:r>
            <a:endParaRPr lang="en-US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18C93-6F89-6997-A086-2B984BE9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2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1E1A2-3EE1-0D17-8464-35EC03B1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AE0C6C-CDB4-531E-5435-B555063D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 Presentation Guidelines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76588-76FD-D9E4-2118-B5B75153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Final Design Architecture</a:t>
            </a:r>
          </a:p>
          <a:p>
            <a:r>
              <a:rPr lang="en-US" sz="2200" dirty="0"/>
              <a:t>Explain your solution, focus on functionality, keep technical details to a minimum</a:t>
            </a:r>
          </a:p>
          <a:p>
            <a:r>
              <a:rPr lang="en-US" sz="2200" dirty="0"/>
              <a:t>Map your requirements to your solution, indicate how each requirement is satisfied by the design (focus on key requirements if you have many)</a:t>
            </a:r>
          </a:p>
          <a:p>
            <a:r>
              <a:rPr lang="en-US" sz="2200" dirty="0"/>
              <a:t>If your results are research focused, identify areas of research and map to key requirements</a:t>
            </a:r>
            <a:endParaRPr lang="en-US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CBA28-5499-BEA3-7E5B-BE21DB51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48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401C-0E80-20E6-E16D-5B75F1DB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17186F-3CEC-E1CA-A9B8-5AD019DC1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 Presentation Guidelines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1654F-CB24-4B38-AFAD-DA9DEBDA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Analysis</a:t>
            </a:r>
          </a:p>
          <a:p>
            <a:r>
              <a:rPr lang="en-US" sz="2200" dirty="0"/>
              <a:t>Analyze your final solution using appropriate criteria (some may be same used in Phase 3)</a:t>
            </a:r>
          </a:p>
          <a:p>
            <a:r>
              <a:rPr lang="en-US" sz="2200" dirty="0"/>
              <a:t>Economic, performance, risk are three areas</a:t>
            </a:r>
          </a:p>
          <a:p>
            <a:pPr lvl="1"/>
            <a:r>
              <a:rPr lang="en-US" sz="2200" dirty="0"/>
              <a:t>Define each clearly as they are presented</a:t>
            </a:r>
          </a:p>
          <a:p>
            <a:r>
              <a:rPr lang="en-US" sz="2200" dirty="0"/>
              <a:t>Other areas of analysis should be explored as appropriate for your project</a:t>
            </a:r>
          </a:p>
          <a:p>
            <a:r>
              <a:rPr lang="en-US" sz="2200" dirty="0"/>
              <a:t>For research, discuss the impact of the research and analysis of validity</a:t>
            </a:r>
            <a:endParaRPr lang="en-US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38DF4-BFD5-AD79-316C-CB1259FB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2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A895-F6F4-6B18-6BE8-938E16CD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2880C0-8DAD-410A-84CC-9207581D5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 Presentation Guidelines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F1F57-0260-E5A9-8D93-9821F1B53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Engineering Standards and Constraints</a:t>
            </a:r>
            <a:endParaRPr lang="en-US" sz="2200" b="1" dirty="0"/>
          </a:p>
          <a:p>
            <a:r>
              <a:rPr lang="en-US" dirty="0"/>
              <a:t>Describe any engineering standards that guided your solution and discuss relevance</a:t>
            </a:r>
          </a:p>
          <a:p>
            <a:r>
              <a:rPr lang="en-US" dirty="0"/>
              <a:t>Explain any constraints faced by your team/project and how they are addressed</a:t>
            </a:r>
          </a:p>
          <a:p>
            <a:r>
              <a:rPr lang="en-US" dirty="0"/>
              <a:t>See guidelines document for tips</a:t>
            </a:r>
            <a:endParaRPr lang="en-US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61C2C-50A3-C077-27ED-8BA20D209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86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990D-BE54-2CE5-48B5-78A94B92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6914608-756B-7C4F-5A8B-250B45D6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 Presentation Guidelines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33D4F-DAEE-E2E0-70E3-7D9DE4573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Conclusion and Recommendations</a:t>
            </a:r>
            <a:endParaRPr lang="en-US" sz="2200" b="1" dirty="0"/>
          </a:p>
          <a:p>
            <a:r>
              <a:rPr lang="en-US" dirty="0"/>
              <a:t>Finalize the presentation by summarizing what your outcomes indicate (don't go through final design again, but reference earlier information as needed to "wrap up" your results)</a:t>
            </a:r>
          </a:p>
          <a:p>
            <a:r>
              <a:rPr lang="en-US" dirty="0"/>
              <a:t>Include any implementation plan you have created</a:t>
            </a:r>
          </a:p>
          <a:p>
            <a:r>
              <a:rPr lang="en-US" dirty="0"/>
              <a:t>If future work to continue/expand your project is likely, indicate areas of focus that might take</a:t>
            </a:r>
            <a:endParaRPr lang="en-US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2485D-45D1-C5FF-C153-91BB507D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55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8E1C3-E5D6-CACA-5046-49E8C7F2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DCDC5-81BC-1522-A4E3-5DFE40510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ABET Accreditation Alignment</a:t>
            </a:r>
          </a:p>
          <a:p>
            <a:r>
              <a:rPr lang="en-US" sz="1600" dirty="0"/>
              <a:t>Phase 4 presentation and final report must explicitly demonstrate your ability to apply engineering design to produce solutions that meet specified needs!</a:t>
            </a:r>
          </a:p>
          <a:p>
            <a:pPr lvl="1"/>
            <a:r>
              <a:rPr lang="en-US" sz="1600" dirty="0"/>
              <a:t>Engineering Standards and Project Constraints go beyond just naming a standard (like OSHA or ISO):</a:t>
            </a:r>
          </a:p>
          <a:p>
            <a:pPr lvl="2"/>
            <a:r>
              <a:rPr lang="en-US" sz="1600" dirty="0"/>
              <a:t>You must explicitly identify the specific standards (e.g., IEEE, ASME, NIST, ISO) that informed your design.</a:t>
            </a:r>
          </a:p>
          <a:p>
            <a:pPr lvl="2"/>
            <a:r>
              <a:rPr lang="en-US" sz="1600" dirty="0"/>
              <a:t>Clearly state how your design specifically protects the user or the public.</a:t>
            </a:r>
          </a:p>
          <a:p>
            <a:r>
              <a:rPr lang="en-US" sz="1600" dirty="0"/>
              <a:t>Analysis should consider broader impact of your design.</a:t>
            </a:r>
          </a:p>
          <a:p>
            <a:pPr lvl="1"/>
            <a:r>
              <a:rPr lang="en-US" sz="1600" dirty="0"/>
              <a:t>Address any ethical dilemmas encountered: ensure your narrative reflects informed, ethical decision-making.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2C533E-E1C9-2F20-FCAA-CAE853E4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Phase 4 Presentation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42CCC-4FC6-C0F3-FB54-708DE858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4995-ADD5-9DC4-6CAD-90149862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Showcase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01861-ACCF-CAA7-6999-8ABFCF476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dirty="0"/>
              <a:t>Do very </a:t>
            </a:r>
            <a:r>
              <a:rPr lang="en-US" sz="2400" b="1" dirty="0"/>
              <a:t>brief introductions</a:t>
            </a:r>
          </a:p>
          <a:p>
            <a:r>
              <a:rPr lang="en-US" sz="2400" b="1" dirty="0"/>
              <a:t>Tell a story</a:t>
            </a:r>
            <a:r>
              <a:rPr lang="en-US" sz="2400" dirty="0"/>
              <a:t>, not get bogged down in technical details</a:t>
            </a:r>
          </a:p>
          <a:p>
            <a:r>
              <a:rPr lang="en-US" sz="2400" b="1" dirty="0"/>
              <a:t>Focus on the process </a:t>
            </a:r>
            <a:r>
              <a:rPr lang="en-US" sz="2400" dirty="0"/>
              <a:t>you went through, not the details of each step</a:t>
            </a:r>
          </a:p>
          <a:p>
            <a:r>
              <a:rPr lang="en-US" sz="2400" dirty="0"/>
              <a:t>State the </a:t>
            </a:r>
            <a:r>
              <a:rPr lang="en-US" sz="2400" b="1" dirty="0"/>
              <a:t>requirements</a:t>
            </a:r>
            <a:r>
              <a:rPr lang="en-US" sz="2400" dirty="0"/>
              <a:t> of your solution clearly</a:t>
            </a:r>
          </a:p>
          <a:p>
            <a:r>
              <a:rPr lang="en-US" sz="2400" dirty="0"/>
              <a:t>Identify </a:t>
            </a:r>
            <a:r>
              <a:rPr lang="en-US" sz="2400" b="1" dirty="0"/>
              <a:t>multiple solutions </a:t>
            </a:r>
            <a:r>
              <a:rPr lang="en-US" sz="2400" dirty="0"/>
              <a:t>you may have explored, but don't spend a lot of time detailing them</a:t>
            </a:r>
          </a:p>
          <a:p>
            <a:r>
              <a:rPr lang="en-US" sz="2400" b="1" dirty="0"/>
              <a:t>Explain your solution </a:t>
            </a:r>
            <a:r>
              <a:rPr lang="en-US" sz="2400" dirty="0"/>
              <a:t>and go through the analysis of how it meets your requirements</a:t>
            </a:r>
          </a:p>
          <a:p>
            <a:r>
              <a:rPr lang="en-US" sz="2400" b="1" dirty="0"/>
              <a:t>End with a strong conclusion</a:t>
            </a:r>
            <a:r>
              <a:rPr lang="en-US" sz="2400" dirty="0"/>
              <a:t>, if there are relevant metrics proving the validity of your solution, present them!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891CD-3045-59EB-87FE-D6442836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09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61D63-9357-C448-CEC6-B7EB1759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2DC9-5F7F-9E99-E87C-2A143F80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0518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Showcase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F0566-A19D-634A-A4A8-B6179AFA8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1027"/>
            <a:ext cx="7886700" cy="4755936"/>
          </a:xfrm>
        </p:spPr>
        <p:txBody>
          <a:bodyPr>
            <a:noAutofit/>
          </a:bodyPr>
          <a:lstStyle/>
          <a:p>
            <a:r>
              <a:rPr lang="en-US" sz="2400" b="1" dirty="0"/>
              <a:t>Check requirements</a:t>
            </a:r>
          </a:p>
          <a:p>
            <a:pPr lvl="1"/>
            <a:r>
              <a:rPr lang="en-US" sz="2400" dirty="0"/>
              <a:t>All team members should be present</a:t>
            </a:r>
            <a:br>
              <a:rPr lang="en-US" sz="2400" dirty="0"/>
            </a:br>
            <a:r>
              <a:rPr lang="en-US" sz="2400" dirty="0"/>
              <a:t>(but not at the same time)</a:t>
            </a:r>
          </a:p>
          <a:p>
            <a:pPr lvl="1"/>
            <a:r>
              <a:rPr lang="en-US" sz="2400" dirty="0"/>
              <a:t>Limit presenters to 2-3 people is fine if desired</a:t>
            </a:r>
          </a:p>
          <a:p>
            <a:r>
              <a:rPr lang="en-US" sz="2400" b="1" dirty="0"/>
              <a:t>Judging criteria</a:t>
            </a:r>
          </a:p>
          <a:p>
            <a:pPr lvl="1"/>
            <a:r>
              <a:rPr lang="en-US" sz="2400" dirty="0"/>
              <a:t>Problem definition (25%)</a:t>
            </a:r>
          </a:p>
          <a:p>
            <a:pPr lvl="1"/>
            <a:r>
              <a:rPr lang="en-US" sz="2400" dirty="0"/>
              <a:t>Design methodology (25%)</a:t>
            </a:r>
          </a:p>
          <a:p>
            <a:pPr lvl="1"/>
            <a:r>
              <a:rPr lang="en-US" sz="2400" dirty="0"/>
              <a:t>Achieved or expected outcomes (25%)</a:t>
            </a:r>
          </a:p>
          <a:p>
            <a:pPr lvl="1"/>
            <a:r>
              <a:rPr lang="en-US" sz="2400" dirty="0"/>
              <a:t>Overall quality of the presentation (25%)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5E3A1-5F61-E666-909C-C2EFC3F3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52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E0932-FA55-25EE-62E3-DAC1E223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17C26-5C4A-D207-36BD-84A14ACA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FA11-B971-65C6-5B65-B606BC23103A}"/>
              </a:ext>
            </a:extLst>
          </p:cNvPr>
          <p:cNvSpPr txBox="1"/>
          <p:nvPr/>
        </p:nvSpPr>
        <p:spPr>
          <a:xfrm>
            <a:off x="919537" y="3834815"/>
            <a:ext cx="7304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C00000"/>
                </a:solidFill>
              </a:rPr>
              <a:t>The people who are crazy enough to think they can change the world  are the ones who do.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480F6-CA66-903F-EECA-6C36373CDD28}"/>
              </a:ext>
            </a:extLst>
          </p:cNvPr>
          <p:cNvSpPr txBox="1"/>
          <p:nvPr/>
        </p:nvSpPr>
        <p:spPr>
          <a:xfrm>
            <a:off x="2250467" y="5069344"/>
            <a:ext cx="4643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/>
              <a:t>Steve Jobs "Think Different" Campaign Speech 09/1997</a:t>
            </a:r>
            <a:endParaRPr lang="en-US" sz="1400" b="1" i="1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400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https://youtube.com/watch?v=b4n8uT12ij8&amp;t=410</a:t>
            </a:r>
            <a:endParaRPr lang="en-US" sz="1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BA6DB-75ED-7C75-D145-E6D4519FF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605" y="1021422"/>
            <a:ext cx="3614791" cy="2409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F2EE7-5097-6F24-1F96-5A646AFDAE33}"/>
              </a:ext>
            </a:extLst>
          </p:cNvPr>
          <p:cNvSpPr txBox="1"/>
          <p:nvPr/>
        </p:nvSpPr>
        <p:spPr>
          <a:xfrm>
            <a:off x="6400178" y="3299034"/>
            <a:ext cx="36388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dirty="0">
                <a:solidFill>
                  <a:schemeClr val="accent4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Future</a:t>
            </a:r>
            <a:endParaRPr lang="en-US" sz="10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54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1473</TotalTime>
  <Words>1694</Words>
  <Application>Microsoft Macintosh PowerPoint</Application>
  <PresentationFormat>On-screen Show (4:3)</PresentationFormat>
  <Paragraphs>174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Phase 4 Delivery</vt:lpstr>
      <vt:lpstr>PowerPoint Presentation</vt:lpstr>
      <vt:lpstr>Today’s Agenda</vt:lpstr>
      <vt:lpstr>Upcoming Semester Schedule</vt:lpstr>
      <vt:lpstr>Final/Phase 4 Presentation</vt:lpstr>
      <vt:lpstr>Peer Evaluation</vt:lpstr>
      <vt:lpstr>PowerPoint Presentation</vt:lpstr>
      <vt:lpstr>Learning Outcomes (syllabus) Ability to:</vt:lpstr>
      <vt:lpstr>Standards (A Universal Language)</vt:lpstr>
      <vt:lpstr>Engineering Standards</vt:lpstr>
      <vt:lpstr>Engineering Standards</vt:lpstr>
      <vt:lpstr>Comms Activity</vt:lpstr>
      <vt:lpstr>Phase 4 /  Phase 4 Guidelines</vt:lpstr>
      <vt:lpstr>Phase 4</vt:lpstr>
      <vt:lpstr>Phase 4 Presentation Guidelines</vt:lpstr>
      <vt:lpstr>Phase 4 Presentation Guidelines</vt:lpstr>
      <vt:lpstr>Phase 4 Presentation Guidelines</vt:lpstr>
      <vt:lpstr>Phase 4 Presentation Guidelines</vt:lpstr>
      <vt:lpstr>Phase 4 Presentation Guidelines</vt:lpstr>
      <vt:lpstr>Phase 4 Presentation Guidelines</vt:lpstr>
      <vt:lpstr>Showcase Tips</vt:lpstr>
      <vt:lpstr>Showcase Tips</vt:lpstr>
      <vt:lpstr>PowerPoint Presentation</vt:lpstr>
    </vt:vector>
  </TitlesOfParts>
  <Manager/>
  <Company>TAMU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DAEN 460</dc:subject>
  <dc:creator>Alexander Abuabara</dc:creator>
  <cp:keywords/>
  <dc:description/>
  <cp:lastModifiedBy>Alexander Abuabara</cp:lastModifiedBy>
  <cp:revision>311</cp:revision>
  <dcterms:created xsi:type="dcterms:W3CDTF">2026-01-26T19:08:04Z</dcterms:created>
  <dcterms:modified xsi:type="dcterms:W3CDTF">2026-04-07T17:26:18Z</dcterms:modified>
  <cp:category/>
</cp:coreProperties>
</file>