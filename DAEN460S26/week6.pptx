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5"/>
  </p:notesMasterIdLst>
  <p:sldIdLst>
    <p:sldId id="256" r:id="rId2"/>
    <p:sldId id="326" r:id="rId3"/>
    <p:sldId id="292" r:id="rId4"/>
    <p:sldId id="293" r:id="rId5"/>
    <p:sldId id="258" r:id="rId6"/>
    <p:sldId id="294" r:id="rId7"/>
    <p:sldId id="299" r:id="rId8"/>
    <p:sldId id="300" r:id="rId9"/>
    <p:sldId id="295" r:id="rId10"/>
    <p:sldId id="296" r:id="rId11"/>
    <p:sldId id="302" r:id="rId12"/>
    <p:sldId id="303" r:id="rId13"/>
    <p:sldId id="304" r:id="rId14"/>
    <p:sldId id="306" r:id="rId15"/>
    <p:sldId id="305" r:id="rId16"/>
    <p:sldId id="307" r:id="rId17"/>
    <p:sldId id="308" r:id="rId18"/>
    <p:sldId id="309" r:id="rId19"/>
    <p:sldId id="298" r:id="rId20"/>
    <p:sldId id="316" r:id="rId21"/>
    <p:sldId id="313" r:id="rId22"/>
    <p:sldId id="314" r:id="rId23"/>
    <p:sldId id="315" r:id="rId24"/>
    <p:sldId id="310" r:id="rId25"/>
    <p:sldId id="320" r:id="rId26"/>
    <p:sldId id="322" r:id="rId27"/>
    <p:sldId id="321" r:id="rId28"/>
    <p:sldId id="324" r:id="rId29"/>
    <p:sldId id="323" r:id="rId30"/>
    <p:sldId id="325" r:id="rId31"/>
    <p:sldId id="311" r:id="rId32"/>
    <p:sldId id="312" r:id="rId33"/>
    <p:sldId id="319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13"/>
    <p:restoredTop sz="96018"/>
  </p:normalViewPr>
  <p:slideViewPr>
    <p:cSldViewPr snapToGrid="0">
      <p:cViewPr varScale="1">
        <p:scale>
          <a:sx n="109" d="100"/>
          <a:sy n="109" d="100"/>
        </p:scale>
        <p:origin x="192" y="2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student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ttledataguy.substack.com/p/7-lessons-i-learned-the-hard-way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so.org/" TargetMode="External"/><Relationship Id="rId2" Type="http://schemas.openxmlformats.org/officeDocument/2006/relationships/hyperlink" Target="http://www.ansi.org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ystems_modeling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2 Define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Critique </a:t>
            </a:r>
            <a:r>
              <a:rPr lang="en-US" sz="2200" dirty="0"/>
              <a:t>your own project against </a:t>
            </a:r>
            <a:r>
              <a:rPr lang="en-US" sz="2200" b="1" dirty="0"/>
              <a:t>learning goals </a:t>
            </a: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</a:t>
            </a:r>
            <a:r>
              <a:rPr lang="en-US" sz="2200" dirty="0">
                <a:solidFill>
                  <a:srgbClr val="FF0000"/>
                </a:solidFill>
              </a:rPr>
              <a:t>not</a:t>
            </a:r>
            <a:r>
              <a:rPr lang="en-US" sz="2200" dirty="0"/>
              <a:t> being graded on </a:t>
            </a:r>
            <a:r>
              <a:rPr lang="en-US" sz="2200" dirty="0">
                <a:solidFill>
                  <a:srgbClr val="FF0000"/>
                </a:solidFill>
              </a:rPr>
              <a:t>reproducing</a:t>
            </a:r>
            <a:r>
              <a:rPr lang="en-US" sz="2200" dirty="0"/>
              <a:t>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</a:t>
            </a:r>
            <a:r>
              <a:rPr lang="en-US" sz="2200" dirty="0">
                <a:solidFill>
                  <a:srgbClr val="FF0000"/>
                </a:solidFill>
              </a:rPr>
              <a:t>are not parallel workers</a:t>
            </a:r>
            <a:r>
              <a:rPr lang="en-US" sz="2200" dirty="0"/>
              <a:t>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311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Course Learning Outcomes </a:t>
            </a:r>
            <a:r>
              <a:rPr lang="en-US" sz="2000" dirty="0"/>
              <a:t>(</a:t>
            </a:r>
            <a:r>
              <a:rPr lang="en-US" sz="2000" i="1" dirty="0"/>
              <a:t>read the syllabus!</a:t>
            </a:r>
            <a:r>
              <a:rPr lang="en-US" sz="2000" dirty="0"/>
              <a:t>)</a:t>
            </a:r>
            <a:br>
              <a:rPr lang="en-US" sz="3200" dirty="0"/>
            </a:br>
            <a:r>
              <a:rPr lang="en-US" b="1" dirty="0"/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625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/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 </a:t>
            </a: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design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Communicate effectively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Recognize ethical and professional responsibilities </a:t>
            </a:r>
            <a:r>
              <a:rPr lang="en-US" dirty="0"/>
              <a:t>in engineering situations and make informed judgments, which must consider the impact of engineering solutions in global, economic, 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effectively on a team </a:t>
            </a:r>
            <a:r>
              <a:rPr lang="en-US" dirty="0"/>
              <a:t>whose members together provide leadership, create a collaborative and inclusive environment, 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experimentation, analyze and interpret data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Acquire and apply new knowledge as needed</a:t>
            </a:r>
            <a:r>
              <a:rPr lang="en-US" dirty="0"/>
              <a:t>, 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Virtual Project Showcase</a:t>
            </a:r>
          </a:p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  <a:p>
            <a:r>
              <a:rPr lang="en-US" b="1" dirty="0">
                <a:solidFill>
                  <a:srgbClr val="00B0F0"/>
                </a:solidFill>
              </a:rPr>
              <a:t>Customer Needs/Technical Objectives </a:t>
            </a:r>
            <a:r>
              <a:rPr lang="en-US" dirty="0">
                <a:solidFill>
                  <a:srgbClr val="00B0F0"/>
                </a:solidFill>
              </a:rPr>
              <a:t>(revisions/updates)</a:t>
            </a:r>
          </a:p>
          <a:p>
            <a:r>
              <a:rPr lang="en-US" b="1" dirty="0">
                <a:solidFill>
                  <a:srgbClr val="FFC000"/>
                </a:solidFill>
              </a:rPr>
              <a:t>Requirements/Engineering Actions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  <a:p>
            <a:r>
              <a:rPr lang="en-US" b="1" dirty="0">
                <a:solidFill>
                  <a:srgbClr val="FF0000"/>
                </a:solidFill>
              </a:rPr>
              <a:t>ABET information</a:t>
            </a:r>
          </a:p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332C-1E79-27FD-C559-BD992CE53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002060"/>
                </a:solidFill>
              </a:rPr>
              <a:t>Virtual Project Showcase Registration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F1B32-6A8C-B2D2-D300-CDA6BA37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dirty="0">
                <a:hlinkClick r:id="rId2"/>
              </a:rPr>
              <a:t>https://tamueps.secure-platform.com/students</a:t>
            </a: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r>
              <a:rPr lang="en-US" sz="2200" dirty="0"/>
              <a:t>Required assignment for all teams, submit proof on Canvas</a:t>
            </a:r>
          </a:p>
          <a:p>
            <a:pPr marL="0" indent="0" algn="ctr">
              <a:buNone/>
            </a:pPr>
            <a:r>
              <a:rPr lang="en-US" sz="2200" dirty="0"/>
              <a:t>Project title will identify your team in published material,</a:t>
            </a:r>
            <a:br>
              <a:rPr lang="en-US" sz="2200" dirty="0"/>
            </a:br>
            <a:r>
              <a:rPr lang="en-US" sz="2200" dirty="0"/>
              <a:t>ensure you get it correct!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F4FE4-31CF-1C55-C7FA-779860DF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F80B1-73F6-96D1-D952-997D17F6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4" y="2434730"/>
            <a:ext cx="6419091" cy="219456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1800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8C858-DDEF-CB07-26C0-4D425DC6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9"/>
            <a:ext cx="8050555" cy="2852737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7A11-9DE3-9804-F89E-9121E39DF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Communication is a Superpower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FC36-8EE5-C9F5-7386-DF6C4E7B1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88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15001-C898-BC9B-42EB-100BBD57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5FD9B-2263-BD0D-B9FB-62202282A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638635"/>
            <a:ext cx="8013357" cy="5580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1E6A6F-1941-B00C-192E-F8E13D81DE8C}"/>
              </a:ext>
            </a:extLst>
          </p:cNvPr>
          <p:cNvSpPr txBox="1"/>
          <p:nvPr/>
        </p:nvSpPr>
        <p:spPr>
          <a:xfrm>
            <a:off x="628650" y="6385024"/>
            <a:ext cx="5778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Ref.: </a:t>
            </a:r>
            <a:r>
              <a:rPr lang="en-US" sz="1400" dirty="0">
                <a:hlinkClick r:id="rId3"/>
              </a:rPr>
              <a:t>7 Lessons I Learned the Hard Way From 9+ Years as a Data Engineer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661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C135C-940B-B722-FB04-9CC1F168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Customer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F2EE5-81B2-92E0-66BF-B759FB4E6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5793" cy="4351338"/>
          </a:xfrm>
        </p:spPr>
        <p:txBody>
          <a:bodyPr>
            <a:normAutofit/>
          </a:bodyPr>
          <a:lstStyle/>
          <a:p>
            <a:r>
              <a:rPr lang="en-US" sz="2200" dirty="0"/>
              <a:t>By now you should have a least </a:t>
            </a:r>
            <a:r>
              <a:rPr lang="en-US" sz="2200" u="sng" dirty="0"/>
              <a:t>some</a:t>
            </a:r>
            <a:r>
              <a:rPr lang="en-US" sz="2200" dirty="0"/>
              <a:t> customer needs identified</a:t>
            </a:r>
          </a:p>
          <a:p>
            <a:pPr lvl="1"/>
            <a:r>
              <a:rPr lang="en-US" sz="2200" dirty="0"/>
              <a:t>Typically, this comes from:</a:t>
            </a:r>
          </a:p>
          <a:p>
            <a:pPr lvl="2"/>
            <a:r>
              <a:rPr lang="en-US" sz="2200" dirty="0"/>
              <a:t>The project description </a:t>
            </a:r>
          </a:p>
          <a:p>
            <a:pPr lvl="2"/>
            <a:r>
              <a:rPr lang="en-US" sz="2200" dirty="0"/>
              <a:t>Discussion with the sponsor/stakeholders</a:t>
            </a:r>
          </a:p>
          <a:p>
            <a:r>
              <a:rPr lang="en-US" sz="2200" dirty="0"/>
              <a:t>Needs should not be directed towards a potential solution</a:t>
            </a:r>
          </a:p>
          <a:p>
            <a:pPr lvl="1"/>
            <a:r>
              <a:rPr lang="en-US" sz="2200" dirty="0"/>
              <a:t>Often a </a:t>
            </a:r>
            <a:r>
              <a:rPr lang="en-US" sz="2200" i="1" dirty="0"/>
              <a:t>flaw of needs </a:t>
            </a:r>
            <a:r>
              <a:rPr lang="en-US" sz="2200" dirty="0"/>
              <a:t>created without a thorough technical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A3FFA-5B5E-3137-A763-B747B2292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51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255C-43D0-8352-18A3-DE44899D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E921E-CCB7-5D8B-2A54-9A7EB5689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50324"/>
            <a:ext cx="7886700" cy="5126640"/>
          </a:xfrm>
        </p:spPr>
        <p:txBody>
          <a:bodyPr>
            <a:normAutofit/>
          </a:bodyPr>
          <a:lstStyle/>
          <a:p>
            <a:r>
              <a:rPr lang="en-US" sz="2000" dirty="0"/>
              <a:t>Garvin's dimensions of quality can provide the framework to identify needs</a:t>
            </a:r>
          </a:p>
          <a:p>
            <a:r>
              <a:rPr lang="en-US" sz="2000" dirty="0"/>
              <a:t>As you model your "system", keep these important quality dimensions in mind to identify additional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8B407-0EDF-B28C-82C2-242A2F562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EC292A-4DEF-5E71-33B0-474F9CBCF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75038"/>
            <a:ext cx="6035040" cy="38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49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9E419-A829-847C-4B55-DB6158A24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FFAC00"/>
                </a:solidFill>
              </a:rPr>
              <a:t>Requirements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Engineer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5A20-7F32-3C08-233A-4571367D0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19934" cy="4351338"/>
          </a:xfrm>
        </p:spPr>
        <p:txBody>
          <a:bodyPr>
            <a:normAutofit/>
          </a:bodyPr>
          <a:lstStyle/>
          <a:p>
            <a:r>
              <a:rPr lang="en-US" sz="2200" dirty="0"/>
              <a:t>Aka Engineering Characteristics</a:t>
            </a:r>
          </a:p>
          <a:p>
            <a:r>
              <a:rPr lang="en-US" sz="2200" dirty="0"/>
              <a:t>Requirements are objective/testable/measurable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Precise, clear, concise: "The system shall…"</a:t>
            </a:r>
          </a:p>
          <a:p>
            <a:r>
              <a:rPr lang="en-US" sz="2200" dirty="0"/>
              <a:t>Should address one or more (typically) of the customer needs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Should be developed after a good representation and analysis of the problem!</a:t>
            </a:r>
          </a:p>
          <a:p>
            <a:r>
              <a:rPr lang="en-US" sz="2200" dirty="0"/>
              <a:t>Demonstrate how data engineering moves from</a:t>
            </a:r>
            <a:br>
              <a:rPr lang="en-US" sz="2200" dirty="0"/>
            </a:br>
            <a:r>
              <a:rPr lang="en-US" sz="2200" i="1" dirty="0">
                <a:solidFill>
                  <a:srgbClr val="FF0000"/>
                </a:solidFill>
              </a:rPr>
              <a:t>vague stakeholder expectations </a:t>
            </a:r>
            <a:r>
              <a:rPr lang="en-US" sz="2200" dirty="0"/>
              <a:t>("fast, accurate, reliable data")</a:t>
            </a:r>
            <a:br>
              <a:rPr lang="en-US" sz="2200" dirty="0"/>
            </a:br>
            <a:r>
              <a:rPr lang="en-US" sz="2200" dirty="0"/>
              <a:t>to </a:t>
            </a:r>
            <a:r>
              <a:rPr lang="en-US" sz="2200" b="1" dirty="0">
                <a:solidFill>
                  <a:srgbClr val="C00000"/>
                </a:solidFill>
              </a:rPr>
              <a:t>clear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testable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operational requirements tied</a:t>
            </a:r>
            <a:br>
              <a:rPr lang="en-US" sz="2200" b="1" dirty="0"/>
            </a:br>
            <a:r>
              <a:rPr lang="en-US" sz="2200" dirty="0"/>
              <a:t>to </a:t>
            </a:r>
            <a:r>
              <a:rPr lang="en-US" sz="2200" u="sng" dirty="0"/>
              <a:t>infrastructure</a:t>
            </a:r>
            <a:r>
              <a:rPr lang="en-US" sz="2200" dirty="0"/>
              <a:t>, </a:t>
            </a:r>
            <a:r>
              <a:rPr lang="en-US" sz="2200" u="sng" dirty="0"/>
              <a:t>product characteristics</a:t>
            </a:r>
            <a:r>
              <a:rPr lang="en-US" sz="2200" dirty="0"/>
              <a:t>, and </a:t>
            </a:r>
            <a:r>
              <a:rPr lang="en-US" sz="2200" u="sng" dirty="0"/>
              <a:t>process controls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4B1211"/>
                </a:solidFill>
                <a:highlight>
                  <a:srgbClr val="FFFF00"/>
                </a:highlight>
              </a:rPr>
              <a:t>Input / Process / Output (I/P/O)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8E815-3D8C-F227-0B47-D51B46F1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3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425BC-FDAE-6302-10D7-D722F9795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116F4-67CF-6C66-83E7-4ED92653B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Performance</a:t>
            </a:r>
          </a:p>
          <a:p>
            <a:pPr lvl="1"/>
            <a:r>
              <a:rPr lang="en-US" sz="1800" dirty="0"/>
              <a:t>What does "near real-time" mean?</a:t>
            </a:r>
          </a:p>
          <a:p>
            <a:pPr lvl="2"/>
            <a:r>
              <a:rPr lang="en-US" sz="1400" dirty="0"/>
              <a:t>&lt; 1 minute latency?</a:t>
            </a:r>
          </a:p>
          <a:p>
            <a:pPr lvl="2"/>
            <a:r>
              <a:rPr lang="en-US" sz="1400" dirty="0"/>
              <a:t>5 minutes?</a:t>
            </a:r>
          </a:p>
          <a:p>
            <a:pPr lvl="2"/>
            <a:r>
              <a:rPr lang="en-US" sz="1400" dirty="0"/>
              <a:t>Hourly refresh?</a:t>
            </a:r>
          </a:p>
          <a:p>
            <a:r>
              <a:rPr lang="en-US" sz="2200" b="1" dirty="0"/>
              <a:t>Quality</a:t>
            </a:r>
          </a:p>
          <a:p>
            <a:pPr lvl="1"/>
            <a:r>
              <a:rPr lang="en-US" sz="1800" dirty="0"/>
              <a:t>What constitutes "high-quality data"?</a:t>
            </a:r>
          </a:p>
          <a:p>
            <a:pPr lvl="2"/>
            <a:r>
              <a:rPr lang="en-US" sz="1400" dirty="0"/>
              <a:t>Completeness?</a:t>
            </a:r>
          </a:p>
          <a:p>
            <a:pPr lvl="2"/>
            <a:r>
              <a:rPr lang="en-US" sz="1400" dirty="0"/>
              <a:t>Accuracy?</a:t>
            </a:r>
          </a:p>
          <a:p>
            <a:pPr lvl="2"/>
            <a:r>
              <a:rPr lang="en-US" sz="1400" dirty="0"/>
              <a:t>Consistency across systems?</a:t>
            </a:r>
          </a:p>
          <a:p>
            <a:pPr lvl="2"/>
            <a:r>
              <a:rPr lang="en-US" sz="1400" dirty="0"/>
              <a:t>Schema stability?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FFC34-4CBB-BCDD-C9DB-831F025C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76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6A2C-45E6-5541-9ED5-85C25065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CFD1-419D-5FAD-BE9C-BAE312118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60625-ED40-A543-02E7-C7CBE4745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Usability</a:t>
            </a:r>
          </a:p>
          <a:p>
            <a:pPr lvl="1"/>
            <a:r>
              <a:rPr lang="en-US" sz="1800" dirty="0"/>
              <a:t>Can analysts easily access the data?</a:t>
            </a:r>
          </a:p>
          <a:p>
            <a:pPr lvl="1"/>
            <a:r>
              <a:rPr lang="en-US" sz="1800" dirty="0"/>
              <a:t>Is it queryable without specialized engineering support?</a:t>
            </a:r>
          </a:p>
          <a:p>
            <a:pPr lvl="1"/>
            <a:r>
              <a:rPr lang="en-US" sz="1800" dirty="0"/>
              <a:t>Are business definitions standardized?</a:t>
            </a:r>
          </a:p>
          <a:p>
            <a:r>
              <a:rPr lang="en-US" sz="2200" b="1" dirty="0"/>
              <a:t>Safety / Governance</a:t>
            </a:r>
          </a:p>
          <a:p>
            <a:pPr lvl="1"/>
            <a:r>
              <a:rPr lang="en-US" sz="1800" dirty="0"/>
              <a:t>Is sensitive data protected?</a:t>
            </a:r>
          </a:p>
          <a:p>
            <a:pPr lvl="1"/>
            <a:r>
              <a:rPr lang="en-US" sz="1800" dirty="0"/>
              <a:t>Are regulatory requirements met (PII handling, auditability)?</a:t>
            </a:r>
          </a:p>
          <a:p>
            <a:r>
              <a:rPr lang="en-US" sz="2200" b="1" dirty="0"/>
              <a:t>Cost</a:t>
            </a:r>
          </a:p>
          <a:p>
            <a:pPr lvl="1"/>
            <a:r>
              <a:rPr lang="en-US" sz="1800" dirty="0"/>
              <a:t>Comparable to existing cloud/data warehouse budgets</a:t>
            </a:r>
          </a:p>
          <a:p>
            <a:pPr lvl="1"/>
            <a:r>
              <a:rPr lang="en-US" sz="1800" dirty="0"/>
              <a:t>Competitive storage and compute utilization</a:t>
            </a:r>
          </a:p>
          <a:p>
            <a:pPr lvl="1"/>
            <a:r>
              <a:rPr lang="en-US" sz="1800" dirty="0"/>
              <a:t>Avoid unnecessary duplication of datasets</a:t>
            </a:r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7E0AD-8DE3-DA4D-8836-507D8A2F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80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 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200" b="1" dirty="0"/>
              <a:t>We generate a candidate set of </a:t>
            </a:r>
            <a:r>
              <a:rPr lang="en-US" sz="2200" b="1" u="sng" dirty="0"/>
              <a:t>customer needs</a:t>
            </a:r>
            <a:r>
              <a:rPr lang="en-US" sz="2200" b="1" dirty="0"/>
              <a:t>: </a:t>
            </a:r>
            <a:r>
              <a:rPr lang="en-US" sz="2200" dirty="0"/>
              <a:t>statements, which if addressed by the "</a:t>
            </a:r>
            <a:r>
              <a:rPr lang="en-US" sz="2200" i="1" dirty="0"/>
              <a:t>product</a:t>
            </a:r>
            <a:r>
              <a:rPr lang="en-US" sz="2200" dirty="0"/>
              <a:t>" would resolve the I/P/O</a:t>
            </a:r>
          </a:p>
          <a:p>
            <a:r>
              <a:rPr lang="en-US" sz="2200" dirty="0"/>
              <a:t>Interviews and investigation; leveraging Garvin's dimensions </a:t>
            </a:r>
          </a:p>
          <a:p>
            <a:r>
              <a:rPr lang="en-US" sz="2200" dirty="0"/>
              <a:t>Requirements are then developed from the needs; precise, clear, concise, testable, measurable</a:t>
            </a:r>
          </a:p>
          <a:p>
            <a:pPr lvl="1"/>
            <a:r>
              <a:rPr lang="en-US" sz="1800" i="1" dirty="0"/>
              <a:t>Data should be available within N minutes of source system update</a:t>
            </a:r>
          </a:p>
          <a:p>
            <a:pPr lvl="1"/>
            <a:r>
              <a:rPr lang="en-US" sz="1800" i="1" dirty="0"/>
              <a:t>Data should be at least 99% complete</a:t>
            </a:r>
          </a:p>
          <a:p>
            <a:pPr lvl="1"/>
            <a:r>
              <a:rPr lang="en-US" sz="1800" i="1" dirty="0"/>
              <a:t>Critical business metrics should be consistent across dashboards</a:t>
            </a:r>
          </a:p>
          <a:p>
            <a:pPr lvl="1"/>
            <a:r>
              <a:rPr lang="en-US" sz="1800" i="1" dirty="0"/>
              <a:t>Data pipelines should not fail silently</a:t>
            </a:r>
          </a:p>
          <a:p>
            <a:pPr lvl="1"/>
            <a:r>
              <a:rPr lang="en-US" sz="1800" i="1" dirty="0"/>
              <a:t>Users should not require engineering intervention to access curated datasets</a:t>
            </a:r>
          </a:p>
          <a:p>
            <a:pPr lvl="1"/>
            <a:r>
              <a:rPr lang="en-US" sz="1800" i="1" dirty="0"/>
              <a:t>Sensitive fields should not be exposed to unauthorized users</a:t>
            </a:r>
          </a:p>
          <a:p>
            <a:pPr lvl="1"/>
            <a:r>
              <a:rPr lang="en-US" sz="1800" i="1" dirty="0"/>
              <a:t>Data refresh schedules should be transparent and visible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5B994-F1FA-67D3-D945-FF644C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087272-1595-CD2E-89EE-65246D14B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available within N minutes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End-to-end pipeline latency ≤ 5 min (source commit to warehouse availability)</a:t>
            </a:r>
          </a:p>
          <a:p>
            <a:pPr lvl="2"/>
            <a:r>
              <a:rPr lang="en-US" sz="1600" dirty="0"/>
              <a:t>95th percentile latency ≤ 7 minutes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Streaming ingestion supports ≥ 10,000 events/sec</a:t>
            </a:r>
          </a:p>
          <a:p>
            <a:pPr lvl="2"/>
            <a:r>
              <a:rPr lang="en-US" sz="1600" dirty="0"/>
              <a:t>Data warehouse auto-scales to maintain query latency ≤ 3 seconds for standard BI workloads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Monitoring alerts triggered if latency exceeds SLA (Service Level Agreement) for &gt; 2 consecutive intervals</a:t>
            </a:r>
          </a:p>
          <a:p>
            <a:pPr lvl="2"/>
            <a:r>
              <a:rPr lang="en-US" sz="1600" dirty="0"/>
              <a:t>Incident response time ≤ 15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60750-CBD7-09F7-023A-804E24E2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59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33C9-EFB3-14E2-B98A-823A009E1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8761C43-37C6-B209-1EFA-4E9A5F474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accurate and complete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Record completeness ≥ 99.5% per batch</a:t>
            </a:r>
          </a:p>
          <a:p>
            <a:pPr lvl="2"/>
            <a:r>
              <a:rPr lang="en-US" sz="1600" dirty="0"/>
              <a:t>Referential integrity violations ≤ 0.1%</a:t>
            </a:r>
          </a:p>
          <a:p>
            <a:pPr lvl="2"/>
            <a:r>
              <a:rPr lang="en-US" sz="1600" dirty="0"/>
              <a:t>Schema validation enforced at ingestion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Automated data quality checks executed on every load</a:t>
            </a:r>
          </a:p>
          <a:p>
            <a:pPr lvl="2"/>
            <a:r>
              <a:rPr lang="en-US" sz="1600" dirty="0"/>
              <a:t>Failed quality checks block downstream publication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Daily reconciliation against source system totals</a:t>
            </a:r>
          </a:p>
          <a:p>
            <a:pPr lvl="2"/>
            <a:r>
              <a:rPr lang="en-US" sz="1600" dirty="0"/>
              <a:t>Root cause analysis completed within 1 business day for quality breaches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B2577-2B5C-D8DE-D716-6BCD9020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46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5E8-841A-9FB0-3498-E75058860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452AC1B-6CEE-3CB1-6148-98C7A1096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secure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Role-based access control enforced at dataset and column level</a:t>
            </a:r>
          </a:p>
          <a:p>
            <a:pPr lvl="2"/>
            <a:r>
              <a:rPr lang="en-US" sz="1600" dirty="0"/>
              <a:t>PII fields encrypted at rest and in transit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Access logs retained for ≥ 365 days</a:t>
            </a:r>
          </a:p>
          <a:p>
            <a:pPr lvl="2"/>
            <a:r>
              <a:rPr lang="en-US" sz="1600" dirty="0"/>
              <a:t>Audit events queryable within 24 hours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Quarterly access review</a:t>
            </a:r>
          </a:p>
          <a:p>
            <a:pPr lvl="2"/>
            <a:r>
              <a:rPr lang="en-US" sz="1600" dirty="0"/>
              <a:t>Automated removal of inactive accounts after 30 days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BBCF9-4E9C-D6EF-EFFF-8E0D57E8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236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42FB-5655-51FA-C168-0ECF3F065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AF8C9F-1B89-C6B6-C989-1AE3BDF3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platform should be cost-effective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Storage cost per TB ≤ defined cloud budget threshold</a:t>
            </a:r>
          </a:p>
          <a:p>
            <a:pPr lvl="2"/>
            <a:r>
              <a:rPr lang="en-US" sz="1600" dirty="0"/>
              <a:t>Compute utilization ≥ 70% during peak workload windows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Automatic suspension of idle clusters after 5 minutes</a:t>
            </a:r>
          </a:p>
          <a:p>
            <a:pPr lvl="2"/>
            <a:r>
              <a:rPr lang="en-US" sz="1600" dirty="0"/>
              <a:t>Lifecycle policies archive cold data after 180 days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Monthly cost variance report delivered to stakeholders</a:t>
            </a:r>
          </a:p>
          <a:p>
            <a:pPr lvl="2"/>
            <a:r>
              <a:rPr lang="en-US" sz="1600" dirty="0"/>
              <a:t>Optimization review conducted quarterly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E5BD-4C2A-E7BC-0A8A-47F5004A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44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C793C-0DBE-5ECC-05F2-5560A9A9D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Engineering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ACE39-EABA-7062-4E96-6C1A7CF09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353480" cy="4573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Recall "The Plan"</a:t>
            </a:r>
          </a:p>
          <a:p>
            <a:r>
              <a:rPr lang="en-US" sz="2200" dirty="0"/>
              <a:t>This is where you start refining the plan</a:t>
            </a:r>
          </a:p>
          <a:p>
            <a:r>
              <a:rPr lang="en-US" sz="2200" dirty="0"/>
              <a:t>What additional information is needed</a:t>
            </a:r>
          </a:p>
          <a:p>
            <a:r>
              <a:rPr lang="en-US" sz="2200" dirty="0"/>
              <a:t>What needs to be done</a:t>
            </a:r>
          </a:p>
          <a:p>
            <a:pPr lvl="1"/>
            <a:r>
              <a:rPr lang="en-US" sz="2000" dirty="0"/>
              <a:t>By whom</a:t>
            </a:r>
          </a:p>
          <a:p>
            <a:pPr lvl="1"/>
            <a:r>
              <a:rPr lang="en-US" sz="2000" dirty="0"/>
              <a:t>By when</a:t>
            </a:r>
          </a:p>
          <a:p>
            <a:r>
              <a:rPr lang="en-US" sz="2200" dirty="0"/>
              <a:t>What determines when the action is complete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B1EC3-A411-DE04-24B8-9EDFFC859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D6B9A-4901-8A28-15D6-86B1519B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130" y="1603022"/>
            <a:ext cx="3533220" cy="35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5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93F1A-4E75-2C55-0434-1247285F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384E-A3B8-EEB6-3142-4A9949348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F6567-F7C5-787A-E87E-4626D14F8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711700" cy="4573941"/>
          </a:xfrm>
        </p:spPr>
        <p:txBody>
          <a:bodyPr>
            <a:normAutofit/>
          </a:bodyPr>
          <a:lstStyle/>
          <a:p>
            <a:r>
              <a:rPr lang="en-US" sz="2200" dirty="0"/>
              <a:t>Projects are subject to </a:t>
            </a:r>
            <a:r>
              <a:rPr lang="en-US" sz="2200" b="1" dirty="0"/>
              <a:t>constraints</a:t>
            </a:r>
          </a:p>
          <a:p>
            <a:r>
              <a:rPr lang="en-US" sz="2200" dirty="0"/>
              <a:t>They can be</a:t>
            </a:r>
          </a:p>
          <a:p>
            <a:pPr lvl="1"/>
            <a:r>
              <a:rPr lang="en-US" sz="2200" dirty="0"/>
              <a:t>Time</a:t>
            </a:r>
          </a:p>
          <a:p>
            <a:pPr lvl="1"/>
            <a:r>
              <a:rPr lang="en-US" sz="2200" dirty="0"/>
              <a:t>Financial</a:t>
            </a:r>
          </a:p>
          <a:p>
            <a:pPr lvl="1"/>
            <a:r>
              <a:rPr lang="en-US" sz="2200" dirty="0"/>
              <a:t>Resources</a:t>
            </a:r>
            <a:br>
              <a:rPr lang="en-US" sz="2200" dirty="0"/>
            </a:br>
            <a:r>
              <a:rPr lang="en-US" sz="2200" dirty="0"/>
              <a:t>(personnel and/or facilities)</a:t>
            </a:r>
          </a:p>
          <a:p>
            <a:pPr lvl="1"/>
            <a:r>
              <a:rPr lang="en-US" sz="2200" dirty="0"/>
              <a:t>Safety</a:t>
            </a:r>
          </a:p>
          <a:p>
            <a:pPr lvl="1"/>
            <a:r>
              <a:rPr lang="en-US" sz="2200" dirty="0"/>
              <a:t>Other</a:t>
            </a:r>
          </a:p>
          <a:p>
            <a:pPr marL="0" indent="0">
              <a:buNone/>
            </a:pPr>
            <a:endParaRPr lang="en-US" sz="700" b="1" dirty="0"/>
          </a:p>
          <a:p>
            <a:pPr marL="0" indent="0">
              <a:buNone/>
            </a:pPr>
            <a:r>
              <a:rPr lang="en-US" sz="1800" b="1" dirty="0"/>
              <a:t>Note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FF0000"/>
                </a:solidFill>
              </a:rPr>
              <a:t>The semester should not be listed as a constraint for your project. Specific time constraints related to your sponsor might be identified, but the semester schedule creates </a:t>
            </a:r>
            <a:r>
              <a:rPr lang="en-US" sz="1800" b="1" dirty="0"/>
              <a:t>deadlines</a:t>
            </a:r>
            <a:r>
              <a:rPr lang="en-US" sz="1800" dirty="0">
                <a:solidFill>
                  <a:srgbClr val="FF0000"/>
                </a:solidFill>
              </a:rPr>
              <a:t>, not constraints.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D6038-6732-37CB-1F59-9C692AC9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9E565E-4EB5-19EF-E2C5-F995AE6CA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350" y="1414001"/>
            <a:ext cx="3175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27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3E824-C10E-7582-A473-F7FA9C74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Codes, Standards, and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E1E0-0DF9-6FE7-B53A-53152D8D8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6951"/>
            <a:ext cx="7886700" cy="4799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Codes</a:t>
            </a:r>
          </a:p>
          <a:p>
            <a:r>
              <a:rPr lang="en-US" sz="2200" dirty="0"/>
              <a:t>A code is a set of rules for performing some task,</a:t>
            </a:r>
            <a:br>
              <a:rPr lang="en-US" sz="2200" dirty="0"/>
            </a:br>
            <a:r>
              <a:rPr lang="en-US" sz="2200" dirty="0"/>
              <a:t>as in the local city building code or fire code.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Standards</a:t>
            </a:r>
          </a:p>
          <a:p>
            <a:r>
              <a:rPr lang="en-US" sz="2200" dirty="0"/>
              <a:t>A standard is less prescriptive and can be defined as a </a:t>
            </a:r>
            <a:r>
              <a:rPr lang="en-US" sz="2200" u="sng" dirty="0"/>
              <a:t>set of technical definitions and guidelines</a:t>
            </a:r>
            <a:r>
              <a:rPr lang="en-US" sz="2200" dirty="0"/>
              <a:t>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Specification</a:t>
            </a:r>
          </a:p>
          <a:p>
            <a:r>
              <a:rPr lang="en-US" sz="2200" dirty="0"/>
              <a:t>A specification describes </a:t>
            </a:r>
            <a:r>
              <a:rPr lang="en-US" sz="2200" u="sng" dirty="0"/>
              <a:t>how a system should work</a:t>
            </a:r>
            <a:r>
              <a:rPr lang="en-US" sz="2200" dirty="0"/>
              <a:t>, and is usually much more specific and detailed than a standard, but sometimes it is difficult to differentiate between documents that are called standards and those called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5B951-3823-2BE9-D630-97AAA8475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96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B6AC8-A5BC-C510-D452-09C7613D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DBEB-DE2E-5BD5-99F6-D826DFEC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FFAC00"/>
                </a:solidFill>
              </a:rPr>
              <a:t>Where do you find applicable codes/standards?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61962-6BA9-55BB-3F52-11FD86F5B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277"/>
            <a:ext cx="7886700" cy="4664686"/>
          </a:xfrm>
        </p:spPr>
        <p:txBody>
          <a:bodyPr>
            <a:normAutofit/>
          </a:bodyPr>
          <a:lstStyle/>
          <a:p>
            <a:r>
              <a:rPr lang="en-US" sz="2200" dirty="0"/>
              <a:t>Your </a:t>
            </a:r>
            <a:r>
              <a:rPr lang="en-US" sz="2200" b="1" dirty="0"/>
              <a:t>project sponsor </a:t>
            </a:r>
            <a:r>
              <a:rPr lang="en-US" sz="2200" dirty="0"/>
              <a:t>should know specific codes/standards applicable to their systems and processes</a:t>
            </a:r>
          </a:p>
          <a:p>
            <a:r>
              <a:rPr lang="en-US" sz="2200" dirty="0"/>
              <a:t>Your </a:t>
            </a:r>
            <a:r>
              <a:rPr lang="en-US" sz="2200" b="1" dirty="0"/>
              <a:t>faculty advisor </a:t>
            </a:r>
            <a:r>
              <a:rPr lang="en-US" sz="2200" dirty="0"/>
              <a:t>may be able to suggest codes that might apply</a:t>
            </a:r>
          </a:p>
          <a:p>
            <a:r>
              <a:rPr lang="en-US" sz="2200" b="1" dirty="0"/>
              <a:t>Engineering standards bodies </a:t>
            </a:r>
            <a:r>
              <a:rPr lang="en-US" sz="2200" dirty="0"/>
              <a:t>and organizations might have applicable codes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FA1D-1773-EF02-610C-180CC3449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BC9761-2216-AB03-9839-F1245351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844620"/>
            <a:ext cx="2743200" cy="2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825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57A35-6FD0-904E-AA9C-27AB1F8A8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ANSI, NIST, ASTM, ASME, ISO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EA7AC-A820-F5CF-1B0F-83FE335E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56268"/>
            <a:ext cx="7886700" cy="4720696"/>
          </a:xfrm>
        </p:spPr>
        <p:txBody>
          <a:bodyPr>
            <a:normAutofit/>
          </a:bodyPr>
          <a:lstStyle/>
          <a:p>
            <a:r>
              <a:rPr lang="en-US" sz="2200" dirty="0"/>
              <a:t>The </a:t>
            </a:r>
            <a:r>
              <a:rPr lang="en-US" sz="2200" b="1" dirty="0"/>
              <a:t>American National Standards Institute </a:t>
            </a:r>
            <a:r>
              <a:rPr lang="en-US" sz="2200" dirty="0"/>
              <a:t>(ANSI) is the coordinating organization for the voluntary standards system for the United States (</a:t>
            </a:r>
            <a:r>
              <a:rPr lang="en-US" sz="2200" dirty="0">
                <a:hlinkClick r:id="rId2"/>
              </a:rPr>
              <a:t>www.ansi.org</a:t>
            </a:r>
            <a:r>
              <a:rPr lang="en-US" sz="2200" dirty="0"/>
              <a:t>)</a:t>
            </a:r>
          </a:p>
          <a:p>
            <a:r>
              <a:rPr lang="en-US" sz="2200" dirty="0"/>
              <a:t>The standards responsibility of the U.S. government is carried out by the </a:t>
            </a:r>
            <a:r>
              <a:rPr lang="en-US" sz="2200" b="1" dirty="0"/>
              <a:t>National Institute for Standards and Technology </a:t>
            </a:r>
            <a:r>
              <a:rPr lang="en-US" sz="2200" dirty="0"/>
              <a:t>(NIST)</a:t>
            </a:r>
          </a:p>
          <a:p>
            <a:r>
              <a:rPr lang="en-US" sz="2200" b="1" dirty="0"/>
              <a:t>ASTM</a:t>
            </a:r>
            <a:r>
              <a:rPr lang="en-US" sz="2200" dirty="0"/>
              <a:t> International is the major organization that prepares standards in the field of materials and product systems</a:t>
            </a:r>
          </a:p>
          <a:p>
            <a:r>
              <a:rPr lang="en-US" sz="2200" dirty="0"/>
              <a:t>The </a:t>
            </a:r>
            <a:r>
              <a:rPr lang="en-US" sz="2200" b="1" dirty="0"/>
              <a:t>ASME</a:t>
            </a:r>
            <a:r>
              <a:rPr lang="en-US" sz="2200" dirty="0"/>
              <a:t> prepares the well-known Boiler and Pressure Vessel Code that is incorporated into the laws of most states</a:t>
            </a:r>
          </a:p>
          <a:p>
            <a:r>
              <a:rPr lang="en-US" sz="2200" b="1" dirty="0"/>
              <a:t>ISO</a:t>
            </a:r>
            <a:r>
              <a:rPr lang="en-US" sz="2200" dirty="0"/>
              <a:t> is the international organization for standardization (</a:t>
            </a:r>
            <a:r>
              <a:rPr lang="en-US" sz="2200" dirty="0">
                <a:hlinkClick r:id="rId3"/>
              </a:rPr>
              <a:t>www.iso.org</a:t>
            </a:r>
            <a:r>
              <a:rPr lang="en-US" sz="22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C9E1-339C-0756-C247-1A15EA7F0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980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6722-FBEB-4458-A82B-17EF8DCE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AC00"/>
                </a:solidFill>
              </a:rPr>
              <a:t>Resources for Requirements and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7446-843D-6BBB-E23A-EC661567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711"/>
            <a:ext cx="7886700" cy="466425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Resources are provided on Canvas to assist with requirements and actions: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MIT Requirements Definition Presentation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ISEN Requirements and Actions for Research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333B4-2200-C145-CDAB-535D3F57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652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System modeling is the </a:t>
            </a:r>
            <a:r>
              <a:rPr lang="en-US" sz="2200" b="1" dirty="0"/>
              <a:t>process of creating abstract representations </a:t>
            </a:r>
            <a:r>
              <a:rPr lang="en-US" sz="2200" dirty="0"/>
              <a:t>of real-world systems to understand, analyze, design, or improve them.</a:t>
            </a:r>
          </a:p>
          <a:p>
            <a:r>
              <a:rPr lang="en-US" sz="2200" dirty="0"/>
              <a:t>Instead of working directly with the full complexity of reality, we build </a:t>
            </a:r>
            <a:r>
              <a:rPr lang="en-US" sz="2200" b="1" dirty="0"/>
              <a:t>structured models </a:t>
            </a:r>
            <a:r>
              <a:rPr lang="en-US" sz="2200" dirty="0"/>
              <a:t>that capture the system's key components, relationships, inputs, outputs, and behaviors.</a:t>
            </a:r>
          </a:p>
          <a:p>
            <a:r>
              <a:rPr lang="en-US" sz="2200" dirty="0"/>
              <a:t>A system can be </a:t>
            </a:r>
            <a:r>
              <a:rPr lang="en-US" sz="2200" b="1" dirty="0"/>
              <a:t>physical</a:t>
            </a:r>
            <a:r>
              <a:rPr lang="en-US" sz="2200" dirty="0"/>
              <a:t> (e.g., a manufacturing plant), </a:t>
            </a:r>
            <a:r>
              <a:rPr lang="en-US" sz="2200" b="1" dirty="0"/>
              <a:t>informational</a:t>
            </a:r>
            <a:r>
              <a:rPr lang="en-US" sz="2200" dirty="0"/>
              <a:t> (e.g., a database pipeline), </a:t>
            </a:r>
            <a:r>
              <a:rPr lang="en-US" sz="2200" b="1" dirty="0"/>
              <a:t>organizational</a:t>
            </a:r>
            <a:r>
              <a:rPr lang="en-US" sz="2200" dirty="0"/>
              <a:t> (e.g., a supply chain), or </a:t>
            </a:r>
            <a:r>
              <a:rPr lang="en-US" sz="2200" b="1" dirty="0"/>
              <a:t>computational</a:t>
            </a:r>
            <a:r>
              <a:rPr lang="en-US" sz="2200" dirty="0"/>
              <a:t> (e.g., a distributed software architecture).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A0E12-506E-AEFD-B48D-6DB7C126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D8F286-676C-349E-51A9-3FD347683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8F6F3-5F8B-57B0-6D30-2AD284EA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At its core, system modeling is about </a:t>
            </a:r>
            <a:r>
              <a:rPr lang="en-US" sz="2200" b="1" dirty="0"/>
              <a:t>disciplined abstraction</a:t>
            </a:r>
            <a:r>
              <a:rPr lang="en-US" sz="2200" dirty="0"/>
              <a:t>: capturing </a:t>
            </a:r>
            <a:r>
              <a:rPr lang="en-US" sz="2200" u="sng" dirty="0"/>
              <a:t>what matters most </a:t>
            </a:r>
            <a:r>
              <a:rPr lang="en-US" sz="2200" dirty="0"/>
              <a:t>so we can reason rigorously about complex systems!</a:t>
            </a:r>
          </a:p>
          <a:p>
            <a:r>
              <a:rPr lang="en-US" sz="2200" dirty="0"/>
              <a:t>Common approaches include conceptual, mathematical, simulation, and data-driven models, each simplifying a system through </a:t>
            </a:r>
            <a:r>
              <a:rPr lang="en-US" sz="2200" b="1" dirty="0"/>
              <a:t>diagrams</a:t>
            </a:r>
            <a:r>
              <a:rPr lang="en-US" sz="2200" dirty="0"/>
              <a:t> (such as graphs or block diagrams), </a:t>
            </a:r>
            <a:r>
              <a:rPr lang="en-US" sz="2200" b="1" dirty="0"/>
              <a:t>mathematical equations </a:t>
            </a:r>
            <a:r>
              <a:rPr lang="en-US" sz="2200" dirty="0"/>
              <a:t>(such as differential equations), </a:t>
            </a:r>
            <a:r>
              <a:rPr lang="en-US" sz="2200" b="1" dirty="0"/>
              <a:t>simulations</a:t>
            </a:r>
            <a:r>
              <a:rPr lang="en-US" sz="2200" dirty="0"/>
              <a:t>, or </a:t>
            </a:r>
            <a:r>
              <a:rPr lang="en-US" sz="2200" b="1" dirty="0"/>
              <a:t>logical structures</a:t>
            </a:r>
            <a:r>
              <a:rPr lang="en-US" sz="2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A0EF0-8C23-32F3-734F-C05394D3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B4319-D3AC-C6B4-D58E-9A5D08E03E45}"/>
              </a:ext>
            </a:extLst>
          </p:cNvPr>
          <p:cNvSpPr txBox="1"/>
          <p:nvPr/>
        </p:nvSpPr>
        <p:spPr>
          <a:xfrm>
            <a:off x="1213965" y="4982645"/>
            <a:ext cx="6716069" cy="369332"/>
          </a:xfrm>
          <a:prstGeom prst="rect">
            <a:avLst/>
          </a:prstGeom>
          <a:solidFill>
            <a:srgbClr val="FFCDC7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Check examples: </a:t>
            </a:r>
            <a:r>
              <a:rPr lang="en-US" dirty="0">
                <a:hlinkClick r:id="rId2"/>
              </a:rPr>
              <a:t>https://en.wikipedia.org/wiki/Systems_modeling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93FD-C7B0-3F0B-5748-A4FC6087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8E7A1B-F266-3A23-FFD2-8474F49A6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 Modeling helps to: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22ED07-B6CB-AAA1-B861-5B9FCE6BD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Clarify how parts of a system interact</a:t>
            </a:r>
          </a:p>
          <a:p>
            <a:r>
              <a:rPr lang="en-US" sz="2200" dirty="0"/>
              <a:t>Predict behavior under different conditions</a:t>
            </a:r>
          </a:p>
          <a:p>
            <a:r>
              <a:rPr lang="en-US" sz="2200" dirty="0"/>
              <a:t>Identify bottlenecks or failure points</a:t>
            </a:r>
          </a:p>
          <a:p>
            <a:r>
              <a:rPr lang="en-US" sz="2200" dirty="0"/>
              <a:t>Compare alternative designs before implementation</a:t>
            </a:r>
          </a:p>
          <a:p>
            <a:r>
              <a:rPr lang="en-US" sz="2200" dirty="0"/>
              <a:t>Support optimization and decision-making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21651-3D3C-D7FF-A5EB-FDDF4767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356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CC0AE-E0FD-6762-5120-AF3EB361F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900AC-5790-CCAC-C77F-CB1B57160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14179"/>
            <a:ext cx="7772400" cy="522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499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0ED74-570D-D6CB-EE67-7C28F797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67575-05DD-1B78-E239-1ED626CF4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48" y="1451682"/>
            <a:ext cx="8247703" cy="395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46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4F21AD-CF7A-39E4-3074-4449A49BC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DEED9-E071-D10E-676D-7749628DC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2473"/>
            <a:ext cx="7772400" cy="38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80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B1C8-500B-ECC3-ECB1-F92B6F16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ABET Accreditation and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0186-4CD9-B125-754A-DE6FA38C4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512278"/>
            <a:ext cx="7999535" cy="4664686"/>
          </a:xfrm>
        </p:spPr>
        <p:txBody>
          <a:bodyPr>
            <a:normAutofit/>
          </a:bodyPr>
          <a:lstStyle/>
          <a:p>
            <a:r>
              <a:rPr lang="en-US" sz="2000" dirty="0"/>
              <a:t>ABET reviews the ISEN programs</a:t>
            </a:r>
          </a:p>
          <a:p>
            <a:r>
              <a:rPr lang="en-US" sz="2000" dirty="0"/>
              <a:t>Demonstration of meeting established criteria must be documented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3, Student Outcomes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describes the expectations for students in and graduating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5, Curriculum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requires a culminating major engineering design experience that: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Incorporates appropriate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engineering standards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and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multiple constraints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Is based on the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knowledge and skills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acquired in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earlier course work</a:t>
            </a:r>
          </a:p>
          <a:p>
            <a:r>
              <a:rPr lang="en-US" sz="2000" b="1" dirty="0"/>
              <a:t>DAEN 460 </a:t>
            </a:r>
            <a:r>
              <a:rPr lang="en-US" sz="2000" dirty="0"/>
              <a:t>is a primary course used for evaluation</a:t>
            </a:r>
          </a:p>
          <a:p>
            <a:r>
              <a:rPr lang="en-US" sz="2000" dirty="0"/>
              <a:t>ABET is an important component of the value of your degree!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C51B7-A69F-0366-73CF-061496E6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44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40EDB-4692-D9BE-C7E9-B8270C4CD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Documentation of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A6C57-C139-BBA2-935C-71BE7D4AD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6062"/>
            <a:ext cx="7886700" cy="4570901"/>
          </a:xfrm>
        </p:spPr>
        <p:txBody>
          <a:bodyPr>
            <a:normAutofit/>
          </a:bodyPr>
          <a:lstStyle/>
          <a:p>
            <a:r>
              <a:rPr lang="en-US" sz="2000" dirty="0"/>
              <a:t>As part of your final report deliverables, your team will be expected to complete a questionnaire about Student Outcomes</a:t>
            </a:r>
            <a:br>
              <a:rPr lang="en-US" sz="2000" dirty="0"/>
            </a:br>
            <a:r>
              <a:rPr lang="en-US" sz="2000" b="1" i="1" dirty="0">
                <a:solidFill>
                  <a:srgbClr val="FF0000"/>
                </a:solidFill>
              </a:rPr>
              <a:t>SLIDE 3 in this presentation!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/>
              <a:t>You will reference and link to sections of the report that meet the expected outcomes</a:t>
            </a:r>
          </a:p>
          <a:p>
            <a:r>
              <a:rPr lang="en-US" sz="2000" dirty="0"/>
              <a:t>All outcomes need to be addressed</a:t>
            </a:r>
            <a:br>
              <a:rPr lang="en-US" sz="2000" dirty="0"/>
            </a:br>
            <a:r>
              <a:rPr lang="en-US" sz="1800" dirty="0"/>
              <a:t>(</a:t>
            </a:r>
            <a:r>
              <a:rPr lang="en-US" sz="1800" i="1" dirty="0"/>
              <a:t>although some specific questions on the form may not be applicable</a:t>
            </a:r>
            <a:r>
              <a:rPr lang="en-US" sz="1800" dirty="0"/>
              <a:t>)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C319D-9732-5394-F6E3-1F40D700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624ADF-24D8-CE4B-BF91-EC6DA2A36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1102</TotalTime>
  <Words>1922</Words>
  <Application>Microsoft Macintosh PowerPoint</Application>
  <PresentationFormat>On-screen Show (4:3)</PresentationFormat>
  <Paragraphs>244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Wingdings</vt:lpstr>
      <vt:lpstr>Office Theme</vt:lpstr>
      <vt:lpstr>Phase 2 Define</vt:lpstr>
      <vt:lpstr>PowerPoint Presentation</vt:lpstr>
      <vt:lpstr>PowerPoint Presentation</vt:lpstr>
      <vt:lpstr>Course Learning Outcomes (read the syllabus!) Ability to:</vt:lpstr>
      <vt:lpstr>Today’s Agenda</vt:lpstr>
      <vt:lpstr>Virtual Project Showcase Registration</vt:lpstr>
      <vt:lpstr>Communication Activity</vt:lpstr>
      <vt:lpstr>PowerPoint Presentation</vt:lpstr>
      <vt:lpstr>Customer Needs (Voice of the Customer)</vt:lpstr>
      <vt:lpstr>Customer Needs</vt:lpstr>
      <vt:lpstr>Requirements (Voice of the Engineer)</vt:lpstr>
      <vt:lpstr>Requirements Example</vt:lpstr>
      <vt:lpstr>Requirements Example Cont.</vt:lpstr>
      <vt:lpstr>Requirements Example Cont. ...</vt:lpstr>
      <vt:lpstr>PowerPoint Presentation</vt:lpstr>
      <vt:lpstr>PowerPoint Presentation</vt:lpstr>
      <vt:lpstr>PowerPoint Presentation</vt:lpstr>
      <vt:lpstr>PowerPoint Presentation</vt:lpstr>
      <vt:lpstr>Engineering Actions</vt:lpstr>
      <vt:lpstr>Constraints</vt:lpstr>
      <vt:lpstr>Codes, Standards, and Specifications</vt:lpstr>
      <vt:lpstr>Where do you find applicable codes/standards?</vt:lpstr>
      <vt:lpstr>ANSI, NIST, ASTM, ASME, ISO</vt:lpstr>
      <vt:lpstr>Resources for Requirements and Actions</vt:lpstr>
      <vt:lpstr>Systems Modeling</vt:lpstr>
      <vt:lpstr>Systems Modeling</vt:lpstr>
      <vt:lpstr>System Modeling helps to:</vt:lpstr>
      <vt:lpstr>PowerPoint Presentation</vt:lpstr>
      <vt:lpstr>PowerPoint Presentation</vt:lpstr>
      <vt:lpstr>PowerPoint Presentation</vt:lpstr>
      <vt:lpstr>ABET Accreditation and Student Outcomes</vt:lpstr>
      <vt:lpstr>Documentation of Student Outcomes</vt:lpstr>
      <vt:lpstr>Phase 2 Guidelines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183</cp:revision>
  <dcterms:created xsi:type="dcterms:W3CDTF">2026-01-26T19:08:04Z</dcterms:created>
  <dcterms:modified xsi:type="dcterms:W3CDTF">2026-02-16T04:12:37Z</dcterms:modified>
  <cp:category/>
</cp:coreProperties>
</file>