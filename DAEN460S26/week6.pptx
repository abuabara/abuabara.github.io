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9"/>
  </p:notesMasterIdLst>
  <p:sldIdLst>
    <p:sldId id="256" r:id="rId2"/>
    <p:sldId id="326" r:id="rId3"/>
    <p:sldId id="292" r:id="rId4"/>
    <p:sldId id="293" r:id="rId5"/>
    <p:sldId id="329" r:id="rId6"/>
    <p:sldId id="328" r:id="rId7"/>
    <p:sldId id="258" r:id="rId8"/>
    <p:sldId id="294" r:id="rId9"/>
    <p:sldId id="299" r:id="rId10"/>
    <p:sldId id="300" r:id="rId11"/>
    <p:sldId id="295" r:id="rId12"/>
    <p:sldId id="296" r:id="rId13"/>
    <p:sldId id="302" r:id="rId14"/>
    <p:sldId id="303" r:id="rId15"/>
    <p:sldId id="304" r:id="rId16"/>
    <p:sldId id="306" r:id="rId17"/>
    <p:sldId id="305" r:id="rId18"/>
    <p:sldId id="307" r:id="rId19"/>
    <p:sldId id="308" r:id="rId20"/>
    <p:sldId id="309" r:id="rId21"/>
    <p:sldId id="298" r:id="rId22"/>
    <p:sldId id="316" r:id="rId23"/>
    <p:sldId id="313" r:id="rId24"/>
    <p:sldId id="314" r:id="rId25"/>
    <p:sldId id="315" r:id="rId26"/>
    <p:sldId id="310" r:id="rId27"/>
    <p:sldId id="320" r:id="rId28"/>
    <p:sldId id="322" r:id="rId29"/>
    <p:sldId id="321" r:id="rId30"/>
    <p:sldId id="324" r:id="rId31"/>
    <p:sldId id="323" r:id="rId32"/>
    <p:sldId id="325" r:id="rId33"/>
    <p:sldId id="330" r:id="rId34"/>
    <p:sldId id="311" r:id="rId35"/>
    <p:sldId id="312" r:id="rId36"/>
    <p:sldId id="319" r:id="rId37"/>
    <p:sldId id="32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3E4"/>
    <a:srgbClr val="4B1211"/>
    <a:srgbClr val="FFAC00"/>
    <a:srgbClr val="FFCDC7"/>
    <a:srgbClr val="F9ECD3"/>
    <a:srgbClr val="FFD8AC"/>
    <a:srgbClr val="F2F2F2"/>
    <a:srgbClr val="FFE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08"/>
    <p:restoredTop sz="96018"/>
  </p:normalViewPr>
  <p:slideViewPr>
    <p:cSldViewPr snapToGrid="0">
      <p:cViewPr varScale="1">
        <p:scale>
          <a:sx n="113" d="100"/>
          <a:sy n="113" d="100"/>
        </p:scale>
        <p:origin x="9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FA349-295A-9648-AC81-268E9C74AF3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13196-D6CC-4148-993F-EDD11FE55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3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13196-D6CC-4148-993F-EDD11FE55E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15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70913-1F13-4744-B94A-DD1167A56E7D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5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163F-7EC9-5B47-A192-CB50DE612FED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4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2BC-3CB7-1146-A19E-4D5E63F3B742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1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1693-1844-8848-86CC-F923317986AD}" type="datetime1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5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DF2-3CCE-3449-B48D-F4595C3D57FE}" type="datetime1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6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FDB3-FCD2-A24F-8241-8DA72B16D6B1}" type="datetime1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9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C91C-CE34-DA4E-B4C2-6B29BDE88023}" type="datetime1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4E1-3786-E644-95CD-0EC484282321}" type="datetime1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0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D75EC-C44D-6048-B3A9-C5F04F3202FD}" type="datetime1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7D1-F120-9444-A8E9-CC8E63B024C0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0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6640-3593-E045-822D-D104552937CC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6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CE539-832A-BA41-9408-4A63384D7065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tamueps.secure-platform.com/student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eattledataguy.substack.com/p/7-lessons-i-learned-the-hard-wa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so.org/" TargetMode="External"/><Relationship Id="rId2" Type="http://schemas.openxmlformats.org/officeDocument/2006/relationships/hyperlink" Target="http://www.ansi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ystems_modeling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buabara.github.io/DAEN459F25/Week5:Week6.pdf" TargetMode="External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hyperlink" Target="https://app.monosketch.io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onosketch.io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jayRodrigues18/the-hidden-soft-skills-of-a-data-engineer-communication-debugging-documentation-and-more-25210d64e265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3C3F-1404-17C0-C624-2093CA988B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Phase 2 Define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3F7C0-3B00-9922-4283-570E4A6CA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DAEN 460 Capstone Senior Design</a:t>
            </a:r>
          </a:p>
          <a:p>
            <a:r>
              <a:rPr lang="en-US" sz="1800" dirty="0">
                <a:solidFill>
                  <a:srgbClr val="4B1211"/>
                </a:solidFill>
              </a:rPr>
              <a:t>Alexander Abuabara</a:t>
            </a:r>
          </a:p>
          <a:p>
            <a:r>
              <a:rPr lang="en-US" sz="1800" dirty="0">
                <a:solidFill>
                  <a:srgbClr val="4B1211"/>
                </a:solidFill>
              </a:rPr>
              <a:t>Spring 2026</a:t>
            </a:r>
          </a:p>
        </p:txBody>
      </p:sp>
      <p:pic>
        <p:nvPicPr>
          <p:cNvPr id="7" name="Picture 6" descr="A black background with red letters&#10;&#10;AI-generated content may be incorrect.">
            <a:extLst>
              <a:ext uri="{FF2B5EF4-FFF2-40B4-BE49-F238E27FC236}">
                <a16:creationId xmlns:a16="http://schemas.microsoft.com/office/drawing/2014/main" id="{7B844F80-89B7-0A8B-956D-1507C8E5B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5257800"/>
            <a:ext cx="4000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3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51359-476B-3BFA-469F-650B1C5E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DFFDD-D222-079A-DD9B-040B835E1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9" t="9887" r="2909" b="6675"/>
          <a:stretch>
            <a:fillRect/>
          </a:stretch>
        </p:blipFill>
        <p:spPr>
          <a:xfrm>
            <a:off x="809896" y="1554198"/>
            <a:ext cx="7524208" cy="374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8B6E-329F-38D2-90F0-602E0D884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60825"/>
            <a:ext cx="8135340" cy="3116138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Critique </a:t>
            </a:r>
            <a:r>
              <a:rPr lang="en-US" sz="2200" dirty="0"/>
              <a:t>your own project against </a:t>
            </a:r>
            <a:r>
              <a:rPr lang="en-US" sz="2200" b="1" dirty="0"/>
              <a:t>learning outcomes</a:t>
            </a:r>
            <a:br>
              <a:rPr lang="en-US" sz="2200" b="1" dirty="0"/>
            </a:br>
            <a:r>
              <a:rPr lang="en-US" sz="2200" dirty="0"/>
              <a:t>rather than </a:t>
            </a:r>
            <a:r>
              <a:rPr lang="en-US" sz="2200" u="sng" dirty="0"/>
              <a:t>technical checklists only</a:t>
            </a:r>
            <a:r>
              <a:rPr lang="en-US" sz="2200" dirty="0"/>
              <a:t>!</a:t>
            </a:r>
          </a:p>
          <a:p>
            <a:r>
              <a:rPr lang="en-US" sz="2200" dirty="0"/>
              <a:t>You are </a:t>
            </a:r>
            <a:r>
              <a:rPr lang="en-US" sz="2200" dirty="0">
                <a:solidFill>
                  <a:srgbClr val="FF0000"/>
                </a:solidFill>
              </a:rPr>
              <a:t>not</a:t>
            </a:r>
            <a:r>
              <a:rPr lang="en-US" sz="2200" dirty="0"/>
              <a:t> being graded on </a:t>
            </a:r>
            <a:r>
              <a:rPr lang="en-US" sz="2200" dirty="0">
                <a:solidFill>
                  <a:srgbClr val="FF0000"/>
                </a:solidFill>
              </a:rPr>
              <a:t>reproducing</a:t>
            </a:r>
            <a:r>
              <a:rPr lang="en-US" sz="2200" dirty="0"/>
              <a:t> a solution but</a:t>
            </a:r>
            <a:br>
              <a:rPr lang="en-US" sz="2200" dirty="0"/>
            </a:br>
            <a:r>
              <a:rPr lang="en-US" sz="2200" dirty="0"/>
              <a:t>on the </a:t>
            </a:r>
            <a:r>
              <a:rPr lang="en-US" sz="2200" b="1" dirty="0"/>
              <a:t>quality of your thinking and decisions</a:t>
            </a:r>
            <a:r>
              <a:rPr lang="en-US" sz="2200" dirty="0"/>
              <a:t>!</a:t>
            </a:r>
          </a:p>
          <a:p>
            <a:r>
              <a:rPr lang="en-US" sz="2200" dirty="0"/>
              <a:t>Peers </a:t>
            </a:r>
            <a:r>
              <a:rPr lang="en-US" sz="2200" dirty="0">
                <a:solidFill>
                  <a:srgbClr val="FF0000"/>
                </a:solidFill>
              </a:rPr>
              <a:t>are not parallel workers</a:t>
            </a:r>
            <a:r>
              <a:rPr lang="en-US" sz="2200" dirty="0"/>
              <a:t>, but as part of a </a:t>
            </a:r>
            <a:r>
              <a:rPr lang="en-US" sz="2200" b="1" dirty="0"/>
              <a:t>shared system</a:t>
            </a:r>
            <a:r>
              <a:rPr lang="en-US" sz="2200" dirty="0"/>
              <a:t>. Shift the culture from individual performance to collective responsibility and make </a:t>
            </a:r>
            <a:r>
              <a:rPr lang="en-US" sz="2200" b="1" dirty="0"/>
              <a:t>collaboration</a:t>
            </a:r>
            <a:r>
              <a:rPr lang="en-US" sz="2200" dirty="0"/>
              <a:t> (not cooperation only)!</a:t>
            </a:r>
          </a:p>
          <a:p>
            <a:r>
              <a:rPr lang="en-US" sz="2200" b="1" dirty="0"/>
              <a:t>Metacognition</a:t>
            </a:r>
            <a:r>
              <a:rPr lang="en-US" sz="2200" dirty="0"/>
              <a:t> ...</a:t>
            </a:r>
            <a:br>
              <a:rPr lang="en-US" sz="2200" dirty="0"/>
            </a:br>
            <a:r>
              <a:rPr lang="en-US" sz="2200" dirty="0"/>
              <a:t>why I'm thinking what I'm thinking </a:t>
            </a:r>
            <a:r>
              <a:rPr lang="en-US" sz="2200" dirty="0">
                <a:sym typeface="Wingdings" pitchFamily="2" charset="2"/>
              </a:rPr>
              <a:t> m</a:t>
            </a:r>
            <a:r>
              <a:rPr lang="en-US" sz="2200" dirty="0"/>
              <a:t>ake the invisible visible!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F7177-E4F2-112D-C5DE-580CC5F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D8DED4-5A3F-05B2-A499-861BE7FAD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736" y="185738"/>
            <a:ext cx="4046339" cy="26956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E82AC3-D5D5-4736-8CEB-7B90409142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15041" r="12853" b="9757"/>
          <a:stretch>
            <a:fillRect/>
          </a:stretch>
        </p:blipFill>
        <p:spPr>
          <a:xfrm>
            <a:off x="949925" y="497266"/>
            <a:ext cx="2286000" cy="2384171"/>
          </a:xfrm>
          <a:prstGeom prst="rect">
            <a:avLst/>
          </a:prstGeom>
        </p:spPr>
      </p:pic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6E3F189F-36D1-F351-7AA3-DE42CB61AC3E}"/>
              </a:ext>
            </a:extLst>
          </p:cNvPr>
          <p:cNvCxnSpPr>
            <a:cxnSpLocks/>
            <a:stCxn id="2" idx="1"/>
            <a:endCxn id="3" idx="1"/>
          </p:cNvCxnSpPr>
          <p:nvPr/>
        </p:nvCxnSpPr>
        <p:spPr>
          <a:xfrm rot="10800000" flipV="1">
            <a:off x="628651" y="1689352"/>
            <a:ext cx="321275" cy="2929542"/>
          </a:xfrm>
          <a:prstGeom prst="curvedConnector3">
            <a:avLst>
              <a:gd name="adj1" fmla="val 22690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6C81B78D-3E90-7BDE-120D-CC2D8BF8248B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3235925" y="1533588"/>
            <a:ext cx="911811" cy="155764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61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040D-CC22-DED9-4D13-1B28E25B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Learning Outcomes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read the syllabus!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br>
              <a:rPr lang="en-US" sz="3200" dirty="0"/>
            </a:br>
            <a:r>
              <a:rPr lang="en-US" b="1" dirty="0"/>
              <a:t>Ability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16252-D7F4-38A7-484F-5F2C30598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5030786"/>
          </a:xfrm>
        </p:spPr>
        <p:txBody>
          <a:bodyPr>
            <a:normAutofit fontScale="62500" lnSpcReduction="20000"/>
          </a:bodyPr>
          <a:lstStyle/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Identify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b="1" dirty="0">
                <a:highlight>
                  <a:srgbClr val="FFFF00"/>
                </a:highlight>
              </a:rPr>
              <a:t>formulate</a:t>
            </a:r>
            <a:r>
              <a:rPr lang="en-US" dirty="0">
                <a:highlight>
                  <a:srgbClr val="FFFF00"/>
                </a:highlight>
              </a:rPr>
              <a:t>, and </a:t>
            </a:r>
            <a:r>
              <a:rPr lang="en-US" b="1" dirty="0">
                <a:highlight>
                  <a:srgbClr val="FFFF00"/>
                </a:highlight>
              </a:rPr>
              <a:t>solve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u="sng" dirty="0"/>
              <a:t>complex engineering problems</a:t>
            </a:r>
            <a:br>
              <a:rPr lang="en-US" u="sng" dirty="0"/>
            </a:br>
            <a:r>
              <a:rPr lang="en-US" dirty="0"/>
              <a:t>by applying principles of </a:t>
            </a:r>
            <a:r>
              <a:rPr lang="en-US" u="sng" dirty="0"/>
              <a:t>engineering</a:t>
            </a:r>
            <a:r>
              <a:rPr lang="en-US" dirty="0"/>
              <a:t>, </a:t>
            </a:r>
            <a:r>
              <a:rPr lang="en-US" u="sng" dirty="0"/>
              <a:t>science</a:t>
            </a:r>
            <a:r>
              <a:rPr lang="en-US" dirty="0"/>
              <a:t>, and </a:t>
            </a:r>
            <a:r>
              <a:rPr lang="en-US" u="sng" dirty="0"/>
              <a:t>mathematics</a:t>
            </a:r>
            <a:r>
              <a:rPr lang="en-US" dirty="0"/>
              <a:t>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Apply engineering design </a:t>
            </a:r>
            <a:r>
              <a:rPr lang="en-US" dirty="0"/>
              <a:t>to produce solutions that meet specified needs with consideration of public health, safety, and welfare, as well as global, cultural, social, environmental, and economic factors.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Communicate effectively </a:t>
            </a:r>
            <a:r>
              <a:rPr lang="en-US" dirty="0"/>
              <a:t>with a range of audiences.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Recognize ethical and professional responsibilities </a:t>
            </a:r>
            <a:r>
              <a:rPr lang="en-US" dirty="0"/>
              <a:t>in engineering situations and make informed judgments, which must consider </a:t>
            </a:r>
            <a:br>
              <a:rPr lang="en-US" dirty="0"/>
            </a:br>
            <a:r>
              <a:rPr lang="en-US" dirty="0"/>
              <a:t>the impact of engineering solutions in global, economic, </a:t>
            </a:r>
            <a:br>
              <a:rPr lang="en-US" dirty="0"/>
            </a:br>
            <a:r>
              <a:rPr lang="en-US" dirty="0"/>
              <a:t>environmental, and societal contexts.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Function </a:t>
            </a:r>
            <a:r>
              <a:rPr lang="en-US" b="1" dirty="0">
                <a:highlight>
                  <a:srgbClr val="FFFF00"/>
                </a:highlight>
              </a:rPr>
              <a:t>effectively on a team </a:t>
            </a:r>
            <a:r>
              <a:rPr lang="en-US" dirty="0"/>
              <a:t>whose members together provide leadership, create a collaborative and inclusive environment, </a:t>
            </a:r>
            <a:br>
              <a:rPr lang="en-US" dirty="0"/>
            </a:br>
            <a:r>
              <a:rPr lang="en-US" dirty="0"/>
              <a:t>establish goals, plan tasks and meet objectives.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Develop and conduct appropriate </a:t>
            </a:r>
            <a:r>
              <a:rPr lang="en-US" b="1" dirty="0">
                <a:highlight>
                  <a:srgbClr val="FFFF00"/>
                </a:highlight>
              </a:rPr>
              <a:t>experimentation, analyze and interpret data </a:t>
            </a:r>
            <a:r>
              <a:rPr lang="en-US" dirty="0"/>
              <a:t>and use engineering judgment to </a:t>
            </a:r>
            <a:r>
              <a:rPr lang="en-US" b="1" dirty="0"/>
              <a:t>draw conclusions</a:t>
            </a:r>
            <a:r>
              <a:rPr lang="en-US" dirty="0"/>
              <a:t>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Acquire and apply new knowledge as needed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>
                <a:highlight>
                  <a:srgbClr val="FFFF00"/>
                </a:highlight>
              </a:rPr>
              <a:t>appropriate learning strategies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20B6D-48EF-13E1-C2C5-83D4C2CB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7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BA1DB-78ED-EE0A-64E0-8AABC0EF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16EC2D-8B69-30D1-6125-62E619D71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666" y="2836563"/>
            <a:ext cx="2116667" cy="118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25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C4B09-1425-1B9F-FF9E-998CB7BF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503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Shift From Engagement to Ownership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18AD1-2215-7B19-1C8E-7D0E10CD5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6464"/>
            <a:ext cx="8180070" cy="47504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/>
              <a:t>Unmotivated students often feel </a:t>
            </a:r>
            <a:r>
              <a:rPr lang="en-US" sz="1800" i="1" dirty="0"/>
              <a:t>done to</a:t>
            </a:r>
            <a:r>
              <a:rPr lang="en-US" sz="1800" dirty="0"/>
              <a:t>, not </a:t>
            </a:r>
            <a:r>
              <a:rPr lang="en-US" sz="1800" i="1" dirty="0"/>
              <a:t>in control</a:t>
            </a:r>
          </a:p>
          <a:p>
            <a:pPr marL="0" indent="0">
              <a:buNone/>
            </a:pPr>
            <a:endParaRPr lang="en-US" sz="1800" i="1" dirty="0"/>
          </a:p>
          <a:p>
            <a:pPr marL="231775" indent="-231775">
              <a:buFont typeface="+mj-lt"/>
              <a:buAutoNum type="arabicPeriod"/>
            </a:pPr>
            <a:r>
              <a:rPr lang="en-US" sz="1800" dirty="0"/>
              <a:t>Make Progress Visible </a:t>
            </a:r>
            <a:r>
              <a:rPr lang="en-US" sz="1200" dirty="0"/>
              <a:t>(small steps)</a:t>
            </a:r>
          </a:p>
          <a:p>
            <a:pPr marL="231775" indent="-231775">
              <a:buFont typeface="+mj-lt"/>
              <a:buAutoNum type="arabicPeriod"/>
            </a:pPr>
            <a:r>
              <a:rPr lang="en-US" sz="1800" dirty="0"/>
              <a:t>Real Stakes </a:t>
            </a:r>
            <a:r>
              <a:rPr lang="en-US" sz="1200" dirty="0"/>
              <a:t>(welcome to the real-world! bad models, biased algorithms, broken pipelines)</a:t>
            </a:r>
            <a:endParaRPr lang="en-US" sz="1800" dirty="0"/>
          </a:p>
          <a:p>
            <a:pPr marL="231775" indent="-231775">
              <a:buFont typeface="+mj-lt"/>
              <a:buAutoNum type="arabicPeriod"/>
            </a:pPr>
            <a:r>
              <a:rPr lang="en-US" sz="1800" dirty="0"/>
              <a:t>Reduce Cognitive Overload </a:t>
            </a:r>
            <a:r>
              <a:rPr lang="en-US" sz="1200" dirty="0"/>
              <a:t>(break complex tasks into structured checkpoints)</a:t>
            </a:r>
            <a:endParaRPr lang="en-US" sz="1800" dirty="0"/>
          </a:p>
          <a:p>
            <a:pPr marL="231775" indent="-231775">
              <a:buFont typeface="+mj-lt"/>
              <a:buAutoNum type="arabicPeriod"/>
            </a:pPr>
            <a:r>
              <a:rPr lang="en-US" sz="1800" dirty="0"/>
              <a:t>Normalize Struggle Publicly </a:t>
            </a:r>
            <a:r>
              <a:rPr lang="en-US" sz="1200" dirty="0"/>
              <a:t>(show common mistakes)</a:t>
            </a:r>
          </a:p>
          <a:p>
            <a:pPr marL="231775" indent="-231775">
              <a:buFont typeface="+mj-lt"/>
              <a:buAutoNum type="arabicPeriod"/>
            </a:pPr>
            <a:r>
              <a:rPr lang="en-US" sz="1800" dirty="0"/>
              <a:t>Increase Social Accountability </a:t>
            </a:r>
            <a:r>
              <a:rPr lang="en-US" sz="1200" dirty="0"/>
              <a:t>(you are more likely to prepare when others depend on you!)</a:t>
            </a:r>
            <a:endParaRPr lang="en-US" sz="1800" dirty="0"/>
          </a:p>
          <a:p>
            <a:pPr marL="231775" indent="-231775">
              <a:buFont typeface="+mj-lt"/>
              <a:buAutoNum type="arabicPeriod"/>
            </a:pPr>
            <a:r>
              <a:rPr lang="en-US" sz="1800" dirty="0"/>
              <a:t>Introduce Constructive Friction </a:t>
            </a:r>
            <a:r>
              <a:rPr lang="en-US" sz="1200" dirty="0"/>
              <a:t>(low challenge?)</a:t>
            </a:r>
            <a:endParaRPr lang="en-US" sz="1800" dirty="0"/>
          </a:p>
          <a:p>
            <a:pPr marL="231775" indent="-231775">
              <a:buFont typeface="+mj-lt"/>
              <a:buAutoNum type="arabicPeriod"/>
            </a:pPr>
            <a:r>
              <a:rPr lang="en-US" sz="1800" b="1" dirty="0">
                <a:solidFill>
                  <a:srgbClr val="C00000"/>
                </a:solidFill>
              </a:rPr>
              <a:t>Use Structured Reflection </a:t>
            </a:r>
            <a:r>
              <a:rPr lang="en-US" sz="1200" dirty="0"/>
              <a:t>(what is still unclear? what felt right? what strategy helped you learn?)</a:t>
            </a:r>
          </a:p>
          <a:p>
            <a:pPr marL="231775" indent="-231775">
              <a:buFont typeface="+mj-lt"/>
              <a:buAutoNum type="arabicPeriod"/>
            </a:pPr>
            <a:r>
              <a:rPr lang="en-US" sz="1800" dirty="0"/>
              <a:t>Address the Hidden Variables </a:t>
            </a:r>
            <a:r>
              <a:rPr lang="en-US" sz="1200" dirty="0"/>
              <a:t>(office hours, brief 1:1 check-ins)</a:t>
            </a:r>
          </a:p>
          <a:p>
            <a:pPr marL="231775" indent="-231775">
              <a:buFont typeface="+mj-lt"/>
              <a:buAutoNum type="arabicPeriod"/>
            </a:pPr>
            <a:r>
              <a:rPr lang="en-US" sz="1800" dirty="0"/>
              <a:t>Remember Our Standards and Support </a:t>
            </a:r>
            <a:r>
              <a:rPr lang="en-US" sz="1200" dirty="0"/>
              <a:t>(high expectations/standards, we want Y'ALL to succeed!)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C99FF-3B9D-3FD1-FE06-2F912D68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1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085869-76FF-93CF-88FC-D39524560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2835274"/>
            <a:ext cx="3657600" cy="365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BD8D0B-3289-BF73-1A3E-D4A1F445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6D565-3CFE-D911-73C3-E4E8C8F28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Virtual Project Showcase</a:t>
            </a:r>
          </a:p>
          <a:p>
            <a:r>
              <a:rPr lang="en-US" b="1" dirty="0">
                <a:solidFill>
                  <a:srgbClr val="0070C0"/>
                </a:solidFill>
              </a:rPr>
              <a:t>Communication Activity</a:t>
            </a:r>
          </a:p>
          <a:p>
            <a:r>
              <a:rPr lang="en-US" b="1" dirty="0">
                <a:solidFill>
                  <a:srgbClr val="00B0F0"/>
                </a:solidFill>
              </a:rPr>
              <a:t>Customer Needs/Technical Objectives </a:t>
            </a:r>
            <a:r>
              <a:rPr lang="en-US" dirty="0">
                <a:solidFill>
                  <a:srgbClr val="00B0F0"/>
                </a:solidFill>
              </a:rPr>
              <a:t>(revisions/updates)</a:t>
            </a:r>
          </a:p>
          <a:p>
            <a:r>
              <a:rPr lang="en-US" b="1" dirty="0">
                <a:solidFill>
                  <a:srgbClr val="FFC000"/>
                </a:solidFill>
              </a:rPr>
              <a:t>Requirements/Engineering Actions</a:t>
            </a:r>
          </a:p>
          <a:p>
            <a:r>
              <a:rPr lang="en-US" b="1" dirty="0">
                <a:solidFill>
                  <a:srgbClr val="C00000"/>
                </a:solidFill>
              </a:rPr>
              <a:t>Systems Modeling</a:t>
            </a:r>
          </a:p>
          <a:p>
            <a:r>
              <a:rPr lang="en-US" b="1" dirty="0">
                <a:solidFill>
                  <a:srgbClr val="FF0000"/>
                </a:solidFill>
              </a:rPr>
              <a:t>ABET information</a:t>
            </a:r>
          </a:p>
          <a:p>
            <a:r>
              <a:rPr lang="en-US" b="1" dirty="0">
                <a:solidFill>
                  <a:srgbClr val="7030A0"/>
                </a:solidFill>
              </a:rPr>
              <a:t>Phase 2 Guidelines</a:t>
            </a:r>
          </a:p>
          <a:p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1AD5-0C4D-2175-EF32-E8733F38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0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7332C-1E79-27FD-C559-BD992CE5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Virtual Project Showcase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F1B32-6A8C-B2D2-D300-CDA6BA371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dirty="0">
                <a:hlinkClick r:id="rId2"/>
              </a:rPr>
              <a:t>https://tamueps.secure-platform.com/students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/>
              <a:t>Required assignment for all teams, submit proof on Canvas</a:t>
            </a:r>
          </a:p>
          <a:p>
            <a:pPr marL="0" indent="0" algn="ctr">
              <a:buNone/>
            </a:pPr>
            <a:r>
              <a:rPr lang="en-US" sz="2200" dirty="0"/>
              <a:t>Project title will identify your team in published material,</a:t>
            </a:r>
            <a:br>
              <a:rPr lang="en-US" sz="2200" dirty="0"/>
            </a:br>
            <a:r>
              <a:rPr lang="en-US" sz="2200" dirty="0"/>
              <a:t>ensure you get it correct!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4FE4-31CF-1C55-C7FA-779860DF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5F80B1-73F6-96D1-D952-997D17F62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4" y="2434730"/>
            <a:ext cx="6419091" cy="21945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18001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C858-DDEF-CB07-26C0-4D425DC6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9"/>
            <a:ext cx="8050555" cy="2852737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Communication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37A11-9DE3-9804-F89E-9121E39DF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Communication is a Superpower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FFC36-8EE5-C9F5-7386-DF6C4E7B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88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15001-C898-BC9B-42EB-100BBD57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5FD9B-2263-BD0D-B9FB-62202282A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21" y="638635"/>
            <a:ext cx="8013357" cy="55807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1E6A6F-1941-B00C-192E-F8E13D81DE8C}"/>
              </a:ext>
            </a:extLst>
          </p:cNvPr>
          <p:cNvSpPr txBox="1"/>
          <p:nvPr/>
        </p:nvSpPr>
        <p:spPr>
          <a:xfrm>
            <a:off x="628650" y="6385024"/>
            <a:ext cx="5778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Ref.: </a:t>
            </a:r>
            <a:r>
              <a:rPr lang="en-US" sz="1400" dirty="0">
                <a:hlinkClick r:id="rId3"/>
              </a:rPr>
              <a:t>7 Lessons I Learned the Hard Way From 9+ Years as a Data Engineer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7661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135C-940B-B722-FB04-9CC1F1684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>
                <a:solidFill>
                  <a:srgbClr val="00B0F0"/>
                </a:solidFill>
              </a:rPr>
              <a:t>Customer Needs</a:t>
            </a:r>
            <a:br>
              <a:rPr lang="en-US" dirty="0"/>
            </a:br>
            <a:r>
              <a:rPr lang="en-US" sz="3600" b="1" dirty="0">
                <a:solidFill>
                  <a:srgbClr val="C00000"/>
                </a:solidFill>
              </a:rPr>
              <a:t>(</a:t>
            </a:r>
            <a:r>
              <a:rPr lang="en-US" sz="3600" b="1" i="1" dirty="0">
                <a:solidFill>
                  <a:srgbClr val="C00000"/>
                </a:solidFill>
              </a:rPr>
              <a:t>Voice of the Customer</a:t>
            </a:r>
            <a:r>
              <a:rPr lang="en-US" sz="3600" b="1" dirty="0">
                <a:solidFill>
                  <a:srgbClr val="C00000"/>
                </a:solidFill>
              </a:rPr>
              <a:t>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F2EE5-81B2-92E0-66BF-B759FB4E6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45793" cy="4351338"/>
          </a:xfrm>
        </p:spPr>
        <p:txBody>
          <a:bodyPr>
            <a:normAutofit/>
          </a:bodyPr>
          <a:lstStyle/>
          <a:p>
            <a:r>
              <a:rPr lang="en-US" sz="2200" dirty="0"/>
              <a:t>By now you should have a least </a:t>
            </a:r>
            <a:r>
              <a:rPr lang="en-US" sz="2200" u="sng" dirty="0"/>
              <a:t>some</a:t>
            </a:r>
            <a:r>
              <a:rPr lang="en-US" sz="2200" dirty="0"/>
              <a:t> customer needs identified</a:t>
            </a:r>
          </a:p>
          <a:p>
            <a:pPr lvl="1"/>
            <a:r>
              <a:rPr lang="en-US" sz="2200" dirty="0"/>
              <a:t>Typically, this comes from:</a:t>
            </a:r>
          </a:p>
          <a:p>
            <a:pPr lvl="2"/>
            <a:r>
              <a:rPr lang="en-US" sz="2200" dirty="0"/>
              <a:t>The project description </a:t>
            </a:r>
          </a:p>
          <a:p>
            <a:pPr lvl="2"/>
            <a:r>
              <a:rPr lang="en-US" sz="2200" dirty="0"/>
              <a:t>Discussion with the sponsor/stakeholders</a:t>
            </a:r>
          </a:p>
          <a:p>
            <a:r>
              <a:rPr lang="en-US" sz="2200" dirty="0"/>
              <a:t>Needs should not be directed towards a potential solution</a:t>
            </a:r>
          </a:p>
          <a:p>
            <a:pPr lvl="1"/>
            <a:r>
              <a:rPr lang="en-US" sz="2200" dirty="0"/>
              <a:t>Often a </a:t>
            </a:r>
            <a:r>
              <a:rPr lang="en-US" sz="2200" i="1" dirty="0"/>
              <a:t>flaw of needs </a:t>
            </a:r>
            <a:r>
              <a:rPr lang="en-US" sz="2200" dirty="0"/>
              <a:t>created without a thorough technical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A3FFA-5B5E-3137-A763-B747B229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15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255C-43D0-8352-18A3-DE44899D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>
                <a:solidFill>
                  <a:srgbClr val="00B0F0"/>
                </a:solidFill>
              </a:rPr>
              <a:t>Customer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E921E-CCB7-5D8B-2A54-9A7EB5689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50324"/>
            <a:ext cx="7886700" cy="5126640"/>
          </a:xfrm>
        </p:spPr>
        <p:txBody>
          <a:bodyPr>
            <a:normAutofit/>
          </a:bodyPr>
          <a:lstStyle/>
          <a:p>
            <a:r>
              <a:rPr lang="en-US" sz="2000" dirty="0"/>
              <a:t>Garvin's dimensions of quality can provide the framework to identify needs</a:t>
            </a:r>
          </a:p>
          <a:p>
            <a:r>
              <a:rPr lang="en-US" sz="2000" dirty="0"/>
              <a:t>As you model your "system", keep these important quality dimensions in mind to identify additional needs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8B407-0EDF-B28C-82C2-242A2F56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EC292A-4DEF-5E71-33B0-474F9CBCF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75038"/>
            <a:ext cx="6035040" cy="388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49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9E419-A829-847C-4B55-DB6158A24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>
                <a:solidFill>
                  <a:srgbClr val="FFAC00"/>
                </a:solidFill>
              </a:rPr>
              <a:t>Requirements</a:t>
            </a:r>
            <a:br>
              <a:rPr lang="en-US" dirty="0"/>
            </a:br>
            <a:r>
              <a:rPr lang="en-US" sz="3600" b="1" dirty="0">
                <a:solidFill>
                  <a:srgbClr val="C00000"/>
                </a:solidFill>
              </a:rPr>
              <a:t>(</a:t>
            </a:r>
            <a:r>
              <a:rPr lang="en-US" sz="3600" b="1" i="1" dirty="0">
                <a:solidFill>
                  <a:srgbClr val="C00000"/>
                </a:solidFill>
              </a:rPr>
              <a:t>Voice of the Engineer</a:t>
            </a:r>
            <a:r>
              <a:rPr lang="en-US" sz="36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F5A20-7F32-3C08-233A-4571367D0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19934" cy="4351338"/>
          </a:xfrm>
        </p:spPr>
        <p:txBody>
          <a:bodyPr>
            <a:normAutofit/>
          </a:bodyPr>
          <a:lstStyle/>
          <a:p>
            <a:r>
              <a:rPr lang="en-US" sz="2200" dirty="0"/>
              <a:t>Aka Engineering Characteristics</a:t>
            </a:r>
          </a:p>
          <a:p>
            <a:r>
              <a:rPr lang="en-US" sz="2200" dirty="0"/>
              <a:t>Requirements are objective/testable/measurable</a:t>
            </a:r>
          </a:p>
          <a:p>
            <a:pPr lvl="1"/>
            <a:r>
              <a:rPr lang="en-US" sz="2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Precise, clear, concise: "The system shall…"</a:t>
            </a:r>
          </a:p>
          <a:p>
            <a:r>
              <a:rPr lang="en-US" sz="2200" dirty="0"/>
              <a:t>Should address one or more (typically) of the customer needs</a:t>
            </a:r>
          </a:p>
          <a:p>
            <a:pPr lvl="1"/>
            <a:r>
              <a:rPr lang="en-US" sz="2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Should be developed after a good representation and analysis of the problem!</a:t>
            </a:r>
          </a:p>
          <a:p>
            <a:r>
              <a:rPr lang="en-US" sz="2200" dirty="0"/>
              <a:t>Demonstrate how data engineering moves from</a:t>
            </a:r>
            <a:br>
              <a:rPr lang="en-US" sz="2200" dirty="0"/>
            </a:br>
            <a:r>
              <a:rPr lang="en-US" sz="2200" i="1" dirty="0">
                <a:solidFill>
                  <a:srgbClr val="FF0000"/>
                </a:solidFill>
              </a:rPr>
              <a:t>vague stakeholder expectations </a:t>
            </a:r>
            <a:r>
              <a:rPr lang="en-US" sz="2200" dirty="0"/>
              <a:t>("fast, accurate, reliable data")</a:t>
            </a:r>
            <a:br>
              <a:rPr lang="en-US" sz="2200" dirty="0"/>
            </a:br>
            <a:r>
              <a:rPr lang="en-US" sz="2200" dirty="0"/>
              <a:t>to </a:t>
            </a:r>
            <a:r>
              <a:rPr lang="en-US" sz="2200" b="1" dirty="0">
                <a:solidFill>
                  <a:srgbClr val="C00000"/>
                </a:solidFill>
              </a:rPr>
              <a:t>clear</a:t>
            </a:r>
            <a:r>
              <a:rPr lang="en-US" sz="2200" dirty="0">
                <a:solidFill>
                  <a:srgbClr val="C00000"/>
                </a:solidFill>
              </a:rPr>
              <a:t>, </a:t>
            </a:r>
            <a:r>
              <a:rPr lang="en-US" sz="2200" b="1" dirty="0">
                <a:solidFill>
                  <a:srgbClr val="C00000"/>
                </a:solidFill>
              </a:rPr>
              <a:t>testable</a:t>
            </a:r>
            <a:r>
              <a:rPr lang="en-US" sz="2200" dirty="0">
                <a:solidFill>
                  <a:srgbClr val="C00000"/>
                </a:solidFill>
              </a:rPr>
              <a:t>, </a:t>
            </a:r>
            <a:r>
              <a:rPr lang="en-US" sz="2200" b="1" dirty="0">
                <a:solidFill>
                  <a:srgbClr val="C00000"/>
                </a:solidFill>
              </a:rPr>
              <a:t>operational requirements tied</a:t>
            </a:r>
            <a:br>
              <a:rPr lang="en-US" sz="2200" b="1" dirty="0"/>
            </a:br>
            <a:r>
              <a:rPr lang="en-US" sz="2200" dirty="0"/>
              <a:t>to </a:t>
            </a:r>
            <a:r>
              <a:rPr lang="en-US" sz="2200" u="sng" dirty="0"/>
              <a:t>infrastructure</a:t>
            </a:r>
            <a:r>
              <a:rPr lang="en-US" sz="2200" dirty="0"/>
              <a:t>, </a:t>
            </a:r>
            <a:r>
              <a:rPr lang="en-US" sz="2200" u="sng" dirty="0"/>
              <a:t>product characteristics</a:t>
            </a:r>
            <a:r>
              <a:rPr lang="en-US" sz="2200" dirty="0"/>
              <a:t>, and </a:t>
            </a:r>
            <a:r>
              <a:rPr lang="en-US" sz="2200" u="sng" dirty="0"/>
              <a:t>process controls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4B1211"/>
                </a:solidFill>
                <a:highlight>
                  <a:srgbClr val="FFFF00"/>
                </a:highlight>
              </a:rPr>
              <a:t>Input / Process / Output (I/P/O)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8E815-3D8C-F227-0B47-D51B46F1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33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25BC-FDAE-6302-10D7-D722F979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Requirements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116F4-67CF-6C66-83E7-4ED92653B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rmAutofit/>
          </a:bodyPr>
          <a:lstStyle/>
          <a:p>
            <a:r>
              <a:rPr lang="en-US" sz="2200" dirty="0"/>
              <a:t>I/P/O: </a:t>
            </a:r>
            <a:r>
              <a:rPr lang="en-US" sz="2200" i="1" dirty="0"/>
              <a:t>There exists a need for reliable, high-quality data to support near real-time business decisions</a:t>
            </a:r>
          </a:p>
          <a:p>
            <a:r>
              <a:rPr lang="en-US" sz="2200" b="1" dirty="0"/>
              <a:t>Performance</a:t>
            </a:r>
          </a:p>
          <a:p>
            <a:pPr lvl="1"/>
            <a:r>
              <a:rPr lang="en-US" sz="1800" dirty="0"/>
              <a:t>What does "near real-time" mean?</a:t>
            </a:r>
          </a:p>
          <a:p>
            <a:pPr lvl="2"/>
            <a:r>
              <a:rPr lang="en-US" sz="1400" dirty="0"/>
              <a:t>&lt; 1 minute latency?</a:t>
            </a:r>
          </a:p>
          <a:p>
            <a:pPr lvl="2"/>
            <a:r>
              <a:rPr lang="en-US" sz="1400" dirty="0"/>
              <a:t>5 minutes?</a:t>
            </a:r>
          </a:p>
          <a:p>
            <a:pPr lvl="2"/>
            <a:r>
              <a:rPr lang="en-US" sz="1400" dirty="0"/>
              <a:t>Hourly refresh?</a:t>
            </a:r>
          </a:p>
          <a:p>
            <a:r>
              <a:rPr lang="en-US" sz="2200" b="1" dirty="0"/>
              <a:t>Quality</a:t>
            </a:r>
          </a:p>
          <a:p>
            <a:pPr lvl="1"/>
            <a:r>
              <a:rPr lang="en-US" sz="1800" dirty="0"/>
              <a:t>What constitutes "high-quality data"?</a:t>
            </a:r>
          </a:p>
          <a:p>
            <a:pPr lvl="2"/>
            <a:r>
              <a:rPr lang="en-US" sz="1400" dirty="0"/>
              <a:t>Completeness?</a:t>
            </a:r>
          </a:p>
          <a:p>
            <a:pPr lvl="2"/>
            <a:r>
              <a:rPr lang="en-US" sz="1400" dirty="0"/>
              <a:t>Accuracy?</a:t>
            </a:r>
          </a:p>
          <a:p>
            <a:pPr lvl="2"/>
            <a:r>
              <a:rPr lang="en-US" sz="1400" dirty="0"/>
              <a:t>Consistency across systems?</a:t>
            </a:r>
          </a:p>
          <a:p>
            <a:pPr lvl="2"/>
            <a:r>
              <a:rPr lang="en-US" sz="1400" dirty="0"/>
              <a:t>Schema stability?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FFC34-4CBB-BCDD-C9DB-831F025C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76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6A2C-45E6-5541-9ED5-85C25065B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CFD1-419D-5FAD-BE9C-BAE312118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Requirements Example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60625-ED40-A543-02E7-C7CBE4745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rmAutofit/>
          </a:bodyPr>
          <a:lstStyle/>
          <a:p>
            <a:r>
              <a:rPr lang="en-US" sz="2200" dirty="0"/>
              <a:t>I/P/O: </a:t>
            </a:r>
            <a:r>
              <a:rPr lang="en-US" sz="2200" i="1" dirty="0"/>
              <a:t>There exists a need for reliable, high-quality data to support near real-time business decisions</a:t>
            </a:r>
          </a:p>
          <a:p>
            <a:r>
              <a:rPr lang="en-US" sz="2200" b="1" dirty="0"/>
              <a:t>Usability</a:t>
            </a:r>
          </a:p>
          <a:p>
            <a:pPr lvl="1"/>
            <a:r>
              <a:rPr lang="en-US" sz="1800" dirty="0"/>
              <a:t>Can analysts easily access the data?</a:t>
            </a:r>
          </a:p>
          <a:p>
            <a:pPr lvl="1"/>
            <a:r>
              <a:rPr lang="en-US" sz="1800" dirty="0"/>
              <a:t>Is it queryable without specialized engineering support?</a:t>
            </a:r>
          </a:p>
          <a:p>
            <a:pPr lvl="1"/>
            <a:r>
              <a:rPr lang="en-US" sz="1800" dirty="0"/>
              <a:t>Are business definitions standardized?</a:t>
            </a:r>
          </a:p>
          <a:p>
            <a:r>
              <a:rPr lang="en-US" sz="2200" b="1" dirty="0"/>
              <a:t>Safety / Governance</a:t>
            </a:r>
          </a:p>
          <a:p>
            <a:pPr lvl="1"/>
            <a:r>
              <a:rPr lang="en-US" sz="1800" dirty="0"/>
              <a:t>Is sensitive data protected?</a:t>
            </a:r>
          </a:p>
          <a:p>
            <a:pPr lvl="1"/>
            <a:r>
              <a:rPr lang="en-US" sz="1800" dirty="0"/>
              <a:t>Are regulatory requirements met (PII handling, auditability)?</a:t>
            </a:r>
          </a:p>
          <a:p>
            <a:r>
              <a:rPr lang="en-US" sz="2200" b="1" dirty="0"/>
              <a:t>Cost</a:t>
            </a:r>
          </a:p>
          <a:p>
            <a:pPr lvl="1"/>
            <a:r>
              <a:rPr lang="en-US" sz="1800" dirty="0"/>
              <a:t>Comparable to existing cloud/data warehouse budgets</a:t>
            </a:r>
          </a:p>
          <a:p>
            <a:pPr lvl="1"/>
            <a:r>
              <a:rPr lang="en-US" sz="1800" dirty="0"/>
              <a:t>Competitive storage and compute utilization</a:t>
            </a:r>
          </a:p>
          <a:p>
            <a:pPr lvl="1"/>
            <a:r>
              <a:rPr lang="en-US" sz="1800" dirty="0"/>
              <a:t>Avoid unnecessary duplication of datasets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7E0AD-8DE3-DA4D-8836-507D8A2F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80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4995-ADD5-9DC4-6CAD-901498620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Requirements Example Cont.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1861-ACCF-CAA7-6999-8ABFCF476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Autofit/>
          </a:bodyPr>
          <a:lstStyle/>
          <a:p>
            <a:r>
              <a:rPr lang="en-US" sz="2200" b="1" dirty="0"/>
              <a:t>We generate a candidate set of </a:t>
            </a:r>
            <a:r>
              <a:rPr lang="en-US" sz="2200" b="1" u="sng" dirty="0"/>
              <a:t>customer needs</a:t>
            </a:r>
            <a:r>
              <a:rPr lang="en-US" sz="2200" b="1" dirty="0"/>
              <a:t>: </a:t>
            </a:r>
            <a:r>
              <a:rPr lang="en-US" sz="2200" dirty="0"/>
              <a:t>statements, which if addressed by the "</a:t>
            </a:r>
            <a:r>
              <a:rPr lang="en-US" sz="2200" i="1" dirty="0"/>
              <a:t>product</a:t>
            </a:r>
            <a:r>
              <a:rPr lang="en-US" sz="2200" dirty="0"/>
              <a:t>" would resolve the I/P/O</a:t>
            </a:r>
          </a:p>
          <a:p>
            <a:r>
              <a:rPr lang="en-US" sz="2200" dirty="0"/>
              <a:t>Interviews and investigation; leveraging Garvin's dimensions </a:t>
            </a:r>
          </a:p>
          <a:p>
            <a:r>
              <a:rPr lang="en-US" sz="2200" dirty="0"/>
              <a:t>Requirements are then developed from the needs; precise, clear, concise, testable, measurable</a:t>
            </a:r>
          </a:p>
          <a:p>
            <a:pPr lvl="1"/>
            <a:r>
              <a:rPr lang="en-US" sz="1800" i="1" dirty="0"/>
              <a:t>Data should be available within N minutes of source system update</a:t>
            </a:r>
          </a:p>
          <a:p>
            <a:pPr lvl="1"/>
            <a:r>
              <a:rPr lang="en-US" sz="1800" i="1" dirty="0"/>
              <a:t>Data should be at least 99% complete</a:t>
            </a:r>
          </a:p>
          <a:p>
            <a:pPr lvl="1"/>
            <a:r>
              <a:rPr lang="en-US" sz="1800" i="1" dirty="0"/>
              <a:t>Critical business metrics should be consistent across dashboards</a:t>
            </a:r>
          </a:p>
          <a:p>
            <a:pPr lvl="1"/>
            <a:r>
              <a:rPr lang="en-US" sz="1800" i="1" dirty="0"/>
              <a:t>Data pipelines should not fail silently</a:t>
            </a:r>
          </a:p>
          <a:p>
            <a:pPr lvl="1"/>
            <a:r>
              <a:rPr lang="en-US" sz="1800" i="1" dirty="0"/>
              <a:t>Users should not require engineering intervention to access curated datasets</a:t>
            </a:r>
          </a:p>
          <a:p>
            <a:pPr lvl="1"/>
            <a:r>
              <a:rPr lang="en-US" sz="1800" i="1" dirty="0"/>
              <a:t>Sensitive fields should not be exposed to unauthorized users</a:t>
            </a:r>
          </a:p>
          <a:p>
            <a:pPr lvl="1"/>
            <a:r>
              <a:rPr lang="en-US" sz="1800" i="1" dirty="0"/>
              <a:t>Data refresh schedules should be transparent and visible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891CD-3045-59EB-87FE-D6442836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09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5B994-F1FA-67D3-D945-FF644C02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087272-1595-CD2E-89EE-65246D14B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91978"/>
            <a:ext cx="7886700" cy="5484985"/>
          </a:xfrm>
        </p:spPr>
        <p:txBody>
          <a:bodyPr>
            <a:noAutofit/>
          </a:bodyPr>
          <a:lstStyle/>
          <a:p>
            <a:r>
              <a:rPr lang="en-US" sz="2200" dirty="0"/>
              <a:t>Requirements are then developed from the needs:</a:t>
            </a:r>
            <a:br>
              <a:rPr lang="en-US" sz="2200" dirty="0"/>
            </a:br>
            <a:r>
              <a:rPr lang="en-US" sz="2200" b="1" dirty="0"/>
              <a:t>precise, clear, concise, testable, measurable</a:t>
            </a:r>
          </a:p>
          <a:p>
            <a:r>
              <a:rPr lang="en-US" sz="2200" dirty="0"/>
              <a:t>Using the need as an organizing device for the requires:</a:t>
            </a:r>
          </a:p>
          <a:p>
            <a:pPr marL="457200" lvl="1" indent="0">
              <a:buNone/>
            </a:pPr>
            <a:r>
              <a:rPr lang="en-US" sz="2200" i="1" dirty="0">
                <a:highlight>
                  <a:srgbClr val="FFFF00"/>
                </a:highlight>
              </a:rPr>
              <a:t>Data should be available within N minutes</a:t>
            </a:r>
          </a:p>
          <a:p>
            <a:pPr lvl="1"/>
            <a:r>
              <a:rPr lang="en-US" sz="2200" b="1" dirty="0"/>
              <a:t>Product</a:t>
            </a:r>
          </a:p>
          <a:p>
            <a:pPr lvl="2"/>
            <a:r>
              <a:rPr lang="en-US" sz="1600" dirty="0"/>
              <a:t>End-to-end pipeline latency ≤ 5 min (source commit to warehouse avail.)</a:t>
            </a:r>
          </a:p>
          <a:p>
            <a:pPr lvl="2"/>
            <a:r>
              <a:rPr lang="en-US" sz="1600" dirty="0"/>
              <a:t>95th percentile latency ≤ 7 minutes</a:t>
            </a:r>
          </a:p>
          <a:p>
            <a:pPr lvl="1"/>
            <a:r>
              <a:rPr lang="en-US" sz="2200" b="1" dirty="0"/>
              <a:t>Infrastructure</a:t>
            </a:r>
          </a:p>
          <a:p>
            <a:pPr lvl="2"/>
            <a:r>
              <a:rPr lang="en-US" sz="1600" dirty="0"/>
              <a:t>Streaming ingestion supports ≥ 10,000 events/sec</a:t>
            </a:r>
          </a:p>
          <a:p>
            <a:pPr lvl="2"/>
            <a:r>
              <a:rPr lang="en-US" sz="1600" dirty="0"/>
              <a:t>Data warehouse auto-scales to maintain query latency ≤ 3 seconds for standard BI workloads</a:t>
            </a:r>
          </a:p>
          <a:p>
            <a:pPr lvl="1"/>
            <a:r>
              <a:rPr lang="en-US" sz="2200" b="1" dirty="0"/>
              <a:t>Process</a:t>
            </a:r>
          </a:p>
          <a:p>
            <a:pPr lvl="2"/>
            <a:r>
              <a:rPr lang="en-US" sz="1600" dirty="0"/>
              <a:t>Monitoring alerts triggered if latency exceeds SLA (Service Level Agreement) for &gt; 2 consecutive intervals</a:t>
            </a:r>
          </a:p>
          <a:p>
            <a:pPr lvl="2"/>
            <a:r>
              <a:rPr lang="en-US" sz="1600" dirty="0"/>
              <a:t>Incident response time ≤ 15 minutes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60750-CBD7-09F7-023A-804E24E2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59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833C9-EFB3-14E2-B98A-823A009E1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761C43-37C6-B209-1EFA-4E9A5F474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91978"/>
            <a:ext cx="7886700" cy="5484985"/>
          </a:xfrm>
        </p:spPr>
        <p:txBody>
          <a:bodyPr>
            <a:noAutofit/>
          </a:bodyPr>
          <a:lstStyle/>
          <a:p>
            <a:r>
              <a:rPr lang="en-US" sz="2200" dirty="0"/>
              <a:t>Requirements are then developed from the needs:</a:t>
            </a:r>
            <a:br>
              <a:rPr lang="en-US" sz="2200" dirty="0"/>
            </a:br>
            <a:r>
              <a:rPr lang="en-US" sz="2200" b="1" dirty="0"/>
              <a:t>precise, clear, concise, testable, measurable </a:t>
            </a:r>
          </a:p>
          <a:p>
            <a:r>
              <a:rPr lang="en-US" sz="2200" dirty="0"/>
              <a:t>Using the need as an organizing device for the requires:</a:t>
            </a:r>
          </a:p>
          <a:p>
            <a:pPr marL="457200" lvl="1" indent="0">
              <a:buNone/>
            </a:pPr>
            <a:r>
              <a:rPr lang="en-US" sz="2200" i="1" dirty="0">
                <a:highlight>
                  <a:srgbClr val="FFFF00"/>
                </a:highlight>
              </a:rPr>
              <a:t>Data should be accurate and complete</a:t>
            </a:r>
          </a:p>
          <a:p>
            <a:pPr lvl="1"/>
            <a:r>
              <a:rPr lang="en-US" sz="2200" b="1" dirty="0"/>
              <a:t>Product</a:t>
            </a:r>
          </a:p>
          <a:p>
            <a:pPr lvl="2"/>
            <a:r>
              <a:rPr lang="en-US" sz="1600" dirty="0"/>
              <a:t>Record completeness ≥ 99.5% per batch / Ref. integrity violations ≤ 0.1%</a:t>
            </a:r>
          </a:p>
          <a:p>
            <a:pPr lvl="2"/>
            <a:r>
              <a:rPr lang="en-US" sz="1600" dirty="0"/>
              <a:t>Schema validation enforced at ingestion</a:t>
            </a:r>
          </a:p>
          <a:p>
            <a:pPr lvl="1"/>
            <a:r>
              <a:rPr lang="en-US" sz="2200" b="1" dirty="0"/>
              <a:t>Infrastructure</a:t>
            </a:r>
          </a:p>
          <a:p>
            <a:pPr lvl="2"/>
            <a:r>
              <a:rPr lang="en-US" sz="1600" dirty="0"/>
              <a:t>Automated data quality checks executed on every load</a:t>
            </a:r>
          </a:p>
          <a:p>
            <a:pPr lvl="2"/>
            <a:r>
              <a:rPr lang="en-US" sz="1600" dirty="0"/>
              <a:t>Failed quality checks block downstream publication</a:t>
            </a:r>
          </a:p>
          <a:p>
            <a:pPr lvl="1"/>
            <a:r>
              <a:rPr lang="en-US" sz="2200" b="1" dirty="0"/>
              <a:t>Process</a:t>
            </a:r>
          </a:p>
          <a:p>
            <a:pPr lvl="2"/>
            <a:r>
              <a:rPr lang="en-US" sz="1600" dirty="0"/>
              <a:t>Daily reconciliation against source system totals</a:t>
            </a:r>
          </a:p>
          <a:p>
            <a:pPr lvl="2"/>
            <a:r>
              <a:rPr lang="en-US" sz="1600" dirty="0"/>
              <a:t>Root cause analysis completed within 1 business day for quality breaches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B2577-2B5C-D8DE-D716-6BCD9020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46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D75E8-841A-9FB0-3498-E7505886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52AC1B-6CEE-3CB1-6148-98C7A1096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91978"/>
            <a:ext cx="7886700" cy="5484985"/>
          </a:xfrm>
        </p:spPr>
        <p:txBody>
          <a:bodyPr>
            <a:noAutofit/>
          </a:bodyPr>
          <a:lstStyle/>
          <a:p>
            <a:r>
              <a:rPr lang="en-US" sz="2200" dirty="0"/>
              <a:t>Requirements are then developed from the needs:</a:t>
            </a:r>
            <a:br>
              <a:rPr lang="en-US" sz="2200" dirty="0"/>
            </a:br>
            <a:r>
              <a:rPr lang="en-US" sz="2200" b="1" dirty="0"/>
              <a:t>precise, clear, concise, testable, measurable </a:t>
            </a:r>
          </a:p>
          <a:p>
            <a:r>
              <a:rPr lang="en-US" sz="2200" dirty="0"/>
              <a:t>Using the need as an organizing device for the requires:</a:t>
            </a:r>
          </a:p>
          <a:p>
            <a:pPr marL="457200" lvl="1" indent="0">
              <a:buNone/>
            </a:pPr>
            <a:r>
              <a:rPr lang="en-US" sz="2200" i="1" dirty="0">
                <a:highlight>
                  <a:srgbClr val="FFFF00"/>
                </a:highlight>
              </a:rPr>
              <a:t>Data should be secure</a:t>
            </a:r>
          </a:p>
          <a:p>
            <a:pPr lvl="1"/>
            <a:r>
              <a:rPr lang="en-US" sz="2200" b="1" dirty="0"/>
              <a:t>Product</a:t>
            </a:r>
          </a:p>
          <a:p>
            <a:pPr lvl="2"/>
            <a:r>
              <a:rPr lang="en-US" sz="1600" dirty="0"/>
              <a:t>Role-based access control enforced at dataset and column level</a:t>
            </a:r>
          </a:p>
          <a:p>
            <a:pPr lvl="2"/>
            <a:r>
              <a:rPr lang="en-US" sz="1600" dirty="0"/>
              <a:t>PII fields encrypted at rest and in transit</a:t>
            </a:r>
          </a:p>
          <a:p>
            <a:pPr lvl="1"/>
            <a:r>
              <a:rPr lang="en-US" sz="2200" b="1" dirty="0"/>
              <a:t>Infrastructure</a:t>
            </a:r>
          </a:p>
          <a:p>
            <a:pPr lvl="2"/>
            <a:r>
              <a:rPr lang="en-US" sz="1600" dirty="0"/>
              <a:t>Access logs retained for ≥ 365 days</a:t>
            </a:r>
          </a:p>
          <a:p>
            <a:pPr lvl="2"/>
            <a:r>
              <a:rPr lang="en-US" sz="1600" dirty="0"/>
              <a:t>Audit events queryable within 24 hours</a:t>
            </a:r>
          </a:p>
          <a:p>
            <a:pPr lvl="1"/>
            <a:r>
              <a:rPr lang="en-US" sz="2200" b="1" dirty="0"/>
              <a:t>Process</a:t>
            </a:r>
          </a:p>
          <a:p>
            <a:pPr lvl="2"/>
            <a:r>
              <a:rPr lang="en-US" sz="1600" dirty="0"/>
              <a:t>Quarterly access review</a:t>
            </a:r>
          </a:p>
          <a:p>
            <a:pPr lvl="2"/>
            <a:r>
              <a:rPr lang="en-US" sz="1600" dirty="0"/>
              <a:t>Automated removal of inactive accounts after 30 days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BBCF9-4E9C-D6EF-EFFF-8E0D57E8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36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42FB-5655-51FA-C168-0ECF3F06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AF8C9F-1B89-C6B6-C989-1AE3BDF3D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91978"/>
            <a:ext cx="7886700" cy="5484985"/>
          </a:xfrm>
        </p:spPr>
        <p:txBody>
          <a:bodyPr>
            <a:noAutofit/>
          </a:bodyPr>
          <a:lstStyle/>
          <a:p>
            <a:r>
              <a:rPr lang="en-US" sz="2200" dirty="0"/>
              <a:t>Requirements are then developed from the needs:</a:t>
            </a:r>
            <a:br>
              <a:rPr lang="en-US" sz="2200" dirty="0"/>
            </a:br>
            <a:r>
              <a:rPr lang="en-US" sz="2200" b="1" dirty="0"/>
              <a:t>precise, clear, concise, testable, measurable </a:t>
            </a:r>
          </a:p>
          <a:p>
            <a:r>
              <a:rPr lang="en-US" sz="2200" dirty="0"/>
              <a:t>Using the need as an organizing device for the requires:</a:t>
            </a:r>
          </a:p>
          <a:p>
            <a:pPr marL="457200" lvl="1" indent="0">
              <a:buNone/>
            </a:pPr>
            <a:r>
              <a:rPr lang="en-US" sz="2200" i="1" dirty="0">
                <a:highlight>
                  <a:srgbClr val="FFFF00"/>
                </a:highlight>
              </a:rPr>
              <a:t>Data platform should be cost-effective</a:t>
            </a:r>
          </a:p>
          <a:p>
            <a:pPr lvl="1"/>
            <a:r>
              <a:rPr lang="en-US" sz="2200" b="1" dirty="0"/>
              <a:t>Product</a:t>
            </a:r>
          </a:p>
          <a:p>
            <a:pPr lvl="2"/>
            <a:r>
              <a:rPr lang="en-US" sz="1600" dirty="0"/>
              <a:t>Storage cost per TB ≤ defined cloud budget threshold</a:t>
            </a:r>
          </a:p>
          <a:p>
            <a:pPr lvl="2"/>
            <a:r>
              <a:rPr lang="en-US" sz="1600" dirty="0"/>
              <a:t>Compute utilization ≥ 70% during peak workload windows</a:t>
            </a:r>
          </a:p>
          <a:p>
            <a:pPr lvl="1"/>
            <a:r>
              <a:rPr lang="en-US" sz="2200" b="1" dirty="0"/>
              <a:t>Infrastructure</a:t>
            </a:r>
          </a:p>
          <a:p>
            <a:pPr lvl="2"/>
            <a:r>
              <a:rPr lang="en-US" sz="1600" dirty="0"/>
              <a:t>Automatic suspension of idle clusters after 5 minutes</a:t>
            </a:r>
          </a:p>
          <a:p>
            <a:pPr lvl="2"/>
            <a:r>
              <a:rPr lang="en-US" sz="1600" dirty="0"/>
              <a:t>Lifecycle policies archive cold data after 180 days</a:t>
            </a:r>
          </a:p>
          <a:p>
            <a:pPr lvl="1"/>
            <a:r>
              <a:rPr lang="en-US" sz="2200" b="1" dirty="0"/>
              <a:t>Process</a:t>
            </a:r>
          </a:p>
          <a:p>
            <a:pPr lvl="2"/>
            <a:r>
              <a:rPr lang="en-US" sz="1600" dirty="0"/>
              <a:t>Monthly cost variance report delivered to stakeholders</a:t>
            </a:r>
          </a:p>
          <a:p>
            <a:pPr lvl="2"/>
            <a:r>
              <a:rPr lang="en-US" sz="1600" dirty="0"/>
              <a:t>Optimization review conducted quarterly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8E5BD-4C2A-E7BC-0A8A-47F5004A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44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C793C-0DBE-5ECC-05F2-5560A9A9D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7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AC00"/>
                </a:solidFill>
              </a:rPr>
              <a:t>Engineering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ACE39-EABA-7062-4E96-6C1A7CF09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022"/>
            <a:ext cx="4353480" cy="4573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Recall "The Plan"</a:t>
            </a:r>
          </a:p>
          <a:p>
            <a:r>
              <a:rPr lang="en-US" sz="2200" dirty="0"/>
              <a:t>This is where you start refining the plan</a:t>
            </a:r>
          </a:p>
          <a:p>
            <a:r>
              <a:rPr lang="en-US" sz="2200" dirty="0"/>
              <a:t>What additional information is needed</a:t>
            </a:r>
          </a:p>
          <a:p>
            <a:r>
              <a:rPr lang="en-US" sz="2200" dirty="0"/>
              <a:t>What needs to be done</a:t>
            </a:r>
          </a:p>
          <a:p>
            <a:pPr lvl="1"/>
            <a:r>
              <a:rPr lang="en-US" sz="2000" dirty="0"/>
              <a:t>By whom</a:t>
            </a:r>
          </a:p>
          <a:p>
            <a:pPr lvl="1"/>
            <a:r>
              <a:rPr lang="en-US" sz="2000" dirty="0"/>
              <a:t>By when</a:t>
            </a:r>
          </a:p>
          <a:p>
            <a:r>
              <a:rPr lang="en-US" sz="2200" dirty="0"/>
              <a:t>What determines when the action is complete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B1EC3-A411-DE04-24B8-9EDFFC85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0D6B9A-4901-8A28-15D6-86B1519B1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130" y="1603022"/>
            <a:ext cx="3533220" cy="359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5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93F1A-4E75-2C55-0434-1247285F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384E-A3B8-EEB6-3142-4A9949348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7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AC00"/>
                </a:solidFill>
              </a:rPr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F6567-F7C5-787A-E87E-4626D14F8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022"/>
            <a:ext cx="4711700" cy="4573941"/>
          </a:xfrm>
        </p:spPr>
        <p:txBody>
          <a:bodyPr>
            <a:normAutofit/>
          </a:bodyPr>
          <a:lstStyle/>
          <a:p>
            <a:r>
              <a:rPr lang="en-US" sz="2200" dirty="0"/>
              <a:t>Projects are subject to </a:t>
            </a:r>
            <a:r>
              <a:rPr lang="en-US" sz="2200" b="1" dirty="0"/>
              <a:t>constraints</a:t>
            </a:r>
          </a:p>
          <a:p>
            <a:r>
              <a:rPr lang="en-US" sz="2200" dirty="0"/>
              <a:t>They can be</a:t>
            </a:r>
          </a:p>
          <a:p>
            <a:pPr lvl="1"/>
            <a:r>
              <a:rPr lang="en-US" sz="2200" dirty="0"/>
              <a:t>Time</a:t>
            </a:r>
          </a:p>
          <a:p>
            <a:pPr lvl="1"/>
            <a:r>
              <a:rPr lang="en-US" sz="2200" dirty="0"/>
              <a:t>Financial</a:t>
            </a:r>
          </a:p>
          <a:p>
            <a:pPr lvl="1"/>
            <a:r>
              <a:rPr lang="en-US" sz="2200" dirty="0"/>
              <a:t>Resources</a:t>
            </a:r>
            <a:br>
              <a:rPr lang="en-US" sz="2200" dirty="0"/>
            </a:br>
            <a:r>
              <a:rPr lang="en-US" sz="2200" dirty="0"/>
              <a:t>(personnel and/or facilities)</a:t>
            </a:r>
          </a:p>
          <a:p>
            <a:pPr lvl="1"/>
            <a:r>
              <a:rPr lang="en-US" sz="2200" dirty="0"/>
              <a:t>Safety</a:t>
            </a:r>
          </a:p>
          <a:p>
            <a:pPr lvl="1"/>
            <a:r>
              <a:rPr lang="en-US" sz="2200" dirty="0"/>
              <a:t>Other</a:t>
            </a:r>
          </a:p>
          <a:p>
            <a:pPr marL="0" indent="0">
              <a:buNone/>
            </a:pPr>
            <a:endParaRPr lang="en-US" sz="700" b="1" dirty="0"/>
          </a:p>
          <a:p>
            <a:pPr marL="0" indent="0">
              <a:buNone/>
            </a:pPr>
            <a:r>
              <a:rPr lang="en-US" sz="1800" b="1" dirty="0"/>
              <a:t>Note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FF0000"/>
                </a:solidFill>
              </a:rPr>
              <a:t>The semester should not be listed as a constraint for your project. Specific time constraints related to your sponsor might be identified, but the semester schedule creates </a:t>
            </a:r>
            <a:r>
              <a:rPr lang="en-US" sz="1800" b="1" dirty="0"/>
              <a:t>deadlines</a:t>
            </a:r>
            <a:r>
              <a:rPr lang="en-US" sz="1800" dirty="0">
                <a:solidFill>
                  <a:srgbClr val="FF0000"/>
                </a:solidFill>
              </a:rPr>
              <a:t>, not constraints.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D6038-6732-37CB-1F59-9C692AC9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9E565E-4EB5-19EF-E2C5-F995AE6CA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350" y="1414001"/>
            <a:ext cx="3175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27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E824-C10E-7582-A473-F7FA9C74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AC00"/>
                </a:solidFill>
              </a:rPr>
              <a:t>Codes, Standards, and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8E1E0-0DF9-6FE7-B53A-53152D8D8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951"/>
            <a:ext cx="7886700" cy="479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Codes</a:t>
            </a:r>
          </a:p>
          <a:p>
            <a:r>
              <a:rPr lang="en-US" sz="2200" dirty="0"/>
              <a:t>A code is a set of rules for performing some task,</a:t>
            </a:r>
            <a:br>
              <a:rPr lang="en-US" sz="2200" dirty="0"/>
            </a:br>
            <a:r>
              <a:rPr lang="en-US" sz="2200" dirty="0"/>
              <a:t>as in the local city building code or fire code.</a:t>
            </a: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Standards</a:t>
            </a:r>
          </a:p>
          <a:p>
            <a:r>
              <a:rPr lang="en-US" sz="2200" dirty="0"/>
              <a:t>A standard is less prescriptive and can be defined as a </a:t>
            </a:r>
            <a:r>
              <a:rPr lang="en-US" sz="2200" u="sng" dirty="0"/>
              <a:t>set of technical definitions and guidelines</a:t>
            </a:r>
            <a:r>
              <a:rPr lang="en-US" sz="2200" dirty="0"/>
              <a:t>.</a:t>
            </a: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Specification</a:t>
            </a:r>
          </a:p>
          <a:p>
            <a:r>
              <a:rPr lang="en-US" sz="2200" dirty="0"/>
              <a:t>A specification describes </a:t>
            </a:r>
            <a:r>
              <a:rPr lang="en-US" sz="2200" u="sng" dirty="0"/>
              <a:t>how a system should work</a:t>
            </a:r>
            <a:r>
              <a:rPr lang="en-US" sz="2200" dirty="0"/>
              <a:t>, and is usually much more specific and detailed than a standard, but sometimes it is difficult to differentiate between documents that are called standards and those called specifications.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5B951-3823-2BE9-D630-97AAA847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96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B6AC8-A5BC-C510-D452-09C7613D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DBEB-DE2E-5BD5-99F6-D826DFEC6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AC00"/>
                </a:solidFill>
              </a:rPr>
              <a:t>Where do you find applicable codes/standards?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61962-6BA9-55BB-3F52-11FD86F5B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2277"/>
            <a:ext cx="7886700" cy="4664686"/>
          </a:xfrm>
        </p:spPr>
        <p:txBody>
          <a:bodyPr>
            <a:normAutofit/>
          </a:bodyPr>
          <a:lstStyle/>
          <a:p>
            <a:r>
              <a:rPr lang="en-US" sz="2200" dirty="0"/>
              <a:t>Your </a:t>
            </a:r>
            <a:r>
              <a:rPr lang="en-US" sz="2200" b="1" dirty="0"/>
              <a:t>project sponsor </a:t>
            </a:r>
            <a:r>
              <a:rPr lang="en-US" sz="2200" dirty="0"/>
              <a:t>should know specific codes/standards applicable to their systems and processes</a:t>
            </a:r>
          </a:p>
          <a:p>
            <a:r>
              <a:rPr lang="en-US" sz="2200" dirty="0"/>
              <a:t>Your </a:t>
            </a:r>
            <a:r>
              <a:rPr lang="en-US" sz="2200" b="1" dirty="0"/>
              <a:t>faculty advisor </a:t>
            </a:r>
            <a:r>
              <a:rPr lang="en-US" sz="2200" dirty="0"/>
              <a:t>may be able to suggest codes that might apply</a:t>
            </a:r>
          </a:p>
          <a:p>
            <a:r>
              <a:rPr lang="en-US" sz="2200" b="1" dirty="0"/>
              <a:t>Engineering standards bodies </a:t>
            </a:r>
            <a:r>
              <a:rPr lang="en-US" sz="2200" dirty="0"/>
              <a:t>and organizations might have applicable codes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DFA1D-1773-EF02-610C-180CC344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BC9761-2216-AB03-9839-F1245351E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844620"/>
            <a:ext cx="2743200" cy="2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82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7A35-6FD0-904E-AA9C-27AB1F8A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7"/>
          </a:xfrm>
          <a:solidFill>
            <a:schemeClr val="tx1">
              <a:lumMod val="65000"/>
              <a:lumOff val="3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AC00"/>
                </a:solidFill>
              </a:rPr>
              <a:t>ANSI, NIST, ASTM, ASME, ISO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EA7AC-A820-F5CF-1B0F-83FE335ED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56268"/>
            <a:ext cx="7886700" cy="4720696"/>
          </a:xfrm>
        </p:spPr>
        <p:txBody>
          <a:bodyPr>
            <a:normAutofit/>
          </a:bodyPr>
          <a:lstStyle/>
          <a:p>
            <a:r>
              <a:rPr lang="en-US" sz="1600" dirty="0"/>
              <a:t>The </a:t>
            </a:r>
            <a:r>
              <a:rPr lang="en-US" sz="1600" b="1" dirty="0"/>
              <a:t>American National Standards Institute </a:t>
            </a:r>
            <a:r>
              <a:rPr lang="en-US" sz="1600" dirty="0"/>
              <a:t>(ANSI) is the coordinating organization for the voluntary standards system for the United States (</a:t>
            </a:r>
            <a:r>
              <a:rPr lang="en-US" sz="1600" dirty="0">
                <a:hlinkClick r:id="rId2"/>
              </a:rPr>
              <a:t>www.ansi.org</a:t>
            </a:r>
            <a:r>
              <a:rPr lang="en-US" sz="1600" dirty="0"/>
              <a:t>)</a:t>
            </a:r>
          </a:p>
          <a:p>
            <a:r>
              <a:rPr lang="en-US" sz="1600" dirty="0"/>
              <a:t>The standards responsibility of the U.S. government is carried out by the </a:t>
            </a:r>
            <a:r>
              <a:rPr lang="en-US" sz="1600" b="1" dirty="0"/>
              <a:t>National Institute for Standards and Technology </a:t>
            </a:r>
            <a:r>
              <a:rPr lang="en-US" sz="1600" dirty="0"/>
              <a:t>(NIST)</a:t>
            </a:r>
          </a:p>
          <a:p>
            <a:r>
              <a:rPr lang="en-US" sz="1600" b="1" dirty="0"/>
              <a:t>ASTM</a:t>
            </a:r>
            <a:r>
              <a:rPr lang="en-US" sz="1600" dirty="0"/>
              <a:t> International is the major organization that prepares standards in the field of materials and product systems</a:t>
            </a:r>
          </a:p>
          <a:p>
            <a:r>
              <a:rPr lang="en-US" sz="1600" dirty="0"/>
              <a:t>The </a:t>
            </a:r>
            <a:r>
              <a:rPr lang="en-US" sz="1600" b="1" dirty="0"/>
              <a:t>ASME</a:t>
            </a:r>
            <a:r>
              <a:rPr lang="en-US" sz="1600" dirty="0"/>
              <a:t> prepares the well-known Boiler and Pressure Vessel Code that is incorporated into the laws of most states</a:t>
            </a:r>
          </a:p>
          <a:p>
            <a:r>
              <a:rPr lang="en-US" sz="1600" b="1" dirty="0"/>
              <a:t>ISO</a:t>
            </a:r>
            <a:r>
              <a:rPr lang="en-US" sz="1600" dirty="0"/>
              <a:t> is the international organization for standardization (</a:t>
            </a:r>
            <a:r>
              <a:rPr lang="en-US" sz="1600" dirty="0">
                <a:hlinkClick r:id="rId3"/>
              </a:rPr>
              <a:t>www.iso.org</a:t>
            </a:r>
            <a:r>
              <a:rPr lang="en-US" sz="16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4C9E1-339C-0756-C247-1A15EA7F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2BA38-98A2-B48E-5E55-E5A97482F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1011" y="4070033"/>
            <a:ext cx="4361978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98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6722-FBEB-4458-A82B-17EF8DCE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AC00"/>
                </a:solidFill>
              </a:rPr>
              <a:t>Resources for Requirements and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47446-843D-6BBB-E23A-EC6615672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2711"/>
            <a:ext cx="7886700" cy="46642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Resources are provided on Canvas to assist with requirements and actions: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MIT Requirements Definition Presentation</a:t>
            </a:r>
          </a:p>
          <a:p>
            <a:r>
              <a:rPr lang="en-US" sz="2400" dirty="0">
                <a:solidFill>
                  <a:srgbClr val="C00000"/>
                </a:solidFill>
              </a:rPr>
              <a:t>ISEN Requirements and Actions for Research Projects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333B4-2200-C145-CDAB-535D3F57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52BA84-E573-AD12-FA8E-1C78838FC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019" y="3429000"/>
            <a:ext cx="4385962" cy="290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52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BE5633-9F5C-F7CE-0B3B-76A5E3D0E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Systems Modeling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6BA54-B0C5-3CDD-E853-8A76DC39F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System modeling is the </a:t>
            </a:r>
            <a:r>
              <a:rPr lang="en-US" sz="2200" b="1" dirty="0"/>
              <a:t>process of creating abstract representations </a:t>
            </a:r>
            <a:r>
              <a:rPr lang="en-US" sz="2200" dirty="0"/>
              <a:t>of real-world systems to understand, analyze, design, or improve them.</a:t>
            </a:r>
          </a:p>
          <a:p>
            <a:r>
              <a:rPr lang="en-US" sz="2200" dirty="0"/>
              <a:t>Instead of working directly with the full complexity of reality, we build </a:t>
            </a:r>
            <a:r>
              <a:rPr lang="en-US" sz="2200" b="1" dirty="0"/>
              <a:t>structured models </a:t>
            </a:r>
            <a:r>
              <a:rPr lang="en-US" sz="2200" dirty="0"/>
              <a:t>that capture the system's key components, relationships, inputs, outputs, and behaviors.</a:t>
            </a:r>
          </a:p>
          <a:p>
            <a:r>
              <a:rPr lang="en-US" sz="2200" dirty="0"/>
              <a:t>A system can be </a:t>
            </a:r>
            <a:r>
              <a:rPr lang="en-US" sz="2200" b="1" dirty="0"/>
              <a:t>physical</a:t>
            </a:r>
            <a:r>
              <a:rPr lang="en-US" sz="2200" dirty="0"/>
              <a:t> (e.g., a manufacturing plant), </a:t>
            </a:r>
            <a:r>
              <a:rPr lang="en-US" sz="2200" b="1" dirty="0"/>
              <a:t>informational</a:t>
            </a:r>
            <a:r>
              <a:rPr lang="en-US" sz="2200" dirty="0"/>
              <a:t> (e.g., a database pipeline), </a:t>
            </a:r>
            <a:r>
              <a:rPr lang="en-US" sz="2200" b="1" dirty="0"/>
              <a:t>organizational</a:t>
            </a:r>
            <a:r>
              <a:rPr lang="en-US" sz="2200" dirty="0"/>
              <a:t> (e.g., a supply chain), or </a:t>
            </a:r>
            <a:r>
              <a:rPr lang="en-US" sz="2200" b="1" dirty="0"/>
              <a:t>computational</a:t>
            </a:r>
            <a:r>
              <a:rPr lang="en-US" sz="2200" dirty="0"/>
              <a:t> (e.g., a distributed software architecture).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26C73-35A2-D42C-CDED-8F3C0FD9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69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A0E12-506E-AEFD-B48D-6DB7C126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D8F286-676C-349E-51A9-3FD34768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Systems Modeling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88F6F3-5F8B-57B0-6D30-2AD284EAB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At its core, system modeling is about </a:t>
            </a:r>
            <a:r>
              <a:rPr lang="en-US" sz="2200" b="1" dirty="0"/>
              <a:t>disciplined abstraction</a:t>
            </a:r>
            <a:r>
              <a:rPr lang="en-US" sz="2200" dirty="0"/>
              <a:t>: capturing </a:t>
            </a:r>
            <a:r>
              <a:rPr lang="en-US" sz="2200" u="sng" dirty="0"/>
              <a:t>what matters most </a:t>
            </a:r>
            <a:r>
              <a:rPr lang="en-US" sz="2200" dirty="0"/>
              <a:t>so we can reason rigorously about complex systems!</a:t>
            </a:r>
          </a:p>
          <a:p>
            <a:r>
              <a:rPr lang="en-US" sz="2200" dirty="0"/>
              <a:t>Common approaches include conceptual, mathematical, simulation, and data-driven models, each simplifying a system through </a:t>
            </a:r>
            <a:r>
              <a:rPr lang="en-US" sz="2200" b="1" dirty="0"/>
              <a:t>diagrams</a:t>
            </a:r>
            <a:r>
              <a:rPr lang="en-US" sz="2200" dirty="0"/>
              <a:t> (such as graphs or block diagrams), </a:t>
            </a:r>
            <a:r>
              <a:rPr lang="en-US" sz="2200" b="1" dirty="0"/>
              <a:t>mathematical equations </a:t>
            </a:r>
            <a:r>
              <a:rPr lang="en-US" sz="2200" dirty="0"/>
              <a:t>(such as differential equations), </a:t>
            </a:r>
            <a:r>
              <a:rPr lang="en-US" sz="2200" b="1" dirty="0"/>
              <a:t>simulations</a:t>
            </a:r>
            <a:r>
              <a:rPr lang="en-US" sz="2200" dirty="0"/>
              <a:t>, or </a:t>
            </a:r>
            <a:r>
              <a:rPr lang="en-US" sz="2200" b="1" dirty="0"/>
              <a:t>logical structures</a:t>
            </a:r>
            <a:r>
              <a:rPr lang="en-US" sz="22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A0EF0-8C23-32F3-734F-C05394D3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B4319-D3AC-C6B4-D58E-9A5D08E03E45}"/>
              </a:ext>
            </a:extLst>
          </p:cNvPr>
          <p:cNvSpPr txBox="1"/>
          <p:nvPr/>
        </p:nvSpPr>
        <p:spPr>
          <a:xfrm>
            <a:off x="1213965" y="4982645"/>
            <a:ext cx="6716069" cy="369332"/>
          </a:xfrm>
          <a:prstGeom prst="rect">
            <a:avLst/>
          </a:prstGeom>
          <a:solidFill>
            <a:srgbClr val="FFCDC7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Check examples: </a:t>
            </a:r>
            <a:r>
              <a:rPr lang="en-US" dirty="0">
                <a:hlinkClick r:id="rId2"/>
              </a:rPr>
              <a:t>https://en.wikipedia.org/wiki/Systems_modeling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06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293FD-C7B0-3F0B-5748-A4FC6087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8E7A1B-F266-3A23-FFD2-8474F49A6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System Modeling helps to: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22ED07-B6CB-AAA1-B861-5B9FCE6BD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Clarify how parts of a system interact</a:t>
            </a:r>
          </a:p>
          <a:p>
            <a:r>
              <a:rPr lang="en-US" sz="2200" dirty="0"/>
              <a:t>Predict behavior under different conditions</a:t>
            </a:r>
          </a:p>
          <a:p>
            <a:r>
              <a:rPr lang="en-US" sz="2200" dirty="0"/>
              <a:t>Identify bottlenecks or failure points</a:t>
            </a:r>
          </a:p>
          <a:p>
            <a:r>
              <a:rPr lang="en-US" sz="2200" dirty="0"/>
              <a:t>Compare alternative designs before implementation</a:t>
            </a:r>
          </a:p>
          <a:p>
            <a:r>
              <a:rPr lang="en-US" sz="2200" dirty="0"/>
              <a:t>Support optimization and decision-making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21651-3D3C-D7FF-A5EB-FDDF4767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356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1CC0AE-E0FD-6762-5120-AF3EB361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A900AC-5790-CCAC-C77F-CB1B57160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60" y="550882"/>
            <a:ext cx="7310880" cy="49191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EE4C5B-4934-EEE8-7A1A-270EBFBDC32F}"/>
              </a:ext>
            </a:extLst>
          </p:cNvPr>
          <p:cNvSpPr txBox="1"/>
          <p:nvPr/>
        </p:nvSpPr>
        <p:spPr>
          <a:xfrm>
            <a:off x="1405107" y="5999341"/>
            <a:ext cx="6333785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sym typeface="Wingdings" pitchFamily="2" charset="2"/>
              </a:rPr>
              <a:t> </a:t>
            </a:r>
            <a:r>
              <a:rPr lang="en-US" sz="1400" b="1" dirty="0">
                <a:solidFill>
                  <a:srgbClr val="002060"/>
                </a:solidFill>
              </a:rPr>
              <a:t>Please review the slides from the 5th/6th week of last semester! </a:t>
            </a:r>
            <a:r>
              <a:rPr lang="en-US" sz="1400" b="1" dirty="0">
                <a:solidFill>
                  <a:srgbClr val="002060"/>
                </a:solidFill>
                <a:highlight>
                  <a:srgbClr val="FFFF00"/>
                </a:highlight>
                <a:hlinkClick r:id="rId3"/>
              </a:rPr>
              <a:t>link here</a:t>
            </a:r>
            <a:endParaRPr lang="en-US" sz="1400" b="1" dirty="0">
              <a:solidFill>
                <a:srgbClr val="00206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204991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ED74-570D-D6CB-EE67-7C28F797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E67575-05DD-1B78-E239-1ED626CF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48" y="1451682"/>
            <a:ext cx="8247703" cy="395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46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4F21AD-CF7A-39E4-3074-4449A49B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5DEED9-E071-D10E-676D-7749628DC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2473"/>
            <a:ext cx="7772400" cy="389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80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D91EB3-FBBF-B9F5-59DF-743FDE24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33</a:t>
            </a:fld>
            <a:endParaRPr lang="en-US"/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AE1810B7-0F65-861B-9A4D-DB545FF60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34292"/>
            <a:ext cx="7772400" cy="45894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CDE22E-5A5D-2DBA-C93E-BA1925EABD92}"/>
              </a:ext>
            </a:extLst>
          </p:cNvPr>
          <p:cNvSpPr txBox="1"/>
          <p:nvPr/>
        </p:nvSpPr>
        <p:spPr>
          <a:xfrm>
            <a:off x="3823077" y="640782"/>
            <a:ext cx="149784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MonoSketch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859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B1C8-500B-ECC3-ECB1-F92B6F16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ABET Accreditation and Student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A0186-4CD9-B125-754A-DE6FA38C4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12278"/>
            <a:ext cx="7999535" cy="4664686"/>
          </a:xfrm>
        </p:spPr>
        <p:txBody>
          <a:bodyPr>
            <a:normAutofit/>
          </a:bodyPr>
          <a:lstStyle/>
          <a:p>
            <a:r>
              <a:rPr lang="en-US" sz="2000" dirty="0"/>
              <a:t>ABET reviews the ISEN programs</a:t>
            </a:r>
          </a:p>
          <a:p>
            <a:r>
              <a:rPr lang="en-US" sz="2000" dirty="0"/>
              <a:t>Demonstration of meeting established criteria must be documented</a:t>
            </a:r>
          </a:p>
          <a:p>
            <a:pPr lvl="1"/>
            <a:r>
              <a:rPr lang="en-US" sz="2000" b="1" dirty="0">
                <a:solidFill>
                  <a:srgbClr val="4B1211"/>
                </a:solidFill>
              </a:rPr>
              <a:t>Criterion 3, Student Outcomes</a:t>
            </a:r>
            <a:b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describes the expectations for students in and graduating</a:t>
            </a:r>
          </a:p>
          <a:p>
            <a:pPr lvl="1"/>
            <a:r>
              <a:rPr lang="en-US" sz="2000" b="1" dirty="0">
                <a:solidFill>
                  <a:srgbClr val="4B1211"/>
                </a:solidFill>
              </a:rPr>
              <a:t>Criterion 5, Curriculum</a:t>
            </a:r>
            <a:b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requires a culminating major engineering design experience that:</a:t>
            </a:r>
          </a:p>
          <a:p>
            <a:pPr lvl="2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Incorporates appropriate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engineering standards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and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multiple constraints</a:t>
            </a:r>
          </a:p>
          <a:p>
            <a:pPr lvl="2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Is based on the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knowledge and skills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acquired in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earlier course work</a:t>
            </a:r>
          </a:p>
          <a:p>
            <a:r>
              <a:rPr lang="en-US" sz="2000" b="1" dirty="0"/>
              <a:t>DAEN 460 </a:t>
            </a:r>
            <a:r>
              <a:rPr lang="en-US" sz="2000" dirty="0"/>
              <a:t>is a primary course used for evaluation</a:t>
            </a:r>
          </a:p>
          <a:p>
            <a:r>
              <a:rPr lang="en-US" sz="2000" dirty="0"/>
              <a:t>ABET is an important component of the value of your degree!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C51B7-A69F-0366-73CF-061496E6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44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0EDB-4692-D9BE-C7E9-B8270C4CD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Documentation of Student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A6C57-C139-BBA2-935C-71BE7D4AD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6062"/>
            <a:ext cx="7886700" cy="4570901"/>
          </a:xfrm>
        </p:spPr>
        <p:txBody>
          <a:bodyPr>
            <a:normAutofit/>
          </a:bodyPr>
          <a:lstStyle/>
          <a:p>
            <a:r>
              <a:rPr lang="en-US" sz="2000" dirty="0"/>
              <a:t>As part of your final report deliverables, your team will be expected to complete a questionnaire about student outcomes</a:t>
            </a:r>
            <a:br>
              <a:rPr lang="en-US" sz="2000" dirty="0"/>
            </a:br>
            <a:r>
              <a:rPr lang="en-US" sz="2000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US" sz="2000" b="1" i="1" dirty="0">
                <a:solidFill>
                  <a:srgbClr val="FF000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4</a:t>
            </a:r>
            <a:r>
              <a:rPr lang="en-US" sz="2000" b="1" i="1" dirty="0">
                <a:solidFill>
                  <a:srgbClr val="FF0000"/>
                </a:solidFill>
              </a:rPr>
              <a:t> in this presentation!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You will reference and link to sections of the report that meet the expected outcomes</a:t>
            </a:r>
          </a:p>
          <a:p>
            <a:r>
              <a:rPr lang="en-US" sz="2000" dirty="0"/>
              <a:t>All outcomes need to be addressed</a:t>
            </a:r>
            <a:br>
              <a:rPr lang="en-US" sz="2000" dirty="0"/>
            </a:br>
            <a:r>
              <a:rPr lang="en-US" sz="1800" dirty="0"/>
              <a:t>(</a:t>
            </a:r>
            <a:r>
              <a:rPr lang="en-US" sz="1800" i="1" dirty="0"/>
              <a:t>although some specific questions on the form may not be applicable</a:t>
            </a:r>
            <a:r>
              <a:rPr lang="en-US" sz="1800" dirty="0"/>
              <a:t>)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C319D-9732-5394-F6E3-1F40D700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5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A15D5-204B-CDC8-CD0B-5A7A1F98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5266-C482-2BE1-0271-68A87CD63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Phase 2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24ADF-24D8-CE4B-BF91-EC6DA2A36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Canvas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CF317-B36D-4A37-5EC1-D93FFC14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63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78E5A6-FCED-20AD-BA63-3002DF05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55808-1BF9-7135-7A6D-45FFDCEE4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8200"/>
            <a:ext cx="7772400" cy="5181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CD3D88-6FA9-3628-50A0-91B50959CE8A}"/>
              </a:ext>
            </a:extLst>
          </p:cNvPr>
          <p:cNvSpPr txBox="1"/>
          <p:nvPr/>
        </p:nvSpPr>
        <p:spPr>
          <a:xfrm>
            <a:off x="685801" y="5758190"/>
            <a:ext cx="7772399" cy="523220"/>
          </a:xfrm>
          <a:prstGeom prst="rect">
            <a:avLst/>
          </a:prstGeom>
          <a:solidFill>
            <a:srgbClr val="FFCDC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Nice reading: </a:t>
            </a:r>
            <a:r>
              <a:rPr lang="en-US" sz="1400" dirty="0">
                <a:hlinkClick r:id="rId3"/>
              </a:rPr>
              <a:t>https://medium.com/@VijayRodrigues18/the-hidden-soft-skills-of-a-data-engineer-communication-debugging-documentation-and-more-25210d64e265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797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1174</TotalTime>
  <Words>2093</Words>
  <Application>Microsoft Macintosh PowerPoint</Application>
  <PresentationFormat>On-screen Show (4:3)</PresentationFormat>
  <Paragraphs>262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Wingdings</vt:lpstr>
      <vt:lpstr>Office Theme</vt:lpstr>
      <vt:lpstr>Phase 2 Define</vt:lpstr>
      <vt:lpstr>PowerPoint Presentation</vt:lpstr>
      <vt:lpstr>PowerPoint Presentation</vt:lpstr>
      <vt:lpstr>Learning Outcomes (read the syllabus!) Ability to:</vt:lpstr>
      <vt:lpstr>PowerPoint Presentation</vt:lpstr>
      <vt:lpstr>Shift From Engagement to Ownership</vt:lpstr>
      <vt:lpstr>Today’s Agenda</vt:lpstr>
      <vt:lpstr>Virtual Project Showcase Registration</vt:lpstr>
      <vt:lpstr>Communication Activity</vt:lpstr>
      <vt:lpstr>PowerPoint Presentation</vt:lpstr>
      <vt:lpstr>Customer Needs (Voice of the Customer)</vt:lpstr>
      <vt:lpstr>Customer Needs</vt:lpstr>
      <vt:lpstr>Requirements (Voice of the Engineer)</vt:lpstr>
      <vt:lpstr>Requirements Example</vt:lpstr>
      <vt:lpstr>Requirements Example Cont.</vt:lpstr>
      <vt:lpstr>Requirements Example Cont. ...</vt:lpstr>
      <vt:lpstr>PowerPoint Presentation</vt:lpstr>
      <vt:lpstr>PowerPoint Presentation</vt:lpstr>
      <vt:lpstr>PowerPoint Presentation</vt:lpstr>
      <vt:lpstr>PowerPoint Presentation</vt:lpstr>
      <vt:lpstr>Engineering Actions</vt:lpstr>
      <vt:lpstr>Constraints</vt:lpstr>
      <vt:lpstr>Codes, Standards, and Specifications</vt:lpstr>
      <vt:lpstr>Where do you find applicable codes/standards?</vt:lpstr>
      <vt:lpstr>ANSI, NIST, ASTM, ASME, ISO</vt:lpstr>
      <vt:lpstr>Resources for Requirements and Actions</vt:lpstr>
      <vt:lpstr>Systems Modeling</vt:lpstr>
      <vt:lpstr>Systems Modeling</vt:lpstr>
      <vt:lpstr>System Modeling helps to:</vt:lpstr>
      <vt:lpstr>PowerPoint Presentation</vt:lpstr>
      <vt:lpstr>PowerPoint Presentation</vt:lpstr>
      <vt:lpstr>PowerPoint Presentation</vt:lpstr>
      <vt:lpstr>PowerPoint Presentation</vt:lpstr>
      <vt:lpstr>ABET Accreditation and Student Outcomes</vt:lpstr>
      <vt:lpstr>Documentation of Student Outcomes</vt:lpstr>
      <vt:lpstr>Phase 2 Guidelines</vt:lpstr>
      <vt:lpstr>PowerPoint Presentation</vt:lpstr>
    </vt:vector>
  </TitlesOfParts>
  <Manager/>
  <Company>TAMU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</dc:title>
  <dc:subject>DAEN 460</dc:subject>
  <dc:creator>Alexander Abuabara</dc:creator>
  <cp:keywords/>
  <dc:description/>
  <cp:lastModifiedBy>Alexander Abuabara</cp:lastModifiedBy>
  <cp:revision>209</cp:revision>
  <dcterms:created xsi:type="dcterms:W3CDTF">2026-01-26T19:08:04Z</dcterms:created>
  <dcterms:modified xsi:type="dcterms:W3CDTF">2026-02-17T04:48:50Z</dcterms:modified>
  <cp:category/>
</cp:coreProperties>
</file>