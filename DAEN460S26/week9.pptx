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8"/>
  </p:notesMasterIdLst>
  <p:sldIdLst>
    <p:sldId id="256" r:id="rId2"/>
    <p:sldId id="326" r:id="rId3"/>
    <p:sldId id="258" r:id="rId4"/>
    <p:sldId id="292" r:id="rId5"/>
    <p:sldId id="293" r:id="rId6"/>
    <p:sldId id="320" r:id="rId7"/>
    <p:sldId id="330" r:id="rId8"/>
    <p:sldId id="329" r:id="rId9"/>
    <p:sldId id="328" r:id="rId10"/>
    <p:sldId id="319" r:id="rId11"/>
    <p:sldId id="331" r:id="rId12"/>
    <p:sldId id="336" r:id="rId13"/>
    <p:sldId id="333" r:id="rId14"/>
    <p:sldId id="341" r:id="rId15"/>
    <p:sldId id="337" r:id="rId16"/>
    <p:sldId id="338" r:id="rId17"/>
    <p:sldId id="342" r:id="rId18"/>
    <p:sldId id="339" r:id="rId19"/>
    <p:sldId id="369" r:id="rId20"/>
    <p:sldId id="370" r:id="rId21"/>
    <p:sldId id="371" r:id="rId22"/>
    <p:sldId id="347" r:id="rId23"/>
    <p:sldId id="340" r:id="rId24"/>
    <p:sldId id="348" r:id="rId25"/>
    <p:sldId id="349" r:id="rId26"/>
    <p:sldId id="350" r:id="rId27"/>
    <p:sldId id="352" r:id="rId28"/>
    <p:sldId id="351" r:id="rId29"/>
    <p:sldId id="357" r:id="rId30"/>
    <p:sldId id="359" r:id="rId31"/>
    <p:sldId id="345" r:id="rId32"/>
    <p:sldId id="358" r:id="rId33"/>
    <p:sldId id="355" r:id="rId34"/>
    <p:sldId id="361" r:id="rId35"/>
    <p:sldId id="356" r:id="rId36"/>
    <p:sldId id="360" r:id="rId37"/>
    <p:sldId id="362" r:id="rId38"/>
    <p:sldId id="332" r:id="rId39"/>
    <p:sldId id="306" r:id="rId40"/>
    <p:sldId id="363" r:id="rId41"/>
    <p:sldId id="365" r:id="rId42"/>
    <p:sldId id="366" r:id="rId43"/>
    <p:sldId id="367" r:id="rId44"/>
    <p:sldId id="368" r:id="rId45"/>
    <p:sldId id="327" r:id="rId46"/>
    <p:sldId id="334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1211"/>
    <a:srgbClr val="FFAC00"/>
    <a:srgbClr val="FEF3E4"/>
    <a:srgbClr val="FFCDC7"/>
    <a:srgbClr val="F9ECD3"/>
    <a:srgbClr val="FFD8AC"/>
    <a:srgbClr val="F2F2F2"/>
    <a:srgbClr val="FFE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9"/>
    <p:restoredTop sz="96018"/>
  </p:normalViewPr>
  <p:slideViewPr>
    <p:cSldViewPr snapToGrid="0">
      <p:cViewPr varScale="1">
        <p:scale>
          <a:sx n="111" d="100"/>
          <a:sy n="111" d="100"/>
        </p:scale>
        <p:origin x="224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C3577D-C4AE-FD4D-9608-BF0F90592EBC}" type="doc">
      <dgm:prSet loTypeId="urn:microsoft.com/office/officeart/2005/8/layout/chevron2" loCatId="" qsTypeId="urn:microsoft.com/office/officeart/2005/8/quickstyle/simple1" qsCatId="simple" csTypeId="urn:microsoft.com/office/officeart/2005/8/colors/accent2_2" csCatId="accent2" phldr="1"/>
      <dgm:spPr/>
    </dgm:pt>
    <dgm:pt modelId="{B6CC79FE-9CEC-D04D-8445-668E569F406E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b="1" dirty="0">
              <a:solidFill>
                <a:srgbClr val="FFFF00"/>
              </a:solidFill>
            </a:rPr>
            <a:t>Establish &amp; Evaluate</a:t>
          </a:r>
        </a:p>
      </dgm:t>
    </dgm:pt>
    <dgm:pt modelId="{428E658F-A13D-D04E-8B70-BA47878DEEC2}" type="parTrans" cxnId="{7E1A7E6E-DA41-9647-BBF2-088C5ADC6C08}">
      <dgm:prSet/>
      <dgm:spPr/>
      <dgm:t>
        <a:bodyPr/>
        <a:lstStyle/>
        <a:p>
          <a:endParaRPr lang="en-US"/>
        </a:p>
      </dgm:t>
    </dgm:pt>
    <dgm:pt modelId="{44B39AA9-9EDE-3A42-9901-823064B8A252}" type="sibTrans" cxnId="{7E1A7E6E-DA41-9647-BBF2-088C5ADC6C08}">
      <dgm:prSet/>
      <dgm:spPr/>
      <dgm:t>
        <a:bodyPr/>
        <a:lstStyle/>
        <a:p>
          <a:endParaRPr lang="en-US"/>
        </a:p>
      </dgm:t>
    </dgm:pt>
    <dgm:pt modelId="{CDA010D4-B715-7841-8EC7-AAEBF7611CA9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r>
            <a:rPr lang="en-US" dirty="0"/>
            <a:t>Analyze &amp; Select</a:t>
          </a:r>
        </a:p>
      </dgm:t>
    </dgm:pt>
    <dgm:pt modelId="{CEF324E2-F731-7644-95CA-C7484E9A192C}" type="parTrans" cxnId="{A61647F6-8010-DA47-9CD4-9FDA226F69EB}">
      <dgm:prSet/>
      <dgm:spPr/>
      <dgm:t>
        <a:bodyPr/>
        <a:lstStyle/>
        <a:p>
          <a:endParaRPr lang="en-US"/>
        </a:p>
      </dgm:t>
    </dgm:pt>
    <dgm:pt modelId="{A760F7C4-AFD5-544A-9958-B79279C399D1}" type="sibTrans" cxnId="{A61647F6-8010-DA47-9CD4-9FDA226F69EB}">
      <dgm:prSet/>
      <dgm:spPr/>
      <dgm:t>
        <a:bodyPr/>
        <a:lstStyle/>
        <a:p>
          <a:endParaRPr lang="en-US"/>
        </a:p>
      </dgm:t>
    </dgm:pt>
    <dgm:pt modelId="{2471F00C-793B-BF44-9288-7419D608EAB9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r>
            <a:rPr lang="en-US" dirty="0"/>
            <a:t>Document &amp; Present</a:t>
          </a:r>
        </a:p>
      </dgm:t>
    </dgm:pt>
    <dgm:pt modelId="{AF66C745-ABE3-0440-A5AE-C1654C40F921}" type="parTrans" cxnId="{D7DD9BDE-C5BC-D44E-8947-50B9F4E76B00}">
      <dgm:prSet/>
      <dgm:spPr/>
      <dgm:t>
        <a:bodyPr/>
        <a:lstStyle/>
        <a:p>
          <a:endParaRPr lang="en-US"/>
        </a:p>
      </dgm:t>
    </dgm:pt>
    <dgm:pt modelId="{FE370B84-9819-1B48-B20A-E3FFBAC72151}" type="sibTrans" cxnId="{D7DD9BDE-C5BC-D44E-8947-50B9F4E76B00}">
      <dgm:prSet/>
      <dgm:spPr/>
      <dgm:t>
        <a:bodyPr/>
        <a:lstStyle/>
        <a:p>
          <a:endParaRPr lang="en-US"/>
        </a:p>
      </dgm:t>
    </dgm:pt>
    <dgm:pt modelId="{17A2A880-A241-3742-89D2-CB7973877184}">
      <dgm:prSet/>
      <dgm:spPr>
        <a:ln w="31750">
          <a:solidFill>
            <a:srgbClr val="C00000"/>
          </a:solidFill>
        </a:ln>
      </dgm:spPr>
      <dgm:t>
        <a:bodyPr/>
        <a:lstStyle/>
        <a:p>
          <a:r>
            <a:rPr lang="en-US" b="1" dirty="0">
              <a:solidFill>
                <a:srgbClr val="C00000"/>
              </a:solidFill>
            </a:rPr>
            <a:t>Define measurable evaluation criteria
Score solutions, prioritize feasibility
Consider cost, efficiency, &amp; scalability</a:t>
          </a:r>
        </a:p>
      </dgm:t>
    </dgm:pt>
    <dgm:pt modelId="{35D2468F-C3A1-4E46-AE83-735E97585065}" type="parTrans" cxnId="{8D328659-887E-6A4C-A21A-FC6B0576FB24}">
      <dgm:prSet/>
      <dgm:spPr/>
      <dgm:t>
        <a:bodyPr/>
        <a:lstStyle/>
        <a:p>
          <a:endParaRPr lang="en-US"/>
        </a:p>
      </dgm:t>
    </dgm:pt>
    <dgm:pt modelId="{8BF2E112-74D9-FB4C-8B9C-747644B2C066}" type="sibTrans" cxnId="{8D328659-887E-6A4C-A21A-FC6B0576FB24}">
      <dgm:prSet/>
      <dgm:spPr/>
      <dgm:t>
        <a:bodyPr/>
        <a:lstStyle/>
        <a:p>
          <a:endParaRPr lang="en-US"/>
        </a:p>
      </dgm:t>
    </dgm:pt>
    <dgm:pt modelId="{E215926E-9495-FD44-BE8A-D51A3CB842F4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>
              <a:solidFill>
                <a:srgbClr val="C00000"/>
              </a:solidFill>
            </a:rPr>
            <a:t>• Conduct trade-off analysis: Performance, cost, &amp; risk analysis</a:t>
          </a:r>
        </a:p>
      </dgm:t>
    </dgm:pt>
    <dgm:pt modelId="{18EA4EB7-F0F2-664A-991E-58ED13A00673}" type="parTrans" cxnId="{3F35F314-927F-514A-8F48-ADE3C41CEC7B}">
      <dgm:prSet/>
      <dgm:spPr/>
      <dgm:t>
        <a:bodyPr/>
        <a:lstStyle/>
        <a:p>
          <a:endParaRPr lang="en-US"/>
        </a:p>
      </dgm:t>
    </dgm:pt>
    <dgm:pt modelId="{656FD251-F42A-2C4A-AB2D-4F21230D0B6F}" type="sibTrans" cxnId="{3F35F314-927F-514A-8F48-ADE3C41CEC7B}">
      <dgm:prSet/>
      <dgm:spPr/>
      <dgm:t>
        <a:bodyPr/>
        <a:lstStyle/>
        <a:p>
          <a:endParaRPr lang="en-US"/>
        </a:p>
      </dgm:t>
    </dgm:pt>
    <dgm:pt modelId="{C041D1DA-1B15-1243-9041-786168094CF3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>
              <a:solidFill>
                <a:srgbClr val="C00000"/>
              </a:solidFill>
            </a:rPr>
            <a:t>• Select solution, justify with criteria</a:t>
          </a:r>
        </a:p>
      </dgm:t>
    </dgm:pt>
    <dgm:pt modelId="{51F08370-C34D-6E45-84CA-805CEC45386A}" type="parTrans" cxnId="{1F181852-43E2-2046-8F30-7ABAC224CBF7}">
      <dgm:prSet/>
      <dgm:spPr/>
      <dgm:t>
        <a:bodyPr/>
        <a:lstStyle/>
        <a:p>
          <a:endParaRPr lang="en-US"/>
        </a:p>
      </dgm:t>
    </dgm:pt>
    <dgm:pt modelId="{31970CB4-E7E0-E543-9DE7-C907A080E715}" type="sibTrans" cxnId="{1F181852-43E2-2046-8F30-7ABAC224CBF7}">
      <dgm:prSet/>
      <dgm:spPr/>
      <dgm:t>
        <a:bodyPr/>
        <a:lstStyle/>
        <a:p>
          <a:endParaRPr lang="en-US"/>
        </a:p>
      </dgm:t>
    </dgm:pt>
    <dgm:pt modelId="{28936896-5C33-5243-BEB1-3FD0B9A0F637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>
              <a:solidFill>
                <a:srgbClr val="C00000"/>
              </a:solidFill>
            </a:rPr>
            <a:t>• Adjust for scenario &amp; assumption changes</a:t>
          </a:r>
        </a:p>
      </dgm:t>
    </dgm:pt>
    <dgm:pt modelId="{F56218B8-9EC5-1C47-9D4C-6F5AC22C653E}" type="parTrans" cxnId="{8D94FB4C-074D-FE4C-9BF6-53F903013F56}">
      <dgm:prSet/>
      <dgm:spPr/>
      <dgm:t>
        <a:bodyPr/>
        <a:lstStyle/>
        <a:p>
          <a:endParaRPr lang="en-US"/>
        </a:p>
      </dgm:t>
    </dgm:pt>
    <dgm:pt modelId="{ABCD8607-474F-DB4C-80E0-6BB426362EB2}" type="sibTrans" cxnId="{8D94FB4C-074D-FE4C-9BF6-53F903013F56}">
      <dgm:prSet/>
      <dgm:spPr/>
      <dgm:t>
        <a:bodyPr/>
        <a:lstStyle/>
        <a:p>
          <a:endParaRPr lang="en-US"/>
        </a:p>
      </dgm:t>
    </dgm:pt>
    <dgm:pt modelId="{FF1366CC-C3D2-6E4C-A24B-BBA1D501FF3A}">
      <dgm:prSet/>
      <dgm:spPr>
        <a:ln w="31750">
          <a:solidFill>
            <a:srgbClr val="C00000"/>
          </a:solidFill>
        </a:ln>
      </dgm:spPr>
      <dgm:t>
        <a:bodyPr/>
        <a:lstStyle/>
        <a:p>
          <a:r>
            <a:rPr lang="en-US" dirty="0">
              <a:solidFill>
                <a:srgbClr val="C00000"/>
              </a:solidFill>
            </a:rPr>
            <a:t>Document process &amp; findings clearly
Use visuals with salient results</a:t>
          </a:r>
        </a:p>
      </dgm:t>
    </dgm:pt>
    <dgm:pt modelId="{AE2E579B-66D2-974E-83C8-9CCD98AF7ADA}" type="parTrans" cxnId="{668E5D09-5097-E248-9699-9D4DD5809D16}">
      <dgm:prSet/>
      <dgm:spPr/>
      <dgm:t>
        <a:bodyPr/>
        <a:lstStyle/>
        <a:p>
          <a:endParaRPr lang="en-US"/>
        </a:p>
      </dgm:t>
    </dgm:pt>
    <dgm:pt modelId="{90663EA7-35A0-984C-857F-86859A08BC7C}" type="sibTrans" cxnId="{668E5D09-5097-E248-9699-9D4DD5809D16}">
      <dgm:prSet/>
      <dgm:spPr/>
      <dgm:t>
        <a:bodyPr/>
        <a:lstStyle/>
        <a:p>
          <a:endParaRPr lang="en-US"/>
        </a:p>
      </dgm:t>
    </dgm:pt>
    <dgm:pt modelId="{A6CC9021-11C9-D44F-B433-6D87C7FC411C}" type="pres">
      <dgm:prSet presAssocID="{0CC3577D-C4AE-FD4D-9608-BF0F90592EBC}" presName="linearFlow" presStyleCnt="0">
        <dgm:presLayoutVars>
          <dgm:dir/>
          <dgm:animLvl val="lvl"/>
          <dgm:resizeHandles val="exact"/>
        </dgm:presLayoutVars>
      </dgm:prSet>
      <dgm:spPr/>
    </dgm:pt>
    <dgm:pt modelId="{27455C90-95F4-A84F-BF53-E5ECBC3F500A}" type="pres">
      <dgm:prSet presAssocID="{B6CC79FE-9CEC-D04D-8445-668E569F406E}" presName="composite" presStyleCnt="0"/>
      <dgm:spPr/>
    </dgm:pt>
    <dgm:pt modelId="{BE7932AB-4E6C-0D4D-85BC-F0AF5537E1EB}" type="pres">
      <dgm:prSet presAssocID="{B6CC79FE-9CEC-D04D-8445-668E569F406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502118D-6D29-9244-9334-4CCDF72C7C26}" type="pres">
      <dgm:prSet presAssocID="{B6CC79FE-9CEC-D04D-8445-668E569F406E}" presName="descendantText" presStyleLbl="alignAcc1" presStyleIdx="0" presStyleCnt="3" custScaleX="92861">
        <dgm:presLayoutVars>
          <dgm:bulletEnabled val="1"/>
        </dgm:presLayoutVars>
      </dgm:prSet>
      <dgm:spPr/>
    </dgm:pt>
    <dgm:pt modelId="{1A98BF85-3175-0945-AAF9-C44DF01400A9}" type="pres">
      <dgm:prSet presAssocID="{44B39AA9-9EDE-3A42-9901-823064B8A252}" presName="sp" presStyleCnt="0"/>
      <dgm:spPr/>
    </dgm:pt>
    <dgm:pt modelId="{7F3F1AE8-0879-854A-90C2-7806034CC0F1}" type="pres">
      <dgm:prSet presAssocID="{CDA010D4-B715-7841-8EC7-AAEBF7611CA9}" presName="composite" presStyleCnt="0"/>
      <dgm:spPr/>
    </dgm:pt>
    <dgm:pt modelId="{859FEB33-D236-F541-AA93-A4172445FD67}" type="pres">
      <dgm:prSet presAssocID="{CDA010D4-B715-7841-8EC7-AAEBF7611CA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6F18C25-51CF-0D4D-BCB3-CD21638E8CE0}" type="pres">
      <dgm:prSet presAssocID="{CDA010D4-B715-7841-8EC7-AAEBF7611CA9}" presName="descendantText" presStyleLbl="alignAcc1" presStyleIdx="1" presStyleCnt="3" custScaleX="92861">
        <dgm:presLayoutVars>
          <dgm:bulletEnabled val="1"/>
        </dgm:presLayoutVars>
      </dgm:prSet>
      <dgm:spPr/>
    </dgm:pt>
    <dgm:pt modelId="{F13F9D16-6E6D-DC48-B417-0F9C7B1C72CE}" type="pres">
      <dgm:prSet presAssocID="{A760F7C4-AFD5-544A-9958-B79279C399D1}" presName="sp" presStyleCnt="0"/>
      <dgm:spPr/>
    </dgm:pt>
    <dgm:pt modelId="{E778495E-7F5F-324E-BD6B-34C9B75A03D9}" type="pres">
      <dgm:prSet presAssocID="{2471F00C-793B-BF44-9288-7419D608EAB9}" presName="composite" presStyleCnt="0"/>
      <dgm:spPr/>
    </dgm:pt>
    <dgm:pt modelId="{9469AE60-3C50-2345-AFCF-3AADD6A048F8}" type="pres">
      <dgm:prSet presAssocID="{2471F00C-793B-BF44-9288-7419D608EAB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7BB0246-A909-3E43-9088-CAE2EA2D9CF1}" type="pres">
      <dgm:prSet presAssocID="{2471F00C-793B-BF44-9288-7419D608EAB9}" presName="descendantText" presStyleLbl="alignAcc1" presStyleIdx="2" presStyleCnt="3" custScaleX="92861">
        <dgm:presLayoutVars>
          <dgm:bulletEnabled val="1"/>
        </dgm:presLayoutVars>
      </dgm:prSet>
      <dgm:spPr/>
    </dgm:pt>
  </dgm:ptLst>
  <dgm:cxnLst>
    <dgm:cxn modelId="{668E5D09-5097-E248-9699-9D4DD5809D16}" srcId="{2471F00C-793B-BF44-9288-7419D608EAB9}" destId="{FF1366CC-C3D2-6E4C-A24B-BBA1D501FF3A}" srcOrd="0" destOrd="0" parTransId="{AE2E579B-66D2-974E-83C8-9CCD98AF7ADA}" sibTransId="{90663EA7-35A0-984C-857F-86859A08BC7C}"/>
    <dgm:cxn modelId="{3F35F314-927F-514A-8F48-ADE3C41CEC7B}" srcId="{CDA010D4-B715-7841-8EC7-AAEBF7611CA9}" destId="{E215926E-9495-FD44-BE8A-D51A3CB842F4}" srcOrd="0" destOrd="0" parTransId="{18EA4EB7-F0F2-664A-991E-58ED13A00673}" sibTransId="{656FD251-F42A-2C4A-AB2D-4F21230D0B6F}"/>
    <dgm:cxn modelId="{282E4D1B-DA1B-474F-8C45-654E42459286}" type="presOf" srcId="{E215926E-9495-FD44-BE8A-D51A3CB842F4}" destId="{86F18C25-51CF-0D4D-BCB3-CD21638E8CE0}" srcOrd="0" destOrd="0" presId="urn:microsoft.com/office/officeart/2005/8/layout/chevron2"/>
    <dgm:cxn modelId="{8EB0F02E-8FE2-AF41-9102-03C0F715F3E9}" type="presOf" srcId="{17A2A880-A241-3742-89D2-CB7973877184}" destId="{7502118D-6D29-9244-9334-4CCDF72C7C26}" srcOrd="0" destOrd="0" presId="urn:microsoft.com/office/officeart/2005/8/layout/chevron2"/>
    <dgm:cxn modelId="{2A164C42-7EB1-564C-8129-D5CD1733F65B}" type="presOf" srcId="{FF1366CC-C3D2-6E4C-A24B-BBA1D501FF3A}" destId="{E7BB0246-A909-3E43-9088-CAE2EA2D9CF1}" srcOrd="0" destOrd="0" presId="urn:microsoft.com/office/officeart/2005/8/layout/chevron2"/>
    <dgm:cxn modelId="{8D94FB4C-074D-FE4C-9BF6-53F903013F56}" srcId="{CDA010D4-B715-7841-8EC7-AAEBF7611CA9}" destId="{28936896-5C33-5243-BEB1-3FD0B9A0F637}" srcOrd="1" destOrd="0" parTransId="{F56218B8-9EC5-1C47-9D4C-6F5AC22C653E}" sibTransId="{ABCD8607-474F-DB4C-80E0-6BB426362EB2}"/>
    <dgm:cxn modelId="{1F181852-43E2-2046-8F30-7ABAC224CBF7}" srcId="{CDA010D4-B715-7841-8EC7-AAEBF7611CA9}" destId="{C041D1DA-1B15-1243-9041-786168094CF3}" srcOrd="2" destOrd="0" parTransId="{51F08370-C34D-6E45-84CA-805CEC45386A}" sibTransId="{31970CB4-E7E0-E543-9DE7-C907A080E715}"/>
    <dgm:cxn modelId="{8D328659-887E-6A4C-A21A-FC6B0576FB24}" srcId="{B6CC79FE-9CEC-D04D-8445-668E569F406E}" destId="{17A2A880-A241-3742-89D2-CB7973877184}" srcOrd="0" destOrd="0" parTransId="{35D2468F-C3A1-4E46-AE83-735E97585065}" sibTransId="{8BF2E112-74D9-FB4C-8B9C-747644B2C066}"/>
    <dgm:cxn modelId="{D4D0425F-65D5-C745-992D-C41A8B82AABA}" type="presOf" srcId="{2471F00C-793B-BF44-9288-7419D608EAB9}" destId="{9469AE60-3C50-2345-AFCF-3AADD6A048F8}" srcOrd="0" destOrd="0" presId="urn:microsoft.com/office/officeart/2005/8/layout/chevron2"/>
    <dgm:cxn modelId="{7E1A7E6E-DA41-9647-BBF2-088C5ADC6C08}" srcId="{0CC3577D-C4AE-FD4D-9608-BF0F90592EBC}" destId="{B6CC79FE-9CEC-D04D-8445-668E569F406E}" srcOrd="0" destOrd="0" parTransId="{428E658F-A13D-D04E-8B70-BA47878DEEC2}" sibTransId="{44B39AA9-9EDE-3A42-9901-823064B8A252}"/>
    <dgm:cxn modelId="{F0159A7C-7656-3742-98F4-74029CB5D945}" type="presOf" srcId="{0CC3577D-C4AE-FD4D-9608-BF0F90592EBC}" destId="{A6CC9021-11C9-D44F-B433-6D87C7FC411C}" srcOrd="0" destOrd="0" presId="urn:microsoft.com/office/officeart/2005/8/layout/chevron2"/>
    <dgm:cxn modelId="{9C8F399F-F4ED-D143-83CD-F63469B994C7}" type="presOf" srcId="{B6CC79FE-9CEC-D04D-8445-668E569F406E}" destId="{BE7932AB-4E6C-0D4D-85BC-F0AF5537E1EB}" srcOrd="0" destOrd="0" presId="urn:microsoft.com/office/officeart/2005/8/layout/chevron2"/>
    <dgm:cxn modelId="{F237E8B0-1C2D-4E4D-9C37-E29C1971B4B9}" type="presOf" srcId="{CDA010D4-B715-7841-8EC7-AAEBF7611CA9}" destId="{859FEB33-D236-F541-AA93-A4172445FD67}" srcOrd="0" destOrd="0" presId="urn:microsoft.com/office/officeart/2005/8/layout/chevron2"/>
    <dgm:cxn modelId="{A7DC4FDC-1C17-424D-8386-7E882DEDCDBC}" type="presOf" srcId="{28936896-5C33-5243-BEB1-3FD0B9A0F637}" destId="{86F18C25-51CF-0D4D-BCB3-CD21638E8CE0}" srcOrd="0" destOrd="1" presId="urn:microsoft.com/office/officeart/2005/8/layout/chevron2"/>
    <dgm:cxn modelId="{D7DD9BDE-C5BC-D44E-8947-50B9F4E76B00}" srcId="{0CC3577D-C4AE-FD4D-9608-BF0F90592EBC}" destId="{2471F00C-793B-BF44-9288-7419D608EAB9}" srcOrd="2" destOrd="0" parTransId="{AF66C745-ABE3-0440-A5AE-C1654C40F921}" sibTransId="{FE370B84-9819-1B48-B20A-E3FFBAC72151}"/>
    <dgm:cxn modelId="{E35CC7EF-4974-BC43-8E07-EC1D54822F91}" type="presOf" srcId="{C041D1DA-1B15-1243-9041-786168094CF3}" destId="{86F18C25-51CF-0D4D-BCB3-CD21638E8CE0}" srcOrd="0" destOrd="2" presId="urn:microsoft.com/office/officeart/2005/8/layout/chevron2"/>
    <dgm:cxn modelId="{A61647F6-8010-DA47-9CD4-9FDA226F69EB}" srcId="{0CC3577D-C4AE-FD4D-9608-BF0F90592EBC}" destId="{CDA010D4-B715-7841-8EC7-AAEBF7611CA9}" srcOrd="1" destOrd="0" parTransId="{CEF324E2-F731-7644-95CA-C7484E9A192C}" sibTransId="{A760F7C4-AFD5-544A-9958-B79279C399D1}"/>
    <dgm:cxn modelId="{F7E09724-BA1F-F446-A465-B768EA43B6F6}" type="presParOf" srcId="{A6CC9021-11C9-D44F-B433-6D87C7FC411C}" destId="{27455C90-95F4-A84F-BF53-E5ECBC3F500A}" srcOrd="0" destOrd="0" presId="urn:microsoft.com/office/officeart/2005/8/layout/chevron2"/>
    <dgm:cxn modelId="{589441B6-4662-3142-8EAC-A1B1C488E020}" type="presParOf" srcId="{27455C90-95F4-A84F-BF53-E5ECBC3F500A}" destId="{BE7932AB-4E6C-0D4D-85BC-F0AF5537E1EB}" srcOrd="0" destOrd="0" presId="urn:microsoft.com/office/officeart/2005/8/layout/chevron2"/>
    <dgm:cxn modelId="{9E7C2180-CB91-E14D-B57B-42F8A3551D75}" type="presParOf" srcId="{27455C90-95F4-A84F-BF53-E5ECBC3F500A}" destId="{7502118D-6D29-9244-9334-4CCDF72C7C26}" srcOrd="1" destOrd="0" presId="urn:microsoft.com/office/officeart/2005/8/layout/chevron2"/>
    <dgm:cxn modelId="{9466CDC8-E671-BE4C-A5BA-3D999E8F08F3}" type="presParOf" srcId="{A6CC9021-11C9-D44F-B433-6D87C7FC411C}" destId="{1A98BF85-3175-0945-AAF9-C44DF01400A9}" srcOrd="1" destOrd="0" presId="urn:microsoft.com/office/officeart/2005/8/layout/chevron2"/>
    <dgm:cxn modelId="{33A53BCF-6A3D-0B4E-8EC9-67622CF2B445}" type="presParOf" srcId="{A6CC9021-11C9-D44F-B433-6D87C7FC411C}" destId="{7F3F1AE8-0879-854A-90C2-7806034CC0F1}" srcOrd="2" destOrd="0" presId="urn:microsoft.com/office/officeart/2005/8/layout/chevron2"/>
    <dgm:cxn modelId="{204BFBA9-1C88-A745-98B4-5AC4CEB3A494}" type="presParOf" srcId="{7F3F1AE8-0879-854A-90C2-7806034CC0F1}" destId="{859FEB33-D236-F541-AA93-A4172445FD67}" srcOrd="0" destOrd="0" presId="urn:microsoft.com/office/officeart/2005/8/layout/chevron2"/>
    <dgm:cxn modelId="{2169EEAC-C82E-9840-95BF-46B04CDF9B0E}" type="presParOf" srcId="{7F3F1AE8-0879-854A-90C2-7806034CC0F1}" destId="{86F18C25-51CF-0D4D-BCB3-CD21638E8CE0}" srcOrd="1" destOrd="0" presId="urn:microsoft.com/office/officeart/2005/8/layout/chevron2"/>
    <dgm:cxn modelId="{E345CEF4-0319-2048-B6E1-E3C579F6CAC6}" type="presParOf" srcId="{A6CC9021-11C9-D44F-B433-6D87C7FC411C}" destId="{F13F9D16-6E6D-DC48-B417-0F9C7B1C72CE}" srcOrd="3" destOrd="0" presId="urn:microsoft.com/office/officeart/2005/8/layout/chevron2"/>
    <dgm:cxn modelId="{F41212A1-F53A-1749-8F12-A12D413DD887}" type="presParOf" srcId="{A6CC9021-11C9-D44F-B433-6D87C7FC411C}" destId="{E778495E-7F5F-324E-BD6B-34C9B75A03D9}" srcOrd="4" destOrd="0" presId="urn:microsoft.com/office/officeart/2005/8/layout/chevron2"/>
    <dgm:cxn modelId="{ACB5C828-F9B5-E347-84AC-05D3E5950EBC}" type="presParOf" srcId="{E778495E-7F5F-324E-BD6B-34C9B75A03D9}" destId="{9469AE60-3C50-2345-AFCF-3AADD6A048F8}" srcOrd="0" destOrd="0" presId="urn:microsoft.com/office/officeart/2005/8/layout/chevron2"/>
    <dgm:cxn modelId="{5E21E459-4498-7E4B-931F-725FB5861670}" type="presParOf" srcId="{E778495E-7F5F-324E-BD6B-34C9B75A03D9}" destId="{E7BB0246-A909-3E43-9088-CAE2EA2D9CF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C3577D-C4AE-FD4D-9608-BF0F90592EBC}" type="doc">
      <dgm:prSet loTypeId="urn:microsoft.com/office/officeart/2005/8/layout/chevron2" loCatId="" qsTypeId="urn:microsoft.com/office/officeart/2005/8/quickstyle/simple1" qsCatId="simple" csTypeId="urn:microsoft.com/office/officeart/2005/8/colors/accent2_2" csCatId="accent2" phldr="1"/>
      <dgm:spPr/>
    </dgm:pt>
    <dgm:pt modelId="{B6CC79FE-9CEC-D04D-8445-668E569F406E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/>
            <a:t>Establish &amp; Evaluate</a:t>
          </a:r>
        </a:p>
      </dgm:t>
    </dgm:pt>
    <dgm:pt modelId="{428E658F-A13D-D04E-8B70-BA47878DEEC2}" type="parTrans" cxnId="{7E1A7E6E-DA41-9647-BBF2-088C5ADC6C08}">
      <dgm:prSet/>
      <dgm:spPr/>
      <dgm:t>
        <a:bodyPr/>
        <a:lstStyle/>
        <a:p>
          <a:endParaRPr lang="en-US"/>
        </a:p>
      </dgm:t>
    </dgm:pt>
    <dgm:pt modelId="{44B39AA9-9EDE-3A42-9901-823064B8A252}" type="sibTrans" cxnId="{7E1A7E6E-DA41-9647-BBF2-088C5ADC6C08}">
      <dgm:prSet/>
      <dgm:spPr/>
      <dgm:t>
        <a:bodyPr/>
        <a:lstStyle/>
        <a:p>
          <a:endParaRPr lang="en-US"/>
        </a:p>
      </dgm:t>
    </dgm:pt>
    <dgm:pt modelId="{CDA010D4-B715-7841-8EC7-AAEBF7611CA9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r>
            <a:rPr lang="en-US" b="1" dirty="0">
              <a:solidFill>
                <a:srgbClr val="FFFF00"/>
              </a:solidFill>
            </a:rPr>
            <a:t>Analyze &amp; Select</a:t>
          </a:r>
        </a:p>
      </dgm:t>
    </dgm:pt>
    <dgm:pt modelId="{CEF324E2-F731-7644-95CA-C7484E9A192C}" type="parTrans" cxnId="{A61647F6-8010-DA47-9CD4-9FDA226F69EB}">
      <dgm:prSet/>
      <dgm:spPr/>
      <dgm:t>
        <a:bodyPr/>
        <a:lstStyle/>
        <a:p>
          <a:endParaRPr lang="en-US"/>
        </a:p>
      </dgm:t>
    </dgm:pt>
    <dgm:pt modelId="{A760F7C4-AFD5-544A-9958-B79279C399D1}" type="sibTrans" cxnId="{A61647F6-8010-DA47-9CD4-9FDA226F69EB}">
      <dgm:prSet/>
      <dgm:spPr/>
      <dgm:t>
        <a:bodyPr/>
        <a:lstStyle/>
        <a:p>
          <a:endParaRPr lang="en-US"/>
        </a:p>
      </dgm:t>
    </dgm:pt>
    <dgm:pt modelId="{2471F00C-793B-BF44-9288-7419D608EAB9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r>
            <a:rPr lang="en-US" dirty="0"/>
            <a:t>Document &amp; Present</a:t>
          </a:r>
        </a:p>
      </dgm:t>
    </dgm:pt>
    <dgm:pt modelId="{AF66C745-ABE3-0440-A5AE-C1654C40F921}" type="parTrans" cxnId="{D7DD9BDE-C5BC-D44E-8947-50B9F4E76B00}">
      <dgm:prSet/>
      <dgm:spPr/>
      <dgm:t>
        <a:bodyPr/>
        <a:lstStyle/>
        <a:p>
          <a:endParaRPr lang="en-US"/>
        </a:p>
      </dgm:t>
    </dgm:pt>
    <dgm:pt modelId="{FE370B84-9819-1B48-B20A-E3FFBAC72151}" type="sibTrans" cxnId="{D7DD9BDE-C5BC-D44E-8947-50B9F4E76B00}">
      <dgm:prSet/>
      <dgm:spPr/>
      <dgm:t>
        <a:bodyPr/>
        <a:lstStyle/>
        <a:p>
          <a:endParaRPr lang="en-US"/>
        </a:p>
      </dgm:t>
    </dgm:pt>
    <dgm:pt modelId="{17A2A880-A241-3742-89D2-CB7973877184}">
      <dgm:prSet/>
      <dgm:spPr>
        <a:ln w="31750">
          <a:solidFill>
            <a:srgbClr val="C00000"/>
          </a:solidFill>
        </a:ln>
      </dgm:spPr>
      <dgm:t>
        <a:bodyPr/>
        <a:lstStyle/>
        <a:p>
          <a:r>
            <a:rPr lang="en-US" dirty="0">
              <a:solidFill>
                <a:srgbClr val="C00000"/>
              </a:solidFill>
            </a:rPr>
            <a:t>Define measurable evaluation criteria
Score solutions, prioritize feasibility
Consider cost, efficiency, &amp; scalability</a:t>
          </a:r>
        </a:p>
      </dgm:t>
    </dgm:pt>
    <dgm:pt modelId="{35D2468F-C3A1-4E46-AE83-735E97585065}" type="parTrans" cxnId="{8D328659-887E-6A4C-A21A-FC6B0576FB24}">
      <dgm:prSet/>
      <dgm:spPr/>
      <dgm:t>
        <a:bodyPr/>
        <a:lstStyle/>
        <a:p>
          <a:endParaRPr lang="en-US"/>
        </a:p>
      </dgm:t>
    </dgm:pt>
    <dgm:pt modelId="{8BF2E112-74D9-FB4C-8B9C-747644B2C066}" type="sibTrans" cxnId="{8D328659-887E-6A4C-A21A-FC6B0576FB24}">
      <dgm:prSet/>
      <dgm:spPr/>
      <dgm:t>
        <a:bodyPr/>
        <a:lstStyle/>
        <a:p>
          <a:endParaRPr lang="en-US"/>
        </a:p>
      </dgm:t>
    </dgm:pt>
    <dgm:pt modelId="{E215926E-9495-FD44-BE8A-D51A3CB842F4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b="1" dirty="0">
              <a:solidFill>
                <a:srgbClr val="C00000"/>
              </a:solidFill>
            </a:rPr>
            <a:t>• Conduct trade-off analysis: Performance, cost, risk analysis</a:t>
          </a:r>
        </a:p>
      </dgm:t>
    </dgm:pt>
    <dgm:pt modelId="{18EA4EB7-F0F2-664A-991E-58ED13A00673}" type="parTrans" cxnId="{3F35F314-927F-514A-8F48-ADE3C41CEC7B}">
      <dgm:prSet/>
      <dgm:spPr/>
      <dgm:t>
        <a:bodyPr/>
        <a:lstStyle/>
        <a:p>
          <a:endParaRPr lang="en-US"/>
        </a:p>
      </dgm:t>
    </dgm:pt>
    <dgm:pt modelId="{656FD251-F42A-2C4A-AB2D-4F21230D0B6F}" type="sibTrans" cxnId="{3F35F314-927F-514A-8F48-ADE3C41CEC7B}">
      <dgm:prSet/>
      <dgm:spPr/>
      <dgm:t>
        <a:bodyPr/>
        <a:lstStyle/>
        <a:p>
          <a:endParaRPr lang="en-US"/>
        </a:p>
      </dgm:t>
    </dgm:pt>
    <dgm:pt modelId="{C041D1DA-1B15-1243-9041-786168094CF3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b="1" dirty="0">
              <a:solidFill>
                <a:srgbClr val="C00000"/>
              </a:solidFill>
            </a:rPr>
            <a:t>• Select solution, justify with criteria</a:t>
          </a:r>
        </a:p>
      </dgm:t>
    </dgm:pt>
    <dgm:pt modelId="{51F08370-C34D-6E45-84CA-805CEC45386A}" type="parTrans" cxnId="{1F181852-43E2-2046-8F30-7ABAC224CBF7}">
      <dgm:prSet/>
      <dgm:spPr/>
      <dgm:t>
        <a:bodyPr/>
        <a:lstStyle/>
        <a:p>
          <a:endParaRPr lang="en-US"/>
        </a:p>
      </dgm:t>
    </dgm:pt>
    <dgm:pt modelId="{31970CB4-E7E0-E543-9DE7-C907A080E715}" type="sibTrans" cxnId="{1F181852-43E2-2046-8F30-7ABAC224CBF7}">
      <dgm:prSet/>
      <dgm:spPr/>
      <dgm:t>
        <a:bodyPr/>
        <a:lstStyle/>
        <a:p>
          <a:endParaRPr lang="en-US"/>
        </a:p>
      </dgm:t>
    </dgm:pt>
    <dgm:pt modelId="{28936896-5C33-5243-BEB1-3FD0B9A0F637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b="1" dirty="0">
              <a:solidFill>
                <a:srgbClr val="C00000"/>
              </a:solidFill>
            </a:rPr>
            <a:t>• Adjust for scenario &amp; assumption changes</a:t>
          </a:r>
        </a:p>
      </dgm:t>
    </dgm:pt>
    <dgm:pt modelId="{F56218B8-9EC5-1C47-9D4C-6F5AC22C653E}" type="parTrans" cxnId="{8D94FB4C-074D-FE4C-9BF6-53F903013F56}">
      <dgm:prSet/>
      <dgm:spPr/>
      <dgm:t>
        <a:bodyPr/>
        <a:lstStyle/>
        <a:p>
          <a:endParaRPr lang="en-US"/>
        </a:p>
      </dgm:t>
    </dgm:pt>
    <dgm:pt modelId="{ABCD8607-474F-DB4C-80E0-6BB426362EB2}" type="sibTrans" cxnId="{8D94FB4C-074D-FE4C-9BF6-53F903013F56}">
      <dgm:prSet/>
      <dgm:spPr/>
      <dgm:t>
        <a:bodyPr/>
        <a:lstStyle/>
        <a:p>
          <a:endParaRPr lang="en-US"/>
        </a:p>
      </dgm:t>
    </dgm:pt>
    <dgm:pt modelId="{FF1366CC-C3D2-6E4C-A24B-BBA1D501FF3A}">
      <dgm:prSet/>
      <dgm:spPr>
        <a:ln w="31750">
          <a:solidFill>
            <a:srgbClr val="C00000"/>
          </a:solidFill>
        </a:ln>
      </dgm:spPr>
      <dgm:t>
        <a:bodyPr/>
        <a:lstStyle/>
        <a:p>
          <a:r>
            <a:rPr lang="en-US" dirty="0">
              <a:solidFill>
                <a:srgbClr val="C00000"/>
              </a:solidFill>
            </a:rPr>
            <a:t>Document process &amp; findings clearly
Use visuals with salient results</a:t>
          </a:r>
        </a:p>
      </dgm:t>
    </dgm:pt>
    <dgm:pt modelId="{AE2E579B-66D2-974E-83C8-9CCD98AF7ADA}" type="parTrans" cxnId="{668E5D09-5097-E248-9699-9D4DD5809D16}">
      <dgm:prSet/>
      <dgm:spPr/>
      <dgm:t>
        <a:bodyPr/>
        <a:lstStyle/>
        <a:p>
          <a:endParaRPr lang="en-US"/>
        </a:p>
      </dgm:t>
    </dgm:pt>
    <dgm:pt modelId="{90663EA7-35A0-984C-857F-86859A08BC7C}" type="sibTrans" cxnId="{668E5D09-5097-E248-9699-9D4DD5809D16}">
      <dgm:prSet/>
      <dgm:spPr/>
      <dgm:t>
        <a:bodyPr/>
        <a:lstStyle/>
        <a:p>
          <a:endParaRPr lang="en-US"/>
        </a:p>
      </dgm:t>
    </dgm:pt>
    <dgm:pt modelId="{A6CC9021-11C9-D44F-B433-6D87C7FC411C}" type="pres">
      <dgm:prSet presAssocID="{0CC3577D-C4AE-FD4D-9608-BF0F90592EBC}" presName="linearFlow" presStyleCnt="0">
        <dgm:presLayoutVars>
          <dgm:dir/>
          <dgm:animLvl val="lvl"/>
          <dgm:resizeHandles val="exact"/>
        </dgm:presLayoutVars>
      </dgm:prSet>
      <dgm:spPr/>
    </dgm:pt>
    <dgm:pt modelId="{27455C90-95F4-A84F-BF53-E5ECBC3F500A}" type="pres">
      <dgm:prSet presAssocID="{B6CC79FE-9CEC-D04D-8445-668E569F406E}" presName="composite" presStyleCnt="0"/>
      <dgm:spPr/>
    </dgm:pt>
    <dgm:pt modelId="{BE7932AB-4E6C-0D4D-85BC-F0AF5537E1EB}" type="pres">
      <dgm:prSet presAssocID="{B6CC79FE-9CEC-D04D-8445-668E569F406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502118D-6D29-9244-9334-4CCDF72C7C26}" type="pres">
      <dgm:prSet presAssocID="{B6CC79FE-9CEC-D04D-8445-668E569F406E}" presName="descendantText" presStyleLbl="alignAcc1" presStyleIdx="0" presStyleCnt="3" custScaleX="92861">
        <dgm:presLayoutVars>
          <dgm:bulletEnabled val="1"/>
        </dgm:presLayoutVars>
      </dgm:prSet>
      <dgm:spPr/>
    </dgm:pt>
    <dgm:pt modelId="{1A98BF85-3175-0945-AAF9-C44DF01400A9}" type="pres">
      <dgm:prSet presAssocID="{44B39AA9-9EDE-3A42-9901-823064B8A252}" presName="sp" presStyleCnt="0"/>
      <dgm:spPr/>
    </dgm:pt>
    <dgm:pt modelId="{7F3F1AE8-0879-854A-90C2-7806034CC0F1}" type="pres">
      <dgm:prSet presAssocID="{CDA010D4-B715-7841-8EC7-AAEBF7611CA9}" presName="composite" presStyleCnt="0"/>
      <dgm:spPr/>
    </dgm:pt>
    <dgm:pt modelId="{859FEB33-D236-F541-AA93-A4172445FD67}" type="pres">
      <dgm:prSet presAssocID="{CDA010D4-B715-7841-8EC7-AAEBF7611CA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6F18C25-51CF-0D4D-BCB3-CD21638E8CE0}" type="pres">
      <dgm:prSet presAssocID="{CDA010D4-B715-7841-8EC7-AAEBF7611CA9}" presName="descendantText" presStyleLbl="alignAcc1" presStyleIdx="1" presStyleCnt="3" custScaleX="92861">
        <dgm:presLayoutVars>
          <dgm:bulletEnabled val="1"/>
        </dgm:presLayoutVars>
      </dgm:prSet>
      <dgm:spPr/>
    </dgm:pt>
    <dgm:pt modelId="{F13F9D16-6E6D-DC48-B417-0F9C7B1C72CE}" type="pres">
      <dgm:prSet presAssocID="{A760F7C4-AFD5-544A-9958-B79279C399D1}" presName="sp" presStyleCnt="0"/>
      <dgm:spPr/>
    </dgm:pt>
    <dgm:pt modelId="{E778495E-7F5F-324E-BD6B-34C9B75A03D9}" type="pres">
      <dgm:prSet presAssocID="{2471F00C-793B-BF44-9288-7419D608EAB9}" presName="composite" presStyleCnt="0"/>
      <dgm:spPr/>
    </dgm:pt>
    <dgm:pt modelId="{9469AE60-3C50-2345-AFCF-3AADD6A048F8}" type="pres">
      <dgm:prSet presAssocID="{2471F00C-793B-BF44-9288-7419D608EAB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7BB0246-A909-3E43-9088-CAE2EA2D9CF1}" type="pres">
      <dgm:prSet presAssocID="{2471F00C-793B-BF44-9288-7419D608EAB9}" presName="descendantText" presStyleLbl="alignAcc1" presStyleIdx="2" presStyleCnt="3" custScaleX="92861">
        <dgm:presLayoutVars>
          <dgm:bulletEnabled val="1"/>
        </dgm:presLayoutVars>
      </dgm:prSet>
      <dgm:spPr/>
    </dgm:pt>
  </dgm:ptLst>
  <dgm:cxnLst>
    <dgm:cxn modelId="{668E5D09-5097-E248-9699-9D4DD5809D16}" srcId="{2471F00C-793B-BF44-9288-7419D608EAB9}" destId="{FF1366CC-C3D2-6E4C-A24B-BBA1D501FF3A}" srcOrd="0" destOrd="0" parTransId="{AE2E579B-66D2-974E-83C8-9CCD98AF7ADA}" sibTransId="{90663EA7-35A0-984C-857F-86859A08BC7C}"/>
    <dgm:cxn modelId="{3F35F314-927F-514A-8F48-ADE3C41CEC7B}" srcId="{CDA010D4-B715-7841-8EC7-AAEBF7611CA9}" destId="{E215926E-9495-FD44-BE8A-D51A3CB842F4}" srcOrd="0" destOrd="0" parTransId="{18EA4EB7-F0F2-664A-991E-58ED13A00673}" sibTransId="{656FD251-F42A-2C4A-AB2D-4F21230D0B6F}"/>
    <dgm:cxn modelId="{282E4D1B-DA1B-474F-8C45-654E42459286}" type="presOf" srcId="{E215926E-9495-FD44-BE8A-D51A3CB842F4}" destId="{86F18C25-51CF-0D4D-BCB3-CD21638E8CE0}" srcOrd="0" destOrd="0" presId="urn:microsoft.com/office/officeart/2005/8/layout/chevron2"/>
    <dgm:cxn modelId="{8EB0F02E-8FE2-AF41-9102-03C0F715F3E9}" type="presOf" srcId="{17A2A880-A241-3742-89D2-CB7973877184}" destId="{7502118D-6D29-9244-9334-4CCDF72C7C26}" srcOrd="0" destOrd="0" presId="urn:microsoft.com/office/officeart/2005/8/layout/chevron2"/>
    <dgm:cxn modelId="{2A164C42-7EB1-564C-8129-D5CD1733F65B}" type="presOf" srcId="{FF1366CC-C3D2-6E4C-A24B-BBA1D501FF3A}" destId="{E7BB0246-A909-3E43-9088-CAE2EA2D9CF1}" srcOrd="0" destOrd="0" presId="urn:microsoft.com/office/officeart/2005/8/layout/chevron2"/>
    <dgm:cxn modelId="{8D94FB4C-074D-FE4C-9BF6-53F903013F56}" srcId="{CDA010D4-B715-7841-8EC7-AAEBF7611CA9}" destId="{28936896-5C33-5243-BEB1-3FD0B9A0F637}" srcOrd="1" destOrd="0" parTransId="{F56218B8-9EC5-1C47-9D4C-6F5AC22C653E}" sibTransId="{ABCD8607-474F-DB4C-80E0-6BB426362EB2}"/>
    <dgm:cxn modelId="{1F181852-43E2-2046-8F30-7ABAC224CBF7}" srcId="{CDA010D4-B715-7841-8EC7-AAEBF7611CA9}" destId="{C041D1DA-1B15-1243-9041-786168094CF3}" srcOrd="2" destOrd="0" parTransId="{51F08370-C34D-6E45-84CA-805CEC45386A}" sibTransId="{31970CB4-E7E0-E543-9DE7-C907A080E715}"/>
    <dgm:cxn modelId="{8D328659-887E-6A4C-A21A-FC6B0576FB24}" srcId="{B6CC79FE-9CEC-D04D-8445-668E569F406E}" destId="{17A2A880-A241-3742-89D2-CB7973877184}" srcOrd="0" destOrd="0" parTransId="{35D2468F-C3A1-4E46-AE83-735E97585065}" sibTransId="{8BF2E112-74D9-FB4C-8B9C-747644B2C066}"/>
    <dgm:cxn modelId="{D4D0425F-65D5-C745-992D-C41A8B82AABA}" type="presOf" srcId="{2471F00C-793B-BF44-9288-7419D608EAB9}" destId="{9469AE60-3C50-2345-AFCF-3AADD6A048F8}" srcOrd="0" destOrd="0" presId="urn:microsoft.com/office/officeart/2005/8/layout/chevron2"/>
    <dgm:cxn modelId="{7E1A7E6E-DA41-9647-BBF2-088C5ADC6C08}" srcId="{0CC3577D-C4AE-FD4D-9608-BF0F90592EBC}" destId="{B6CC79FE-9CEC-D04D-8445-668E569F406E}" srcOrd="0" destOrd="0" parTransId="{428E658F-A13D-D04E-8B70-BA47878DEEC2}" sibTransId="{44B39AA9-9EDE-3A42-9901-823064B8A252}"/>
    <dgm:cxn modelId="{F0159A7C-7656-3742-98F4-74029CB5D945}" type="presOf" srcId="{0CC3577D-C4AE-FD4D-9608-BF0F90592EBC}" destId="{A6CC9021-11C9-D44F-B433-6D87C7FC411C}" srcOrd="0" destOrd="0" presId="urn:microsoft.com/office/officeart/2005/8/layout/chevron2"/>
    <dgm:cxn modelId="{9C8F399F-F4ED-D143-83CD-F63469B994C7}" type="presOf" srcId="{B6CC79FE-9CEC-D04D-8445-668E569F406E}" destId="{BE7932AB-4E6C-0D4D-85BC-F0AF5537E1EB}" srcOrd="0" destOrd="0" presId="urn:microsoft.com/office/officeart/2005/8/layout/chevron2"/>
    <dgm:cxn modelId="{F237E8B0-1C2D-4E4D-9C37-E29C1971B4B9}" type="presOf" srcId="{CDA010D4-B715-7841-8EC7-AAEBF7611CA9}" destId="{859FEB33-D236-F541-AA93-A4172445FD67}" srcOrd="0" destOrd="0" presId="urn:microsoft.com/office/officeart/2005/8/layout/chevron2"/>
    <dgm:cxn modelId="{A7DC4FDC-1C17-424D-8386-7E882DEDCDBC}" type="presOf" srcId="{28936896-5C33-5243-BEB1-3FD0B9A0F637}" destId="{86F18C25-51CF-0D4D-BCB3-CD21638E8CE0}" srcOrd="0" destOrd="1" presId="urn:microsoft.com/office/officeart/2005/8/layout/chevron2"/>
    <dgm:cxn modelId="{D7DD9BDE-C5BC-D44E-8947-50B9F4E76B00}" srcId="{0CC3577D-C4AE-FD4D-9608-BF0F90592EBC}" destId="{2471F00C-793B-BF44-9288-7419D608EAB9}" srcOrd="2" destOrd="0" parTransId="{AF66C745-ABE3-0440-A5AE-C1654C40F921}" sibTransId="{FE370B84-9819-1B48-B20A-E3FFBAC72151}"/>
    <dgm:cxn modelId="{E35CC7EF-4974-BC43-8E07-EC1D54822F91}" type="presOf" srcId="{C041D1DA-1B15-1243-9041-786168094CF3}" destId="{86F18C25-51CF-0D4D-BCB3-CD21638E8CE0}" srcOrd="0" destOrd="2" presId="urn:microsoft.com/office/officeart/2005/8/layout/chevron2"/>
    <dgm:cxn modelId="{A61647F6-8010-DA47-9CD4-9FDA226F69EB}" srcId="{0CC3577D-C4AE-FD4D-9608-BF0F90592EBC}" destId="{CDA010D4-B715-7841-8EC7-AAEBF7611CA9}" srcOrd="1" destOrd="0" parTransId="{CEF324E2-F731-7644-95CA-C7484E9A192C}" sibTransId="{A760F7C4-AFD5-544A-9958-B79279C399D1}"/>
    <dgm:cxn modelId="{F7E09724-BA1F-F446-A465-B768EA43B6F6}" type="presParOf" srcId="{A6CC9021-11C9-D44F-B433-6D87C7FC411C}" destId="{27455C90-95F4-A84F-BF53-E5ECBC3F500A}" srcOrd="0" destOrd="0" presId="urn:microsoft.com/office/officeart/2005/8/layout/chevron2"/>
    <dgm:cxn modelId="{589441B6-4662-3142-8EAC-A1B1C488E020}" type="presParOf" srcId="{27455C90-95F4-A84F-BF53-E5ECBC3F500A}" destId="{BE7932AB-4E6C-0D4D-85BC-F0AF5537E1EB}" srcOrd="0" destOrd="0" presId="urn:microsoft.com/office/officeart/2005/8/layout/chevron2"/>
    <dgm:cxn modelId="{9E7C2180-CB91-E14D-B57B-42F8A3551D75}" type="presParOf" srcId="{27455C90-95F4-A84F-BF53-E5ECBC3F500A}" destId="{7502118D-6D29-9244-9334-4CCDF72C7C26}" srcOrd="1" destOrd="0" presId="urn:microsoft.com/office/officeart/2005/8/layout/chevron2"/>
    <dgm:cxn modelId="{9466CDC8-E671-BE4C-A5BA-3D999E8F08F3}" type="presParOf" srcId="{A6CC9021-11C9-D44F-B433-6D87C7FC411C}" destId="{1A98BF85-3175-0945-AAF9-C44DF01400A9}" srcOrd="1" destOrd="0" presId="urn:microsoft.com/office/officeart/2005/8/layout/chevron2"/>
    <dgm:cxn modelId="{33A53BCF-6A3D-0B4E-8EC9-67622CF2B445}" type="presParOf" srcId="{A6CC9021-11C9-D44F-B433-6D87C7FC411C}" destId="{7F3F1AE8-0879-854A-90C2-7806034CC0F1}" srcOrd="2" destOrd="0" presId="urn:microsoft.com/office/officeart/2005/8/layout/chevron2"/>
    <dgm:cxn modelId="{204BFBA9-1C88-A745-98B4-5AC4CEB3A494}" type="presParOf" srcId="{7F3F1AE8-0879-854A-90C2-7806034CC0F1}" destId="{859FEB33-D236-F541-AA93-A4172445FD67}" srcOrd="0" destOrd="0" presId="urn:microsoft.com/office/officeart/2005/8/layout/chevron2"/>
    <dgm:cxn modelId="{2169EEAC-C82E-9840-95BF-46B04CDF9B0E}" type="presParOf" srcId="{7F3F1AE8-0879-854A-90C2-7806034CC0F1}" destId="{86F18C25-51CF-0D4D-BCB3-CD21638E8CE0}" srcOrd="1" destOrd="0" presId="urn:microsoft.com/office/officeart/2005/8/layout/chevron2"/>
    <dgm:cxn modelId="{E345CEF4-0319-2048-B6E1-E3C579F6CAC6}" type="presParOf" srcId="{A6CC9021-11C9-D44F-B433-6D87C7FC411C}" destId="{F13F9D16-6E6D-DC48-B417-0F9C7B1C72CE}" srcOrd="3" destOrd="0" presId="urn:microsoft.com/office/officeart/2005/8/layout/chevron2"/>
    <dgm:cxn modelId="{F41212A1-F53A-1749-8F12-A12D413DD887}" type="presParOf" srcId="{A6CC9021-11C9-D44F-B433-6D87C7FC411C}" destId="{E778495E-7F5F-324E-BD6B-34C9B75A03D9}" srcOrd="4" destOrd="0" presId="urn:microsoft.com/office/officeart/2005/8/layout/chevron2"/>
    <dgm:cxn modelId="{ACB5C828-F9B5-E347-84AC-05D3E5950EBC}" type="presParOf" srcId="{E778495E-7F5F-324E-BD6B-34C9B75A03D9}" destId="{9469AE60-3C50-2345-AFCF-3AADD6A048F8}" srcOrd="0" destOrd="0" presId="urn:microsoft.com/office/officeart/2005/8/layout/chevron2"/>
    <dgm:cxn modelId="{5E21E459-4498-7E4B-931F-725FB5861670}" type="presParOf" srcId="{E778495E-7F5F-324E-BD6B-34C9B75A03D9}" destId="{E7BB0246-A909-3E43-9088-CAE2EA2D9CF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C3577D-C4AE-FD4D-9608-BF0F90592EBC}" type="doc">
      <dgm:prSet loTypeId="urn:microsoft.com/office/officeart/2005/8/layout/chevron2" loCatId="" qsTypeId="urn:microsoft.com/office/officeart/2005/8/quickstyle/simple1" qsCatId="simple" csTypeId="urn:microsoft.com/office/officeart/2005/8/colors/accent2_2" csCatId="accent2" phldr="1"/>
      <dgm:spPr/>
    </dgm:pt>
    <dgm:pt modelId="{B6CC79FE-9CEC-D04D-8445-668E569F406E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/>
            <a:t>Establish &amp; Evaluate</a:t>
          </a:r>
        </a:p>
      </dgm:t>
    </dgm:pt>
    <dgm:pt modelId="{428E658F-A13D-D04E-8B70-BA47878DEEC2}" type="parTrans" cxnId="{7E1A7E6E-DA41-9647-BBF2-088C5ADC6C08}">
      <dgm:prSet/>
      <dgm:spPr/>
      <dgm:t>
        <a:bodyPr/>
        <a:lstStyle/>
        <a:p>
          <a:endParaRPr lang="en-US"/>
        </a:p>
      </dgm:t>
    </dgm:pt>
    <dgm:pt modelId="{44B39AA9-9EDE-3A42-9901-823064B8A252}" type="sibTrans" cxnId="{7E1A7E6E-DA41-9647-BBF2-088C5ADC6C08}">
      <dgm:prSet/>
      <dgm:spPr/>
      <dgm:t>
        <a:bodyPr/>
        <a:lstStyle/>
        <a:p>
          <a:endParaRPr lang="en-US"/>
        </a:p>
      </dgm:t>
    </dgm:pt>
    <dgm:pt modelId="{CDA010D4-B715-7841-8EC7-AAEBF7611CA9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r>
            <a:rPr lang="en-US" dirty="0"/>
            <a:t>Analyze &amp; Select</a:t>
          </a:r>
        </a:p>
      </dgm:t>
    </dgm:pt>
    <dgm:pt modelId="{CEF324E2-F731-7644-95CA-C7484E9A192C}" type="parTrans" cxnId="{A61647F6-8010-DA47-9CD4-9FDA226F69EB}">
      <dgm:prSet/>
      <dgm:spPr/>
      <dgm:t>
        <a:bodyPr/>
        <a:lstStyle/>
        <a:p>
          <a:endParaRPr lang="en-US"/>
        </a:p>
      </dgm:t>
    </dgm:pt>
    <dgm:pt modelId="{A760F7C4-AFD5-544A-9958-B79279C399D1}" type="sibTrans" cxnId="{A61647F6-8010-DA47-9CD4-9FDA226F69EB}">
      <dgm:prSet/>
      <dgm:spPr/>
      <dgm:t>
        <a:bodyPr/>
        <a:lstStyle/>
        <a:p>
          <a:endParaRPr lang="en-US"/>
        </a:p>
      </dgm:t>
    </dgm:pt>
    <dgm:pt modelId="{2471F00C-793B-BF44-9288-7419D608EAB9}">
      <dgm:prSet phldrT="[Text]"/>
      <dgm:spPr>
        <a:solidFill>
          <a:srgbClr val="C00000"/>
        </a:solidFill>
        <a:ln w="25400">
          <a:solidFill>
            <a:srgbClr val="C00000"/>
          </a:solidFill>
        </a:ln>
      </dgm:spPr>
      <dgm:t>
        <a:bodyPr/>
        <a:lstStyle/>
        <a:p>
          <a:r>
            <a:rPr lang="en-US" b="1" dirty="0">
              <a:solidFill>
                <a:srgbClr val="FFFF00"/>
              </a:solidFill>
            </a:rPr>
            <a:t>Document &amp; Present</a:t>
          </a:r>
        </a:p>
      </dgm:t>
    </dgm:pt>
    <dgm:pt modelId="{AF66C745-ABE3-0440-A5AE-C1654C40F921}" type="parTrans" cxnId="{D7DD9BDE-C5BC-D44E-8947-50B9F4E76B00}">
      <dgm:prSet/>
      <dgm:spPr/>
      <dgm:t>
        <a:bodyPr/>
        <a:lstStyle/>
        <a:p>
          <a:endParaRPr lang="en-US"/>
        </a:p>
      </dgm:t>
    </dgm:pt>
    <dgm:pt modelId="{FE370B84-9819-1B48-B20A-E3FFBAC72151}" type="sibTrans" cxnId="{D7DD9BDE-C5BC-D44E-8947-50B9F4E76B00}">
      <dgm:prSet/>
      <dgm:spPr/>
      <dgm:t>
        <a:bodyPr/>
        <a:lstStyle/>
        <a:p>
          <a:endParaRPr lang="en-US"/>
        </a:p>
      </dgm:t>
    </dgm:pt>
    <dgm:pt modelId="{17A2A880-A241-3742-89D2-CB7973877184}">
      <dgm:prSet/>
      <dgm:spPr>
        <a:ln w="31750">
          <a:solidFill>
            <a:srgbClr val="C00000"/>
          </a:solidFill>
        </a:ln>
      </dgm:spPr>
      <dgm:t>
        <a:bodyPr/>
        <a:lstStyle/>
        <a:p>
          <a:r>
            <a:rPr lang="en-US" dirty="0">
              <a:solidFill>
                <a:srgbClr val="C00000"/>
              </a:solidFill>
            </a:rPr>
            <a:t>Define measurable evaluation criteria
Score solutions, prioritize feasibility
Consider cost, efficiency, &amp; scalability</a:t>
          </a:r>
        </a:p>
      </dgm:t>
    </dgm:pt>
    <dgm:pt modelId="{35D2468F-C3A1-4E46-AE83-735E97585065}" type="parTrans" cxnId="{8D328659-887E-6A4C-A21A-FC6B0576FB24}">
      <dgm:prSet/>
      <dgm:spPr/>
      <dgm:t>
        <a:bodyPr/>
        <a:lstStyle/>
        <a:p>
          <a:endParaRPr lang="en-US"/>
        </a:p>
      </dgm:t>
    </dgm:pt>
    <dgm:pt modelId="{8BF2E112-74D9-FB4C-8B9C-747644B2C066}" type="sibTrans" cxnId="{8D328659-887E-6A4C-A21A-FC6B0576FB24}">
      <dgm:prSet/>
      <dgm:spPr/>
      <dgm:t>
        <a:bodyPr/>
        <a:lstStyle/>
        <a:p>
          <a:endParaRPr lang="en-US"/>
        </a:p>
      </dgm:t>
    </dgm:pt>
    <dgm:pt modelId="{E215926E-9495-FD44-BE8A-D51A3CB842F4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>
              <a:solidFill>
                <a:srgbClr val="C00000"/>
              </a:solidFill>
            </a:rPr>
            <a:t>• Conduct trade-off analysis: Performance, cost, &amp; risk analysis</a:t>
          </a:r>
        </a:p>
      </dgm:t>
    </dgm:pt>
    <dgm:pt modelId="{18EA4EB7-F0F2-664A-991E-58ED13A00673}" type="parTrans" cxnId="{3F35F314-927F-514A-8F48-ADE3C41CEC7B}">
      <dgm:prSet/>
      <dgm:spPr/>
      <dgm:t>
        <a:bodyPr/>
        <a:lstStyle/>
        <a:p>
          <a:endParaRPr lang="en-US"/>
        </a:p>
      </dgm:t>
    </dgm:pt>
    <dgm:pt modelId="{656FD251-F42A-2C4A-AB2D-4F21230D0B6F}" type="sibTrans" cxnId="{3F35F314-927F-514A-8F48-ADE3C41CEC7B}">
      <dgm:prSet/>
      <dgm:spPr/>
      <dgm:t>
        <a:bodyPr/>
        <a:lstStyle/>
        <a:p>
          <a:endParaRPr lang="en-US"/>
        </a:p>
      </dgm:t>
    </dgm:pt>
    <dgm:pt modelId="{C041D1DA-1B15-1243-9041-786168094CF3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>
              <a:solidFill>
                <a:srgbClr val="C00000"/>
              </a:solidFill>
            </a:rPr>
            <a:t>• Select solution, justify with criteria</a:t>
          </a:r>
        </a:p>
      </dgm:t>
    </dgm:pt>
    <dgm:pt modelId="{51F08370-C34D-6E45-84CA-805CEC45386A}" type="parTrans" cxnId="{1F181852-43E2-2046-8F30-7ABAC224CBF7}">
      <dgm:prSet/>
      <dgm:spPr/>
      <dgm:t>
        <a:bodyPr/>
        <a:lstStyle/>
        <a:p>
          <a:endParaRPr lang="en-US"/>
        </a:p>
      </dgm:t>
    </dgm:pt>
    <dgm:pt modelId="{31970CB4-E7E0-E543-9DE7-C907A080E715}" type="sibTrans" cxnId="{1F181852-43E2-2046-8F30-7ABAC224CBF7}">
      <dgm:prSet/>
      <dgm:spPr/>
      <dgm:t>
        <a:bodyPr/>
        <a:lstStyle/>
        <a:p>
          <a:endParaRPr lang="en-US"/>
        </a:p>
      </dgm:t>
    </dgm:pt>
    <dgm:pt modelId="{28936896-5C33-5243-BEB1-3FD0B9A0F637}">
      <dgm:prSet/>
      <dgm:spPr>
        <a:ln w="31750"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>
              <a:solidFill>
                <a:srgbClr val="C00000"/>
              </a:solidFill>
            </a:rPr>
            <a:t>• Adjust for scenario &amp; assumption changes</a:t>
          </a:r>
        </a:p>
      </dgm:t>
    </dgm:pt>
    <dgm:pt modelId="{F56218B8-9EC5-1C47-9D4C-6F5AC22C653E}" type="parTrans" cxnId="{8D94FB4C-074D-FE4C-9BF6-53F903013F56}">
      <dgm:prSet/>
      <dgm:spPr/>
      <dgm:t>
        <a:bodyPr/>
        <a:lstStyle/>
        <a:p>
          <a:endParaRPr lang="en-US"/>
        </a:p>
      </dgm:t>
    </dgm:pt>
    <dgm:pt modelId="{ABCD8607-474F-DB4C-80E0-6BB426362EB2}" type="sibTrans" cxnId="{8D94FB4C-074D-FE4C-9BF6-53F903013F56}">
      <dgm:prSet/>
      <dgm:spPr/>
      <dgm:t>
        <a:bodyPr/>
        <a:lstStyle/>
        <a:p>
          <a:endParaRPr lang="en-US"/>
        </a:p>
      </dgm:t>
    </dgm:pt>
    <dgm:pt modelId="{FF1366CC-C3D2-6E4C-A24B-BBA1D501FF3A}">
      <dgm:prSet/>
      <dgm:spPr>
        <a:ln w="31750">
          <a:solidFill>
            <a:srgbClr val="C00000"/>
          </a:solidFill>
        </a:ln>
      </dgm:spPr>
      <dgm:t>
        <a:bodyPr/>
        <a:lstStyle/>
        <a:p>
          <a:r>
            <a:rPr lang="en-US" b="1" dirty="0">
              <a:solidFill>
                <a:srgbClr val="C00000"/>
              </a:solidFill>
            </a:rPr>
            <a:t>Document process &amp; findings clearly
Use visuals with salient results</a:t>
          </a:r>
        </a:p>
      </dgm:t>
    </dgm:pt>
    <dgm:pt modelId="{AE2E579B-66D2-974E-83C8-9CCD98AF7ADA}" type="parTrans" cxnId="{668E5D09-5097-E248-9699-9D4DD5809D16}">
      <dgm:prSet/>
      <dgm:spPr/>
      <dgm:t>
        <a:bodyPr/>
        <a:lstStyle/>
        <a:p>
          <a:endParaRPr lang="en-US"/>
        </a:p>
      </dgm:t>
    </dgm:pt>
    <dgm:pt modelId="{90663EA7-35A0-984C-857F-86859A08BC7C}" type="sibTrans" cxnId="{668E5D09-5097-E248-9699-9D4DD5809D16}">
      <dgm:prSet/>
      <dgm:spPr/>
      <dgm:t>
        <a:bodyPr/>
        <a:lstStyle/>
        <a:p>
          <a:endParaRPr lang="en-US"/>
        </a:p>
      </dgm:t>
    </dgm:pt>
    <dgm:pt modelId="{A6CC9021-11C9-D44F-B433-6D87C7FC411C}" type="pres">
      <dgm:prSet presAssocID="{0CC3577D-C4AE-FD4D-9608-BF0F90592EBC}" presName="linearFlow" presStyleCnt="0">
        <dgm:presLayoutVars>
          <dgm:dir/>
          <dgm:animLvl val="lvl"/>
          <dgm:resizeHandles val="exact"/>
        </dgm:presLayoutVars>
      </dgm:prSet>
      <dgm:spPr/>
    </dgm:pt>
    <dgm:pt modelId="{27455C90-95F4-A84F-BF53-E5ECBC3F500A}" type="pres">
      <dgm:prSet presAssocID="{B6CC79FE-9CEC-D04D-8445-668E569F406E}" presName="composite" presStyleCnt="0"/>
      <dgm:spPr/>
    </dgm:pt>
    <dgm:pt modelId="{BE7932AB-4E6C-0D4D-85BC-F0AF5537E1EB}" type="pres">
      <dgm:prSet presAssocID="{B6CC79FE-9CEC-D04D-8445-668E569F406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502118D-6D29-9244-9334-4CCDF72C7C26}" type="pres">
      <dgm:prSet presAssocID="{B6CC79FE-9CEC-D04D-8445-668E569F406E}" presName="descendantText" presStyleLbl="alignAcc1" presStyleIdx="0" presStyleCnt="3" custScaleX="92861">
        <dgm:presLayoutVars>
          <dgm:bulletEnabled val="1"/>
        </dgm:presLayoutVars>
      </dgm:prSet>
      <dgm:spPr/>
    </dgm:pt>
    <dgm:pt modelId="{1A98BF85-3175-0945-AAF9-C44DF01400A9}" type="pres">
      <dgm:prSet presAssocID="{44B39AA9-9EDE-3A42-9901-823064B8A252}" presName="sp" presStyleCnt="0"/>
      <dgm:spPr/>
    </dgm:pt>
    <dgm:pt modelId="{7F3F1AE8-0879-854A-90C2-7806034CC0F1}" type="pres">
      <dgm:prSet presAssocID="{CDA010D4-B715-7841-8EC7-AAEBF7611CA9}" presName="composite" presStyleCnt="0"/>
      <dgm:spPr/>
    </dgm:pt>
    <dgm:pt modelId="{859FEB33-D236-F541-AA93-A4172445FD67}" type="pres">
      <dgm:prSet presAssocID="{CDA010D4-B715-7841-8EC7-AAEBF7611CA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6F18C25-51CF-0D4D-BCB3-CD21638E8CE0}" type="pres">
      <dgm:prSet presAssocID="{CDA010D4-B715-7841-8EC7-AAEBF7611CA9}" presName="descendantText" presStyleLbl="alignAcc1" presStyleIdx="1" presStyleCnt="3" custScaleX="92861">
        <dgm:presLayoutVars>
          <dgm:bulletEnabled val="1"/>
        </dgm:presLayoutVars>
      </dgm:prSet>
      <dgm:spPr/>
    </dgm:pt>
    <dgm:pt modelId="{F13F9D16-6E6D-DC48-B417-0F9C7B1C72CE}" type="pres">
      <dgm:prSet presAssocID="{A760F7C4-AFD5-544A-9958-B79279C399D1}" presName="sp" presStyleCnt="0"/>
      <dgm:spPr/>
    </dgm:pt>
    <dgm:pt modelId="{E778495E-7F5F-324E-BD6B-34C9B75A03D9}" type="pres">
      <dgm:prSet presAssocID="{2471F00C-793B-BF44-9288-7419D608EAB9}" presName="composite" presStyleCnt="0"/>
      <dgm:spPr/>
    </dgm:pt>
    <dgm:pt modelId="{9469AE60-3C50-2345-AFCF-3AADD6A048F8}" type="pres">
      <dgm:prSet presAssocID="{2471F00C-793B-BF44-9288-7419D608EAB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7BB0246-A909-3E43-9088-CAE2EA2D9CF1}" type="pres">
      <dgm:prSet presAssocID="{2471F00C-793B-BF44-9288-7419D608EAB9}" presName="descendantText" presStyleLbl="alignAcc1" presStyleIdx="2" presStyleCnt="3" custScaleX="92861">
        <dgm:presLayoutVars>
          <dgm:bulletEnabled val="1"/>
        </dgm:presLayoutVars>
      </dgm:prSet>
      <dgm:spPr/>
    </dgm:pt>
  </dgm:ptLst>
  <dgm:cxnLst>
    <dgm:cxn modelId="{668E5D09-5097-E248-9699-9D4DD5809D16}" srcId="{2471F00C-793B-BF44-9288-7419D608EAB9}" destId="{FF1366CC-C3D2-6E4C-A24B-BBA1D501FF3A}" srcOrd="0" destOrd="0" parTransId="{AE2E579B-66D2-974E-83C8-9CCD98AF7ADA}" sibTransId="{90663EA7-35A0-984C-857F-86859A08BC7C}"/>
    <dgm:cxn modelId="{3F35F314-927F-514A-8F48-ADE3C41CEC7B}" srcId="{CDA010D4-B715-7841-8EC7-AAEBF7611CA9}" destId="{E215926E-9495-FD44-BE8A-D51A3CB842F4}" srcOrd="0" destOrd="0" parTransId="{18EA4EB7-F0F2-664A-991E-58ED13A00673}" sibTransId="{656FD251-F42A-2C4A-AB2D-4F21230D0B6F}"/>
    <dgm:cxn modelId="{282E4D1B-DA1B-474F-8C45-654E42459286}" type="presOf" srcId="{E215926E-9495-FD44-BE8A-D51A3CB842F4}" destId="{86F18C25-51CF-0D4D-BCB3-CD21638E8CE0}" srcOrd="0" destOrd="0" presId="urn:microsoft.com/office/officeart/2005/8/layout/chevron2"/>
    <dgm:cxn modelId="{8EB0F02E-8FE2-AF41-9102-03C0F715F3E9}" type="presOf" srcId="{17A2A880-A241-3742-89D2-CB7973877184}" destId="{7502118D-6D29-9244-9334-4CCDF72C7C26}" srcOrd="0" destOrd="0" presId="urn:microsoft.com/office/officeart/2005/8/layout/chevron2"/>
    <dgm:cxn modelId="{2A164C42-7EB1-564C-8129-D5CD1733F65B}" type="presOf" srcId="{FF1366CC-C3D2-6E4C-A24B-BBA1D501FF3A}" destId="{E7BB0246-A909-3E43-9088-CAE2EA2D9CF1}" srcOrd="0" destOrd="0" presId="urn:microsoft.com/office/officeart/2005/8/layout/chevron2"/>
    <dgm:cxn modelId="{8D94FB4C-074D-FE4C-9BF6-53F903013F56}" srcId="{CDA010D4-B715-7841-8EC7-AAEBF7611CA9}" destId="{28936896-5C33-5243-BEB1-3FD0B9A0F637}" srcOrd="1" destOrd="0" parTransId="{F56218B8-9EC5-1C47-9D4C-6F5AC22C653E}" sibTransId="{ABCD8607-474F-DB4C-80E0-6BB426362EB2}"/>
    <dgm:cxn modelId="{1F181852-43E2-2046-8F30-7ABAC224CBF7}" srcId="{CDA010D4-B715-7841-8EC7-AAEBF7611CA9}" destId="{C041D1DA-1B15-1243-9041-786168094CF3}" srcOrd="2" destOrd="0" parTransId="{51F08370-C34D-6E45-84CA-805CEC45386A}" sibTransId="{31970CB4-E7E0-E543-9DE7-C907A080E715}"/>
    <dgm:cxn modelId="{8D328659-887E-6A4C-A21A-FC6B0576FB24}" srcId="{B6CC79FE-9CEC-D04D-8445-668E569F406E}" destId="{17A2A880-A241-3742-89D2-CB7973877184}" srcOrd="0" destOrd="0" parTransId="{35D2468F-C3A1-4E46-AE83-735E97585065}" sibTransId="{8BF2E112-74D9-FB4C-8B9C-747644B2C066}"/>
    <dgm:cxn modelId="{D4D0425F-65D5-C745-992D-C41A8B82AABA}" type="presOf" srcId="{2471F00C-793B-BF44-9288-7419D608EAB9}" destId="{9469AE60-3C50-2345-AFCF-3AADD6A048F8}" srcOrd="0" destOrd="0" presId="urn:microsoft.com/office/officeart/2005/8/layout/chevron2"/>
    <dgm:cxn modelId="{7E1A7E6E-DA41-9647-BBF2-088C5ADC6C08}" srcId="{0CC3577D-C4AE-FD4D-9608-BF0F90592EBC}" destId="{B6CC79FE-9CEC-D04D-8445-668E569F406E}" srcOrd="0" destOrd="0" parTransId="{428E658F-A13D-D04E-8B70-BA47878DEEC2}" sibTransId="{44B39AA9-9EDE-3A42-9901-823064B8A252}"/>
    <dgm:cxn modelId="{F0159A7C-7656-3742-98F4-74029CB5D945}" type="presOf" srcId="{0CC3577D-C4AE-FD4D-9608-BF0F90592EBC}" destId="{A6CC9021-11C9-D44F-B433-6D87C7FC411C}" srcOrd="0" destOrd="0" presId="urn:microsoft.com/office/officeart/2005/8/layout/chevron2"/>
    <dgm:cxn modelId="{9C8F399F-F4ED-D143-83CD-F63469B994C7}" type="presOf" srcId="{B6CC79FE-9CEC-D04D-8445-668E569F406E}" destId="{BE7932AB-4E6C-0D4D-85BC-F0AF5537E1EB}" srcOrd="0" destOrd="0" presId="urn:microsoft.com/office/officeart/2005/8/layout/chevron2"/>
    <dgm:cxn modelId="{F237E8B0-1C2D-4E4D-9C37-E29C1971B4B9}" type="presOf" srcId="{CDA010D4-B715-7841-8EC7-AAEBF7611CA9}" destId="{859FEB33-D236-F541-AA93-A4172445FD67}" srcOrd="0" destOrd="0" presId="urn:microsoft.com/office/officeart/2005/8/layout/chevron2"/>
    <dgm:cxn modelId="{A7DC4FDC-1C17-424D-8386-7E882DEDCDBC}" type="presOf" srcId="{28936896-5C33-5243-BEB1-3FD0B9A0F637}" destId="{86F18C25-51CF-0D4D-BCB3-CD21638E8CE0}" srcOrd="0" destOrd="1" presId="urn:microsoft.com/office/officeart/2005/8/layout/chevron2"/>
    <dgm:cxn modelId="{D7DD9BDE-C5BC-D44E-8947-50B9F4E76B00}" srcId="{0CC3577D-C4AE-FD4D-9608-BF0F90592EBC}" destId="{2471F00C-793B-BF44-9288-7419D608EAB9}" srcOrd="2" destOrd="0" parTransId="{AF66C745-ABE3-0440-A5AE-C1654C40F921}" sibTransId="{FE370B84-9819-1B48-B20A-E3FFBAC72151}"/>
    <dgm:cxn modelId="{E35CC7EF-4974-BC43-8E07-EC1D54822F91}" type="presOf" srcId="{C041D1DA-1B15-1243-9041-786168094CF3}" destId="{86F18C25-51CF-0D4D-BCB3-CD21638E8CE0}" srcOrd="0" destOrd="2" presId="urn:microsoft.com/office/officeart/2005/8/layout/chevron2"/>
    <dgm:cxn modelId="{A61647F6-8010-DA47-9CD4-9FDA226F69EB}" srcId="{0CC3577D-C4AE-FD4D-9608-BF0F90592EBC}" destId="{CDA010D4-B715-7841-8EC7-AAEBF7611CA9}" srcOrd="1" destOrd="0" parTransId="{CEF324E2-F731-7644-95CA-C7484E9A192C}" sibTransId="{A760F7C4-AFD5-544A-9958-B79279C399D1}"/>
    <dgm:cxn modelId="{F7E09724-BA1F-F446-A465-B768EA43B6F6}" type="presParOf" srcId="{A6CC9021-11C9-D44F-B433-6D87C7FC411C}" destId="{27455C90-95F4-A84F-BF53-E5ECBC3F500A}" srcOrd="0" destOrd="0" presId="urn:microsoft.com/office/officeart/2005/8/layout/chevron2"/>
    <dgm:cxn modelId="{589441B6-4662-3142-8EAC-A1B1C488E020}" type="presParOf" srcId="{27455C90-95F4-A84F-BF53-E5ECBC3F500A}" destId="{BE7932AB-4E6C-0D4D-85BC-F0AF5537E1EB}" srcOrd="0" destOrd="0" presId="urn:microsoft.com/office/officeart/2005/8/layout/chevron2"/>
    <dgm:cxn modelId="{9E7C2180-CB91-E14D-B57B-42F8A3551D75}" type="presParOf" srcId="{27455C90-95F4-A84F-BF53-E5ECBC3F500A}" destId="{7502118D-6D29-9244-9334-4CCDF72C7C26}" srcOrd="1" destOrd="0" presId="urn:microsoft.com/office/officeart/2005/8/layout/chevron2"/>
    <dgm:cxn modelId="{9466CDC8-E671-BE4C-A5BA-3D999E8F08F3}" type="presParOf" srcId="{A6CC9021-11C9-D44F-B433-6D87C7FC411C}" destId="{1A98BF85-3175-0945-AAF9-C44DF01400A9}" srcOrd="1" destOrd="0" presId="urn:microsoft.com/office/officeart/2005/8/layout/chevron2"/>
    <dgm:cxn modelId="{33A53BCF-6A3D-0B4E-8EC9-67622CF2B445}" type="presParOf" srcId="{A6CC9021-11C9-D44F-B433-6D87C7FC411C}" destId="{7F3F1AE8-0879-854A-90C2-7806034CC0F1}" srcOrd="2" destOrd="0" presId="urn:microsoft.com/office/officeart/2005/8/layout/chevron2"/>
    <dgm:cxn modelId="{204BFBA9-1C88-A745-98B4-5AC4CEB3A494}" type="presParOf" srcId="{7F3F1AE8-0879-854A-90C2-7806034CC0F1}" destId="{859FEB33-D236-F541-AA93-A4172445FD67}" srcOrd="0" destOrd="0" presId="urn:microsoft.com/office/officeart/2005/8/layout/chevron2"/>
    <dgm:cxn modelId="{2169EEAC-C82E-9840-95BF-46B04CDF9B0E}" type="presParOf" srcId="{7F3F1AE8-0879-854A-90C2-7806034CC0F1}" destId="{86F18C25-51CF-0D4D-BCB3-CD21638E8CE0}" srcOrd="1" destOrd="0" presId="urn:microsoft.com/office/officeart/2005/8/layout/chevron2"/>
    <dgm:cxn modelId="{E345CEF4-0319-2048-B6E1-E3C579F6CAC6}" type="presParOf" srcId="{A6CC9021-11C9-D44F-B433-6D87C7FC411C}" destId="{F13F9D16-6E6D-DC48-B417-0F9C7B1C72CE}" srcOrd="3" destOrd="0" presId="urn:microsoft.com/office/officeart/2005/8/layout/chevron2"/>
    <dgm:cxn modelId="{F41212A1-F53A-1749-8F12-A12D413DD887}" type="presParOf" srcId="{A6CC9021-11C9-D44F-B433-6D87C7FC411C}" destId="{E778495E-7F5F-324E-BD6B-34C9B75A03D9}" srcOrd="4" destOrd="0" presId="urn:microsoft.com/office/officeart/2005/8/layout/chevron2"/>
    <dgm:cxn modelId="{ACB5C828-F9B5-E347-84AC-05D3E5950EBC}" type="presParOf" srcId="{E778495E-7F5F-324E-BD6B-34C9B75A03D9}" destId="{9469AE60-3C50-2345-AFCF-3AADD6A048F8}" srcOrd="0" destOrd="0" presId="urn:microsoft.com/office/officeart/2005/8/layout/chevron2"/>
    <dgm:cxn modelId="{5E21E459-4498-7E4B-931F-725FB5861670}" type="presParOf" srcId="{E778495E-7F5F-324E-BD6B-34C9B75A03D9}" destId="{E7BB0246-A909-3E43-9088-CAE2EA2D9CF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932AB-4E6C-0D4D-85BC-F0AF5537E1EB}">
      <dsp:nvSpPr>
        <dsp:cNvPr id="0" name=""/>
        <dsp:cNvSpPr/>
      </dsp:nvSpPr>
      <dsp:spPr>
        <a:xfrm rot="5400000">
          <a:off x="-167285" y="294078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</a:rPr>
            <a:t>Establish &amp; Evaluate</a:t>
          </a:r>
        </a:p>
      </dsp:txBody>
      <dsp:txXfrm rot="-5400000">
        <a:off x="126056" y="685199"/>
        <a:ext cx="1368921" cy="586680"/>
      </dsp:txXfrm>
    </dsp:sp>
    <dsp:sp modelId="{7502118D-6D29-9244-9334-4CCDF72C7C26}">
      <dsp:nvSpPr>
        <dsp:cNvPr id="0" name=""/>
        <dsp:cNvSpPr/>
      </dsp:nvSpPr>
      <dsp:spPr>
        <a:xfrm rot="5400000">
          <a:off x="4390844" y="-2643020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C00000"/>
              </a:solidFill>
            </a:rPr>
            <a:t>Define measurable evaluation criteria
Score solutions, prioritize feasibility
Consider cost, efficiency, &amp; scalability</a:t>
          </a:r>
        </a:p>
      </dsp:txBody>
      <dsp:txXfrm rot="-5400000">
        <a:off x="1747085" y="62791"/>
        <a:ext cx="6496607" cy="1147037"/>
      </dsp:txXfrm>
    </dsp:sp>
    <dsp:sp modelId="{859FEB33-D236-F541-AA93-A4172445FD67}">
      <dsp:nvSpPr>
        <dsp:cNvPr id="0" name=""/>
        <dsp:cNvSpPr/>
      </dsp:nvSpPr>
      <dsp:spPr>
        <a:xfrm rot="5400000">
          <a:off x="-167285" y="2058739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Analyze &amp; Select</a:t>
          </a:r>
        </a:p>
      </dsp:txBody>
      <dsp:txXfrm rot="-5400000">
        <a:off x="126056" y="2449860"/>
        <a:ext cx="1368921" cy="586680"/>
      </dsp:txXfrm>
    </dsp:sp>
    <dsp:sp modelId="{86F18C25-51CF-0D4D-BCB3-CD21638E8CE0}">
      <dsp:nvSpPr>
        <dsp:cNvPr id="0" name=""/>
        <dsp:cNvSpPr/>
      </dsp:nvSpPr>
      <dsp:spPr>
        <a:xfrm rot="5400000">
          <a:off x="4390844" y="-878359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• Conduct trade-off analysis: Performance, cost, &amp; risk analysis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• Adjust for scenario &amp; assumption changes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• Select solution, justify with criteria</a:t>
          </a:r>
        </a:p>
      </dsp:txBody>
      <dsp:txXfrm rot="-5400000">
        <a:off x="1747085" y="1827452"/>
        <a:ext cx="6496607" cy="1147037"/>
      </dsp:txXfrm>
    </dsp:sp>
    <dsp:sp modelId="{9469AE60-3C50-2345-AFCF-3AADD6A048F8}">
      <dsp:nvSpPr>
        <dsp:cNvPr id="0" name=""/>
        <dsp:cNvSpPr/>
      </dsp:nvSpPr>
      <dsp:spPr>
        <a:xfrm rot="5400000">
          <a:off x="-167285" y="3823400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Document &amp; Present</a:t>
          </a:r>
        </a:p>
      </dsp:txBody>
      <dsp:txXfrm rot="-5400000">
        <a:off x="126056" y="4214521"/>
        <a:ext cx="1368921" cy="586680"/>
      </dsp:txXfrm>
    </dsp:sp>
    <dsp:sp modelId="{E7BB0246-A909-3E43-9088-CAE2EA2D9CF1}">
      <dsp:nvSpPr>
        <dsp:cNvPr id="0" name=""/>
        <dsp:cNvSpPr/>
      </dsp:nvSpPr>
      <dsp:spPr>
        <a:xfrm rot="5400000">
          <a:off x="4390844" y="886301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rgbClr val="C00000"/>
              </a:solidFill>
            </a:rPr>
            <a:t>Document process &amp; findings clearly
Use visuals with salient results</a:t>
          </a:r>
        </a:p>
      </dsp:txBody>
      <dsp:txXfrm rot="-5400000">
        <a:off x="1747085" y="3592112"/>
        <a:ext cx="6496607" cy="11470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932AB-4E6C-0D4D-85BC-F0AF5537E1EB}">
      <dsp:nvSpPr>
        <dsp:cNvPr id="0" name=""/>
        <dsp:cNvSpPr/>
      </dsp:nvSpPr>
      <dsp:spPr>
        <a:xfrm rot="5400000">
          <a:off x="-167285" y="294078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Establish &amp; Evaluate</a:t>
          </a:r>
        </a:p>
      </dsp:txBody>
      <dsp:txXfrm rot="-5400000">
        <a:off x="126056" y="685199"/>
        <a:ext cx="1368921" cy="586680"/>
      </dsp:txXfrm>
    </dsp:sp>
    <dsp:sp modelId="{7502118D-6D29-9244-9334-4CCDF72C7C26}">
      <dsp:nvSpPr>
        <dsp:cNvPr id="0" name=""/>
        <dsp:cNvSpPr/>
      </dsp:nvSpPr>
      <dsp:spPr>
        <a:xfrm rot="5400000">
          <a:off x="4390844" y="-2643020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rgbClr val="C00000"/>
              </a:solidFill>
            </a:rPr>
            <a:t>Define measurable evaluation criteria
Score solutions, prioritize feasibility
Consider cost, efficiency, &amp; scalability</a:t>
          </a:r>
        </a:p>
      </dsp:txBody>
      <dsp:txXfrm rot="-5400000">
        <a:off x="1747085" y="62791"/>
        <a:ext cx="6496607" cy="1147037"/>
      </dsp:txXfrm>
    </dsp:sp>
    <dsp:sp modelId="{859FEB33-D236-F541-AA93-A4172445FD67}">
      <dsp:nvSpPr>
        <dsp:cNvPr id="0" name=""/>
        <dsp:cNvSpPr/>
      </dsp:nvSpPr>
      <dsp:spPr>
        <a:xfrm rot="5400000">
          <a:off x="-167285" y="2058739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</a:rPr>
            <a:t>Analyze &amp; Select</a:t>
          </a:r>
        </a:p>
      </dsp:txBody>
      <dsp:txXfrm rot="-5400000">
        <a:off x="126056" y="2449860"/>
        <a:ext cx="1368921" cy="586680"/>
      </dsp:txXfrm>
    </dsp:sp>
    <dsp:sp modelId="{86F18C25-51CF-0D4D-BCB3-CD21638E8CE0}">
      <dsp:nvSpPr>
        <dsp:cNvPr id="0" name=""/>
        <dsp:cNvSpPr/>
      </dsp:nvSpPr>
      <dsp:spPr>
        <a:xfrm rot="5400000">
          <a:off x="4390844" y="-878359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 dirty="0">
              <a:solidFill>
                <a:srgbClr val="C00000"/>
              </a:solidFill>
            </a:rPr>
            <a:t>• Conduct trade-off analysis: Performance, cost, risk analysis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 dirty="0">
              <a:solidFill>
                <a:srgbClr val="C00000"/>
              </a:solidFill>
            </a:rPr>
            <a:t>• Adjust for scenario &amp; assumption changes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 dirty="0">
              <a:solidFill>
                <a:srgbClr val="C00000"/>
              </a:solidFill>
            </a:rPr>
            <a:t>• Select solution, justify with criteria</a:t>
          </a:r>
        </a:p>
      </dsp:txBody>
      <dsp:txXfrm rot="-5400000">
        <a:off x="1747085" y="1827452"/>
        <a:ext cx="6496607" cy="1147037"/>
      </dsp:txXfrm>
    </dsp:sp>
    <dsp:sp modelId="{9469AE60-3C50-2345-AFCF-3AADD6A048F8}">
      <dsp:nvSpPr>
        <dsp:cNvPr id="0" name=""/>
        <dsp:cNvSpPr/>
      </dsp:nvSpPr>
      <dsp:spPr>
        <a:xfrm rot="5400000">
          <a:off x="-167285" y="3823400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Document &amp; Present</a:t>
          </a:r>
        </a:p>
      </dsp:txBody>
      <dsp:txXfrm rot="-5400000">
        <a:off x="126056" y="4214521"/>
        <a:ext cx="1368921" cy="586680"/>
      </dsp:txXfrm>
    </dsp:sp>
    <dsp:sp modelId="{E7BB0246-A909-3E43-9088-CAE2EA2D9CF1}">
      <dsp:nvSpPr>
        <dsp:cNvPr id="0" name=""/>
        <dsp:cNvSpPr/>
      </dsp:nvSpPr>
      <dsp:spPr>
        <a:xfrm rot="5400000">
          <a:off x="4390844" y="886301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rgbClr val="C00000"/>
              </a:solidFill>
            </a:rPr>
            <a:t>Document process &amp; findings clearly
Use visuals with salient results</a:t>
          </a:r>
        </a:p>
      </dsp:txBody>
      <dsp:txXfrm rot="-5400000">
        <a:off x="1747085" y="3592112"/>
        <a:ext cx="6496607" cy="11470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932AB-4E6C-0D4D-85BC-F0AF5537E1EB}">
      <dsp:nvSpPr>
        <dsp:cNvPr id="0" name=""/>
        <dsp:cNvSpPr/>
      </dsp:nvSpPr>
      <dsp:spPr>
        <a:xfrm rot="5400000">
          <a:off x="-167285" y="294078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Establish &amp; Evaluate</a:t>
          </a:r>
        </a:p>
      </dsp:txBody>
      <dsp:txXfrm rot="-5400000">
        <a:off x="126056" y="685199"/>
        <a:ext cx="1368921" cy="586680"/>
      </dsp:txXfrm>
    </dsp:sp>
    <dsp:sp modelId="{7502118D-6D29-9244-9334-4CCDF72C7C26}">
      <dsp:nvSpPr>
        <dsp:cNvPr id="0" name=""/>
        <dsp:cNvSpPr/>
      </dsp:nvSpPr>
      <dsp:spPr>
        <a:xfrm rot="5400000">
          <a:off x="4390844" y="-2643020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rgbClr val="C00000"/>
              </a:solidFill>
            </a:rPr>
            <a:t>Define measurable evaluation criteria
Score solutions, prioritize feasibility
Consider cost, efficiency, &amp; scalability</a:t>
          </a:r>
        </a:p>
      </dsp:txBody>
      <dsp:txXfrm rot="-5400000">
        <a:off x="1747085" y="62791"/>
        <a:ext cx="6496607" cy="1147037"/>
      </dsp:txXfrm>
    </dsp:sp>
    <dsp:sp modelId="{859FEB33-D236-F541-AA93-A4172445FD67}">
      <dsp:nvSpPr>
        <dsp:cNvPr id="0" name=""/>
        <dsp:cNvSpPr/>
      </dsp:nvSpPr>
      <dsp:spPr>
        <a:xfrm rot="5400000">
          <a:off x="-167285" y="2058739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Analyze &amp; Select</a:t>
          </a:r>
        </a:p>
      </dsp:txBody>
      <dsp:txXfrm rot="-5400000">
        <a:off x="126056" y="2449860"/>
        <a:ext cx="1368921" cy="586680"/>
      </dsp:txXfrm>
    </dsp:sp>
    <dsp:sp modelId="{86F18C25-51CF-0D4D-BCB3-CD21638E8CE0}">
      <dsp:nvSpPr>
        <dsp:cNvPr id="0" name=""/>
        <dsp:cNvSpPr/>
      </dsp:nvSpPr>
      <dsp:spPr>
        <a:xfrm rot="5400000">
          <a:off x="4390844" y="-878359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• Conduct trade-off analysis: Performance, cost, &amp; risk analysis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• Adjust for scenario &amp; assumption changes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• Select solution, justify with criteria</a:t>
          </a:r>
        </a:p>
      </dsp:txBody>
      <dsp:txXfrm rot="-5400000">
        <a:off x="1747085" y="1827452"/>
        <a:ext cx="6496607" cy="1147037"/>
      </dsp:txXfrm>
    </dsp:sp>
    <dsp:sp modelId="{9469AE60-3C50-2345-AFCF-3AADD6A048F8}">
      <dsp:nvSpPr>
        <dsp:cNvPr id="0" name=""/>
        <dsp:cNvSpPr/>
      </dsp:nvSpPr>
      <dsp:spPr>
        <a:xfrm rot="5400000">
          <a:off x="-167285" y="3823400"/>
          <a:ext cx="1955601" cy="1368921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00"/>
              </a:solidFill>
            </a:rPr>
            <a:t>Document &amp; Present</a:t>
          </a:r>
        </a:p>
      </dsp:txBody>
      <dsp:txXfrm rot="-5400000">
        <a:off x="126056" y="4214521"/>
        <a:ext cx="1368921" cy="586680"/>
      </dsp:txXfrm>
    </dsp:sp>
    <dsp:sp modelId="{E7BB0246-A909-3E43-9088-CAE2EA2D9CF1}">
      <dsp:nvSpPr>
        <dsp:cNvPr id="0" name=""/>
        <dsp:cNvSpPr/>
      </dsp:nvSpPr>
      <dsp:spPr>
        <a:xfrm rot="5400000">
          <a:off x="4390844" y="886301"/>
          <a:ext cx="1271141" cy="655865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C00000"/>
              </a:solidFill>
            </a:rPr>
            <a:t>Document process &amp; findings clearly
Use visuals with salient results</a:t>
          </a:r>
        </a:p>
      </dsp:txBody>
      <dsp:txXfrm rot="-5400000">
        <a:off x="1747085" y="3592112"/>
        <a:ext cx="6496607" cy="1147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A349-295A-9648-AC81-268E9C74AF3D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13196-D6CC-4148-993F-EDD11FE55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13196-D6CC-4148-993F-EDD11FE55E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1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0913-1F13-4744-B94A-DD1167A56E7D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163F-7EC9-5B47-A192-CB50DE612FED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2BC-3CB7-1146-A19E-4D5E63F3B742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1693-1844-8848-86CC-F923317986AD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5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DF2-3CCE-3449-B48D-F4595C3D57FE}" type="datetime1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FDB3-FCD2-A24F-8241-8DA72B16D6B1}" type="datetime1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C91C-CE34-DA4E-B4C2-6B29BDE88023}" type="datetime1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4E1-3786-E644-95CD-0EC484282321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75EC-C44D-6048-B3A9-C5F04F3202FD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7D1-F120-9444-A8E9-CC8E63B024C0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6640-3593-E045-822D-D104552937CC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CE539-832A-BA41-9408-4A63384D7065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amueps.secure-platform.com/judg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.hbs.edu/blog/post/cost-benefit-analysis" TargetMode="External"/><Relationship Id="rId2" Type="http://schemas.openxmlformats.org/officeDocument/2006/relationships/hyperlink" Target="https://www.investopedia.com/terms/o/opportunitycost.asp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hyperlink" Target="https://sixsigmastudyguide.com/failure-mode-effects-analysis-fmea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ixsigmastudyguide.com/pugh-analysis/" TargetMode="External"/><Relationship Id="rId5" Type="http://schemas.openxmlformats.org/officeDocument/2006/relationships/hyperlink" Target="https://sixsigmastudyguide.com/fault-tree-analysis/" TargetMode="Externa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ama.org/learning-resources/dama-data-management-body-of-knowledge-dmbok/" TargetMode="External"/><Relationship Id="rId2" Type="http://schemas.openxmlformats.org/officeDocument/2006/relationships/hyperlink" Target="https://www.iso.org/obp/ui#iso:std:iso:8000:-1:ed-1:v1:en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.stevejobsarchive.com/" TargetMode="Externa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3C3F-1404-17C0-C624-2093CA988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Phase 3 Develop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3F7C0-3B00-9922-4283-570E4A6CA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DAEN 460 Capstone Senior Design</a:t>
            </a:r>
          </a:p>
          <a:p>
            <a:r>
              <a:rPr lang="en-US" sz="1800" dirty="0">
                <a:solidFill>
                  <a:srgbClr val="4B1211"/>
                </a:solidFill>
              </a:rPr>
              <a:t>Alexander Abuabara</a:t>
            </a:r>
          </a:p>
          <a:p>
            <a:r>
              <a:rPr lang="en-US" sz="1800" dirty="0">
                <a:solidFill>
                  <a:srgbClr val="4B1211"/>
                </a:solidFill>
              </a:rPr>
              <a:t>Spring 2026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7B844F80-89B7-0A8B-956D-1507C8E5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5257800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51359-476B-3BFA-469F-650B1C5E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DFFDD-D222-079A-DD9B-040B835E1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9" t="9887" r="2909" b="6675"/>
          <a:stretch>
            <a:fillRect/>
          </a:stretch>
        </p:blipFill>
        <p:spPr>
          <a:xfrm>
            <a:off x="809896" y="1554198"/>
            <a:ext cx="7524208" cy="374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085869-76FF-93CF-88FC-D39524560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4" y="2835274"/>
            <a:ext cx="3657600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BD8D0B-3289-BF73-1A3E-D4A1F445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D565-3CFE-D911-73C3-E4E8C8F28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Introduction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Comms activity</a:t>
            </a:r>
          </a:p>
          <a:p>
            <a:r>
              <a:rPr lang="en-US" b="1" dirty="0">
                <a:solidFill>
                  <a:srgbClr val="C00000"/>
                </a:solidFill>
              </a:rPr>
              <a:t>Phase 3 Process and Requirements</a:t>
            </a:r>
          </a:p>
          <a:p>
            <a:r>
              <a:rPr lang="en-US" b="1" dirty="0">
                <a:solidFill>
                  <a:srgbClr val="4B1211"/>
                </a:solidFill>
              </a:rPr>
              <a:t>Research Project Decision Making Process</a:t>
            </a:r>
          </a:p>
          <a:p>
            <a:pPr lvl="1"/>
            <a:r>
              <a:rPr lang="en-US" b="1" dirty="0">
                <a:solidFill>
                  <a:srgbClr val="FFAC00"/>
                </a:solidFill>
              </a:rPr>
              <a:t>Costs</a:t>
            </a:r>
          </a:p>
          <a:p>
            <a:pPr lvl="1"/>
            <a:r>
              <a:rPr lang="en-US" b="1" dirty="0">
                <a:solidFill>
                  <a:srgbClr val="FFAC00"/>
                </a:solidFill>
              </a:rPr>
              <a:t>Constrains</a:t>
            </a:r>
          </a:p>
          <a:p>
            <a:pPr lvl="1"/>
            <a:r>
              <a:rPr lang="en-US" b="1" dirty="0">
                <a:solidFill>
                  <a:srgbClr val="FFAC00"/>
                </a:solidFill>
              </a:rPr>
              <a:t>Standards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1AD5-0C4D-2175-EF32-E8733F3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0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8B6E-329F-38D2-90F0-602E0D88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60825"/>
            <a:ext cx="8135340" cy="311613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Critique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your own project against </a:t>
            </a:r>
            <a:r>
              <a:rPr lang="en-US" sz="2000" b="1" dirty="0"/>
              <a:t>learning outcomes</a:t>
            </a:r>
            <a:br>
              <a:rPr lang="en-US" sz="2000" b="1" dirty="0"/>
            </a:br>
            <a:r>
              <a:rPr lang="en-US" sz="2000" dirty="0"/>
              <a:t>rather than </a:t>
            </a:r>
            <a:r>
              <a:rPr lang="en-US" sz="2000" u="sng" dirty="0"/>
              <a:t>technical checklists only</a:t>
            </a:r>
            <a:r>
              <a:rPr lang="en-US" sz="2000" dirty="0"/>
              <a:t>!</a:t>
            </a:r>
          </a:p>
          <a:p>
            <a:pPr lvl="1"/>
            <a:r>
              <a:rPr lang="en-US" sz="1600" dirty="0"/>
              <a:t>You are </a:t>
            </a:r>
            <a:r>
              <a:rPr lang="en-US" sz="1600" b="1" dirty="0">
                <a:solidFill>
                  <a:srgbClr val="FF0000"/>
                </a:solidFill>
              </a:rPr>
              <a:t>not</a:t>
            </a:r>
            <a:r>
              <a:rPr lang="en-US" sz="1600" dirty="0"/>
              <a:t> being graded on </a:t>
            </a:r>
            <a:r>
              <a:rPr lang="en-US" sz="1600" b="1" dirty="0">
                <a:solidFill>
                  <a:srgbClr val="FF0000"/>
                </a:solidFill>
              </a:rPr>
              <a:t>reproducing</a:t>
            </a:r>
            <a:r>
              <a:rPr lang="en-US" sz="1600" dirty="0"/>
              <a:t> a solution but</a:t>
            </a:r>
            <a:br>
              <a:rPr lang="en-US" sz="1600" dirty="0"/>
            </a:br>
            <a:r>
              <a:rPr lang="en-US" sz="1600" dirty="0"/>
              <a:t>on the </a:t>
            </a:r>
            <a:r>
              <a:rPr lang="en-US" sz="1600" b="1" dirty="0"/>
              <a:t>quality of your thinking and decisions</a:t>
            </a:r>
            <a:r>
              <a:rPr lang="en-US" sz="1600" dirty="0"/>
              <a:t>!</a:t>
            </a:r>
          </a:p>
          <a:p>
            <a:r>
              <a:rPr lang="en-US" sz="2000" dirty="0"/>
              <a:t>You're not just working alongside your peers, you're learning with them. </a:t>
            </a:r>
          </a:p>
          <a:p>
            <a:pPr lvl="1"/>
            <a:r>
              <a:rPr lang="en-US" sz="1600" dirty="0"/>
              <a:t>The goal is to move from individual results to shared success through real collaboration.</a:t>
            </a:r>
          </a:p>
          <a:p>
            <a:pPr lvl="1"/>
            <a:r>
              <a:rPr lang="en-US" sz="1600" dirty="0"/>
              <a:t>Peers are teammates, not just people doing the same assignment.</a:t>
            </a:r>
          </a:p>
          <a:p>
            <a:pPr lvl="1"/>
            <a:r>
              <a:rPr lang="en-US" sz="1600" dirty="0"/>
              <a:t>The aim is to build a culture of shared responsibility and genuine collaboration.</a:t>
            </a:r>
          </a:p>
          <a:p>
            <a:r>
              <a:rPr lang="en-US" sz="2000" dirty="0"/>
              <a:t>Also, paying attention to </a:t>
            </a:r>
            <a:r>
              <a:rPr lang="en-US" sz="2000" b="1" dirty="0"/>
              <a:t>how</a:t>
            </a:r>
            <a:r>
              <a:rPr lang="en-US" sz="2000" dirty="0"/>
              <a:t> and </a:t>
            </a:r>
            <a:r>
              <a:rPr lang="en-US" sz="2000" b="1" dirty="0"/>
              <a:t>why</a:t>
            </a:r>
            <a:r>
              <a:rPr lang="en-US" sz="2000" dirty="0"/>
              <a:t> you think the way you do</a:t>
            </a:r>
            <a:br>
              <a:rPr lang="en-US" sz="2000" dirty="0"/>
            </a:br>
            <a:r>
              <a:rPr lang="en-US" sz="2000" dirty="0"/>
              <a:t>when learning!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F7177-E4F2-112D-C5DE-580CC5F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D8DED4-5A3F-05B2-A499-861BE7FAD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36" y="185738"/>
            <a:ext cx="4046339" cy="26956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E82AC3-D5D5-4736-8CEB-7B9040914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15041" r="12853" b="9757"/>
          <a:stretch>
            <a:fillRect/>
          </a:stretch>
        </p:blipFill>
        <p:spPr>
          <a:xfrm>
            <a:off x="949925" y="497266"/>
            <a:ext cx="2286000" cy="23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1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040D-CC22-DED9-4D13-1B28E25B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Learning Outcomes 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i="1" dirty="0">
                <a:solidFill>
                  <a:srgbClr val="C00000"/>
                </a:solidFill>
              </a:rPr>
              <a:t>syllabus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  <a:br>
              <a:rPr lang="en-US" sz="3200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Ability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6252-D7F4-38A7-484F-5F2C30598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5030786"/>
          </a:xfrm>
        </p:spPr>
        <p:txBody>
          <a:bodyPr>
            <a:normAutofit fontScale="62500" lnSpcReduction="20000"/>
          </a:bodyPr>
          <a:lstStyle/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Identify</a:t>
            </a:r>
            <a:r>
              <a:rPr lang="en-US" dirty="0"/>
              <a:t>, </a:t>
            </a:r>
            <a:r>
              <a:rPr lang="en-US" b="1" dirty="0"/>
              <a:t>formulate</a:t>
            </a:r>
            <a:r>
              <a:rPr lang="en-US" dirty="0"/>
              <a:t>, and </a:t>
            </a:r>
            <a:r>
              <a:rPr lang="en-US" b="1" dirty="0">
                <a:highlight>
                  <a:srgbClr val="FFFF00"/>
                </a:highlight>
              </a:rPr>
              <a:t>solve</a:t>
            </a:r>
            <a:r>
              <a:rPr lang="en-US" dirty="0"/>
              <a:t> </a:t>
            </a:r>
            <a:r>
              <a:rPr lang="en-US" u="sng" dirty="0"/>
              <a:t>complex engineering problems</a:t>
            </a:r>
            <a:br>
              <a:rPr lang="en-US" u="sng" dirty="0"/>
            </a:br>
            <a:r>
              <a:rPr lang="en-US" dirty="0"/>
              <a:t>by applying principles of </a:t>
            </a:r>
            <a:r>
              <a:rPr lang="en-US" u="sng" dirty="0"/>
              <a:t>engineering</a:t>
            </a:r>
            <a:r>
              <a:rPr lang="en-US" dirty="0"/>
              <a:t>, </a:t>
            </a:r>
            <a:r>
              <a:rPr lang="en-US" u="sng" dirty="0"/>
              <a:t>science</a:t>
            </a:r>
            <a:r>
              <a:rPr lang="en-US" dirty="0"/>
              <a:t>, and </a:t>
            </a:r>
            <a:r>
              <a:rPr lang="en-US" u="sng" dirty="0"/>
              <a:t>mathematics</a:t>
            </a:r>
            <a:r>
              <a:rPr lang="en-US" dirty="0"/>
              <a:t>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Apply engineering </a:t>
            </a:r>
            <a:r>
              <a:rPr lang="en-US" b="1" dirty="0">
                <a:highlight>
                  <a:srgbClr val="FFFF00"/>
                </a:highlight>
              </a:rPr>
              <a:t>design</a:t>
            </a:r>
            <a:r>
              <a:rPr lang="en-US" b="1" dirty="0"/>
              <a:t> </a:t>
            </a:r>
            <a:r>
              <a:rPr lang="en-US" dirty="0"/>
              <a:t>to produce solutions that meet specified needs with consideration of public health, safety, and welfare, as well as global, cultural, social, environmental, and economic factors.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00FFFF"/>
                </a:highlight>
              </a:rPr>
              <a:t>Communicate effectively</a:t>
            </a:r>
            <a:r>
              <a:rPr lang="en-US" b="1" dirty="0"/>
              <a:t> </a:t>
            </a:r>
            <a:r>
              <a:rPr lang="en-US" dirty="0"/>
              <a:t>with a range of audiences.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Recognize ethical and professional responsibilities</a:t>
            </a:r>
            <a:r>
              <a:rPr lang="en-US" b="1" dirty="0"/>
              <a:t> </a:t>
            </a:r>
            <a:r>
              <a:rPr lang="en-US" dirty="0"/>
              <a:t>in engineering situations and make informed judgments, which must consider </a:t>
            </a:r>
            <a:br>
              <a:rPr lang="en-US" dirty="0"/>
            </a:br>
            <a:r>
              <a:rPr lang="en-US" dirty="0"/>
              <a:t>the impact of engineering solutions in global, economic, </a:t>
            </a:r>
            <a:br>
              <a:rPr lang="en-US" dirty="0"/>
            </a:br>
            <a:r>
              <a:rPr lang="en-US" dirty="0"/>
              <a:t>environmental, and societal contexts.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Function </a:t>
            </a:r>
            <a:r>
              <a:rPr lang="en-US" b="1" dirty="0">
                <a:highlight>
                  <a:srgbClr val="FFFF00"/>
                </a:highlight>
              </a:rPr>
              <a:t>effectively on a team</a:t>
            </a:r>
            <a:r>
              <a:rPr lang="en-US" b="1" dirty="0"/>
              <a:t> </a:t>
            </a:r>
            <a:r>
              <a:rPr lang="en-US" dirty="0"/>
              <a:t>whose members together provide leadership, create a collaborative and inclusive environment, </a:t>
            </a:r>
            <a:br>
              <a:rPr lang="en-US" dirty="0"/>
            </a:br>
            <a:r>
              <a:rPr lang="en-US" dirty="0"/>
              <a:t>establish goals, plan tasks and meet objectives.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Develop and conduct appropriate </a:t>
            </a:r>
            <a:r>
              <a:rPr lang="en-US" b="1" dirty="0">
                <a:highlight>
                  <a:srgbClr val="00FFFF"/>
                </a:highlight>
              </a:rPr>
              <a:t>experimentation, analyze and interpret data</a:t>
            </a:r>
            <a:r>
              <a:rPr lang="en-US" b="1" dirty="0"/>
              <a:t> </a:t>
            </a:r>
            <a:r>
              <a:rPr lang="en-US" dirty="0"/>
              <a:t>and use engineering judgment to </a:t>
            </a:r>
            <a:r>
              <a:rPr lang="en-US" b="1" dirty="0"/>
              <a:t>draw conclusions</a:t>
            </a:r>
            <a:r>
              <a:rPr lang="en-US" dirty="0"/>
              <a:t>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Acquire and apply new knowledge as needed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using appropriate learning strategies.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20B6D-48EF-13E1-C2C5-83D4C2CB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7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BE5633-9F5C-F7CE-0B3B-76A5E3D0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Upcoming Semester Schedule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6BA54-B0C5-3CDD-E853-8A76DC39F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4/7 Phase 4 Kickoff</a:t>
            </a:r>
          </a:p>
          <a:p>
            <a:r>
              <a:rPr lang="en-US" sz="2200" dirty="0"/>
              <a:t>4/14 Phase 4 Presentations BH/COE</a:t>
            </a:r>
          </a:p>
          <a:p>
            <a:r>
              <a:rPr lang="en-US" sz="2200" dirty="0"/>
              <a:t>4/14</a:t>
            </a:r>
            <a:r>
              <a:rPr lang="en-US" sz="2200" baseline="30000" dirty="0"/>
              <a:t>mandatory attendance for all 2:15-3:15</a:t>
            </a:r>
            <a:r>
              <a:rPr lang="en-US" sz="2200" dirty="0"/>
              <a:t> Senior Exit Interviews</a:t>
            </a:r>
          </a:p>
          <a:p>
            <a:r>
              <a:rPr lang="en-US" sz="2200" dirty="0"/>
              <a:t>4/21 Phase 4 Presentations ML</a:t>
            </a:r>
          </a:p>
          <a:p>
            <a:r>
              <a:rPr lang="en-US" sz="2200" dirty="0"/>
              <a:t>4/24</a:t>
            </a:r>
            <a:r>
              <a:rPr lang="en-US" sz="2200" baseline="30000" dirty="0"/>
              <a:t>in-person, all day</a:t>
            </a:r>
            <a:r>
              <a:rPr lang="en-US" sz="2200" dirty="0"/>
              <a:t> COE Showcase</a:t>
            </a:r>
            <a:br>
              <a:rPr lang="en-US" sz="2200" dirty="0"/>
            </a:br>
            <a:r>
              <a:rPr lang="en-US" sz="1800" dirty="0"/>
              <a:t>check schedule: </a:t>
            </a:r>
            <a:r>
              <a:rPr lang="en-US" sz="1800" dirty="0">
                <a:hlinkClick r:id="rId2"/>
              </a:rPr>
              <a:t>https://tamueps.secure-platform.com/judges/</a:t>
            </a:r>
            <a:endParaRPr lang="en-US" sz="1800" dirty="0"/>
          </a:p>
          <a:p>
            <a:r>
              <a:rPr lang="en-US" sz="2200" dirty="0"/>
              <a:t>5/5</a:t>
            </a:r>
            <a:r>
              <a:rPr lang="en-US" sz="2200" baseline="30000" dirty="0"/>
              <a:t>5 PM</a:t>
            </a:r>
            <a:r>
              <a:rPr lang="en-US" sz="2200" dirty="0"/>
              <a:t> Final Report Due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6C73-35A2-D42C-CDED-8F3C0FD9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6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1C1E-5C8D-2CE2-32D1-91AB9A21D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864BC1-6CBF-7040-D785-377308C6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Final/Phase 4 Presentation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2A82C-1FFE-1388-6E1C-AE7992B31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Welcome to invite sponsors to attend your presentation</a:t>
            </a:r>
          </a:p>
          <a:p>
            <a:r>
              <a:rPr lang="en-US" sz="2200" dirty="0"/>
              <a:t>Please coordinate if you need to arrange parking for them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62AC9-4EC4-1628-E54E-330A66D5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5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1090-88E1-0CF9-44F0-F5BC861C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FC812A-A020-6501-7032-725757AF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Awards Ceremony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A8B74-008E-0A3B-D98B-601B9D1D1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If your team wins an award in the showcase (either ISEN or overall), you will receive an email inviting you to the awards ceremony!</a:t>
            </a:r>
          </a:p>
          <a:p>
            <a:r>
              <a:rPr lang="en-US" sz="2200" dirty="0"/>
              <a:t>There will be a lot of things going on that day (graduation, reception, etc.), but try to make the awards ceremony to have your picture taken with your team and instructors :)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BC5CE-563B-E058-068C-C4B7F339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7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EB0F-58B5-AF94-0961-30BA330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F9FD79-8BDF-723A-BA1E-AC7C272F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Peer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AE2D7-A0EC-D8F4-DF5D-B824AE89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Peer Evaluation will be due after the final report</a:t>
            </a:r>
          </a:p>
          <a:p>
            <a:r>
              <a:rPr lang="en-US" sz="2200" dirty="0"/>
              <a:t>You will be asked to rate your performance on the project as well as your teammates</a:t>
            </a:r>
          </a:p>
          <a:p>
            <a:r>
              <a:rPr lang="en-US" sz="2200" dirty="0"/>
              <a:t>A grade (representing 12% of your overall grade) will be determined using:</a:t>
            </a:r>
          </a:p>
          <a:p>
            <a:pPr lvl="1"/>
            <a:r>
              <a:rPr lang="en-US" sz="2200" dirty="0"/>
              <a:t>Peer Evaluation ratings and comments</a:t>
            </a:r>
          </a:p>
          <a:p>
            <a:pPr lvl="1"/>
            <a:r>
              <a:rPr lang="en-US" sz="2200" dirty="0"/>
              <a:t>Class attendance/tardiness/participation</a:t>
            </a:r>
          </a:p>
          <a:p>
            <a:pPr lvl="1"/>
            <a:r>
              <a:rPr lang="en-US" sz="2200" dirty="0"/>
              <a:t>Instructors' observation of team participation/contribution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CFD4-EDD2-47EB-5E4C-A7284023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A15D5-204B-CDC8-CD0B-5A7A1F98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5266-C482-2BE1-0271-68A87CD6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Comms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F317-B36D-4A37-5EC1-D93FFC14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6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3914-CDD3-B43E-C9AF-86A94BA7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83F1F-CBB7-2EF0-86C5-CAAF09AF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AF05A-9641-8032-920D-FE11675D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Phase 3 is about moving into solutions</a:t>
            </a:r>
          </a:p>
          <a:p>
            <a:r>
              <a:rPr lang="en-US" sz="2200" dirty="0"/>
              <a:t>You should be able to convert your "as-is" model into a "to-be" model</a:t>
            </a:r>
          </a:p>
          <a:p>
            <a:pPr lvl="1"/>
            <a:r>
              <a:rPr lang="en-US" sz="2200" dirty="0"/>
              <a:t>Addresses needs/requirements/actions previously defined</a:t>
            </a:r>
          </a:p>
          <a:p>
            <a:pPr lvl="1"/>
            <a:r>
              <a:rPr lang="en-US" sz="2200" dirty="0"/>
              <a:t>Model can be revision of as-is, or a new model (i.e. simulation)</a:t>
            </a:r>
          </a:p>
          <a:p>
            <a:r>
              <a:rPr lang="en-US" sz="2200" dirty="0"/>
              <a:t>To-be model should be solution independent, it should be achievable in various ways</a:t>
            </a:r>
          </a:p>
          <a:p>
            <a:pPr lvl="1"/>
            <a:r>
              <a:rPr lang="en-US" sz="2200" dirty="0"/>
              <a:t>Solution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E7A1-857D-F4CB-5277-B3D6AE51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94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B2447F-EBA1-199F-0DD1-AB84F23C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F9965-539E-D1CB-2A26-34FB5AE3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06233"/>
            <a:ext cx="8961120" cy="524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7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0541-A61F-C628-E256-9A04F749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0B3A1D-D2F0-1113-2A41-A98C3B9F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Solution Concepts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C7D6F-F49C-F62F-2F5C-E6B18526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Develop various concepts that provide a solution to your problem</a:t>
            </a:r>
          </a:p>
          <a:p>
            <a:pPr lvl="1"/>
            <a:r>
              <a:rPr lang="en-US" sz="2200" dirty="0"/>
              <a:t>Even if you've decided on a path already, you should be able to present alternative solutions that you considered</a:t>
            </a:r>
          </a:p>
          <a:p>
            <a:r>
              <a:rPr lang="en-US" sz="2200" dirty="0"/>
              <a:t>Screen out any concepts that are not feasible or practical</a:t>
            </a:r>
          </a:p>
          <a:p>
            <a:r>
              <a:rPr lang="en-US" sz="2200" dirty="0"/>
              <a:t>Ensure that remaining concepts meet requirements (leading to "To-be")</a:t>
            </a:r>
          </a:p>
          <a:p>
            <a:pPr lvl="1"/>
            <a:r>
              <a:rPr lang="en-US" sz="2200" dirty="0"/>
              <a:t>Present concepts independent of evaluation criteria 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8768F-B579-32FD-E4A0-B398898D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76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18F7E-99EE-C486-DADB-2C9CF7BD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B0A63D-BF44-01B0-86B8-F4EADD2F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508B2-33F0-20B8-A9BA-D86ED0BB6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08685"/>
            <a:ext cx="8961120" cy="504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76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A233-1C39-1261-48F8-B4974EBF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583EEE-2852-E39A-F7E5-8D98DEFF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Keep in mind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3541B-7EB3-926D-E48F-0BA4E14D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8192"/>
            <a:ext cx="7886700" cy="4708771"/>
          </a:xfrm>
        </p:spPr>
        <p:txBody>
          <a:bodyPr>
            <a:normAutofit/>
          </a:bodyPr>
          <a:lstStyle/>
          <a:p>
            <a:r>
              <a:rPr lang="en-US" sz="2200" dirty="0"/>
              <a:t>Where has your sponsor given you the freedom to make an engineering decision?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68B9D-E4F1-44AD-9F42-30ABE522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B75BC-9403-E71F-F2E0-D52AF0101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91273"/>
            <a:ext cx="6492240" cy="388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98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BF0A6-D85E-5979-0FEA-78AD011F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D9139-183C-0EB8-899A-ADB07AA8E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65126"/>
            <a:ext cx="7886700" cy="5811837"/>
          </a:xfrm>
        </p:spPr>
        <p:txBody>
          <a:bodyPr anchor="ctr">
            <a:normAutofit/>
          </a:bodyPr>
          <a:lstStyle/>
          <a:p>
            <a:r>
              <a:rPr lang="en-US" sz="2200" dirty="0"/>
              <a:t>Hopefully, you have already made some progress regarding the solution you will be delivering your sponsor.</a:t>
            </a:r>
          </a:p>
          <a:p>
            <a:r>
              <a:rPr lang="en-US" sz="2200" dirty="0"/>
              <a:t>It doesn't make sense to </a:t>
            </a:r>
            <a:r>
              <a:rPr lang="en-US" sz="2200" b="1" i="1" dirty="0">
                <a:solidFill>
                  <a:srgbClr val="C00000"/>
                </a:solidFill>
              </a:rPr>
              <a:t>backtrack</a:t>
            </a:r>
            <a:r>
              <a:rPr lang="en-US" sz="2200" dirty="0"/>
              <a:t> with your Analysis of Alternatives (AoA).</a:t>
            </a:r>
          </a:p>
          <a:p>
            <a:r>
              <a:rPr lang="en-US" sz="2200" dirty="0"/>
              <a:t>By that, I mean:</a:t>
            </a:r>
          </a:p>
          <a:p>
            <a:pPr lvl="1"/>
            <a:r>
              <a:rPr lang="en-US" sz="2200" dirty="0"/>
              <a:t>If you are developing a data analytics tool, it is far less fruitful to compare platforms (VBA vs. </a:t>
            </a:r>
            <a:r>
              <a:rPr lang="en-US" sz="2200" dirty="0" err="1"/>
              <a:t>PowerBI</a:t>
            </a:r>
            <a:r>
              <a:rPr lang="en-US" sz="2200" dirty="0"/>
              <a:t> vs. Python vs. R vs. C/C++ vs. Java, etc.) than compare algorithmic approaches.</a:t>
            </a:r>
          </a:p>
          <a:p>
            <a:r>
              <a:rPr lang="en-US" sz="2200" b="1" dirty="0">
                <a:solidFill>
                  <a:srgbClr val="C00000"/>
                </a:solidFill>
              </a:rPr>
              <a:t>Refining Rather than Restarting</a:t>
            </a:r>
            <a:r>
              <a:rPr lang="en-US" sz="2200" dirty="0"/>
              <a:t>: You've already done significant work in defining needs, requirements, and engineering actions.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AoA helps </a:t>
            </a:r>
            <a:r>
              <a:rPr lang="en-US" sz="2200" b="1" dirty="0">
                <a:solidFill>
                  <a:srgbClr val="C00000"/>
                </a:solidFill>
              </a:rPr>
              <a:t>refine</a:t>
            </a:r>
            <a:r>
              <a:rPr lang="en-US" sz="2200" dirty="0">
                <a:solidFill>
                  <a:srgbClr val="C00000"/>
                </a:solidFill>
              </a:rPr>
              <a:t> and </a:t>
            </a:r>
            <a:r>
              <a:rPr lang="en-US" sz="2200" b="1" dirty="0">
                <a:solidFill>
                  <a:srgbClr val="C00000"/>
                </a:solidFill>
              </a:rPr>
              <a:t>validate</a:t>
            </a:r>
            <a:r>
              <a:rPr lang="en-US" sz="2200" dirty="0">
                <a:solidFill>
                  <a:srgbClr val="C00000"/>
                </a:solidFill>
              </a:rPr>
              <a:t> your direction </a:t>
            </a:r>
            <a:r>
              <a:rPr lang="en-US" sz="2200" b="1" dirty="0">
                <a:solidFill>
                  <a:srgbClr val="C00000"/>
                </a:solidFill>
              </a:rPr>
              <a:t>rather</a:t>
            </a:r>
            <a:r>
              <a:rPr lang="en-US" sz="2200" dirty="0">
                <a:solidFill>
                  <a:srgbClr val="C00000"/>
                </a:solidFill>
              </a:rPr>
              <a:t> than sending you back to </a:t>
            </a:r>
            <a:r>
              <a:rPr lang="en-US" sz="2200" i="1" dirty="0">
                <a:solidFill>
                  <a:srgbClr val="C00000"/>
                </a:solidFill>
              </a:rPr>
              <a:t>square one</a:t>
            </a:r>
            <a:r>
              <a:rPr lang="en-US" sz="22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838AB-723D-9DAE-4A94-FFB27FE4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77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0BFD3-821F-26C2-9303-C6418F5C1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903DD-750C-4E3E-9D98-3CFA5CF2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65126"/>
            <a:ext cx="7886700" cy="5811837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Data-Driven Justification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dirty="0"/>
              <a:t>AoA </a:t>
            </a:r>
            <a:r>
              <a:rPr lang="en-US" sz="2400" u="sng" dirty="0"/>
              <a:t>quantifies</a:t>
            </a:r>
            <a:r>
              <a:rPr lang="en-US" sz="2400" dirty="0"/>
              <a:t> trade-offs so that you can justify your</a:t>
            </a:r>
            <a:br>
              <a:rPr lang="en-US" sz="2400" dirty="0"/>
            </a:br>
            <a:r>
              <a:rPr lang="en-US" sz="2400" dirty="0"/>
              <a:t>final solution selection with </a:t>
            </a:r>
            <a:r>
              <a:rPr lang="en-US" sz="2400" b="1" dirty="0"/>
              <a:t>economic</a:t>
            </a:r>
            <a:r>
              <a:rPr lang="en-US" sz="2400" dirty="0"/>
              <a:t>, </a:t>
            </a:r>
            <a:r>
              <a:rPr lang="en-US" sz="2400" b="1" dirty="0"/>
              <a:t>risk</a:t>
            </a:r>
            <a:r>
              <a:rPr lang="en-US" sz="2400" dirty="0"/>
              <a:t>, and </a:t>
            </a:r>
            <a:r>
              <a:rPr lang="en-US" sz="2400" b="1" dirty="0"/>
              <a:t>performance-based </a:t>
            </a:r>
            <a:r>
              <a:rPr lang="en-US" sz="2400" dirty="0"/>
              <a:t>reasoning.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28784-662E-DF37-4E40-2D59FEF2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42FF9-08EA-8998-5E46-0DDEEA955ED0}"/>
              </a:ext>
            </a:extLst>
          </p:cNvPr>
          <p:cNvSpPr txBox="1"/>
          <p:nvPr/>
        </p:nvSpPr>
        <p:spPr>
          <a:xfrm>
            <a:off x="1029936" y="2693659"/>
            <a:ext cx="2241298" cy="1828800"/>
          </a:xfrm>
          <a:prstGeom prst="rect">
            <a:avLst/>
          </a:prstGeom>
          <a:noFill/>
          <a:ln w="76200">
            <a:solidFill>
              <a:srgbClr val="FFAC00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4000" dirty="0"/>
              <a:t>Data</a:t>
            </a:r>
            <a:br>
              <a:rPr lang="en-US" sz="4000" dirty="0"/>
            </a:br>
            <a:r>
              <a:rPr lang="en-US" sz="4000" dirty="0"/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B26A4-C500-4E22-DD7C-E26C31CC6884}"/>
              </a:ext>
            </a:extLst>
          </p:cNvPr>
          <p:cNvSpPr txBox="1"/>
          <p:nvPr/>
        </p:nvSpPr>
        <p:spPr>
          <a:xfrm>
            <a:off x="5872766" y="2693658"/>
            <a:ext cx="2241298" cy="1828800"/>
          </a:xfrm>
          <a:prstGeom prst="rect">
            <a:avLst/>
          </a:prstGeom>
          <a:noFill/>
          <a:ln w="76200">
            <a:solidFill>
              <a:srgbClr val="FFAC00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4000" dirty="0"/>
              <a:t>Informed</a:t>
            </a:r>
          </a:p>
          <a:p>
            <a:pPr algn="ctr"/>
            <a:r>
              <a:rPr lang="en-US" sz="4000" dirty="0"/>
              <a:t>Decision</a:t>
            </a:r>
          </a:p>
          <a:p>
            <a:pPr algn="ctr"/>
            <a:r>
              <a:rPr lang="en-US" sz="4000" dirty="0"/>
              <a:t>Making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A06E1B98-3FAC-4BB3-D0AC-CC52E4749618}"/>
              </a:ext>
            </a:extLst>
          </p:cNvPr>
          <p:cNvSpPr>
            <a:spLocks noChangeAspect="1"/>
          </p:cNvSpPr>
          <p:nvPr/>
        </p:nvSpPr>
        <p:spPr>
          <a:xfrm>
            <a:off x="3657600" y="2693658"/>
            <a:ext cx="1828800" cy="1828800"/>
          </a:xfrm>
          <a:prstGeom prst="chevron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48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D3C2-44A7-9985-0C7C-0FBB65FE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7DB232-1792-EB7C-1369-C894F0EC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Evaluation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6C9BF-B892-1004-9D2E-7255126CC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Develop the criteria to be used to evaluate concepts</a:t>
            </a:r>
          </a:p>
          <a:p>
            <a:pPr lvl="1"/>
            <a:r>
              <a:rPr lang="en-US" sz="2200" dirty="0"/>
              <a:t>Engineering standards</a:t>
            </a:r>
          </a:p>
          <a:p>
            <a:pPr lvl="1"/>
            <a:r>
              <a:rPr lang="en-US" sz="2200" dirty="0"/>
              <a:t>Constraints</a:t>
            </a:r>
          </a:p>
          <a:p>
            <a:pPr lvl="1"/>
            <a:r>
              <a:rPr lang="en-US" sz="2200" dirty="0"/>
              <a:t>Economic</a:t>
            </a:r>
          </a:p>
          <a:p>
            <a:r>
              <a:rPr lang="en-US" sz="2200" dirty="0"/>
              <a:t>All the above must be considered in your evaluation</a:t>
            </a:r>
            <a:br>
              <a:rPr lang="en-US" sz="2200" dirty="0"/>
            </a:br>
            <a:r>
              <a:rPr lang="en-US" sz="2200" dirty="0"/>
              <a:t>(ABET requirement)</a:t>
            </a:r>
          </a:p>
          <a:p>
            <a:pPr lvl="1"/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Economic analysis can be estimation of costs and/or benefits but must be appropriate and as thorough as 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2C457-C05B-F1F6-F4F9-13D89CBD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49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1CB2-B79D-FF84-37E4-17862DA4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D91D-172E-5437-44F5-A5A5BD4B5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Every engineering decision has a </a:t>
            </a:r>
            <a:r>
              <a:rPr lang="en-US" sz="2200" i="1" dirty="0"/>
              <a:t>price tag</a:t>
            </a:r>
            <a:r>
              <a:rPr lang="en-US" sz="2200" dirty="0"/>
              <a:t>.</a:t>
            </a:r>
          </a:p>
          <a:p>
            <a:r>
              <a:rPr lang="en-US" sz="2200" dirty="0"/>
              <a:t>Cost </a:t>
            </a:r>
            <a:r>
              <a:rPr lang="en-US" sz="2200" u="sng" dirty="0"/>
              <a:t>isn't just the price of parts</a:t>
            </a:r>
            <a:r>
              <a:rPr lang="en-US" sz="2200" dirty="0"/>
              <a:t>; it's a multi-variable equation that dictates whether a product is viable or sustainable.</a:t>
            </a:r>
          </a:p>
          <a:p>
            <a:pPr lvl="1"/>
            <a:r>
              <a:rPr lang="en-US" sz="2200" b="1" dirty="0"/>
              <a:t>Fixed vs. Variable</a:t>
            </a:r>
            <a:r>
              <a:rPr lang="en-US" sz="2200" dirty="0"/>
              <a:t>: You must account for one-time research and development (R&amp;D) costs versus the recurring cost of materials and labor.</a:t>
            </a:r>
          </a:p>
          <a:p>
            <a:pPr lvl="1"/>
            <a:r>
              <a:rPr lang="en-US" sz="2200" b="1" dirty="0"/>
              <a:t>Life-Cycle Costs</a:t>
            </a:r>
            <a:r>
              <a:rPr lang="en-US" sz="2200" dirty="0"/>
              <a:t>: Modern engineering looks beyond the "shelf price" to include maintenance, energy consumption, and eventual disposal or recycling.</a:t>
            </a:r>
          </a:p>
          <a:p>
            <a:pPr lvl="1"/>
            <a:r>
              <a:rPr lang="en-US" sz="2200" b="1" dirty="0"/>
              <a:t>The Trade-off</a:t>
            </a:r>
            <a:r>
              <a:rPr lang="en-US" sz="2200" dirty="0"/>
              <a:t>: Reducing costs often impacts quality or performance, a constant tug-of-war known as "value engineering."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EE9D2-286F-B7C6-6D79-EEFB7F20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39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73A6-EE3E-7311-9551-E33749618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1C54-7DAF-CC0E-2F2F-9184965F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Constraints/Boundaries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2D9D-B05C-EE7D-F32F-8692BF741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Constraints are the non-negotiable limits within which the solution must exist.</a:t>
            </a:r>
          </a:p>
          <a:p>
            <a:r>
              <a:rPr lang="en-US" sz="2200" dirty="0"/>
              <a:t>If the design process is a sandbox, the constraints are the wooden walls.</a:t>
            </a:r>
          </a:p>
          <a:p>
            <a:pPr lvl="1"/>
            <a:r>
              <a:rPr lang="en-US" sz="2200" b="1" dirty="0"/>
              <a:t>Physical</a:t>
            </a:r>
            <a:r>
              <a:rPr lang="en-US" sz="2200" dirty="0"/>
              <a:t>: Limits on size, weight, material properties, and power consumption.</a:t>
            </a:r>
          </a:p>
          <a:p>
            <a:pPr lvl="1"/>
            <a:r>
              <a:rPr lang="en-US" sz="2200" b="1" dirty="0"/>
              <a:t>Environmental</a:t>
            </a:r>
            <a:r>
              <a:rPr lang="en-US" sz="2200" dirty="0"/>
              <a:t>: Requirements for temperature resistance, humidity, or operating in a vacuum.</a:t>
            </a:r>
          </a:p>
          <a:p>
            <a:pPr lvl="1"/>
            <a:r>
              <a:rPr lang="en-US" sz="2200" b="1" dirty="0"/>
              <a:t>Resources</a:t>
            </a:r>
            <a:r>
              <a:rPr lang="en-US" sz="2200" dirty="0"/>
              <a:t>: Limited time (deadlines), available manpower, and specific manufacturing equipment.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3B51A-CCFB-1F75-D878-07F5CECD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25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4BFA-3889-EAB3-E5C6-0D05B159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EC51-C45A-DDBA-20FC-E1CCD69E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Standards </a:t>
            </a:r>
            <a:r>
              <a:rPr lang="en-US" b="1" baseline="30000" dirty="0">
                <a:solidFill>
                  <a:srgbClr val="C00000"/>
                </a:solidFill>
              </a:rPr>
              <a:t>(A Universal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30FC-AE5B-4BB8-51CE-7E302E098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9514"/>
            <a:ext cx="4660980" cy="5173360"/>
          </a:xfrm>
        </p:spPr>
        <p:txBody>
          <a:bodyPr>
            <a:normAutofit/>
          </a:bodyPr>
          <a:lstStyle/>
          <a:p>
            <a:r>
              <a:rPr lang="en-US" sz="1800" dirty="0"/>
              <a:t>Standards are the agreed-upon rules and technical specifications that ensure safety, reliability, and interoperability. Without them, your lightbulb might not fit into a socket made by a different company.</a:t>
            </a:r>
          </a:p>
          <a:p>
            <a:r>
              <a:rPr lang="en-US" sz="1800" b="1" dirty="0"/>
              <a:t>Safety &amp; Compliance</a:t>
            </a:r>
            <a:r>
              <a:rPr lang="en-US" sz="1800" dirty="0"/>
              <a:t>: Regulatory bodies (like OSHA or the FAA) mandate standards to prevent catastrophic failure and protect the public.</a:t>
            </a:r>
          </a:p>
          <a:p>
            <a:r>
              <a:rPr lang="en-US" sz="1800" b="1" dirty="0"/>
              <a:t>Interchangeability</a:t>
            </a:r>
            <a:r>
              <a:rPr lang="en-US" sz="1800" dirty="0"/>
              <a:t>: Standards like ISO or ASME ensure that parts from different global suppliers work together seamlessly.</a:t>
            </a:r>
          </a:p>
          <a:p>
            <a:r>
              <a:rPr lang="en-US" sz="1800" b="1" dirty="0"/>
              <a:t>Quality Benchmarks</a:t>
            </a:r>
            <a:r>
              <a:rPr lang="en-US" sz="1800" dirty="0"/>
              <a:t>: Following established standards provides a baseline for "what good looks like," reducing the risk of design flaws.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35D74-250D-4627-CAFE-FE188C24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F4C90-689B-BA2E-0544-2E635C38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630" y="1319514"/>
            <a:ext cx="3657600" cy="3307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038E26-178E-44F8-9AAE-BE0E18633A13}"/>
              </a:ext>
            </a:extLst>
          </p:cNvPr>
          <p:cNvSpPr txBox="1"/>
          <p:nvPr/>
        </p:nvSpPr>
        <p:spPr>
          <a:xfrm>
            <a:off x="5289630" y="4627077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Screw standards define the dimensions, thread pitch, and tolerances for fasteners to ensure interchangeability and strength, with the two primary systems being the Unified Thread Standard (UTS/Imperial) in North America and ISO Metric worldwide. Key standards include ISO 68-1 for metric, and ASME B1.1 for unified inch threads (UNC/UNF).</a:t>
            </a:r>
          </a:p>
        </p:txBody>
      </p:sp>
    </p:spTree>
    <p:extLst>
      <p:ext uri="{BB962C8B-B14F-4D97-AF65-F5344CB8AC3E}">
        <p14:creationId xmlns:p14="http://schemas.microsoft.com/office/powerpoint/2010/main" val="4104882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CD22-0786-48F7-E3C2-4FB30258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72CF2D-A1E3-FBE8-771B-6EC35251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154AB9E-4FE9-3DC5-D877-B8D0C772F0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728222"/>
              </p:ext>
            </p:extLst>
          </p:nvPr>
        </p:nvGraphicFramePr>
        <p:xfrm>
          <a:off x="356100" y="685800"/>
          <a:ext cx="8431799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1426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999CD-88A5-9D5B-AB93-70B41467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6D8525-F89A-293A-CE5E-BD063FB2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Concept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D8346-D0AD-7446-18F8-CB24194DC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Evaluate concepts based on criteria</a:t>
            </a:r>
          </a:p>
          <a:p>
            <a:pPr lvl="1"/>
            <a:r>
              <a:rPr lang="en-US" sz="2200" b="1" dirty="0"/>
              <a:t>Score and/or rank them </a:t>
            </a:r>
            <a:r>
              <a:rPr lang="en-US" sz="2200" dirty="0"/>
              <a:t>(PUGH Chart, WDM, …)</a:t>
            </a:r>
          </a:p>
          <a:p>
            <a:pPr lvl="1"/>
            <a:r>
              <a:rPr lang="en-US" sz="2200" b="1" dirty="0"/>
              <a:t>Include trade-off analysis </a:t>
            </a:r>
            <a:r>
              <a:rPr lang="en-US" sz="2200" dirty="0"/>
              <a:t>(advantages/disadvantages)</a:t>
            </a:r>
          </a:p>
          <a:p>
            <a:r>
              <a:rPr lang="en-US" sz="2200" dirty="0"/>
              <a:t>Select a best concept to move forward with detailed design and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5569A-C13D-9538-1B83-4795BC1E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AFC22-97D7-3FBD-DB39-D97601E75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658234"/>
            <a:ext cx="2834640" cy="283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06382-E1E7-7ADC-B7CC-B0DA106BDE2A}"/>
              </a:ext>
            </a:extLst>
          </p:cNvPr>
          <p:cNvSpPr txBox="1"/>
          <p:nvPr/>
        </p:nvSpPr>
        <p:spPr>
          <a:xfrm>
            <a:off x="5989320" y="6187074"/>
            <a:ext cx="2680118" cy="169277"/>
          </a:xfrm>
          <a:prstGeom prst="rect">
            <a:avLst/>
          </a:prstGeom>
          <a:noFill/>
        </p:spPr>
        <p:txBody>
          <a:bodyPr wrap="square" lIns="45720" tIns="0" rIns="0" bIns="0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PS. Computational Fluid Dynamics (CFD)</a:t>
            </a:r>
          </a:p>
        </p:txBody>
      </p:sp>
    </p:spTree>
    <p:extLst>
      <p:ext uri="{BB962C8B-B14F-4D97-AF65-F5344CB8AC3E}">
        <p14:creationId xmlns:p14="http://schemas.microsoft.com/office/powerpoint/2010/main" val="51255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4A08-B9F7-A74A-DEFA-D2CE7841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4E4512-F0A1-FF4F-02F8-033486AA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24EBEFF-676A-9381-3B57-2AD301E78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3167108"/>
              </p:ext>
            </p:extLst>
          </p:nvPr>
        </p:nvGraphicFramePr>
        <p:xfrm>
          <a:off x="356100" y="685800"/>
          <a:ext cx="8431799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4766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2D09-9EAE-A267-235F-3F0B848D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08FAF4-4694-7231-3860-3D0996D9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71FE9EE-88B4-DBD0-5606-F0B45AC6E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26306"/>
              </p:ext>
            </p:extLst>
          </p:nvPr>
        </p:nvGraphicFramePr>
        <p:xfrm>
          <a:off x="356100" y="685800"/>
          <a:ext cx="8431799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1399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4090-36EF-96AD-10BF-1F8E20B5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6B4E7D-E7C3-DF97-B107-B8C717D4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Solution Concept Identification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25617-1982-D23C-8146-E6B6397D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Create a Summary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6BDE1-85E2-D04B-23CF-571FB835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E5AF2B-78E7-8A6A-2FB5-B49FB553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0216"/>
            <a:ext cx="7315200" cy="302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75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FC493-F4C0-38AE-F855-BBA21DF3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879C2-7ED7-6FE9-AAB1-138CDC5D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969840"/>
            <a:ext cx="9052560" cy="491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90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3D14-E48D-6CF2-E7D2-20DA4A42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D9C949-D9CF-DE3D-4B44-52F7F15E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Avenues for Economic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8B32B-DB77-2936-DD52-8BADFD94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>
                <a:hlinkClick r:id="rId2"/>
              </a:rPr>
              <a:t>Opportunity Cost Exploration</a:t>
            </a:r>
            <a:endParaRPr lang="en-US" sz="2200" dirty="0"/>
          </a:p>
          <a:p>
            <a:r>
              <a:rPr lang="en-US" sz="2200" dirty="0"/>
              <a:t>Sensitivity Analysis</a:t>
            </a:r>
          </a:p>
          <a:p>
            <a:r>
              <a:rPr lang="en-US" sz="2200" dirty="0">
                <a:hlinkClick r:id="rId3"/>
              </a:rPr>
              <a:t>Cost-Benefit Analysis</a:t>
            </a:r>
            <a:endParaRPr lang="en-US" sz="2200" dirty="0"/>
          </a:p>
          <a:p>
            <a:r>
              <a:rPr lang="en-US" sz="2200" dirty="0"/>
              <a:t>Break-Even &amp; Payback Period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options for analysis shown in this presentation are </a:t>
            </a:r>
            <a:r>
              <a:rPr lang="en-US" sz="2200" u="sng" dirty="0"/>
              <a:t>by no means an exhaustive list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dirty="0"/>
              <a:t>Search for the methods which best utilize the dimensions in which you'll be comparing your alternatives.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90D6E-7AC2-3A8D-265A-15EE376D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1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5B8D-AD5F-7C44-9217-01BE4A95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68EAC2-B87B-66CD-E34D-FF56BEB4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For Capstone Context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73F8A-30AC-26A2-5BE1-86374DCE9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b="1" dirty="0"/>
              <a:t>Lower bound</a:t>
            </a:r>
            <a:r>
              <a:rPr lang="en-US" sz="2200" dirty="0"/>
              <a:t>: typical prototype or academic implementation using managed cloud services and limited data.</a:t>
            </a:r>
          </a:p>
          <a:p>
            <a:r>
              <a:rPr lang="en-US" sz="2200" b="1" dirty="0"/>
              <a:t>Upper bound</a:t>
            </a:r>
            <a:r>
              <a:rPr lang="en-US" sz="2200" dirty="0"/>
              <a:t>: closer to small production pilot projects with stronger infrastructure and security.</a:t>
            </a:r>
          </a:p>
          <a:p>
            <a:r>
              <a:rPr lang="en-US" sz="2200" dirty="0"/>
              <a:t>Cost components typically include:</a:t>
            </a:r>
          </a:p>
          <a:p>
            <a:pPr lvl="1"/>
            <a:r>
              <a:rPr lang="en-US" sz="2200" dirty="0"/>
              <a:t>Cloud infrastructure (storage, compute)</a:t>
            </a:r>
          </a:p>
          <a:p>
            <a:pPr lvl="1"/>
            <a:r>
              <a:rPr lang="en-US" sz="2200" dirty="0"/>
              <a:t>Data ingestion tools</a:t>
            </a:r>
          </a:p>
          <a:p>
            <a:pPr lvl="1"/>
            <a:r>
              <a:rPr lang="en-US" sz="2200" dirty="0"/>
              <a:t>Engineering labor</a:t>
            </a:r>
          </a:p>
          <a:p>
            <a:pPr lvl="1"/>
            <a:r>
              <a:rPr lang="en-US" sz="2200" dirty="0"/>
              <a:t>Data governance / compliance</a:t>
            </a:r>
          </a:p>
          <a:p>
            <a:pPr lvl="1"/>
            <a:r>
              <a:rPr lang="en-US" sz="2200" dirty="0"/>
              <a:t>Visualization or ML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EA8C8-0EE4-1BA6-9444-18792A02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91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7FD24-1337-FC2C-7300-821B2215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6BAB4F-AC5E-478A-E414-F0922D71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Typical Cost Components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7B3AA-0BEB-14D4-5C58-F48450757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These ranges usually reflect several major categories: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B1CB1-1758-381E-998D-58E8E00E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BCB7EF-CB6F-B5FE-9307-B881BEBE0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026621"/>
              </p:ext>
            </p:extLst>
          </p:nvPr>
        </p:nvGraphicFramePr>
        <p:xfrm>
          <a:off x="1524000" y="2316480"/>
          <a:ext cx="60960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776505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16350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Share of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342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Engineering Labor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40–60%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97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Cloud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15–25%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22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10–20%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70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Pipeline &amp; Orchestration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5–15%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70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Monitoring, Security,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5–10%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71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927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E938-498C-C534-4340-DF09ECEC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43A915-F311-0330-47F4-06E6B68C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Associated Project Costs by Industry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62DB9D3-570E-ECB9-0824-113CAAB47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216532"/>
              </p:ext>
            </p:extLst>
          </p:nvPr>
        </p:nvGraphicFramePr>
        <p:xfrm>
          <a:off x="628650" y="1559470"/>
          <a:ext cx="78867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50890554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22121431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68430266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32447186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989156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Example Data Engineering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Typical Data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Infrastructure Needs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Estimated Project Cost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32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Patient data integration &amp; analytics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EHR systems, lab records, insurance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Secure storage, HIPAA-compliant cloud, ETL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$20,000 – $80,000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46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Finance /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Fraud detection data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Transaction logs, customer accounts, market feeds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Streaming ingestion, real-time processing, high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$30,000 – $120,000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77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Retail / 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Customer behavior &amp; recommendation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Website logs, purchase history, inventory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 warehouse, streaming analytics, ML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$15,000 – $70,000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32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IoT predictive maintenance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Sensor data, machine logs, maintenance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Edge ingestion, time-series storage, streaming 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$25,000 – $90,000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861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Transportation /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Fleet tracking and route optimization data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GPS data, vehicle telemetry, delivery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Real-time pipelines, geospatial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$20,000 – $85,000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Energy /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Smart grid or energy usage analytics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Smart meter data, weather feeds, grid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Large-scale time-series processing, distributed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$30,000 – $100,000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73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Telecommunications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Network performance monitoring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Call detail records, network logs, usage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High-volume ingestion, distributed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$40,000 – $150,000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52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Social Media /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Social sentiment and engagement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Social APIs, campaign metrics, clickstream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 lake, NLP pipelines, batch +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$10,000 – $50,000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883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Government / Public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Open data integration and transparency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Census data, city infrastructure data, public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 lakehouse, visualization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$15,000 – $60,000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99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Student performance analytics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LMS logs, enrollment data, course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 warehouse, batch processing, BI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$8,000 – $40,000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93777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DEF37-267C-75AA-3D0B-97D229D5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1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620F-6EC2-A381-C340-C0312D1C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4029D6-BA97-E057-9487-0C900A0F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Dataset Size vs. Estimated Data Engineering Project Cost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DBECA86-DDD9-C02E-EF28-6E66AEBD1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101997"/>
              </p:ext>
            </p:extLst>
          </p:nvPr>
        </p:nvGraphicFramePr>
        <p:xfrm>
          <a:off x="628650" y="1559470"/>
          <a:ext cx="7886700" cy="371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50890554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22121431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68430266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32447186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989156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Example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Typical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Infrastructure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Estimated Project Cost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32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&lt; 1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Small structured datasets, CSV files, API pulls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Python, Pandas, SQLite, simple ETL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$1,000 – $5,000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46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 – 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Small relational databases, multiple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Python ETL, PostgreSQL, basic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$3,000 – $12,000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77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10 – 100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Moderate analytics datasets, event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Airflow/Prefect pipelines, cloud storage, data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$8,000 – $30,000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32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100 GB – 1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Clickstream data, IoT telemetry, transaction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Spark, cloud data lake (S3/Azure/GCS), orchestration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Medium–High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$20,000 – $80,000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861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 – 10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Large enterprise datasets, multi-source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Distributed compute (Spark/Databricks), streaming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$50,000 – $200,000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10 – 100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Enterprise-scale historical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 lakehouse architectures, scalable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$150,000 – $600,000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73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100 TB+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Large-scale platforms (telecom, social media, finance)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Distributed storage, real-time ingestion, advanced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$500,000 – $2M+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5218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708E0-5189-132A-C822-6FB31B26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43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CA89-AE05-1D95-230F-B99AE13B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B0BE68-F668-14BD-6EB2-74ED9477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06" y="4928946"/>
            <a:ext cx="5027867" cy="17360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3F5ADF-7ED2-8AB5-9EDF-673D2578FF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045"/>
          <a:stretch>
            <a:fillRect/>
          </a:stretch>
        </p:blipFill>
        <p:spPr>
          <a:xfrm>
            <a:off x="902607" y="3430439"/>
            <a:ext cx="4453164" cy="954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49EAE-6C67-2907-3575-6997B65E7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07" y="1679998"/>
            <a:ext cx="1622879" cy="120541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C7E52F9-F395-E463-479D-2D8E5EEE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rgbClr val="C00000"/>
                </a:solidFill>
              </a:rPr>
              <a:t>Risk Analysis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F313C-D953-F8D2-B3F2-E8399A4CA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0608"/>
            <a:ext cx="7886700" cy="4848906"/>
          </a:xfrm>
        </p:spPr>
        <p:txBody>
          <a:bodyPr>
            <a:normAutofit/>
          </a:bodyPr>
          <a:lstStyle/>
          <a:p>
            <a:r>
              <a:rPr lang="en-US" sz="2200" b="1" dirty="0"/>
              <a:t>Fault Tree Analysis </a:t>
            </a:r>
            <a:r>
              <a:rPr lang="en-US" sz="2200" dirty="0"/>
              <a:t>(FTA)</a:t>
            </a:r>
            <a:br>
              <a:rPr lang="en-US" sz="2200" dirty="0"/>
            </a:br>
            <a:r>
              <a:rPr lang="en-US" sz="1800" dirty="0">
                <a:hlinkClick r:id="rId5"/>
              </a:rPr>
              <a:t>https://sixsigmastudyguide.com/fault-tree-analysis/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2200" b="1" dirty="0"/>
              <a:t>Pugh Analysis</a:t>
            </a:r>
            <a:br>
              <a:rPr lang="en-US" sz="2200" dirty="0"/>
            </a:br>
            <a:r>
              <a:rPr lang="en-US" sz="1800" dirty="0">
                <a:hlinkClick r:id="rId6"/>
              </a:rPr>
              <a:t>https://sixsigmastudyguide.com/pugh-analysis/</a:t>
            </a:r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2200" b="1" dirty="0"/>
              <a:t>Failure Mode Effects Analysis </a:t>
            </a:r>
            <a:r>
              <a:rPr lang="en-US" sz="2200" dirty="0"/>
              <a:t>(FMEA)</a:t>
            </a:r>
            <a:br>
              <a:rPr lang="en-US" sz="2200" dirty="0"/>
            </a:br>
            <a:r>
              <a:rPr lang="en-US" sz="1800" dirty="0">
                <a:hlinkClick r:id="rId7"/>
              </a:rPr>
              <a:t>https://sixsigmastudyguide.com/failure-mode-effects-analysis-fmea/</a:t>
            </a:r>
            <a:endParaRPr lang="en-US" sz="18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5EF0D-E5FA-8A38-67B6-834CE37D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51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78D0-5979-248B-10E9-B2C31739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224482-10AB-0454-527C-67E24AD1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rgbClr val="C00000"/>
                </a:solidFill>
              </a:rPr>
              <a:t>Engineering Standards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B21B4-08DC-8480-51E5-E8DF87B74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99596"/>
            <a:ext cx="8232321" cy="5256756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Data Quality &amp; Governance</a:t>
            </a:r>
            <a:endParaRPr lang="en-US" sz="1800" dirty="0"/>
          </a:p>
          <a:p>
            <a:pPr lvl="1"/>
            <a:r>
              <a:rPr lang="en-US" sz="1400" b="1" dirty="0">
                <a:hlinkClick r:id="rId2"/>
              </a:rPr>
              <a:t>ISO/IEC 8000 </a:t>
            </a:r>
            <a:r>
              <a:rPr lang="en-US" sz="1400" b="1" dirty="0"/>
              <a:t>– Data Quality Standard</a:t>
            </a:r>
            <a:r>
              <a:rPr lang="en-US" sz="1400" dirty="0"/>
              <a:t>: Defines requirements for reliable and accurate data across systems.</a:t>
            </a:r>
          </a:p>
          <a:p>
            <a:pPr lvl="1"/>
            <a:r>
              <a:rPr lang="en-US" sz="1400" b="1" dirty="0"/>
              <a:t>ISO/IEC 11179 – Metadata Registry Standard</a:t>
            </a:r>
            <a:r>
              <a:rPr lang="en-US" sz="1400" dirty="0"/>
              <a:t>: Governs how data elements and metadata should be defined and documented.</a:t>
            </a:r>
          </a:p>
          <a:p>
            <a:pPr lvl="1"/>
            <a:r>
              <a:rPr lang="en-US" sz="1400" b="1" dirty="0"/>
              <a:t>ISO/IEC 38505 – Data Governance Framework</a:t>
            </a:r>
            <a:r>
              <a:rPr lang="en-US" sz="1400" dirty="0"/>
              <a:t>: Defines governance practices for managing organizational data.</a:t>
            </a:r>
          </a:p>
          <a:p>
            <a:pPr lvl="1"/>
            <a:r>
              <a:rPr lang="en-US" sz="1400" b="1" dirty="0"/>
              <a:t>General Data Protection Regulation </a:t>
            </a:r>
            <a:r>
              <a:rPr lang="en-US" sz="1400" dirty="0"/>
              <a:t>(GDPR)</a:t>
            </a:r>
          </a:p>
          <a:p>
            <a:r>
              <a:rPr lang="en-US" sz="1800" b="1" dirty="0"/>
              <a:t>Data Management Body of Knowledge</a:t>
            </a:r>
            <a:endParaRPr lang="en-US" sz="1800" dirty="0"/>
          </a:p>
          <a:p>
            <a:pPr lvl="1"/>
            <a:r>
              <a:rPr lang="en-US" sz="1400" b="1" dirty="0">
                <a:hlinkClick r:id="rId3"/>
              </a:rPr>
              <a:t>DAMA International Data Management Framework </a:t>
            </a:r>
            <a:r>
              <a:rPr lang="en-US" sz="1400" dirty="0"/>
              <a:t>(DMBOK): Widely used reference covering: data governance, data architecture, data quality, master data management, metadata management</a:t>
            </a:r>
          </a:p>
          <a:p>
            <a:r>
              <a:rPr lang="en-US" sz="1800" b="1" dirty="0"/>
              <a:t>Data Architecture</a:t>
            </a:r>
            <a:endParaRPr lang="en-US" sz="1800" dirty="0"/>
          </a:p>
          <a:p>
            <a:pPr lvl="1"/>
            <a:r>
              <a:rPr lang="en-US" sz="1400" dirty="0"/>
              <a:t>The Open Group TOGAF Enterprise architecture framework often used in data platform design.</a:t>
            </a:r>
          </a:p>
          <a:p>
            <a:pPr lvl="1"/>
            <a:r>
              <a:rPr lang="en-US" sz="1400" dirty="0"/>
              <a:t>World Wide Web Consortium standards (JSON, XML, RDF, etc.) that govern structured data exchange.</a:t>
            </a:r>
          </a:p>
          <a:p>
            <a:pPr lvl="1"/>
            <a:r>
              <a:rPr lang="en-US" sz="1400" dirty="0"/>
              <a:t>ISO/IEC 9075 – SQL Standard: The formal specification behind relational databases.</a:t>
            </a:r>
          </a:p>
          <a:p>
            <a:r>
              <a:rPr lang="en-US" sz="1800" b="1" dirty="0"/>
              <a:t>Data Security Standards</a:t>
            </a:r>
          </a:p>
          <a:p>
            <a:pPr lvl="1"/>
            <a:r>
              <a:rPr lang="en-US" sz="1400" b="1" dirty="0"/>
              <a:t>ISO/IEC 27001 – Information Security Management</a:t>
            </a:r>
          </a:p>
          <a:p>
            <a:pPr lvl="1"/>
            <a:r>
              <a:rPr lang="en-US" sz="1400" dirty="0"/>
              <a:t>National Institute of Standards and Technology Cybersecurity Framework</a:t>
            </a:r>
          </a:p>
          <a:p>
            <a:pPr marL="457200" lvl="1" indent="0">
              <a:buNone/>
            </a:pPr>
            <a:r>
              <a:rPr lang="en-US" sz="1400" dirty="0"/>
              <a:t>These can govern encryption, access control, auditing, breach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6FAD5-6213-A1D1-D6B0-5CFBADE3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32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FD0D-6610-F93D-6C5C-581A9148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BE851B-2C02-4046-AE16-31A2C132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rgbClr val="C00000"/>
                </a:solidFill>
              </a:rPr>
              <a:t>Engineering Standards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F0144-C891-2DB4-7276-D9FF5244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5894"/>
            <a:ext cx="7886700" cy="5031069"/>
          </a:xfrm>
        </p:spPr>
        <p:txBody>
          <a:bodyPr>
            <a:normAutofit/>
          </a:bodyPr>
          <a:lstStyle/>
          <a:p>
            <a:r>
              <a:rPr lang="en-US" sz="1800" b="1" dirty="0"/>
              <a:t>Manufacturing</a:t>
            </a:r>
            <a:r>
              <a:rPr lang="en-US" sz="1800" dirty="0"/>
              <a:t>: ASME Y14.5 (GD&amp;T), ASTM Standards, ISO 2768 (General Tolerances), ISO 9001, ANSI Standards, IPC Standards, API Standards</a:t>
            </a:r>
          </a:p>
          <a:p>
            <a:r>
              <a:rPr lang="en-US" sz="1800" b="1" dirty="0"/>
              <a:t>Aerospace &amp; Defense</a:t>
            </a:r>
            <a:r>
              <a:rPr lang="en-US" sz="1800" dirty="0"/>
              <a:t>: AS9100, ASME Standards, ASTM F519, MIL-STD-810 (Environmental Engineering), MIL-STD-461 (EMC), RTCA DO-160 (Environmental Testing), SAE AS Standards, ISO 9100 Series</a:t>
            </a:r>
          </a:p>
          <a:p>
            <a:r>
              <a:rPr lang="en-US" sz="1800" b="1" dirty="0"/>
              <a:t>Healthcare</a:t>
            </a:r>
            <a:r>
              <a:rPr lang="en-US" sz="1800" dirty="0"/>
              <a:t>: ISO 13485, IEC 60601 (Medical Electrical Equipment), ISO 14971 (Risk Management), ASTM Standards (Medical Devices), FDA 21 CFR Part 820 (Quality Systems Regulation), ANSI/AAMI Standards</a:t>
            </a:r>
          </a:p>
          <a:p>
            <a:r>
              <a:rPr lang="en-US" sz="1800" b="1" dirty="0"/>
              <a:t>Food Industry</a:t>
            </a:r>
            <a:r>
              <a:rPr lang="en-US" sz="1800" dirty="0"/>
              <a:t>: ISO 22000 (Food Safety Management), 3-A Sanitary Standards, ANSI/NSF Standards, ASTM Food Packaging Standards, EHEDG (European Hygienic Engineering &amp; Design Group), GMP Engineering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4DCEE-1D48-0F1C-B2B9-5999746B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57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838C-8CB7-3E38-1BE7-677B9755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F21288-EF34-4BCE-F5D7-3E9AC667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Engineering Constraints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971CF-B0C6-B789-B182-FA815D27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1800" b="1" dirty="0"/>
              <a:t>Manufacturing</a:t>
            </a:r>
            <a:r>
              <a:rPr lang="en-US" sz="1800" dirty="0"/>
              <a:t>: Cost, Production efficiency, Material availability, Manufacturing tolerances, Environmental regulations, Equipment limitations, Safety and ergonomics, Time constraints</a:t>
            </a:r>
          </a:p>
          <a:p>
            <a:r>
              <a:rPr lang="en-US" sz="1800" b="1" dirty="0"/>
              <a:t>Aerospace &amp; Defense</a:t>
            </a:r>
            <a:r>
              <a:rPr lang="en-US" sz="1800" dirty="0"/>
              <a:t>: Weight constraints, Aerodynamics, Thermal management, Regulatory compliance (FAA, ITAR), Material strength and fatigue, Electromagnetic compatibility (EMC), Reliability and redundancy, Environmental resistance</a:t>
            </a:r>
          </a:p>
          <a:p>
            <a:r>
              <a:rPr lang="en-US" sz="1800" b="1" dirty="0"/>
              <a:t>Healthcare</a:t>
            </a:r>
            <a:r>
              <a:rPr lang="en-US" sz="1800" dirty="0"/>
              <a:t>: Biocompatibility, Sterilization requirements, Patient safety, Regulatory compliance (FDA, ISO), Ergonomics and usability, Reliability and maintainability, Data security (HIPAA), Precision and accuracy</a:t>
            </a:r>
          </a:p>
          <a:p>
            <a:r>
              <a:rPr lang="en-US" sz="1800" b="1" dirty="0"/>
              <a:t>Food Industry</a:t>
            </a:r>
            <a:r>
              <a:rPr lang="en-US" sz="1800" dirty="0"/>
              <a:t>: Hygienic design, Material safety and compatibility (food-grade materials), Regulatory compliance (FDA, HACCP), Temperature control, Shelf life, Sanitation and cleaning ease, Packaging integrity, Product contamination prevention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51361-92C6-245A-562D-304B4D7D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196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CD77-2E33-04C0-7A31-E4019EFD2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7CF42-8CEA-7E86-8AD4-FBB87FEC6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66057"/>
            <a:ext cx="7886700" cy="5610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whole point of …</a:t>
            </a:r>
          </a:p>
          <a:p>
            <a:pPr marL="0" indent="0">
              <a:buNone/>
            </a:pPr>
            <a:r>
              <a:rPr lang="en-US" sz="2400" dirty="0"/>
              <a:t>	1. Developing a To-Be CONOPS</a:t>
            </a:r>
          </a:p>
          <a:p>
            <a:pPr marL="0" indent="0">
              <a:buNone/>
            </a:pPr>
            <a:r>
              <a:rPr lang="en-US" sz="2400" dirty="0"/>
              <a:t>	2. Generating solution concepts</a:t>
            </a:r>
          </a:p>
          <a:p>
            <a:pPr marL="0" indent="0">
              <a:buNone/>
            </a:pPr>
            <a:r>
              <a:rPr lang="en-US" sz="2400" dirty="0"/>
              <a:t>	3. Conducting analysis of alternatives</a:t>
            </a:r>
          </a:p>
          <a:p>
            <a:pPr marL="0" indent="0" algn="r">
              <a:buNone/>
            </a:pPr>
            <a:r>
              <a:rPr lang="en-US" sz="2400" dirty="0"/>
              <a:t>… is to prove to your sponsor </a:t>
            </a:r>
            <a:r>
              <a:rPr lang="en-US" sz="2400" b="1" dirty="0">
                <a:solidFill>
                  <a:srgbClr val="C00000"/>
                </a:solidFill>
              </a:rPr>
              <a:t>why they can trust you!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work you've done in phases 1 and 2 show that you understand their system and what needs to be done.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Now, you're showing them that you're confident you've arrived at the best possible means of system transformation.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1D582-5F59-16EF-46E4-CB97D78E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85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A9A2-3256-2E79-A75E-1BE32C5B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2DEC-377B-0E82-8C87-7D7E578F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Phase 3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DBCCB-5A0C-0E00-0F62-99C12B2EB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Canvas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1403-C602-F90D-10BE-ACCE376F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44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4995-ADD5-9DC4-6CAD-90149862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Project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1861-ACCF-CAA7-6999-8ABFCF476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dirty="0"/>
              <a:t>In addition to displaying your problem statement in the introduction, provide a project recap.</a:t>
            </a:r>
          </a:p>
          <a:p>
            <a:r>
              <a:rPr lang="en-US" sz="2400" dirty="0"/>
              <a:t>A slide or two (visuals are good) explaining the "why" of your project and your efforts to date.</a:t>
            </a:r>
          </a:p>
          <a:p>
            <a:r>
              <a:rPr lang="en-US" sz="2400" dirty="0"/>
              <a:t>This is likely going to be included in your showcase video as a project introduction.</a:t>
            </a:r>
          </a:p>
          <a:p>
            <a:r>
              <a:rPr lang="en-US" sz="2400" dirty="0"/>
              <a:t>Think of it as your "elevator pitch", but along with a minute or so to talk, you'll have visuals to back it 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891CD-3045-59EB-87FE-D6442836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09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97E7-4D43-783C-C846-4CC5BD19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8CFC-8053-5116-4B77-B6C4F54C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To-be </a:t>
            </a:r>
            <a:r>
              <a:rPr lang="en-US" b="1" dirty="0" err="1">
                <a:solidFill>
                  <a:srgbClr val="FFC000"/>
                </a:solidFill>
              </a:rPr>
              <a:t>Conops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0089-2E85-8F29-D60E-485FD4F8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dirty="0"/>
              <a:t>If your to-be system is a modification of the as-is system, briefly show the as-is (with limited explanation).</a:t>
            </a:r>
          </a:p>
          <a:p>
            <a:r>
              <a:rPr lang="en-US" sz="2400" dirty="0"/>
              <a:t>Focusing on your system requirements, introduce where changes to the system will convert it from "as-is" to "to-be".</a:t>
            </a:r>
          </a:p>
          <a:p>
            <a:r>
              <a:rPr lang="en-US" sz="2400" dirty="0"/>
              <a:t>Avoid too much detail here, keep it solution neutral.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research projects, your model may not change (significantly), but point out which parts of the as-is model that your research will potentially impact.</a:t>
            </a:r>
          </a:p>
          <a:p>
            <a:r>
              <a:rPr lang="en-US" sz="2400" dirty="0"/>
              <a:t>Ensure that your projected research deliverables address the requirements you defined in Phase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32C42-533C-1E3D-DAC9-87EEB877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80C8BD-77CE-11DE-C571-D2B65669E1B4}"/>
              </a:ext>
            </a:extLst>
          </p:cNvPr>
          <p:cNvSpPr txBox="1">
            <a:spLocks/>
          </p:cNvSpPr>
          <p:nvPr/>
        </p:nvSpPr>
        <p:spPr>
          <a:xfrm>
            <a:off x="628650" y="3793875"/>
            <a:ext cx="7886700" cy="9105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FFC000"/>
                </a:solidFill>
              </a:rPr>
              <a:t>Research Projects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5121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A8BD-564B-223F-9A78-22D1A28A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15FB-F933-CCF7-9C48-E144BAE1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Solution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95785-F42B-16D3-4E1A-61FB74C8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dirty="0"/>
              <a:t>With a solution neutral to-be model, you can generate various concepts to enable the desired changes.</a:t>
            </a:r>
          </a:p>
          <a:p>
            <a:r>
              <a:rPr lang="en-US" sz="2400" dirty="0"/>
              <a:t>Even if you've already moved towards a solution, you need to present alternatives you considered.</a:t>
            </a:r>
          </a:p>
          <a:p>
            <a:r>
              <a:rPr lang="en-US" sz="2400" dirty="0"/>
              <a:t>For research projects, you'll want to present areas of research you considered.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DB4-F79B-EE58-78D5-CED8E24B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18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06C70-7DD3-6192-4049-167B194E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9E87-7F17-3707-5A96-659E11D3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Analysis of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82B71-C75B-9B9E-B2B0-3D546B696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dirty="0"/>
              <a:t>Using the criteria you defined (constraints and standards included), compare your alternatives.</a:t>
            </a:r>
          </a:p>
          <a:p>
            <a:r>
              <a:rPr lang="en-US" sz="2400" dirty="0"/>
              <a:t>Present in a clear, non-technical way. Include any technical back-up in the appendix.</a:t>
            </a:r>
          </a:p>
          <a:p>
            <a:r>
              <a:rPr lang="en-US" sz="2400" dirty="0"/>
              <a:t>For research projects, you'll want to analyze what you could gain from research you considered and use criteria to compare and decide the area(s) you decided to focus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4EC4-6A3B-801D-DBF2-EAC2B32A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74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8FA0-C258-B7F5-4404-E1E5DC36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3E42-3F43-4DA5-4CE8-E23D9128A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Selection of Alternative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A548-D520-6989-40A3-6343D7A4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dirty="0"/>
              <a:t>End the Analysis of Alternatives with a clear indication of the concept you selected.</a:t>
            </a:r>
          </a:p>
          <a:p>
            <a:r>
              <a:rPr lang="en-US" sz="2400" dirty="0"/>
              <a:t>Don't provide a bunch of design details, that'll follow in Phase 4.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Unless you've added or modified requirements or actions, traceability here will be the same as in Phase 2.</a:t>
            </a:r>
          </a:p>
          <a:p>
            <a:r>
              <a:rPr lang="en-US" sz="2400" dirty="0"/>
              <a:t>If you've added, just note what you've added.</a:t>
            </a:r>
          </a:p>
          <a:p>
            <a:r>
              <a:rPr lang="en-US" sz="2400" dirty="0"/>
              <a:t>More detail on traceability will be presented in Phase 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F627A-082F-DDD7-3C68-FA407A67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87535E-2F43-7351-94DC-3F6917867247}"/>
              </a:ext>
            </a:extLst>
          </p:cNvPr>
          <p:cNvSpPr txBox="1">
            <a:spLocks/>
          </p:cNvSpPr>
          <p:nvPr/>
        </p:nvSpPr>
        <p:spPr>
          <a:xfrm>
            <a:off x="628650" y="3429000"/>
            <a:ext cx="7886700" cy="9105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</a:rPr>
              <a:t>Traceability</a:t>
            </a:r>
          </a:p>
        </p:txBody>
      </p:sp>
    </p:spTree>
    <p:extLst>
      <p:ext uri="{BB962C8B-B14F-4D97-AF65-F5344CB8AC3E}">
        <p14:creationId xmlns:p14="http://schemas.microsoft.com/office/powerpoint/2010/main" val="1459079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A1E4-459E-AA6B-A7C5-1BF5054E9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2D9C-5875-2591-23EC-5401C43B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Research Project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60738-E7AB-F6DE-0642-17522E33B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200" dirty="0"/>
              <a:t>Results and decision making for research projects may look different from applied projects.</a:t>
            </a:r>
          </a:p>
          <a:p>
            <a:r>
              <a:rPr lang="en-US" sz="2200" dirty="0"/>
              <a:t>However, the process and decisions made should still reflect the initial information gathering and modeling process</a:t>
            </a:r>
          </a:p>
          <a:p>
            <a:pPr lvl="1"/>
            <a:r>
              <a:rPr lang="en-US" sz="2200" dirty="0"/>
              <a:t>Some decisions about areas to research should have been made.</a:t>
            </a:r>
          </a:p>
          <a:p>
            <a:pPr lvl="1"/>
            <a:r>
              <a:rPr lang="en-US" sz="2200" dirty="0"/>
              <a:t>Areas that can affect the "as-is" state should be the areas of focus.</a:t>
            </a:r>
          </a:p>
          <a:p>
            <a:pPr lvl="1"/>
            <a:r>
              <a:rPr lang="en-US" sz="2200" dirty="0"/>
              <a:t>Areas of research that indicates previous attempts to improve a process are important for comparisons.</a:t>
            </a:r>
          </a:p>
          <a:p>
            <a:pPr lvl="1"/>
            <a:r>
              <a:rPr lang="en-US" sz="2200" dirty="0"/>
              <a:t>Constraints and standards are important and specific research into them should be highlighted.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6F6C6-A1A7-90FC-5E1A-846CF4D3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712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8E5A6-FCED-20AD-BA63-3002DF05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D3D88-6FA9-3628-50A0-91B50959CE8A}"/>
              </a:ext>
            </a:extLst>
          </p:cNvPr>
          <p:cNvSpPr txBox="1"/>
          <p:nvPr/>
        </p:nvSpPr>
        <p:spPr>
          <a:xfrm>
            <a:off x="685799" y="5487257"/>
            <a:ext cx="7772399" cy="4001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Nice reading</a:t>
            </a:r>
            <a:r>
              <a:rPr lang="en-US" sz="2000" dirty="0">
                <a:solidFill>
                  <a:srgbClr val="FFC000"/>
                </a:solidFill>
              </a:rPr>
              <a:t>: </a:t>
            </a:r>
            <a:r>
              <a:rPr lang="en-US" sz="200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https://book.stevejobsarchive.com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980F4-7493-63C0-44BF-868267672504}"/>
              </a:ext>
            </a:extLst>
          </p:cNvPr>
          <p:cNvSpPr txBox="1"/>
          <p:nvPr/>
        </p:nvSpPr>
        <p:spPr>
          <a:xfrm>
            <a:off x="685798" y="2736502"/>
            <a:ext cx="7772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"You never achieve what you want without falling on your face a few times."</a:t>
            </a:r>
          </a:p>
          <a:p>
            <a:pPr algn="ctr"/>
            <a:r>
              <a:rPr lang="en-US" sz="2000" i="1" dirty="0">
                <a:solidFill>
                  <a:schemeClr val="bg1"/>
                </a:solidFill>
              </a:rPr>
              <a:t>Steve Jobs</a:t>
            </a:r>
          </a:p>
        </p:txBody>
      </p:sp>
    </p:spTree>
    <p:extLst>
      <p:ext uri="{BB962C8B-B14F-4D97-AF65-F5344CB8AC3E}">
        <p14:creationId xmlns:p14="http://schemas.microsoft.com/office/powerpoint/2010/main" val="3787978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E0932-FA55-25EE-62E3-DAC1E223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17C26-5C4A-D207-36BD-84A14ACA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710013-4E12-3978-B515-A3F44437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8006"/>
            <a:ext cx="7772400" cy="462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4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1413</TotalTime>
  <Words>3236</Words>
  <Application>Microsoft Macintosh PowerPoint</Application>
  <PresentationFormat>On-screen Show (4:3)</PresentationFormat>
  <Paragraphs>393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Phase 3 Develop</vt:lpstr>
      <vt:lpstr>PowerPoint Presentation</vt:lpstr>
      <vt:lpstr>Today’s Agenda</vt:lpstr>
      <vt:lpstr>PowerPoint Presentation</vt:lpstr>
      <vt:lpstr>Learning Outcomes (syllabus) Ability to:</vt:lpstr>
      <vt:lpstr>Upcoming Semester Schedule</vt:lpstr>
      <vt:lpstr>Final/Phase 4 Presentation</vt:lpstr>
      <vt:lpstr>Awards Ceremony</vt:lpstr>
      <vt:lpstr>Peer Evaluation</vt:lpstr>
      <vt:lpstr>Comms Activity</vt:lpstr>
      <vt:lpstr>Phase 3</vt:lpstr>
      <vt:lpstr>PowerPoint Presentation</vt:lpstr>
      <vt:lpstr>Solution Concepts</vt:lpstr>
      <vt:lpstr>PowerPoint Presentation</vt:lpstr>
      <vt:lpstr>Keep in mind …</vt:lpstr>
      <vt:lpstr>PowerPoint Presentation</vt:lpstr>
      <vt:lpstr>PowerPoint Presentation</vt:lpstr>
      <vt:lpstr>Evaluation Criteria</vt:lpstr>
      <vt:lpstr>Costs</vt:lpstr>
      <vt:lpstr>Constraints/Boundaries</vt:lpstr>
      <vt:lpstr>Standards (A Universal Language)</vt:lpstr>
      <vt:lpstr>PowerPoint Presentation</vt:lpstr>
      <vt:lpstr>Concept Evaluation</vt:lpstr>
      <vt:lpstr>PowerPoint Presentation</vt:lpstr>
      <vt:lpstr>PowerPoint Presentation</vt:lpstr>
      <vt:lpstr>Solution Concept Identification</vt:lpstr>
      <vt:lpstr>PowerPoint Presentation</vt:lpstr>
      <vt:lpstr>Avenues for Economic Analysis</vt:lpstr>
      <vt:lpstr>For Capstone Context</vt:lpstr>
      <vt:lpstr>Typical Cost Components</vt:lpstr>
      <vt:lpstr>Associated Project Costs by Industry</vt:lpstr>
      <vt:lpstr>Dataset Size vs. Estimated Data Engineering Project Cost</vt:lpstr>
      <vt:lpstr>Risk Analysis Resources</vt:lpstr>
      <vt:lpstr>Engineering Standards</vt:lpstr>
      <vt:lpstr>Engineering Standards</vt:lpstr>
      <vt:lpstr>Engineering Constraints</vt:lpstr>
      <vt:lpstr>PowerPoint Presentation</vt:lpstr>
      <vt:lpstr>Phase 3 Guidelines</vt:lpstr>
      <vt:lpstr>Project Recap</vt:lpstr>
      <vt:lpstr>To-be Conops</vt:lpstr>
      <vt:lpstr>Solution Concepts</vt:lpstr>
      <vt:lpstr>Analysis of Alternatives</vt:lpstr>
      <vt:lpstr>Selection of Alternative</vt:lpstr>
      <vt:lpstr>Research Project Decision Making</vt:lpstr>
      <vt:lpstr>PowerPoint Presentation</vt:lpstr>
      <vt:lpstr>PowerPoint Presentation</vt:lpstr>
    </vt:vector>
  </TitlesOfParts>
  <Manager/>
  <Company>TAMU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DAEN 460</dc:subject>
  <dc:creator>Alexander Abuabara</dc:creator>
  <cp:keywords/>
  <dc:description/>
  <cp:lastModifiedBy>Alexander Abuabara</cp:lastModifiedBy>
  <cp:revision>293</cp:revision>
  <dcterms:created xsi:type="dcterms:W3CDTF">2026-01-26T19:08:04Z</dcterms:created>
  <dcterms:modified xsi:type="dcterms:W3CDTF">2026-03-17T14:03:02Z</dcterms:modified>
  <cp:category/>
</cp:coreProperties>
</file>